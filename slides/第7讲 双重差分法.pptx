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7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3004A-1035-4AD2-BC4A-DB230EAABF41}" type="datetimeFigureOut">
              <a:rPr lang="zh-CN" altLang="en-US" smtClean="0"/>
              <a:t>2026/8/25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5C349-FD8F-4A61-B7BE-408729C94B71}" type="slidenum">
              <a:rPr lang="zh-CN" altLang="en-US" smtClean="0"/>
              <a:t>‹#›</a:t>
            </a:fld>
            <a:endParaRPr lang="zh-CN" altLang="en-US"/>
          </a:p>
        </p:txBody>
      </p:sp>
    </p:spTree>
    <p:extLst>
      <p:ext uri="{BB962C8B-B14F-4D97-AF65-F5344CB8AC3E}">
        <p14:creationId xmlns:p14="http://schemas.microsoft.com/office/powerpoint/2010/main" val="5654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9A4515A7-CEAA-43FE-A0C6-C344D2E1C420}"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8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1CD9CB9-29D0-4350-825D-C0AA5096F718}"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1235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DDCF1F-4D82-4E39-A2A2-35E2A1D1799F}"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42382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8DD3615-B586-42F4-9872-6C720AA0F56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1155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C0A3562-2CF1-4137-BC7A-0E1D3AD82A62}" type="datetime1">
              <a:rPr lang="zh-CN" altLang="en-US" smtClean="0"/>
              <a:t>2026/8/25</a:t>
            </a:fld>
            <a:endParaRPr lang="zh-CN" altLang="en-US"/>
          </a:p>
        </p:txBody>
      </p:sp>
      <p:sp>
        <p:nvSpPr>
          <p:cNvPr id="8" name="Footer Placeholder 7"/>
          <p:cNvSpPr>
            <a:spLocks noGrp="1"/>
          </p:cNvSpPr>
          <p:nvPr>
            <p:ph type="ftr" sz="quarter" idx="11"/>
          </p:nvPr>
        </p:nvSpPr>
        <p:spPr/>
        <p:txBody>
          <a:bodyPr/>
          <a:lstStyle/>
          <a:p>
            <a:r>
              <a:rPr lang="zh-CN" altLang="en-US"/>
              <a:t>ⓒ 赵西亮</a:t>
            </a:r>
          </a:p>
        </p:txBody>
      </p:sp>
      <p:sp>
        <p:nvSpPr>
          <p:cNvPr id="9" name="Slide Number Placeholder 8"/>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84099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46C70-57B0-4FDE-A935-0B961BFE496D}" type="datetime1">
              <a:rPr lang="zh-CN" altLang="en-US" smtClean="0"/>
              <a:t>2026/8/25</a:t>
            </a:fld>
            <a:endParaRPr lang="zh-CN" altLang="en-US"/>
          </a:p>
        </p:txBody>
      </p:sp>
      <p:sp>
        <p:nvSpPr>
          <p:cNvPr id="4" name="Footer Placeholder 3"/>
          <p:cNvSpPr>
            <a:spLocks noGrp="1"/>
          </p:cNvSpPr>
          <p:nvPr>
            <p:ph type="ftr" sz="quarter" idx="11"/>
          </p:nvPr>
        </p:nvSpPr>
        <p:spPr/>
        <p:txBody>
          <a:bodyPr/>
          <a:lstStyle/>
          <a:p>
            <a:r>
              <a:rPr lang="zh-CN" altLang="en-US"/>
              <a:t>ⓒ 赵西亮</a:t>
            </a:r>
          </a:p>
        </p:txBody>
      </p:sp>
      <p:sp>
        <p:nvSpPr>
          <p:cNvPr id="5" name="Slide Number Placeholder 4"/>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676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4AC03-C0A7-4889-9992-72A6D2628D14}" type="datetime1">
              <a:rPr lang="zh-CN" altLang="en-US" smtClean="0"/>
              <a:t>2026/8/25</a:t>
            </a:fld>
            <a:endParaRPr lang="zh-CN" altLang="en-US"/>
          </a:p>
        </p:txBody>
      </p:sp>
      <p:sp>
        <p:nvSpPr>
          <p:cNvPr id="3" name="Footer Placeholder 2"/>
          <p:cNvSpPr>
            <a:spLocks noGrp="1"/>
          </p:cNvSpPr>
          <p:nvPr>
            <p:ph type="ftr" sz="quarter" idx="11"/>
          </p:nvPr>
        </p:nvSpPr>
        <p:spPr/>
        <p:txBody>
          <a:bodyPr/>
          <a:lstStyle/>
          <a:p>
            <a:r>
              <a:rPr lang="zh-CN" altLang="en-US"/>
              <a:t>ⓒ 赵西亮</a:t>
            </a:r>
          </a:p>
        </p:txBody>
      </p:sp>
      <p:sp>
        <p:nvSpPr>
          <p:cNvPr id="4" name="Slide Number Placeholder 3"/>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72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F954344-EBCE-46E1-8116-31474348F6B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001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4BE525-4771-468B-A8FB-DAB2047A4270}"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39865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88E2B5-2348-4A45-A5B7-02B2B64364E4}"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40445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705BAB9-886B-4640-A228-FB1A92425BDE}"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0996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D44183-C876-422B-881A-B6A8D40A16EE}" type="datetime1">
              <a:rPr lang="zh-CN" altLang="en-US" smtClean="0"/>
              <a:t>2026/8/25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 赵西亮</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510498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7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hyperlink" Target="https://asjadnaqvi.github.io/DiD/docs/01_stata/"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58E5-B2B8-FEBB-8A41-24F534B6F746}"/>
              </a:ext>
            </a:extLst>
          </p:cNvPr>
          <p:cNvSpPr>
            <a:spLocks noGrp="1"/>
          </p:cNvSpPr>
          <p:nvPr>
            <p:ph type="ctrTitle"/>
          </p:nvPr>
        </p:nvSpPr>
        <p:spPr/>
        <p:txBody>
          <a:bodyPr/>
          <a:lstStyle/>
          <a:p>
            <a:r>
              <a:rPr lang="zh-CN" altLang="en-US" dirty="0"/>
              <a:t>双重差分法</a:t>
            </a:r>
          </a:p>
        </p:txBody>
      </p:sp>
      <p:sp>
        <p:nvSpPr>
          <p:cNvPr id="3" name="副标题 2">
            <a:extLst>
              <a:ext uri="{FF2B5EF4-FFF2-40B4-BE49-F238E27FC236}">
                <a16:creationId xmlns:a16="http://schemas.microsoft.com/office/drawing/2014/main" id="{D2A12E75-A8A7-EF47-8BB0-5705F1BDB078}"/>
              </a:ext>
            </a:extLst>
          </p:cNvPr>
          <p:cNvSpPr>
            <a:spLocks noGrp="1"/>
          </p:cNvSpPr>
          <p:nvPr>
            <p:ph type="subTitle" idx="1"/>
          </p:nvPr>
        </p:nvSpPr>
        <p:spPr/>
        <p:txBody>
          <a:bodyPr/>
          <a:lstStyle/>
          <a:p>
            <a:r>
              <a:rPr lang="zh-CN" altLang="en-US" dirty="0"/>
              <a:t>赵西亮</a:t>
            </a:r>
            <a:endParaRPr lang="en-US" altLang="zh-CN" dirty="0"/>
          </a:p>
          <a:p>
            <a:r>
              <a:rPr lang="zh-CN" altLang="en-US" dirty="0"/>
              <a:t>厦门大学经济学院</a:t>
            </a:r>
            <a:endParaRPr lang="en-US" altLang="zh-CN" dirty="0"/>
          </a:p>
          <a:p>
            <a:r>
              <a:rPr lang="zh-CN" altLang="en-US" dirty="0"/>
              <a:t>王亚南经济研究院</a:t>
            </a:r>
          </a:p>
        </p:txBody>
      </p:sp>
    </p:spTree>
    <p:extLst>
      <p:ext uri="{BB962C8B-B14F-4D97-AF65-F5344CB8AC3E}">
        <p14:creationId xmlns:p14="http://schemas.microsoft.com/office/powerpoint/2010/main" val="408369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E0263-3E9F-871C-6CBB-5FE9A14268BD}"/>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7E4AC5FA-0F8B-7133-FC7C-04A961AE1A13}"/>
              </a:ext>
            </a:extLst>
          </p:cNvPr>
          <p:cNvSpPr>
            <a:spLocks noGrp="1"/>
          </p:cNvSpPr>
          <p:nvPr>
            <p:ph idx="1"/>
          </p:nvPr>
        </p:nvSpPr>
        <p:spPr/>
        <p:txBody>
          <a:bodyPr>
            <a:normAutofit fontScale="55000" lnSpcReduction="20000"/>
          </a:bodyPr>
          <a:lstStyle/>
          <a:p>
            <a:r>
              <a:rPr lang="zh-CN" altLang="en-US" dirty="0"/>
              <a:t>经典双重差分法</a:t>
            </a:r>
            <a:endParaRPr lang="en-US" altLang="zh-CN" dirty="0"/>
          </a:p>
          <a:p>
            <a:pPr lvl="1"/>
            <a:r>
              <a:rPr lang="zh-CN" altLang="en-US" dirty="0"/>
              <a:t>目标参数</a:t>
            </a:r>
            <a:endParaRPr lang="en-US" altLang="zh-CN" dirty="0"/>
          </a:p>
          <a:p>
            <a:pPr lvl="1"/>
            <a:r>
              <a:rPr lang="zh-CN" altLang="en-US" dirty="0"/>
              <a:t>基本识别条件</a:t>
            </a:r>
            <a:endParaRPr lang="en-US" altLang="zh-CN" dirty="0"/>
          </a:p>
          <a:p>
            <a:pPr lvl="1"/>
            <a:r>
              <a:rPr lang="zh-CN" altLang="en-US" dirty="0"/>
              <a:t>参数估计</a:t>
            </a:r>
            <a:endParaRPr lang="en-US" altLang="zh-CN" dirty="0"/>
          </a:p>
          <a:p>
            <a:pPr lvl="2"/>
            <a:r>
              <a:rPr lang="zh-CN" altLang="en-US" dirty="0"/>
              <a:t>引入不随时间变化的协变量𝑋𝑖</a:t>
            </a:r>
            <a:endParaRPr lang="en-US" altLang="zh-CN" dirty="0"/>
          </a:p>
          <a:p>
            <a:pPr lvl="2"/>
            <a:r>
              <a:rPr lang="zh-CN" altLang="en-US" dirty="0"/>
              <a:t>引入时变协变量𝑋𝑖𝑡</a:t>
            </a:r>
            <a:endParaRPr lang="en-US" altLang="zh-CN" dirty="0"/>
          </a:p>
          <a:p>
            <a:r>
              <a:rPr lang="en-US" altLang="zh-CN" dirty="0"/>
              <a:t>DID-IV </a:t>
            </a:r>
            <a:r>
              <a:rPr lang="zh-CN" altLang="en-US" dirty="0"/>
              <a:t>设计</a:t>
            </a:r>
            <a:endParaRPr lang="en-US" altLang="zh-CN" dirty="0"/>
          </a:p>
          <a:p>
            <a:r>
              <a:rPr lang="zh-CN" altLang="en-US" dirty="0"/>
              <a:t>多期单一政策</a:t>
            </a:r>
            <a:r>
              <a:rPr lang="en-US" altLang="zh-CN" dirty="0"/>
              <a:t>DID</a:t>
            </a:r>
          </a:p>
          <a:p>
            <a:r>
              <a:rPr lang="zh-CN" altLang="en-US" dirty="0"/>
              <a:t>交错</a:t>
            </a:r>
            <a:r>
              <a:rPr lang="en-US" altLang="zh-CN" dirty="0"/>
              <a:t>DID </a:t>
            </a:r>
            <a:r>
              <a:rPr lang="zh-CN" altLang="en-US" dirty="0"/>
              <a:t>设计</a:t>
            </a:r>
            <a:endParaRPr lang="en-US" altLang="zh-CN" dirty="0"/>
          </a:p>
          <a:p>
            <a:pPr lvl="1"/>
            <a:r>
              <a:rPr lang="en-US" altLang="zh-CN" dirty="0"/>
              <a:t>TWFE </a:t>
            </a:r>
            <a:r>
              <a:rPr lang="zh-CN" altLang="en-US" dirty="0"/>
              <a:t>的问题</a:t>
            </a:r>
            <a:endParaRPr lang="en-US" altLang="zh-CN" dirty="0"/>
          </a:p>
          <a:p>
            <a:pPr lvl="2"/>
            <a:r>
              <a:rPr lang="fr-FR" altLang="zh-CN" dirty="0"/>
              <a:t>de Chaisemartin and d’Haultfoeuille (2020)</a:t>
            </a:r>
          </a:p>
          <a:p>
            <a:pPr lvl="2"/>
            <a:r>
              <a:rPr lang="en-US" altLang="zh-CN" dirty="0"/>
              <a:t>Goodman-Bacon (2021) </a:t>
            </a:r>
            <a:r>
              <a:rPr lang="zh-CN" altLang="en-US" dirty="0"/>
              <a:t>分解</a:t>
            </a:r>
            <a:endParaRPr lang="en-US" altLang="zh-CN" dirty="0"/>
          </a:p>
          <a:p>
            <a:pPr lvl="2"/>
            <a:r>
              <a:rPr lang="en-US" altLang="zh-CN" dirty="0"/>
              <a:t>Sun and Abraham (2021) </a:t>
            </a:r>
            <a:r>
              <a:rPr lang="zh-CN" altLang="en-US" dirty="0"/>
              <a:t>事件研究法污染偏差</a:t>
            </a:r>
            <a:endParaRPr lang="en-US" altLang="zh-CN" dirty="0"/>
          </a:p>
          <a:p>
            <a:pPr lvl="1"/>
            <a:r>
              <a:rPr lang="zh-CN" altLang="en-US" dirty="0"/>
              <a:t>新的估计方法</a:t>
            </a:r>
            <a:endParaRPr lang="en-US" altLang="zh-CN" dirty="0"/>
          </a:p>
          <a:p>
            <a:pPr lvl="2"/>
            <a:r>
              <a:rPr lang="en-US" altLang="zh-CN" dirty="0"/>
              <a:t>Callaway and Sant’Anna (2021) </a:t>
            </a:r>
            <a:r>
              <a:rPr lang="zh-CN" altLang="en-US" dirty="0"/>
              <a:t>的非参数方法</a:t>
            </a:r>
            <a:endParaRPr lang="en-US" altLang="zh-CN" dirty="0"/>
          </a:p>
          <a:p>
            <a:pPr lvl="2"/>
            <a:r>
              <a:rPr lang="en-US" altLang="zh-CN" dirty="0"/>
              <a:t>Wooldridge (2021) </a:t>
            </a:r>
            <a:r>
              <a:rPr lang="zh-CN" altLang="en-US" dirty="0"/>
              <a:t>的回归方法</a:t>
            </a:r>
            <a:endParaRPr lang="en-US" altLang="zh-CN" dirty="0"/>
          </a:p>
          <a:p>
            <a:pPr lvl="2"/>
            <a:r>
              <a:rPr lang="zh-CN" altLang="en-US" dirty="0"/>
              <a:t>平行趋势检验</a:t>
            </a:r>
            <a:endParaRPr lang="en-US" altLang="zh-CN" dirty="0"/>
          </a:p>
          <a:p>
            <a:endParaRPr lang="zh-CN" altLang="en-US" dirty="0"/>
          </a:p>
        </p:txBody>
      </p:sp>
      <p:sp>
        <p:nvSpPr>
          <p:cNvPr id="4" name="页脚占位符 3">
            <a:extLst>
              <a:ext uri="{FF2B5EF4-FFF2-40B4-BE49-F238E27FC236}">
                <a16:creationId xmlns:a16="http://schemas.microsoft.com/office/drawing/2014/main" id="{1D391952-40CE-EDEB-4F8D-80032F41252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A22D9F4-3CB9-BF29-8BB2-198B681A9FF0}"/>
              </a:ext>
            </a:extLst>
          </p:cNvPr>
          <p:cNvSpPr>
            <a:spLocks noGrp="1"/>
          </p:cNvSpPr>
          <p:nvPr>
            <p:ph type="sldNum" sz="quarter" idx="12"/>
          </p:nvPr>
        </p:nvSpPr>
        <p:spPr/>
        <p:txBody>
          <a:bodyPr/>
          <a:lstStyle/>
          <a:p>
            <a:fld id="{D41FC515-8169-4A29-AA56-DBE520D5741B}" type="slidenum">
              <a:rPr lang="zh-CN" altLang="en-US" smtClean="0"/>
              <a:t>2</a:t>
            </a:fld>
            <a:endParaRPr lang="zh-CN" altLang="en-US"/>
          </a:p>
        </p:txBody>
      </p:sp>
    </p:spTree>
    <p:extLst>
      <p:ext uri="{BB962C8B-B14F-4D97-AF65-F5344CB8AC3E}">
        <p14:creationId xmlns:p14="http://schemas.microsoft.com/office/powerpoint/2010/main" val="344135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D81A2-358D-6CB1-545E-12B2A3A56902}"/>
              </a:ext>
            </a:extLst>
          </p:cNvPr>
          <p:cNvSpPr>
            <a:spLocks noGrp="1"/>
          </p:cNvSpPr>
          <p:nvPr>
            <p:ph type="title"/>
          </p:nvPr>
        </p:nvSpPr>
        <p:spPr/>
        <p:txBody>
          <a:bodyPr/>
          <a:lstStyle/>
          <a:p>
            <a:r>
              <a:rPr lang="zh-CN" altLang="en-US" dirty="0"/>
              <a:t>双重差分法</a:t>
            </a:r>
          </a:p>
        </p:txBody>
      </p:sp>
      <p:sp>
        <p:nvSpPr>
          <p:cNvPr id="3" name="内容占位符 2">
            <a:extLst>
              <a:ext uri="{FF2B5EF4-FFF2-40B4-BE49-F238E27FC236}">
                <a16:creationId xmlns:a16="http://schemas.microsoft.com/office/drawing/2014/main" id="{DDE61F38-3F8B-BE50-2030-AE050B3675CF}"/>
              </a:ext>
            </a:extLst>
          </p:cNvPr>
          <p:cNvSpPr>
            <a:spLocks noGrp="1"/>
          </p:cNvSpPr>
          <p:nvPr>
            <p:ph idx="1"/>
          </p:nvPr>
        </p:nvSpPr>
        <p:spPr>
          <a:xfrm>
            <a:off x="628650" y="1825624"/>
            <a:ext cx="7886700" cy="4895851"/>
          </a:xfrm>
        </p:spPr>
        <p:txBody>
          <a:bodyPr>
            <a:normAutofit fontScale="47500" lnSpcReduction="20000"/>
          </a:bodyPr>
          <a:lstStyle/>
          <a:p>
            <a:r>
              <a:rPr lang="zh-CN" altLang="en-US" dirty="0"/>
              <a:t>双重差分法</a:t>
            </a:r>
            <a:r>
              <a:rPr lang="en-US" altLang="zh-CN" dirty="0"/>
              <a:t>(Difference-in-Differences, DID) </a:t>
            </a:r>
            <a:r>
              <a:rPr lang="zh-CN" altLang="en-US" dirty="0"/>
              <a:t>是近年来经济学微观实施中一种流动的研究设计或识别策略。经济研究</a:t>
            </a:r>
            <a:r>
              <a:rPr lang="en-US" altLang="zh-CN" dirty="0"/>
              <a:t>2020 </a:t>
            </a:r>
            <a:r>
              <a:rPr lang="zh-CN" altLang="en-US" dirty="0"/>
              <a:t>年</a:t>
            </a:r>
            <a:r>
              <a:rPr lang="en-US" altLang="zh-CN" dirty="0"/>
              <a:t>22 </a:t>
            </a:r>
            <a:r>
              <a:rPr lang="zh-CN" altLang="en-US" dirty="0"/>
              <a:t>篇，</a:t>
            </a:r>
            <a:r>
              <a:rPr lang="en-US" altLang="zh-CN" dirty="0"/>
              <a:t>2021 </a:t>
            </a:r>
            <a:r>
              <a:rPr lang="zh-CN" altLang="en-US" dirty="0"/>
              <a:t>年</a:t>
            </a:r>
            <a:r>
              <a:rPr lang="en-US" altLang="zh-CN" dirty="0"/>
              <a:t>17 </a:t>
            </a:r>
            <a:r>
              <a:rPr lang="zh-CN" altLang="en-US" dirty="0"/>
              <a:t>篇，</a:t>
            </a:r>
            <a:r>
              <a:rPr lang="en-US" altLang="zh-CN" dirty="0"/>
              <a:t>2022 </a:t>
            </a:r>
            <a:r>
              <a:rPr lang="zh-CN" altLang="en-US" dirty="0"/>
              <a:t>年</a:t>
            </a:r>
            <a:r>
              <a:rPr lang="en-US" altLang="zh-CN" dirty="0"/>
              <a:t>13 </a:t>
            </a:r>
            <a:r>
              <a:rPr lang="zh-CN" altLang="en-US" dirty="0"/>
              <a:t>篇，</a:t>
            </a:r>
            <a:r>
              <a:rPr lang="en-US" altLang="zh-CN" dirty="0"/>
              <a:t>2023 </a:t>
            </a:r>
            <a:r>
              <a:rPr lang="zh-CN" altLang="en-US" dirty="0"/>
              <a:t>年</a:t>
            </a:r>
            <a:r>
              <a:rPr lang="en-US" altLang="zh-CN" dirty="0"/>
              <a:t>12 </a:t>
            </a:r>
            <a:r>
              <a:rPr lang="zh-CN" altLang="en-US" dirty="0"/>
              <a:t>篇</a:t>
            </a:r>
            <a:endParaRPr lang="en-US" altLang="zh-CN" dirty="0"/>
          </a:p>
          <a:p>
            <a:r>
              <a:rPr lang="zh-CN" altLang="en-US" dirty="0"/>
              <a:t>国际顶刊也大量使用</a:t>
            </a:r>
            <a:r>
              <a:rPr lang="en-US" altLang="zh-CN" dirty="0"/>
              <a:t>(Currie et al., 2020; Goldsmith-Pinkham, 2024)</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最早可以追溯到英国流行病学家和医生约翰</a:t>
            </a:r>
            <a:r>
              <a:rPr lang="en-US" altLang="zh-CN" dirty="0"/>
              <a:t>·</a:t>
            </a:r>
            <a:r>
              <a:rPr lang="zh-CN" altLang="en-US" dirty="0"/>
              <a:t>斯诺</a:t>
            </a:r>
            <a:r>
              <a:rPr lang="en-US" altLang="zh-CN" dirty="0"/>
              <a:t>(John Snow) 1855 </a:t>
            </a:r>
            <a:r>
              <a:rPr lang="zh-CN" altLang="en-US" dirty="0"/>
              <a:t>年关于英国伦敦霍乱传播途径的研究。</a:t>
            </a:r>
            <a:endParaRPr lang="en-US" altLang="zh-CN" dirty="0"/>
          </a:p>
          <a:p>
            <a:r>
              <a:rPr lang="zh-CN" altLang="en-US" dirty="0"/>
              <a:t>最早</a:t>
            </a:r>
            <a:r>
              <a:rPr lang="en-US" altLang="zh-CN" dirty="0"/>
              <a:t>Ashenfelter (1978)</a:t>
            </a:r>
            <a:r>
              <a:rPr lang="zh-CN" altLang="en-US" dirty="0"/>
              <a:t>，双重差分法的名词来自于</a:t>
            </a:r>
            <a:r>
              <a:rPr lang="en-US" altLang="zh-CN" dirty="0"/>
              <a:t>Ashenfelter and Card (1985)</a:t>
            </a:r>
            <a:r>
              <a:rPr lang="zh-CN" altLang="en-US" dirty="0"/>
              <a:t>，</a:t>
            </a:r>
          </a:p>
          <a:p>
            <a:r>
              <a:rPr lang="zh-CN" altLang="en-US" dirty="0"/>
              <a:t>后面</a:t>
            </a:r>
            <a:r>
              <a:rPr lang="en-US" altLang="zh-CN" dirty="0"/>
              <a:t>Card (1990)</a:t>
            </a:r>
            <a:r>
              <a:rPr lang="zh-CN" altLang="en-US" dirty="0"/>
              <a:t>、</a:t>
            </a:r>
            <a:r>
              <a:rPr lang="en-US" altLang="zh-CN" dirty="0"/>
              <a:t>Card and Krueger (1994) </a:t>
            </a:r>
            <a:r>
              <a:rPr lang="zh-CN" altLang="en-US" dirty="0"/>
              <a:t>比较早期对双重差分法的应用，后面</a:t>
            </a:r>
          </a:p>
          <a:p>
            <a:r>
              <a:rPr lang="zh-CN" altLang="en-US" dirty="0"/>
              <a:t>应用扩展到多期</a:t>
            </a:r>
            <a:r>
              <a:rPr lang="en-US" altLang="zh-CN" dirty="0"/>
              <a:t>DID</a:t>
            </a:r>
            <a:r>
              <a:rPr lang="zh-CN" altLang="en-US" dirty="0"/>
              <a:t>，比如</a:t>
            </a:r>
            <a:r>
              <a:rPr lang="en-US" altLang="zh-CN" dirty="0"/>
              <a:t>Qian (2008)</a:t>
            </a:r>
            <a:r>
              <a:rPr lang="zh-CN" altLang="en-US" dirty="0"/>
              <a:t>。最新研究关于交错</a:t>
            </a:r>
            <a:r>
              <a:rPr lang="en-US" altLang="zh-CN" dirty="0"/>
              <a:t>DID </a:t>
            </a:r>
            <a:r>
              <a:rPr lang="zh-CN" altLang="en-US" dirty="0"/>
              <a:t>或更复杂的设计，可以参考</a:t>
            </a:r>
            <a:r>
              <a:rPr lang="en-US" altLang="zh-CN" dirty="0"/>
              <a:t>Roth et al. (2022) </a:t>
            </a:r>
            <a:r>
              <a:rPr lang="zh-CN" altLang="en-US" dirty="0"/>
              <a:t>的综述。</a:t>
            </a:r>
            <a:endParaRPr lang="en-US" altLang="zh-CN" dirty="0"/>
          </a:p>
          <a:p>
            <a:r>
              <a:rPr lang="zh-CN" altLang="en-US" dirty="0"/>
              <a:t>刘国恩等（</a:t>
            </a:r>
            <a:r>
              <a:rPr lang="en-US" altLang="zh-CN" dirty="0"/>
              <a:t>2003</a:t>
            </a:r>
            <a:r>
              <a:rPr lang="zh-CN" altLang="en-US" dirty="0"/>
              <a:t>），中国城市医疗保险体制改革：论成本分担的公平性，</a:t>
            </a:r>
            <a:r>
              <a:rPr lang="en-US" altLang="zh-CN" dirty="0"/>
              <a:t>《</a:t>
            </a:r>
            <a:r>
              <a:rPr lang="zh-CN" altLang="en-US" dirty="0"/>
              <a:t>经济学</a:t>
            </a:r>
          </a:p>
          <a:p>
            <a:r>
              <a:rPr lang="zh-CN" altLang="en-US" dirty="0"/>
              <a:t>（季刊）</a:t>
            </a:r>
            <a:r>
              <a:rPr lang="en-US" altLang="zh-CN" dirty="0"/>
              <a:t>》</a:t>
            </a:r>
            <a:r>
              <a:rPr lang="zh-CN" altLang="en-US" dirty="0"/>
              <a:t>第</a:t>
            </a:r>
            <a:r>
              <a:rPr lang="en-US" altLang="zh-CN" dirty="0"/>
              <a:t>2 </a:t>
            </a:r>
            <a:r>
              <a:rPr lang="zh-CN" altLang="en-US" dirty="0"/>
              <a:t>卷第</a:t>
            </a:r>
            <a:r>
              <a:rPr lang="en-US" altLang="zh-CN" dirty="0"/>
              <a:t>2 </a:t>
            </a:r>
            <a:r>
              <a:rPr lang="zh-CN" altLang="en-US" dirty="0"/>
              <a:t>期。</a:t>
            </a:r>
          </a:p>
        </p:txBody>
      </p:sp>
      <p:sp>
        <p:nvSpPr>
          <p:cNvPr id="4" name="页脚占位符 3">
            <a:extLst>
              <a:ext uri="{FF2B5EF4-FFF2-40B4-BE49-F238E27FC236}">
                <a16:creationId xmlns:a16="http://schemas.microsoft.com/office/drawing/2014/main" id="{1C4D69FA-16D8-B9E4-9704-48D16CF244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F0E822-7633-1022-915A-6F3241C131C0}"/>
              </a:ext>
            </a:extLst>
          </p:cNvPr>
          <p:cNvSpPr>
            <a:spLocks noGrp="1"/>
          </p:cNvSpPr>
          <p:nvPr>
            <p:ph type="sldNum" sz="quarter" idx="12"/>
          </p:nvPr>
        </p:nvSpPr>
        <p:spPr/>
        <p:txBody>
          <a:bodyPr/>
          <a:lstStyle/>
          <a:p>
            <a:fld id="{D41FC515-8169-4A29-AA56-DBE520D5741B}" type="slidenum">
              <a:rPr lang="zh-CN" altLang="en-US" smtClean="0"/>
              <a:t>3</a:t>
            </a:fld>
            <a:endParaRPr lang="zh-CN" altLang="en-US"/>
          </a:p>
        </p:txBody>
      </p:sp>
      <p:pic>
        <p:nvPicPr>
          <p:cNvPr id="7" name="图片 6">
            <a:extLst>
              <a:ext uri="{FF2B5EF4-FFF2-40B4-BE49-F238E27FC236}">
                <a16:creationId xmlns:a16="http://schemas.microsoft.com/office/drawing/2014/main" id="{B14B6B5D-F62A-E425-59E4-B86670801EC6}"/>
              </a:ext>
            </a:extLst>
          </p:cNvPr>
          <p:cNvPicPr>
            <a:picLocks noChangeAspect="1"/>
          </p:cNvPicPr>
          <p:nvPr/>
        </p:nvPicPr>
        <p:blipFill>
          <a:blip r:embed="rId2"/>
          <a:stretch>
            <a:fillRect/>
          </a:stretch>
        </p:blipFill>
        <p:spPr>
          <a:xfrm>
            <a:off x="1145012" y="2580350"/>
            <a:ext cx="2910626" cy="1796603"/>
          </a:xfrm>
          <a:prstGeom prst="rect">
            <a:avLst/>
          </a:prstGeom>
        </p:spPr>
      </p:pic>
      <p:pic>
        <p:nvPicPr>
          <p:cNvPr id="9" name="图片 8">
            <a:extLst>
              <a:ext uri="{FF2B5EF4-FFF2-40B4-BE49-F238E27FC236}">
                <a16:creationId xmlns:a16="http://schemas.microsoft.com/office/drawing/2014/main" id="{9AE555FF-F2E4-2F7A-5772-4DFF161E6CF0}"/>
              </a:ext>
            </a:extLst>
          </p:cNvPr>
          <p:cNvPicPr>
            <a:picLocks noChangeAspect="1"/>
          </p:cNvPicPr>
          <p:nvPr/>
        </p:nvPicPr>
        <p:blipFill>
          <a:blip r:embed="rId3"/>
          <a:stretch>
            <a:fillRect/>
          </a:stretch>
        </p:blipFill>
        <p:spPr>
          <a:xfrm>
            <a:off x="4572000" y="2580350"/>
            <a:ext cx="3100785" cy="1796603"/>
          </a:xfrm>
          <a:prstGeom prst="rect">
            <a:avLst/>
          </a:prstGeom>
        </p:spPr>
      </p:pic>
    </p:spTree>
    <p:extLst>
      <p:ext uri="{BB962C8B-B14F-4D97-AF65-F5344CB8AC3E}">
        <p14:creationId xmlns:p14="http://schemas.microsoft.com/office/powerpoint/2010/main" val="79256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F4E9-C494-352E-BFD5-488878C1B431}"/>
              </a:ext>
            </a:extLst>
          </p:cNvPr>
          <p:cNvSpPr>
            <a:spLocks noGrp="1"/>
          </p:cNvSpPr>
          <p:nvPr>
            <p:ph type="title"/>
          </p:nvPr>
        </p:nvSpPr>
        <p:spPr/>
        <p:txBody>
          <a:bodyPr/>
          <a:lstStyle/>
          <a:p>
            <a:r>
              <a:rPr lang="zh-CN" altLang="en-US" dirty="0"/>
              <a:t>双重差分法</a:t>
            </a:r>
            <a:br>
              <a:rPr lang="en-US" altLang="zh-CN" dirty="0"/>
            </a:br>
            <a:r>
              <a:rPr lang="zh-CN" altLang="en-US" sz="2400" dirty="0"/>
              <a:t>目标参数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2D21C56-36D3-2A14-A1FD-221209FA6619}"/>
                  </a:ext>
                </a:extLst>
              </p:cNvPr>
              <p:cNvSpPr>
                <a:spLocks noGrp="1"/>
              </p:cNvSpPr>
              <p:nvPr>
                <p:ph idx="1"/>
              </p:nvPr>
            </p:nvSpPr>
            <p:spPr>
              <a:xfrm>
                <a:off x="628650" y="1825625"/>
                <a:ext cx="7886700" cy="4262354"/>
              </a:xfrm>
            </p:spPr>
            <p:txBody>
              <a:bodyPr>
                <a:noAutofit/>
              </a:bodyPr>
              <a:lstStyle/>
              <a:p>
                <a:pPr>
                  <a:lnSpc>
                    <a:spcPct val="120000"/>
                  </a:lnSpc>
                </a:pPr>
                <a:r>
                  <a:rPr lang="zh-CN" altLang="en-US" sz="1600" dirty="0"/>
                  <a:t>双重差分法是以设计为基础的计量方法，可以体现因果推断和统计推断的显著差别。</a:t>
                </a:r>
                <a:endParaRPr lang="en-US" altLang="zh-CN" sz="1600" dirty="0"/>
              </a:p>
              <a:p>
                <a:pPr>
                  <a:lnSpc>
                    <a:spcPct val="120000"/>
                  </a:lnSpc>
                </a:pPr>
                <a:r>
                  <a:rPr lang="zh-CN" altLang="en-US" sz="1600" dirty="0"/>
                  <a:t>双重差分方法适用于事前所有个体都没有受到政策干预，而事后只有一组个体受到政策干预，受到政策干预的组称为干预组，没有受到政策干预的为控制组。</a:t>
                </a: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r>
                  <a:rPr lang="zh-CN" altLang="en-US" sz="1600" dirty="0"/>
                  <a:t>目标参数</a:t>
                </a:r>
                <a:r>
                  <a:rPr lang="en-US" altLang="zh-CN" sz="1600" dirty="0"/>
                  <a:t>——</a:t>
                </a:r>
                <a:r>
                  <a:rPr lang="zh-CN" altLang="en-US" sz="1600" dirty="0"/>
                  <a:t>干预的影响：</a:t>
                </a:r>
                <a:endParaRPr lang="en-US" altLang="zh-CN" sz="1600" dirty="0"/>
              </a:p>
              <a:p>
                <a:pPr marL="0" indent="0">
                  <a:lnSpc>
                    <a:spcPct val="120000"/>
                  </a:lnSpc>
                  <a:buNone/>
                </a:pPr>
                <a14:m>
                  <m:oMathPara xmlns:m="http://schemas.openxmlformats.org/officeDocument/2006/math">
                    <m:oMath>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𝐴𝑇𝑇</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oMath>
                  </m:oMathPara>
                </a14:m>
                <a:endParaRPr lang="en-US" altLang="zh-CN" sz="1600" dirty="0"/>
              </a:p>
              <a:p>
                <a:pPr lvl="1">
                  <a:lnSpc>
                    <a:spcPct val="120000"/>
                  </a:lnSpc>
                </a:pPr>
                <a:r>
                  <a:rPr lang="zh-CN" altLang="en-US" sz="1200" dirty="0"/>
                  <a:t>𝑇 </a:t>
                </a:r>
                <a:r>
                  <a:rPr lang="en-US" altLang="zh-CN" sz="1200" dirty="0"/>
                  <a:t>= 1 </a:t>
                </a:r>
                <a:r>
                  <a:rPr lang="zh-CN" altLang="en-US" sz="1200" dirty="0"/>
                  <a:t>期数据，匹配法？不能用，因为𝑈𝑖 无法控制。</a:t>
                </a:r>
                <a:endParaRPr lang="en-US" altLang="zh-CN" sz="1200" dirty="0"/>
              </a:p>
              <a:p>
                <a:pPr lvl="1">
                  <a:lnSpc>
                    <a:spcPct val="120000"/>
                  </a:lnSpc>
                </a:pPr>
                <a:r>
                  <a:rPr lang="zh-CN" altLang="en-US" sz="1200" dirty="0"/>
                  <a:t>与固定效应方法相似，两期差分可消除未观测因素𝑈𝑖 的影响！</a:t>
                </a:r>
              </a:p>
            </p:txBody>
          </p:sp>
        </mc:Choice>
        <mc:Fallback xmlns="">
          <p:sp>
            <p:nvSpPr>
              <p:cNvPr id="3" name="内容占位符 2">
                <a:extLst>
                  <a:ext uri="{FF2B5EF4-FFF2-40B4-BE49-F238E27FC236}">
                    <a16:creationId xmlns:a16="http://schemas.microsoft.com/office/drawing/2014/main" id="{82D21C56-36D3-2A14-A1FD-221209FA6619}"/>
                  </a:ext>
                </a:extLst>
              </p:cNvPr>
              <p:cNvSpPr>
                <a:spLocks noGrp="1" noRot="1" noChangeAspect="1" noMove="1" noResize="1" noEditPoints="1" noAdjustHandles="1" noChangeArrowheads="1" noChangeShapeType="1" noTextEdit="1"/>
              </p:cNvSpPr>
              <p:nvPr>
                <p:ph idx="1"/>
              </p:nvPr>
            </p:nvSpPr>
            <p:spPr>
              <a:xfrm>
                <a:off x="628650" y="1825625"/>
                <a:ext cx="7886700" cy="4262354"/>
              </a:xfrm>
              <a:blipFill>
                <a:blip r:embed="rId2"/>
                <a:stretch>
                  <a:fillRect l="-309" r="-10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6756D41-BB1E-AD34-0E36-E5958E9D95A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40290EE-A565-6B03-92CD-3193C199FD91}"/>
              </a:ext>
            </a:extLst>
          </p:cNvPr>
          <p:cNvSpPr>
            <a:spLocks noGrp="1"/>
          </p:cNvSpPr>
          <p:nvPr>
            <p:ph type="sldNum" sz="quarter" idx="12"/>
          </p:nvPr>
        </p:nvSpPr>
        <p:spPr/>
        <p:txBody>
          <a:bodyPr/>
          <a:lstStyle/>
          <a:p>
            <a:fld id="{D41FC515-8169-4A29-AA56-DBE520D5741B}" type="slidenum">
              <a:rPr lang="zh-CN" altLang="en-US" smtClean="0"/>
              <a:t>4</a:t>
            </a:fld>
            <a:endParaRPr lang="zh-CN" altLang="en-US"/>
          </a:p>
        </p:txBody>
      </p:sp>
      <p:pic>
        <p:nvPicPr>
          <p:cNvPr id="7" name="图片 6">
            <a:extLst>
              <a:ext uri="{FF2B5EF4-FFF2-40B4-BE49-F238E27FC236}">
                <a16:creationId xmlns:a16="http://schemas.microsoft.com/office/drawing/2014/main" id="{8C130641-8B9C-CDD9-870C-85DEFC185611}"/>
              </a:ext>
            </a:extLst>
          </p:cNvPr>
          <p:cNvPicPr>
            <a:picLocks noChangeAspect="1"/>
          </p:cNvPicPr>
          <p:nvPr/>
        </p:nvPicPr>
        <p:blipFill>
          <a:blip r:embed="rId3"/>
          <a:stretch>
            <a:fillRect/>
          </a:stretch>
        </p:blipFill>
        <p:spPr>
          <a:xfrm>
            <a:off x="2083287" y="3130549"/>
            <a:ext cx="4977425" cy="826253"/>
          </a:xfrm>
          <a:prstGeom prst="rect">
            <a:avLst/>
          </a:prstGeom>
        </p:spPr>
      </p:pic>
    </p:spTree>
    <p:extLst>
      <p:ext uri="{BB962C8B-B14F-4D97-AF65-F5344CB8AC3E}">
        <p14:creationId xmlns:p14="http://schemas.microsoft.com/office/powerpoint/2010/main" val="385240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1A21B-1E76-E56A-5D22-34B16E7B899C}"/>
              </a:ext>
            </a:extLst>
          </p:cNvPr>
          <p:cNvSpPr>
            <a:spLocks noGrp="1"/>
          </p:cNvSpPr>
          <p:nvPr>
            <p:ph type="title"/>
          </p:nvPr>
        </p:nvSpPr>
        <p:spPr/>
        <p:txBody>
          <a:bodyPr/>
          <a:lstStyle/>
          <a:p>
            <a:r>
              <a:rPr lang="zh-CN" altLang="en-US" dirty="0"/>
              <a:t>双重差分法</a:t>
            </a:r>
            <a:br>
              <a:rPr lang="zh-CN" altLang="en-US" dirty="0"/>
            </a:br>
            <a:r>
              <a:rPr lang="zh-CN" altLang="en-US" sz="2400" dirty="0"/>
              <a:t>基本识别条件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1DA79F-D0CE-8F8E-C529-CC9F379989EB}"/>
                  </a:ext>
                </a:extLst>
              </p:cNvPr>
              <p:cNvSpPr>
                <a:spLocks noGrp="1"/>
              </p:cNvSpPr>
              <p:nvPr>
                <p:ph idx="1"/>
              </p:nvPr>
            </p:nvSpPr>
            <p:spPr/>
            <p:txBody>
              <a:bodyPr>
                <a:normAutofit fontScale="55000" lnSpcReduction="20000"/>
              </a:bodyPr>
              <a:lstStyle/>
              <a:p>
                <a:pPr>
                  <a:lnSpc>
                    <a:spcPct val="120000"/>
                  </a:lnSpc>
                </a:pPr>
                <a:r>
                  <a:rPr lang="zh-CN" altLang="en-US" dirty="0"/>
                  <a:t>假设</a:t>
                </a:r>
                <a:r>
                  <a:rPr lang="en-US" altLang="zh-CN" dirty="0"/>
                  <a:t>1</a:t>
                </a:r>
                <a:r>
                  <a:rPr lang="zh-CN" altLang="en-US" dirty="0"/>
                  <a:t>（平行趋势假设）干预组个体如果没有接受干预，其潜在结果的变动趋势与控制组的变动趋势相同，即</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e>
                      </m:eqArr>
                      <m:r>
                        <a:rPr lang="en-US" altLang="zh-CN" b="0" i="1" smtClean="0">
                          <a:latin typeface="Cambria Math" panose="02040503050406030204" pitchFamily="18" charset="0"/>
                        </a:rPr>
                        <m:t>                                         (1)</m:t>
                      </m:r>
                    </m:oMath>
                  </m:oMathPara>
                </a14:m>
                <a:endParaRPr lang="en-US" altLang="zh-CN" dirty="0"/>
              </a:p>
              <a:p>
                <a:pPr>
                  <a:lnSpc>
                    <a:spcPct val="120000"/>
                  </a:lnSpc>
                </a:pPr>
                <a:r>
                  <a:rPr lang="zh-CN" altLang="en-US" dirty="0"/>
                  <a:t>或写为：</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en-US" altLang="zh-CN" b="0"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共同趋势假设也可以写成另一种形式，即</a:t>
                </a:r>
                <a:endParaRPr lang="en-US" altLang="zh-CN" dirty="0"/>
              </a:p>
              <a:p>
                <a:pPr marL="0" indent="0">
                  <a:lnSpc>
                    <a:spcPct val="120000"/>
                  </a:lnSpc>
                  <a:buNone/>
                </a:pPr>
                <a14:m>
                  <m:oMathPara xmlns:m="http://schemas.openxmlformats.org/officeDocument/2006/math">
                    <m:o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e>
                          </m:d>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=0</m:t>
                              </m:r>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r>
                                    <a:rPr lang="en-US" altLang="zh-CN" i="1" smtClean="0">
                                      <a:latin typeface="Cambria Math" panose="02040503050406030204" pitchFamily="18" charset="0"/>
                                    </a:rPr>
                                    <m:t>−1</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r>
                                    <a:rPr lang="en-US" altLang="zh-CN" i="1" smtClean="0">
                                      <a:latin typeface="Cambria Math" panose="02040503050406030204" pitchFamily="18" charset="0"/>
                                    </a:rPr>
                                    <m:t>−1</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=0</m:t>
                              </m:r>
                            </m:e>
                          </m:d>
                          <m:r>
                            <a:rPr lang="en-US" altLang="zh-CN" i="1" smtClean="0">
                              <a:latin typeface="Cambria Math" panose="02040503050406030204" pitchFamily="18" charset="0"/>
                            </a:rPr>
                            <m:t>,</m:t>
                          </m:r>
                          <m:r>
                            <a:rPr lang="en-US" altLang="zh-CN" b="0" i="1" smtClean="0">
                              <a:latin typeface="Cambria Math" panose="02040503050406030204" pitchFamily="18" charset="0"/>
                            </a:rPr>
                            <m:t> (2)</m:t>
                          </m:r>
                        </m:e>
                      </m:eqArr>
                    </m:oMath>
                  </m:oMathPara>
                </a14:m>
                <a:endParaRPr lang="en-US" altLang="zh-CN" dirty="0"/>
              </a:p>
              <a:p>
                <a:pPr>
                  <a:lnSpc>
                    <a:spcPct val="120000"/>
                  </a:lnSpc>
                </a:pPr>
                <a:r>
                  <a:rPr lang="zh-CN" altLang="en-US" dirty="0"/>
                  <a:t>或写为：</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𝐵</m:t>
                          </m:r>
                        </m:e>
                        <m:sub>
                          <m:r>
                            <a:rPr lang="zh-CN" altLang="en-US" i="1" dirty="0" smtClean="0">
                              <a:latin typeface="Cambria Math" panose="02040503050406030204" pitchFamily="18" charset="0"/>
                            </a:rPr>
                            <m:t>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𝐵</m:t>
                          </m:r>
                        </m:e>
                        <m:sub>
                          <m:r>
                            <a:rPr lang="zh-CN" altLang="en-US" i="1" dirty="0">
                              <a:latin typeface="Cambria Math" panose="02040503050406030204" pitchFamily="18" charset="0"/>
                            </a:rPr>
                            <m:t>𝑡</m:t>
                          </m:r>
                          <m:r>
                            <a:rPr lang="zh-CN" altLang="en-US" i="1" dirty="0">
                              <a:latin typeface="Cambria Math" panose="02040503050406030204" pitchFamily="18" charset="0"/>
                            </a:rPr>
                            <m:t>−1</m:t>
                          </m:r>
                        </m:sub>
                      </m:sSub>
                      <m:r>
                        <a:rPr lang="en-US" altLang="zh-CN" i="1" dirty="0" smtClean="0">
                          <a:latin typeface="Cambria Math" panose="02040503050406030204" pitchFamily="18" charset="0"/>
                        </a:rPr>
                        <m:t>,</m:t>
                      </m:r>
                    </m:oMath>
                  </m:oMathPara>
                </a14:m>
                <a:endParaRPr lang="en-US" altLang="zh-CN" dirty="0"/>
              </a:p>
              <a:p>
                <a:pPr>
                  <a:lnSpc>
                    <a:spcPct val="12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𝐵</m:t>
                        </m:r>
                      </m:e>
                      <m:sub>
                        <m:r>
                          <a:rPr lang="zh-CN" altLang="en-US" i="1" dirty="0" smtClean="0">
                            <a:latin typeface="Cambria Math" panose="02040503050406030204" pitchFamily="18" charset="0"/>
                          </a:rPr>
                          <m:t>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sub>
                    </m:sSub>
                    <m:r>
                      <a:rPr lang="en-US" altLang="zh-CN" i="1" dirty="0">
                        <a:latin typeface="Cambria Math" panose="02040503050406030204" pitchFamily="18" charset="0"/>
                      </a:rPr>
                      <m:t>(0)|</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sub>
                    </m:sSub>
                    <m:r>
                      <a:rPr lang="en-US" altLang="zh-CN" i="1" dirty="0">
                        <a:latin typeface="Cambria Math" panose="02040503050406030204" pitchFamily="18" charset="0"/>
                      </a:rPr>
                      <m:t>(0)|</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0]</m:t>
                    </m:r>
                  </m:oMath>
                </a14:m>
                <a:r>
                  <a:rPr lang="zh-CN" altLang="en-US" dirty="0"/>
                  <a:t>。</a:t>
                </a:r>
                <a:endParaRPr lang="en-US" altLang="zh-CN" dirty="0"/>
              </a:p>
            </p:txBody>
          </p:sp>
        </mc:Choice>
        <mc:Fallback xmlns="">
          <p:sp>
            <p:nvSpPr>
              <p:cNvPr id="3" name="内容占位符 2">
                <a:extLst>
                  <a:ext uri="{FF2B5EF4-FFF2-40B4-BE49-F238E27FC236}">
                    <a16:creationId xmlns:a16="http://schemas.microsoft.com/office/drawing/2014/main" id="{EE1DA79F-D0CE-8F8E-C529-CC9F379989EB}"/>
                  </a:ext>
                </a:extLst>
              </p:cNvPr>
              <p:cNvSpPr>
                <a:spLocks noGrp="1" noRot="1" noChangeAspect="1" noMove="1" noResize="1" noEditPoints="1" noAdjustHandles="1" noChangeArrowheads="1" noChangeShapeType="1" noTextEdit="1"/>
              </p:cNvSpPr>
              <p:nvPr>
                <p:ph idx="1"/>
              </p:nvPr>
            </p:nvSpPr>
            <p:spPr>
              <a:blipFill>
                <a:blip r:embed="rId2"/>
                <a:stretch>
                  <a:fillRect l="-232"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411B894-7486-01EA-E1C2-761E2A8E47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1EB5F8-37CA-918C-A4D3-593670EC5F3C}"/>
              </a:ext>
            </a:extLst>
          </p:cNvPr>
          <p:cNvSpPr>
            <a:spLocks noGrp="1"/>
          </p:cNvSpPr>
          <p:nvPr>
            <p:ph type="sldNum" sz="quarter" idx="12"/>
          </p:nvPr>
        </p:nvSpPr>
        <p:spPr/>
        <p:txBody>
          <a:bodyPr/>
          <a:lstStyle/>
          <a:p>
            <a:fld id="{D41FC515-8169-4A29-AA56-DBE520D5741B}" type="slidenum">
              <a:rPr lang="zh-CN" altLang="en-US" smtClean="0"/>
              <a:t>5</a:t>
            </a:fld>
            <a:endParaRPr lang="zh-CN" altLang="en-US"/>
          </a:p>
        </p:txBody>
      </p:sp>
    </p:spTree>
    <p:extLst>
      <p:ext uri="{BB962C8B-B14F-4D97-AF65-F5344CB8AC3E}">
        <p14:creationId xmlns:p14="http://schemas.microsoft.com/office/powerpoint/2010/main" val="402840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2ED34-3807-A627-5372-65A12EAB9B2D}"/>
              </a:ext>
            </a:extLst>
          </p:cNvPr>
          <p:cNvSpPr>
            <a:spLocks noGrp="1"/>
          </p:cNvSpPr>
          <p:nvPr>
            <p:ph type="title"/>
          </p:nvPr>
        </p:nvSpPr>
        <p:spPr/>
        <p:txBody>
          <a:bodyPr/>
          <a:lstStyle/>
          <a:p>
            <a:r>
              <a:rPr lang="zh-CN" altLang="en-US" dirty="0"/>
              <a:t>双重差分法</a:t>
            </a:r>
            <a:br>
              <a:rPr lang="zh-CN" altLang="en-US" dirty="0"/>
            </a:br>
            <a:r>
              <a:rPr lang="zh-CN" altLang="en-US" sz="2400" dirty="0"/>
              <a:t>基本识别条件</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BF6832B-612C-8DC5-273D-171E970B4CC7}"/>
                  </a:ext>
                </a:extLst>
              </p:cNvPr>
              <p:cNvSpPr>
                <a:spLocks noGrp="1"/>
              </p:cNvSpPr>
              <p:nvPr>
                <p:ph idx="1"/>
              </p:nvPr>
            </p:nvSpPr>
            <p:spPr/>
            <p:txBody>
              <a:bodyPr>
                <a:normAutofit fontScale="47500" lnSpcReduction="20000"/>
              </a:bodyPr>
              <a:lstStyle/>
              <a:p>
                <a:pPr>
                  <a:lnSpc>
                    <a:spcPct val="120000"/>
                  </a:lnSpc>
                </a:pPr>
                <a:r>
                  <a:rPr lang="zh-CN" altLang="en-US" dirty="0"/>
                  <a:t>假设</a:t>
                </a:r>
                <a:r>
                  <a:rPr lang="en-US" altLang="zh-CN" dirty="0"/>
                  <a:t>1</a:t>
                </a:r>
                <a:r>
                  <a:rPr lang="zh-CN" altLang="en-US" dirty="0"/>
                  <a:t>（平行趋势假设）</a:t>
                </a: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假设</a:t>
                </a:r>
                <a:r>
                  <a:rPr lang="en-US" altLang="zh-CN" dirty="0"/>
                  <a:t>2</a:t>
                </a:r>
                <a:r>
                  <a:rPr lang="zh-CN" altLang="en-US" dirty="0"/>
                  <a:t>（无预期效应）干预之前，观测结果和未干预状态下的潜在结果相同，即对于所有干预组个体𝑖，在干预之前有</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 </m:t>
                      </m:r>
                      <m:r>
                        <a:rPr lang="zh-CN" altLang="en-US" i="1" smtClean="0">
                          <a:latin typeface="Cambria Math" panose="02040503050406030204" pitchFamily="18" charset="0"/>
                        </a:rPr>
                        <m:t>𝑡</m:t>
                      </m:r>
                      <m:r>
                        <a:rPr lang="zh-CN" altLang="en-US" i="1" smtClean="0">
                          <a:latin typeface="Cambria Math" panose="02040503050406030204" pitchFamily="18" charset="0"/>
                        </a:rPr>
                        <m:t>=0</m:t>
                      </m:r>
                      <m:r>
                        <m:rPr>
                          <m:nor/>
                        </m:rPr>
                        <a:rPr lang="zh-CN" altLang="en-US" i="0" smtClean="0">
                          <a:latin typeface="Cambria Math" panose="02040503050406030204" pitchFamily="18" charset="0"/>
                        </a:rPr>
                        <m:t> 或 </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7BF6832B-612C-8DC5-273D-171E970B4CC7}"/>
                  </a:ext>
                </a:extLst>
              </p:cNvPr>
              <p:cNvSpPr>
                <a:spLocks noGrp="1" noRot="1" noChangeAspect="1" noMove="1" noResize="1" noEditPoints="1" noAdjustHandles="1" noChangeArrowheads="1" noChangeShapeType="1" noTextEdit="1"/>
              </p:cNvSpPr>
              <p:nvPr>
                <p:ph idx="1"/>
              </p:nvPr>
            </p:nvSpPr>
            <p:spPr>
              <a:blipFill>
                <a:blip r:embed="rId2"/>
                <a:stretch>
                  <a:fillRect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E9075AE-0528-5730-FB3A-5DF1199AC0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BE2F0D1-23E6-38AF-99B3-F9A96A44D271}"/>
              </a:ext>
            </a:extLst>
          </p:cNvPr>
          <p:cNvSpPr>
            <a:spLocks noGrp="1"/>
          </p:cNvSpPr>
          <p:nvPr>
            <p:ph type="sldNum" sz="quarter" idx="12"/>
          </p:nvPr>
        </p:nvSpPr>
        <p:spPr/>
        <p:txBody>
          <a:bodyPr/>
          <a:lstStyle/>
          <a:p>
            <a:fld id="{D41FC515-8169-4A29-AA56-DBE520D5741B}" type="slidenum">
              <a:rPr lang="zh-CN" altLang="en-US" smtClean="0"/>
              <a:t>6</a:t>
            </a:fld>
            <a:endParaRPr lang="zh-CN" altLang="en-US"/>
          </a:p>
        </p:txBody>
      </p:sp>
      <p:pic>
        <p:nvPicPr>
          <p:cNvPr id="7" name="图片 6">
            <a:extLst>
              <a:ext uri="{FF2B5EF4-FFF2-40B4-BE49-F238E27FC236}">
                <a16:creationId xmlns:a16="http://schemas.microsoft.com/office/drawing/2014/main" id="{6E6C9827-C598-E039-5EEA-761935BE0FDA}"/>
              </a:ext>
            </a:extLst>
          </p:cNvPr>
          <p:cNvPicPr>
            <a:picLocks noChangeAspect="1"/>
          </p:cNvPicPr>
          <p:nvPr/>
        </p:nvPicPr>
        <p:blipFill>
          <a:blip r:embed="rId3"/>
          <a:stretch>
            <a:fillRect/>
          </a:stretch>
        </p:blipFill>
        <p:spPr>
          <a:xfrm>
            <a:off x="2508542" y="2352867"/>
            <a:ext cx="3949408" cy="2808681"/>
          </a:xfrm>
          <a:prstGeom prst="rect">
            <a:avLst/>
          </a:prstGeom>
        </p:spPr>
      </p:pic>
    </p:spTree>
    <p:extLst>
      <p:ext uri="{BB962C8B-B14F-4D97-AF65-F5344CB8AC3E}">
        <p14:creationId xmlns:p14="http://schemas.microsoft.com/office/powerpoint/2010/main" val="15612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5126F-6587-45A6-C27D-9EA92E805140}"/>
              </a:ext>
            </a:extLst>
          </p:cNvPr>
          <p:cNvSpPr>
            <a:spLocks noGrp="1"/>
          </p:cNvSpPr>
          <p:nvPr>
            <p:ph type="title"/>
          </p:nvPr>
        </p:nvSpPr>
        <p:spPr/>
        <p:txBody>
          <a:bodyPr/>
          <a:lstStyle/>
          <a:p>
            <a:r>
              <a:rPr lang="zh-CN" altLang="en-US" dirty="0"/>
              <a:t>双重差分法</a:t>
            </a:r>
            <a:br>
              <a:rPr lang="zh-CN" altLang="en-US" dirty="0"/>
            </a:br>
            <a:r>
              <a:rPr lang="zh-CN" altLang="en-US" sz="2400" dirty="0"/>
              <a:t>因果识别</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C4500E-0FB0-1A51-D1A6-E7D709EF4901}"/>
                  </a:ext>
                </a:extLst>
              </p:cNvPr>
              <p:cNvSpPr>
                <a:spLocks noGrp="1"/>
              </p:cNvSpPr>
              <p:nvPr>
                <p:ph idx="1"/>
              </p:nvPr>
            </p:nvSpPr>
            <p:spPr/>
            <p:txBody>
              <a:bodyPr>
                <a:normAutofit fontScale="55000" lnSpcReduction="20000"/>
              </a:bodyPr>
              <a:lstStyle/>
              <a:p>
                <a:r>
                  <a:rPr lang="zh-CN" altLang="en-US" dirty="0"/>
                  <a:t>假设</a:t>
                </a:r>
                <a:r>
                  <a:rPr lang="en-US" altLang="zh-CN" dirty="0"/>
                  <a:t>3</a:t>
                </a:r>
                <a:r>
                  <a:rPr lang="zh-CN" altLang="en-US" dirty="0"/>
                  <a:t>（无溢出效应）干预后控制组不会受到政策的溢出影响，即在干预后 </a:t>
                </a:r>
                <a:r>
                  <a:rPr lang="en-US" altLang="zh-CN" dirty="0"/>
                  <a:t>(</a:t>
                </a:r>
                <a:r>
                  <a:rPr lang="zh-CN" altLang="en-US" dirty="0"/>
                  <a:t>𝑇 </a:t>
                </a:r>
                <a:r>
                  <a:rPr lang="en-US" altLang="zh-CN" dirty="0"/>
                  <a:t>= 1)</a:t>
                </a:r>
                <a:r>
                  <a:rPr lang="zh-CN" altLang="en-US" dirty="0"/>
                  <a:t>，</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oMath>
                  </m:oMathPara>
                </a14:m>
                <a:endParaRPr lang="en-US" altLang="zh-CN" dirty="0"/>
              </a:p>
              <a:p>
                <a:r>
                  <a:rPr lang="zh-CN" altLang="en-US" dirty="0"/>
                  <a:t>或对于控制组个体𝑖，有</a:t>
                </a:r>
                <a:endParaRPr lang="zh-CN" altLang="en-US" dirty="0">
                  <a:latin typeface="Cambria Math" panose="02040503050406030204" pitchFamily="18" charset="0"/>
                </a:endParaRPr>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𝑖𝑡</m:t>
                          </m:r>
                        </m:sub>
                      </m:sSub>
                      <m:r>
                        <a:rPr lang="zh-CN" altLang="en-US" i="0"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𝑖𝑡</m:t>
                          </m:r>
                        </m:sub>
                      </m:sSub>
                      <m:d>
                        <m:dPr>
                          <m:ctrlPr>
                            <a:rPr lang="zh-CN" altLang="en-US" i="0" dirty="0" smtClean="0">
                              <a:latin typeface="Cambria Math" panose="02040503050406030204" pitchFamily="18" charset="0"/>
                            </a:rPr>
                          </m:ctrlPr>
                        </m:dPr>
                        <m:e>
                          <m:r>
                            <a:rPr lang="zh-CN" altLang="en-US" i="0" dirty="0" smtClean="0">
                              <a:latin typeface="Cambria Math" panose="02040503050406030204" pitchFamily="18" charset="0"/>
                            </a:rPr>
                            <m:t>0</m:t>
                          </m:r>
                        </m:e>
                      </m:d>
                    </m:oMath>
                  </m:oMathPara>
                </a14:m>
                <a:endParaRPr lang="en-US" altLang="zh-CN" dirty="0"/>
              </a:p>
              <a:p>
                <a:r>
                  <a:rPr lang="zh-CN" altLang="en-US" dirty="0"/>
                  <a:t>在假设</a:t>
                </a:r>
                <a:r>
                  <a:rPr lang="en-US" altLang="zh-CN" dirty="0"/>
                  <a:t>1-3 </a:t>
                </a:r>
                <a:r>
                  <a:rPr lang="zh-CN" altLang="en-US" dirty="0"/>
                  <a:t>下，</a:t>
                </a:r>
                <a:r>
                  <a:rPr lang="en-US" altLang="zh-CN" dirty="0"/>
                  <a:t>ATT </a:t>
                </a:r>
                <a:r>
                  <a:rPr lang="zh-CN" altLang="en-US" dirty="0"/>
                  <a:t>可以因果识别：</a:t>
                </a:r>
                <a:endParaRPr lang="en-US" altLang="zh-CN" dirty="0"/>
              </a:p>
              <a:p>
                <a14:m>
                  <m:oMath xmlns:m="http://schemas.openxmlformats.org/officeDocument/2006/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groupChr>
                              </m:e>
                              <m:lim>
                                <m:r>
                                  <m:rPr>
                                    <m:nor/>
                                  </m:rPr>
                                  <a:rPr lang="zh-CN" altLang="en-US" i="0" smtClean="0">
                                    <a:latin typeface="Cambria Math" panose="02040503050406030204" pitchFamily="18" charset="0"/>
                                  </a:rPr>
                                  <m:t>干预组结果增量</m:t>
                                </m:r>
                              </m:lim>
                            </m:limLow>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groupChr>
                              </m:e>
                              <m:lim>
                                <m:r>
                                  <m:rPr>
                                    <m:nor/>
                                  </m:rPr>
                                  <a:rPr lang="zh-CN" altLang="en-US" i="0" smtClean="0">
                                    <a:latin typeface="Cambria Math" panose="02040503050406030204" pitchFamily="18" charset="0"/>
                                  </a:rPr>
                                  <m:t>控制组结果增量</m:t>
                                </m:r>
                              </m:lim>
                            </m:limLow>
                          </m:e>
                        </m:d>
                        <m:r>
                          <a:rPr lang="en-US" altLang="zh-CN" b="0" i="1" smtClean="0">
                            <a:latin typeface="Cambria Math" panose="02040503050406030204" pitchFamily="18" charset="0"/>
                          </a:rPr>
                          <m:t>                            (3)</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groupChr>
                              </m:e>
                              <m:lim>
                                <m:r>
                                  <m:rPr>
                                    <m:nor/>
                                  </m:rPr>
                                  <a:rPr lang="zh-CN" altLang="en-US" i="0" smtClean="0">
                                    <a:latin typeface="Cambria Math" panose="02040503050406030204" pitchFamily="18" charset="0"/>
                                  </a:rPr>
                                  <m:t>事后两组结果差异</m:t>
                                </m:r>
                              </m:lim>
                            </m:limLow>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groupChr>
                              </m:e>
                              <m:lim>
                                <m:r>
                                  <m:rPr>
                                    <m:nor/>
                                  </m:rPr>
                                  <a:rPr lang="zh-CN" altLang="en-US" i="0" smtClean="0">
                                    <a:latin typeface="Cambria Math" panose="02040503050406030204" pitchFamily="18" charset="0"/>
                                  </a:rPr>
                                  <m:t>事前两组结果差异</m:t>
                                </m:r>
                              </m:lim>
                            </m:limLow>
                          </m:e>
                        </m:d>
                        <m:r>
                          <a:rPr lang="en-US" altLang="zh-CN" b="0" i="1" smtClean="0">
                            <a:latin typeface="Cambria Math" panose="02040503050406030204" pitchFamily="18" charset="0"/>
                          </a:rPr>
                          <m:t>                                                 (4)</m:t>
                        </m:r>
                      </m:e>
                    </m:eqArr>
                  </m:oMath>
                </a14:m>
                <a:endParaRPr lang="zh-CN" altLang="en-US" dirty="0"/>
              </a:p>
            </p:txBody>
          </p:sp>
        </mc:Choice>
        <mc:Fallback xmlns="">
          <p:sp>
            <p:nvSpPr>
              <p:cNvPr id="3" name="内容占位符 2">
                <a:extLst>
                  <a:ext uri="{FF2B5EF4-FFF2-40B4-BE49-F238E27FC236}">
                    <a16:creationId xmlns:a16="http://schemas.microsoft.com/office/drawing/2014/main" id="{D9C4500E-0FB0-1A51-D1A6-E7D709EF4901}"/>
                  </a:ext>
                </a:extLst>
              </p:cNvPr>
              <p:cNvSpPr>
                <a:spLocks noGrp="1" noRot="1" noChangeAspect="1" noMove="1" noResize="1" noEditPoints="1" noAdjustHandles="1" noChangeArrowheads="1" noChangeShapeType="1" noTextEdit="1"/>
              </p:cNvSpPr>
              <p:nvPr>
                <p:ph idx="1"/>
              </p:nvPr>
            </p:nvSpPr>
            <p:spPr>
              <a:blipFill>
                <a:blip r:embed="rId2"/>
                <a:stretch>
                  <a:fillRect l="-232"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E48F01-B3A7-D528-E9DA-65DB439D40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823A02-2C00-24F6-1172-A1AC9890953A}"/>
              </a:ext>
            </a:extLst>
          </p:cNvPr>
          <p:cNvSpPr>
            <a:spLocks noGrp="1"/>
          </p:cNvSpPr>
          <p:nvPr>
            <p:ph type="sldNum" sz="quarter" idx="12"/>
          </p:nvPr>
        </p:nvSpPr>
        <p:spPr/>
        <p:txBody>
          <a:bodyPr/>
          <a:lstStyle/>
          <a:p>
            <a:fld id="{D41FC515-8169-4A29-AA56-DBE520D5741B}" type="slidenum">
              <a:rPr lang="zh-CN" altLang="en-US" smtClean="0"/>
              <a:t>7</a:t>
            </a:fld>
            <a:endParaRPr lang="zh-CN" altLang="en-US"/>
          </a:p>
        </p:txBody>
      </p:sp>
    </p:spTree>
    <p:extLst>
      <p:ext uri="{BB962C8B-B14F-4D97-AF65-F5344CB8AC3E}">
        <p14:creationId xmlns:p14="http://schemas.microsoft.com/office/powerpoint/2010/main" val="3630705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9CDEF-7328-A459-C234-D43EBB365E45}"/>
              </a:ext>
            </a:extLst>
          </p:cNvPr>
          <p:cNvSpPr>
            <a:spLocks noGrp="1"/>
          </p:cNvSpPr>
          <p:nvPr>
            <p:ph type="title"/>
          </p:nvPr>
        </p:nvSpPr>
        <p:spPr/>
        <p:txBody>
          <a:bodyPr/>
          <a:lstStyle/>
          <a:p>
            <a:r>
              <a:rPr lang="zh-CN" altLang="en-US" dirty="0"/>
              <a:t>双重差分法</a:t>
            </a:r>
            <a:br>
              <a:rPr lang="zh-CN" altLang="en-US" dirty="0"/>
            </a:br>
            <a:r>
              <a:rPr lang="zh-CN" altLang="en-US" sz="2400" dirty="0"/>
              <a:t>因果识别</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6F4FFE-8BED-7783-EB5D-2E268FC44CEB}"/>
                  </a:ext>
                </a:extLst>
              </p:cNvPr>
              <p:cNvSpPr>
                <a:spLocks noGrp="1"/>
              </p:cNvSpPr>
              <p:nvPr>
                <p:ph idx="1"/>
              </p:nvPr>
            </p:nvSpPr>
            <p:spPr/>
            <p:txBody>
              <a:bodyPr>
                <a:normAutofit fontScale="85000" lnSpcReduction="10000"/>
              </a:bodyPr>
              <a:lstStyle/>
              <a:p>
                <a:pPr>
                  <a:lnSpc>
                    <a:spcPct val="110000"/>
                  </a:lnSpc>
                </a:pPr>
                <a:r>
                  <a:rPr lang="zh-CN" altLang="en-US" dirty="0"/>
                  <a:t>定理</a:t>
                </a:r>
                <a:r>
                  <a:rPr lang="en-US" altLang="zh-CN" dirty="0"/>
                  <a:t>1 </a:t>
                </a:r>
                <a:r>
                  <a:rPr lang="zh-CN" altLang="en-US" dirty="0"/>
                  <a:t>在</a:t>
                </a:r>
                <a:r>
                  <a:rPr lang="en-US" altLang="zh-CN" dirty="0"/>
                  <a:t>2 × 2 </a:t>
                </a:r>
                <a:r>
                  <a:rPr lang="zh-CN" altLang="en-US" dirty="0"/>
                  <a:t>双重差分情形下，如果满足识别假设</a:t>
                </a:r>
                <a:r>
                  <a:rPr lang="en-US" altLang="zh-CN" dirty="0"/>
                  <a:t>1–3</a:t>
                </a:r>
                <a:r>
                  <a:rPr lang="zh-CN" altLang="en-US" dirty="0"/>
                  <a:t>，则</a:t>
                </a:r>
                <a:r>
                  <a:rPr lang="en-US" altLang="zh-CN" dirty="0"/>
                  <a:t>ATT </a:t>
                </a:r>
                <a:r>
                  <a:rPr lang="zh-CN" altLang="en-US" dirty="0"/>
                  <a:t>可以因果识别，并且</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en-US" altLang="zh-CN" b="0" i="1" smtClean="0">
                              <a:latin typeface="Cambria Math" panose="02040503050406030204" pitchFamily="18" charset="0"/>
                            </a:rPr>
                            <m:t>     (5)</m:t>
                          </m:r>
                        </m:e>
                      </m:eqArr>
                    </m:oMath>
                  </m:oMathPara>
                </a14:m>
                <a:endParaRPr lang="en-US" altLang="zh-CN" dirty="0"/>
              </a:p>
              <a:p>
                <a:pPr>
                  <a:lnSpc>
                    <a:spcPct val="110000"/>
                  </a:lnSpc>
                </a:pPr>
                <a:r>
                  <a:rPr lang="zh-CN" altLang="en-US" dirty="0"/>
                  <a:t>参数估计：矩估计</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𝑀</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11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10</m:t>
                                  </m:r>
                                </m:sub>
                              </m:sSub>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01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00</m:t>
                                  </m:r>
                                </m:sub>
                              </m:sSub>
                            </m:e>
                          </m:d>
                          <m:r>
                            <a:rPr lang="zh-CN" altLang="en-US" i="1" smtClean="0">
                              <a:latin typeface="Cambria Math" panose="02040503050406030204" pitchFamily="18" charset="0"/>
                            </a:rPr>
                            <m:t>,</m:t>
                          </m:r>
                        </m:e>
                      </m:eqArr>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6</m:t>
                          </m:r>
                        </m:e>
                      </m:d>
                    </m:oMath>
                  </m:oMathPara>
                </a14:m>
                <a:endParaRPr lang="en-US" altLang="zh-CN" b="0" dirty="0"/>
              </a:p>
              <a:p>
                <a:pPr>
                  <a:lnSpc>
                    <a:spcPct val="110000"/>
                  </a:lnSpc>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𝑌</m:t>
                            </m:r>
                          </m:e>
                        </m:acc>
                      </m:e>
                      <m:sub>
                        <m:r>
                          <a:rPr lang="zh-CN" altLang="en-US" i="1" dirty="0" smtClean="0">
                            <a:latin typeface="Cambria Math" panose="02040503050406030204" pitchFamily="18" charset="0"/>
                          </a:rPr>
                          <m:t>𝑑𝑡</m:t>
                        </m:r>
                      </m:sub>
                    </m:sSub>
                    <m:r>
                      <a:rPr lang="zh-CN" altLang="en-US" i="1" dirty="0" smtClean="0">
                        <a:latin typeface="Cambria Math" panose="02040503050406030204" pitchFamily="18" charset="0"/>
                      </a:rPr>
                      <m:t> </m:t>
                    </m:r>
                  </m:oMath>
                </a14:m>
                <a:r>
                  <a:rPr lang="zh-CN" altLang="en-US" dirty="0"/>
                  <a:t>表示𝑑 组𝑡 期结果的样本均值。</a:t>
                </a:r>
              </a:p>
            </p:txBody>
          </p:sp>
        </mc:Choice>
        <mc:Fallback xmlns="">
          <p:sp>
            <p:nvSpPr>
              <p:cNvPr id="3" name="内容占位符 2">
                <a:extLst>
                  <a:ext uri="{FF2B5EF4-FFF2-40B4-BE49-F238E27FC236}">
                    <a16:creationId xmlns:a16="http://schemas.microsoft.com/office/drawing/2014/main" id="{336F4FFE-8BED-7783-EB5D-2E268FC44CEB}"/>
                  </a:ext>
                </a:extLst>
              </p:cNvPr>
              <p:cNvSpPr>
                <a:spLocks noGrp="1" noRot="1" noChangeAspect="1" noMove="1" noResize="1" noEditPoints="1" noAdjustHandles="1" noChangeArrowheads="1" noChangeShapeType="1" noTextEdit="1"/>
              </p:cNvSpPr>
              <p:nvPr>
                <p:ph idx="1"/>
              </p:nvPr>
            </p:nvSpPr>
            <p:spPr>
              <a:blipFill>
                <a:blip r:embed="rId2"/>
                <a:stretch>
                  <a:fillRect l="-1005" t="-1120" r="-309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E0FA07E-D992-CECE-3C76-30B6A96F533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08418B-2FA1-ADFE-5B4F-DB1860783D11}"/>
              </a:ext>
            </a:extLst>
          </p:cNvPr>
          <p:cNvSpPr>
            <a:spLocks noGrp="1"/>
          </p:cNvSpPr>
          <p:nvPr>
            <p:ph type="sldNum" sz="quarter" idx="12"/>
          </p:nvPr>
        </p:nvSpPr>
        <p:spPr/>
        <p:txBody>
          <a:bodyPr/>
          <a:lstStyle/>
          <a:p>
            <a:fld id="{D41FC515-8169-4A29-AA56-DBE520D5741B}" type="slidenum">
              <a:rPr lang="zh-CN" altLang="en-US" smtClean="0"/>
              <a:t>8</a:t>
            </a:fld>
            <a:endParaRPr lang="zh-CN" altLang="en-US"/>
          </a:p>
        </p:txBody>
      </p:sp>
    </p:spTree>
    <p:extLst>
      <p:ext uri="{BB962C8B-B14F-4D97-AF65-F5344CB8AC3E}">
        <p14:creationId xmlns:p14="http://schemas.microsoft.com/office/powerpoint/2010/main" val="401933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05EE8-0499-0EB9-F6FC-D00100869BD7}"/>
              </a:ext>
            </a:extLst>
          </p:cNvPr>
          <p:cNvSpPr>
            <a:spLocks noGrp="1"/>
          </p:cNvSpPr>
          <p:nvPr>
            <p:ph type="title"/>
          </p:nvPr>
        </p:nvSpPr>
        <p:spPr/>
        <p:txBody>
          <a:bodyPr>
            <a:normAutofit/>
          </a:bodyPr>
          <a:lstStyle/>
          <a:p>
            <a:r>
              <a:rPr lang="zh-CN" altLang="en-US" dirty="0"/>
              <a:t>双重差分法</a:t>
            </a:r>
            <a:br>
              <a:rPr lang="zh-CN" altLang="en-US" dirty="0"/>
            </a:br>
            <a:r>
              <a:rPr lang="en-US" altLang="zh-CN" sz="2700" dirty="0"/>
              <a:t>Card (1990) </a:t>
            </a:r>
            <a:r>
              <a:rPr lang="zh-CN" altLang="en-US" sz="2700" dirty="0"/>
              <a:t>外来移民对本地就业的影响</a:t>
            </a:r>
          </a:p>
        </p:txBody>
      </p:sp>
      <p:pic>
        <p:nvPicPr>
          <p:cNvPr id="7" name="内容占位符 6">
            <a:extLst>
              <a:ext uri="{FF2B5EF4-FFF2-40B4-BE49-F238E27FC236}">
                <a16:creationId xmlns:a16="http://schemas.microsoft.com/office/drawing/2014/main" id="{0ADD98A1-E4A6-AFFD-96D9-4951613331FA}"/>
              </a:ext>
            </a:extLst>
          </p:cNvPr>
          <p:cNvPicPr>
            <a:picLocks noGrp="1" noChangeAspect="1"/>
          </p:cNvPicPr>
          <p:nvPr>
            <p:ph idx="1"/>
          </p:nvPr>
        </p:nvPicPr>
        <p:blipFill>
          <a:blip r:embed="rId2"/>
          <a:stretch>
            <a:fillRect/>
          </a:stretch>
        </p:blipFill>
        <p:spPr>
          <a:xfrm>
            <a:off x="1545465" y="2298063"/>
            <a:ext cx="6053070" cy="3406462"/>
          </a:xfrm>
          <a:prstGeom prst="rect">
            <a:avLst/>
          </a:prstGeom>
        </p:spPr>
      </p:pic>
      <p:sp>
        <p:nvSpPr>
          <p:cNvPr id="4" name="页脚占位符 3">
            <a:extLst>
              <a:ext uri="{FF2B5EF4-FFF2-40B4-BE49-F238E27FC236}">
                <a16:creationId xmlns:a16="http://schemas.microsoft.com/office/drawing/2014/main" id="{195DC497-184B-8829-EA61-8985B95EC0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28B300-DD9E-0407-F201-BAF40D2F87E9}"/>
              </a:ext>
            </a:extLst>
          </p:cNvPr>
          <p:cNvSpPr>
            <a:spLocks noGrp="1"/>
          </p:cNvSpPr>
          <p:nvPr>
            <p:ph type="sldNum" sz="quarter" idx="12"/>
          </p:nvPr>
        </p:nvSpPr>
        <p:spPr/>
        <p:txBody>
          <a:bodyPr/>
          <a:lstStyle/>
          <a:p>
            <a:fld id="{D41FC515-8169-4A29-AA56-DBE520D5741B}" type="slidenum">
              <a:rPr lang="zh-CN" altLang="en-US" smtClean="0"/>
              <a:t>9</a:t>
            </a:fld>
            <a:endParaRPr lang="zh-CN" altLang="en-US"/>
          </a:p>
        </p:txBody>
      </p:sp>
    </p:spTree>
    <p:extLst>
      <p:ext uri="{BB962C8B-B14F-4D97-AF65-F5344CB8AC3E}">
        <p14:creationId xmlns:p14="http://schemas.microsoft.com/office/powerpoint/2010/main" val="2164689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00F4D-DC9E-6B84-0E34-3BE6EF526EC6}"/>
              </a:ext>
            </a:extLst>
          </p:cNvPr>
          <p:cNvSpPr>
            <a:spLocks noGrp="1"/>
          </p:cNvSpPr>
          <p:nvPr>
            <p:ph type="title"/>
          </p:nvPr>
        </p:nvSpPr>
        <p:spPr/>
        <p:txBody>
          <a:bodyPr>
            <a:normAutofit/>
          </a:bodyPr>
          <a:lstStyle/>
          <a:p>
            <a:r>
              <a:rPr lang="zh-CN" altLang="en-US" dirty="0"/>
              <a:t>双重差分法</a:t>
            </a:r>
            <a:br>
              <a:rPr lang="zh-CN" altLang="en-US" dirty="0"/>
            </a:br>
            <a:r>
              <a:rPr lang="en-US" altLang="zh-CN" sz="2700" dirty="0"/>
              <a:t>Card (1990) </a:t>
            </a:r>
            <a:r>
              <a:rPr lang="zh-CN" altLang="en-US" sz="2700" dirty="0"/>
              <a:t>外来移民对本地就业的影响</a:t>
            </a:r>
          </a:p>
        </p:txBody>
      </p:sp>
      <p:sp>
        <p:nvSpPr>
          <p:cNvPr id="3" name="内容占位符 2">
            <a:extLst>
              <a:ext uri="{FF2B5EF4-FFF2-40B4-BE49-F238E27FC236}">
                <a16:creationId xmlns:a16="http://schemas.microsoft.com/office/drawing/2014/main" id="{98EEDAEC-E919-9037-B33A-0289BF1BD092}"/>
              </a:ext>
            </a:extLst>
          </p:cNvPr>
          <p:cNvSpPr>
            <a:spLocks noGrp="1"/>
          </p:cNvSpPr>
          <p:nvPr>
            <p:ph idx="1"/>
          </p:nvPr>
        </p:nvSpPr>
        <p:spPr/>
        <p:txBody>
          <a:bodyPr>
            <a:normAutofit fontScale="85000" lnSpcReduction="10000"/>
          </a:bodyPr>
          <a:lstStyle/>
          <a:p>
            <a:r>
              <a:rPr lang="en-US" altLang="zh-CN" dirty="0"/>
              <a:t>1980 </a:t>
            </a:r>
            <a:r>
              <a:rPr lang="zh-CN" altLang="en-US" dirty="0"/>
              <a:t>年</a:t>
            </a:r>
            <a:r>
              <a:rPr lang="en-US" altLang="zh-CN" dirty="0"/>
              <a:t>4-10 </a:t>
            </a:r>
            <a:r>
              <a:rPr lang="zh-CN" altLang="en-US" dirty="0"/>
              <a:t>月间，古巴放松了从</a:t>
            </a:r>
            <a:r>
              <a:rPr lang="en-US" altLang="zh-CN" dirty="0"/>
              <a:t>Mariel </a:t>
            </a:r>
            <a:r>
              <a:rPr lang="zh-CN" altLang="en-US" dirty="0"/>
              <a:t>港的移民限制，从而短期内高达</a:t>
            </a:r>
            <a:r>
              <a:rPr lang="en-US" altLang="zh-CN" dirty="0"/>
              <a:t>125000-250000 </a:t>
            </a:r>
            <a:r>
              <a:rPr lang="zh-CN" altLang="en-US" dirty="0"/>
              <a:t>古巴人移民美国迈阿密，使迈阿密的劳动力短期内增加了</a:t>
            </a:r>
            <a:r>
              <a:rPr lang="en-US" altLang="zh-CN" dirty="0"/>
              <a:t>7%</a:t>
            </a:r>
            <a:r>
              <a:rPr lang="zh-CN" altLang="en-US" dirty="0"/>
              <a:t>，</a:t>
            </a:r>
            <a:r>
              <a:rPr lang="en-US" altLang="zh-CN" dirty="0"/>
              <a:t>Card (1990) </a:t>
            </a:r>
            <a:r>
              <a:rPr lang="zh-CN" altLang="en-US" dirty="0"/>
              <a:t>利用这一自然实验，探讨外来移民对本地就业和工资的影响。</a:t>
            </a:r>
            <a:endParaRPr lang="en-US" altLang="zh-CN" dirty="0"/>
          </a:p>
          <a:p>
            <a:r>
              <a:rPr lang="en-US" altLang="zh-CN" dirty="0"/>
              <a:t>These four cities were selected both because they had relatively large populations of blacks and Hispanics and because they exhibited a pattern of economic growth similar to that in Miami over the late 1970s and early 1980s. A comparison of employment growth rates (based on establishment-level data) suggests that economic conditions were very similar in Miami and the average of the four comparison cities between 1976 and 1984.</a:t>
            </a:r>
            <a:endParaRPr lang="zh-CN" altLang="en-US" dirty="0"/>
          </a:p>
        </p:txBody>
      </p:sp>
      <p:sp>
        <p:nvSpPr>
          <p:cNvPr id="4" name="页脚占位符 3">
            <a:extLst>
              <a:ext uri="{FF2B5EF4-FFF2-40B4-BE49-F238E27FC236}">
                <a16:creationId xmlns:a16="http://schemas.microsoft.com/office/drawing/2014/main" id="{D4B78772-CE98-758B-8D3B-3D4BEBC045D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6CFEB5-C6C8-F630-E142-74AE411B6A0A}"/>
              </a:ext>
            </a:extLst>
          </p:cNvPr>
          <p:cNvSpPr>
            <a:spLocks noGrp="1"/>
          </p:cNvSpPr>
          <p:nvPr>
            <p:ph type="sldNum" sz="quarter" idx="12"/>
          </p:nvPr>
        </p:nvSpPr>
        <p:spPr/>
        <p:txBody>
          <a:bodyPr/>
          <a:lstStyle/>
          <a:p>
            <a:fld id="{D41FC515-8169-4A29-AA56-DBE520D5741B}" type="slidenum">
              <a:rPr lang="zh-CN" altLang="en-US" smtClean="0"/>
              <a:t>10</a:t>
            </a:fld>
            <a:endParaRPr lang="zh-CN" altLang="en-US"/>
          </a:p>
        </p:txBody>
      </p:sp>
    </p:spTree>
    <p:extLst>
      <p:ext uri="{BB962C8B-B14F-4D97-AF65-F5344CB8AC3E}">
        <p14:creationId xmlns:p14="http://schemas.microsoft.com/office/powerpoint/2010/main" val="20299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FDC94-89F3-A8A6-7B59-8D7A1640C7ED}"/>
              </a:ext>
            </a:extLst>
          </p:cNvPr>
          <p:cNvSpPr>
            <a:spLocks noGrp="1"/>
          </p:cNvSpPr>
          <p:nvPr>
            <p:ph type="title"/>
          </p:nvPr>
        </p:nvSpPr>
        <p:spPr/>
        <p:txBody>
          <a:bodyPr>
            <a:normAutofit/>
          </a:bodyPr>
          <a:lstStyle/>
          <a:p>
            <a:r>
              <a:rPr lang="zh-CN" altLang="en-US" dirty="0"/>
              <a:t>双重差分法</a:t>
            </a:r>
            <a:br>
              <a:rPr lang="zh-CN" altLang="en-US" dirty="0"/>
            </a:br>
            <a:r>
              <a:rPr lang="en-US" altLang="zh-CN" sz="2700" dirty="0"/>
              <a:t>Card (1990) </a:t>
            </a:r>
            <a:r>
              <a:rPr lang="zh-CN" altLang="en-US" sz="2700" dirty="0"/>
              <a:t>外来移民对本地就业的影响</a:t>
            </a:r>
          </a:p>
        </p:txBody>
      </p:sp>
      <p:pic>
        <p:nvPicPr>
          <p:cNvPr id="7" name="内容占位符 6">
            <a:extLst>
              <a:ext uri="{FF2B5EF4-FFF2-40B4-BE49-F238E27FC236}">
                <a16:creationId xmlns:a16="http://schemas.microsoft.com/office/drawing/2014/main" id="{B9E900A1-A950-1DD5-1D62-90FC65AE1C2E}"/>
              </a:ext>
            </a:extLst>
          </p:cNvPr>
          <p:cNvPicPr>
            <a:picLocks noGrp="1" noChangeAspect="1"/>
          </p:cNvPicPr>
          <p:nvPr>
            <p:ph idx="1"/>
          </p:nvPr>
        </p:nvPicPr>
        <p:blipFill>
          <a:blip r:embed="rId2"/>
          <a:stretch>
            <a:fillRect/>
          </a:stretch>
        </p:blipFill>
        <p:spPr>
          <a:xfrm>
            <a:off x="1403797" y="1885939"/>
            <a:ext cx="6336406" cy="4230710"/>
          </a:xfrm>
          <a:prstGeom prst="rect">
            <a:avLst/>
          </a:prstGeom>
        </p:spPr>
      </p:pic>
      <p:sp>
        <p:nvSpPr>
          <p:cNvPr id="4" name="页脚占位符 3">
            <a:extLst>
              <a:ext uri="{FF2B5EF4-FFF2-40B4-BE49-F238E27FC236}">
                <a16:creationId xmlns:a16="http://schemas.microsoft.com/office/drawing/2014/main" id="{A6521627-83F0-BACD-AC81-2BD5E8D6C9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2963AC-D52C-3849-8694-B46D68140A0A}"/>
              </a:ext>
            </a:extLst>
          </p:cNvPr>
          <p:cNvSpPr>
            <a:spLocks noGrp="1"/>
          </p:cNvSpPr>
          <p:nvPr>
            <p:ph type="sldNum" sz="quarter" idx="12"/>
          </p:nvPr>
        </p:nvSpPr>
        <p:spPr/>
        <p:txBody>
          <a:bodyPr/>
          <a:lstStyle/>
          <a:p>
            <a:fld id="{D41FC515-8169-4A29-AA56-DBE520D5741B}" type="slidenum">
              <a:rPr lang="zh-CN" altLang="en-US" smtClean="0"/>
              <a:t>11</a:t>
            </a:fld>
            <a:endParaRPr lang="zh-CN" altLang="en-US"/>
          </a:p>
        </p:txBody>
      </p:sp>
    </p:spTree>
    <p:extLst>
      <p:ext uri="{BB962C8B-B14F-4D97-AF65-F5344CB8AC3E}">
        <p14:creationId xmlns:p14="http://schemas.microsoft.com/office/powerpoint/2010/main" val="245829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1B30-75F8-8244-8779-0BA432FFD117}"/>
              </a:ext>
            </a:extLst>
          </p:cNvPr>
          <p:cNvSpPr>
            <a:spLocks noGrp="1"/>
          </p:cNvSpPr>
          <p:nvPr>
            <p:ph type="title"/>
          </p:nvPr>
        </p:nvSpPr>
        <p:spPr/>
        <p:txBody>
          <a:bodyPr>
            <a:normAutofit/>
          </a:bodyPr>
          <a:lstStyle/>
          <a:p>
            <a:r>
              <a:rPr lang="zh-CN" altLang="en-US" dirty="0"/>
              <a:t>双重差分法</a:t>
            </a:r>
            <a:br>
              <a:rPr lang="zh-CN" altLang="en-US" dirty="0"/>
            </a:br>
            <a:r>
              <a:rPr lang="en-US" altLang="zh-CN" sz="2700" dirty="0"/>
              <a:t>Card and Krueger (1994) </a:t>
            </a:r>
            <a:r>
              <a:rPr lang="zh-CN" altLang="en-US" sz="2700" dirty="0"/>
              <a:t>最低工资调整对就业的影响</a:t>
            </a:r>
          </a:p>
        </p:txBody>
      </p:sp>
      <p:pic>
        <p:nvPicPr>
          <p:cNvPr id="7" name="内容占位符 6">
            <a:extLst>
              <a:ext uri="{FF2B5EF4-FFF2-40B4-BE49-F238E27FC236}">
                <a16:creationId xmlns:a16="http://schemas.microsoft.com/office/drawing/2014/main" id="{CE848257-A7BA-1013-76AB-4932C4D8942F}"/>
              </a:ext>
            </a:extLst>
          </p:cNvPr>
          <p:cNvPicPr>
            <a:picLocks noGrp="1" noChangeAspect="1"/>
          </p:cNvPicPr>
          <p:nvPr>
            <p:ph idx="1"/>
          </p:nvPr>
        </p:nvPicPr>
        <p:blipFill>
          <a:blip r:embed="rId2"/>
          <a:stretch>
            <a:fillRect/>
          </a:stretch>
        </p:blipFill>
        <p:spPr>
          <a:xfrm>
            <a:off x="628650" y="2011363"/>
            <a:ext cx="8094688" cy="3248526"/>
          </a:xfrm>
          <a:prstGeom prst="rect">
            <a:avLst/>
          </a:prstGeom>
        </p:spPr>
      </p:pic>
      <p:sp>
        <p:nvSpPr>
          <p:cNvPr id="4" name="页脚占位符 3">
            <a:extLst>
              <a:ext uri="{FF2B5EF4-FFF2-40B4-BE49-F238E27FC236}">
                <a16:creationId xmlns:a16="http://schemas.microsoft.com/office/drawing/2014/main" id="{73909BC4-AD28-D83D-256E-5394032082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87A45C-8FA5-9A39-D034-BCD1E268F505}"/>
              </a:ext>
            </a:extLst>
          </p:cNvPr>
          <p:cNvSpPr>
            <a:spLocks noGrp="1"/>
          </p:cNvSpPr>
          <p:nvPr>
            <p:ph type="sldNum" sz="quarter" idx="12"/>
          </p:nvPr>
        </p:nvSpPr>
        <p:spPr/>
        <p:txBody>
          <a:bodyPr/>
          <a:lstStyle/>
          <a:p>
            <a:fld id="{D41FC515-8169-4A29-AA56-DBE520D5741B}" type="slidenum">
              <a:rPr lang="zh-CN" altLang="en-US" smtClean="0"/>
              <a:t>12</a:t>
            </a:fld>
            <a:endParaRPr lang="zh-CN" altLang="en-US"/>
          </a:p>
        </p:txBody>
      </p:sp>
    </p:spTree>
    <p:extLst>
      <p:ext uri="{BB962C8B-B14F-4D97-AF65-F5344CB8AC3E}">
        <p14:creationId xmlns:p14="http://schemas.microsoft.com/office/powerpoint/2010/main" val="285169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39C0B-AE93-F492-2737-915ECA693034}"/>
              </a:ext>
            </a:extLst>
          </p:cNvPr>
          <p:cNvSpPr>
            <a:spLocks noGrp="1"/>
          </p:cNvSpPr>
          <p:nvPr>
            <p:ph type="title"/>
          </p:nvPr>
        </p:nvSpPr>
        <p:spPr/>
        <p:txBody>
          <a:bodyPr/>
          <a:lstStyle/>
          <a:p>
            <a:r>
              <a:rPr lang="zh-CN" altLang="en-US" dirty="0"/>
              <a:t>双重差分法</a:t>
            </a:r>
            <a:br>
              <a:rPr lang="zh-CN" altLang="en-US" dirty="0"/>
            </a:br>
            <a:r>
              <a:rPr lang="zh-CN" altLang="en-US" sz="2400" dirty="0"/>
              <a:t>回归实现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DA5406A-9861-20B7-14ED-08E774504CBF}"/>
                  </a:ext>
                </a:extLst>
              </p:cNvPr>
              <p:cNvSpPr>
                <a:spLocks noGrp="1"/>
              </p:cNvSpPr>
              <p:nvPr>
                <p:ph idx="1"/>
              </p:nvPr>
            </p:nvSpPr>
            <p:spPr>
              <a:xfrm>
                <a:off x="628650" y="1825625"/>
                <a:ext cx="7886700" cy="4530726"/>
              </a:xfrm>
            </p:spPr>
            <p:txBody>
              <a:bodyPr>
                <a:normAutofit fontScale="55000" lnSpcReduction="20000"/>
              </a:bodyPr>
              <a:lstStyle/>
              <a:p>
                <a:r>
                  <a:rPr lang="zh-CN" altLang="en-US" dirty="0"/>
                  <a:t>平行趋势假设</a:t>
                </a:r>
                <a:r>
                  <a:rPr lang="en-US" altLang="zh-CN" dirty="0"/>
                  <a:t>1 </a:t>
                </a:r>
                <a:r>
                  <a:rPr lang="zh-CN" altLang="en-US" dirty="0"/>
                  <a:t>成立，双重差分法（适合重复截面数据和面板数据）的回归实现方式为：</a:t>
                </a:r>
                <a:endParaRPr lang="en-US" altLang="zh-CN" dirty="0"/>
              </a:p>
              <a:p>
                <a:pPr marL="0" indent="0" algn="ctr">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𝑇</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r>
                      <a:rPr lang="en-US" altLang="zh-CN" b="0" i="1" smtClean="0">
                        <a:latin typeface="Cambria Math" panose="02040503050406030204" pitchFamily="18" charset="0"/>
                      </a:rPr>
                      <m:t>                       (7)</m:t>
                    </m:r>
                  </m:oMath>
                </a14:m>
                <a:r>
                  <a:rPr lang="en-US" altLang="zh-CN" dirty="0"/>
                  <a:t> </a:t>
                </a:r>
              </a:p>
              <a:p>
                <a:pPr marL="0" indent="0">
                  <a:buNone/>
                </a:pPr>
                <a:r>
                  <a:rPr lang="zh-CN" altLang="en-US" dirty="0"/>
                  <a:t>从而</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𝑇</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𝑇</m:t>
                          </m:r>
                        </m:e>
                      </m:d>
                      <m:r>
                        <a:rPr lang="zh-CN" altLang="en-US" i="1" smtClean="0">
                          <a:latin typeface="Cambria Math" panose="02040503050406030204" pitchFamily="18" charset="0"/>
                        </a:rPr>
                        <m:t>,</m:t>
                      </m:r>
                    </m:oMath>
                  </m:oMathPara>
                </a14:m>
                <a:endParaRPr lang="en-US" altLang="zh-CN" dirty="0"/>
              </a:p>
              <a:p>
                <a:pPr marL="0" indent="0">
                  <a:buNone/>
                </a:pPr>
                <a:r>
                  <a:rPr lang="zh-CN" altLang="en-US" dirty="0"/>
                  <a:t>则</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r>
                                <a:rPr lang="zh-CN" altLang="en-US" i="1" smtClean="0">
                                  <a:latin typeface="Cambria Math" panose="02040503050406030204" pitchFamily="18" charset="0"/>
                                </a:rPr>
                                <m:t>𝑇</m:t>
                              </m:r>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r>
                                <a:rPr lang="zh-CN" altLang="en-US" i="1" smtClean="0">
                                  <a:latin typeface="Cambria Math" panose="02040503050406030204" pitchFamily="18" charset="0"/>
                                </a:rPr>
                                <m:t>𝑇</m:t>
                              </m:r>
                              <m:r>
                                <a:rPr lang="zh-CN" altLang="en-US" i="1" smtClean="0">
                                  <a:latin typeface="Cambria Math" panose="02040503050406030204" pitchFamily="18" charset="0"/>
                                </a:rPr>
                                <m:t>=1</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𝑇</m:t>
                              </m:r>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𝑇</m:t>
                              </m:r>
                              <m:r>
                                <a:rPr lang="zh-CN" altLang="en-US" i="1" smtClean="0">
                                  <a:latin typeface="Cambria Math" panose="02040503050406030204" pitchFamily="18" charset="0"/>
                                </a:rPr>
                                <m:t>=1</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即回归系数𝜏 即是双重差分估计量：</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𝜏</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𝑇</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𝑇</m:t>
                                  </m:r>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r>
                                    <a:rPr lang="zh-CN" altLang="en-US" i="1" smtClean="0">
                                      <a:latin typeface="Cambria Math" panose="02040503050406030204" pitchFamily="18" charset="0"/>
                                    </a:rPr>
                                    <m:t>𝑇</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r>
                                    <a:rPr lang="zh-CN" altLang="en-US" i="1" smtClean="0">
                                      <a:latin typeface="Cambria Math" panose="02040503050406030204" pitchFamily="18" charset="0"/>
                                    </a:rPr>
                                    <m:t>𝑇</m:t>
                                  </m:r>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等价于假设</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marL="0" indent="0">
                  <a:buNone/>
                </a:pPr>
                <a:r>
                  <a:rPr lang="zh-CN" altLang="en-US" dirty="0"/>
                  <a:t>组间差别是𝛽，时间趋势是𝛿，上式蕴含着平行趋势。</a:t>
                </a:r>
              </a:p>
            </p:txBody>
          </p:sp>
        </mc:Choice>
        <mc:Fallback>
          <p:sp>
            <p:nvSpPr>
              <p:cNvPr id="3" name="内容占位符 2">
                <a:extLst>
                  <a:ext uri="{FF2B5EF4-FFF2-40B4-BE49-F238E27FC236}">
                    <a16:creationId xmlns:a16="http://schemas.microsoft.com/office/drawing/2014/main" id="{BDA5406A-9861-20B7-14ED-08E774504CBF}"/>
                  </a:ext>
                </a:extLst>
              </p:cNvPr>
              <p:cNvSpPr>
                <a:spLocks noGrp="1" noRot="1" noChangeAspect="1" noMove="1" noResize="1" noEditPoints="1" noAdjustHandles="1" noChangeArrowheads="1" noChangeShapeType="1" noTextEdit="1"/>
              </p:cNvSpPr>
              <p:nvPr>
                <p:ph idx="1"/>
              </p:nvPr>
            </p:nvSpPr>
            <p:spPr>
              <a:xfrm>
                <a:off x="628650" y="1825625"/>
                <a:ext cx="7886700" cy="4530726"/>
              </a:xfrm>
              <a:blipFill>
                <a:blip r:embed="rId2"/>
                <a:stretch>
                  <a:fillRect l="-309" t="-121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F24BA39-B843-F149-D2E0-3A8542966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71CD59-D6ED-A37F-2F05-BC053B5433AD}"/>
              </a:ext>
            </a:extLst>
          </p:cNvPr>
          <p:cNvSpPr>
            <a:spLocks noGrp="1"/>
          </p:cNvSpPr>
          <p:nvPr>
            <p:ph type="sldNum" sz="quarter" idx="12"/>
          </p:nvPr>
        </p:nvSpPr>
        <p:spPr/>
        <p:txBody>
          <a:bodyPr/>
          <a:lstStyle/>
          <a:p>
            <a:fld id="{D41FC515-8169-4A29-AA56-DBE520D5741B}" type="slidenum">
              <a:rPr lang="zh-CN" altLang="en-US" smtClean="0"/>
              <a:t>13</a:t>
            </a:fld>
            <a:endParaRPr lang="zh-CN" altLang="en-US"/>
          </a:p>
        </p:txBody>
      </p:sp>
    </p:spTree>
    <p:extLst>
      <p:ext uri="{BB962C8B-B14F-4D97-AF65-F5344CB8AC3E}">
        <p14:creationId xmlns:p14="http://schemas.microsoft.com/office/powerpoint/2010/main" val="344441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85829-6ED3-4D57-CF50-081591377223}"/>
              </a:ext>
            </a:extLst>
          </p:cNvPr>
          <p:cNvSpPr>
            <a:spLocks noGrp="1"/>
          </p:cNvSpPr>
          <p:nvPr>
            <p:ph type="title"/>
          </p:nvPr>
        </p:nvSpPr>
        <p:spPr/>
        <p:txBody>
          <a:bodyPr/>
          <a:lstStyle/>
          <a:p>
            <a:r>
              <a:rPr lang="zh-CN" altLang="en-US" dirty="0"/>
              <a:t>双重差分法</a:t>
            </a:r>
            <a:br>
              <a:rPr lang="zh-CN" altLang="en-US" dirty="0"/>
            </a:br>
            <a:r>
              <a:rPr lang="zh-CN" altLang="en-US" sz="2400" dirty="0"/>
              <a:t>回归实现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3D9AC68-A2A2-30F5-5980-0EC18D1E6066}"/>
                  </a:ext>
                </a:extLst>
              </p:cNvPr>
              <p:cNvSpPr>
                <a:spLocks noGrp="1"/>
              </p:cNvSpPr>
              <p:nvPr>
                <p:ph idx="1"/>
              </p:nvPr>
            </p:nvSpPr>
            <p:spPr/>
            <p:txBody>
              <a:bodyPr>
                <a:normAutofit fontScale="92500"/>
              </a:bodyPr>
              <a:lstStyle/>
              <a:p>
                <a:r>
                  <a:rPr lang="zh-CN" altLang="en-US" dirty="0"/>
                  <a:t>回归</a:t>
                </a:r>
                <a:r>
                  <a:rPr lang="en-US" altLang="zh-CN" dirty="0"/>
                  <a:t>DID </a:t>
                </a:r>
                <a:r>
                  <a:rPr lang="zh-CN" altLang="en-US" dirty="0"/>
                  <a:t>模型</a:t>
                </a:r>
                <a:r>
                  <a:rPr lang="en-US" altLang="zh-CN" dirty="0"/>
                  <a:t>(7) </a:t>
                </a:r>
                <a:r>
                  <a:rPr lang="zh-CN" altLang="en-US" dirty="0"/>
                  <a:t>也可表示为下列固定效应模型：</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en-US" altLang="zh-CN" b="0" i="1" smtClean="0">
                              <a:latin typeface="Cambria Math" panose="02040503050406030204" pitchFamily="18" charset="0"/>
                            </a:rPr>
                            <m:t>                 (8)</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en-US" altLang="zh-CN" b="0" i="1" smtClean="0">
                              <a:latin typeface="Cambria Math" panose="02040503050406030204" pitchFamily="18" charset="0"/>
                            </a:rPr>
                            <m:t>                        (9)</m:t>
                          </m:r>
                        </m:e>
                      </m:eqArr>
                    </m:oMath>
                  </m:oMathPara>
                </a14:m>
                <a:endParaRPr lang="en-US" altLang="zh-CN" dirty="0"/>
              </a:p>
              <a:p>
                <a:pPr marL="0" indent="0">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𝑇</m:t>
                    </m:r>
                    <m:r>
                      <a:rPr lang="zh-CN" altLang="en-US" i="1" dirty="0">
                        <a:latin typeface="Cambria Math" panose="02040503050406030204" pitchFamily="18" charset="0"/>
                      </a:rPr>
                      <m:t> </m:t>
                    </m:r>
                  </m:oMath>
                </a14:m>
                <a:r>
                  <a:rPr lang="zh-CN" altLang="en-US" dirty="0"/>
                  <a:t>。</a:t>
                </a:r>
                <a:endParaRPr lang="en-US" altLang="zh-CN" dirty="0"/>
              </a:p>
              <a:p>
                <a:r>
                  <a:rPr lang="zh-CN" altLang="en-US" dirty="0"/>
                  <a:t>回归</a:t>
                </a:r>
                <a:r>
                  <a:rPr lang="en-US" altLang="zh-CN" dirty="0"/>
                  <a:t>DID </a:t>
                </a:r>
                <a:r>
                  <a:rPr lang="zh-CN" altLang="en-US" dirty="0"/>
                  <a:t>模型</a:t>
                </a:r>
                <a:r>
                  <a:rPr lang="en-US" altLang="zh-CN" dirty="0"/>
                  <a:t>(7) </a:t>
                </a:r>
                <a:r>
                  <a:rPr lang="zh-CN" altLang="en-US" dirty="0"/>
                  <a:t>称为</a:t>
                </a:r>
                <a:r>
                  <a:rPr lang="en-US" altLang="zh-CN" dirty="0" err="1"/>
                  <a:t>Mundlak</a:t>
                </a:r>
                <a:r>
                  <a:rPr lang="en-US" altLang="zh-CN" dirty="0"/>
                  <a:t> </a:t>
                </a:r>
                <a:r>
                  <a:rPr lang="zh-CN" altLang="en-US" dirty="0"/>
                  <a:t>回归</a:t>
                </a:r>
                <a:r>
                  <a:rPr lang="en-US" altLang="zh-CN" dirty="0"/>
                  <a:t>Wooldridge (2021)</a:t>
                </a:r>
                <a:r>
                  <a:rPr lang="zh-CN" altLang="en-US" dirty="0"/>
                  <a:t>。</a:t>
                </a:r>
                <a:endParaRPr lang="en-US" altLang="zh-CN" dirty="0"/>
              </a:p>
              <a:p>
                <a:r>
                  <a:rPr lang="zh-CN" altLang="en-US" dirty="0"/>
                  <a:t>需要强调的是，模型</a:t>
                </a:r>
                <a:r>
                  <a:rPr lang="en-US" altLang="zh-CN" dirty="0"/>
                  <a:t>(7)(9) </a:t>
                </a:r>
                <a:r>
                  <a:rPr lang="zh-CN" altLang="en-US" dirty="0"/>
                  <a:t>不是结构模型，反映的并不是变量间的因果关系，而只是我们估计参数的手段。</a:t>
                </a:r>
              </a:p>
            </p:txBody>
          </p:sp>
        </mc:Choice>
        <mc:Fallback xmlns="">
          <p:sp>
            <p:nvSpPr>
              <p:cNvPr id="3" name="内容占位符 2">
                <a:extLst>
                  <a:ext uri="{FF2B5EF4-FFF2-40B4-BE49-F238E27FC236}">
                    <a16:creationId xmlns:a16="http://schemas.microsoft.com/office/drawing/2014/main" id="{63D9AC68-A2A2-30F5-5980-0EC18D1E6066}"/>
                  </a:ext>
                </a:extLst>
              </p:cNvPr>
              <p:cNvSpPr>
                <a:spLocks noGrp="1" noRot="1" noChangeAspect="1" noMove="1" noResize="1" noEditPoints="1" noAdjustHandles="1" noChangeArrowheads="1" noChangeShapeType="1" noTextEdit="1"/>
              </p:cNvSpPr>
              <p:nvPr>
                <p:ph idx="1"/>
              </p:nvPr>
            </p:nvSpPr>
            <p:spPr>
              <a:blipFill>
                <a:blip r:embed="rId2"/>
                <a:stretch>
                  <a:fillRect l="-1391" t="-1261" r="-10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7890E14-562D-BDA4-DDBF-B18BE73D97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27D82D-31B5-1B55-828C-0491E249E730}"/>
              </a:ext>
            </a:extLst>
          </p:cNvPr>
          <p:cNvSpPr>
            <a:spLocks noGrp="1"/>
          </p:cNvSpPr>
          <p:nvPr>
            <p:ph type="sldNum" sz="quarter" idx="12"/>
          </p:nvPr>
        </p:nvSpPr>
        <p:spPr/>
        <p:txBody>
          <a:bodyPr/>
          <a:lstStyle/>
          <a:p>
            <a:fld id="{D41FC515-8169-4A29-AA56-DBE520D5741B}" type="slidenum">
              <a:rPr lang="zh-CN" altLang="en-US" smtClean="0"/>
              <a:t>14</a:t>
            </a:fld>
            <a:endParaRPr lang="zh-CN" altLang="en-US"/>
          </a:p>
        </p:txBody>
      </p:sp>
    </p:spTree>
    <p:extLst>
      <p:ext uri="{BB962C8B-B14F-4D97-AF65-F5344CB8AC3E}">
        <p14:creationId xmlns:p14="http://schemas.microsoft.com/office/powerpoint/2010/main" val="345704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613FD-4072-1D39-5378-2DFE5E0000B7}"/>
              </a:ext>
            </a:extLst>
          </p:cNvPr>
          <p:cNvSpPr>
            <a:spLocks noGrp="1"/>
          </p:cNvSpPr>
          <p:nvPr>
            <p:ph type="title"/>
          </p:nvPr>
        </p:nvSpPr>
        <p:spPr/>
        <p:txBody>
          <a:bodyPr>
            <a:normAutofit/>
          </a:bodyPr>
          <a:lstStyle/>
          <a:p>
            <a:r>
              <a:rPr lang="zh-CN" altLang="en-US" dirty="0"/>
              <a:t>双重差分法的回归实现</a:t>
            </a:r>
            <a:br>
              <a:rPr lang="zh-CN" altLang="en-US" dirty="0"/>
            </a:br>
            <a:r>
              <a:rPr lang="en-US" altLang="zh-CN" sz="2200" dirty="0"/>
              <a:t>Abadie and </a:t>
            </a:r>
            <a:r>
              <a:rPr lang="en-US" altLang="zh-CN" sz="2200" dirty="0" err="1"/>
              <a:t>Dermisi</a:t>
            </a:r>
            <a:r>
              <a:rPr lang="en-US" altLang="zh-CN" sz="2200" dirty="0"/>
              <a:t> (2008)911 </a:t>
            </a:r>
            <a:r>
              <a:rPr lang="zh-CN" altLang="en-US" sz="2200" dirty="0"/>
              <a:t>事件对美国办公楼市场的影响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1560F45-CEBA-E12E-394E-767B6E37DB26}"/>
                  </a:ext>
                </a:extLst>
              </p:cNvPr>
              <p:cNvSpPr>
                <a:spLocks noGrp="1"/>
              </p:cNvSpPr>
              <p:nvPr>
                <p:ph idx="1"/>
              </p:nvPr>
            </p:nvSpPr>
            <p:spPr>
              <a:xfrm>
                <a:off x="628650" y="1825625"/>
                <a:ext cx="7886700" cy="1603375"/>
              </a:xfrm>
            </p:spPr>
            <p:txBody>
              <a:bodyPr>
                <a:normAutofit fontScale="62500" lnSpcReduction="20000"/>
              </a:bodyPr>
              <a:lstStyle/>
              <a:p>
                <a:r>
                  <a:rPr lang="zh-CN" altLang="en-US" dirty="0"/>
                  <a:t>数据：芝加哥</a:t>
                </a:r>
                <a:r>
                  <a:rPr lang="en-US" altLang="zh-CN" dirty="0"/>
                  <a:t>1996 </a:t>
                </a:r>
                <a:r>
                  <a:rPr lang="zh-CN" altLang="en-US" dirty="0"/>
                  <a:t>年第</a:t>
                </a:r>
                <a:r>
                  <a:rPr lang="en-US" altLang="zh-CN" dirty="0"/>
                  <a:t>2 </a:t>
                </a:r>
                <a:r>
                  <a:rPr lang="zh-CN" altLang="en-US" dirty="0"/>
                  <a:t>季度到</a:t>
                </a:r>
                <a:r>
                  <a:rPr lang="en-US" altLang="zh-CN" dirty="0"/>
                  <a:t>2006 </a:t>
                </a:r>
                <a:r>
                  <a:rPr lang="zh-CN" altLang="en-US" dirty="0"/>
                  <a:t>年第</a:t>
                </a:r>
                <a:r>
                  <a:rPr lang="en-US" altLang="zh-CN" dirty="0"/>
                  <a:t>1 </a:t>
                </a:r>
                <a:r>
                  <a:rPr lang="zh-CN" altLang="en-US" dirty="0"/>
                  <a:t>季度的数据，政策干预是</a:t>
                </a:r>
                <a:r>
                  <a:rPr lang="en-US" altLang="zh-CN" dirty="0"/>
                  <a:t>911 </a:t>
                </a:r>
                <a:r>
                  <a:rPr lang="zh-CN" altLang="en-US" dirty="0"/>
                  <a:t>事件，干预组和控制组的分组，地标建筑</a:t>
                </a:r>
                <a:r>
                  <a:rPr lang="en-US" altLang="zh-CN" dirty="0"/>
                  <a:t>0.3 </a:t>
                </a:r>
                <a:r>
                  <a:rPr lang="zh-CN" altLang="en-US" dirty="0"/>
                  <a:t>英里范围内的为干预组，之外为控制组。</a:t>
                </a:r>
                <a:endParaRPr lang="en-US" altLang="zh-CN" dirty="0"/>
              </a:p>
              <a:p>
                <a:r>
                  <a:rPr lang="zh-CN" altLang="en-US" dirty="0"/>
                  <a:t>基本模型：</a:t>
                </a:r>
                <a:endParaRPr lang="en-US" altLang="zh-CN" dirty="0"/>
              </a:p>
              <a:p>
                <a14:m>
                  <m:oMath xmlns:m="http://schemas.openxmlformats.org/officeDocument/2006/math">
                    <m:sSub>
                      <m:sSubPr>
                        <m:ctrlPr>
                          <a:rPr lang="zh-CN" altLang="en-US" i="0" smtClean="0">
                            <a:latin typeface="Cambria Math" panose="02040503050406030204" pitchFamily="18" charset="0"/>
                          </a:rPr>
                        </m:ctrlPr>
                      </m:sSubPr>
                      <m:e>
                        <m:r>
                          <m:rPr>
                            <m:nor/>
                          </m:rPr>
                          <a:rPr lang="zh-CN" altLang="en-US" i="0" smtClean="0">
                            <a:latin typeface="Cambria Math" panose="02040503050406030204" pitchFamily="18" charset="0"/>
                          </a:rPr>
                          <m:t>vacancy rate</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𝜏</m:t>
                    </m:r>
                    <m:d>
                      <m:dPr>
                        <m:ctrlPr>
                          <a:rPr lang="zh-CN" altLang="en-US" i="1" smtClean="0">
                            <a:latin typeface="Cambria Math" panose="02040503050406030204" pitchFamily="18" charset="0"/>
                          </a:rPr>
                        </m:ctrlPr>
                      </m:dPr>
                      <m:e>
                        <m:sSub>
                          <m:sSubPr>
                            <m:ctrlPr>
                              <a:rPr lang="zh-CN" altLang="en-US" i="0" smtClean="0">
                                <a:latin typeface="Cambria Math" panose="02040503050406030204" pitchFamily="18" charset="0"/>
                              </a:rPr>
                            </m:ctrlPr>
                          </m:sSubPr>
                          <m:e>
                            <m:r>
                              <m:rPr>
                                <m:nor/>
                              </m:rPr>
                              <a:rPr lang="zh-CN" altLang="en-US" i="0" smtClean="0">
                                <a:latin typeface="Cambria Math" panose="02040503050406030204" pitchFamily="18" charset="0"/>
                              </a:rPr>
                              <m:t>shadow</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m:rPr>
                            <m:nor/>
                          </m:rPr>
                          <a:rPr lang="zh-CN" altLang="en-US" i="0" smtClean="0">
                            <a:latin typeface="Cambria Math" panose="02040503050406030204" pitchFamily="18" charset="0"/>
                          </a:rPr>
                          <m:t>post−</m:t>
                        </m:r>
                        <m:r>
                          <a:rPr lang="zh-CN" altLang="en-US" i="1" smtClean="0">
                            <a:latin typeface="Cambria Math" panose="02040503050406030204" pitchFamily="18" charset="0"/>
                          </a:rPr>
                          <m:t>9/</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11</m:t>
                            </m:r>
                          </m:e>
                          <m:sub>
                            <m:r>
                              <a:rPr lang="zh-CN" altLang="en-US" i="1" smtClean="0">
                                <a:latin typeface="Cambria Math" panose="02040503050406030204" pitchFamily="18" charset="0"/>
                              </a:rPr>
                              <m:t>𝑡</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𝑓</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𝜂</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41560F45-CEBA-E12E-394E-767B6E37DB26}"/>
                  </a:ext>
                </a:extLst>
              </p:cNvPr>
              <p:cNvSpPr>
                <a:spLocks noGrp="1" noRot="1" noChangeAspect="1" noMove="1" noResize="1" noEditPoints="1" noAdjustHandles="1" noChangeArrowheads="1" noChangeShapeType="1" noTextEdit="1"/>
              </p:cNvSpPr>
              <p:nvPr>
                <p:ph idx="1"/>
              </p:nvPr>
            </p:nvSpPr>
            <p:spPr>
              <a:xfrm>
                <a:off x="628650" y="1825625"/>
                <a:ext cx="7886700" cy="1603375"/>
              </a:xfrm>
              <a:blipFill>
                <a:blip r:embed="rId2"/>
                <a:stretch>
                  <a:fillRect l="-464" t="-5303" r="-38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4B101F0-F4FE-BEE4-4DF9-509CC69F51F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AB987D-FF09-AEC1-BE9D-9EC2418A9EE5}"/>
              </a:ext>
            </a:extLst>
          </p:cNvPr>
          <p:cNvSpPr>
            <a:spLocks noGrp="1"/>
          </p:cNvSpPr>
          <p:nvPr>
            <p:ph type="sldNum" sz="quarter" idx="12"/>
          </p:nvPr>
        </p:nvSpPr>
        <p:spPr/>
        <p:txBody>
          <a:bodyPr/>
          <a:lstStyle/>
          <a:p>
            <a:fld id="{D41FC515-8169-4A29-AA56-DBE520D5741B}" type="slidenum">
              <a:rPr lang="zh-CN" altLang="en-US" smtClean="0"/>
              <a:t>15</a:t>
            </a:fld>
            <a:endParaRPr lang="zh-CN" altLang="en-US"/>
          </a:p>
        </p:txBody>
      </p:sp>
      <p:pic>
        <p:nvPicPr>
          <p:cNvPr id="7" name="图片 6">
            <a:extLst>
              <a:ext uri="{FF2B5EF4-FFF2-40B4-BE49-F238E27FC236}">
                <a16:creationId xmlns:a16="http://schemas.microsoft.com/office/drawing/2014/main" id="{C57D3327-51A7-FB16-86C8-2BEBBD8B6E84}"/>
              </a:ext>
            </a:extLst>
          </p:cNvPr>
          <p:cNvPicPr>
            <a:picLocks noChangeAspect="1"/>
          </p:cNvPicPr>
          <p:nvPr/>
        </p:nvPicPr>
        <p:blipFill>
          <a:blip r:embed="rId3"/>
          <a:stretch>
            <a:fillRect/>
          </a:stretch>
        </p:blipFill>
        <p:spPr>
          <a:xfrm>
            <a:off x="992945" y="3643424"/>
            <a:ext cx="2923503" cy="2498501"/>
          </a:xfrm>
          <a:prstGeom prst="rect">
            <a:avLst/>
          </a:prstGeom>
        </p:spPr>
      </p:pic>
      <p:pic>
        <p:nvPicPr>
          <p:cNvPr id="9" name="图片 8">
            <a:extLst>
              <a:ext uri="{FF2B5EF4-FFF2-40B4-BE49-F238E27FC236}">
                <a16:creationId xmlns:a16="http://schemas.microsoft.com/office/drawing/2014/main" id="{4167A881-427C-4184-9C12-A8B656FB6D04}"/>
              </a:ext>
            </a:extLst>
          </p:cNvPr>
          <p:cNvPicPr>
            <a:picLocks noChangeAspect="1"/>
          </p:cNvPicPr>
          <p:nvPr/>
        </p:nvPicPr>
        <p:blipFill>
          <a:blip r:embed="rId4"/>
          <a:stretch>
            <a:fillRect/>
          </a:stretch>
        </p:blipFill>
        <p:spPr>
          <a:xfrm>
            <a:off x="4572000" y="3643424"/>
            <a:ext cx="3375950" cy="2498501"/>
          </a:xfrm>
          <a:prstGeom prst="rect">
            <a:avLst/>
          </a:prstGeom>
        </p:spPr>
      </p:pic>
    </p:spTree>
    <p:extLst>
      <p:ext uri="{BB962C8B-B14F-4D97-AF65-F5344CB8AC3E}">
        <p14:creationId xmlns:p14="http://schemas.microsoft.com/office/powerpoint/2010/main" val="6722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9121D-9524-BD05-0D1C-3F427AD89933}"/>
              </a:ext>
            </a:extLst>
          </p:cNvPr>
          <p:cNvSpPr>
            <a:spLocks noGrp="1"/>
          </p:cNvSpPr>
          <p:nvPr>
            <p:ph type="title"/>
          </p:nvPr>
        </p:nvSpPr>
        <p:spPr/>
        <p:txBody>
          <a:bodyPr>
            <a:normAutofit/>
          </a:bodyPr>
          <a:lstStyle/>
          <a:p>
            <a:r>
              <a:rPr lang="zh-CN" altLang="en-US" dirty="0"/>
              <a:t>双重差分法的回归实现</a:t>
            </a:r>
            <a:br>
              <a:rPr lang="zh-CN" altLang="en-US" dirty="0"/>
            </a:br>
            <a:r>
              <a:rPr lang="en-US" altLang="zh-CN" sz="2200" dirty="0"/>
              <a:t>Abadie and </a:t>
            </a:r>
            <a:r>
              <a:rPr lang="en-US" altLang="zh-CN" sz="2200" dirty="0" err="1"/>
              <a:t>Dermisi</a:t>
            </a:r>
            <a:r>
              <a:rPr lang="en-US" altLang="zh-CN" sz="2200" dirty="0"/>
              <a:t> (2008)911 </a:t>
            </a:r>
            <a:r>
              <a:rPr lang="zh-CN" altLang="en-US" sz="2200" dirty="0"/>
              <a:t>事件对美国办公楼市场的影响</a:t>
            </a:r>
          </a:p>
        </p:txBody>
      </p:sp>
      <p:pic>
        <p:nvPicPr>
          <p:cNvPr id="7" name="内容占位符 6">
            <a:extLst>
              <a:ext uri="{FF2B5EF4-FFF2-40B4-BE49-F238E27FC236}">
                <a16:creationId xmlns:a16="http://schemas.microsoft.com/office/drawing/2014/main" id="{73C5D28F-B68C-E042-8834-7C797821CEB9}"/>
              </a:ext>
            </a:extLst>
          </p:cNvPr>
          <p:cNvPicPr>
            <a:picLocks noGrp="1" noChangeAspect="1"/>
          </p:cNvPicPr>
          <p:nvPr>
            <p:ph idx="1"/>
          </p:nvPr>
        </p:nvPicPr>
        <p:blipFill>
          <a:blip r:embed="rId2"/>
          <a:stretch>
            <a:fillRect/>
          </a:stretch>
        </p:blipFill>
        <p:spPr>
          <a:xfrm>
            <a:off x="799550" y="1559261"/>
            <a:ext cx="7576887" cy="2633562"/>
          </a:xfrm>
          <a:prstGeom prst="rect">
            <a:avLst/>
          </a:prstGeom>
        </p:spPr>
      </p:pic>
      <p:sp>
        <p:nvSpPr>
          <p:cNvPr id="4" name="页脚占位符 3">
            <a:extLst>
              <a:ext uri="{FF2B5EF4-FFF2-40B4-BE49-F238E27FC236}">
                <a16:creationId xmlns:a16="http://schemas.microsoft.com/office/drawing/2014/main" id="{D4AD105D-05B3-C6B0-9B1F-7821173E6D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CFFA84-A66A-C057-A6D8-A15EFA077299}"/>
              </a:ext>
            </a:extLst>
          </p:cNvPr>
          <p:cNvSpPr>
            <a:spLocks noGrp="1"/>
          </p:cNvSpPr>
          <p:nvPr>
            <p:ph type="sldNum" sz="quarter" idx="12"/>
          </p:nvPr>
        </p:nvSpPr>
        <p:spPr/>
        <p:txBody>
          <a:bodyPr/>
          <a:lstStyle/>
          <a:p>
            <a:fld id="{D41FC515-8169-4A29-AA56-DBE520D5741B}" type="slidenum">
              <a:rPr lang="zh-CN" altLang="en-US" smtClean="0"/>
              <a:t>16</a:t>
            </a:fld>
            <a:endParaRPr lang="zh-CN" altLang="en-US"/>
          </a:p>
        </p:txBody>
      </p:sp>
      <p:pic>
        <p:nvPicPr>
          <p:cNvPr id="9" name="图片 8">
            <a:extLst>
              <a:ext uri="{FF2B5EF4-FFF2-40B4-BE49-F238E27FC236}">
                <a16:creationId xmlns:a16="http://schemas.microsoft.com/office/drawing/2014/main" id="{CC72FD80-8DB7-551A-6987-07DA28DE2EBE}"/>
              </a:ext>
            </a:extLst>
          </p:cNvPr>
          <p:cNvPicPr>
            <a:picLocks noChangeAspect="1"/>
          </p:cNvPicPr>
          <p:nvPr/>
        </p:nvPicPr>
        <p:blipFill>
          <a:blip r:embed="rId3"/>
          <a:stretch>
            <a:fillRect/>
          </a:stretch>
        </p:blipFill>
        <p:spPr>
          <a:xfrm>
            <a:off x="799550" y="4192823"/>
            <a:ext cx="7715800" cy="2386387"/>
          </a:xfrm>
          <a:prstGeom prst="rect">
            <a:avLst/>
          </a:prstGeom>
        </p:spPr>
      </p:pic>
    </p:spTree>
    <p:extLst>
      <p:ext uri="{BB962C8B-B14F-4D97-AF65-F5344CB8AC3E}">
        <p14:creationId xmlns:p14="http://schemas.microsoft.com/office/powerpoint/2010/main" val="2176012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A4836A-0E76-B023-4B03-AD111D44724F}"/>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BD2F24A-AE5F-5739-9730-2EBF95DE8688}"/>
                  </a:ext>
                </a:extLst>
              </p:cNvPr>
              <p:cNvSpPr>
                <a:spLocks noGrp="1"/>
              </p:cNvSpPr>
              <p:nvPr>
                <p:ph idx="1"/>
              </p:nvPr>
            </p:nvSpPr>
            <p:spPr/>
            <p:txBody>
              <a:bodyPr>
                <a:noAutofit/>
              </a:bodyPr>
              <a:lstStyle/>
              <a:p>
                <a:r>
                  <a:rPr lang="zh-CN" altLang="en-US" sz="1600" dirty="0"/>
                  <a:t>假设</a:t>
                </a:r>
                <a:r>
                  <a:rPr lang="en-US" altLang="zh-CN" sz="1600" dirty="0"/>
                  <a:t>1’</a:t>
                </a:r>
                <a:r>
                  <a:rPr lang="zh-CN" altLang="en-US" sz="1600" dirty="0"/>
                  <a:t>（条件平行趋势假设）对于特征为𝑋𝑖 的群体，干预组个体如果没有接受干预，其潜在结果的变动趋势与控制组的变动趋势相同，即</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en-US" altLang="zh-CN" sz="1600" b="0" i="1" smtClean="0">
                              <a:latin typeface="Cambria Math" panose="02040503050406030204" pitchFamily="18" charset="0"/>
                            </a:rPr>
                            <m:t>                      (10)</m:t>
                          </m:r>
                        </m:e>
                      </m:eqArr>
                    </m:oMath>
                  </m:oMathPara>
                </a14:m>
                <a:endParaRPr lang="en-US" altLang="zh-CN" sz="1600" dirty="0"/>
              </a:p>
              <a:p>
                <a:pPr marL="0" indent="0">
                  <a:buNone/>
                </a:pPr>
                <a:r>
                  <a:rPr lang="zh-CN" altLang="en-US" sz="1600" dirty="0"/>
                  <a:t>或写为</a:t>
                </a:r>
                <a:endParaRPr lang="en-US" altLang="zh-CN" sz="1600" dirty="0"/>
              </a:p>
              <a:p>
                <a:pPr marL="0" indent="0">
                  <a:buNone/>
                </a:pPr>
                <a14:m>
                  <m:oMathPara xmlns:m="http://schemas.openxmlformats.org/officeDocument/2006/math">
                    <m:oMath>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oMath>
                  </m:oMathPara>
                </a14:m>
                <a:endParaRPr lang="en-US" altLang="zh-CN" sz="1600" dirty="0"/>
              </a:p>
              <a:p>
                <a:r>
                  <a:rPr lang="zh-CN" altLang="en-US" sz="1600" dirty="0"/>
                  <a:t>平行趋势假设也可以写成另一种形式，即</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e>
                      </m:eqArr>
                      <m:r>
                        <a:rPr lang="en-US" altLang="zh-CN" sz="1600" b="0" i="1" smtClean="0">
                          <a:latin typeface="Cambria Math" panose="02040503050406030204" pitchFamily="18" charset="0"/>
                        </a:rPr>
                        <m:t> </m:t>
                      </m:r>
                    </m:oMath>
                  </m:oMathPara>
                </a14:m>
                <a:br>
                  <a:rPr lang="en-US" altLang="zh-CN" sz="1600" b="0" i="1" dirty="0">
                    <a:latin typeface="Cambria Math" panose="02040503050406030204" pitchFamily="18" charset="0"/>
                  </a:rPr>
                </a:br>
                <a:r>
                  <a:rPr lang="en-US" altLang="zh-CN" sz="1600" b="0" i="1" dirty="0">
                    <a:latin typeface="Cambria Math" panose="02040503050406030204" pitchFamily="18" charset="0"/>
                  </a:rPr>
                  <a:t>     </a:t>
                </a:r>
                <a14:m>
                  <m:oMath xmlns:m="http://schemas.openxmlformats.org/officeDocument/2006/math">
                    <m:r>
                      <a:rPr lang="en-US" altLang="zh-CN" sz="1600" b="0" i="1" smtClean="0">
                        <a:latin typeface="Cambria Math" panose="02040503050406030204" pitchFamily="18" charset="0"/>
                      </a:rPr>
                      <m:t>                                                                                                                                                            (11)</m:t>
                    </m:r>
                  </m:oMath>
                </a14:m>
                <a:endParaRPr lang="en-US" altLang="zh-CN" sz="1600" dirty="0"/>
              </a:p>
              <a:p>
                <a:pPr marL="0" indent="0">
                  <a:buNone/>
                </a:pPr>
                <a:r>
                  <a:rPr lang="zh-CN" altLang="en-US" sz="1600" dirty="0"/>
                  <a:t>或写为：</a:t>
                </a:r>
                <a:endParaRPr lang="en-US" altLang="zh-CN" sz="1600" dirty="0"/>
              </a:p>
              <a:p>
                <a:pPr marL="0" indent="0">
                  <a:buNone/>
                </a:pPr>
                <a14:m>
                  <m:oMathPara xmlns:m="http://schemas.openxmlformats.org/officeDocument/2006/math">
                    <m:oMath>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𝐵</m:t>
                          </m:r>
                        </m:e>
                        <m:sub>
                          <m:r>
                            <a:rPr lang="zh-CN" altLang="en-US" sz="1600" i="1" smtClean="0">
                              <a:latin typeface="Cambria Math" panose="02040503050406030204" pitchFamily="18" charset="0"/>
                            </a:rPr>
                            <m:t>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𝑥</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𝐵</m:t>
                          </m:r>
                        </m:e>
                        <m:sub>
                          <m:r>
                            <a:rPr lang="zh-CN" altLang="en-US" sz="1600" i="1" smtClean="0">
                              <a:latin typeface="Cambria Math" panose="02040503050406030204" pitchFamily="18" charset="0"/>
                            </a:rPr>
                            <m:t>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𝑥</m:t>
                          </m:r>
                        </m:e>
                      </m:d>
                      <m:r>
                        <a:rPr lang="zh-CN" altLang="en-US" sz="1600" i="1" smtClean="0">
                          <a:latin typeface="Cambria Math" panose="02040503050406030204" pitchFamily="18" charset="0"/>
                        </a:rPr>
                        <m:t>,</m:t>
                      </m:r>
                    </m:oMath>
                  </m:oMathPara>
                </a14:m>
                <a:endParaRPr lang="en-US" altLang="zh-CN" sz="1600" dirty="0"/>
              </a:p>
              <a:p>
                <a:pPr marL="0" indent="0">
                  <a:buNone/>
                </a:pPr>
                <a:r>
                  <a:rPr lang="zh-CN" altLang="it-IT" sz="1600" dirty="0"/>
                  <a:t>其中</a:t>
                </a:r>
                <a14:m>
                  <m:oMath xmlns:m="http://schemas.openxmlformats.org/officeDocument/2006/math">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𝐵</m:t>
                        </m:r>
                      </m:e>
                      <m:sub>
                        <m:r>
                          <a:rPr lang="it-IT" altLang="zh-CN" sz="1600" i="1" dirty="0" smtClean="0">
                            <a:latin typeface="Cambria Math" panose="02040503050406030204" pitchFamily="18" charset="0"/>
                          </a:rPr>
                          <m:t>𝑡</m:t>
                        </m:r>
                      </m:sub>
                    </m:sSub>
                    <m:r>
                      <a:rPr lang="it-IT" altLang="zh-CN" sz="1600" i="1" dirty="0" smtClean="0">
                        <a:latin typeface="Cambria Math" panose="02040503050406030204" pitchFamily="18" charset="0"/>
                      </a:rPr>
                      <m:t>(</m:t>
                    </m:r>
                    <m:r>
                      <a:rPr lang="it-IT" altLang="zh-CN" sz="1600" i="1" dirty="0" smtClean="0">
                        <a:latin typeface="Cambria Math" panose="02040503050406030204" pitchFamily="18" charset="0"/>
                      </a:rPr>
                      <m:t>𝑥</m:t>
                    </m:r>
                    <m:r>
                      <a:rPr lang="it-IT" altLang="zh-CN" sz="1600" i="1" dirty="0" smtClean="0">
                        <a:latin typeface="Cambria Math" panose="02040503050406030204" pitchFamily="18" charset="0"/>
                      </a:rPr>
                      <m:t>)=</m:t>
                    </m:r>
                    <m:r>
                      <a:rPr lang="it-IT" altLang="zh-CN" sz="1600" i="1" dirty="0" smtClean="0">
                        <a:latin typeface="Cambria Math" panose="02040503050406030204" pitchFamily="18" charset="0"/>
                      </a:rPr>
                      <m:t>𝐸</m:t>
                    </m:r>
                    <m:r>
                      <a:rPr lang="it-IT" altLang="zh-CN" sz="1600" i="1" dirty="0" smtClean="0">
                        <a:latin typeface="Cambria Math" panose="02040503050406030204" pitchFamily="18" charset="0"/>
                      </a:rPr>
                      <m:t>[</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𝑌</m:t>
                        </m:r>
                      </m:e>
                      <m:sub>
                        <m:r>
                          <a:rPr lang="it-IT" altLang="zh-CN" sz="1600" i="1" dirty="0" smtClean="0">
                            <a:latin typeface="Cambria Math" panose="02040503050406030204" pitchFamily="18" charset="0"/>
                          </a:rPr>
                          <m:t>𝑖𝑡</m:t>
                        </m:r>
                      </m:sub>
                    </m:sSub>
                    <m:r>
                      <a:rPr lang="it-IT" altLang="zh-CN" sz="1600" i="1" dirty="0" smtClean="0">
                        <a:latin typeface="Cambria Math" panose="02040503050406030204" pitchFamily="18" charset="0"/>
                      </a:rPr>
                      <m:t>(0)|</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𝑋</m:t>
                        </m:r>
                      </m:e>
                      <m:sub>
                        <m:r>
                          <a:rPr lang="it-IT" altLang="zh-CN" sz="1600" i="1" dirty="0" smtClean="0">
                            <a:latin typeface="Cambria Math" panose="02040503050406030204" pitchFamily="18" charset="0"/>
                          </a:rPr>
                          <m:t>𝑖</m:t>
                        </m:r>
                      </m:sub>
                    </m:sSub>
                    <m:r>
                      <a:rPr lang="it-IT" altLang="zh-CN" sz="1600" i="1" dirty="0" smtClean="0">
                        <a:latin typeface="Cambria Math" panose="02040503050406030204" pitchFamily="18" charset="0"/>
                      </a:rPr>
                      <m:t>=</m:t>
                    </m:r>
                    <m:r>
                      <a:rPr lang="it-IT" altLang="zh-CN" sz="1600" i="1" dirty="0" smtClean="0">
                        <a:latin typeface="Cambria Math" panose="02040503050406030204" pitchFamily="18" charset="0"/>
                      </a:rPr>
                      <m:t>𝑥</m:t>
                    </m:r>
                    <m:r>
                      <a:rPr lang="it-IT" altLang="zh-CN" sz="1600" i="1" dirty="0" smtClean="0">
                        <a:latin typeface="Cambria Math" panose="02040503050406030204" pitchFamily="18" charset="0"/>
                      </a:rPr>
                      <m:t>,</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𝐷</m:t>
                        </m:r>
                      </m:e>
                      <m:sub>
                        <m:r>
                          <a:rPr lang="it-IT" altLang="zh-CN" sz="1600" i="1" dirty="0" smtClean="0">
                            <a:latin typeface="Cambria Math" panose="02040503050406030204" pitchFamily="18" charset="0"/>
                          </a:rPr>
                          <m:t>𝑖</m:t>
                        </m:r>
                      </m:sub>
                    </m:sSub>
                    <m:r>
                      <a:rPr lang="it-IT" altLang="zh-CN" sz="1600" i="1" dirty="0" smtClean="0">
                        <a:latin typeface="Cambria Math" panose="02040503050406030204" pitchFamily="18" charset="0"/>
                      </a:rPr>
                      <m:t>=1]−</m:t>
                    </m:r>
                    <m:r>
                      <a:rPr lang="it-IT" altLang="zh-CN" sz="1600" i="1" dirty="0" smtClean="0">
                        <a:latin typeface="Cambria Math" panose="02040503050406030204" pitchFamily="18" charset="0"/>
                      </a:rPr>
                      <m:t>𝐸</m:t>
                    </m:r>
                    <m:r>
                      <a:rPr lang="it-IT" altLang="zh-CN" sz="1600" i="1" dirty="0" smtClean="0">
                        <a:latin typeface="Cambria Math" panose="02040503050406030204" pitchFamily="18" charset="0"/>
                      </a:rPr>
                      <m:t>[</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𝑌</m:t>
                        </m:r>
                      </m:e>
                      <m:sub>
                        <m:r>
                          <a:rPr lang="it-IT" altLang="zh-CN" sz="1600" i="1" dirty="0" smtClean="0">
                            <a:latin typeface="Cambria Math" panose="02040503050406030204" pitchFamily="18" charset="0"/>
                          </a:rPr>
                          <m:t>𝑖𝑡</m:t>
                        </m:r>
                      </m:sub>
                    </m:sSub>
                    <m:r>
                      <a:rPr lang="it-IT" altLang="zh-CN" sz="1600" i="1" dirty="0" smtClean="0">
                        <a:latin typeface="Cambria Math" panose="02040503050406030204" pitchFamily="18" charset="0"/>
                      </a:rPr>
                      <m:t>(0)|</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𝑋</m:t>
                        </m:r>
                      </m:e>
                      <m:sub>
                        <m:r>
                          <a:rPr lang="it-IT" altLang="zh-CN" sz="1600" i="1" dirty="0" smtClean="0">
                            <a:latin typeface="Cambria Math" panose="02040503050406030204" pitchFamily="18" charset="0"/>
                          </a:rPr>
                          <m:t>𝑖</m:t>
                        </m:r>
                      </m:sub>
                    </m:sSub>
                    <m:r>
                      <a:rPr lang="it-IT" altLang="zh-CN" sz="1600" i="1" dirty="0" smtClean="0">
                        <a:latin typeface="Cambria Math" panose="02040503050406030204" pitchFamily="18" charset="0"/>
                      </a:rPr>
                      <m:t>=</m:t>
                    </m:r>
                    <m:r>
                      <a:rPr lang="it-IT" altLang="zh-CN" sz="1600" i="1" dirty="0" smtClean="0">
                        <a:latin typeface="Cambria Math" panose="02040503050406030204" pitchFamily="18" charset="0"/>
                      </a:rPr>
                      <m:t>𝑥</m:t>
                    </m:r>
                    <m:r>
                      <a:rPr lang="it-IT" altLang="zh-CN" sz="1600" i="1" dirty="0" smtClean="0">
                        <a:latin typeface="Cambria Math" panose="02040503050406030204" pitchFamily="18" charset="0"/>
                      </a:rPr>
                      <m:t>,</m:t>
                    </m:r>
                    <m:sSub>
                      <m:sSubPr>
                        <m:ctrlPr>
                          <a:rPr lang="it-IT" altLang="zh-CN" sz="1600" i="1" dirty="0" smtClean="0">
                            <a:latin typeface="Cambria Math" panose="02040503050406030204" pitchFamily="18" charset="0"/>
                          </a:rPr>
                        </m:ctrlPr>
                      </m:sSubPr>
                      <m:e>
                        <m:r>
                          <a:rPr lang="it-IT" altLang="zh-CN" sz="1600" i="1" dirty="0" smtClean="0">
                            <a:latin typeface="Cambria Math" panose="02040503050406030204" pitchFamily="18" charset="0"/>
                          </a:rPr>
                          <m:t>𝐷</m:t>
                        </m:r>
                      </m:e>
                      <m:sub>
                        <m:r>
                          <a:rPr lang="it-IT" altLang="zh-CN" sz="1600" i="1" dirty="0" smtClean="0">
                            <a:latin typeface="Cambria Math" panose="02040503050406030204" pitchFamily="18" charset="0"/>
                          </a:rPr>
                          <m:t>𝑖</m:t>
                        </m:r>
                      </m:sub>
                    </m:sSub>
                    <m:r>
                      <a:rPr lang="it-IT" altLang="zh-CN" sz="1600" i="1" dirty="0" smtClean="0">
                        <a:latin typeface="Cambria Math" panose="02040503050406030204" pitchFamily="18" charset="0"/>
                      </a:rPr>
                      <m:t>=0]</m:t>
                    </m:r>
                  </m:oMath>
                </a14:m>
                <a:r>
                  <a:rPr lang="zh-CN" altLang="it-IT" sz="1600" dirty="0"/>
                  <a:t>。</a:t>
                </a:r>
                <a:endParaRPr lang="zh-CN" altLang="en-US" sz="1600" dirty="0"/>
              </a:p>
            </p:txBody>
          </p:sp>
        </mc:Choice>
        <mc:Fallback>
          <p:sp>
            <p:nvSpPr>
              <p:cNvPr id="3" name="内容占位符 2">
                <a:extLst>
                  <a:ext uri="{FF2B5EF4-FFF2-40B4-BE49-F238E27FC236}">
                    <a16:creationId xmlns:a16="http://schemas.microsoft.com/office/drawing/2014/main" id="{2BD2F24A-AE5F-5739-9730-2EBF95DE8688}"/>
                  </a:ext>
                </a:extLst>
              </p:cNvPr>
              <p:cNvSpPr>
                <a:spLocks noGrp="1" noRot="1" noChangeAspect="1" noMove="1" noResize="1" noEditPoints="1" noAdjustHandles="1" noChangeArrowheads="1" noChangeShapeType="1" noTextEdit="1"/>
              </p:cNvSpPr>
              <p:nvPr>
                <p:ph idx="1"/>
              </p:nvPr>
            </p:nvSpPr>
            <p:spPr>
              <a:blipFill>
                <a:blip r:embed="rId2"/>
                <a:stretch>
                  <a:fillRect l="-386" t="-560" r="-19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63822E-0C26-3129-D9F3-42D5583DF6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61AF8B-FD19-A063-9B21-2457A6C086BB}"/>
              </a:ext>
            </a:extLst>
          </p:cNvPr>
          <p:cNvSpPr>
            <a:spLocks noGrp="1"/>
          </p:cNvSpPr>
          <p:nvPr>
            <p:ph type="sldNum" sz="quarter" idx="12"/>
          </p:nvPr>
        </p:nvSpPr>
        <p:spPr/>
        <p:txBody>
          <a:bodyPr/>
          <a:lstStyle/>
          <a:p>
            <a:fld id="{D41FC515-8169-4A29-AA56-DBE520D5741B}" type="slidenum">
              <a:rPr lang="zh-CN" altLang="en-US" smtClean="0"/>
              <a:t>17</a:t>
            </a:fld>
            <a:endParaRPr lang="zh-CN" altLang="en-US"/>
          </a:p>
        </p:txBody>
      </p:sp>
    </p:spTree>
    <p:extLst>
      <p:ext uri="{BB962C8B-B14F-4D97-AF65-F5344CB8AC3E}">
        <p14:creationId xmlns:p14="http://schemas.microsoft.com/office/powerpoint/2010/main" val="362236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5383-07AC-B564-EE04-CC66BD0E265D}"/>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3C400C2-070F-F50D-BB60-D4C9CD3EC4AA}"/>
                  </a:ext>
                </a:extLst>
              </p:cNvPr>
              <p:cNvSpPr>
                <a:spLocks noGrp="1"/>
              </p:cNvSpPr>
              <p:nvPr>
                <p:ph idx="1"/>
              </p:nvPr>
            </p:nvSpPr>
            <p:spPr/>
            <p:txBody>
              <a:bodyPr>
                <a:normAutofit fontScale="85000" lnSpcReduction="10000"/>
              </a:bodyPr>
              <a:lstStyle/>
              <a:p>
                <a:r>
                  <a:rPr lang="zh-CN" altLang="en-US" dirty="0"/>
                  <a:t>假设</a:t>
                </a:r>
                <a:r>
                  <a:rPr lang="en-US" altLang="zh-CN" dirty="0"/>
                  <a:t>2</a:t>
                </a:r>
                <a:r>
                  <a:rPr lang="zh-CN" altLang="en-US" dirty="0"/>
                  <a:t>（无预期效应）干预之前，观测结果和未干预状态下的潜在结果相同，即对于所有干预组个体𝑖，在干预之前有</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 </m:t>
                      </m:r>
                      <m:r>
                        <a:rPr lang="zh-CN" altLang="en-US" i="1" smtClean="0">
                          <a:latin typeface="Cambria Math" panose="02040503050406030204" pitchFamily="18" charset="0"/>
                        </a:rPr>
                        <m:t>𝑡</m:t>
                      </m:r>
                      <m:r>
                        <a:rPr lang="zh-CN" altLang="en-US" i="1" smtClean="0">
                          <a:latin typeface="Cambria Math" panose="02040503050406030204" pitchFamily="18" charset="0"/>
                        </a:rPr>
                        <m:t>=0</m:t>
                      </m:r>
                      <m:r>
                        <m:rPr>
                          <m:nor/>
                        </m:rPr>
                        <a:rPr lang="zh-CN" altLang="en-US" i="0" smtClean="0">
                          <a:latin typeface="Cambria Math" panose="02040503050406030204" pitchFamily="18" charset="0"/>
                        </a:rPr>
                        <m:t> 或 </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oMath>
                  </m:oMathPara>
                </a14:m>
                <a:endParaRPr lang="en-US" altLang="zh-CN" dirty="0"/>
              </a:p>
              <a:p>
                <a:r>
                  <a:rPr lang="zh-CN" altLang="en-US" dirty="0"/>
                  <a:t>假设</a:t>
                </a:r>
                <a:r>
                  <a:rPr lang="en-US" altLang="zh-CN" dirty="0"/>
                  <a:t>3</a:t>
                </a:r>
                <a:r>
                  <a:rPr lang="zh-CN" altLang="en-US" dirty="0"/>
                  <a:t>（无溢出效应）干预后控制组不会受到政策的溢出影响，即在干预后</a:t>
                </a:r>
                <a:r>
                  <a:rPr lang="en-US" altLang="zh-CN" dirty="0"/>
                  <a:t>(</a:t>
                </a:r>
                <a:r>
                  <a:rPr lang="zh-CN" altLang="en-US" dirty="0"/>
                  <a:t>𝑇 </a:t>
                </a:r>
                <a:r>
                  <a:rPr lang="en-US" altLang="zh-CN" dirty="0"/>
                  <a:t>= 1)</a:t>
                </a:r>
                <a:r>
                  <a:rPr lang="zh-CN" altLang="en-US" dirty="0"/>
                  <a:t>，</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oMath>
                  </m:oMathPara>
                </a14:m>
                <a:endParaRPr lang="en-US" altLang="zh-CN" dirty="0"/>
              </a:p>
              <a:p>
                <a:pPr marL="0" indent="0">
                  <a:buNone/>
                </a:pPr>
                <a:r>
                  <a:rPr lang="zh-CN" altLang="en-US" dirty="0"/>
                  <a:t>或对于控制组个体𝑖，有</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oMath>
                  </m:oMathPara>
                </a14:m>
                <a:endParaRPr lang="en-US" altLang="zh-CN" dirty="0"/>
              </a:p>
              <a:p>
                <a:r>
                  <a:rPr lang="zh-CN" altLang="en-US" dirty="0"/>
                  <a:t>假设</a:t>
                </a:r>
                <a:r>
                  <a:rPr lang="en-US" altLang="zh-CN" dirty="0"/>
                  <a:t>4</a:t>
                </a:r>
                <a:r>
                  <a:rPr lang="zh-CN" altLang="en-US" dirty="0"/>
                  <a:t>（共同区间假设）</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0&lt;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r>
                        <a:rPr lang="zh-CN" altLang="en-US" i="1" smtClean="0">
                          <a:latin typeface="Cambria Math" panose="02040503050406030204" pitchFamily="18" charset="0"/>
                        </a:rPr>
                        <m:t>&lt;1</m:t>
                      </m:r>
                      <m:r>
                        <m:rPr>
                          <m:nor/>
                        </m:rPr>
                        <a:rPr lang="zh-CN" altLang="en-US" i="0" smtClean="0">
                          <a:latin typeface="Cambria Math" panose="02040503050406030204" pitchFamily="18" charset="0"/>
                        </a:rPr>
                        <m:t> 且 </m:t>
                      </m:r>
                      <m:r>
                        <a:rPr lang="zh-CN" altLang="en-US" i="1" smtClean="0">
                          <a:latin typeface="Cambria Math" panose="02040503050406030204" pitchFamily="18" charset="0"/>
                        </a:rPr>
                        <m:t> </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func>
                      <m:r>
                        <a:rPr lang="zh-CN" altLang="en-US" i="1" smtClean="0">
                          <a:latin typeface="Cambria Math" panose="02040503050406030204" pitchFamily="18" charset="0"/>
                        </a:rPr>
                        <m:t>&lt;1.</m:t>
                      </m:r>
                    </m:oMath>
                  </m:oMathPara>
                </a14:m>
                <a:endParaRPr lang="zh-CN" altLang="en-US" dirty="0"/>
              </a:p>
            </p:txBody>
          </p:sp>
        </mc:Choice>
        <mc:Fallback>
          <p:sp>
            <p:nvSpPr>
              <p:cNvPr id="3" name="内容占位符 2">
                <a:extLst>
                  <a:ext uri="{FF2B5EF4-FFF2-40B4-BE49-F238E27FC236}">
                    <a16:creationId xmlns:a16="http://schemas.microsoft.com/office/drawing/2014/main" id="{D3C400C2-070F-F50D-BB60-D4C9CD3EC4AA}"/>
                  </a:ext>
                </a:extLst>
              </p:cNvPr>
              <p:cNvSpPr>
                <a:spLocks noGrp="1" noRot="1" noChangeAspect="1" noMove="1" noResize="1" noEditPoints="1" noAdjustHandles="1" noChangeArrowheads="1" noChangeShapeType="1" noTextEdit="1"/>
              </p:cNvSpPr>
              <p:nvPr>
                <p:ph idx="1"/>
              </p:nvPr>
            </p:nvSpPr>
            <p:spPr>
              <a:blipFill>
                <a:blip r:embed="rId2"/>
                <a:stretch>
                  <a:fillRect l="-1159" t="-1961"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1CA302C-F726-9F93-F486-67796AA4E8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17E5A3-BF46-7B86-5A90-0B2E4D4A1CA2}"/>
              </a:ext>
            </a:extLst>
          </p:cNvPr>
          <p:cNvSpPr>
            <a:spLocks noGrp="1"/>
          </p:cNvSpPr>
          <p:nvPr>
            <p:ph type="sldNum" sz="quarter" idx="12"/>
          </p:nvPr>
        </p:nvSpPr>
        <p:spPr/>
        <p:txBody>
          <a:bodyPr/>
          <a:lstStyle/>
          <a:p>
            <a:fld id="{D41FC515-8169-4A29-AA56-DBE520D5741B}" type="slidenum">
              <a:rPr lang="zh-CN" altLang="en-US" smtClean="0"/>
              <a:t>18</a:t>
            </a:fld>
            <a:endParaRPr lang="zh-CN" altLang="en-US"/>
          </a:p>
        </p:txBody>
      </p:sp>
    </p:spTree>
    <p:extLst>
      <p:ext uri="{BB962C8B-B14F-4D97-AF65-F5344CB8AC3E}">
        <p14:creationId xmlns:p14="http://schemas.microsoft.com/office/powerpoint/2010/main" val="267400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7AA74-A20E-9091-1A01-71A7ED3CD5E4}"/>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47E47972-BDFA-C988-BDF0-695C5B62DF07}"/>
                  </a:ext>
                </a:extLst>
              </p:cNvPr>
              <p:cNvSpPr>
                <a:spLocks noGrp="1"/>
              </p:cNvSpPr>
              <p:nvPr>
                <p:ph idx="1"/>
              </p:nvPr>
            </p:nvSpPr>
            <p:spPr/>
            <p:txBody>
              <a:bodyPr>
                <a:normAutofit/>
              </a:bodyPr>
              <a:lstStyle/>
              <a:p>
                <a:r>
                  <a:rPr lang="en-US" altLang="zh-CN" sz="1600" dirty="0"/>
                  <a:t>ATT </a:t>
                </a:r>
                <a:r>
                  <a:rPr lang="zh-CN" altLang="en-US" sz="1600" dirty="0"/>
                  <a:t>可以因果识别：</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𝐴𝑇𝑇</m:t>
                              </m:r>
                            </m:sub>
                            <m:sup>
                              <m:r>
                                <a:rPr lang="zh-CN" altLang="en-US" sz="1600" i="1" smtClean="0">
                                  <a:latin typeface="Cambria Math" panose="02040503050406030204" pitchFamily="18" charset="0"/>
                                </a:rPr>
                                <m:t>𝐷𝐼𝐷</m:t>
                              </m:r>
                            </m:sup>
                          </m:sSubSup>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limLow>
                                <m:limLowPr>
                                  <m:ctrlPr>
                                    <a:rPr lang="zh-CN" altLang="en-US" sz="1600" i="1" smtClean="0">
                                      <a:latin typeface="Cambria Math" panose="02040503050406030204" pitchFamily="18" charset="0"/>
                                    </a:rPr>
                                  </m:ctrlPr>
                                </m:limLowPr>
                                <m:e>
                                  <m:groupChr>
                                    <m:groupChrPr>
                                      <m:chr m:val="⏟"/>
                                      <m:pos m:val="bot"/>
                                      <m:vertJc m:val="top"/>
                                      <m:ctrlPr>
                                        <a:rPr lang="zh-CN" altLang="en-US" sz="1600" i="1" smtClean="0">
                                          <a:latin typeface="Cambria Math" panose="02040503050406030204" pitchFamily="18" charset="0"/>
                                        </a:rPr>
                                      </m:ctrlPr>
                                    </m:groupCh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groupChr>
                                </m:e>
                                <m:lim>
                                  <m:r>
                                    <m:rPr>
                                      <m:nor/>
                                    </m:rPr>
                                    <a:rPr lang="zh-CN" altLang="en-US" sz="1600" i="0" smtClean="0">
                                      <a:latin typeface="Cambria Math" panose="02040503050406030204" pitchFamily="18" charset="0"/>
                                    </a:rPr>
                                    <m:t>干预组结果增量</m:t>
                                  </m:r>
                                </m:lim>
                              </m:limLow>
                            </m:e>
                          </m:d>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limLow>
                                <m:limLowPr>
                                  <m:ctrlPr>
                                    <a:rPr lang="zh-CN" altLang="en-US" sz="1600" i="1" smtClean="0">
                                      <a:latin typeface="Cambria Math" panose="02040503050406030204" pitchFamily="18" charset="0"/>
                                    </a:rPr>
                                  </m:ctrlPr>
                                </m:limLowPr>
                                <m:e>
                                  <m:groupChr>
                                    <m:groupChrPr>
                                      <m:chr m:val="⏟"/>
                                      <m:pos m:val="bot"/>
                                      <m:vertJc m:val="top"/>
                                      <m:ctrlPr>
                                        <a:rPr lang="zh-CN" altLang="en-US" sz="1600" i="1" smtClean="0">
                                          <a:latin typeface="Cambria Math" panose="02040503050406030204" pitchFamily="18" charset="0"/>
                                        </a:rPr>
                                      </m:ctrlPr>
                                    </m:groupCh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e>
                                  </m:groupChr>
                                </m:e>
                                <m:lim>
                                  <m:r>
                                    <m:rPr>
                                      <m:nor/>
                                    </m:rPr>
                                    <a:rPr lang="zh-CN" altLang="en-US" sz="1600" i="0" smtClean="0">
                                      <a:latin typeface="Cambria Math" panose="02040503050406030204" pitchFamily="18" charset="0"/>
                                    </a:rPr>
                                    <m:t>控制组结果增量</m:t>
                                  </m:r>
                                </m:lim>
                              </m:limLow>
                            </m:e>
                          </m:d>
                          <m:r>
                            <a:rPr lang="en-US" altLang="zh-CN" sz="1600" b="0" i="1" smtClean="0">
                              <a:latin typeface="Cambria Math" panose="02040503050406030204" pitchFamily="18" charset="0"/>
                            </a:rPr>
                            <m:t>      </m:t>
                          </m:r>
                          <m:r>
                            <a:rPr lang="zh-CN" altLang="en-US" sz="1600" i="1">
                              <a:latin typeface="Cambria Math" panose="02040503050406030204" pitchFamily="18" charset="0"/>
                            </a:rPr>
                            <m:t>（</m:t>
                          </m:r>
                          <m:r>
                            <a:rPr lang="en-US" altLang="zh-CN" sz="1600" b="0" i="1" smtClean="0">
                              <a:latin typeface="Cambria Math" panose="02040503050406030204" pitchFamily="18" charset="0"/>
                            </a:rPr>
                            <m:t>12</m:t>
                          </m:r>
                          <m:r>
                            <a:rPr lang="zh-CN" altLang="en-US" sz="1600" i="1">
                              <a:latin typeface="Cambria Math" panose="02040503050406030204" pitchFamily="18" charset="0"/>
                            </a:rPr>
                            <m:t>）</m:t>
                          </m:r>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limLow>
                                <m:limLowPr>
                                  <m:ctrlPr>
                                    <a:rPr lang="zh-CN" altLang="en-US" sz="1600" i="1" smtClean="0">
                                      <a:latin typeface="Cambria Math" panose="02040503050406030204" pitchFamily="18" charset="0"/>
                                    </a:rPr>
                                  </m:ctrlPr>
                                </m:limLowPr>
                                <m:e>
                                  <m:groupChr>
                                    <m:groupChrPr>
                                      <m:chr m:val="⏟"/>
                                      <m:pos m:val="bot"/>
                                      <m:vertJc m:val="top"/>
                                      <m:ctrlPr>
                                        <a:rPr lang="zh-CN" altLang="en-US" sz="1600" i="1" smtClean="0">
                                          <a:latin typeface="Cambria Math" panose="02040503050406030204" pitchFamily="18" charset="0"/>
                                        </a:rPr>
                                      </m:ctrlPr>
                                    </m:groupCh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e>
                                  </m:groupChr>
                                </m:e>
                                <m:lim>
                                  <m:r>
                                    <m:rPr>
                                      <m:nor/>
                                    </m:rPr>
                                    <a:rPr lang="zh-CN" altLang="en-US" sz="1600" i="0" smtClean="0">
                                      <a:latin typeface="Cambria Math" panose="02040503050406030204" pitchFamily="18" charset="0"/>
                                    </a:rPr>
                                    <m:t>事后两组结果差异</m:t>
                                  </m:r>
                                </m:lim>
                              </m:limLow>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d>
                            <m:dPr>
                              <m:begChr m:val="{"/>
                              <m:endChr m:val="}"/>
                              <m:ctrlPr>
                                <a:rPr lang="zh-CN" altLang="en-US" sz="1600" i="1" smtClean="0">
                                  <a:latin typeface="Cambria Math" panose="02040503050406030204" pitchFamily="18" charset="0"/>
                                </a:rPr>
                              </m:ctrlPr>
                            </m:dPr>
                            <m:e>
                              <m:limLow>
                                <m:limLowPr>
                                  <m:ctrlPr>
                                    <a:rPr lang="zh-CN" altLang="en-US" sz="1600" i="1" smtClean="0">
                                      <a:latin typeface="Cambria Math" panose="02040503050406030204" pitchFamily="18" charset="0"/>
                                    </a:rPr>
                                  </m:ctrlPr>
                                </m:limLowPr>
                                <m:e>
                                  <m:groupChr>
                                    <m:groupChrPr>
                                      <m:chr m:val="⏟"/>
                                      <m:pos m:val="bot"/>
                                      <m:vertJc m:val="top"/>
                                      <m:ctrlPr>
                                        <a:rPr lang="zh-CN" altLang="en-US" sz="1600" i="1" smtClean="0">
                                          <a:latin typeface="Cambria Math" panose="02040503050406030204" pitchFamily="18" charset="0"/>
                                        </a:rPr>
                                      </m:ctrlPr>
                                    </m:groupCh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=0</m:t>
                                          </m:r>
                                        </m:e>
                                      </m:d>
                                    </m:e>
                                  </m:groupChr>
                                </m:e>
                                <m:lim>
                                  <m:r>
                                    <m:rPr>
                                      <m:nor/>
                                    </m:rPr>
                                    <a:rPr lang="zh-CN" altLang="en-US" sz="1600" i="0" smtClean="0">
                                      <a:latin typeface="Cambria Math" panose="02040503050406030204" pitchFamily="18" charset="0"/>
                                    </a:rPr>
                                    <m:t>事前两组结果差异</m:t>
                                  </m:r>
                                </m:lim>
                              </m:limLow>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      </m:t>
                          </m:r>
                          <m:r>
                            <a:rPr lang="zh-CN" altLang="en-US" sz="1600" i="1">
                              <a:latin typeface="Cambria Math" panose="02040503050406030204" pitchFamily="18" charset="0"/>
                            </a:rPr>
                            <m:t>（</m:t>
                          </m:r>
                          <m:r>
                            <a:rPr lang="en-US" altLang="zh-CN" sz="1600" b="0" i="1" smtClean="0">
                              <a:latin typeface="Cambria Math" panose="02040503050406030204" pitchFamily="18" charset="0"/>
                            </a:rPr>
                            <m:t>13</m:t>
                          </m:r>
                          <m:r>
                            <a:rPr lang="zh-CN" altLang="en-US" sz="1600" i="1">
                              <a:latin typeface="Cambria Math" panose="02040503050406030204" pitchFamily="18" charset="0"/>
                            </a:rPr>
                            <m:t>）</m:t>
                          </m:r>
                        </m:e>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𝐴𝑇𝑇</m:t>
                              </m:r>
                            </m:sub>
                            <m:sup>
                              <m:r>
                                <a:rPr lang="zh-CN" altLang="en-US" sz="1600" i="1" smtClean="0">
                                  <a:latin typeface="Cambria Math" panose="02040503050406030204" pitchFamily="18" charset="0"/>
                                </a:rPr>
                                <m:t>𝐷𝐼𝐷</m:t>
                              </m:r>
                            </m:sup>
                          </m:sSubSup>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𝐴𝑇𝑇</m:t>
                                  </m:r>
                                </m:sub>
                                <m:sup>
                                  <m:r>
                                    <a:rPr lang="zh-CN" altLang="en-US" sz="1600" i="1" smtClean="0">
                                      <a:latin typeface="Cambria Math" panose="02040503050406030204" pitchFamily="18" charset="0"/>
                                    </a:rPr>
                                    <m:t>𝐷𝐼𝐷</m:t>
                                  </m:r>
                                </m:sup>
                              </m:sSubSup>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𝑒</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num>
                                <m:den>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Pr</m:t>
                                      </m:r>
                                    </m:fName>
                                    <m:e>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func>
                                </m:den>
                              </m:f>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𝐴𝑇𝑇</m:t>
                                  </m:r>
                                </m:sub>
                                <m:sup>
                                  <m:r>
                                    <a:rPr lang="zh-CN" altLang="en-US" sz="1600" i="1" smtClean="0">
                                      <a:latin typeface="Cambria Math" panose="02040503050406030204" pitchFamily="18" charset="0"/>
                                    </a:rPr>
                                    <m:t>𝐷𝐼𝐷</m:t>
                                  </m:r>
                                </m:sup>
                              </m:sSubSup>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e>
                          </m:d>
                          <m:r>
                            <a:rPr lang="zh-CN" altLang="en-US" sz="1600" i="1" smtClean="0">
                              <a:latin typeface="Cambria Math" panose="02040503050406030204" pitchFamily="18" charset="0"/>
                            </a:rPr>
                            <m:t>.</m:t>
                          </m:r>
                          <m:r>
                            <a:rPr lang="en-US" altLang="zh-CN" sz="1600" b="0" i="1" smtClean="0">
                              <a:latin typeface="Cambria Math" panose="02040503050406030204" pitchFamily="18" charset="0"/>
                            </a:rPr>
                            <m:t>                                 (14)</m:t>
                          </m:r>
                        </m:e>
                      </m:eqArr>
                    </m:oMath>
                  </m:oMathPara>
                </a14:m>
                <a:endParaRPr lang="zh-CN" altLang="en-US" sz="1600" dirty="0"/>
              </a:p>
            </p:txBody>
          </p:sp>
        </mc:Choice>
        <mc:Fallback>
          <p:sp>
            <p:nvSpPr>
              <p:cNvPr id="3" name="内容占位符 2">
                <a:extLst>
                  <a:ext uri="{FF2B5EF4-FFF2-40B4-BE49-F238E27FC236}">
                    <a16:creationId xmlns:a16="http://schemas.microsoft.com/office/drawing/2014/main" id="{47E47972-BDFA-C988-BDF0-695C5B62DF07}"/>
                  </a:ext>
                </a:extLst>
              </p:cNvPr>
              <p:cNvSpPr>
                <a:spLocks noGrp="1" noRot="1" noChangeAspect="1" noMove="1" noResize="1" noEditPoints="1" noAdjustHandles="1" noChangeArrowheads="1" noChangeShapeType="1" noTextEdit="1"/>
              </p:cNvSpPr>
              <p:nvPr>
                <p:ph idx="1"/>
              </p:nvPr>
            </p:nvSpPr>
            <p:spPr>
              <a:blipFill>
                <a:blip r:embed="rId2"/>
                <a:stretch>
                  <a:fillRect l="-309"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203B05-08BB-CC48-2B4B-7B1BA8DADF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91E00-5E85-9FD2-4EAB-B0F107DC287C}"/>
              </a:ext>
            </a:extLst>
          </p:cNvPr>
          <p:cNvSpPr>
            <a:spLocks noGrp="1"/>
          </p:cNvSpPr>
          <p:nvPr>
            <p:ph type="sldNum" sz="quarter" idx="12"/>
          </p:nvPr>
        </p:nvSpPr>
        <p:spPr/>
        <p:txBody>
          <a:bodyPr/>
          <a:lstStyle/>
          <a:p>
            <a:fld id="{D41FC515-8169-4A29-AA56-DBE520D5741B}" type="slidenum">
              <a:rPr lang="zh-CN" altLang="en-US" smtClean="0"/>
              <a:t>19</a:t>
            </a:fld>
            <a:endParaRPr lang="zh-CN" altLang="en-US"/>
          </a:p>
        </p:txBody>
      </p:sp>
    </p:spTree>
    <p:extLst>
      <p:ext uri="{BB962C8B-B14F-4D97-AF65-F5344CB8AC3E}">
        <p14:creationId xmlns:p14="http://schemas.microsoft.com/office/powerpoint/2010/main" val="3728196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09A8C-83CC-6E68-6A7B-924A1738CD52}"/>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0654A9-A495-248A-54F6-7FDCDBC2F83C}"/>
                  </a:ext>
                </a:extLst>
              </p:cNvPr>
              <p:cNvSpPr>
                <a:spLocks noGrp="1"/>
              </p:cNvSpPr>
              <p:nvPr>
                <p:ph idx="1"/>
              </p:nvPr>
            </p:nvSpPr>
            <p:spPr/>
            <p:txBody>
              <a:bodyPr>
                <a:normAutofit fontScale="62500" lnSpcReduction="20000"/>
              </a:bodyPr>
              <a:lstStyle/>
              <a:p>
                <a:pPr>
                  <a:lnSpc>
                    <a:spcPct val="120000"/>
                  </a:lnSpc>
                </a:pPr>
                <a:r>
                  <a:rPr lang="zh-CN" altLang="en-US" dirty="0"/>
                  <a:t>定理</a:t>
                </a:r>
                <a:r>
                  <a:rPr lang="en-US" altLang="zh-CN" dirty="0"/>
                  <a:t>2 </a:t>
                </a:r>
                <a:r>
                  <a:rPr lang="zh-CN" altLang="en-US" dirty="0"/>
                  <a:t>满足假设</a:t>
                </a:r>
                <a:r>
                  <a:rPr lang="en-US" altLang="zh-CN" dirty="0"/>
                  <a:t>1’</a:t>
                </a:r>
                <a:r>
                  <a:rPr lang="zh-CN" altLang="en-US" dirty="0"/>
                  <a:t>、假设</a:t>
                </a:r>
                <a:r>
                  <a:rPr lang="en-US" altLang="zh-CN" dirty="0"/>
                  <a:t>2-4 </a:t>
                </a:r>
                <a:r>
                  <a:rPr lang="zh-CN" altLang="en-US" dirty="0"/>
                  <a:t>时，层内目标参数和</a:t>
                </a:r>
                <a:r>
                  <a:rPr lang="en-US" altLang="zh-CN" dirty="0"/>
                  <a:t>ATT </a:t>
                </a:r>
                <a:r>
                  <a:rPr lang="zh-CN" altLang="en-US" dirty="0"/>
                  <a:t>可以因果识别，即：</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en-US" altLang="zh-CN" b="0" i="1" smtClean="0">
                              <a:latin typeface="Cambria Math" panose="02040503050406030204" pitchFamily="18" charset="0"/>
                            </a:rPr>
                            <m:t>              (15)</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𝑋</m:t>
                              </m:r>
                            </m:sub>
                          </m:sSub>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r>
                                    <a:rPr lang="zh-CN" altLang="en-US" i="1" smtClean="0">
                                      <a:latin typeface="Cambria Math" panose="02040503050406030204" pitchFamily="18" charset="0"/>
                                    </a:rPr>
                                    <m:t>𝑋</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en-US" altLang="zh-CN" b="0" i="1" smtClean="0">
                              <a:latin typeface="Cambria Math" panose="02040503050406030204" pitchFamily="18" charset="0"/>
                            </a:rPr>
                            <m:t>       (16)</m:t>
                          </m:r>
                        </m:e>
                      </m:eqArr>
                    </m:oMath>
                  </m:oMathPara>
                </a14:m>
                <a:endParaRPr lang="en-US" altLang="zh-CN" dirty="0"/>
              </a:p>
              <a:p>
                <a:pPr>
                  <a:lnSpc>
                    <a:spcPct val="120000"/>
                  </a:lnSpc>
                </a:pPr>
                <a:r>
                  <a:rPr lang="zh-CN" altLang="en-US" dirty="0"/>
                  <a:t>参数估计：可以使用</a:t>
                </a:r>
                <a:r>
                  <a:rPr lang="en-US" altLang="zh-CN" dirty="0"/>
                  <a:t>OLS</a:t>
                </a:r>
                <a:r>
                  <a:rPr lang="zh-CN" altLang="en-US" dirty="0"/>
                  <a:t>，匹配，回归调整，逆概率加权，双重稳健等方法。</a:t>
                </a:r>
                <a:endParaRPr lang="en-US" altLang="zh-CN" dirty="0"/>
              </a:p>
              <a:p>
                <a:pPr>
                  <a:lnSpc>
                    <a:spcPct val="120000"/>
                  </a:lnSpc>
                </a:pPr>
                <a:r>
                  <a:rPr lang="zh-CN" altLang="en-US" dirty="0"/>
                  <a:t>经济学者喜欢用线性回归，后面会重点介绍</a:t>
                </a:r>
                <a:r>
                  <a:rPr lang="en-US" altLang="zh-CN" dirty="0"/>
                  <a:t>OLS </a:t>
                </a:r>
                <a:r>
                  <a:rPr lang="zh-CN" altLang="en-US" dirty="0"/>
                  <a:t>估计方法。</a:t>
                </a:r>
              </a:p>
            </p:txBody>
          </p:sp>
        </mc:Choice>
        <mc:Fallback xmlns="">
          <p:sp>
            <p:nvSpPr>
              <p:cNvPr id="3" name="内容占位符 2">
                <a:extLst>
                  <a:ext uri="{FF2B5EF4-FFF2-40B4-BE49-F238E27FC236}">
                    <a16:creationId xmlns:a16="http://schemas.microsoft.com/office/drawing/2014/main" id="{640654A9-A495-248A-54F6-7FDCDBC2F83C}"/>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8F3ED73-41B3-1038-9CCC-1E7499D3BD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7B78B4-C5C1-0789-9136-3AB12E72B0AD}"/>
              </a:ext>
            </a:extLst>
          </p:cNvPr>
          <p:cNvSpPr>
            <a:spLocks noGrp="1"/>
          </p:cNvSpPr>
          <p:nvPr>
            <p:ph type="sldNum" sz="quarter" idx="12"/>
          </p:nvPr>
        </p:nvSpPr>
        <p:spPr/>
        <p:txBody>
          <a:bodyPr/>
          <a:lstStyle/>
          <a:p>
            <a:fld id="{D41FC515-8169-4A29-AA56-DBE520D5741B}" type="slidenum">
              <a:rPr lang="zh-CN" altLang="en-US" smtClean="0"/>
              <a:t>20</a:t>
            </a:fld>
            <a:endParaRPr lang="zh-CN" altLang="en-US"/>
          </a:p>
        </p:txBody>
      </p:sp>
    </p:spTree>
    <p:extLst>
      <p:ext uri="{BB962C8B-B14F-4D97-AF65-F5344CB8AC3E}">
        <p14:creationId xmlns:p14="http://schemas.microsoft.com/office/powerpoint/2010/main" val="26584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FE411-F09B-15A6-4D82-3D0A5FCC1893}"/>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2D58A73-2BE7-D94C-0777-76F44E8C7006}"/>
                  </a:ext>
                </a:extLst>
              </p:cNvPr>
              <p:cNvSpPr>
                <a:spLocks noGrp="1"/>
              </p:cNvSpPr>
              <p:nvPr>
                <p:ph idx="1"/>
              </p:nvPr>
            </p:nvSpPr>
            <p:spPr/>
            <p:txBody>
              <a:bodyPr>
                <a:normAutofit fontScale="62500" lnSpcReduction="20000"/>
              </a:bodyPr>
              <a:lstStyle/>
              <a:p>
                <a:pPr>
                  <a:lnSpc>
                    <a:spcPct val="120000"/>
                  </a:lnSpc>
                </a:pPr>
                <a:r>
                  <a:rPr lang="zh-CN" altLang="en-US" dirty="0"/>
                  <a:t>条件平行趋势假设成立下，如何利用回归方法估计</a:t>
                </a:r>
                <a:r>
                  <a:rPr lang="en-US" altLang="zh-CN" dirty="0"/>
                  <a:t>ATT</a:t>
                </a:r>
                <a:r>
                  <a:rPr lang="zh-CN" altLang="en-US" dirty="0"/>
                  <a:t>？</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 </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𝑇</m:t>
                          </m:r>
                          <m:r>
                            <a:rPr lang="zh-CN" altLang="en-US" i="1" smtClean="0">
                              <a:latin typeface="Cambria Math" panose="02040503050406030204" pitchFamily="18" charset="0"/>
                            </a:rPr>
                            <m:t>=1,</m:t>
                          </m:r>
                        </m:e>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 </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𝑇</m:t>
                          </m:r>
                          <m:r>
                            <a:rPr lang="zh-CN" altLang="en-US" i="1" smtClean="0">
                              <a:latin typeface="Cambria Math" panose="02040503050406030204" pitchFamily="18" charset="0"/>
                            </a:rPr>
                            <m:t>=0.</m:t>
                          </m:r>
                        </m:e>
                      </m:eqArr>
                    </m:oMath>
                  </m:oMathPara>
                </a14:m>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其中第一行第</a:t>
                </a:r>
                <a:r>
                  <a:rPr lang="en-US" altLang="zh-CN" dirty="0"/>
                  <a:t>2 </a:t>
                </a:r>
                <a:r>
                  <a:rPr lang="zh-CN" altLang="en-US" dirty="0"/>
                  <a:t>项</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2</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oMath>
                </a14:m>
                <a:r>
                  <a:rPr lang="zh-CN" altLang="en-US" dirty="0"/>
                  <a:t>。</a:t>
                </a:r>
              </a:p>
            </p:txBody>
          </p:sp>
        </mc:Choice>
        <mc:Fallback>
          <p:sp>
            <p:nvSpPr>
              <p:cNvPr id="3" name="内容占位符 2">
                <a:extLst>
                  <a:ext uri="{FF2B5EF4-FFF2-40B4-BE49-F238E27FC236}">
                    <a16:creationId xmlns:a16="http://schemas.microsoft.com/office/drawing/2014/main" id="{F2D58A73-2BE7-D94C-0777-76F44E8C7006}"/>
                  </a:ext>
                </a:extLst>
              </p:cNvPr>
              <p:cNvSpPr>
                <a:spLocks noGrp="1" noRot="1" noChangeAspect="1" noMove="1" noResize="1" noEditPoints="1" noAdjustHandles="1" noChangeArrowheads="1" noChangeShapeType="1" noTextEdit="1"/>
              </p:cNvSpPr>
              <p:nvPr>
                <p:ph idx="1"/>
              </p:nvPr>
            </p:nvSpPr>
            <p:spPr>
              <a:blipFill>
                <a:blip r:embed="rId2"/>
                <a:stretch>
                  <a:fillRect l="-618"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4F9FCC-452F-54A1-BE3D-30F86166B7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6D9BA-773C-CCD3-DF57-EB5A88A24436}"/>
              </a:ext>
            </a:extLst>
          </p:cNvPr>
          <p:cNvSpPr>
            <a:spLocks noGrp="1"/>
          </p:cNvSpPr>
          <p:nvPr>
            <p:ph type="sldNum" sz="quarter" idx="12"/>
          </p:nvPr>
        </p:nvSpPr>
        <p:spPr/>
        <p:txBody>
          <a:bodyPr/>
          <a:lstStyle/>
          <a:p>
            <a:fld id="{D41FC515-8169-4A29-AA56-DBE520D5741B}" type="slidenum">
              <a:rPr lang="zh-CN" altLang="en-US" smtClean="0"/>
              <a:t>21</a:t>
            </a:fld>
            <a:endParaRPr lang="zh-CN" altLang="en-US"/>
          </a:p>
        </p:txBody>
      </p:sp>
    </p:spTree>
    <p:extLst>
      <p:ext uri="{BB962C8B-B14F-4D97-AF65-F5344CB8AC3E}">
        <p14:creationId xmlns:p14="http://schemas.microsoft.com/office/powerpoint/2010/main" val="229521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48C7A-B212-C81E-1347-2BE81F8A4330}"/>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05F2626-AF89-43CB-115D-7DB7344797FC}"/>
                  </a:ext>
                </a:extLst>
              </p:cNvPr>
              <p:cNvSpPr>
                <a:spLocks noGrp="1"/>
              </p:cNvSpPr>
              <p:nvPr>
                <p:ph idx="1"/>
              </p:nvPr>
            </p:nvSpPr>
            <p:spPr/>
            <p:txBody>
              <a:bodyPr>
                <a:normAutofit fontScale="62500" lnSpcReduction="20000"/>
              </a:bodyPr>
              <a:lstStyle/>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e>
                      </m:eqArr>
                      <m:r>
                        <a:rPr lang="en-US" altLang="zh-CN" b="0" i="1" smtClean="0">
                          <a:latin typeface="Cambria Math" panose="02040503050406030204" pitchFamily="18" charset="0"/>
                        </a:rPr>
                        <m:t>  (17)</m:t>
                      </m:r>
                    </m:oMath>
                  </m:oMathPara>
                </a14:m>
                <a:endParaRPr lang="en-US" altLang="zh-CN" dirty="0"/>
              </a:p>
              <a:p>
                <a:r>
                  <a:rPr lang="zh-CN" altLang="en-US" dirty="0"/>
                  <a:t>假设</a:t>
                </a:r>
                <a:r>
                  <a:rPr lang="en-US" altLang="zh-CN" dirty="0"/>
                  <a:t>5 </a:t>
                </a:r>
                <a:r>
                  <a:rPr lang="zh-CN" altLang="en-US" dirty="0"/>
                  <a:t>（协变量参数线性假设）假设条件期望和协变量𝑋𝑖 呈线性关系</a:t>
                </a:r>
                <a:r>
                  <a:rPr lang="en-US" altLang="zh-CN" dirty="0"/>
                  <a:t>:</a:t>
                </a:r>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𝜌</m:t>
                          </m:r>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oMath>
                </a14:m>
                <a:r>
                  <a:rPr lang="zh-CN" altLang="en-US" dirty="0"/>
                  <a:t>。</a:t>
                </a:r>
                <a:endParaRPr lang="en-US" altLang="zh-CN" dirty="0"/>
              </a:p>
              <a:p>
                <a:pPr marL="0" indent="0">
                  <a:buNone/>
                </a:pPr>
                <a:r>
                  <a:rPr lang="zh-CN" altLang="en-US" dirty="0"/>
                  <a:t>因而，引入不随时间变化的协变量𝑋𝑖 的</a:t>
                </a:r>
                <a:r>
                  <a:rPr lang="en-US" altLang="zh-CN" dirty="0"/>
                  <a:t>DID </a:t>
                </a:r>
                <a:r>
                  <a:rPr lang="zh-CN" altLang="en-US" dirty="0"/>
                  <a:t>回归模型为：</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𝜌</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𝜌</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e>
                      </m:eqArr>
                    </m:oMath>
                  </m:oMathPara>
                </a14:m>
                <a:endParaRPr lang="zh-CN" altLang="en-US" dirty="0"/>
              </a:p>
            </p:txBody>
          </p:sp>
        </mc:Choice>
        <mc:Fallback>
          <p:sp>
            <p:nvSpPr>
              <p:cNvPr id="3" name="内容占位符 2">
                <a:extLst>
                  <a:ext uri="{FF2B5EF4-FFF2-40B4-BE49-F238E27FC236}">
                    <a16:creationId xmlns:a16="http://schemas.microsoft.com/office/drawing/2014/main" id="{905F2626-AF89-43CB-115D-7DB7344797FC}"/>
                  </a:ext>
                </a:extLst>
              </p:cNvPr>
              <p:cNvSpPr>
                <a:spLocks noGrp="1" noRot="1" noChangeAspect="1" noMove="1" noResize="1" noEditPoints="1" noAdjustHandles="1" noChangeArrowheads="1" noChangeShapeType="1" noTextEdit="1"/>
              </p:cNvSpPr>
              <p:nvPr>
                <p:ph idx="1"/>
              </p:nvPr>
            </p:nvSpPr>
            <p:spPr>
              <a:blipFill>
                <a:blip r:embed="rId2"/>
                <a:stretch>
                  <a:fillRect l="-618"/>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7437E13-293E-FEAD-7710-C1541FB24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41F735-0D58-24B2-7BE0-D825E60AA5D5}"/>
              </a:ext>
            </a:extLst>
          </p:cNvPr>
          <p:cNvSpPr>
            <a:spLocks noGrp="1"/>
          </p:cNvSpPr>
          <p:nvPr>
            <p:ph type="sldNum" sz="quarter" idx="12"/>
          </p:nvPr>
        </p:nvSpPr>
        <p:spPr/>
        <p:txBody>
          <a:bodyPr/>
          <a:lstStyle/>
          <a:p>
            <a:fld id="{D41FC515-8169-4A29-AA56-DBE520D5741B}" type="slidenum">
              <a:rPr lang="zh-CN" altLang="en-US" smtClean="0"/>
              <a:t>22</a:t>
            </a:fld>
            <a:endParaRPr lang="zh-CN" altLang="en-US"/>
          </a:p>
        </p:txBody>
      </p:sp>
    </p:spTree>
    <p:extLst>
      <p:ext uri="{BB962C8B-B14F-4D97-AF65-F5344CB8AC3E}">
        <p14:creationId xmlns:p14="http://schemas.microsoft.com/office/powerpoint/2010/main" val="292028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58E058-DD6D-732C-0601-B9EFC3D9DFE2}"/>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BE78CE7-2B91-A0D8-EA64-2F0613370DCF}"/>
                  </a:ext>
                </a:extLst>
              </p:cNvPr>
              <p:cNvSpPr>
                <a:spLocks noGrp="1"/>
              </p:cNvSpPr>
              <p:nvPr>
                <p:ph idx="1"/>
              </p:nvPr>
            </p:nvSpPr>
            <p:spPr/>
            <p:txBody>
              <a:bodyPr>
                <a:normAutofit fontScale="55000" lnSpcReduction="20000"/>
              </a:bodyPr>
              <a:lstStyle/>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𝜌</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e>
                      </m:eqArr>
                    </m:oMath>
                  </m:oMathPara>
                </a14:m>
                <a:endParaRPr lang="en-US" altLang="zh-CN" dirty="0"/>
              </a:p>
              <a:p>
                <a:r>
                  <a:rPr lang="zh-CN" altLang="en-US" dirty="0"/>
                  <a:t>容易验证：</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𝜌</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𝑥</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𝜌</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𝑥</m:t>
                          </m:r>
                        </m:e>
                      </m:eqArr>
                    </m:oMath>
                  </m:oMathPara>
                </a14:m>
                <a:endParaRPr lang="en-US" altLang="zh-CN" dirty="0"/>
              </a:p>
              <a:p>
                <a:r>
                  <a:rPr lang="zh-CN" altLang="en-US" dirty="0"/>
                  <a:t>所以，</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m:t>
                          </m:r>
                          <m:r>
                            <a:rPr lang="zh-CN" altLang="en-US" i="1" smtClean="0">
                              <a:latin typeface="Cambria Math" panose="02040503050406030204" pitchFamily="18" charset="0"/>
                            </a:rPr>
                            <m:t>𝜌</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e>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𝜏</m:t>
                          </m:r>
                          <m:r>
                            <a:rPr lang="zh-CN" altLang="en-US" i="1" smtClean="0">
                              <a:latin typeface="Cambria Math" panose="02040503050406030204" pitchFamily="18" charset="0"/>
                            </a:rPr>
                            <m:t>.</m:t>
                          </m:r>
                        </m:e>
                      </m:eqArr>
                    </m:oMath>
                  </m:oMathPara>
                </a14:m>
                <a:endParaRPr lang="en-US" altLang="zh-CN" dirty="0"/>
              </a:p>
              <a:p>
                <a:r>
                  <a:rPr lang="zh-CN" altLang="en-US" dirty="0"/>
                  <a:t>固定效应模型：</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𝜌</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3BE78CE7-2B91-A0D8-EA64-2F0613370DCF}"/>
                  </a:ext>
                </a:extLst>
              </p:cNvPr>
              <p:cNvSpPr>
                <a:spLocks noGrp="1" noRot="1" noChangeAspect="1" noMove="1" noResize="1" noEditPoints="1" noAdjustHandles="1" noChangeArrowheads="1" noChangeShapeType="1" noTextEdit="1"/>
              </p:cNvSpPr>
              <p:nvPr>
                <p:ph idx="1"/>
              </p:nvPr>
            </p:nvSpPr>
            <p:spPr>
              <a:blipFill>
                <a:blip r:embed="rId2"/>
                <a:stretch>
                  <a:fillRect l="-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AB8E79E-8FB8-C05C-037A-9E4695844CD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59601D6-22FE-8997-6BFF-E76996F0DEB9}"/>
              </a:ext>
            </a:extLst>
          </p:cNvPr>
          <p:cNvSpPr>
            <a:spLocks noGrp="1"/>
          </p:cNvSpPr>
          <p:nvPr>
            <p:ph type="sldNum" sz="quarter" idx="12"/>
          </p:nvPr>
        </p:nvSpPr>
        <p:spPr/>
        <p:txBody>
          <a:bodyPr/>
          <a:lstStyle/>
          <a:p>
            <a:fld id="{D41FC515-8169-4A29-AA56-DBE520D5741B}" type="slidenum">
              <a:rPr lang="zh-CN" altLang="en-US" smtClean="0"/>
              <a:t>23</a:t>
            </a:fld>
            <a:endParaRPr lang="zh-CN" altLang="en-US"/>
          </a:p>
        </p:txBody>
      </p:sp>
    </p:spTree>
    <p:extLst>
      <p:ext uri="{BB962C8B-B14F-4D97-AF65-F5344CB8AC3E}">
        <p14:creationId xmlns:p14="http://schemas.microsoft.com/office/powerpoint/2010/main" val="556402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1D01C-DB07-7635-4331-444C14FDEDB2}"/>
              </a:ext>
            </a:extLst>
          </p:cNvPr>
          <p:cNvSpPr>
            <a:spLocks noGrp="1"/>
          </p:cNvSpPr>
          <p:nvPr>
            <p:ph type="title"/>
          </p:nvPr>
        </p:nvSpPr>
        <p:spPr/>
        <p:txBody>
          <a:bodyPr>
            <a:normAutofit/>
          </a:bodyPr>
          <a:lstStyle/>
          <a:p>
            <a:r>
              <a:rPr lang="zh-CN" altLang="en-US" dirty="0"/>
              <a:t>引入协变量</a:t>
            </a:r>
            <a:br>
              <a:rPr lang="zh-CN" altLang="en-US" dirty="0"/>
            </a:br>
            <a:r>
              <a:rPr lang="en-US" altLang="zh-CN" sz="2700" dirty="0"/>
              <a:t>Nunn and Qian (2011) </a:t>
            </a:r>
            <a:r>
              <a:rPr lang="zh-CN" altLang="en-US" sz="2700" dirty="0"/>
              <a:t>土豆对人口和城市化的影响</a:t>
            </a:r>
          </a:p>
        </p:txBody>
      </p:sp>
      <p:sp>
        <p:nvSpPr>
          <p:cNvPr id="3" name="内容占位符 2">
            <a:extLst>
              <a:ext uri="{FF2B5EF4-FFF2-40B4-BE49-F238E27FC236}">
                <a16:creationId xmlns:a16="http://schemas.microsoft.com/office/drawing/2014/main" id="{E3215BDF-3871-A470-AF8D-5BBEF848F524}"/>
              </a:ext>
            </a:extLst>
          </p:cNvPr>
          <p:cNvSpPr>
            <a:spLocks noGrp="1"/>
          </p:cNvSpPr>
          <p:nvPr>
            <p:ph idx="1"/>
          </p:nvPr>
        </p:nvSpPr>
        <p:spPr>
          <a:xfrm>
            <a:off x="628650" y="1825625"/>
            <a:ext cx="7886700" cy="1201815"/>
          </a:xfrm>
        </p:spPr>
        <p:txBody>
          <a:bodyPr>
            <a:normAutofit fontScale="55000" lnSpcReduction="20000"/>
          </a:bodyPr>
          <a:lstStyle/>
          <a:p>
            <a:pPr>
              <a:lnSpc>
                <a:spcPct val="120000"/>
              </a:lnSpc>
            </a:pPr>
            <a:r>
              <a:rPr lang="zh-CN" altLang="en-US" dirty="0"/>
              <a:t>在</a:t>
            </a:r>
            <a:r>
              <a:rPr lang="en-US" altLang="zh-CN" dirty="0"/>
              <a:t>11 </a:t>
            </a:r>
            <a:r>
              <a:rPr lang="zh-CN" altLang="en-US" dirty="0"/>
              <a:t>世纪到</a:t>
            </a:r>
            <a:r>
              <a:rPr lang="en-US" altLang="zh-CN" dirty="0"/>
              <a:t>20 </a:t>
            </a:r>
            <a:r>
              <a:rPr lang="zh-CN" altLang="en-US" dirty="0"/>
              <a:t>世纪的</a:t>
            </a:r>
            <a:r>
              <a:rPr lang="en-US" altLang="zh-CN" dirty="0"/>
              <a:t>900 </a:t>
            </a:r>
            <a:r>
              <a:rPr lang="zh-CN" altLang="en-US" dirty="0"/>
              <a:t>年间，世界人口从</a:t>
            </a:r>
            <a:r>
              <a:rPr lang="en-US" altLang="zh-CN" dirty="0"/>
              <a:t>3 </a:t>
            </a:r>
            <a:r>
              <a:rPr lang="zh-CN" altLang="en-US" dirty="0"/>
              <a:t>亿增长到了</a:t>
            </a:r>
            <a:r>
              <a:rPr lang="en-US" altLang="zh-CN" dirty="0"/>
              <a:t>16 </a:t>
            </a:r>
            <a:r>
              <a:rPr lang="zh-CN" altLang="en-US" dirty="0"/>
              <a:t>亿，城市化水平也从</a:t>
            </a:r>
            <a:r>
              <a:rPr lang="en-US" altLang="zh-CN" dirty="0"/>
              <a:t>2% </a:t>
            </a:r>
            <a:r>
              <a:rPr lang="zh-CN" altLang="en-US" dirty="0"/>
              <a:t>增长到了</a:t>
            </a:r>
            <a:r>
              <a:rPr lang="en-US" altLang="zh-CN" dirty="0"/>
              <a:t>9%</a:t>
            </a:r>
            <a:r>
              <a:rPr lang="zh-CN" altLang="en-US" dirty="0"/>
              <a:t>，更有趣的是，如此快速的人口增长和城市化进程几乎全部戏剧性地发生在</a:t>
            </a:r>
            <a:r>
              <a:rPr lang="en-US" altLang="zh-CN" dirty="0"/>
              <a:t>18 </a:t>
            </a:r>
            <a:r>
              <a:rPr lang="zh-CN" altLang="en-US" dirty="0"/>
              <a:t>世纪之后的</a:t>
            </a:r>
            <a:r>
              <a:rPr lang="en-US" altLang="zh-CN" dirty="0"/>
              <a:t>200 </a:t>
            </a:r>
            <a:r>
              <a:rPr lang="zh-CN" altLang="en-US" dirty="0"/>
              <a:t>年间，而这段时间恰好是土豆向旧世界（史学家将哥伦布发现的美洲称为新世界，旧世界泛指亚欧非地区）大规模推广的历史时期。</a:t>
            </a:r>
          </a:p>
        </p:txBody>
      </p:sp>
      <p:sp>
        <p:nvSpPr>
          <p:cNvPr id="4" name="页脚占位符 3">
            <a:extLst>
              <a:ext uri="{FF2B5EF4-FFF2-40B4-BE49-F238E27FC236}">
                <a16:creationId xmlns:a16="http://schemas.microsoft.com/office/drawing/2014/main" id="{EDF09A2C-1140-03B1-FFEC-14FA04C6729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4E59DD6-7D53-D82C-BA27-067DFC07E9A9}"/>
              </a:ext>
            </a:extLst>
          </p:cNvPr>
          <p:cNvSpPr>
            <a:spLocks noGrp="1"/>
          </p:cNvSpPr>
          <p:nvPr>
            <p:ph type="sldNum" sz="quarter" idx="12"/>
          </p:nvPr>
        </p:nvSpPr>
        <p:spPr/>
        <p:txBody>
          <a:bodyPr/>
          <a:lstStyle/>
          <a:p>
            <a:fld id="{D41FC515-8169-4A29-AA56-DBE520D5741B}" type="slidenum">
              <a:rPr lang="zh-CN" altLang="en-US" smtClean="0"/>
              <a:t>24</a:t>
            </a:fld>
            <a:endParaRPr lang="zh-CN" altLang="en-US"/>
          </a:p>
        </p:txBody>
      </p:sp>
      <p:pic>
        <p:nvPicPr>
          <p:cNvPr id="7" name="图片 6">
            <a:extLst>
              <a:ext uri="{FF2B5EF4-FFF2-40B4-BE49-F238E27FC236}">
                <a16:creationId xmlns:a16="http://schemas.microsoft.com/office/drawing/2014/main" id="{915D3B97-18F0-7E74-FF76-56D51381E24C}"/>
              </a:ext>
            </a:extLst>
          </p:cNvPr>
          <p:cNvPicPr>
            <a:picLocks noChangeAspect="1"/>
          </p:cNvPicPr>
          <p:nvPr/>
        </p:nvPicPr>
        <p:blipFill>
          <a:blip r:embed="rId2"/>
          <a:stretch>
            <a:fillRect/>
          </a:stretch>
        </p:blipFill>
        <p:spPr>
          <a:xfrm>
            <a:off x="2392082" y="3027440"/>
            <a:ext cx="4186878" cy="3328911"/>
          </a:xfrm>
          <a:prstGeom prst="rect">
            <a:avLst/>
          </a:prstGeom>
        </p:spPr>
      </p:pic>
    </p:spTree>
    <p:extLst>
      <p:ext uri="{BB962C8B-B14F-4D97-AF65-F5344CB8AC3E}">
        <p14:creationId xmlns:p14="http://schemas.microsoft.com/office/powerpoint/2010/main" val="986769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2938AB-29C2-665B-9E3C-BAA29D4170AE}"/>
              </a:ext>
            </a:extLst>
          </p:cNvPr>
          <p:cNvSpPr>
            <a:spLocks noGrp="1"/>
          </p:cNvSpPr>
          <p:nvPr>
            <p:ph type="title"/>
          </p:nvPr>
        </p:nvSpPr>
        <p:spPr/>
        <p:txBody>
          <a:bodyPr>
            <a:normAutofit/>
          </a:bodyPr>
          <a:lstStyle/>
          <a:p>
            <a:r>
              <a:rPr lang="zh-CN" altLang="en-US" dirty="0"/>
              <a:t>引入协变量</a:t>
            </a:r>
            <a:br>
              <a:rPr lang="zh-CN" altLang="en-US" dirty="0"/>
            </a:br>
            <a:r>
              <a:rPr lang="en-US" altLang="zh-CN" sz="2700" dirty="0"/>
              <a:t>Nunn and Qian (2011) </a:t>
            </a:r>
            <a:r>
              <a:rPr lang="zh-CN" altLang="en-US" sz="2700" dirty="0"/>
              <a:t>土豆对人口和城市化的影响</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26BD562-FB1F-9E88-2A5D-45ADE1A7B401}"/>
                  </a:ext>
                </a:extLst>
              </p:cNvPr>
              <p:cNvSpPr>
                <a:spLocks noGrp="1"/>
              </p:cNvSpPr>
              <p:nvPr>
                <p:ph idx="1"/>
              </p:nvPr>
            </p:nvSpPr>
            <p:spPr/>
            <p:txBody>
              <a:bodyPr>
                <a:normAutofit fontScale="55000" lnSpcReduction="20000"/>
              </a:bodyPr>
              <a:lstStyle/>
              <a:p>
                <a:r>
                  <a:rPr lang="zh-CN" altLang="en-US" dirty="0"/>
                  <a:t>模型</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𝛽</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ln</m:t>
                                  </m:r>
                                </m:fName>
                                <m:e>
                                  <m:r>
                                    <a:rPr lang="zh-CN" altLang="en-US" i="1" smtClean="0">
                                      <a:latin typeface="Cambria Math" panose="02040503050406030204" pitchFamily="18" charset="0"/>
                                    </a:rPr>
                                    <m:t>𝑃</m:t>
                                  </m:r>
                                </m:e>
                              </m:func>
                              <m:r>
                                <a:rPr lang="zh-CN" altLang="en-US" i="1" smtClean="0">
                                  <a:latin typeface="Cambria Math" panose="02040503050406030204" pitchFamily="18" charset="0"/>
                                </a:rPr>
                                <m:t>𝑜𝑡𝑎𝑡𝑜𝐴𝑟𝑒</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𝐼</m:t>
                                  </m:r>
                                </m:e>
                                <m:sub>
                                  <m:r>
                                    <a:rPr lang="zh-CN" altLang="en-US" i="1" smtClean="0">
                                      <a:latin typeface="Cambria Math" panose="02040503050406030204" pitchFamily="18" charset="0"/>
                                    </a:rPr>
                                    <m:t>𝑡</m:t>
                                  </m:r>
                                </m:sub>
                                <m:sup>
                                  <m:r>
                                    <a:rPr lang="zh-CN" altLang="en-US" i="1" smtClean="0">
                                      <a:latin typeface="Cambria Math" panose="02040503050406030204" pitchFamily="18" charset="0"/>
                                    </a:rPr>
                                    <m:t>𝑃𝑜𝑠𝑡</m:t>
                                  </m:r>
                                </m:sup>
                              </m:sSubSup>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=1100</m:t>
                                  </m:r>
                                </m:sub>
                                <m:sup>
                                  <m:r>
                                    <a:rPr lang="zh-CN" altLang="en-US" i="1" smtClean="0">
                                      <a:latin typeface="Cambria Math" panose="02040503050406030204" pitchFamily="18" charset="0"/>
                                    </a:rPr>
                                    <m:t>1900</m:t>
                                  </m:r>
                                </m:sup>
                                <m:e>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𝐗</m:t>
                                      </m:r>
                                    </m:e>
                                    <m:sub>
                                      <m:r>
                                        <a:rPr lang="zh-CN" altLang="en-US" b="0" i="1" smtClean="0">
                                          <a:latin typeface="Cambria Math" panose="02040503050406030204" pitchFamily="18" charset="0"/>
                                        </a:rPr>
                                        <m:t>𝑖</m:t>
                                      </m:r>
                                    </m:sub>
                                  </m:sSub>
                                </m:e>
                              </m:nary>
                              <m:r>
                                <a:rPr lang="zh-CN" altLang="en-US" b="0" i="1" smtClean="0">
                                  <a:latin typeface="Cambria Math" panose="02040503050406030204" pitchFamily="18" charset="0"/>
                                </a:rPr>
                                <m:t>′</m:t>
                              </m:r>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𝑡</m:t>
                                  </m:r>
                                </m:sub>
                                <m:sup>
                                  <m:r>
                                    <a:rPr lang="zh-CN" altLang="en-US" b="0" i="1" smtClean="0">
                                      <a:latin typeface="Cambria Math" panose="02040503050406030204" pitchFamily="18" charset="0"/>
                                    </a:rPr>
                                    <m:t>𝑗</m:t>
                                  </m:r>
                                </m:sup>
                              </m:sSubSup>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𝜙</m:t>
                                  </m:r>
                                </m:e>
                                <m:sub>
                                  <m:r>
                                    <a:rPr lang="zh-CN" altLang="en-US" b="0" i="1" smtClean="0">
                                      <a:latin typeface="Cambria Math" panose="02040503050406030204" pitchFamily="18" charset="0"/>
                                    </a:rPr>
                                    <m:t>𝑗</m:t>
                                  </m:r>
                                </m:sub>
                              </m:sSub>
                              <m:r>
                                <a:rPr lang="zh-CN" altLang="en-US" b="0" i="1" smtClean="0">
                                  <a:latin typeface="Cambria Math" panose="02040503050406030204" pitchFamily="18" charset="0"/>
                                </a:rPr>
                                <m:t>+</m:t>
                              </m:r>
                              <m:nary>
                                <m:naryPr>
                                  <m:chr m:val="∑"/>
                                  <m:limLoc m:val="undOvr"/>
                                  <m:supHide m:val="on"/>
                                  <m:ctrlPr>
                                    <a:rPr lang="zh-CN" altLang="en-US" b="0" i="1" smtClean="0">
                                      <a:latin typeface="Cambria Math" panose="02040503050406030204" pitchFamily="18" charset="0"/>
                                    </a:rPr>
                                  </m:ctrlPr>
                                </m:naryPr>
                                <m:sub>
                                  <m:r>
                                    <a:rPr lang="zh-CN" altLang="en-US" b="0" i="1" smtClean="0">
                                      <a:latin typeface="Cambria Math" panose="02040503050406030204" pitchFamily="18" charset="0"/>
                                    </a:rPr>
                                    <m:t>𝑐</m:t>
                                  </m:r>
                                </m:sub>
                                <m:sup/>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𝛾</m:t>
                                      </m:r>
                                    </m:e>
                                    <m:sub>
                                      <m:r>
                                        <a:rPr lang="zh-CN" altLang="en-US" b="0" i="1" smtClean="0">
                                          <a:latin typeface="Cambria Math" panose="02040503050406030204" pitchFamily="18" charset="0"/>
                                        </a:rPr>
                                        <m:t>𝑐</m:t>
                                      </m:r>
                                    </m:sub>
                                  </m:sSub>
                                </m:e>
                              </m:nary>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𝑖</m:t>
                                  </m:r>
                                </m:sub>
                                <m:sup>
                                  <m:r>
                                    <a:rPr lang="zh-CN" altLang="en-US" b="0" i="1" smtClean="0">
                                      <a:latin typeface="Cambria Math" panose="02040503050406030204" pitchFamily="18" charset="0"/>
                                    </a:rPr>
                                    <m:t>𝑐</m:t>
                                  </m:r>
                                </m:sup>
                              </m:sSubSup>
                              <m:r>
                                <a:rPr lang="zh-CN" altLang="en-US" b="0" i="1" smtClean="0">
                                  <a:latin typeface="Cambria Math" panose="02040503050406030204" pitchFamily="18" charset="0"/>
                                </a:rPr>
                                <m:t>+</m:t>
                              </m:r>
                              <m:nary>
                                <m:naryPr>
                                  <m:chr m:val="∑"/>
                                  <m:limLoc m:val="undOvr"/>
                                  <m:ctrlPr>
                                    <a:rPr lang="zh-CN" altLang="en-US" b="0" i="1" smtClean="0">
                                      <a:latin typeface="Cambria Math" panose="02040503050406030204" pitchFamily="18" charset="0"/>
                                    </a:rPr>
                                  </m:ctrlPr>
                                </m:naryPr>
                                <m:sub>
                                  <m:r>
                                    <a:rPr lang="zh-CN" altLang="en-US" b="0" i="1" smtClean="0">
                                      <a:latin typeface="Cambria Math" panose="02040503050406030204" pitchFamily="18" charset="0"/>
                                    </a:rPr>
                                    <m:t>𝑗</m:t>
                                  </m:r>
                                  <m:r>
                                    <a:rPr lang="zh-CN" altLang="en-US" b="0" i="1" smtClean="0">
                                      <a:latin typeface="Cambria Math" panose="02040503050406030204" pitchFamily="18" charset="0"/>
                                    </a:rPr>
                                    <m:t>=1100</m:t>
                                  </m:r>
                                </m:sub>
                                <m:sup>
                                  <m:r>
                                    <a:rPr lang="zh-CN" altLang="en-US" b="0" i="1" smtClean="0">
                                      <a:latin typeface="Cambria Math" panose="02040503050406030204" pitchFamily="18" charset="0"/>
                                    </a:rPr>
                                    <m:t>1900</m:t>
                                  </m:r>
                                </m:sup>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𝜌</m:t>
                                      </m:r>
                                    </m:e>
                                    <m:sub>
                                      <m:r>
                                        <a:rPr lang="zh-CN" altLang="en-US" b="0" i="1" smtClean="0">
                                          <a:latin typeface="Cambria Math" panose="02040503050406030204" pitchFamily="18" charset="0"/>
                                        </a:rPr>
                                        <m:t>𝑗</m:t>
                                      </m:r>
                                    </m:sub>
                                  </m:sSub>
                                </m:e>
                              </m:nary>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𝑡</m:t>
                                  </m:r>
                                </m:sub>
                                <m:sup>
                                  <m:r>
                                    <a:rPr lang="zh-CN" altLang="en-US" b="0" i="1" smtClean="0">
                                      <a:latin typeface="Cambria Math" panose="02040503050406030204" pitchFamily="18" charset="0"/>
                                    </a:rPr>
                                    <m:t>𝑗</m:t>
                                  </m:r>
                                </m:sup>
                              </m:sSubSup>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𝜀</m:t>
                                  </m:r>
                                </m:e>
                                <m:sub>
                                  <m:r>
                                    <a:rPr lang="zh-CN" altLang="en-US" b="0" i="1" smtClean="0">
                                      <a:latin typeface="Cambria Math" panose="02040503050406030204" pitchFamily="18" charset="0"/>
                                    </a:rPr>
                                    <m:t>𝑖𝑡</m:t>
                                  </m:r>
                                </m:sub>
                              </m:sSub>
                              <m:r>
                                <a:rPr lang="zh-CN" altLang="en-US" b="0" i="1" smtClean="0">
                                  <a:latin typeface="Cambria Math" panose="02040503050406030204" pitchFamily="18" charset="0"/>
                                </a:rPr>
                                <m:t>,</m:t>
                              </m:r>
                            </m:e>
                          </m:eqArr>
                          <m:r>
                            <a:rPr lang="en-US" altLang="zh-CN" b="0" i="1" smtClean="0">
                              <a:latin typeface="Cambria Math" panose="02040503050406030204" pitchFamily="18" charset="0"/>
                            </a:rPr>
                            <m:t>(</m:t>
                          </m:r>
                        </m:e>
                      </m:eqArr>
                      <m:r>
                        <a:rPr lang="en-US" altLang="zh-CN" b="0" i="1" smtClean="0">
                          <a:latin typeface="Cambria Math" panose="02040503050406030204" pitchFamily="18" charset="0"/>
                        </a:rPr>
                        <m:t>19)</m:t>
                      </m:r>
                    </m:oMath>
                  </m:oMathPara>
                </a14:m>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m:rPr>
                                  <m:aln/>
                                </m:rPr>
                                <a:rPr lang="zh-CN" altLang="en-US" i="1" smtClean="0">
                                  <a:latin typeface="Cambria Math" panose="02040503050406030204" pitchFamily="18" charset="0"/>
                                </a:rPr>
                                <m:t>&amp;</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=1100</m:t>
                                  </m:r>
                                </m:sub>
                                <m:sup>
                                  <m:r>
                                    <a:rPr lang="zh-CN" altLang="en-US" i="1" smtClean="0">
                                      <a:latin typeface="Cambria Math" panose="02040503050406030204" pitchFamily="18" charset="0"/>
                                    </a:rPr>
                                    <m:t>1900</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𝑗</m:t>
                                      </m:r>
                                    </m:sub>
                                  </m:sSub>
                                </m:e>
                              </m:nary>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ln</m:t>
                                  </m:r>
                                </m:fName>
                                <m:e>
                                  <m:r>
                                    <a:rPr lang="zh-CN" altLang="en-US" i="1" smtClean="0">
                                      <a:latin typeface="Cambria Math" panose="02040503050406030204" pitchFamily="18" charset="0"/>
                                    </a:rPr>
                                    <m:t>𝑃</m:t>
                                  </m:r>
                                </m:e>
                              </m:func>
                              <m:r>
                                <a:rPr lang="zh-CN" altLang="en-US" i="1" smtClean="0">
                                  <a:latin typeface="Cambria Math" panose="02040503050406030204" pitchFamily="18" charset="0"/>
                                </a:rPr>
                                <m:t>𝑜𝑡𝑎𝑡𝑜𝐴𝑟𝑒</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𝐼</m:t>
                                  </m:r>
                                </m:e>
                                <m:sub>
                                  <m:r>
                                    <a:rPr lang="zh-CN" altLang="en-US" i="1" smtClean="0">
                                      <a:latin typeface="Cambria Math" panose="02040503050406030204" pitchFamily="18" charset="0"/>
                                    </a:rPr>
                                    <m:t>𝑡</m:t>
                                  </m:r>
                                </m:sub>
                                <m:sup>
                                  <m:r>
                                    <a:rPr lang="zh-CN" altLang="en-US" i="1" smtClean="0">
                                      <a:latin typeface="Cambria Math" panose="02040503050406030204" pitchFamily="18" charset="0"/>
                                    </a:rPr>
                                    <m:t>𝑗</m:t>
                                  </m:r>
                                </m:sup>
                              </m:sSubSup>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=1100</m:t>
                                  </m:r>
                                </m:sub>
                                <m:sup>
                                  <m:r>
                                    <a:rPr lang="zh-CN" altLang="en-US" i="1" smtClean="0">
                                      <a:latin typeface="Cambria Math" panose="02040503050406030204" pitchFamily="18" charset="0"/>
                                    </a:rPr>
                                    <m:t>1900</m:t>
                                  </m:r>
                                </m:sup>
                                <m:e>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𝐗</m:t>
                                      </m:r>
                                    </m:e>
                                    <m:sub>
                                      <m:r>
                                        <a:rPr lang="zh-CN" altLang="en-US" b="0" i="1" smtClean="0">
                                          <a:latin typeface="Cambria Math" panose="02040503050406030204" pitchFamily="18" charset="0"/>
                                        </a:rPr>
                                        <m:t>𝑖</m:t>
                                      </m:r>
                                    </m:sub>
                                  </m:sSub>
                                </m:e>
                              </m:nary>
                              <m:r>
                                <a:rPr lang="zh-CN" altLang="en-US" b="0" i="1" smtClean="0">
                                  <a:latin typeface="Cambria Math" panose="02040503050406030204" pitchFamily="18" charset="0"/>
                                </a:rPr>
                                <m:t>′</m:t>
                              </m:r>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𝑡</m:t>
                                  </m:r>
                                </m:sub>
                                <m:sup>
                                  <m:r>
                                    <a:rPr lang="zh-CN" altLang="en-US" b="0" i="1" smtClean="0">
                                      <a:latin typeface="Cambria Math" panose="02040503050406030204" pitchFamily="18" charset="0"/>
                                    </a:rPr>
                                    <m:t>𝑗</m:t>
                                  </m:r>
                                </m:sup>
                              </m:sSubSup>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𝜙</m:t>
                                  </m:r>
                                </m:e>
                                <m:sub>
                                  <m:r>
                                    <a:rPr lang="zh-CN" altLang="en-US" b="0" i="1" smtClean="0">
                                      <a:latin typeface="Cambria Math" panose="02040503050406030204" pitchFamily="18" charset="0"/>
                                    </a:rPr>
                                    <m:t>𝑗</m:t>
                                  </m:r>
                                </m:sub>
                              </m:sSub>
                              <m:r>
                                <a:rPr lang="zh-CN" altLang="en-US" b="0" i="1" smtClean="0">
                                  <a:latin typeface="Cambria Math" panose="02040503050406030204" pitchFamily="18" charset="0"/>
                                </a:rPr>
                                <m:t>+</m:t>
                              </m:r>
                              <m:nary>
                                <m:naryPr>
                                  <m:chr m:val="∑"/>
                                  <m:limLoc m:val="undOvr"/>
                                  <m:supHide m:val="on"/>
                                  <m:ctrlPr>
                                    <a:rPr lang="zh-CN" altLang="en-US" b="0" i="1" smtClean="0">
                                      <a:latin typeface="Cambria Math" panose="02040503050406030204" pitchFamily="18" charset="0"/>
                                    </a:rPr>
                                  </m:ctrlPr>
                                </m:naryPr>
                                <m:sub>
                                  <m:r>
                                    <a:rPr lang="zh-CN" altLang="en-US" b="0" i="1" smtClean="0">
                                      <a:latin typeface="Cambria Math" panose="02040503050406030204" pitchFamily="18" charset="0"/>
                                    </a:rPr>
                                    <m:t>𝑐</m:t>
                                  </m:r>
                                </m:sub>
                                <m:sup/>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𝛾</m:t>
                                      </m:r>
                                    </m:e>
                                    <m:sub>
                                      <m:r>
                                        <a:rPr lang="zh-CN" altLang="en-US" b="0" i="1" smtClean="0">
                                          <a:latin typeface="Cambria Math" panose="02040503050406030204" pitchFamily="18" charset="0"/>
                                        </a:rPr>
                                        <m:t>𝑐</m:t>
                                      </m:r>
                                    </m:sub>
                                  </m:sSub>
                                </m:e>
                              </m:nary>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𝑖</m:t>
                                  </m:r>
                                </m:sub>
                                <m:sup>
                                  <m:r>
                                    <a:rPr lang="zh-CN" altLang="en-US" b="0" i="1" smtClean="0">
                                      <a:latin typeface="Cambria Math" panose="02040503050406030204" pitchFamily="18" charset="0"/>
                                    </a:rPr>
                                    <m:t>𝑐</m:t>
                                  </m:r>
                                </m:sup>
                              </m:sSubSup>
                              <m:r>
                                <a:rPr lang="zh-CN" altLang="en-US" b="0" i="1" smtClean="0">
                                  <a:latin typeface="Cambria Math" panose="02040503050406030204" pitchFamily="18" charset="0"/>
                                </a:rPr>
                                <m:t>+</m:t>
                              </m:r>
                              <m:nary>
                                <m:naryPr>
                                  <m:chr m:val="∑"/>
                                  <m:limLoc m:val="undOvr"/>
                                  <m:ctrlPr>
                                    <a:rPr lang="zh-CN" altLang="en-US" b="0" i="1" smtClean="0">
                                      <a:latin typeface="Cambria Math" panose="02040503050406030204" pitchFamily="18" charset="0"/>
                                    </a:rPr>
                                  </m:ctrlPr>
                                </m:naryPr>
                                <m:sub>
                                  <m:r>
                                    <a:rPr lang="zh-CN" altLang="en-US" b="0" i="1" smtClean="0">
                                      <a:latin typeface="Cambria Math" panose="02040503050406030204" pitchFamily="18" charset="0"/>
                                    </a:rPr>
                                    <m:t>𝑗</m:t>
                                  </m:r>
                                  <m:r>
                                    <a:rPr lang="zh-CN" altLang="en-US" b="0" i="1" smtClean="0">
                                      <a:latin typeface="Cambria Math" panose="02040503050406030204" pitchFamily="18" charset="0"/>
                                    </a:rPr>
                                    <m:t>=1100</m:t>
                                  </m:r>
                                </m:sub>
                                <m:sup>
                                  <m:r>
                                    <a:rPr lang="zh-CN" altLang="en-US" b="0" i="1" smtClean="0">
                                      <a:latin typeface="Cambria Math" panose="02040503050406030204" pitchFamily="18" charset="0"/>
                                    </a:rPr>
                                    <m:t>1900</m:t>
                                  </m:r>
                                </m:sup>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𝜌</m:t>
                                      </m:r>
                                    </m:e>
                                    <m:sub>
                                      <m:r>
                                        <a:rPr lang="zh-CN" altLang="en-US" b="0" i="1" smtClean="0">
                                          <a:latin typeface="Cambria Math" panose="02040503050406030204" pitchFamily="18" charset="0"/>
                                        </a:rPr>
                                        <m:t>𝑗</m:t>
                                      </m:r>
                                    </m:sub>
                                  </m:sSub>
                                </m:e>
                              </m:nary>
                              <m:sSubSup>
                                <m:sSubSupPr>
                                  <m:ctrlPr>
                                    <a:rPr lang="zh-CN" altLang="en-US" b="0" i="1" smtClean="0">
                                      <a:latin typeface="Cambria Math" panose="02040503050406030204" pitchFamily="18" charset="0"/>
                                    </a:rPr>
                                  </m:ctrlPr>
                                </m:sSubSupPr>
                                <m:e>
                                  <m:r>
                                    <a:rPr lang="zh-CN" altLang="en-US" b="0" i="1" smtClean="0">
                                      <a:latin typeface="Cambria Math" panose="02040503050406030204" pitchFamily="18" charset="0"/>
                                    </a:rPr>
                                    <m:t>𝐼</m:t>
                                  </m:r>
                                </m:e>
                                <m:sub>
                                  <m:r>
                                    <a:rPr lang="zh-CN" altLang="en-US" b="0" i="1" smtClean="0">
                                      <a:latin typeface="Cambria Math" panose="02040503050406030204" pitchFamily="18" charset="0"/>
                                    </a:rPr>
                                    <m:t>𝑡</m:t>
                                  </m:r>
                                </m:sub>
                                <m:sup>
                                  <m:r>
                                    <a:rPr lang="zh-CN" altLang="en-US" b="0" i="1" smtClean="0">
                                      <a:latin typeface="Cambria Math" panose="02040503050406030204" pitchFamily="18" charset="0"/>
                                    </a:rPr>
                                    <m:t>𝑗</m:t>
                                  </m:r>
                                </m:sup>
                              </m:sSubSup>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𝜀</m:t>
                                  </m:r>
                                </m:e>
                                <m:sub>
                                  <m:r>
                                    <a:rPr lang="zh-CN" altLang="en-US" b="0" i="1" smtClean="0">
                                      <a:latin typeface="Cambria Math" panose="02040503050406030204" pitchFamily="18" charset="0"/>
                                    </a:rPr>
                                    <m:t>𝑖𝑡</m:t>
                                  </m:r>
                                </m:sub>
                              </m:sSub>
                              <m:r>
                                <a:rPr lang="zh-CN" altLang="en-US" b="0" i="1" smtClean="0">
                                  <a:latin typeface="Cambria Math" panose="02040503050406030204" pitchFamily="18" charset="0"/>
                                </a:rPr>
                                <m:t>,</m:t>
                              </m:r>
                            </m:e>
                          </m:eqArr>
                        </m:e>
                      </m:eqArr>
                      <m:r>
                        <a:rPr lang="en-US" altLang="zh-CN" b="0" i="1" smtClean="0">
                          <a:latin typeface="Cambria Math" panose="02040503050406030204" pitchFamily="18" charset="0"/>
                        </a:rPr>
                        <m:t> (20)</m:t>
                      </m:r>
                    </m:oMath>
                  </m:oMathPara>
                </a14:m>
                <a:endParaRPr lang="en-US" altLang="zh-CN" dirty="0"/>
              </a:p>
              <a:p>
                <a:pPr marL="0" indent="0">
                  <a:buNone/>
                </a:pPr>
                <a:r>
                  <a:rPr lang="zh-CN" altLang="en-US" dirty="0"/>
                  <a:t>其中𝑃𝑜𝑡𝑎𝑡𝑜𝐴𝑟𝑒𝑎𝑖 是𝑖 国适宜种植土豆的面积，</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𝐼</m:t>
                        </m:r>
                      </m:e>
                      <m:sub>
                        <m:r>
                          <a:rPr lang="zh-CN" altLang="en-US" i="1" dirty="0" smtClean="0">
                            <a:latin typeface="Cambria Math" panose="02040503050406030204" pitchFamily="18" charset="0"/>
                          </a:rPr>
                          <m:t>𝑡</m:t>
                        </m:r>
                      </m:sub>
                      <m:sup>
                        <m:r>
                          <a:rPr lang="zh-CN" altLang="en-US" i="1" dirty="0" smtClean="0">
                            <a:latin typeface="Cambria Math" panose="02040503050406030204" pitchFamily="18" charset="0"/>
                          </a:rPr>
                          <m:t>𝑃𝑜</m:t>
                        </m:r>
                        <m:r>
                          <a:rPr lang="zh-CN" altLang="en-US" i="1" dirty="0">
                            <a:latin typeface="Cambria Math" panose="02040503050406030204" pitchFamily="18" charset="0"/>
                          </a:rPr>
                          <m:t>𝑠</m:t>
                        </m:r>
                        <m:r>
                          <a:rPr lang="zh-CN" altLang="en-US" i="1" dirty="0" smtClean="0">
                            <a:latin typeface="Cambria Math" panose="02040503050406030204" pitchFamily="18" charset="0"/>
                          </a:rPr>
                          <m:t>𝑡</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𝑡</m:t>
                    </m:r>
                    <m:r>
                      <a:rPr lang="zh-CN" altLang="en-US" i="1" dirty="0">
                        <a:latin typeface="Cambria Math" panose="02040503050406030204" pitchFamily="18" charset="0"/>
                      </a:rPr>
                      <m:t> ≥ 1900]</m:t>
                    </m:r>
                  </m:oMath>
                </a14:m>
                <a:r>
                  <a:rPr lang="zh-CN" altLang="en-US" dirty="0"/>
                  <a:t>，𝑦𝑖𝑡 总人口的自然对数或城市化率。</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𝐼</m:t>
                        </m:r>
                      </m:e>
                      <m:sub>
                        <m:r>
                          <a:rPr lang="zh-CN" altLang="en-US" i="1" dirty="0" smtClean="0">
                            <a:latin typeface="Cambria Math" panose="02040503050406030204" pitchFamily="18" charset="0"/>
                          </a:rPr>
                          <m:t>𝑡</m:t>
                        </m:r>
                      </m:sub>
                      <m:sup>
                        <m:r>
                          <a:rPr lang="zh-CN" altLang="en-US" i="1" dirty="0" smtClean="0">
                            <a:latin typeface="Cambria Math" panose="02040503050406030204" pitchFamily="18" charset="0"/>
                          </a:rPr>
                          <m:t>𝑗</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𝑡</m:t>
                    </m:r>
                    <m:r>
                      <a:rPr lang="zh-CN" altLang="en-US" i="1" dirty="0">
                        <a:latin typeface="Cambria Math" panose="02040503050406030204" pitchFamily="18" charset="0"/>
                      </a:rPr>
                      <m:t> = </m:t>
                    </m:r>
                    <m:r>
                      <a:rPr lang="zh-CN" altLang="en-US" i="1" dirty="0">
                        <a:latin typeface="Cambria Math" panose="02040503050406030204" pitchFamily="18" charset="0"/>
                      </a:rPr>
                      <m:t>𝑗</m:t>
                    </m:r>
                    <m:r>
                      <a:rPr lang="en-US" altLang="zh-CN" i="1" dirty="0">
                        <a:latin typeface="Cambria Math" panose="02040503050406030204" pitchFamily="18" charset="0"/>
                      </a:rPr>
                      <m:t>] </m:t>
                    </m:r>
                  </m:oMath>
                </a14:m>
                <a:r>
                  <a:rPr lang="zh-CN" altLang="en-US" dirty="0"/>
                  <a:t>是𝑗 年数据指标，同样</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𝐼</m:t>
                        </m:r>
                      </m:e>
                      <m:sub>
                        <m:r>
                          <a:rPr lang="zh-CN" altLang="en-US" i="1" dirty="0" smtClean="0">
                            <a:latin typeface="Cambria Math" panose="02040503050406030204" pitchFamily="18" charset="0"/>
                          </a:rPr>
                          <m:t>𝑖</m:t>
                        </m:r>
                      </m:sub>
                      <m:sup>
                        <m:r>
                          <a:rPr lang="zh-CN" altLang="en-US" i="1" dirty="0" smtClean="0">
                            <a:latin typeface="Cambria Math" panose="02040503050406030204" pitchFamily="18" charset="0"/>
                          </a:rPr>
                          <m:t>𝑐</m:t>
                        </m:r>
                      </m:sup>
                    </m:sSubSup>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𝑖</m:t>
                    </m:r>
                    <m:r>
                      <a:rPr lang="zh-CN" altLang="en-US" i="1" dirty="0">
                        <a:latin typeface="Cambria Math" panose="02040503050406030204" pitchFamily="18" charset="0"/>
                      </a:rPr>
                      <m:t> = </m:t>
                    </m:r>
                    <m:r>
                      <a:rPr lang="zh-CN" altLang="en-US" i="1" dirty="0">
                        <a:latin typeface="Cambria Math" panose="02040503050406030204" pitchFamily="18" charset="0"/>
                      </a:rPr>
                      <m:t>𝑐</m:t>
                    </m:r>
                    <m:r>
                      <a:rPr lang="en-US" altLang="zh-CN" i="1" dirty="0">
                        <a:latin typeface="Cambria Math" panose="02040503050406030204" pitchFamily="18" charset="0"/>
                      </a:rPr>
                      <m:t>]</m:t>
                    </m:r>
                  </m:oMath>
                </a14:m>
                <a:r>
                  <a:rPr lang="zh-CN" altLang="en-US" dirty="0"/>
                  <a:t>。</a:t>
                </a:r>
                <a:endParaRPr lang="en-US" altLang="zh-CN" dirty="0"/>
              </a:p>
              <a:p>
                <a:r>
                  <a:rPr lang="en-US" altLang="zh-CN" dirty="0"/>
                  <a:t>12 </a:t>
                </a:r>
                <a:r>
                  <a:rPr lang="zh-CN" altLang="en-US" dirty="0"/>
                  <a:t>个时期</a:t>
                </a:r>
                <a:r>
                  <a:rPr lang="en-US" altLang="zh-CN" dirty="0"/>
                  <a:t>1000</a:t>
                </a:r>
                <a:r>
                  <a:rPr lang="zh-CN" altLang="en-US" dirty="0"/>
                  <a:t>，</a:t>
                </a:r>
                <a:r>
                  <a:rPr lang="en-US" altLang="zh-CN" dirty="0"/>
                  <a:t>1100</a:t>
                </a:r>
                <a:r>
                  <a:rPr lang="zh-CN" altLang="en-US" dirty="0"/>
                  <a:t>，</a:t>
                </a:r>
                <a:r>
                  <a:rPr lang="en-US" altLang="zh-CN" dirty="0"/>
                  <a:t>1200</a:t>
                </a:r>
                <a:r>
                  <a:rPr lang="zh-CN" altLang="en-US" dirty="0"/>
                  <a:t>，</a:t>
                </a:r>
                <a:r>
                  <a:rPr lang="en-US" altLang="zh-CN" dirty="0"/>
                  <a:t>1300</a:t>
                </a:r>
                <a:r>
                  <a:rPr lang="zh-CN" altLang="en-US" dirty="0"/>
                  <a:t>，</a:t>
                </a:r>
                <a:r>
                  <a:rPr lang="en-US" altLang="zh-CN" dirty="0"/>
                  <a:t>1500</a:t>
                </a:r>
                <a:r>
                  <a:rPr lang="zh-CN" altLang="en-US" dirty="0"/>
                  <a:t>，</a:t>
                </a:r>
                <a:r>
                  <a:rPr lang="en-US" altLang="zh-CN" dirty="0"/>
                  <a:t>1600</a:t>
                </a:r>
                <a:r>
                  <a:rPr lang="zh-CN" altLang="en-US" dirty="0"/>
                  <a:t>，</a:t>
                </a:r>
                <a:r>
                  <a:rPr lang="en-US" altLang="zh-CN" dirty="0"/>
                  <a:t>1700</a:t>
                </a:r>
                <a:r>
                  <a:rPr lang="zh-CN" altLang="en-US" dirty="0"/>
                  <a:t>，</a:t>
                </a:r>
                <a:r>
                  <a:rPr lang="en-US" altLang="zh-CN" dirty="0"/>
                  <a:t>1750</a:t>
                </a:r>
                <a:r>
                  <a:rPr lang="zh-CN" altLang="en-US" dirty="0"/>
                  <a:t>，</a:t>
                </a:r>
                <a:r>
                  <a:rPr lang="en-US" altLang="zh-CN" dirty="0"/>
                  <a:t>1800</a:t>
                </a:r>
                <a:r>
                  <a:rPr lang="zh-CN" altLang="en-US" dirty="0"/>
                  <a:t>，</a:t>
                </a:r>
                <a:r>
                  <a:rPr lang="en-US" altLang="zh-CN" dirty="0"/>
                  <a:t>1850</a:t>
                </a:r>
                <a:r>
                  <a:rPr lang="zh-CN" altLang="en-US" dirty="0"/>
                  <a:t>，</a:t>
                </a:r>
                <a:r>
                  <a:rPr lang="en-US" altLang="zh-CN" dirty="0"/>
                  <a:t>1900</a:t>
                </a:r>
                <a:r>
                  <a:rPr lang="zh-CN" altLang="en-US" dirty="0"/>
                  <a:t>；</a:t>
                </a:r>
                <a:r>
                  <a:rPr lang="en-US" altLang="zh-CN" dirty="0"/>
                  <a:t>130 </a:t>
                </a:r>
                <a:r>
                  <a:rPr lang="zh-CN" altLang="en-US" dirty="0"/>
                  <a:t>个（旧世界）国家。</a:t>
                </a:r>
              </a:p>
            </p:txBody>
          </p:sp>
        </mc:Choice>
        <mc:Fallback>
          <p:sp>
            <p:nvSpPr>
              <p:cNvPr id="3" name="内容占位符 2">
                <a:extLst>
                  <a:ext uri="{FF2B5EF4-FFF2-40B4-BE49-F238E27FC236}">
                    <a16:creationId xmlns:a16="http://schemas.microsoft.com/office/drawing/2014/main" id="{926BD562-FB1F-9E88-2A5D-45ADE1A7B401}"/>
                  </a:ext>
                </a:extLst>
              </p:cNvPr>
              <p:cNvSpPr>
                <a:spLocks noGrp="1" noRot="1" noChangeAspect="1" noMove="1" noResize="1" noEditPoints="1" noAdjustHandles="1" noChangeArrowheads="1" noChangeShapeType="1" noTextEdit="1"/>
              </p:cNvSpPr>
              <p:nvPr>
                <p:ph idx="1"/>
              </p:nvPr>
            </p:nvSpPr>
            <p:spPr>
              <a:blipFill>
                <a:blip r:embed="rId2"/>
                <a:stretch>
                  <a:fillRect l="-309"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DEED570-BC77-7181-FB15-036CDD46FAF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47589D5-A83B-6D53-4493-B59BE64584A9}"/>
              </a:ext>
            </a:extLst>
          </p:cNvPr>
          <p:cNvSpPr>
            <a:spLocks noGrp="1"/>
          </p:cNvSpPr>
          <p:nvPr>
            <p:ph type="sldNum" sz="quarter" idx="12"/>
          </p:nvPr>
        </p:nvSpPr>
        <p:spPr/>
        <p:txBody>
          <a:bodyPr/>
          <a:lstStyle/>
          <a:p>
            <a:fld id="{D41FC515-8169-4A29-AA56-DBE520D5741B}" type="slidenum">
              <a:rPr lang="zh-CN" altLang="en-US" smtClean="0"/>
              <a:t>25</a:t>
            </a:fld>
            <a:endParaRPr lang="zh-CN" altLang="en-US"/>
          </a:p>
        </p:txBody>
      </p:sp>
    </p:spTree>
    <p:extLst>
      <p:ext uri="{BB962C8B-B14F-4D97-AF65-F5344CB8AC3E}">
        <p14:creationId xmlns:p14="http://schemas.microsoft.com/office/powerpoint/2010/main" val="4275143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1084F-62C0-AD9A-2E2A-B014D86C1644}"/>
              </a:ext>
            </a:extLst>
          </p:cNvPr>
          <p:cNvSpPr>
            <a:spLocks noGrp="1"/>
          </p:cNvSpPr>
          <p:nvPr>
            <p:ph type="title"/>
          </p:nvPr>
        </p:nvSpPr>
        <p:spPr/>
        <p:txBody>
          <a:bodyPr>
            <a:normAutofit/>
          </a:bodyPr>
          <a:lstStyle/>
          <a:p>
            <a:r>
              <a:rPr lang="zh-CN" altLang="en-US" dirty="0"/>
              <a:t>引入协变量</a:t>
            </a:r>
            <a:br>
              <a:rPr lang="zh-CN" altLang="en-US" dirty="0"/>
            </a:br>
            <a:r>
              <a:rPr lang="en-US" altLang="zh-CN" sz="2700" dirty="0"/>
              <a:t>Nunn and Qian (2011) </a:t>
            </a:r>
            <a:r>
              <a:rPr lang="zh-CN" altLang="en-US" sz="2700" dirty="0"/>
              <a:t>土豆对人口和城市化的影响</a:t>
            </a:r>
          </a:p>
        </p:txBody>
      </p:sp>
      <p:pic>
        <p:nvPicPr>
          <p:cNvPr id="7" name="内容占位符 6">
            <a:extLst>
              <a:ext uri="{FF2B5EF4-FFF2-40B4-BE49-F238E27FC236}">
                <a16:creationId xmlns:a16="http://schemas.microsoft.com/office/drawing/2014/main" id="{7FF22258-E04B-CC49-DB45-FF95D8563E22}"/>
              </a:ext>
            </a:extLst>
          </p:cNvPr>
          <p:cNvPicPr>
            <a:picLocks noGrp="1" noChangeAspect="1"/>
          </p:cNvPicPr>
          <p:nvPr>
            <p:ph idx="1"/>
          </p:nvPr>
        </p:nvPicPr>
        <p:blipFill>
          <a:blip r:embed="rId2"/>
          <a:stretch>
            <a:fillRect/>
          </a:stretch>
        </p:blipFill>
        <p:spPr>
          <a:xfrm>
            <a:off x="801888" y="1825625"/>
            <a:ext cx="7540224" cy="4351338"/>
          </a:xfrm>
          <a:prstGeom prst="rect">
            <a:avLst/>
          </a:prstGeom>
        </p:spPr>
      </p:pic>
      <p:sp>
        <p:nvSpPr>
          <p:cNvPr id="4" name="页脚占位符 3">
            <a:extLst>
              <a:ext uri="{FF2B5EF4-FFF2-40B4-BE49-F238E27FC236}">
                <a16:creationId xmlns:a16="http://schemas.microsoft.com/office/drawing/2014/main" id="{B9D73E77-0D49-0412-C24D-47D43036618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A606F18-C18A-A979-F0AC-41E7C4915023}"/>
              </a:ext>
            </a:extLst>
          </p:cNvPr>
          <p:cNvSpPr>
            <a:spLocks noGrp="1"/>
          </p:cNvSpPr>
          <p:nvPr>
            <p:ph type="sldNum" sz="quarter" idx="12"/>
          </p:nvPr>
        </p:nvSpPr>
        <p:spPr/>
        <p:txBody>
          <a:bodyPr/>
          <a:lstStyle/>
          <a:p>
            <a:fld id="{D41FC515-8169-4A29-AA56-DBE520D5741B}" type="slidenum">
              <a:rPr lang="zh-CN" altLang="en-US" smtClean="0"/>
              <a:t>26</a:t>
            </a:fld>
            <a:endParaRPr lang="zh-CN" altLang="en-US"/>
          </a:p>
        </p:txBody>
      </p:sp>
    </p:spTree>
    <p:extLst>
      <p:ext uri="{BB962C8B-B14F-4D97-AF65-F5344CB8AC3E}">
        <p14:creationId xmlns:p14="http://schemas.microsoft.com/office/powerpoint/2010/main" val="4193244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70A80D-91EA-38AB-779E-FF59C2EBB62A}"/>
              </a:ext>
            </a:extLst>
          </p:cNvPr>
          <p:cNvSpPr>
            <a:spLocks noGrp="1"/>
          </p:cNvSpPr>
          <p:nvPr>
            <p:ph type="title"/>
          </p:nvPr>
        </p:nvSpPr>
        <p:spPr/>
        <p:txBody>
          <a:bodyPr>
            <a:normAutofit/>
          </a:bodyPr>
          <a:lstStyle/>
          <a:p>
            <a:r>
              <a:rPr lang="zh-CN" altLang="en-US" dirty="0"/>
              <a:t>引入协变量</a:t>
            </a:r>
            <a:br>
              <a:rPr lang="zh-CN" altLang="en-US" dirty="0"/>
            </a:br>
            <a:r>
              <a:rPr lang="en-US" altLang="zh-CN" sz="2700" dirty="0"/>
              <a:t>Nunn and Qian (2011) </a:t>
            </a:r>
            <a:r>
              <a:rPr lang="zh-CN" altLang="en-US" sz="2700" dirty="0"/>
              <a:t>土豆对人口和城市化的影响</a:t>
            </a:r>
          </a:p>
        </p:txBody>
      </p:sp>
      <p:pic>
        <p:nvPicPr>
          <p:cNvPr id="7" name="内容占位符 6">
            <a:extLst>
              <a:ext uri="{FF2B5EF4-FFF2-40B4-BE49-F238E27FC236}">
                <a16:creationId xmlns:a16="http://schemas.microsoft.com/office/drawing/2014/main" id="{5BC421C7-028B-2756-379D-7881BBD930FE}"/>
              </a:ext>
            </a:extLst>
          </p:cNvPr>
          <p:cNvPicPr>
            <a:picLocks noGrp="1" noChangeAspect="1"/>
          </p:cNvPicPr>
          <p:nvPr>
            <p:ph idx="1"/>
          </p:nvPr>
        </p:nvPicPr>
        <p:blipFill>
          <a:blip r:embed="rId2"/>
          <a:stretch>
            <a:fillRect/>
          </a:stretch>
        </p:blipFill>
        <p:spPr>
          <a:xfrm>
            <a:off x="628650" y="2254332"/>
            <a:ext cx="3510213" cy="2575754"/>
          </a:xfrm>
          <a:prstGeom prst="rect">
            <a:avLst/>
          </a:prstGeom>
        </p:spPr>
      </p:pic>
      <p:sp>
        <p:nvSpPr>
          <p:cNvPr id="4" name="页脚占位符 3">
            <a:extLst>
              <a:ext uri="{FF2B5EF4-FFF2-40B4-BE49-F238E27FC236}">
                <a16:creationId xmlns:a16="http://schemas.microsoft.com/office/drawing/2014/main" id="{69CB4402-5037-E892-A411-70C5625FA12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70EB8B3-0506-90B5-5291-3DD45A893A47}"/>
              </a:ext>
            </a:extLst>
          </p:cNvPr>
          <p:cNvSpPr>
            <a:spLocks noGrp="1"/>
          </p:cNvSpPr>
          <p:nvPr>
            <p:ph type="sldNum" sz="quarter" idx="12"/>
          </p:nvPr>
        </p:nvSpPr>
        <p:spPr/>
        <p:txBody>
          <a:bodyPr/>
          <a:lstStyle/>
          <a:p>
            <a:fld id="{D41FC515-8169-4A29-AA56-DBE520D5741B}" type="slidenum">
              <a:rPr lang="zh-CN" altLang="en-US" smtClean="0"/>
              <a:t>27</a:t>
            </a:fld>
            <a:endParaRPr lang="zh-CN" altLang="en-US"/>
          </a:p>
        </p:txBody>
      </p:sp>
      <p:pic>
        <p:nvPicPr>
          <p:cNvPr id="9" name="图片 8">
            <a:extLst>
              <a:ext uri="{FF2B5EF4-FFF2-40B4-BE49-F238E27FC236}">
                <a16:creationId xmlns:a16="http://schemas.microsoft.com/office/drawing/2014/main" id="{13319CC0-5F65-9FFD-7B51-08E37DB6A2DA}"/>
              </a:ext>
            </a:extLst>
          </p:cNvPr>
          <p:cNvPicPr>
            <a:picLocks noChangeAspect="1"/>
          </p:cNvPicPr>
          <p:nvPr/>
        </p:nvPicPr>
        <p:blipFill>
          <a:blip r:embed="rId3"/>
          <a:stretch>
            <a:fillRect/>
          </a:stretch>
        </p:blipFill>
        <p:spPr>
          <a:xfrm>
            <a:off x="4572000" y="2062115"/>
            <a:ext cx="3721995" cy="2762519"/>
          </a:xfrm>
          <a:prstGeom prst="rect">
            <a:avLst/>
          </a:prstGeom>
        </p:spPr>
      </p:pic>
    </p:spTree>
    <p:extLst>
      <p:ext uri="{BB962C8B-B14F-4D97-AF65-F5344CB8AC3E}">
        <p14:creationId xmlns:p14="http://schemas.microsoft.com/office/powerpoint/2010/main" val="3495034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B6236A-9FB1-C49F-56ED-8B5B228A3F42}"/>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98E50AD-23FF-FE7F-04C5-5BC88183EA30}"/>
                  </a:ext>
                </a:extLst>
              </p:cNvPr>
              <p:cNvSpPr>
                <a:spLocks noGrp="1"/>
              </p:cNvSpPr>
              <p:nvPr>
                <p:ph idx="1"/>
              </p:nvPr>
            </p:nvSpPr>
            <p:spPr/>
            <p:txBody>
              <a:bodyPr>
                <a:normAutofit fontScale="55000" lnSpcReduction="20000"/>
              </a:bodyPr>
              <a:lstStyle/>
              <a:p>
                <a:pPr>
                  <a:lnSpc>
                    <a:spcPct val="120000"/>
                  </a:lnSpc>
                </a:pPr>
                <a:r>
                  <a:rPr lang="zh-CN" altLang="en-US" dirty="0"/>
                  <a:t>匹配估计量</a:t>
                </a:r>
                <a:endParaRPr lang="en-US" altLang="zh-CN" dirty="0"/>
              </a:p>
              <a:p>
                <a:pPr marL="0" indent="0">
                  <a:lnSpc>
                    <a:spcPct val="120000"/>
                  </a:lnSpc>
                  <a:buNone/>
                </a:pPr>
                <a14:m>
                  <m:oMathPara xmlns:m="http://schemas.openxmlformats.org/officeDocument/2006/math">
                    <m:oMath>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根据平行趋势假设</a:t>
                </a:r>
                <a:r>
                  <a:rPr lang="en-US" altLang="zh-CN" dirty="0"/>
                  <a:t>(1)</a:t>
                </a:r>
                <a:r>
                  <a:rPr lang="zh-CN" altLang="en-US" dirty="0"/>
                  <a:t>，一个自然的估计量：</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nary>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𝑀</m:t>
                                  </m:r>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𝒥</m:t>
                                      </m:r>
                                    </m:e>
                                    <m:sub>
                                      <m:r>
                                        <a:rPr lang="zh-CN" altLang="en-US" i="1" smtClean="0">
                                          <a:latin typeface="Cambria Math" panose="02040503050406030204" pitchFamily="18" charset="0"/>
                                        </a:rPr>
                                        <m:t>𝑀</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𝑖</m:t>
                                      </m:r>
                                    </m:e>
                                  </m:d>
                                </m:sub>
                                <m:sup/>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𝑗𝑡</m:t>
                                          </m:r>
                                          <m:r>
                                            <a:rPr lang="zh-CN" altLang="en-US" i="1" smtClean="0">
                                              <a:latin typeface="Cambria Math" panose="02040503050406030204" pitchFamily="18" charset="0"/>
                                            </a:rPr>
                                            <m:t>−1</m:t>
                                          </m:r>
                                        </m:sub>
                                      </m:sSub>
                                    </m:e>
                                  </m:d>
                                </m:e>
                              </m:nary>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𝐾</m:t>
                                          </m:r>
                                        </m:e>
                                        <m:sub>
                                          <m:r>
                                            <a:rPr lang="zh-CN" altLang="en-US" i="1" smtClean="0">
                                              <a:latin typeface="Cambria Math" panose="02040503050406030204" pitchFamily="18" charset="0"/>
                                            </a:rPr>
                                            <m:t>𝑀</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𝑖</m:t>
                                          </m:r>
                                        </m:e>
                                      </m:d>
                                    </m:num>
                                    <m:den>
                                      <m:r>
                                        <a:rPr lang="zh-CN" altLang="en-US" i="1" smtClean="0">
                                          <a:latin typeface="Cambria Math" panose="02040503050406030204" pitchFamily="18" charset="0"/>
                                        </a:rPr>
                                        <m:t>𝑀</m:t>
                                      </m:r>
                                    </m:den>
                                  </m:f>
                                </m:e>
                              </m:d>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其中𝑀 为与每个干预组个体匹配的控制组个体数量，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𝒥</m:t>
                        </m:r>
                      </m:e>
                      <m:sub>
                        <m:r>
                          <a:rPr lang="zh-CN" altLang="en-US" i="1" dirty="0" smtClean="0">
                            <a:latin typeface="Cambria Math" panose="02040503050406030204" pitchFamily="18" charset="0"/>
                          </a:rPr>
                          <m:t>𝑀</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𝑖</m:t>
                    </m:r>
                    <m:r>
                      <a:rPr lang="en-US" altLang="zh-CN" i="1" dirty="0">
                        <a:latin typeface="Cambria Math" panose="02040503050406030204" pitchFamily="18" charset="0"/>
                      </a:rPr>
                      <m:t>) </m:t>
                    </m:r>
                  </m:oMath>
                </a14:m>
                <a:r>
                  <a:rPr lang="zh-CN" altLang="en-US" dirty="0"/>
                  <a:t>表示与干预组个体𝑖相匹配的控制组脚标集合，</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𝐾</m:t>
                        </m:r>
                      </m:e>
                      <m:sub>
                        <m:r>
                          <a:rPr lang="zh-CN" altLang="en-US" i="1" dirty="0" smtClean="0">
                            <a:latin typeface="Cambria Math" panose="02040503050406030204" pitchFamily="18" charset="0"/>
                          </a:rPr>
                          <m:t>𝑀</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𝑖</m:t>
                    </m:r>
                    <m:r>
                      <a:rPr lang="en-US" altLang="zh-CN" i="1" dirty="0">
                        <a:latin typeface="Cambria Math" panose="02040503050406030204" pitchFamily="18" charset="0"/>
                      </a:rPr>
                      <m:t>)</m:t>
                    </m:r>
                  </m:oMath>
                </a14:m>
                <a:r>
                  <a:rPr lang="en-US" altLang="zh-CN" dirty="0"/>
                  <a:t> </a:t>
                </a:r>
                <a:r>
                  <a:rPr lang="zh-CN" altLang="en-US" dirty="0"/>
                  <a:t>表示个体𝑖 被用作匹配的次数，没有被用作匹配时取</a:t>
                </a:r>
                <a:r>
                  <a:rPr lang="en-US" altLang="zh-CN" dirty="0"/>
                  <a:t>0</a:t>
                </a:r>
                <a:r>
                  <a:rPr lang="zh-CN" altLang="en-US" dirty="0"/>
                  <a:t>，允许重复匹配时可以被匹配多次。</a:t>
                </a:r>
                <a:endParaRPr lang="en-US" altLang="zh-CN" dirty="0"/>
              </a:p>
              <a:p>
                <a:pPr>
                  <a:lnSpc>
                    <a:spcPct val="120000"/>
                  </a:lnSpc>
                </a:pPr>
                <a:r>
                  <a:rPr lang="zh-CN" altLang="en-US" dirty="0"/>
                  <a:t>可以用倾向指数匹配，即</a:t>
                </a:r>
                <a:r>
                  <a:rPr lang="en-US" altLang="zh-CN" dirty="0"/>
                  <a:t>PSM-DID </a:t>
                </a:r>
                <a:r>
                  <a:rPr lang="zh-CN" altLang="en-US" dirty="0"/>
                  <a:t>估计量 </a:t>
                </a:r>
                <a:r>
                  <a:rPr lang="en-US" altLang="zh-CN" dirty="0"/>
                  <a:t>(Heckman et al., 1997)</a:t>
                </a:r>
                <a:r>
                  <a:rPr lang="zh-CN" altLang="en-US" dirty="0"/>
                  <a:t>。</a:t>
                </a:r>
                <a:endParaRPr lang="en-US" altLang="zh-CN" dirty="0"/>
              </a:p>
              <a:p>
                <a:pPr>
                  <a:lnSpc>
                    <a:spcPct val="120000"/>
                  </a:lnSpc>
                </a:pPr>
                <a:r>
                  <a:rPr lang="en-US" altLang="zh-CN" dirty="0" err="1"/>
                  <a:t>teffects</a:t>
                </a:r>
                <a:r>
                  <a:rPr lang="en-US" altLang="zh-CN" dirty="0"/>
                  <a:t> </a:t>
                </a:r>
                <a:r>
                  <a:rPr lang="en-US" altLang="zh-CN" dirty="0" err="1"/>
                  <a:t>nnmatch</a:t>
                </a:r>
                <a:r>
                  <a:rPr lang="en-US" altLang="zh-CN" dirty="0"/>
                  <a:t> (</a:t>
                </a:r>
                <a:r>
                  <a:rPr lang="el-GR" altLang="zh-CN" dirty="0"/>
                  <a:t>Δ</a:t>
                </a:r>
                <a:r>
                  <a:rPr lang="zh-CN" altLang="el-GR" dirty="0"/>
                  <a:t>𝑌</a:t>
                </a:r>
                <a:r>
                  <a:rPr lang="zh-CN" altLang="el-GR" baseline="-25000" dirty="0"/>
                  <a:t>𝑖𝑡</a:t>
                </a:r>
                <a:r>
                  <a:rPr lang="zh-CN" altLang="el-GR" dirty="0"/>
                  <a:t> 𝑋</a:t>
                </a:r>
                <a:r>
                  <a:rPr lang="el-GR" altLang="zh-CN" dirty="0"/>
                  <a:t>)</a:t>
                </a:r>
                <a:r>
                  <a:rPr lang="en-US" altLang="zh-CN" dirty="0"/>
                  <a:t> </a:t>
                </a:r>
                <a:r>
                  <a:rPr lang="el-GR" altLang="zh-CN" dirty="0"/>
                  <a:t>(</a:t>
                </a:r>
                <a:r>
                  <a:rPr lang="zh-CN" altLang="el-GR" dirty="0"/>
                  <a:t>𝐷</a:t>
                </a:r>
                <a:r>
                  <a:rPr lang="el-GR" altLang="zh-CN" dirty="0"/>
                  <a:t>), </a:t>
                </a:r>
                <a:r>
                  <a:rPr lang="en-US" altLang="zh-CN" dirty="0" err="1"/>
                  <a:t>atet</a:t>
                </a:r>
                <a:r>
                  <a:rPr lang="en-US" altLang="zh-CN" dirty="0"/>
                  <a:t> </a:t>
                </a:r>
                <a:r>
                  <a:rPr lang="zh-CN" altLang="en-US" dirty="0"/>
                  <a:t>或用 </a:t>
                </a:r>
                <a:r>
                  <a:rPr lang="en-US" altLang="zh-CN" dirty="0" err="1"/>
                  <a:t>teffects</a:t>
                </a:r>
                <a:r>
                  <a:rPr lang="en-US" altLang="zh-CN" dirty="0"/>
                  <a:t> </a:t>
                </a:r>
                <a:r>
                  <a:rPr lang="en-US" altLang="zh-CN" dirty="0" err="1"/>
                  <a:t>psmatch</a:t>
                </a:r>
                <a:endParaRPr lang="zh-CN" altLang="en-US" dirty="0"/>
              </a:p>
            </p:txBody>
          </p:sp>
        </mc:Choice>
        <mc:Fallback>
          <p:sp>
            <p:nvSpPr>
              <p:cNvPr id="3" name="内容占位符 2">
                <a:extLst>
                  <a:ext uri="{FF2B5EF4-FFF2-40B4-BE49-F238E27FC236}">
                    <a16:creationId xmlns:a16="http://schemas.microsoft.com/office/drawing/2014/main" id="{998E50AD-23FF-FE7F-04C5-5BC88183EA30}"/>
                  </a:ext>
                </a:extLst>
              </p:cNvPr>
              <p:cNvSpPr>
                <a:spLocks noGrp="1" noRot="1" noChangeAspect="1" noMove="1" noResize="1" noEditPoints="1" noAdjustHandles="1" noChangeArrowheads="1" noChangeShapeType="1" noTextEdit="1"/>
              </p:cNvSpPr>
              <p:nvPr>
                <p:ph idx="1"/>
              </p:nvPr>
            </p:nvSpPr>
            <p:spPr>
              <a:blipFill>
                <a:blip r:embed="rId2"/>
                <a:stretch>
                  <a:fillRect l="-309"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3B4A29C-655D-98C1-99DD-4FF5BAD08DF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DD19487-30A9-354C-F9DA-C8240CB6D714}"/>
              </a:ext>
            </a:extLst>
          </p:cNvPr>
          <p:cNvSpPr>
            <a:spLocks noGrp="1"/>
          </p:cNvSpPr>
          <p:nvPr>
            <p:ph type="sldNum" sz="quarter" idx="12"/>
          </p:nvPr>
        </p:nvSpPr>
        <p:spPr/>
        <p:txBody>
          <a:bodyPr/>
          <a:lstStyle/>
          <a:p>
            <a:fld id="{D41FC515-8169-4A29-AA56-DBE520D5741B}" type="slidenum">
              <a:rPr lang="zh-CN" altLang="en-US" smtClean="0"/>
              <a:t>28</a:t>
            </a:fld>
            <a:endParaRPr lang="zh-CN" altLang="en-US"/>
          </a:p>
        </p:txBody>
      </p:sp>
    </p:spTree>
    <p:extLst>
      <p:ext uri="{BB962C8B-B14F-4D97-AF65-F5344CB8AC3E}">
        <p14:creationId xmlns:p14="http://schemas.microsoft.com/office/powerpoint/2010/main" val="3048445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8E22CF-F278-E663-4054-5DE5FC8022FF}"/>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2C9E6BA-D230-EB4C-148C-30C002A95443}"/>
                  </a:ext>
                </a:extLst>
              </p:cNvPr>
              <p:cNvSpPr>
                <a:spLocks noGrp="1"/>
              </p:cNvSpPr>
              <p:nvPr>
                <p:ph idx="1"/>
              </p:nvPr>
            </p:nvSpPr>
            <p:spPr/>
            <p:txBody>
              <a:bodyPr>
                <a:normAutofit fontScale="85000" lnSpcReduction="10000"/>
              </a:bodyPr>
              <a:lstStyle/>
              <a:p>
                <a:r>
                  <a:rPr lang="en-US" altLang="zh-CN" dirty="0"/>
                  <a:t>Heckman et al. (1997, 1998) </a:t>
                </a:r>
                <a:r>
                  <a:rPr lang="zh-CN" altLang="en-US" dirty="0"/>
                  <a:t>提出核匹配，即为每个干预组个体都用控制组个体的核加权平均进行匹配，因而，双重差分的核匹配估计量为：</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nary>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=0</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𝑗</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𝑗𝑡</m:t>
                                      </m:r>
                                      <m:r>
                                        <a:rPr lang="zh-CN" altLang="en-US" i="1" smtClean="0">
                                          <a:latin typeface="Cambria Math" panose="02040503050406030204" pitchFamily="18" charset="0"/>
                                        </a:rPr>
                                        <m:t>−1</m:t>
                                      </m:r>
                                    </m:sub>
                                  </m:sSub>
                                </m:e>
                              </m:d>
                            </m:e>
                          </m:d>
                        </m:e>
                      </m:eqArr>
                    </m:oMath>
                  </m:oMathPara>
                </a14:m>
                <a:endParaRPr lang="en-US" altLang="zh-CN" dirty="0"/>
              </a:p>
              <a:p>
                <a:pPr marL="0" indent="0">
                  <a:buNone/>
                </a:pPr>
                <a:r>
                  <a:rPr lang="zh-CN" altLang="en-US" dirty="0"/>
                  <a:t>其中</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=0</m:t>
                              </m:r>
                            </m:sub>
                            <m:sup/>
                            <m:e>
                              <m:r>
                                <a:rPr lang="zh-CN" altLang="en-US" i="1" smtClean="0">
                                  <a:latin typeface="Cambria Math" panose="02040503050406030204" pitchFamily="18" charset="0"/>
                                </a:rPr>
                                <m:t>𝐾</m:t>
                              </m:r>
                            </m:e>
                          </m:nary>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den>
                      </m:f>
                      <m:r>
                        <a:rPr lang="zh-CN" altLang="en-US" i="1" smtClean="0">
                          <a:latin typeface="Cambria Math" panose="02040503050406030204" pitchFamily="18" charset="0"/>
                        </a:rPr>
                        <m:t>,</m:t>
                      </m:r>
                    </m:oMath>
                  </m:oMathPara>
                </a14:m>
                <a:endParaRPr lang="en-US" altLang="zh-CN" dirty="0"/>
              </a:p>
              <a:p>
                <a:pPr marL="0" indent="0">
                  <a:buNone/>
                </a:pPr>
                <a:r>
                  <a:rPr lang="zh-CN" altLang="en-US" dirty="0"/>
                  <a:t>𝐾</a:t>
                </a:r>
                <a:r>
                  <a:rPr lang="en-US" altLang="zh-CN" dirty="0"/>
                  <a:t>(⋅) </a:t>
                </a:r>
                <a:r>
                  <a:rPr lang="zh-CN" altLang="en-US" dirty="0"/>
                  <a:t>为核函数，</a:t>
                </a:r>
                <a:r>
                  <a:rPr lang="en-US" altLang="zh-CN" dirty="0"/>
                  <a:t>ℎ </a:t>
                </a:r>
                <a:r>
                  <a:rPr lang="zh-CN" altLang="en-US" dirty="0"/>
                  <a:t>为带宽。</a:t>
                </a:r>
              </a:p>
            </p:txBody>
          </p:sp>
        </mc:Choice>
        <mc:Fallback xmlns="">
          <p:sp>
            <p:nvSpPr>
              <p:cNvPr id="3" name="内容占位符 2">
                <a:extLst>
                  <a:ext uri="{FF2B5EF4-FFF2-40B4-BE49-F238E27FC236}">
                    <a16:creationId xmlns:a16="http://schemas.microsoft.com/office/drawing/2014/main" id="{A2C9E6BA-D230-EB4C-148C-30C002A95443}"/>
                  </a:ext>
                </a:extLst>
              </p:cNvPr>
              <p:cNvSpPr>
                <a:spLocks noGrp="1" noRot="1" noChangeAspect="1" noMove="1" noResize="1" noEditPoints="1" noAdjustHandles="1" noChangeArrowheads="1" noChangeShapeType="1" noTextEdit="1"/>
              </p:cNvSpPr>
              <p:nvPr>
                <p:ph idx="1"/>
              </p:nvPr>
            </p:nvSpPr>
            <p:spPr>
              <a:blipFill>
                <a:blip r:embed="rId2"/>
                <a:stretch>
                  <a:fillRect l="-1159" t="-1961" b="-11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2272B24-3CCE-57E5-E8DC-7081862E24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7FCEECF-FEF3-1A39-AC47-3E56F5AA87EC}"/>
              </a:ext>
            </a:extLst>
          </p:cNvPr>
          <p:cNvSpPr>
            <a:spLocks noGrp="1"/>
          </p:cNvSpPr>
          <p:nvPr>
            <p:ph type="sldNum" sz="quarter" idx="12"/>
          </p:nvPr>
        </p:nvSpPr>
        <p:spPr/>
        <p:txBody>
          <a:bodyPr/>
          <a:lstStyle/>
          <a:p>
            <a:fld id="{D41FC515-8169-4A29-AA56-DBE520D5741B}" type="slidenum">
              <a:rPr lang="zh-CN" altLang="en-US" smtClean="0"/>
              <a:t>29</a:t>
            </a:fld>
            <a:endParaRPr lang="zh-CN" altLang="en-US"/>
          </a:p>
        </p:txBody>
      </p:sp>
    </p:spTree>
    <p:extLst>
      <p:ext uri="{BB962C8B-B14F-4D97-AF65-F5344CB8AC3E}">
        <p14:creationId xmlns:p14="http://schemas.microsoft.com/office/powerpoint/2010/main" val="1618473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500FA0-34BC-AE52-887E-043F6D89AEAF}"/>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254A0F1-C698-7618-9E82-9EAB5D9C21AE}"/>
                  </a:ext>
                </a:extLst>
              </p:cNvPr>
              <p:cNvSpPr>
                <a:spLocks noGrp="1"/>
              </p:cNvSpPr>
              <p:nvPr>
                <p:ph idx="1"/>
              </p:nvPr>
            </p:nvSpPr>
            <p:spPr/>
            <p:txBody>
              <a:bodyPr>
                <a:normAutofit fontScale="70000" lnSpcReduction="20000"/>
              </a:bodyPr>
              <a:lstStyle/>
              <a:p>
                <a:pPr>
                  <a:lnSpc>
                    <a:spcPct val="120000"/>
                  </a:lnSpc>
                </a:pPr>
                <a:r>
                  <a:rPr lang="zh-CN" altLang="en-US" dirty="0"/>
                  <a:t>回归调整</a:t>
                </a:r>
                <a:r>
                  <a:rPr lang="en-US" altLang="zh-CN" dirty="0"/>
                  <a:t>(Regression adjustment): </a:t>
                </a:r>
                <a:r>
                  <a:rPr lang="zh-CN" altLang="en-US" dirty="0"/>
                  <a:t>在假设 </a:t>
                </a:r>
                <a:r>
                  <a:rPr lang="en-US" altLang="zh-CN" dirty="0"/>
                  <a:t>1-5 </a:t>
                </a:r>
                <a:r>
                  <a:rPr lang="zh-CN" altLang="en-US" dirty="0"/>
                  <a:t>下，政策效应</a:t>
                </a:r>
                <a:r>
                  <a:rPr lang="en-US" altLang="zh-CN" dirty="0"/>
                  <a:t>(14) </a:t>
                </a:r>
                <a:r>
                  <a:rPr lang="zh-CN" altLang="en-US" dirty="0"/>
                  <a:t>可以写为：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𝐷𝐼𝐷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令</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r>
                          <a:rPr lang="zh-CN" altLang="en-US" i="1" dirty="0">
                            <a:latin typeface="Cambria Math" panose="02040503050406030204" pitchFamily="18" charset="0"/>
                          </a:rPr>
                          <m:t>−</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0]</m:t>
                    </m:r>
                  </m:oMath>
                </a14:m>
                <a:r>
                  <a:rPr lang="zh-CN" altLang="en-US" dirty="0"/>
                  <a:t>，用控制组数据，利用（非参数）回归方法，可以估计出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，则</a:t>
                </a:r>
                <a:r>
                  <a:rPr lang="en-US" altLang="zh-CN" dirty="0"/>
                  <a:t>DID </a:t>
                </a:r>
                <a:r>
                  <a:rPr lang="zh-CN" altLang="en-US" dirty="0"/>
                  <a:t>估计量为</a:t>
                </a:r>
                <a:r>
                  <a:rPr lang="en-US" altLang="zh-CN" dirty="0"/>
                  <a:t>Heckman et al. (1997)</a:t>
                </a:r>
                <a:r>
                  <a:rPr lang="zh-CN" altLang="en-US" dirty="0"/>
                  <a:t>：</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𝐷𝐼𝐷</m:t>
                              </m:r>
                            </m:sub>
                            <m:sup>
                              <m:r>
                                <a:rPr lang="zh-CN" altLang="en-US" i="1" smtClean="0">
                                  <a:latin typeface="Cambria Math" panose="02040503050406030204" pitchFamily="18" charset="0"/>
                                </a:rPr>
                                <m:t>𝑅𝐴</m:t>
                              </m:r>
                            </m:sup>
                          </m:sSubSup>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ub>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nary>
                          <m:r>
                            <a:rPr lang="zh-CN" altLang="en-US" i="1" smtClean="0">
                              <a:latin typeface="Cambria Math" panose="02040503050406030204" pitchFamily="18" charset="0"/>
                            </a:rPr>
                            <m:t>.</m:t>
                          </m:r>
                        </m:e>
                      </m:eqArr>
                      <m:r>
                        <a:rPr lang="en-US" altLang="zh-CN" b="0" i="1" smtClean="0">
                          <a:latin typeface="Cambria Math" panose="02040503050406030204" pitchFamily="18" charset="0"/>
                        </a:rPr>
                        <m:t>                      </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21</m:t>
                          </m:r>
                        </m:e>
                      </m:d>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𝑁</m:t>
                        </m:r>
                      </m:e>
                      <m:sub>
                        <m:r>
                          <a:rPr lang="en-US" altLang="zh-CN" i="1" dirty="0">
                            <a:latin typeface="Cambria Math" panose="02040503050406030204" pitchFamily="18" charset="0"/>
                          </a:rPr>
                          <m:t>1</m:t>
                        </m:r>
                      </m:sub>
                    </m:sSub>
                  </m:oMath>
                </a14:m>
                <a:r>
                  <a:rPr lang="en-US" altLang="zh-CN" dirty="0"/>
                  <a:t> </a:t>
                </a:r>
                <a:r>
                  <a:rPr lang="zh-CN" altLang="en-US" dirty="0"/>
                  <a:t>表示干预组样本数。</a:t>
                </a:r>
              </a:p>
            </p:txBody>
          </p:sp>
        </mc:Choice>
        <mc:Fallback>
          <p:sp>
            <p:nvSpPr>
              <p:cNvPr id="3" name="内容占位符 2">
                <a:extLst>
                  <a:ext uri="{FF2B5EF4-FFF2-40B4-BE49-F238E27FC236}">
                    <a16:creationId xmlns:a16="http://schemas.microsoft.com/office/drawing/2014/main" id="{9254A0F1-C698-7618-9E82-9EAB5D9C21AE}"/>
                  </a:ext>
                </a:extLst>
              </p:cNvPr>
              <p:cNvSpPr>
                <a:spLocks noGrp="1" noRot="1" noChangeAspect="1" noMove="1" noResize="1" noEditPoints="1" noAdjustHandles="1" noChangeArrowheads="1" noChangeShapeType="1" noTextEdit="1"/>
              </p:cNvSpPr>
              <p:nvPr>
                <p:ph idx="1"/>
              </p:nvPr>
            </p:nvSpPr>
            <p:spPr>
              <a:blipFill>
                <a:blip r:embed="rId2"/>
                <a:stretch>
                  <a:fillRect l="-773" t="-700"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0E8F17D-74AE-39F9-B6CB-73506339C99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F253F6D-A722-F9C1-FD16-4E7523B14FB1}"/>
              </a:ext>
            </a:extLst>
          </p:cNvPr>
          <p:cNvSpPr>
            <a:spLocks noGrp="1"/>
          </p:cNvSpPr>
          <p:nvPr>
            <p:ph type="sldNum" sz="quarter" idx="12"/>
          </p:nvPr>
        </p:nvSpPr>
        <p:spPr/>
        <p:txBody>
          <a:bodyPr/>
          <a:lstStyle/>
          <a:p>
            <a:fld id="{D41FC515-8169-4A29-AA56-DBE520D5741B}" type="slidenum">
              <a:rPr lang="zh-CN" altLang="en-US" smtClean="0"/>
              <a:t>30</a:t>
            </a:fld>
            <a:endParaRPr lang="zh-CN" altLang="en-US"/>
          </a:p>
        </p:txBody>
      </p:sp>
    </p:spTree>
    <p:extLst>
      <p:ext uri="{BB962C8B-B14F-4D97-AF65-F5344CB8AC3E}">
        <p14:creationId xmlns:p14="http://schemas.microsoft.com/office/powerpoint/2010/main" val="4135188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C3976-B589-9600-53ED-008CA5F36B33}"/>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1AE88B-1A91-509B-F52D-E763097F461F}"/>
                  </a:ext>
                </a:extLst>
              </p:cNvPr>
              <p:cNvSpPr>
                <a:spLocks noGrp="1"/>
              </p:cNvSpPr>
              <p:nvPr>
                <p:ph idx="1"/>
              </p:nvPr>
            </p:nvSpPr>
            <p:spPr>
              <a:xfrm>
                <a:off x="628650" y="1825624"/>
                <a:ext cx="7886700" cy="4154071"/>
              </a:xfrm>
            </p:spPr>
            <p:txBody>
              <a:bodyPr>
                <a:noAutofit/>
              </a:bodyPr>
              <a:lstStyle/>
              <a:p>
                <a:pPr>
                  <a:lnSpc>
                    <a:spcPct val="120000"/>
                  </a:lnSpc>
                </a:pPr>
                <a:r>
                  <a:rPr lang="zh-CN" altLang="en-US" sz="1800" dirty="0"/>
                  <a:t>逆概率加权</a:t>
                </a:r>
                <a:r>
                  <a:rPr lang="en-US" altLang="zh-CN" sz="1800" dirty="0"/>
                  <a:t>(Inverse probability weighting): </a:t>
                </a:r>
                <a:r>
                  <a:rPr lang="zh-CN" altLang="en-US" sz="1800" dirty="0"/>
                  <a:t>在假设</a:t>
                </a:r>
                <a:r>
                  <a:rPr lang="en-US" altLang="zh-CN" sz="1800" dirty="0"/>
                  <a:t>1-5 </a:t>
                </a:r>
                <a:r>
                  <a:rPr lang="zh-CN" altLang="en-US" sz="1800" dirty="0"/>
                  <a:t>下，</a:t>
                </a:r>
                <a:r>
                  <a:rPr lang="en-US" altLang="zh-CN" sz="1800" dirty="0"/>
                  <a:t>Abadie (2005) </a:t>
                </a:r>
                <a:r>
                  <a:rPr lang="zh-CN" altLang="en-US" sz="1800" dirty="0"/>
                  <a:t>证明：</a:t>
                </a:r>
                <a:endParaRPr lang="en-US" altLang="zh-CN" sz="1800" dirty="0"/>
              </a:p>
              <a:p>
                <a:pPr marL="0" indent="0">
                  <a:lnSpc>
                    <a:spcPct val="120000"/>
                  </a:lnSpc>
                  <a:buNone/>
                </a:pPr>
                <a14:m>
                  <m:oMathPara xmlns:m="http://schemas.openxmlformats.org/officeDocument/2006/math">
                    <m:oMath>
                      <m:eqArr>
                        <m:eqArrPr>
                          <m:ctrlPr>
                            <a:rPr lang="zh-CN" altLang="en-US" sz="1800" i="1" smtClean="0">
                              <a:latin typeface="Cambria Math" panose="02040503050406030204" pitchFamily="18" charset="0"/>
                            </a:rPr>
                          </m:ctrlPr>
                        </m:eqArrPr>
                        <m:e>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0</m:t>
                                  </m:r>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𝑋</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𝐷</m:t>
                              </m:r>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𝑤</m:t>
                              </m:r>
                              <m:r>
                                <a:rPr lang="zh-CN" altLang="en-US" sz="1800" i="1" smtClean="0">
                                  <a:latin typeface="Cambria Math" panose="02040503050406030204" pitchFamily="18" charset="0"/>
                                </a:rPr>
                                <m:t>⋅</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r>
                                        <a:rPr lang="zh-CN" altLang="en-US" sz="1800" i="1" smtClean="0">
                                          <a:latin typeface="Cambria Math" panose="02040503050406030204" pitchFamily="18" charset="0"/>
                                        </a:rPr>
                                        <m:t>−1</m:t>
                                      </m:r>
                                    </m:sub>
                                  </m:sSub>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𝑋</m:t>
                              </m:r>
                            </m:e>
                          </m:d>
                          <m:r>
                            <a:rPr lang="zh-CN" altLang="en-US" sz="1800" i="1" smtClean="0">
                              <a:latin typeface="Cambria Math" panose="02040503050406030204" pitchFamily="18" charset="0"/>
                            </a:rPr>
                            <m:t>,</m:t>
                          </m:r>
                        </m:e>
                      </m:eqArr>
                    </m:oMath>
                  </m:oMathPara>
                </a14:m>
                <a:endParaRPr lang="en-US" altLang="zh-CN" sz="1800" dirty="0"/>
              </a:p>
              <a:p>
                <a:pPr marL="0" indent="0">
                  <a:lnSpc>
                    <a:spcPct val="120000"/>
                  </a:lnSpc>
                  <a:buNone/>
                </a:pPr>
                <a:r>
                  <a:rPr lang="zh-CN" altLang="en-US" sz="1800" dirty="0"/>
                  <a:t>其中</a:t>
                </a:r>
                <a:endParaRPr lang="en-US" altLang="zh-CN" sz="1800" dirty="0"/>
              </a:p>
              <a:p>
                <a:pPr marL="0" indent="0">
                  <a:lnSpc>
                    <a:spcPct val="120000"/>
                  </a:lnSpc>
                  <a:buNone/>
                </a:pPr>
                <a14:m>
                  <m:oMathPara xmlns:m="http://schemas.openxmlformats.org/officeDocument/2006/math">
                    <m:oMath>
                      <m:r>
                        <a:rPr lang="zh-CN" altLang="en-US" sz="1800" i="1" smtClean="0">
                          <a:latin typeface="Cambria Math" panose="02040503050406030204" pitchFamily="18" charset="0"/>
                        </a:rPr>
                        <m:t>𝑤</m:t>
                      </m:r>
                      <m:r>
                        <a:rPr lang="zh-CN" altLang="en-US" sz="1800" i="1" smtClean="0">
                          <a:latin typeface="Cambria Math" panose="02040503050406030204" pitchFamily="18" charset="0"/>
                        </a:rPr>
                        <m:t>=</m:t>
                      </m:r>
                      <m:f>
                        <m:fPr>
                          <m:ctrlPr>
                            <a:rPr lang="zh-CN" altLang="en-US" sz="1800" i="1" smtClean="0">
                              <a:latin typeface="Cambria Math" panose="02040503050406030204" pitchFamily="18" charset="0"/>
                            </a:rPr>
                          </m:ctrlPr>
                        </m:fPr>
                        <m:num>
                          <m:r>
                            <a:rPr lang="zh-CN" altLang="en-US" sz="1800" i="1" smtClean="0">
                              <a:latin typeface="Cambria Math" panose="02040503050406030204" pitchFamily="18" charset="0"/>
                            </a:rPr>
                            <m:t>𝐷</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num>
                        <m:den>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e>
                          </m:d>
                        </m:den>
                      </m:f>
                      <m:r>
                        <a:rPr lang="zh-CN" altLang="en-US" sz="1800" i="1" smtClean="0">
                          <a:latin typeface="Cambria Math" panose="02040503050406030204" pitchFamily="18" charset="0"/>
                        </a:rPr>
                        <m:t>, </m:t>
                      </m:r>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r>
                        <a:rPr lang="zh-CN" altLang="en-US" sz="1800" i="1" smtClean="0">
                          <a:latin typeface="Cambria Math" panose="02040503050406030204" pitchFamily="18" charset="0"/>
                        </a:rPr>
                        <m:t>=</m:t>
                      </m:r>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𝐷</m:t>
                                  </m:r>
                                </m:e>
                                <m:sub>
                                  <m:r>
                                    <a:rPr lang="zh-CN" altLang="en-US" sz="1800" i="1" smtClean="0">
                                      <a:latin typeface="Cambria Math" panose="02040503050406030204" pitchFamily="18" charset="0"/>
                                    </a:rPr>
                                    <m:t>𝑖</m:t>
                                  </m:r>
                                </m:sub>
                              </m:sSub>
                              <m:r>
                                <a:rPr lang="zh-CN" altLang="en-US" sz="1800" i="1" smtClean="0">
                                  <a:latin typeface="Cambria Math" panose="02040503050406030204" pitchFamily="18" charset="0"/>
                                </a:rPr>
                                <m:t>=1|</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e>
                      </m:func>
                      <m:r>
                        <a:rPr lang="zh-CN" altLang="en-US" sz="1800" i="1" smtClean="0">
                          <a:latin typeface="Cambria Math" panose="02040503050406030204" pitchFamily="18" charset="0"/>
                        </a:rPr>
                        <m:t>.</m:t>
                      </m:r>
                    </m:oMath>
                  </m:oMathPara>
                </a14:m>
                <a:endParaRPr lang="en-US" altLang="zh-CN" sz="1800" dirty="0"/>
              </a:p>
              <a:p>
                <a:pPr marL="0" indent="0">
                  <a:lnSpc>
                    <a:spcPct val="120000"/>
                  </a:lnSpc>
                  <a:buNone/>
                </a:pPr>
                <a:r>
                  <a:rPr lang="zh-CN" altLang="en-US" sz="1800" dirty="0"/>
                  <a:t>从而，</a:t>
                </a:r>
                <a:endParaRPr lang="en-US" altLang="zh-CN" sz="1800" dirty="0"/>
              </a:p>
              <a:p>
                <a:pPr marL="0" indent="0">
                  <a:lnSpc>
                    <a:spcPct val="120000"/>
                  </a:lnSpc>
                  <a:buNone/>
                </a:pPr>
                <a14:m>
                  <m:oMathPara xmlns:m="http://schemas.openxmlformats.org/officeDocument/2006/math">
                    <m:oMath>
                      <m:eqArr>
                        <m:eqArrPr>
                          <m:ctrlPr>
                            <a:rPr lang="zh-CN" altLang="en-US" sz="1800" i="1" smtClean="0">
                              <a:latin typeface="Cambria Math" panose="02040503050406030204" pitchFamily="18" charset="0"/>
                            </a:rPr>
                          </m:ctrlPr>
                        </m:eqArrPr>
                        <m:e>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1</m:t>
                                  </m:r>
                                </m:e>
                              </m:d>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d>
                                <m:dPr>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0</m:t>
                                  </m:r>
                                </m:e>
                              </m:d>
                              <m:r>
                                <a:rPr lang="zh-CN" altLang="en-US" sz="1800" i="1" smtClean="0">
                                  <a:latin typeface="Cambria Math" panose="02040503050406030204" pitchFamily="18" charset="0"/>
                                </a:rPr>
                                <m:t>|</m:t>
                              </m:r>
                              <m:r>
                                <a:rPr lang="zh-CN" altLang="en-US" sz="1800" i="1" smtClean="0">
                                  <a:latin typeface="Cambria Math" panose="02040503050406030204" pitchFamily="18" charset="0"/>
                                </a:rPr>
                                <m:t>𝐷</m:t>
                              </m:r>
                              <m:r>
                                <a:rPr lang="zh-CN" altLang="en-US" sz="1800" i="1" smtClean="0">
                                  <a:latin typeface="Cambria Math" panose="02040503050406030204" pitchFamily="18" charset="0"/>
                                </a:rPr>
                                <m:t>=1</m:t>
                              </m:r>
                            </m:e>
                          </m:d>
                          <m:r>
                            <m:rPr>
                              <m:aln/>
                            </m:rPr>
                            <a:rPr lang="zh-CN" altLang="en-US" sz="1800" i="1" smtClean="0">
                              <a:latin typeface="Cambria Math" panose="02040503050406030204" pitchFamily="18" charset="0"/>
                            </a:rPr>
                            <m:t>&amp;</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𝑤</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r>
                                        <a:rPr lang="zh-CN" altLang="en-US" sz="1800" i="1" smtClean="0">
                                          <a:latin typeface="Cambria Math" panose="02040503050406030204" pitchFamily="18" charset="0"/>
                                        </a:rPr>
                                        <m:t>−1</m:t>
                                      </m:r>
                                    </m:sub>
                                  </m:sSub>
                                </m:e>
                              </m:d>
                              <m:r>
                                <a:rPr lang="zh-CN" altLang="en-US" sz="1800" i="1" smtClean="0">
                                  <a:latin typeface="Cambria Math" panose="02040503050406030204" pitchFamily="18" charset="0"/>
                                </a:rPr>
                                <m:t>⋅</m:t>
                              </m:r>
                              <m:f>
                                <m:fPr>
                                  <m:ctrlPr>
                                    <a:rPr lang="zh-CN" altLang="en-US" sz="1800" i="1" smtClean="0">
                                      <a:latin typeface="Cambria Math" panose="02040503050406030204" pitchFamily="18" charset="0"/>
                                    </a:rPr>
                                  </m:ctrlPr>
                                </m:fPr>
                                <m:num>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num>
                                <m:den>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𝐷</m:t>
                                          </m:r>
                                          <m:r>
                                            <a:rPr lang="zh-CN" altLang="en-US" sz="1800" i="1" smtClean="0">
                                              <a:latin typeface="Cambria Math" panose="02040503050406030204" pitchFamily="18" charset="0"/>
                                            </a:rPr>
                                            <m:t>=1</m:t>
                                          </m:r>
                                        </m:e>
                                      </m:d>
                                    </m:e>
                                  </m:func>
                                </m:den>
                              </m:f>
                            </m:e>
                          </m:d>
                          <m:r>
                            <a:rPr lang="zh-CN" altLang="en-US" sz="1800" i="1" smtClean="0">
                              <a:latin typeface="Cambria Math" panose="02040503050406030204" pitchFamily="18" charset="0"/>
                            </a:rPr>
                            <m:t>,</m:t>
                          </m:r>
                        </m:e>
                        <m:e>
                          <m:r>
                            <m:rPr>
                              <m:aln/>
                            </m:rPr>
                            <a:rPr lang="zh-CN" altLang="en-US" sz="1800" i="1" smtClean="0">
                              <a:latin typeface="Cambria Math" panose="02040503050406030204" pitchFamily="18" charset="0"/>
                            </a:rPr>
                            <m:t>&amp;</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𝐸</m:t>
                          </m:r>
                          <m:d>
                            <m:dPr>
                              <m:begChr m:val="["/>
                              <m:endChr m:val="]"/>
                              <m:ctrlPr>
                                <a:rPr lang="zh-CN" altLang="en-US" sz="1800" i="1" smtClean="0">
                                  <a:latin typeface="Cambria Math" panose="02040503050406030204" pitchFamily="18" charset="0"/>
                                </a:rPr>
                              </m:ctrlPr>
                            </m:dPr>
                            <m:e>
                              <m:f>
                                <m:fPr>
                                  <m:ctrlPr>
                                    <a:rPr lang="zh-CN" altLang="en-US" sz="1800" i="1" smtClean="0">
                                      <a:latin typeface="Cambria Math" panose="02040503050406030204" pitchFamily="18" charset="0"/>
                                    </a:rPr>
                                  </m:ctrlPr>
                                </m:fPr>
                                <m:num>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sub>
                                  </m:sSub>
                                  <m:r>
                                    <a:rPr lang="zh-CN" altLang="en-US" sz="1800" i="1" smtClean="0">
                                      <a:latin typeface="Cambria Math" panose="02040503050406030204" pitchFamily="18" charset="0"/>
                                    </a:rPr>
                                    <m:t>−</m:t>
                                  </m:r>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𝑌</m:t>
                                      </m:r>
                                    </m:e>
                                    <m:sub>
                                      <m:r>
                                        <a:rPr lang="zh-CN" altLang="en-US" sz="1800" i="1" smtClean="0">
                                          <a:latin typeface="Cambria Math" panose="02040503050406030204" pitchFamily="18" charset="0"/>
                                        </a:rPr>
                                        <m:t>𝑖𝑡</m:t>
                                      </m:r>
                                      <m:r>
                                        <a:rPr lang="zh-CN" altLang="en-US" sz="1800" i="1" smtClean="0">
                                          <a:latin typeface="Cambria Math" panose="02040503050406030204" pitchFamily="18" charset="0"/>
                                        </a:rPr>
                                        <m:t>−1</m:t>
                                      </m:r>
                                    </m:sub>
                                  </m:sSub>
                                </m:num>
                                <m:den>
                                  <m:func>
                                    <m:funcPr>
                                      <m:ctrlPr>
                                        <a:rPr lang="zh-CN" altLang="en-US" sz="1800" i="1" smtClean="0">
                                          <a:latin typeface="Cambria Math" panose="02040503050406030204" pitchFamily="18" charset="0"/>
                                        </a:rPr>
                                      </m:ctrlPr>
                                    </m:funcPr>
                                    <m:fName>
                                      <m:r>
                                        <m:rPr>
                                          <m:sty m:val="p"/>
                                        </m:rPr>
                                        <a:rPr lang="zh-CN" altLang="en-US" sz="1800" i="1" smtClean="0">
                                          <a:latin typeface="Cambria Math" panose="02040503050406030204" pitchFamily="18" charset="0"/>
                                        </a:rPr>
                                        <m:t>Pr</m:t>
                                      </m:r>
                                    </m:fName>
                                    <m:e>
                                      <m:d>
                                        <m:dPr>
                                          <m:begChr m:val="["/>
                                          <m:endChr m:val="]"/>
                                          <m:ctrlPr>
                                            <a:rPr lang="zh-CN" altLang="en-US" sz="1800" i="1" smtClean="0">
                                              <a:latin typeface="Cambria Math" panose="02040503050406030204" pitchFamily="18" charset="0"/>
                                            </a:rPr>
                                          </m:ctrlPr>
                                        </m:dPr>
                                        <m:e>
                                          <m:r>
                                            <a:rPr lang="zh-CN" altLang="en-US" sz="1800" i="1" smtClean="0">
                                              <a:latin typeface="Cambria Math" panose="02040503050406030204" pitchFamily="18" charset="0"/>
                                            </a:rPr>
                                            <m:t>𝐷</m:t>
                                          </m:r>
                                          <m:r>
                                            <a:rPr lang="zh-CN" altLang="en-US" sz="1800" i="1" smtClean="0">
                                              <a:latin typeface="Cambria Math" panose="02040503050406030204" pitchFamily="18" charset="0"/>
                                            </a:rPr>
                                            <m:t>=1</m:t>
                                          </m:r>
                                        </m:e>
                                      </m:d>
                                    </m:e>
                                  </m:func>
                                </m:den>
                              </m:f>
                              <m:r>
                                <a:rPr lang="zh-CN" altLang="en-US" sz="1800" i="1" smtClean="0">
                                  <a:latin typeface="Cambria Math" panose="02040503050406030204" pitchFamily="18" charset="0"/>
                                </a:rPr>
                                <m:t>⋅</m:t>
                              </m:r>
                              <m:f>
                                <m:fPr>
                                  <m:ctrlPr>
                                    <a:rPr lang="zh-CN" altLang="en-US" sz="1800" i="1" smtClean="0">
                                      <a:latin typeface="Cambria Math" panose="02040503050406030204" pitchFamily="18" charset="0"/>
                                    </a:rPr>
                                  </m:ctrlPr>
                                </m:fPr>
                                <m:num>
                                  <m:r>
                                    <a:rPr lang="zh-CN" altLang="en-US" sz="1800" i="1" smtClean="0">
                                      <a:latin typeface="Cambria Math" panose="02040503050406030204" pitchFamily="18" charset="0"/>
                                    </a:rPr>
                                    <m:t>𝐷</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num>
                                <m:den>
                                  <m:r>
                                    <a:rPr lang="zh-CN" altLang="en-US" sz="1800" i="1" smtClean="0">
                                      <a:latin typeface="Cambria Math" panose="02040503050406030204" pitchFamily="18" charset="0"/>
                                    </a:rPr>
                                    <m:t>1−</m:t>
                                  </m:r>
                                  <m:r>
                                    <a:rPr lang="zh-CN" altLang="en-US" sz="1800" i="1" smtClean="0">
                                      <a:latin typeface="Cambria Math" panose="02040503050406030204" pitchFamily="18" charset="0"/>
                                    </a:rPr>
                                    <m:t>𝑒</m:t>
                                  </m:r>
                                  <m:d>
                                    <m:dPr>
                                      <m:ctrlPr>
                                        <a:rPr lang="zh-CN" altLang="en-US" sz="1800" i="1" smtClean="0">
                                          <a:latin typeface="Cambria Math" panose="02040503050406030204" pitchFamily="18" charset="0"/>
                                        </a:rPr>
                                      </m:ctrlPr>
                                    </m:dPr>
                                    <m:e>
                                      <m:sSub>
                                        <m:sSubPr>
                                          <m:ctrlPr>
                                            <a:rPr lang="zh-CN" altLang="en-US" sz="1800" i="1" smtClean="0">
                                              <a:latin typeface="Cambria Math" panose="02040503050406030204" pitchFamily="18" charset="0"/>
                                            </a:rPr>
                                          </m:ctrlPr>
                                        </m:sSubPr>
                                        <m:e>
                                          <m:r>
                                            <a:rPr lang="zh-CN" altLang="en-US" sz="1800" i="1" smtClean="0">
                                              <a:latin typeface="Cambria Math" panose="02040503050406030204" pitchFamily="18" charset="0"/>
                                            </a:rPr>
                                            <m:t>𝑋</m:t>
                                          </m:r>
                                        </m:e>
                                        <m:sub>
                                          <m:r>
                                            <a:rPr lang="zh-CN" altLang="en-US" sz="1800" i="1" smtClean="0">
                                              <a:latin typeface="Cambria Math" panose="02040503050406030204" pitchFamily="18" charset="0"/>
                                            </a:rPr>
                                            <m:t>𝑖</m:t>
                                          </m:r>
                                        </m:sub>
                                      </m:sSub>
                                    </m:e>
                                  </m:d>
                                </m:den>
                              </m:f>
                            </m:e>
                          </m:d>
                          <m:r>
                            <a:rPr lang="zh-CN" altLang="en-US" sz="1800" i="1" smtClean="0">
                              <a:latin typeface="Cambria Math" panose="02040503050406030204" pitchFamily="18" charset="0"/>
                            </a:rPr>
                            <m:t>.</m:t>
                          </m:r>
                        </m:e>
                      </m:eqArr>
                    </m:oMath>
                  </m:oMathPara>
                </a14:m>
                <a:endParaRPr lang="zh-CN" altLang="en-US" sz="1800" dirty="0"/>
              </a:p>
            </p:txBody>
          </p:sp>
        </mc:Choice>
        <mc:Fallback xmlns="">
          <p:sp>
            <p:nvSpPr>
              <p:cNvPr id="3" name="内容占位符 2">
                <a:extLst>
                  <a:ext uri="{FF2B5EF4-FFF2-40B4-BE49-F238E27FC236}">
                    <a16:creationId xmlns:a16="http://schemas.microsoft.com/office/drawing/2014/main" id="{DD1AE88B-1A91-509B-F52D-E763097F461F}"/>
                  </a:ext>
                </a:extLst>
              </p:cNvPr>
              <p:cNvSpPr>
                <a:spLocks noGrp="1" noRot="1" noChangeAspect="1" noMove="1" noResize="1" noEditPoints="1" noAdjustHandles="1" noChangeArrowheads="1" noChangeShapeType="1" noTextEdit="1"/>
              </p:cNvSpPr>
              <p:nvPr>
                <p:ph idx="1"/>
              </p:nvPr>
            </p:nvSpPr>
            <p:spPr>
              <a:xfrm>
                <a:off x="628650" y="1825624"/>
                <a:ext cx="7886700" cy="4154071"/>
              </a:xfrm>
              <a:blipFill>
                <a:blip r:embed="rId2"/>
                <a:stretch>
                  <a:fillRect l="-618" r="-35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1ACED32-76B8-EDF3-C737-69DEB39A72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C5B8072-1249-6ACE-D059-0151F7B162EA}"/>
              </a:ext>
            </a:extLst>
          </p:cNvPr>
          <p:cNvSpPr>
            <a:spLocks noGrp="1"/>
          </p:cNvSpPr>
          <p:nvPr>
            <p:ph type="sldNum" sz="quarter" idx="12"/>
          </p:nvPr>
        </p:nvSpPr>
        <p:spPr/>
        <p:txBody>
          <a:bodyPr/>
          <a:lstStyle/>
          <a:p>
            <a:fld id="{D41FC515-8169-4A29-AA56-DBE520D5741B}" type="slidenum">
              <a:rPr lang="zh-CN" altLang="en-US" smtClean="0"/>
              <a:t>31</a:t>
            </a:fld>
            <a:endParaRPr lang="zh-CN" altLang="en-US"/>
          </a:p>
        </p:txBody>
      </p:sp>
    </p:spTree>
    <p:extLst>
      <p:ext uri="{BB962C8B-B14F-4D97-AF65-F5344CB8AC3E}">
        <p14:creationId xmlns:p14="http://schemas.microsoft.com/office/powerpoint/2010/main" val="1469481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1DBB5-0CB9-FB54-4567-144FDBFA9486}"/>
              </a:ext>
            </a:extLst>
          </p:cNvPr>
          <p:cNvSpPr>
            <a:spLocks noGrp="1"/>
          </p:cNvSpPr>
          <p:nvPr>
            <p:ph type="title"/>
          </p:nvPr>
        </p:nvSpPr>
        <p:spPr/>
        <p:txBody>
          <a:bodyPr/>
          <a:lstStyle/>
          <a:p>
            <a:r>
              <a:rPr lang="zh-CN" altLang="en-US" dirty="0"/>
              <a:t>引入协变量</a:t>
            </a:r>
            <a:br>
              <a:rPr lang="zh-CN" altLang="en-US" dirty="0"/>
            </a:br>
            <a:r>
              <a:rPr lang="zh-CN" altLang="en-US" sz="2400" dirty="0"/>
              <a:t>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0ED0DB2-E02F-51A2-DF1D-463880E0C566}"/>
                  </a:ext>
                </a:extLst>
              </p:cNvPr>
              <p:cNvSpPr>
                <a:spLocks noGrp="1"/>
              </p:cNvSpPr>
              <p:nvPr>
                <p:ph idx="1"/>
              </p:nvPr>
            </p:nvSpPr>
            <p:spPr/>
            <p:txBody>
              <a:bodyPr>
                <a:normAutofit fontScale="85000" lnSpcReduction="10000"/>
              </a:bodyPr>
              <a:lstStyle/>
              <a:p>
                <a:pPr>
                  <a:lnSpc>
                    <a:spcPct val="110000"/>
                  </a:lnSpc>
                </a:pPr>
                <a:r>
                  <a:rPr lang="zh-CN" altLang="en-US" dirty="0"/>
                  <a:t>双重稳健估计量</a:t>
                </a:r>
                <a:r>
                  <a:rPr lang="en-US" altLang="zh-CN" dirty="0"/>
                  <a:t>(Double robust estimator)</a:t>
                </a:r>
                <a:r>
                  <a:rPr lang="zh-CN" altLang="en-US" dirty="0"/>
                  <a:t>：在假设</a:t>
                </a:r>
                <a:r>
                  <a:rPr lang="en-US" altLang="zh-CN" dirty="0"/>
                  <a:t>1-5 </a:t>
                </a:r>
                <a:r>
                  <a:rPr lang="zh-CN" altLang="en-US" dirty="0"/>
                  <a:t>下，</a:t>
                </a:r>
                <a:r>
                  <a:rPr lang="en-US" altLang="zh-CN" dirty="0"/>
                  <a:t>Sant’Anna and Zhao (2020) </a:t>
                </a:r>
                <a:r>
                  <a:rPr lang="zh-CN" altLang="en-US" dirty="0"/>
                  <a:t>证明：</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𝐷𝑅</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0</m:t>
                                      </m:r>
                                    </m:sub>
                                  </m:sSub>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d>
                          <m:r>
                            <a:rPr lang="zh-CN" altLang="en-US" i="1" smtClean="0">
                              <a:latin typeface="Cambria Math" panose="02040503050406030204" pitchFamily="18" charset="0"/>
                            </a:rPr>
                            <m:t>.</m:t>
                          </m:r>
                        </m:e>
                      </m:eqArr>
                    </m:oMath>
                  </m:oMathPara>
                </a14:m>
                <a:endParaRPr lang="en-US" altLang="zh-CN" dirty="0"/>
              </a:p>
              <a:p>
                <a:pPr marL="0" indent="0">
                  <a:lnSpc>
                    <a:spcPct val="110000"/>
                  </a:lnSpc>
                  <a:buNone/>
                </a:pPr>
                <a:r>
                  <a:rPr lang="zh-CN" altLang="en-US" dirty="0"/>
                  <a:t>其中，</a:t>
                </a:r>
                <a:endParaRPr lang="en-US" altLang="zh-CN" dirty="0"/>
              </a:p>
              <a:p>
                <a:pPr marL="0" indent="0">
                  <a:lnSpc>
                    <a:spcPct val="11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den>
                      </m:f>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num>
                        <m:den>
                          <m:r>
                            <a:rPr lang="zh-CN" altLang="en-US" i="1" smtClean="0">
                              <a:latin typeface="Cambria Math" panose="02040503050406030204" pitchFamily="18" charset="0"/>
                            </a:rPr>
                            <m:t>1−</m:t>
                          </m:r>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num>
                                <m:den>
                                  <m:r>
                                    <a:rPr lang="zh-CN" altLang="en-US" i="1" smtClean="0">
                                      <a:latin typeface="Cambria Math" panose="02040503050406030204" pitchFamily="18" charset="0"/>
                                    </a:rPr>
                                    <m:t>1−</m:t>
                                  </m:r>
                                  <m:r>
                                    <a:rPr lang="zh-CN" altLang="en-US" i="1" smtClean="0">
                                      <a:latin typeface="Cambria Math" panose="02040503050406030204" pitchFamily="18" charset="0"/>
                                    </a:rPr>
                                    <m:t>𝑒</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den>
                              </m:f>
                            </m:e>
                          </m:d>
                        </m:e>
                      </m:d>
                      <m:r>
                        <a:rPr lang="zh-CN" altLang="en-US" i="1" smtClean="0">
                          <a:latin typeface="Cambria Math" panose="02040503050406030204" pitchFamily="18" charset="0"/>
                        </a:rPr>
                        <m:t>.</m:t>
                      </m:r>
                    </m:oMath>
                  </m:oMathPara>
                </a14:m>
                <a:endParaRPr lang="en-US" altLang="zh-CN" dirty="0"/>
              </a:p>
              <a:p>
                <a:pPr>
                  <a:lnSpc>
                    <a:spcPct val="110000"/>
                  </a:lnSpc>
                </a:pPr>
                <a:r>
                  <a:rPr lang="zh-CN" altLang="en-US" dirty="0"/>
                  <a:t>双重稳健估计量也是更有效的。</a:t>
                </a:r>
                <a:endParaRPr lang="en-US" altLang="zh-CN" dirty="0"/>
              </a:p>
              <a:p>
                <a:pPr>
                  <a:lnSpc>
                    <a:spcPct val="110000"/>
                  </a:lnSpc>
                </a:pPr>
                <a:r>
                  <a:rPr lang="en-US" altLang="zh-CN" dirty="0"/>
                  <a:t>Stata/R: </a:t>
                </a:r>
                <a:r>
                  <a:rPr lang="en-US" altLang="zh-CN" dirty="0" err="1"/>
                  <a:t>drdid</a:t>
                </a:r>
                <a:endParaRPr lang="zh-CN" altLang="en-US" dirty="0"/>
              </a:p>
            </p:txBody>
          </p:sp>
        </mc:Choice>
        <mc:Fallback>
          <p:sp>
            <p:nvSpPr>
              <p:cNvPr id="3" name="内容占位符 2">
                <a:extLst>
                  <a:ext uri="{FF2B5EF4-FFF2-40B4-BE49-F238E27FC236}">
                    <a16:creationId xmlns:a16="http://schemas.microsoft.com/office/drawing/2014/main" id="{C0ED0DB2-E02F-51A2-DF1D-463880E0C566}"/>
                  </a:ext>
                </a:extLst>
              </p:cNvPr>
              <p:cNvSpPr>
                <a:spLocks noGrp="1" noRot="1" noChangeAspect="1" noMove="1" noResize="1" noEditPoints="1" noAdjustHandles="1" noChangeArrowheads="1" noChangeShapeType="1" noTextEdit="1"/>
              </p:cNvSpPr>
              <p:nvPr>
                <p:ph idx="1"/>
              </p:nvPr>
            </p:nvSpPr>
            <p:spPr>
              <a:blipFill>
                <a:blip r:embed="rId2"/>
                <a:stretch>
                  <a:fillRect l="-1159" t="-1120" r="-27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643C333-F7E4-5BB9-0E6E-53596C800B5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300E6F8-B4FF-A9D3-EDCB-0F951B47DA83}"/>
              </a:ext>
            </a:extLst>
          </p:cNvPr>
          <p:cNvSpPr>
            <a:spLocks noGrp="1"/>
          </p:cNvSpPr>
          <p:nvPr>
            <p:ph type="sldNum" sz="quarter" idx="12"/>
          </p:nvPr>
        </p:nvSpPr>
        <p:spPr/>
        <p:txBody>
          <a:bodyPr/>
          <a:lstStyle/>
          <a:p>
            <a:fld id="{D41FC515-8169-4A29-AA56-DBE520D5741B}" type="slidenum">
              <a:rPr lang="zh-CN" altLang="en-US" smtClean="0"/>
              <a:t>32</a:t>
            </a:fld>
            <a:endParaRPr lang="zh-CN" altLang="en-US"/>
          </a:p>
        </p:txBody>
      </p:sp>
    </p:spTree>
    <p:extLst>
      <p:ext uri="{BB962C8B-B14F-4D97-AF65-F5344CB8AC3E}">
        <p14:creationId xmlns:p14="http://schemas.microsoft.com/office/powerpoint/2010/main" val="859817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02B3BA-EB30-E3A2-06E6-4030A2B20269}"/>
              </a:ext>
            </a:extLst>
          </p:cNvPr>
          <p:cNvSpPr>
            <a:spLocks noGrp="1"/>
          </p:cNvSpPr>
          <p:nvPr>
            <p:ph type="title"/>
          </p:nvPr>
        </p:nvSpPr>
        <p:spPr/>
        <p:txBody>
          <a:bodyPr/>
          <a:lstStyle/>
          <a:p>
            <a:r>
              <a:rPr lang="zh-CN" altLang="en-US" dirty="0"/>
              <a:t>引入协变量</a:t>
            </a:r>
            <a:br>
              <a:rPr lang="zh-CN" altLang="en-US" dirty="0"/>
            </a:br>
            <a:r>
              <a:rPr lang="zh-CN" altLang="en-US" sz="2400" dirty="0"/>
              <a:t>随时间变化的协变量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AD429E8-CC38-0E7F-A706-BA241A95D1CB}"/>
                  </a:ext>
                </a:extLst>
              </p:cNvPr>
              <p:cNvSpPr>
                <a:spLocks noGrp="1"/>
              </p:cNvSpPr>
              <p:nvPr>
                <p:ph idx="1"/>
              </p:nvPr>
            </p:nvSpPr>
            <p:spPr/>
            <p:txBody>
              <a:bodyPr>
                <a:noAutofit/>
              </a:bodyPr>
              <a:lstStyle/>
              <a:p>
                <a:pPr>
                  <a:lnSpc>
                    <a:spcPct val="120000"/>
                  </a:lnSpc>
                </a:pPr>
                <a:r>
                  <a:rPr lang="zh-CN" altLang="en-US" sz="1600" dirty="0"/>
                  <a:t>在应用研究中，人们往往在回归模型</a:t>
                </a:r>
                <a:r>
                  <a:rPr lang="en-US" altLang="zh-CN" sz="1600" dirty="0"/>
                  <a:t>(7) </a:t>
                </a:r>
                <a:r>
                  <a:rPr lang="zh-CN" altLang="en-US" sz="1600" dirty="0"/>
                  <a:t>的基础上直接引入时变协变量，即</a:t>
                </a:r>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𝜆</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𝜏</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𝑖𝑡</m:t>
                              </m:r>
                            </m:sub>
                            <m:sup>
                              <m:r>
                                <a:rPr lang="zh-CN" altLang="en-US" sz="1600" i="1" smtClean="0">
                                  <a:latin typeface="Cambria Math" panose="02040503050406030204" pitchFamily="18" charset="0"/>
                                </a:rPr>
                                <m:t>′</m:t>
                              </m:r>
                            </m:sup>
                          </m:sSubSup>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en-US" altLang="zh-CN" sz="1600" b="0" i="1" smtClean="0">
                              <a:latin typeface="Cambria Math" panose="02040503050406030204" pitchFamily="18" charset="0"/>
                            </a:rPr>
                            <m:t>     (24)</m:t>
                          </m:r>
                        </m:e>
                      </m:eqArr>
                    </m:oMath>
                  </m:oMathPara>
                </a14:m>
                <a:endParaRPr lang="en-US" altLang="zh-CN" sz="1600" dirty="0"/>
              </a:p>
              <a:p>
                <a:pPr marL="0" indent="0">
                  <a:lnSpc>
                    <a:spcPct val="120000"/>
                  </a:lnSpc>
                  <a:buNone/>
                </a:pPr>
                <a:r>
                  <a:rPr lang="zh-CN" altLang="en-US" sz="1600" dirty="0"/>
                  <a:t>其中，</a:t>
                </a:r>
                <a14:m>
                  <m:oMath xmlns:m="http://schemas.openxmlformats.org/officeDocument/2006/math">
                    <m:r>
                      <a:rPr lang="en-US" altLang="zh-CN" sz="1600" i="1">
                        <a:latin typeface="Cambria Math" panose="02040503050406030204" pitchFamily="18" charset="0"/>
                      </a:rPr>
                      <m:t>𝐸</m:t>
                    </m:r>
                    <m:r>
                      <a:rPr lang="en-US" altLang="zh-CN" sz="1600" i="1">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𝜀</m:t>
                        </m:r>
                      </m:e>
                      <m:sub>
                        <m:r>
                          <a:rPr lang="en-US" altLang="zh-CN" sz="1600" i="1">
                            <a:latin typeface="Cambria Math" panose="02040503050406030204" pitchFamily="18" charset="0"/>
                          </a:rPr>
                          <m:t>𝑖𝑡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𝑋</m:t>
                        </m:r>
                      </m:e>
                      <m:sub>
                        <m:r>
                          <a:rPr lang="en-US" altLang="zh-CN" sz="1600" i="1">
                            <a:latin typeface="Cambria Math" panose="02040503050406030204" pitchFamily="18" charset="0"/>
                          </a:rPr>
                          <m:t>𝑖𝑡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𝐷</m:t>
                        </m:r>
                      </m:e>
                      <m:sub>
                        <m:r>
                          <a:rPr lang="en-US" altLang="zh-CN" sz="1600" i="1">
                            <a:latin typeface="Cambria Math" panose="02040503050406030204" pitchFamily="18" charset="0"/>
                          </a:rPr>
                          <m:t>𝑖𝑡</m:t>
                        </m:r>
                      </m:sub>
                    </m:sSub>
                    <m:r>
                      <a:rPr lang="en-US" altLang="zh-CN" sz="1600" i="1">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𝜇</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]=0</m:t>
                    </m:r>
                  </m:oMath>
                </a14:m>
                <a:r>
                  <a:rPr lang="zh-CN" altLang="en-US" sz="1600" dirty="0"/>
                  <a:t>。</a:t>
                </a: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r>
                  <a:rPr lang="zh-CN" altLang="en-US" sz="1600" dirty="0"/>
                  <a:t>强外生性要求很强，只有当期影响，不允许滞后干预对协变量和结果的影响，也不允许滞后结果和协变量对干预的影响。详细讨论参考</a:t>
                </a:r>
                <a:r>
                  <a:rPr lang="en-US" altLang="zh-CN" sz="1600" dirty="0"/>
                  <a:t>Imai and Kim (2019)</a:t>
                </a:r>
                <a:r>
                  <a:rPr lang="zh-CN" altLang="en-US" sz="1600" dirty="0"/>
                  <a:t>、</a:t>
                </a:r>
                <a:r>
                  <a:rPr lang="en-US" altLang="zh-CN" sz="1600" dirty="0"/>
                  <a:t>Xu (2022)</a:t>
                </a:r>
                <a:r>
                  <a:rPr lang="zh-CN" altLang="en-US" sz="1600" dirty="0"/>
                  <a:t>、</a:t>
                </a:r>
                <a:r>
                  <a:rPr lang="da-DK" altLang="zh-CN" sz="1600" dirty="0"/>
                  <a:t>Caetano et al. (2022)</a:t>
                </a:r>
                <a:r>
                  <a:rPr lang="zh-CN" altLang="da-DK" sz="1600" dirty="0"/>
                  <a:t>、</a:t>
                </a:r>
                <a:r>
                  <a:rPr lang="da-DK" altLang="zh-CN" sz="1600" dirty="0"/>
                  <a:t>Shahn et al. (2022)</a:t>
                </a:r>
                <a:r>
                  <a:rPr lang="zh-CN" altLang="da-DK" sz="1600" dirty="0"/>
                  <a:t>。</a:t>
                </a:r>
                <a:endParaRPr lang="zh-CN" altLang="en-US" sz="1600" dirty="0"/>
              </a:p>
            </p:txBody>
          </p:sp>
        </mc:Choice>
        <mc:Fallback xmlns="">
          <p:sp>
            <p:nvSpPr>
              <p:cNvPr id="3" name="内容占位符 2">
                <a:extLst>
                  <a:ext uri="{FF2B5EF4-FFF2-40B4-BE49-F238E27FC236}">
                    <a16:creationId xmlns:a16="http://schemas.microsoft.com/office/drawing/2014/main" id="{FAD429E8-CC38-0E7F-A706-BA241A95D1CB}"/>
                  </a:ext>
                </a:extLst>
              </p:cNvPr>
              <p:cNvSpPr>
                <a:spLocks noGrp="1" noRot="1" noChangeAspect="1" noMove="1" noResize="1" noEditPoints="1" noAdjustHandles="1" noChangeArrowheads="1" noChangeShapeType="1" noTextEdit="1"/>
              </p:cNvSpPr>
              <p:nvPr>
                <p:ph idx="1"/>
              </p:nvPr>
            </p:nvSpPr>
            <p:spPr>
              <a:blipFill>
                <a:blip r:embed="rId2"/>
                <a:stretch>
                  <a:fillRect l="-386" r="-27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5BE08E0-E36E-2935-C583-13D5560AA19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38F1D8C-242D-20DC-E5AC-D2AA1ACD1F5E}"/>
              </a:ext>
            </a:extLst>
          </p:cNvPr>
          <p:cNvSpPr>
            <a:spLocks noGrp="1"/>
          </p:cNvSpPr>
          <p:nvPr>
            <p:ph type="sldNum" sz="quarter" idx="12"/>
          </p:nvPr>
        </p:nvSpPr>
        <p:spPr/>
        <p:txBody>
          <a:bodyPr/>
          <a:lstStyle/>
          <a:p>
            <a:fld id="{D41FC515-8169-4A29-AA56-DBE520D5741B}" type="slidenum">
              <a:rPr lang="zh-CN" altLang="en-US" smtClean="0"/>
              <a:t>33</a:t>
            </a:fld>
            <a:endParaRPr lang="zh-CN" altLang="en-US"/>
          </a:p>
        </p:txBody>
      </p:sp>
      <p:pic>
        <p:nvPicPr>
          <p:cNvPr id="7" name="图片 6">
            <a:extLst>
              <a:ext uri="{FF2B5EF4-FFF2-40B4-BE49-F238E27FC236}">
                <a16:creationId xmlns:a16="http://schemas.microsoft.com/office/drawing/2014/main" id="{58881D02-0A74-FC46-E560-5A856E191436}"/>
              </a:ext>
            </a:extLst>
          </p:cNvPr>
          <p:cNvPicPr>
            <a:picLocks noChangeAspect="1"/>
          </p:cNvPicPr>
          <p:nvPr/>
        </p:nvPicPr>
        <p:blipFill>
          <a:blip r:embed="rId3"/>
          <a:stretch>
            <a:fillRect/>
          </a:stretch>
        </p:blipFill>
        <p:spPr>
          <a:xfrm>
            <a:off x="4587039" y="2771824"/>
            <a:ext cx="2422694" cy="2329889"/>
          </a:xfrm>
          <a:prstGeom prst="rect">
            <a:avLst/>
          </a:prstGeom>
        </p:spPr>
      </p:pic>
    </p:spTree>
    <p:extLst>
      <p:ext uri="{BB962C8B-B14F-4D97-AF65-F5344CB8AC3E}">
        <p14:creationId xmlns:p14="http://schemas.microsoft.com/office/powerpoint/2010/main" val="381881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51CC3-546D-FBFD-F5EF-F90C3576B653}"/>
              </a:ext>
            </a:extLst>
          </p:cNvPr>
          <p:cNvSpPr>
            <a:spLocks noGrp="1"/>
          </p:cNvSpPr>
          <p:nvPr>
            <p:ph type="title"/>
          </p:nvPr>
        </p:nvSpPr>
        <p:spPr/>
        <p:txBody>
          <a:bodyPr/>
          <a:lstStyle/>
          <a:p>
            <a:r>
              <a:rPr lang="zh-CN" altLang="en-US" dirty="0"/>
              <a:t>引入协变量</a:t>
            </a:r>
            <a:br>
              <a:rPr lang="zh-CN" altLang="en-US" dirty="0"/>
            </a:br>
            <a:r>
              <a:rPr lang="zh-CN" altLang="en-US" sz="2400" dirty="0"/>
              <a:t>随时间变化的协变量</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B5CAA12-3C2C-6AE2-EA50-E5058EBCC375}"/>
                  </a:ext>
                </a:extLst>
              </p:cNvPr>
              <p:cNvSpPr>
                <a:spLocks noGrp="1"/>
              </p:cNvSpPr>
              <p:nvPr>
                <p:ph idx="1"/>
              </p:nvPr>
            </p:nvSpPr>
            <p:spPr>
              <a:xfrm>
                <a:off x="628650" y="1825624"/>
                <a:ext cx="7886700" cy="4667249"/>
              </a:xfrm>
            </p:spPr>
            <p:txBody>
              <a:bodyPr>
                <a:normAutofit fontScale="70000" lnSpcReduction="20000"/>
              </a:bodyPr>
              <a:lstStyle/>
              <a:p>
                <a:pPr>
                  <a:lnSpc>
                    <a:spcPct val="120000"/>
                  </a:lnSpc>
                </a:pPr>
                <a:r>
                  <a:rPr lang="zh-CN" altLang="en-US" dirty="0"/>
                  <a:t>模型</a:t>
                </a:r>
                <a:r>
                  <a:rPr lang="en-US" altLang="zh-CN" dirty="0"/>
                  <a:t>(24) </a:t>
                </a:r>
                <a:r>
                  <a:rPr lang="zh-CN" altLang="en-US" dirty="0"/>
                  <a:t>相当于假设：</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marL="0" indent="0">
                  <a:lnSpc>
                    <a:spcPct val="120000"/>
                  </a:lnSpc>
                  <a:buNone/>
                </a:pPr>
                <a:r>
                  <a:rPr lang="zh-CN" altLang="en-US" dirty="0"/>
                  <a:t>所以，</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𝛾</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oMath>
                  </m:oMathPara>
                </a14:m>
                <a:endParaRPr lang="en-US" altLang="zh-CN" dirty="0"/>
              </a:p>
              <a:p>
                <a:pPr>
                  <a:lnSpc>
                    <a:spcPct val="120000"/>
                  </a:lnSpc>
                </a:pPr>
                <a:r>
                  <a:rPr lang="zh-CN" altLang="en-US" dirty="0"/>
                  <a:t>引入平行趋势假设</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e>
                      </m:eqArr>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fr-FR" altLang="zh-CN" i="1" smtClean="0">
                            <a:latin typeface="Cambria Math" panose="02040503050406030204" pitchFamily="18" charset="0"/>
                          </a:rPr>
                        </m:ctrlPr>
                      </m:sSubPr>
                      <m:e>
                        <m:r>
                          <a:rPr lang="fr-FR" altLang="zh-CN" i="1" smtClean="0">
                            <a:latin typeface="Cambria Math" panose="02040503050406030204" pitchFamily="18" charset="0"/>
                          </a:rPr>
                          <m:t>𝜃</m:t>
                        </m:r>
                      </m:e>
                      <m:sub>
                        <m:r>
                          <a:rPr lang="fr-FR" altLang="zh-CN" i="1">
                            <a:latin typeface="Cambria Math" panose="02040503050406030204" pitchFamily="18" charset="0"/>
                          </a:rPr>
                          <m:t>𝑡</m:t>
                        </m:r>
                      </m:sub>
                    </m:sSub>
                    <m:r>
                      <a:rPr lang="fr-FR" altLang="zh-CN" i="1">
                        <a:latin typeface="Cambria Math" panose="02040503050406030204" pitchFamily="18" charset="0"/>
                      </a:rPr>
                      <m:t>=</m:t>
                    </m:r>
                    <m:sSub>
                      <m:sSubPr>
                        <m:ctrlPr>
                          <a:rPr lang="fr-FR" altLang="zh-CN" i="1" smtClean="0">
                            <a:latin typeface="Cambria Math" panose="02040503050406030204" pitchFamily="18" charset="0"/>
                          </a:rPr>
                        </m:ctrlPr>
                      </m:sSubPr>
                      <m:e>
                        <m:r>
                          <a:rPr lang="fr-FR" altLang="zh-CN" i="1" smtClean="0">
                            <a:latin typeface="Cambria Math" panose="02040503050406030204" pitchFamily="18" charset="0"/>
                          </a:rPr>
                          <m:t>𝜆</m:t>
                        </m:r>
                      </m:e>
                      <m:sub>
                        <m:r>
                          <a:rPr lang="fr-FR" altLang="zh-CN" i="1">
                            <a:latin typeface="Cambria Math" panose="02040503050406030204" pitchFamily="18" charset="0"/>
                          </a:rPr>
                          <m:t>𝑡</m:t>
                        </m:r>
                      </m:sub>
                    </m:sSub>
                    <m:r>
                      <a:rPr lang="fr-FR" altLang="zh-CN" i="1">
                        <a:latin typeface="Cambria Math" panose="02040503050406030204" pitchFamily="18" charset="0"/>
                      </a:rPr>
                      <m:t>−</m:t>
                    </m:r>
                    <m:sSub>
                      <m:sSubPr>
                        <m:ctrlPr>
                          <a:rPr lang="fr-FR" altLang="zh-CN" i="1" smtClean="0">
                            <a:latin typeface="Cambria Math" panose="02040503050406030204" pitchFamily="18" charset="0"/>
                          </a:rPr>
                        </m:ctrlPr>
                      </m:sSubPr>
                      <m:e>
                        <m:r>
                          <a:rPr lang="fr-FR" altLang="zh-CN" i="1" smtClean="0">
                            <a:latin typeface="Cambria Math" panose="02040503050406030204" pitchFamily="18" charset="0"/>
                          </a:rPr>
                          <m:t>𝜆</m:t>
                        </m:r>
                      </m:e>
                      <m:sub>
                        <m:r>
                          <a:rPr lang="fr-FR" altLang="zh-CN" i="1">
                            <a:latin typeface="Cambria Math" panose="02040503050406030204" pitchFamily="18" charset="0"/>
                          </a:rPr>
                          <m:t>𝑡</m:t>
                        </m:r>
                        <m:r>
                          <a:rPr lang="fr-FR" altLang="zh-CN" i="1">
                            <a:latin typeface="Cambria Math" panose="02040503050406030204" pitchFamily="18" charset="0"/>
                          </a:rPr>
                          <m:t>−1</m:t>
                        </m:r>
                      </m:sub>
                    </m:sSub>
                  </m:oMath>
                </a14:m>
                <a:r>
                  <a:rPr lang="zh-CN" altLang="en-US" dirty="0"/>
                  <a:t>。</a:t>
                </a:r>
                <a:endParaRPr lang="en-US" altLang="zh-CN" dirty="0"/>
              </a:p>
              <a:p>
                <a:pPr>
                  <a:lnSpc>
                    <a:spcPct val="120000"/>
                  </a:lnSpc>
                </a:pPr>
                <a:r>
                  <a:rPr lang="zh-CN" altLang="en-US" dirty="0"/>
                  <a:t>可以证明，在上述平行趋势假设下，</a:t>
                </a:r>
                <a:r>
                  <a:rPr lang="en-US" altLang="zh-CN" dirty="0"/>
                  <a:t>ATT </a:t>
                </a:r>
                <a:r>
                  <a:rPr lang="zh-CN" altLang="en-US" dirty="0"/>
                  <a:t>可以因果识别。模型</a:t>
                </a:r>
                <a:r>
                  <a:rPr lang="en-US" altLang="zh-CN" dirty="0"/>
                  <a:t>(24) </a:t>
                </a:r>
                <a:r>
                  <a:rPr lang="zh-CN" altLang="en-US" dirty="0"/>
                  <a:t>的设定来自于假设结构方程为线性模型，来自于经典面板数据方法。应用中，人们往往直接采用</a:t>
                </a:r>
                <a:r>
                  <a:rPr lang="en-US" altLang="zh-CN" dirty="0"/>
                  <a:t>(24)</a:t>
                </a:r>
                <a:r>
                  <a:rPr lang="zh-CN" altLang="en-US" dirty="0"/>
                  <a:t>。另一种可能的平行趋势假设，是以历史上的协变量为条件后满足平行趋势。</a:t>
                </a:r>
              </a:p>
            </p:txBody>
          </p:sp>
        </mc:Choice>
        <mc:Fallback>
          <p:sp>
            <p:nvSpPr>
              <p:cNvPr id="3" name="内容占位符 2">
                <a:extLst>
                  <a:ext uri="{FF2B5EF4-FFF2-40B4-BE49-F238E27FC236}">
                    <a16:creationId xmlns:a16="http://schemas.microsoft.com/office/drawing/2014/main" id="{0B5CAA12-3C2C-6AE2-EA50-E5058EBCC375}"/>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773" t="-653" r="-27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78F7028-EE83-5B41-89C5-047AA68AC8D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69FB566-C350-0BBE-8AF4-6D5B7B17845A}"/>
              </a:ext>
            </a:extLst>
          </p:cNvPr>
          <p:cNvSpPr>
            <a:spLocks noGrp="1"/>
          </p:cNvSpPr>
          <p:nvPr>
            <p:ph type="sldNum" sz="quarter" idx="12"/>
          </p:nvPr>
        </p:nvSpPr>
        <p:spPr/>
        <p:txBody>
          <a:bodyPr/>
          <a:lstStyle/>
          <a:p>
            <a:fld id="{D41FC515-8169-4A29-AA56-DBE520D5741B}" type="slidenum">
              <a:rPr lang="zh-CN" altLang="en-US" smtClean="0"/>
              <a:t>34</a:t>
            </a:fld>
            <a:endParaRPr lang="zh-CN" altLang="en-US"/>
          </a:p>
        </p:txBody>
      </p:sp>
    </p:spTree>
    <p:extLst>
      <p:ext uri="{BB962C8B-B14F-4D97-AF65-F5344CB8AC3E}">
        <p14:creationId xmlns:p14="http://schemas.microsoft.com/office/powerpoint/2010/main" val="1433003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B039C7-EAAB-6865-C2A3-6C9E054242C9}"/>
              </a:ext>
            </a:extLst>
          </p:cNvPr>
          <p:cNvSpPr>
            <a:spLocks noGrp="1"/>
          </p:cNvSpPr>
          <p:nvPr>
            <p:ph type="title"/>
          </p:nvPr>
        </p:nvSpPr>
        <p:spPr/>
        <p:txBody>
          <a:bodyPr/>
          <a:lstStyle/>
          <a:p>
            <a:r>
              <a:rPr lang="zh-CN" altLang="en-US" dirty="0"/>
              <a:t>引入协变量</a:t>
            </a:r>
            <a:br>
              <a:rPr lang="zh-CN" altLang="en-US" dirty="0"/>
            </a:br>
            <a:r>
              <a:rPr lang="zh-CN" altLang="en-US" sz="2400" dirty="0"/>
              <a:t>随时间变化的协变量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BDB8B5E-0204-5798-3465-1C14B70CB30B}"/>
                  </a:ext>
                </a:extLst>
              </p:cNvPr>
              <p:cNvSpPr>
                <a:spLocks noGrp="1"/>
              </p:cNvSpPr>
              <p:nvPr>
                <p:ph idx="1"/>
              </p:nvPr>
            </p:nvSpPr>
            <p:spPr/>
            <p:txBody>
              <a:bodyPr>
                <a:normAutofit/>
              </a:bodyPr>
              <a:lstStyle/>
              <a:p>
                <a:pPr>
                  <a:lnSpc>
                    <a:spcPct val="120000"/>
                  </a:lnSpc>
                </a:pPr>
                <a:r>
                  <a:rPr lang="zh-CN" altLang="en-US" sz="1600" dirty="0"/>
                  <a:t>记</a:t>
                </a:r>
                <a14:m>
                  <m:oMath xmlns:m="http://schemas.openxmlformats.org/officeDocument/2006/math">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𝑿</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𝑋</m:t>
                            </m:r>
                          </m:e>
                          <m:sub>
                            <m:r>
                              <a:rPr lang="en-US" altLang="zh-CN" sz="1600" i="1">
                                <a:latin typeface="Cambria Math" panose="02040503050406030204" pitchFamily="18" charset="0"/>
                              </a:rPr>
                              <m:t>𝑖𝑡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𝑋</m:t>
                            </m:r>
                          </m:e>
                          <m:sub>
                            <m:r>
                              <a:rPr lang="en-US" altLang="zh-CN" sz="1600" i="1">
                                <a:latin typeface="Cambria Math" panose="02040503050406030204" pitchFamily="18" charset="0"/>
                              </a:rPr>
                              <m:t>𝑖𝑡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i="1">
                                <a:latin typeface="Cambria Math" panose="02040503050406030204" pitchFamily="18" charset="0"/>
                              </a:rPr>
                              <m:t>𝑖</m:t>
                            </m:r>
                          </m:sub>
                        </m:sSub>
                      </m:e>
                    </m:d>
                    <m:r>
                      <a:rPr lang="en-US" altLang="zh-CN" sz="1600" i="1" smtClean="0">
                        <a:latin typeface="Cambria Math" panose="02040503050406030204" pitchFamily="18" charset="0"/>
                      </a:rPr>
                      <m:t>’</m:t>
                    </m:r>
                    <m:r>
                      <a:rPr lang="zh-CN" altLang="en-US" sz="1600" i="1">
                        <a:latin typeface="Cambria Math" panose="02040503050406030204" pitchFamily="18" charset="0"/>
                      </a:rPr>
                      <m:t>，</m:t>
                    </m:r>
                  </m:oMath>
                </a14:m>
                <a:r>
                  <a:rPr lang="en-US" altLang="zh-CN" sz="1600" dirty="0"/>
                  <a:t> )′</a:t>
                </a:r>
                <a:r>
                  <a:rPr lang="zh-CN" altLang="en-US" sz="1600" dirty="0"/>
                  <a:t>，条件平行趋势假设和共同区间假设重新设定为：</a:t>
                </a:r>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𝐗</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𝐷</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=1</m:t>
                              </m:r>
                            </m:e>
                          </m:d>
                          <m:r>
                            <a:rPr lang="zh-CN" altLang="en-US" sz="1600" b="0" i="1" smtClean="0">
                              <a:latin typeface="Cambria Math" panose="02040503050406030204" pitchFamily="18" charset="0"/>
                            </a:rPr>
                            <m:t>=</m:t>
                          </m:r>
                          <m:r>
                            <a:rPr lang="zh-CN" altLang="en-US" sz="1600" b="0" i="1" smtClean="0">
                              <a:latin typeface="Cambria Math" panose="02040503050406030204" pitchFamily="18" charset="0"/>
                            </a:rPr>
                            <m:t>𝐸</m:t>
                          </m:r>
                          <m:d>
                            <m:dPr>
                              <m:begChr m:val="["/>
                              <m:endChr m:val="]"/>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𝑖𝑡</m:t>
                                  </m:r>
                                </m:sub>
                              </m:sSub>
                              <m:d>
                                <m:dPr>
                                  <m:ctrlPr>
                                    <a:rPr lang="zh-CN" altLang="en-US" sz="1600" b="0" i="1" smtClean="0">
                                      <a:latin typeface="Cambria Math" panose="02040503050406030204" pitchFamily="18" charset="0"/>
                                    </a:rPr>
                                  </m:ctrlPr>
                                </m:dPr>
                                <m:e>
                                  <m:r>
                                    <a:rPr lang="zh-CN" altLang="en-US" sz="1600" b="0" i="1" smtClean="0">
                                      <a:latin typeface="Cambria Math" panose="02040503050406030204" pitchFamily="18" charset="0"/>
                                    </a:rPr>
                                    <m:t>0</m:t>
                                  </m:r>
                                </m:e>
                              </m:d>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𝑖𝑡</m:t>
                                  </m:r>
                                  <m:r>
                                    <a:rPr lang="zh-CN" altLang="en-US" sz="1600" b="0" i="1" smtClean="0">
                                      <a:latin typeface="Cambria Math" panose="02040503050406030204" pitchFamily="18" charset="0"/>
                                    </a:rPr>
                                    <m:t>−1</m:t>
                                  </m:r>
                                </m:sub>
                              </m:sSub>
                              <m:d>
                                <m:dPr>
                                  <m:ctrlPr>
                                    <a:rPr lang="zh-CN" altLang="en-US" sz="1600" b="0" i="1" smtClean="0">
                                      <a:latin typeface="Cambria Math" panose="02040503050406030204" pitchFamily="18" charset="0"/>
                                    </a:rPr>
                                  </m:ctrlPr>
                                </m:dPr>
                                <m:e>
                                  <m:r>
                                    <a:rPr lang="zh-CN" altLang="en-US" sz="1600" b="0" i="1" smtClean="0">
                                      <a:latin typeface="Cambria Math" panose="02040503050406030204" pitchFamily="18" charset="0"/>
                                    </a:rPr>
                                    <m:t>0</m:t>
                                  </m:r>
                                </m:e>
                              </m:d>
                              <m:r>
                                <a:rPr lang="zh-CN" altLang="en-US" sz="1600" b="0" i="1" smtClean="0">
                                  <a:latin typeface="Cambria Math" panose="02040503050406030204" pitchFamily="18" charset="0"/>
                                </a:rPr>
                                <m:t>|</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𝐗</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𝐷</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=0</m:t>
                              </m:r>
                            </m:e>
                          </m:d>
                          <m:r>
                            <a:rPr lang="zh-CN" altLang="en-US" sz="1600" b="0" i="1" smtClean="0">
                              <a:latin typeface="Cambria Math" panose="02040503050406030204" pitchFamily="18" charset="0"/>
                            </a:rPr>
                            <m:t>,</m:t>
                          </m:r>
                        </m:e>
                      </m:eqArr>
                    </m:oMath>
                  </m:oMathPara>
                </a14:m>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0&lt;</m:t>
                          </m:r>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Pr</m:t>
                              </m:r>
                            </m:fName>
                            <m:e>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e>
                              </m:d>
                            </m:e>
                          </m:func>
                          <m:r>
                            <a:rPr lang="zh-CN" altLang="en-US" sz="1600" i="1" smtClean="0">
                              <a:latin typeface="Cambria Math" panose="02040503050406030204" pitchFamily="18" charset="0"/>
                            </a:rPr>
                            <m:t>&lt;1</m:t>
                          </m:r>
                          <m:r>
                            <m:rPr>
                              <m:nor/>
                            </m:rPr>
                            <a:rPr lang="zh-CN" altLang="en-US" sz="1600" i="0" smtClean="0">
                              <a:latin typeface="Cambria Math" panose="02040503050406030204" pitchFamily="18" charset="0"/>
                            </a:rPr>
                            <m:t> 且 </m:t>
                          </m:r>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Pr</m:t>
                              </m:r>
                            </m:fName>
                            <m:e>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=1|</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𝐗</m:t>
                                      </m:r>
                                    </m:e>
                                    <m:sub>
                                      <m:r>
                                        <a:rPr lang="zh-CN" altLang="en-US" sz="1600" b="0" i="1" smtClean="0">
                                          <a:latin typeface="Cambria Math" panose="02040503050406030204" pitchFamily="18" charset="0"/>
                                        </a:rPr>
                                        <m:t>𝑖</m:t>
                                      </m:r>
                                    </m:sub>
                                  </m:sSub>
                                </m:e>
                              </m:d>
                            </m:e>
                          </m:func>
                          <m:r>
                            <a:rPr lang="zh-CN" altLang="en-US" sz="1600" b="0" i="1" smtClean="0">
                              <a:latin typeface="Cambria Math" panose="02040503050406030204" pitchFamily="18" charset="0"/>
                            </a:rPr>
                            <m:t>&lt;1.</m:t>
                          </m:r>
                        </m:e>
                      </m:eqArr>
                    </m:oMath>
                  </m:oMathPara>
                </a14:m>
                <a:endParaRPr lang="en-US" altLang="zh-CN" sz="1600" dirty="0"/>
              </a:p>
              <a:p>
                <a:pPr>
                  <a:lnSpc>
                    <a:spcPct val="120000"/>
                  </a:lnSpc>
                </a:pPr>
                <a:r>
                  <a:rPr lang="zh-CN" altLang="en-US" sz="1600" dirty="0"/>
                  <a:t>比如扶贫问题，变量间关系可能如下图所示：</a:t>
                </a:r>
                <a:endParaRPr lang="en-US" altLang="zh-CN" sz="1600" dirty="0"/>
              </a:p>
              <a:p>
                <a:pPr>
                  <a:lnSpc>
                    <a:spcPct val="120000"/>
                  </a:lnSpc>
                </a:pPr>
                <a:endParaRPr lang="zh-CN" altLang="en-US" sz="1600" dirty="0"/>
              </a:p>
            </p:txBody>
          </p:sp>
        </mc:Choice>
        <mc:Fallback xmlns="">
          <p:sp>
            <p:nvSpPr>
              <p:cNvPr id="3" name="内容占位符 2">
                <a:extLst>
                  <a:ext uri="{FF2B5EF4-FFF2-40B4-BE49-F238E27FC236}">
                    <a16:creationId xmlns:a16="http://schemas.microsoft.com/office/drawing/2014/main" id="{BBDB8B5E-0204-5798-3465-1C14B70CB30B}"/>
                  </a:ext>
                </a:extLst>
              </p:cNvPr>
              <p:cNvSpPr>
                <a:spLocks noGrp="1" noRot="1" noChangeAspect="1" noMove="1" noResize="1" noEditPoints="1" noAdjustHandles="1" noChangeArrowheads="1" noChangeShapeType="1" noTextEdit="1"/>
              </p:cNvSpPr>
              <p:nvPr>
                <p:ph idx="1"/>
              </p:nvPr>
            </p:nvSpPr>
            <p:spPr>
              <a:blipFill>
                <a:blip r:embed="rId2"/>
                <a:stretch>
                  <a:fillRect l="-30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191B6C5-310E-E948-7D10-8DF170432CC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49F3B30-F148-4187-9A01-CC942D485B85}"/>
              </a:ext>
            </a:extLst>
          </p:cNvPr>
          <p:cNvSpPr>
            <a:spLocks noGrp="1"/>
          </p:cNvSpPr>
          <p:nvPr>
            <p:ph type="sldNum" sz="quarter" idx="12"/>
          </p:nvPr>
        </p:nvSpPr>
        <p:spPr/>
        <p:txBody>
          <a:bodyPr/>
          <a:lstStyle/>
          <a:p>
            <a:fld id="{D41FC515-8169-4A29-AA56-DBE520D5741B}" type="slidenum">
              <a:rPr lang="zh-CN" altLang="en-US" smtClean="0"/>
              <a:t>35</a:t>
            </a:fld>
            <a:endParaRPr lang="zh-CN" altLang="en-US"/>
          </a:p>
        </p:txBody>
      </p:sp>
      <p:pic>
        <p:nvPicPr>
          <p:cNvPr id="7" name="图片 6">
            <a:extLst>
              <a:ext uri="{FF2B5EF4-FFF2-40B4-BE49-F238E27FC236}">
                <a16:creationId xmlns:a16="http://schemas.microsoft.com/office/drawing/2014/main" id="{A7AFEF5A-A17C-2957-41F8-7552C16D2BF5}"/>
              </a:ext>
            </a:extLst>
          </p:cNvPr>
          <p:cNvPicPr>
            <a:picLocks noChangeAspect="1"/>
          </p:cNvPicPr>
          <p:nvPr/>
        </p:nvPicPr>
        <p:blipFill>
          <a:blip r:embed="rId3"/>
          <a:stretch>
            <a:fillRect/>
          </a:stretch>
        </p:blipFill>
        <p:spPr>
          <a:xfrm>
            <a:off x="1614604" y="3209891"/>
            <a:ext cx="5387775" cy="3146460"/>
          </a:xfrm>
          <a:prstGeom prst="rect">
            <a:avLst/>
          </a:prstGeom>
        </p:spPr>
      </p:pic>
    </p:spTree>
    <p:extLst>
      <p:ext uri="{BB962C8B-B14F-4D97-AF65-F5344CB8AC3E}">
        <p14:creationId xmlns:p14="http://schemas.microsoft.com/office/powerpoint/2010/main" val="1572742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61A1C-CD05-3689-9A91-D824A26F620D}"/>
              </a:ext>
            </a:extLst>
          </p:cNvPr>
          <p:cNvSpPr>
            <a:spLocks noGrp="1"/>
          </p:cNvSpPr>
          <p:nvPr>
            <p:ph type="title"/>
          </p:nvPr>
        </p:nvSpPr>
        <p:spPr/>
        <p:txBody>
          <a:bodyPr/>
          <a:lstStyle/>
          <a:p>
            <a:r>
              <a:rPr lang="zh-CN" altLang="en-US" dirty="0"/>
              <a:t>引入协变量</a:t>
            </a:r>
            <a:br>
              <a:rPr lang="zh-CN" altLang="en-US" dirty="0"/>
            </a:br>
            <a:r>
              <a:rPr lang="zh-CN" altLang="en-US" sz="2400" dirty="0"/>
              <a:t>随时间变化的协变量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0F66EDE-E86B-B9CB-7683-09DC04930B6E}"/>
                  </a:ext>
                </a:extLst>
              </p:cNvPr>
              <p:cNvSpPr>
                <a:spLocks noGrp="1"/>
              </p:cNvSpPr>
              <p:nvPr>
                <p:ph idx="1"/>
              </p:nvPr>
            </p:nvSpPr>
            <p:spPr/>
            <p:txBody>
              <a:bodyPr>
                <a:normAutofit fontScale="70000" lnSpcReduction="20000"/>
              </a:bodyPr>
              <a:lstStyle/>
              <a:p>
                <a:r>
                  <a:rPr lang="en-US" altLang="zh-CN" dirty="0"/>
                  <a:t>Caetano and Callaway (2024) </a:t>
                </a:r>
                <a:r>
                  <a:rPr lang="zh-CN" altLang="en-US" dirty="0"/>
                  <a:t>证明</a:t>
                </a:r>
                <a:r>
                  <a:rPr lang="en-US" altLang="zh-CN" dirty="0"/>
                  <a:t>(24) </a:t>
                </a:r>
                <a:r>
                  <a:rPr lang="zh-CN" altLang="en-US" dirty="0"/>
                  <a:t>回归系数可表示为</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𝑇𝑊𝐹𝐸</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𝑤</m:t>
                              </m:r>
                              <m:d>
                                <m:dPr>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𝑤</m:t>
                              </m:r>
                              <m:d>
                                <m:dPr>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e>
                              </m:d>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e>
                                  </m:d>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𝐿</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e>
                                      </m:d>
                                    </m:e>
                                  </m:d>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e>
                      </m:eqArr>
                    </m:oMath>
                  </m:oMathPara>
                </a14:m>
                <a:endParaRPr lang="en-US" altLang="zh-CN" dirty="0"/>
              </a:p>
              <a:p>
                <a:pPr marL="0" indent="0">
                  <a:buNone/>
                </a:pPr>
                <a:r>
                  <a:rPr lang="zh-CN" altLang="en-US" dirty="0"/>
                  <a:t>其中</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𝑤</m:t>
                          </m:r>
                          <m:d>
                            <m:dPr>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r>
                                <a:rPr lang="zh-CN" altLang="en-US" i="1" smtClean="0">
                                  <a:latin typeface="Cambria Math" panose="02040503050406030204" pitchFamily="18" charset="0"/>
                                </a:rPr>
                                <m:t>𝐿</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𝐷</m:t>
                                  </m:r>
                                  <m:r>
                                    <a:rPr lang="zh-CN" altLang="en-US" i="1" smtClean="0">
                                      <a:latin typeface="Cambria Math" panose="02040503050406030204" pitchFamily="18" charset="0"/>
                                    </a:rPr>
                                    <m:t>|</m:t>
                                  </m:r>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e>
                              </m:d>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r>
                                    <a:rPr lang="zh-CN" altLang="en-US" i="1" smtClean="0">
                                      <a:latin typeface="Cambria Math" panose="02040503050406030204" pitchFamily="18" charset="0"/>
                                    </a:rPr>
                                    <m:t>𝐿</m:t>
                                  </m:r>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e>
                                  </m:d>
                                  <m:r>
                                    <a:rPr lang="zh-CN" altLang="en-US" i="1" smtClean="0">
                                      <a:latin typeface="Cambria Math" panose="02040503050406030204" pitchFamily="18" charset="0"/>
                                    </a:rPr>
                                    <m:t>𝐷</m:t>
                                  </m:r>
                                  <m:r>
                                    <a:rPr lang="zh-CN" altLang="en-US" i="1" smtClean="0">
                                      <a:latin typeface="Cambria Math" panose="02040503050406030204" pitchFamily="18" charset="0"/>
                                    </a:rPr>
                                    <m:t>=1</m:t>
                                  </m:r>
                                </m:e>
                              </m:d>
                            </m:den>
                          </m:f>
                          <m:r>
                            <a:rPr lang="zh-CN" altLang="en-US" i="1" smtClean="0">
                              <a:latin typeface="Cambria Math" panose="02040503050406030204" pitchFamily="18" charset="0"/>
                            </a:rPr>
                            <m:t>,</m:t>
                          </m:r>
                        </m:e>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𝑍</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𝑍</m:t>
                              </m:r>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e>
                      </m:eqArr>
                    </m:oMath>
                  </m:oMathPara>
                </a14:m>
                <a:endParaRPr lang="en-US" altLang="zh-CN" dirty="0"/>
              </a:p>
              <a:p>
                <a:r>
                  <a:rPr lang="zh-CN" altLang="en-US" dirty="0"/>
                  <a:t>后三行为可能的偏差，即使没有三项偏差，第一行代表的加权效应也可能出现负权重问题。</a:t>
                </a:r>
                <a:endParaRPr lang="en-US" altLang="zh-CN" dirty="0"/>
              </a:p>
              <a:p>
                <a:r>
                  <a:rPr lang="zh-CN" altLang="en-US" dirty="0"/>
                  <a:t>提出利用双重稳健方法，结合降维技术。</a:t>
                </a:r>
              </a:p>
            </p:txBody>
          </p:sp>
        </mc:Choice>
        <mc:Fallback xmlns="">
          <p:sp>
            <p:nvSpPr>
              <p:cNvPr id="3" name="内容占位符 2">
                <a:extLst>
                  <a:ext uri="{FF2B5EF4-FFF2-40B4-BE49-F238E27FC236}">
                    <a16:creationId xmlns:a16="http://schemas.microsoft.com/office/drawing/2014/main" id="{60F66EDE-E86B-B9CB-7683-09DC04930B6E}"/>
                  </a:ext>
                </a:extLst>
              </p:cNvPr>
              <p:cNvSpPr>
                <a:spLocks noGrp="1" noRot="1" noChangeAspect="1" noMove="1" noResize="1" noEditPoints="1" noAdjustHandles="1" noChangeArrowheads="1" noChangeShapeType="1" noTextEdit="1"/>
              </p:cNvSpPr>
              <p:nvPr>
                <p:ph idx="1"/>
              </p:nvPr>
            </p:nvSpPr>
            <p:spPr>
              <a:blipFill>
                <a:blip r:embed="rId2"/>
                <a:stretch>
                  <a:fillRect l="-773"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09A05D3-EF6F-4909-A3D1-8167A3E0A59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88E3045-403C-F927-EE48-1D6C8E2E7FAE}"/>
              </a:ext>
            </a:extLst>
          </p:cNvPr>
          <p:cNvSpPr>
            <a:spLocks noGrp="1"/>
          </p:cNvSpPr>
          <p:nvPr>
            <p:ph type="sldNum" sz="quarter" idx="12"/>
          </p:nvPr>
        </p:nvSpPr>
        <p:spPr/>
        <p:txBody>
          <a:bodyPr/>
          <a:lstStyle/>
          <a:p>
            <a:fld id="{D41FC515-8169-4A29-AA56-DBE520D5741B}" type="slidenum">
              <a:rPr lang="zh-CN" altLang="en-US" smtClean="0"/>
              <a:t>36</a:t>
            </a:fld>
            <a:endParaRPr lang="zh-CN" altLang="en-US"/>
          </a:p>
        </p:txBody>
      </p:sp>
    </p:spTree>
    <p:extLst>
      <p:ext uri="{BB962C8B-B14F-4D97-AF65-F5344CB8AC3E}">
        <p14:creationId xmlns:p14="http://schemas.microsoft.com/office/powerpoint/2010/main" val="2462292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5165C-D593-2CB7-2B9F-C247954B136B}"/>
              </a:ext>
            </a:extLst>
          </p:cNvPr>
          <p:cNvSpPr>
            <a:spLocks noGrp="1"/>
          </p:cNvSpPr>
          <p:nvPr>
            <p:ph type="title"/>
          </p:nvPr>
        </p:nvSpPr>
        <p:spPr/>
        <p:txBody>
          <a:bodyPr/>
          <a:lstStyle/>
          <a:p>
            <a:r>
              <a:rPr lang="zh-CN" altLang="en-US" dirty="0"/>
              <a:t>引入协变量</a:t>
            </a:r>
            <a:br>
              <a:rPr lang="zh-CN" altLang="en-US" dirty="0"/>
            </a:br>
            <a:r>
              <a:rPr lang="zh-CN" altLang="en-US" sz="2400" dirty="0"/>
              <a:t>随时间变化的协变量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2407E3C-B956-BB97-92D8-44BF3BBE9FE2}"/>
                  </a:ext>
                </a:extLst>
              </p:cNvPr>
              <p:cNvSpPr>
                <a:spLocks noGrp="1"/>
              </p:cNvSpPr>
              <p:nvPr>
                <p:ph idx="1"/>
              </p:nvPr>
            </p:nvSpPr>
            <p:spPr/>
            <p:txBody>
              <a:bodyPr>
                <a:normAutofit fontScale="70000" lnSpcReduction="20000"/>
              </a:bodyPr>
              <a:lstStyle/>
              <a:p>
                <a:pPr>
                  <a:lnSpc>
                    <a:spcPct val="120000"/>
                  </a:lnSpc>
                </a:pPr>
                <a:r>
                  <a:rPr lang="zh-CN" altLang="en-US" dirty="0"/>
                  <a:t>引入协变量后的回归</a:t>
                </a:r>
                <a:r>
                  <a:rPr lang="en-US" altLang="zh-CN" dirty="0"/>
                  <a:t>DID </a:t>
                </a:r>
                <a:r>
                  <a:rPr lang="zh-CN" altLang="en-US" dirty="0"/>
                  <a:t>模型为：</a:t>
                </a:r>
                <a:endParaRPr lang="en-US" altLang="zh-CN" dirty="0"/>
              </a:p>
              <a:p>
                <a:pPr marL="0" indent="0">
                  <a:lnSpc>
                    <a:spcPct val="120000"/>
                  </a:lnSpc>
                  <a:buNone/>
                </a:pPr>
                <a14:m>
                  <m:oMathPara xmlns:m="http://schemas.openxmlformats.org/officeDocument/2006/math">
                    <m:oMathParaPr>
                      <m:jc m:val="right"/>
                    </m:oMathParaPr>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3</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4</m:t>
                                  </m:r>
                                </m:sub>
                              </m:sSub>
                              <m:r>
                                <a:rPr lang="zh-CN" altLang="en-US" i="1" smtClean="0">
                                  <a:latin typeface="Cambria Math" panose="02040503050406030204" pitchFamily="18" charset="0"/>
                                </a:rPr>
                                <m:t>𝐷</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e>
                      </m:eqArr>
                      <m:r>
                        <a:rPr lang="zh-CN" altLang="en-US" i="1">
                          <a:latin typeface="Cambria Math" panose="02040503050406030204" pitchFamily="18" charset="0"/>
                        </a:rPr>
                        <m:t>（</m:t>
                      </m:r>
                      <m:r>
                        <a:rPr lang="en-US" altLang="zh-CN" b="0" i="1" smtClean="0">
                          <a:latin typeface="Cambria Math" panose="02040503050406030204" pitchFamily="18" charset="0"/>
                        </a:rPr>
                        <m:t>25</m:t>
                      </m:r>
                      <m:r>
                        <a:rPr lang="zh-CN" altLang="en-US" i="1">
                          <a:latin typeface="Cambria Math" panose="02040503050406030204" pitchFamily="18" charset="0"/>
                        </a:rPr>
                        <m:t>）</m:t>
                      </m:r>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𝜇</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𝑖𝑡</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=1]</m:t>
                    </m:r>
                  </m:oMath>
                </a14:m>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𝐸</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=1]</m:t>
                    </m:r>
                  </m:oMath>
                </a14:m>
                <a:r>
                  <a:rPr lang="zh-CN" altLang="en-US" dirty="0"/>
                  <a:t>。</a:t>
                </a:r>
                <a:endParaRPr lang="en-US" altLang="zh-CN" dirty="0"/>
              </a:p>
              <a:p>
                <a:pPr>
                  <a:lnSpc>
                    <a:spcPct val="120000"/>
                  </a:lnSpc>
                </a:pPr>
                <a:r>
                  <a:rPr lang="zh-CN" altLang="en-US" dirty="0"/>
                  <a:t>应用中一般使用模型</a:t>
                </a:r>
                <a:r>
                  <a:rPr lang="en-US" altLang="zh-CN" dirty="0"/>
                  <a:t>(24)</a:t>
                </a:r>
                <a:r>
                  <a:rPr lang="zh-CN" altLang="en-US" dirty="0"/>
                  <a:t>，来自于经典面板固定效应方法，假设是结构模型，本身代表了因果关系。</a:t>
                </a:r>
                <a:endParaRPr lang="en-US" altLang="zh-CN" dirty="0"/>
              </a:p>
            </p:txBody>
          </p:sp>
        </mc:Choice>
        <mc:Fallback xmlns="">
          <p:sp>
            <p:nvSpPr>
              <p:cNvPr id="3" name="内容占位符 2">
                <a:extLst>
                  <a:ext uri="{FF2B5EF4-FFF2-40B4-BE49-F238E27FC236}">
                    <a16:creationId xmlns:a16="http://schemas.microsoft.com/office/drawing/2014/main" id="{22407E3C-B956-BB97-92D8-44BF3BBE9FE2}"/>
                  </a:ext>
                </a:extLst>
              </p:cNvPr>
              <p:cNvSpPr>
                <a:spLocks noGrp="1" noRot="1" noChangeAspect="1" noMove="1" noResize="1" noEditPoints="1" noAdjustHandles="1" noChangeArrowheads="1" noChangeShapeType="1" noTextEdit="1"/>
              </p:cNvSpPr>
              <p:nvPr>
                <p:ph idx="1"/>
              </p:nvPr>
            </p:nvSpPr>
            <p:spPr>
              <a:blipFill>
                <a:blip r:embed="rId2"/>
                <a:stretch>
                  <a:fillRect l="-773"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83E1591-B57B-DFC2-8033-582C93DD012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C6F88BD-D2DB-D76A-9D94-16CAFDD38CDA}"/>
              </a:ext>
            </a:extLst>
          </p:cNvPr>
          <p:cNvSpPr>
            <a:spLocks noGrp="1"/>
          </p:cNvSpPr>
          <p:nvPr>
            <p:ph type="sldNum" sz="quarter" idx="12"/>
          </p:nvPr>
        </p:nvSpPr>
        <p:spPr/>
        <p:txBody>
          <a:bodyPr/>
          <a:lstStyle/>
          <a:p>
            <a:fld id="{D41FC515-8169-4A29-AA56-DBE520D5741B}" type="slidenum">
              <a:rPr lang="zh-CN" altLang="en-US" smtClean="0"/>
              <a:t>37</a:t>
            </a:fld>
            <a:endParaRPr lang="zh-CN" altLang="en-US"/>
          </a:p>
        </p:txBody>
      </p:sp>
    </p:spTree>
    <p:extLst>
      <p:ext uri="{BB962C8B-B14F-4D97-AF65-F5344CB8AC3E}">
        <p14:creationId xmlns:p14="http://schemas.microsoft.com/office/powerpoint/2010/main" val="656211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85919-778C-5D8F-259C-26F54F9B4151}"/>
              </a:ext>
            </a:extLst>
          </p:cNvPr>
          <p:cNvSpPr>
            <a:spLocks noGrp="1"/>
          </p:cNvSpPr>
          <p:nvPr>
            <p:ph type="title"/>
          </p:nvPr>
        </p:nvSpPr>
        <p:spPr/>
        <p:txBody>
          <a:bodyPr/>
          <a:lstStyle/>
          <a:p>
            <a:r>
              <a:rPr lang="zh-CN" altLang="en-US" dirty="0"/>
              <a:t>邢春冰和李实</a:t>
            </a:r>
            <a:r>
              <a:rPr lang="en-US" altLang="zh-CN" dirty="0"/>
              <a:t>(2011) </a:t>
            </a:r>
            <a:r>
              <a:rPr lang="zh-CN" altLang="en-US" dirty="0"/>
              <a:t>大学扩招与大学生失业</a:t>
            </a:r>
          </a:p>
        </p:txBody>
      </p:sp>
      <p:sp>
        <p:nvSpPr>
          <p:cNvPr id="3" name="内容占位符 2">
            <a:extLst>
              <a:ext uri="{FF2B5EF4-FFF2-40B4-BE49-F238E27FC236}">
                <a16:creationId xmlns:a16="http://schemas.microsoft.com/office/drawing/2014/main" id="{F6EB6399-2FF7-C360-0CEE-18D34D657677}"/>
              </a:ext>
            </a:extLst>
          </p:cNvPr>
          <p:cNvSpPr>
            <a:spLocks noGrp="1"/>
          </p:cNvSpPr>
          <p:nvPr>
            <p:ph idx="1"/>
          </p:nvPr>
        </p:nvSpPr>
        <p:spPr/>
        <p:txBody>
          <a:bodyPr>
            <a:normAutofit/>
          </a:bodyPr>
          <a:lstStyle/>
          <a:p>
            <a:r>
              <a:rPr lang="zh-CN" altLang="en-US" sz="1600" dirty="0"/>
              <a:t>受扩招影响的学生最早</a:t>
            </a:r>
            <a:r>
              <a:rPr lang="en-US" altLang="zh-CN" sz="1600" dirty="0"/>
              <a:t>2003 </a:t>
            </a:r>
            <a:r>
              <a:rPr lang="zh-CN" altLang="en-US" sz="1600" dirty="0"/>
              <a:t>年毕业，因而，</a:t>
            </a:r>
            <a:r>
              <a:rPr lang="en-US" altLang="zh-CN" sz="1600" dirty="0"/>
              <a:t>2005 </a:t>
            </a:r>
            <a:r>
              <a:rPr lang="zh-CN" altLang="en-US" sz="1600" dirty="0"/>
              <a:t>年数据中，</a:t>
            </a:r>
            <a:r>
              <a:rPr lang="en-US" altLang="zh-CN" sz="1600" dirty="0"/>
              <a:t>22-24 </a:t>
            </a:r>
            <a:r>
              <a:rPr lang="zh-CN" altLang="en-US" sz="1600" dirty="0"/>
              <a:t>岁的学生均受到了大学扩招的影响，而</a:t>
            </a:r>
            <a:r>
              <a:rPr lang="en-US" altLang="zh-CN" sz="1600" dirty="0"/>
              <a:t>25-35 </a:t>
            </a:r>
            <a:r>
              <a:rPr lang="zh-CN" altLang="en-US" sz="1600" dirty="0"/>
              <a:t>岁的个体，理论上不会受大学扩招的影响。对于</a:t>
            </a:r>
            <a:r>
              <a:rPr lang="en-US" altLang="zh-CN" sz="1600" dirty="0"/>
              <a:t>2000 </a:t>
            </a:r>
            <a:r>
              <a:rPr lang="zh-CN" altLang="en-US" sz="1600" dirty="0"/>
              <a:t>年的数据，</a:t>
            </a:r>
            <a:r>
              <a:rPr lang="en-US" altLang="zh-CN" sz="1600" dirty="0"/>
              <a:t>22-35 </a:t>
            </a:r>
            <a:r>
              <a:rPr lang="zh-CN" altLang="en-US" sz="1600" dirty="0"/>
              <a:t>岁的个体均没有受到扩招的影响。因而，作者将</a:t>
            </a:r>
            <a:r>
              <a:rPr lang="en-US" altLang="zh-CN" sz="1600" dirty="0"/>
              <a:t>22-24 </a:t>
            </a:r>
            <a:r>
              <a:rPr lang="zh-CN" altLang="en-US" sz="1600" dirty="0"/>
              <a:t>岁的群组作为干预组，</a:t>
            </a:r>
            <a:r>
              <a:rPr lang="en-US" altLang="zh-CN" sz="1600" dirty="0"/>
              <a:t>25-35 </a:t>
            </a:r>
            <a:r>
              <a:rPr lang="zh-CN" altLang="en-US" sz="1600" dirty="0"/>
              <a:t>岁的群组作为控制组，并利用</a:t>
            </a:r>
            <a:r>
              <a:rPr lang="en-US" altLang="zh-CN" sz="1600" dirty="0"/>
              <a:t>2000 </a:t>
            </a:r>
            <a:r>
              <a:rPr lang="zh-CN" altLang="en-US" sz="1600" dirty="0"/>
              <a:t>年和</a:t>
            </a:r>
            <a:r>
              <a:rPr lang="en-US" altLang="zh-CN" sz="1600" dirty="0"/>
              <a:t>2005 </a:t>
            </a:r>
            <a:r>
              <a:rPr lang="zh-CN" altLang="en-US" sz="1600" dirty="0"/>
              <a:t>年两个时间作为对比，从而构建了双重差分策略。</a:t>
            </a:r>
          </a:p>
        </p:txBody>
      </p:sp>
      <p:sp>
        <p:nvSpPr>
          <p:cNvPr id="4" name="页脚占位符 3">
            <a:extLst>
              <a:ext uri="{FF2B5EF4-FFF2-40B4-BE49-F238E27FC236}">
                <a16:creationId xmlns:a16="http://schemas.microsoft.com/office/drawing/2014/main" id="{76CFBA84-35E7-26E5-0E8B-D25560AF6BE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598F296-DCE0-47A1-241D-14B2A34C63CD}"/>
              </a:ext>
            </a:extLst>
          </p:cNvPr>
          <p:cNvSpPr>
            <a:spLocks noGrp="1"/>
          </p:cNvSpPr>
          <p:nvPr>
            <p:ph type="sldNum" sz="quarter" idx="12"/>
          </p:nvPr>
        </p:nvSpPr>
        <p:spPr/>
        <p:txBody>
          <a:bodyPr/>
          <a:lstStyle/>
          <a:p>
            <a:fld id="{D41FC515-8169-4A29-AA56-DBE520D5741B}" type="slidenum">
              <a:rPr lang="zh-CN" altLang="en-US" smtClean="0"/>
              <a:t>38</a:t>
            </a:fld>
            <a:endParaRPr lang="zh-CN" altLang="en-US"/>
          </a:p>
        </p:txBody>
      </p:sp>
      <p:pic>
        <p:nvPicPr>
          <p:cNvPr id="7" name="图片 6">
            <a:extLst>
              <a:ext uri="{FF2B5EF4-FFF2-40B4-BE49-F238E27FC236}">
                <a16:creationId xmlns:a16="http://schemas.microsoft.com/office/drawing/2014/main" id="{017EFA61-D5C8-2A68-741E-7305AE85DBF6}"/>
              </a:ext>
            </a:extLst>
          </p:cNvPr>
          <p:cNvPicPr>
            <a:picLocks noChangeAspect="1"/>
          </p:cNvPicPr>
          <p:nvPr/>
        </p:nvPicPr>
        <p:blipFill>
          <a:blip r:embed="rId2"/>
          <a:stretch>
            <a:fillRect/>
          </a:stretch>
        </p:blipFill>
        <p:spPr>
          <a:xfrm>
            <a:off x="899488" y="3334781"/>
            <a:ext cx="7798178" cy="1814735"/>
          </a:xfrm>
          <a:prstGeom prst="rect">
            <a:avLst/>
          </a:prstGeom>
        </p:spPr>
      </p:pic>
    </p:spTree>
    <p:extLst>
      <p:ext uri="{BB962C8B-B14F-4D97-AF65-F5344CB8AC3E}">
        <p14:creationId xmlns:p14="http://schemas.microsoft.com/office/powerpoint/2010/main" val="1883020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D6266B-FD94-AD1F-56FB-1E06FACCC15F}"/>
              </a:ext>
            </a:extLst>
          </p:cNvPr>
          <p:cNvSpPr>
            <a:spLocks noGrp="1"/>
          </p:cNvSpPr>
          <p:nvPr>
            <p:ph type="title"/>
          </p:nvPr>
        </p:nvSpPr>
        <p:spPr/>
        <p:txBody>
          <a:bodyPr/>
          <a:lstStyle/>
          <a:p>
            <a:r>
              <a:rPr lang="zh-CN" altLang="en-US" dirty="0"/>
              <a:t>邢春冰和李实</a:t>
            </a:r>
            <a:r>
              <a:rPr lang="en-US" altLang="zh-CN" dirty="0"/>
              <a:t>(2011) </a:t>
            </a:r>
            <a:r>
              <a:rPr lang="zh-CN" altLang="en-US" dirty="0"/>
              <a:t>大学扩招与大学生失业</a:t>
            </a:r>
          </a:p>
        </p:txBody>
      </p:sp>
      <p:pic>
        <p:nvPicPr>
          <p:cNvPr id="7" name="内容占位符 6">
            <a:extLst>
              <a:ext uri="{FF2B5EF4-FFF2-40B4-BE49-F238E27FC236}">
                <a16:creationId xmlns:a16="http://schemas.microsoft.com/office/drawing/2014/main" id="{683C263E-559B-D7D8-9507-86A5EEE3F6DA}"/>
              </a:ext>
            </a:extLst>
          </p:cNvPr>
          <p:cNvPicPr>
            <a:picLocks noGrp="1" noChangeAspect="1"/>
          </p:cNvPicPr>
          <p:nvPr>
            <p:ph idx="1"/>
          </p:nvPr>
        </p:nvPicPr>
        <p:blipFill>
          <a:blip r:embed="rId2"/>
          <a:stretch>
            <a:fillRect/>
          </a:stretch>
        </p:blipFill>
        <p:spPr>
          <a:xfrm>
            <a:off x="1227221" y="1748689"/>
            <a:ext cx="6621840" cy="4459606"/>
          </a:xfrm>
          <a:prstGeom prst="rect">
            <a:avLst/>
          </a:prstGeom>
        </p:spPr>
      </p:pic>
      <p:sp>
        <p:nvSpPr>
          <p:cNvPr id="4" name="页脚占位符 3">
            <a:extLst>
              <a:ext uri="{FF2B5EF4-FFF2-40B4-BE49-F238E27FC236}">
                <a16:creationId xmlns:a16="http://schemas.microsoft.com/office/drawing/2014/main" id="{E86BEAA8-4969-4DDB-C7AE-800F91D2105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162E930-E57D-4284-5A64-1FDE418D75C4}"/>
              </a:ext>
            </a:extLst>
          </p:cNvPr>
          <p:cNvSpPr>
            <a:spLocks noGrp="1"/>
          </p:cNvSpPr>
          <p:nvPr>
            <p:ph type="sldNum" sz="quarter" idx="12"/>
          </p:nvPr>
        </p:nvSpPr>
        <p:spPr/>
        <p:txBody>
          <a:bodyPr/>
          <a:lstStyle/>
          <a:p>
            <a:fld id="{D41FC515-8169-4A29-AA56-DBE520D5741B}" type="slidenum">
              <a:rPr lang="zh-CN" altLang="en-US" smtClean="0"/>
              <a:t>39</a:t>
            </a:fld>
            <a:endParaRPr lang="zh-CN" altLang="en-US"/>
          </a:p>
        </p:txBody>
      </p:sp>
    </p:spTree>
    <p:extLst>
      <p:ext uri="{BB962C8B-B14F-4D97-AF65-F5344CB8AC3E}">
        <p14:creationId xmlns:p14="http://schemas.microsoft.com/office/powerpoint/2010/main" val="2119048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229F0-CFD9-52E7-66E1-DAFD9DF6FD69}"/>
              </a:ext>
            </a:extLst>
          </p:cNvPr>
          <p:cNvSpPr>
            <a:spLocks noGrp="1"/>
          </p:cNvSpPr>
          <p:nvPr>
            <p:ph type="title"/>
          </p:nvPr>
        </p:nvSpPr>
        <p:spPr/>
        <p:txBody>
          <a:bodyPr/>
          <a:lstStyle/>
          <a:p>
            <a:r>
              <a:rPr lang="zh-CN" altLang="en-US" dirty="0"/>
              <a:t>邢春冰和李实</a:t>
            </a:r>
            <a:r>
              <a:rPr lang="en-US" altLang="zh-CN" dirty="0"/>
              <a:t>(2011) </a:t>
            </a:r>
            <a:r>
              <a:rPr lang="zh-CN" altLang="en-US" dirty="0"/>
              <a:t>大学扩招与大学生失业</a:t>
            </a:r>
          </a:p>
        </p:txBody>
      </p:sp>
      <p:pic>
        <p:nvPicPr>
          <p:cNvPr id="7" name="内容占位符 6">
            <a:extLst>
              <a:ext uri="{FF2B5EF4-FFF2-40B4-BE49-F238E27FC236}">
                <a16:creationId xmlns:a16="http://schemas.microsoft.com/office/drawing/2014/main" id="{293F0769-2CF3-B570-AF65-C8DF193AC889}"/>
              </a:ext>
            </a:extLst>
          </p:cNvPr>
          <p:cNvPicPr>
            <a:picLocks noGrp="1" noChangeAspect="1"/>
          </p:cNvPicPr>
          <p:nvPr>
            <p:ph idx="1"/>
          </p:nvPr>
        </p:nvPicPr>
        <p:blipFill>
          <a:blip r:embed="rId2"/>
          <a:stretch>
            <a:fillRect/>
          </a:stretch>
        </p:blipFill>
        <p:spPr>
          <a:xfrm>
            <a:off x="670351" y="1780674"/>
            <a:ext cx="7779371" cy="4427621"/>
          </a:xfrm>
          <a:prstGeom prst="rect">
            <a:avLst/>
          </a:prstGeom>
        </p:spPr>
      </p:pic>
      <p:sp>
        <p:nvSpPr>
          <p:cNvPr id="4" name="页脚占位符 3">
            <a:extLst>
              <a:ext uri="{FF2B5EF4-FFF2-40B4-BE49-F238E27FC236}">
                <a16:creationId xmlns:a16="http://schemas.microsoft.com/office/drawing/2014/main" id="{68B28717-FAD9-2102-541D-FA1B1DFCF59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D156A90-2CFD-4E8B-D01C-268481310238}"/>
              </a:ext>
            </a:extLst>
          </p:cNvPr>
          <p:cNvSpPr>
            <a:spLocks noGrp="1"/>
          </p:cNvSpPr>
          <p:nvPr>
            <p:ph type="sldNum" sz="quarter" idx="12"/>
          </p:nvPr>
        </p:nvSpPr>
        <p:spPr/>
        <p:txBody>
          <a:bodyPr/>
          <a:lstStyle/>
          <a:p>
            <a:fld id="{D41FC515-8169-4A29-AA56-DBE520D5741B}" type="slidenum">
              <a:rPr lang="zh-CN" altLang="en-US" smtClean="0"/>
              <a:t>40</a:t>
            </a:fld>
            <a:endParaRPr lang="zh-CN" altLang="en-US"/>
          </a:p>
        </p:txBody>
      </p:sp>
    </p:spTree>
    <p:extLst>
      <p:ext uri="{BB962C8B-B14F-4D97-AF65-F5344CB8AC3E}">
        <p14:creationId xmlns:p14="http://schemas.microsoft.com/office/powerpoint/2010/main" val="1331847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372D40-B404-6E02-2899-2E9B24521E2C}"/>
              </a:ext>
            </a:extLst>
          </p:cNvPr>
          <p:cNvSpPr>
            <a:spLocks noGrp="1"/>
          </p:cNvSpPr>
          <p:nvPr>
            <p:ph type="title"/>
          </p:nvPr>
        </p:nvSpPr>
        <p:spPr/>
        <p:txBody>
          <a:bodyPr>
            <a:normAutofit/>
          </a:bodyPr>
          <a:lstStyle/>
          <a:p>
            <a:r>
              <a:rPr lang="en-US" altLang="zh-CN" dirty="0"/>
              <a:t>DID-IV </a:t>
            </a:r>
            <a:r>
              <a:rPr lang="zh-CN" altLang="en-US" dirty="0"/>
              <a:t>设计</a:t>
            </a:r>
            <a:br>
              <a:rPr lang="zh-CN" altLang="en-US" dirty="0"/>
            </a:br>
            <a:r>
              <a:rPr lang="en-US" altLang="zh-CN" sz="2700" dirty="0"/>
              <a:t>Duflo (2001), Jackson, Johnson and Persico(2016)</a:t>
            </a:r>
            <a:endParaRPr lang="zh-CN" altLang="en-US" sz="27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E332CA-43BF-2B33-AD17-9E245DEAC835}"/>
                  </a:ext>
                </a:extLst>
              </p:cNvPr>
              <p:cNvSpPr>
                <a:spLocks noGrp="1"/>
              </p:cNvSpPr>
              <p:nvPr>
                <p:ph idx="1"/>
              </p:nvPr>
            </p:nvSpPr>
            <p:spPr/>
            <p:txBody>
              <a:bodyPr>
                <a:noAutofit/>
              </a:bodyPr>
              <a:lstStyle/>
              <a:p>
                <a:r>
                  <a:rPr lang="zh-CN" altLang="en-US" sz="2000" dirty="0"/>
                  <a:t>结构模型（协变量𝑋𝑖 没有写出</a:t>
                </a:r>
                <a:r>
                  <a:rPr lang="en-US" altLang="zh-CN" sz="2000" dirty="0"/>
                  <a:t>)</a:t>
                </a:r>
                <a:r>
                  <a:rPr lang="zh-CN" altLang="en-US" sz="2000" dirty="0"/>
                  <a:t>：</a:t>
                </a:r>
                <a:endParaRPr lang="en-US" altLang="zh-CN" sz="2000" dirty="0"/>
              </a:p>
              <a:p>
                <a:pPr marL="0" indent="0">
                  <a:buNone/>
                </a:pPr>
                <a14:m>
                  <m:oMathPara xmlns:m="http://schemas.openxmlformats.org/officeDocument/2006/math">
                    <m:oMath>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𝑌</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𝜇</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m:t>
                      </m:r>
                      <m:r>
                        <a:rPr lang="zh-CN" altLang="en-US" sz="2000" i="1" smtClean="0">
                          <a:latin typeface="Cambria Math" panose="02040503050406030204" pitchFamily="18" charset="0"/>
                        </a:rPr>
                        <m:t>𝜏</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𝐷</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𝜀</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oMath>
                  </m:oMathPara>
                </a14:m>
                <a:endParaRPr lang="en-US" altLang="zh-CN" sz="2000" dirty="0"/>
              </a:p>
              <a:p>
                <a:pPr marL="0" indent="0">
                  <a:buNone/>
                </a:pPr>
                <a:r>
                  <a:rPr lang="zh-CN" altLang="en-US" sz="2000" dirty="0"/>
                  <a:t>可以有固定效应。其中𝐷𝑖𝑡 可以是连续变量，比如</a:t>
                </a:r>
                <a:r>
                  <a:rPr lang="en-US" altLang="zh-CN" sz="2000" dirty="0"/>
                  <a:t>Duflo(2001) </a:t>
                </a:r>
                <a:r>
                  <a:rPr lang="zh-CN" altLang="en-US" sz="2000" dirty="0"/>
                  <a:t>中𝐷𝑖𝑡 表示教育年限，</a:t>
                </a:r>
                <a:r>
                  <a:rPr lang="en-US" altLang="zh-CN" sz="2000" dirty="0"/>
                  <a:t>Jackson et al.(2016) </a:t>
                </a:r>
                <a:r>
                  <a:rPr lang="zh-CN" altLang="en-US" sz="2000" dirty="0"/>
                  <a:t>中表示公共教育支出，是内生变量，关心参数𝜏。</a:t>
                </a:r>
                <a:endParaRPr lang="en-US" altLang="zh-CN" sz="2000" dirty="0"/>
              </a:p>
              <a:p>
                <a:r>
                  <a:rPr lang="zh-CN" altLang="en-US" sz="2000" dirty="0"/>
                  <a:t>工具变量𝑍 是一种政策，只影响一部分人，满足下列条件：</a:t>
                </a:r>
                <a:endParaRPr lang="en-US" altLang="zh-CN" sz="2000" dirty="0"/>
              </a:p>
              <a:p>
                <a:pPr marL="0" indent="0">
                  <a:buNone/>
                </a:pPr>
                <a14:m>
                  <m:oMathPara xmlns:m="http://schemas.openxmlformats.org/officeDocument/2006/math">
                    <m:oMath>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𝑌</m:t>
                          </m:r>
                        </m:e>
                        <m:sub>
                          <m:r>
                            <a:rPr lang="zh-CN" altLang="en-US" sz="2000" i="1" smtClean="0">
                              <a:latin typeface="Cambria Math" panose="02040503050406030204" pitchFamily="18" charset="0"/>
                            </a:rPr>
                            <m:t>𝑖𝑡</m:t>
                          </m:r>
                        </m:sub>
                      </m:sSub>
                      <m:d>
                        <m:dPr>
                          <m:ctrlPr>
                            <a:rPr lang="zh-CN" altLang="en-US" sz="2000" i="1" smtClean="0">
                              <a:latin typeface="Cambria Math" panose="02040503050406030204" pitchFamily="18" charset="0"/>
                            </a:rPr>
                          </m:ctrlPr>
                        </m:dPr>
                        <m:e>
                          <m:r>
                            <a:rPr lang="zh-CN" altLang="en-US" sz="2000" i="1" smtClean="0">
                              <a:latin typeface="Cambria Math" panose="02040503050406030204" pitchFamily="18" charset="0"/>
                            </a:rPr>
                            <m:t>0</m:t>
                          </m:r>
                        </m:e>
                      </m:d>
                      <m:r>
                        <a:rPr lang="en-US" altLang="zh-CN" sz="2000" b="0" i="1" smtClean="0">
                          <a:latin typeface="Cambria Math" panose="02040503050406030204" pitchFamily="18" charset="0"/>
                        </a:rPr>
                        <m:t>    </m:t>
                      </m:r>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𝐷</m:t>
                          </m:r>
                        </m:e>
                        <m:sub>
                          <m:r>
                            <a:rPr lang="zh-CN" altLang="en-US" sz="2000" i="1" smtClean="0">
                              <a:latin typeface="Cambria Math" panose="02040503050406030204" pitchFamily="18" charset="0"/>
                            </a:rPr>
                            <m:t>𝑖𝑡</m:t>
                          </m:r>
                        </m:sub>
                      </m:sSub>
                      <m:d>
                        <m:dPr>
                          <m:begChr m:val="|"/>
                          <m:endChr m:val="|"/>
                          <m:ctrlPr>
                            <a:rPr lang="zh-CN" altLang="en-US" sz="2000" i="1" smtClean="0">
                              <a:latin typeface="Cambria Math" panose="02040503050406030204" pitchFamily="18" charset="0"/>
                            </a:rPr>
                          </m:ctrlPr>
                        </m:dPr>
                        <m:e>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𝑋</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 </m:t>
                          </m:r>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𝑌</m:t>
                              </m:r>
                            </m:e>
                            <m:sub>
                              <m:r>
                                <a:rPr lang="zh-CN" altLang="en-US" sz="2000" i="1" smtClean="0">
                                  <a:latin typeface="Cambria Math" panose="02040503050406030204" pitchFamily="18" charset="0"/>
                                </a:rPr>
                                <m:t>𝑖𝑡</m:t>
                              </m:r>
                            </m:sub>
                          </m:sSub>
                          <m:d>
                            <m:dPr>
                              <m:ctrlPr>
                                <a:rPr lang="zh-CN" altLang="en-US" sz="2000" i="1" smtClean="0">
                                  <a:latin typeface="Cambria Math" panose="02040503050406030204" pitchFamily="18" charset="0"/>
                                </a:rPr>
                              </m:ctrlPr>
                            </m:dPr>
                            <m:e>
                              <m:r>
                                <a:rPr lang="zh-CN" altLang="en-US" sz="2000" i="1" smtClean="0">
                                  <a:latin typeface="Cambria Math" panose="02040503050406030204" pitchFamily="18" charset="0"/>
                                </a:rPr>
                                <m:t>0</m:t>
                              </m:r>
                            </m:e>
                          </m:d>
                          <m:r>
                            <a:rPr lang="en-US" altLang="zh-CN" sz="2000" b="0" i="1" smtClean="0">
                              <a:latin typeface="Cambria Math" panose="02040503050406030204" pitchFamily="18" charset="0"/>
                              <a:ea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𝑍</m:t>
                              </m:r>
                            </m:e>
                            <m:sub>
                              <m:r>
                                <a:rPr lang="zh-CN" altLang="en-US" sz="2000" i="1" smtClean="0">
                                  <a:latin typeface="Cambria Math" panose="02040503050406030204" pitchFamily="18" charset="0"/>
                                </a:rPr>
                                <m:t>𝑖</m:t>
                              </m:r>
                            </m:sub>
                          </m:sSub>
                        </m:e>
                      </m:d>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𝑋</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m:t>
                      </m:r>
                    </m:oMath>
                  </m:oMathPara>
                </a14:m>
                <a:endParaRPr lang="en-US" altLang="zh-CN" sz="2000" dirty="0"/>
              </a:p>
              <a:p>
                <a:r>
                  <a:rPr lang="zh-CN" altLang="en-US" sz="2000" dirty="0"/>
                  <a:t>所以，利用政策工具，可以识别工具对结果𝑌 和干预𝐷 的影响：</a:t>
                </a:r>
                <a:endParaRPr lang="en-US" altLang="zh-CN" sz="2000" dirty="0"/>
              </a:p>
              <a:p>
                <a:pPr marL="0" indent="0">
                  <a:buNone/>
                </a:pPr>
                <a14:m>
                  <m:oMathPara xmlns:m="http://schemas.openxmlformats.org/officeDocument/2006/math">
                    <m:oMath>
                      <m:eqArr>
                        <m:eqArrPr>
                          <m:ctrlPr>
                            <a:rPr lang="zh-CN" altLang="en-US" sz="2000" i="1" smtClean="0">
                              <a:latin typeface="Cambria Math" panose="02040503050406030204" pitchFamily="18" charset="0"/>
                            </a:rPr>
                          </m:ctrlPr>
                        </m:eqArrPr>
                        <m:e>
                          <m:r>
                            <a:rPr lang="zh-CN" altLang="en-US" sz="2000" i="1" smtClean="0">
                              <a:latin typeface="Cambria Math" panose="02040503050406030204" pitchFamily="18" charset="0"/>
                            </a:rPr>
                            <m:t>𝐼𝑇</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𝑇</m:t>
                              </m:r>
                            </m:e>
                            <m:sub>
                              <m:r>
                                <a:rPr lang="zh-CN" altLang="en-US" sz="2000" i="1" smtClean="0">
                                  <a:latin typeface="Cambria Math" panose="02040503050406030204" pitchFamily="18" charset="0"/>
                                </a:rPr>
                                <m:t>𝑌</m:t>
                              </m:r>
                            </m:sub>
                          </m:sSub>
                          <m:r>
                            <m:rPr>
                              <m:aln/>
                            </m:rPr>
                            <a:rPr lang="zh-CN" altLang="en-US" sz="2000" i="1" smtClean="0">
                              <a:latin typeface="Cambria Math" panose="02040503050406030204" pitchFamily="18" charset="0"/>
                            </a:rPr>
                            <m:t>&amp;</m:t>
                          </m:r>
                          <m:r>
                            <a:rPr lang="zh-CN" altLang="en-US" sz="2000" i="1" smtClean="0">
                              <a:latin typeface="Cambria Math" panose="02040503050406030204" pitchFamily="18" charset="0"/>
                            </a:rPr>
                            <m:t>=</m:t>
                          </m:r>
                          <m:r>
                            <a:rPr lang="zh-CN" altLang="en-US" sz="2000" i="1" smtClean="0">
                              <a:latin typeface="Cambria Math" panose="02040503050406030204" pitchFamily="18" charset="0"/>
                            </a:rPr>
                            <m:t>𝐸</m:t>
                          </m:r>
                          <m:d>
                            <m:dPr>
                              <m:begChr m:val="["/>
                              <m:endChr m:val="]"/>
                              <m:ctrlPr>
                                <a:rPr lang="zh-CN" altLang="en-US" sz="2000" i="1" smtClean="0">
                                  <a:latin typeface="Cambria Math" panose="02040503050406030204" pitchFamily="18" charset="0"/>
                                </a:rPr>
                              </m:ctrlPr>
                            </m:dPr>
                            <m:e>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𝑌</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𝑍</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=1</m:t>
                              </m:r>
                            </m:e>
                          </m:d>
                          <m:r>
                            <a:rPr lang="zh-CN" altLang="en-US" sz="2000" i="1" smtClean="0">
                              <a:latin typeface="Cambria Math" panose="02040503050406030204" pitchFamily="18" charset="0"/>
                            </a:rPr>
                            <m:t>−</m:t>
                          </m:r>
                          <m:r>
                            <a:rPr lang="zh-CN" altLang="en-US" sz="2000" i="1" smtClean="0">
                              <a:latin typeface="Cambria Math" panose="02040503050406030204" pitchFamily="18" charset="0"/>
                            </a:rPr>
                            <m:t>𝐸</m:t>
                          </m:r>
                          <m:d>
                            <m:dPr>
                              <m:begChr m:val="["/>
                              <m:endChr m:val="]"/>
                              <m:ctrlPr>
                                <a:rPr lang="zh-CN" altLang="en-US" sz="2000" i="1" smtClean="0">
                                  <a:latin typeface="Cambria Math" panose="02040503050406030204" pitchFamily="18" charset="0"/>
                                </a:rPr>
                              </m:ctrlPr>
                            </m:dPr>
                            <m:e>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𝑌</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𝑍</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=0</m:t>
                              </m:r>
                            </m:e>
                          </m:d>
                        </m:e>
                        <m:e>
                          <m:r>
                            <a:rPr lang="zh-CN" altLang="en-US" sz="2000" i="1" smtClean="0">
                              <a:latin typeface="Cambria Math" panose="02040503050406030204" pitchFamily="18" charset="0"/>
                            </a:rPr>
                            <m:t>𝐼𝑇</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𝑇</m:t>
                              </m:r>
                            </m:e>
                            <m:sub>
                              <m:r>
                                <a:rPr lang="zh-CN" altLang="en-US" sz="2000" i="1" smtClean="0">
                                  <a:latin typeface="Cambria Math" panose="02040503050406030204" pitchFamily="18" charset="0"/>
                                </a:rPr>
                                <m:t>𝐷</m:t>
                              </m:r>
                            </m:sub>
                          </m:sSub>
                          <m:r>
                            <m:rPr>
                              <m:aln/>
                            </m:rPr>
                            <a:rPr lang="zh-CN" altLang="en-US" sz="2000" i="1" smtClean="0">
                              <a:latin typeface="Cambria Math" panose="02040503050406030204" pitchFamily="18" charset="0"/>
                            </a:rPr>
                            <m:t>&amp;</m:t>
                          </m:r>
                          <m:r>
                            <a:rPr lang="zh-CN" altLang="en-US" sz="2000" i="1" smtClean="0">
                              <a:latin typeface="Cambria Math" panose="02040503050406030204" pitchFamily="18" charset="0"/>
                            </a:rPr>
                            <m:t>=</m:t>
                          </m:r>
                          <m:r>
                            <a:rPr lang="zh-CN" altLang="en-US" sz="2000" i="1" smtClean="0">
                              <a:latin typeface="Cambria Math" panose="02040503050406030204" pitchFamily="18" charset="0"/>
                            </a:rPr>
                            <m:t>𝐸</m:t>
                          </m:r>
                          <m:d>
                            <m:dPr>
                              <m:begChr m:val="["/>
                              <m:endChr m:val="]"/>
                              <m:ctrlPr>
                                <a:rPr lang="zh-CN" altLang="en-US" sz="2000" i="1" smtClean="0">
                                  <a:latin typeface="Cambria Math" panose="02040503050406030204" pitchFamily="18" charset="0"/>
                                </a:rPr>
                              </m:ctrlPr>
                            </m:dPr>
                            <m:e>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𝐷</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𝑍</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=1</m:t>
                              </m:r>
                            </m:e>
                          </m:d>
                          <m:r>
                            <a:rPr lang="zh-CN" altLang="en-US" sz="2000" i="1" smtClean="0">
                              <a:latin typeface="Cambria Math" panose="02040503050406030204" pitchFamily="18" charset="0"/>
                            </a:rPr>
                            <m:t>−</m:t>
                          </m:r>
                          <m:r>
                            <a:rPr lang="zh-CN" altLang="en-US" sz="2000" i="1" smtClean="0">
                              <a:latin typeface="Cambria Math" panose="02040503050406030204" pitchFamily="18" charset="0"/>
                            </a:rPr>
                            <m:t>𝐸</m:t>
                          </m:r>
                          <m:d>
                            <m:dPr>
                              <m:begChr m:val="["/>
                              <m:endChr m:val="]"/>
                              <m:ctrlPr>
                                <a:rPr lang="zh-CN" altLang="en-US" sz="2000" i="1" smtClean="0">
                                  <a:latin typeface="Cambria Math" panose="02040503050406030204" pitchFamily="18" charset="0"/>
                                </a:rPr>
                              </m:ctrlPr>
                            </m:dPr>
                            <m:e>
                              <m:r>
                                <m:rPr>
                                  <m:sty m:val="p"/>
                                </m:rPr>
                                <a:rPr lang="zh-CN" altLang="en-US" sz="2000" i="1" smtClean="0">
                                  <a:latin typeface="Cambria Math" panose="02040503050406030204" pitchFamily="18" charset="0"/>
                                </a:rPr>
                                <m:t>Δ</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𝐷</m:t>
                                  </m:r>
                                </m:e>
                                <m:sub>
                                  <m:r>
                                    <a:rPr lang="zh-CN" altLang="en-US" sz="2000" i="1" smtClean="0">
                                      <a:latin typeface="Cambria Math" panose="02040503050406030204" pitchFamily="18" charset="0"/>
                                    </a:rPr>
                                    <m:t>𝑖𝑡</m:t>
                                  </m:r>
                                </m:sub>
                              </m:sSub>
                              <m:r>
                                <a:rPr lang="zh-CN" altLang="en-US" sz="2000" i="1" smtClean="0">
                                  <a:latin typeface="Cambria Math" panose="02040503050406030204" pitchFamily="18" charset="0"/>
                                </a:rPr>
                                <m:t>|</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𝑍</m:t>
                                  </m:r>
                                </m:e>
                                <m:sub>
                                  <m:r>
                                    <a:rPr lang="zh-CN" altLang="en-US" sz="2000" i="1" smtClean="0">
                                      <a:latin typeface="Cambria Math" panose="02040503050406030204" pitchFamily="18" charset="0"/>
                                    </a:rPr>
                                    <m:t>𝑖</m:t>
                                  </m:r>
                                </m:sub>
                              </m:sSub>
                              <m:r>
                                <a:rPr lang="zh-CN" altLang="en-US" sz="2000" i="1" smtClean="0">
                                  <a:latin typeface="Cambria Math" panose="02040503050406030204" pitchFamily="18" charset="0"/>
                                </a:rPr>
                                <m:t>=0</m:t>
                              </m:r>
                            </m:e>
                          </m:d>
                        </m:e>
                      </m:eqArr>
                    </m:oMath>
                  </m:oMathPara>
                </a14:m>
                <a:endParaRPr lang="en-US" altLang="zh-CN" sz="2000" dirty="0"/>
              </a:p>
              <a:p>
                <a:r>
                  <a:rPr lang="zh-CN" altLang="en-US" sz="2000" dirty="0"/>
                  <a:t>𝐷 对𝑌 的因果影响为</a:t>
                </a:r>
                <a:endParaRPr lang="en-US" altLang="zh-CN" sz="2000" dirty="0"/>
              </a:p>
              <a:p>
                <a:pPr marL="0" indent="0">
                  <a:buNone/>
                </a:pPr>
                <a14:m>
                  <m:oMathPara xmlns:m="http://schemas.openxmlformats.org/officeDocument/2006/math">
                    <m:oMath>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𝜏</m:t>
                          </m:r>
                        </m:e>
                        <m:sub>
                          <m:r>
                            <a:rPr lang="zh-CN" altLang="en-US" sz="2000" i="1" smtClean="0">
                              <a:latin typeface="Cambria Math" panose="02040503050406030204" pitchFamily="18" charset="0"/>
                            </a:rPr>
                            <m:t>𝐼𝑉</m:t>
                          </m:r>
                        </m:sub>
                      </m:sSub>
                      <m:r>
                        <a:rPr lang="zh-CN" altLang="en-US" sz="2000" i="1" smtClean="0">
                          <a:latin typeface="Cambria Math" panose="02040503050406030204" pitchFamily="18" charset="0"/>
                        </a:rPr>
                        <m:t>=</m:t>
                      </m:r>
                      <m:f>
                        <m:fPr>
                          <m:ctrlPr>
                            <a:rPr lang="zh-CN" altLang="en-US" sz="2000" i="1" smtClean="0">
                              <a:latin typeface="Cambria Math" panose="02040503050406030204" pitchFamily="18" charset="0"/>
                            </a:rPr>
                          </m:ctrlPr>
                        </m:fPr>
                        <m:num>
                          <m:r>
                            <a:rPr lang="zh-CN" altLang="en-US" sz="2000" i="1" smtClean="0">
                              <a:latin typeface="Cambria Math" panose="02040503050406030204" pitchFamily="18" charset="0"/>
                            </a:rPr>
                            <m:t>𝐼𝑇</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𝑇</m:t>
                              </m:r>
                            </m:e>
                            <m:sub>
                              <m:r>
                                <a:rPr lang="zh-CN" altLang="en-US" sz="2000" i="1" smtClean="0">
                                  <a:latin typeface="Cambria Math" panose="02040503050406030204" pitchFamily="18" charset="0"/>
                                </a:rPr>
                                <m:t>𝑌</m:t>
                              </m:r>
                            </m:sub>
                          </m:sSub>
                        </m:num>
                        <m:den>
                          <m:r>
                            <a:rPr lang="zh-CN" altLang="en-US" sz="2000" i="1" smtClean="0">
                              <a:latin typeface="Cambria Math" panose="02040503050406030204" pitchFamily="18" charset="0"/>
                            </a:rPr>
                            <m:t>𝐼𝑇</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𝑇</m:t>
                              </m:r>
                            </m:e>
                            <m:sub>
                              <m:r>
                                <a:rPr lang="zh-CN" altLang="en-US" sz="2000" i="1" smtClean="0">
                                  <a:latin typeface="Cambria Math" panose="02040503050406030204" pitchFamily="18" charset="0"/>
                                </a:rPr>
                                <m:t>𝐷</m:t>
                              </m:r>
                            </m:sub>
                          </m:sSub>
                        </m:den>
                      </m:f>
                      <m:r>
                        <a:rPr lang="zh-CN" altLang="en-US" sz="2000" i="1" smtClean="0">
                          <a:latin typeface="Cambria Math" panose="02040503050406030204" pitchFamily="18" charset="0"/>
                        </a:rPr>
                        <m:t>.</m:t>
                      </m:r>
                    </m:oMath>
                  </m:oMathPara>
                </a14:m>
                <a:endParaRPr lang="zh-CN" altLang="en-US" sz="2000" dirty="0"/>
              </a:p>
            </p:txBody>
          </p:sp>
        </mc:Choice>
        <mc:Fallback xmlns="">
          <p:sp>
            <p:nvSpPr>
              <p:cNvPr id="3" name="内容占位符 2">
                <a:extLst>
                  <a:ext uri="{FF2B5EF4-FFF2-40B4-BE49-F238E27FC236}">
                    <a16:creationId xmlns:a16="http://schemas.microsoft.com/office/drawing/2014/main" id="{64E332CA-43BF-2B33-AD17-9E245DEAC835}"/>
                  </a:ext>
                </a:extLst>
              </p:cNvPr>
              <p:cNvSpPr>
                <a:spLocks noGrp="1" noRot="1" noChangeAspect="1" noMove="1" noResize="1" noEditPoints="1" noAdjustHandles="1" noChangeArrowheads="1" noChangeShapeType="1" noTextEdit="1"/>
              </p:cNvSpPr>
              <p:nvPr>
                <p:ph idx="1"/>
              </p:nvPr>
            </p:nvSpPr>
            <p:spPr>
              <a:blipFill>
                <a:blip r:embed="rId2"/>
                <a:stretch>
                  <a:fillRect l="-773" t="-840" r="-3864" b="-406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C1E447D-2422-2B03-065E-7CA081E32F6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F26FE1C-48CA-6E61-B7D0-579638081A55}"/>
              </a:ext>
            </a:extLst>
          </p:cNvPr>
          <p:cNvSpPr>
            <a:spLocks noGrp="1"/>
          </p:cNvSpPr>
          <p:nvPr>
            <p:ph type="sldNum" sz="quarter" idx="12"/>
          </p:nvPr>
        </p:nvSpPr>
        <p:spPr/>
        <p:txBody>
          <a:bodyPr/>
          <a:lstStyle/>
          <a:p>
            <a:fld id="{D41FC515-8169-4A29-AA56-DBE520D5741B}" type="slidenum">
              <a:rPr lang="zh-CN" altLang="en-US" smtClean="0"/>
              <a:t>41</a:t>
            </a:fld>
            <a:endParaRPr lang="zh-CN" altLang="en-US"/>
          </a:p>
        </p:txBody>
      </p:sp>
      <p:pic>
        <p:nvPicPr>
          <p:cNvPr id="7" name="图片 6">
            <a:extLst>
              <a:ext uri="{FF2B5EF4-FFF2-40B4-BE49-F238E27FC236}">
                <a16:creationId xmlns:a16="http://schemas.microsoft.com/office/drawing/2014/main" id="{AAF3E156-F825-6414-FC96-F4E0A81656F7}"/>
              </a:ext>
            </a:extLst>
          </p:cNvPr>
          <p:cNvPicPr>
            <a:picLocks noChangeAspect="1"/>
          </p:cNvPicPr>
          <p:nvPr/>
        </p:nvPicPr>
        <p:blipFill>
          <a:blip r:embed="rId3"/>
          <a:stretch>
            <a:fillRect/>
          </a:stretch>
        </p:blipFill>
        <p:spPr>
          <a:xfrm>
            <a:off x="3557822" y="3953166"/>
            <a:ext cx="247685" cy="323895"/>
          </a:xfrm>
          <a:prstGeom prst="rect">
            <a:avLst/>
          </a:prstGeom>
        </p:spPr>
      </p:pic>
    </p:spTree>
    <p:extLst>
      <p:ext uri="{BB962C8B-B14F-4D97-AF65-F5344CB8AC3E}">
        <p14:creationId xmlns:p14="http://schemas.microsoft.com/office/powerpoint/2010/main" val="3887349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A84E8-9511-1F5B-B7FD-BAFDEA007BCF}"/>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p:pic>
        <p:nvPicPr>
          <p:cNvPr id="7" name="内容占位符 6">
            <a:extLst>
              <a:ext uri="{FF2B5EF4-FFF2-40B4-BE49-F238E27FC236}">
                <a16:creationId xmlns:a16="http://schemas.microsoft.com/office/drawing/2014/main" id="{60FC3620-55C2-CCFA-F278-C354DAD4A164}"/>
              </a:ext>
            </a:extLst>
          </p:cNvPr>
          <p:cNvPicPr>
            <a:picLocks noGrp="1" noChangeAspect="1"/>
          </p:cNvPicPr>
          <p:nvPr>
            <p:ph idx="1"/>
          </p:nvPr>
        </p:nvPicPr>
        <p:blipFill>
          <a:blip r:embed="rId2"/>
          <a:stretch>
            <a:fillRect/>
          </a:stretch>
        </p:blipFill>
        <p:spPr>
          <a:xfrm>
            <a:off x="628650" y="1900989"/>
            <a:ext cx="7448750" cy="3934327"/>
          </a:xfrm>
          <a:prstGeom prst="rect">
            <a:avLst/>
          </a:prstGeom>
        </p:spPr>
      </p:pic>
      <p:sp>
        <p:nvSpPr>
          <p:cNvPr id="4" name="页脚占位符 3">
            <a:extLst>
              <a:ext uri="{FF2B5EF4-FFF2-40B4-BE49-F238E27FC236}">
                <a16:creationId xmlns:a16="http://schemas.microsoft.com/office/drawing/2014/main" id="{5136B402-74FA-24CA-D9F1-B997FD8E1A6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BF37467-A97E-C2D6-ABCF-629C2612EB39}"/>
              </a:ext>
            </a:extLst>
          </p:cNvPr>
          <p:cNvSpPr>
            <a:spLocks noGrp="1"/>
          </p:cNvSpPr>
          <p:nvPr>
            <p:ph type="sldNum" sz="quarter" idx="12"/>
          </p:nvPr>
        </p:nvSpPr>
        <p:spPr/>
        <p:txBody>
          <a:bodyPr/>
          <a:lstStyle/>
          <a:p>
            <a:fld id="{D41FC515-8169-4A29-AA56-DBE520D5741B}" type="slidenum">
              <a:rPr lang="zh-CN" altLang="en-US" smtClean="0"/>
              <a:t>42</a:t>
            </a:fld>
            <a:endParaRPr lang="zh-CN" altLang="en-US"/>
          </a:p>
        </p:txBody>
      </p:sp>
    </p:spTree>
    <p:extLst>
      <p:ext uri="{BB962C8B-B14F-4D97-AF65-F5344CB8AC3E}">
        <p14:creationId xmlns:p14="http://schemas.microsoft.com/office/powerpoint/2010/main" val="1544391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D9483-BBAF-7CE7-029D-A1DD96449E9B}"/>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p:pic>
        <p:nvPicPr>
          <p:cNvPr id="7" name="内容占位符 6">
            <a:extLst>
              <a:ext uri="{FF2B5EF4-FFF2-40B4-BE49-F238E27FC236}">
                <a16:creationId xmlns:a16="http://schemas.microsoft.com/office/drawing/2014/main" id="{31961BE3-81E3-B1AD-3481-9F1CD8228F4E}"/>
              </a:ext>
            </a:extLst>
          </p:cNvPr>
          <p:cNvPicPr>
            <a:picLocks noGrp="1" noChangeAspect="1"/>
          </p:cNvPicPr>
          <p:nvPr>
            <p:ph idx="1"/>
          </p:nvPr>
        </p:nvPicPr>
        <p:blipFill>
          <a:blip r:embed="rId2"/>
          <a:stretch>
            <a:fillRect/>
          </a:stretch>
        </p:blipFill>
        <p:spPr>
          <a:xfrm>
            <a:off x="628650" y="1908410"/>
            <a:ext cx="7886700" cy="4185768"/>
          </a:xfrm>
          <a:prstGeom prst="rect">
            <a:avLst/>
          </a:prstGeom>
        </p:spPr>
      </p:pic>
      <p:sp>
        <p:nvSpPr>
          <p:cNvPr id="4" name="页脚占位符 3">
            <a:extLst>
              <a:ext uri="{FF2B5EF4-FFF2-40B4-BE49-F238E27FC236}">
                <a16:creationId xmlns:a16="http://schemas.microsoft.com/office/drawing/2014/main" id="{5049C24C-F15C-9C2A-13D7-2544970F8C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EA51458-0B9F-35E7-572A-570C5DA48CD0}"/>
              </a:ext>
            </a:extLst>
          </p:cNvPr>
          <p:cNvSpPr>
            <a:spLocks noGrp="1"/>
          </p:cNvSpPr>
          <p:nvPr>
            <p:ph type="sldNum" sz="quarter" idx="12"/>
          </p:nvPr>
        </p:nvSpPr>
        <p:spPr/>
        <p:txBody>
          <a:bodyPr/>
          <a:lstStyle/>
          <a:p>
            <a:fld id="{D41FC515-8169-4A29-AA56-DBE520D5741B}" type="slidenum">
              <a:rPr lang="zh-CN" altLang="en-US" smtClean="0"/>
              <a:t>43</a:t>
            </a:fld>
            <a:endParaRPr lang="zh-CN" altLang="en-US"/>
          </a:p>
        </p:txBody>
      </p:sp>
    </p:spTree>
    <p:extLst>
      <p:ext uri="{BB962C8B-B14F-4D97-AF65-F5344CB8AC3E}">
        <p14:creationId xmlns:p14="http://schemas.microsoft.com/office/powerpoint/2010/main" val="2909794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D1746F-6CF8-F2AE-F678-7B82DA4085C7}"/>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p:pic>
        <p:nvPicPr>
          <p:cNvPr id="7" name="内容占位符 6">
            <a:extLst>
              <a:ext uri="{FF2B5EF4-FFF2-40B4-BE49-F238E27FC236}">
                <a16:creationId xmlns:a16="http://schemas.microsoft.com/office/drawing/2014/main" id="{F66D8C34-0D28-9998-5564-98D5131DD320}"/>
              </a:ext>
            </a:extLst>
          </p:cNvPr>
          <p:cNvPicPr>
            <a:picLocks noGrp="1" noChangeAspect="1"/>
          </p:cNvPicPr>
          <p:nvPr>
            <p:ph idx="1"/>
          </p:nvPr>
        </p:nvPicPr>
        <p:blipFill>
          <a:blip r:embed="rId2"/>
          <a:stretch>
            <a:fillRect/>
          </a:stretch>
        </p:blipFill>
        <p:spPr>
          <a:xfrm>
            <a:off x="1008607" y="1825625"/>
            <a:ext cx="7126786" cy="4351338"/>
          </a:xfrm>
          <a:prstGeom prst="rect">
            <a:avLst/>
          </a:prstGeom>
        </p:spPr>
      </p:pic>
      <p:sp>
        <p:nvSpPr>
          <p:cNvPr id="4" name="页脚占位符 3">
            <a:extLst>
              <a:ext uri="{FF2B5EF4-FFF2-40B4-BE49-F238E27FC236}">
                <a16:creationId xmlns:a16="http://schemas.microsoft.com/office/drawing/2014/main" id="{2E5505DD-14D0-1F05-553A-1BDC31DF3A4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7A5C19C-F1B9-D982-12E0-EA9444C72025}"/>
              </a:ext>
            </a:extLst>
          </p:cNvPr>
          <p:cNvSpPr>
            <a:spLocks noGrp="1"/>
          </p:cNvSpPr>
          <p:nvPr>
            <p:ph type="sldNum" sz="quarter" idx="12"/>
          </p:nvPr>
        </p:nvSpPr>
        <p:spPr/>
        <p:txBody>
          <a:bodyPr/>
          <a:lstStyle/>
          <a:p>
            <a:fld id="{D41FC515-8169-4A29-AA56-DBE520D5741B}" type="slidenum">
              <a:rPr lang="zh-CN" altLang="en-US" smtClean="0"/>
              <a:t>44</a:t>
            </a:fld>
            <a:endParaRPr lang="zh-CN" altLang="en-US"/>
          </a:p>
        </p:txBody>
      </p:sp>
    </p:spTree>
    <p:extLst>
      <p:ext uri="{BB962C8B-B14F-4D97-AF65-F5344CB8AC3E}">
        <p14:creationId xmlns:p14="http://schemas.microsoft.com/office/powerpoint/2010/main" val="17063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E5DFA-EC4D-BB37-55AF-1A40B8C28AF5}"/>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p:pic>
        <p:nvPicPr>
          <p:cNvPr id="7" name="内容占位符 6">
            <a:extLst>
              <a:ext uri="{FF2B5EF4-FFF2-40B4-BE49-F238E27FC236}">
                <a16:creationId xmlns:a16="http://schemas.microsoft.com/office/drawing/2014/main" id="{62E618A1-A663-F5B1-C57A-E47FE1F7FDF6}"/>
              </a:ext>
            </a:extLst>
          </p:cNvPr>
          <p:cNvPicPr>
            <a:picLocks noGrp="1" noChangeAspect="1"/>
          </p:cNvPicPr>
          <p:nvPr>
            <p:ph idx="1"/>
          </p:nvPr>
        </p:nvPicPr>
        <p:blipFill>
          <a:blip r:embed="rId2"/>
          <a:stretch>
            <a:fillRect/>
          </a:stretch>
        </p:blipFill>
        <p:spPr>
          <a:xfrm>
            <a:off x="1560694" y="1825625"/>
            <a:ext cx="6022612" cy="4351338"/>
          </a:xfrm>
          <a:prstGeom prst="rect">
            <a:avLst/>
          </a:prstGeom>
        </p:spPr>
      </p:pic>
      <p:sp>
        <p:nvSpPr>
          <p:cNvPr id="4" name="页脚占位符 3">
            <a:extLst>
              <a:ext uri="{FF2B5EF4-FFF2-40B4-BE49-F238E27FC236}">
                <a16:creationId xmlns:a16="http://schemas.microsoft.com/office/drawing/2014/main" id="{77A26BA6-8A75-87B7-DAE6-B0AD15972C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02B99D1-017D-84E8-B42D-6C708B924436}"/>
              </a:ext>
            </a:extLst>
          </p:cNvPr>
          <p:cNvSpPr>
            <a:spLocks noGrp="1"/>
          </p:cNvSpPr>
          <p:nvPr>
            <p:ph type="sldNum" sz="quarter" idx="12"/>
          </p:nvPr>
        </p:nvSpPr>
        <p:spPr/>
        <p:txBody>
          <a:bodyPr/>
          <a:lstStyle/>
          <a:p>
            <a:fld id="{D41FC515-8169-4A29-AA56-DBE520D5741B}" type="slidenum">
              <a:rPr lang="zh-CN" altLang="en-US" smtClean="0"/>
              <a:t>45</a:t>
            </a:fld>
            <a:endParaRPr lang="zh-CN" altLang="en-US"/>
          </a:p>
        </p:txBody>
      </p:sp>
    </p:spTree>
    <p:extLst>
      <p:ext uri="{BB962C8B-B14F-4D97-AF65-F5344CB8AC3E}">
        <p14:creationId xmlns:p14="http://schemas.microsoft.com/office/powerpoint/2010/main" val="36166612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77E7B1-FE9E-5976-B713-8D4FBED6061F}"/>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p:pic>
        <p:nvPicPr>
          <p:cNvPr id="9" name="内容占位符 8">
            <a:extLst>
              <a:ext uri="{FF2B5EF4-FFF2-40B4-BE49-F238E27FC236}">
                <a16:creationId xmlns:a16="http://schemas.microsoft.com/office/drawing/2014/main" id="{AD48E11D-F69E-91C6-472C-4CAB0A8EBAC6}"/>
              </a:ext>
            </a:extLst>
          </p:cNvPr>
          <p:cNvPicPr>
            <a:picLocks noGrp="1" noChangeAspect="1"/>
          </p:cNvPicPr>
          <p:nvPr>
            <p:ph idx="1"/>
          </p:nvPr>
        </p:nvPicPr>
        <p:blipFill>
          <a:blip r:embed="rId2"/>
          <a:stretch>
            <a:fillRect/>
          </a:stretch>
        </p:blipFill>
        <p:spPr>
          <a:xfrm>
            <a:off x="1228725" y="1690689"/>
            <a:ext cx="6686550" cy="4692171"/>
          </a:xfrm>
          <a:prstGeom prst="rect">
            <a:avLst/>
          </a:prstGeom>
        </p:spPr>
      </p:pic>
      <p:sp>
        <p:nvSpPr>
          <p:cNvPr id="4" name="页脚占位符 3">
            <a:extLst>
              <a:ext uri="{FF2B5EF4-FFF2-40B4-BE49-F238E27FC236}">
                <a16:creationId xmlns:a16="http://schemas.microsoft.com/office/drawing/2014/main" id="{972DE88C-6912-CC70-56BC-0043398B98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E54803B-745B-4AA5-F4AD-84AA5F0BC821}"/>
              </a:ext>
            </a:extLst>
          </p:cNvPr>
          <p:cNvSpPr>
            <a:spLocks noGrp="1"/>
          </p:cNvSpPr>
          <p:nvPr>
            <p:ph type="sldNum" sz="quarter" idx="12"/>
          </p:nvPr>
        </p:nvSpPr>
        <p:spPr/>
        <p:txBody>
          <a:bodyPr/>
          <a:lstStyle/>
          <a:p>
            <a:fld id="{D41FC515-8169-4A29-AA56-DBE520D5741B}" type="slidenum">
              <a:rPr lang="zh-CN" altLang="en-US" smtClean="0"/>
              <a:t>46</a:t>
            </a:fld>
            <a:endParaRPr lang="zh-CN" altLang="en-US"/>
          </a:p>
        </p:txBody>
      </p:sp>
    </p:spTree>
    <p:extLst>
      <p:ext uri="{BB962C8B-B14F-4D97-AF65-F5344CB8AC3E}">
        <p14:creationId xmlns:p14="http://schemas.microsoft.com/office/powerpoint/2010/main" val="1130460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8B258C-803F-422D-E3B1-7221775F6C09}"/>
              </a:ext>
            </a:extLst>
          </p:cNvPr>
          <p:cNvSpPr>
            <a:spLocks noGrp="1"/>
          </p:cNvSpPr>
          <p:nvPr>
            <p:ph type="title"/>
          </p:nvPr>
        </p:nvSpPr>
        <p:spPr/>
        <p:txBody>
          <a:bodyPr/>
          <a:lstStyle/>
          <a:p>
            <a:r>
              <a:rPr lang="en-US" altLang="zh-CN" dirty="0"/>
              <a:t>DID-IV </a:t>
            </a:r>
            <a:r>
              <a:rPr lang="zh-CN" altLang="en-US" dirty="0"/>
              <a:t>设计</a:t>
            </a:r>
            <a:br>
              <a:rPr lang="zh-CN" altLang="en-US" dirty="0"/>
            </a:br>
            <a:r>
              <a:rPr lang="en-US" altLang="zh-CN" sz="2400" dirty="0"/>
              <a:t>Duflo (2001)</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DD24DE6-0B09-8B4F-91F0-98D6CFCEEFEE}"/>
                  </a:ext>
                </a:extLst>
              </p:cNvPr>
              <p:cNvSpPr>
                <a:spLocks noGrp="1"/>
              </p:cNvSpPr>
              <p:nvPr>
                <p:ph idx="1"/>
              </p:nvPr>
            </p:nvSpPr>
            <p:spPr/>
            <p:txBody>
              <a:bodyPr>
                <a:normAutofit fontScale="77500" lnSpcReduction="20000"/>
              </a:bodyPr>
              <a:lstStyle/>
              <a:p>
                <a:pPr>
                  <a:lnSpc>
                    <a:spcPct val="120000"/>
                  </a:lnSpc>
                </a:pPr>
                <a:r>
                  <a:rPr lang="zh-CN" altLang="en-US" dirty="0"/>
                  <a:t>用回归实现，上述</a:t>
                </a:r>
                <a:r>
                  <a:rPr lang="en-US" altLang="zh-CN" dirty="0"/>
                  <a:t>ITT </a:t>
                </a:r>
                <a:r>
                  <a:rPr lang="zh-CN" altLang="en-US" dirty="0"/>
                  <a:t>对应于两个简化式：</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把第</a:t>
                </a:r>
                <a:r>
                  <a:rPr lang="en-US" altLang="zh-CN" dirty="0"/>
                  <a:t>2 </a:t>
                </a:r>
                <a:r>
                  <a:rPr lang="zh-CN" altLang="en-US" dirty="0"/>
                  <a:t>个简化式，即工具变量回归的第一阶段代入结构式，整理后，即可得到第</a:t>
                </a:r>
                <a:r>
                  <a:rPr lang="en-US" altLang="zh-CN" dirty="0"/>
                  <a:t>1</a:t>
                </a:r>
                <a:r>
                  <a:rPr lang="zh-CN" altLang="en-US" dirty="0"/>
                  <a:t>个简化式，并可以得到参数之间的对应关系：</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𝜏</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𝛽</m:t>
                          </m:r>
                        </m:num>
                        <m:den>
                          <m:r>
                            <a:rPr lang="zh-CN" altLang="en-US" i="1" smtClean="0">
                              <a:latin typeface="Cambria Math" panose="02040503050406030204" pitchFamily="18" charset="0"/>
                            </a:rPr>
                            <m:t>𝛼</m:t>
                          </m:r>
                        </m:den>
                      </m:f>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回归实现</a:t>
                </a:r>
                <a:r>
                  <a:rPr lang="en-US" altLang="zh-CN" dirty="0"/>
                  <a:t>:</a:t>
                </a:r>
              </a:p>
              <a:p>
                <a:pPr lvl="1">
                  <a:lnSpc>
                    <a:spcPct val="120000"/>
                  </a:lnSpc>
                </a:pPr>
                <a:r>
                  <a:rPr lang="fr-FR" altLang="zh-CN" dirty="0"/>
                  <a:t>ivregress 2sls Y (D= Z ZT) T X</a:t>
                </a:r>
              </a:p>
              <a:p>
                <a:pPr lvl="1">
                  <a:lnSpc>
                    <a:spcPct val="120000"/>
                  </a:lnSpc>
                </a:pPr>
                <a:r>
                  <a:rPr lang="fr-FR" altLang="zh-CN" dirty="0"/>
                  <a:t>xtivreg Y (D=ZT) X T, fe</a:t>
                </a:r>
                <a:endParaRPr lang="zh-CN" altLang="en-US" dirty="0"/>
              </a:p>
            </p:txBody>
          </p:sp>
        </mc:Choice>
        <mc:Fallback xmlns="">
          <p:sp>
            <p:nvSpPr>
              <p:cNvPr id="3" name="内容占位符 2">
                <a:extLst>
                  <a:ext uri="{FF2B5EF4-FFF2-40B4-BE49-F238E27FC236}">
                    <a16:creationId xmlns:a16="http://schemas.microsoft.com/office/drawing/2014/main" id="{FDD24DE6-0B09-8B4F-91F0-98D6CFCEEFEE}"/>
                  </a:ext>
                </a:extLst>
              </p:cNvPr>
              <p:cNvSpPr>
                <a:spLocks noGrp="1" noRot="1" noChangeAspect="1" noMove="1" noResize="1" noEditPoints="1" noAdjustHandles="1" noChangeArrowheads="1" noChangeShapeType="1" noTextEdit="1"/>
              </p:cNvSpPr>
              <p:nvPr>
                <p:ph idx="1"/>
              </p:nvPr>
            </p:nvSpPr>
            <p:spPr>
              <a:blipFill>
                <a:blip r:embed="rId2"/>
                <a:stretch>
                  <a:fillRect l="-850" t="-840" r="-1005" b="-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6ECE87D-EEB9-A010-A368-C0C81DE587E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88395B5-BCDD-3EEE-03A7-521852EB1F5C}"/>
              </a:ext>
            </a:extLst>
          </p:cNvPr>
          <p:cNvSpPr>
            <a:spLocks noGrp="1"/>
          </p:cNvSpPr>
          <p:nvPr>
            <p:ph type="sldNum" sz="quarter" idx="12"/>
          </p:nvPr>
        </p:nvSpPr>
        <p:spPr/>
        <p:txBody>
          <a:bodyPr/>
          <a:lstStyle/>
          <a:p>
            <a:fld id="{D41FC515-8169-4A29-AA56-DBE520D5741B}" type="slidenum">
              <a:rPr lang="zh-CN" altLang="en-US" smtClean="0"/>
              <a:t>47</a:t>
            </a:fld>
            <a:endParaRPr lang="zh-CN" altLang="en-US"/>
          </a:p>
        </p:txBody>
      </p:sp>
    </p:spTree>
    <p:extLst>
      <p:ext uri="{BB962C8B-B14F-4D97-AF65-F5344CB8AC3E}">
        <p14:creationId xmlns:p14="http://schemas.microsoft.com/office/powerpoint/2010/main" val="1688704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41733-53E7-ED4E-CAF3-A226293D5020}"/>
              </a:ext>
            </a:extLst>
          </p:cNvPr>
          <p:cNvSpPr>
            <a:spLocks noGrp="1"/>
          </p:cNvSpPr>
          <p:nvPr>
            <p:ph type="title"/>
          </p:nvPr>
        </p:nvSpPr>
        <p:spPr/>
        <p:txBody>
          <a:bodyPr/>
          <a:lstStyle/>
          <a:p>
            <a:r>
              <a:rPr lang="zh-CN" altLang="en-US" dirty="0"/>
              <a:t>三重差分法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3D747C-B96A-3C2F-BA1C-A187FF8751A9}"/>
                  </a:ext>
                </a:extLst>
              </p:cNvPr>
              <p:cNvSpPr>
                <a:spLocks noGrp="1"/>
              </p:cNvSpPr>
              <p:nvPr>
                <p:ph idx="1"/>
              </p:nvPr>
            </p:nvSpPr>
            <p:spPr/>
            <p:txBody>
              <a:bodyPr>
                <a:normAutofit/>
              </a:bodyPr>
              <a:lstStyle/>
              <a:p>
                <a:pPr>
                  <a:lnSpc>
                    <a:spcPct val="120000"/>
                  </a:lnSpc>
                </a:pPr>
                <a:r>
                  <a:rPr lang="zh-CN" altLang="en-US" sz="1600" dirty="0"/>
                  <a:t>平行趋势不满足，即</a:t>
                </a:r>
                <a14:m>
                  <m:oMath xmlns:m="http://schemas.openxmlformats.org/officeDocument/2006/math">
                    <m:r>
                      <m:rPr>
                        <m:sty m:val="p"/>
                      </m:rPr>
                      <a:rPr lang="en-US" altLang="zh-CN" sz="1600" i="0" dirty="0" smtClean="0">
                        <a:latin typeface="Cambria Math" panose="02040503050406030204" pitchFamily="18" charset="0"/>
                      </a:rPr>
                      <m:t>Δ</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𝑖𝑡</m:t>
                        </m:r>
                      </m:sub>
                    </m:sSub>
                    <m:r>
                      <a:rPr lang="en-US" altLang="zh-CN" sz="1600" i="1" dirty="0">
                        <a:latin typeface="Cambria Math" panose="02040503050406030204" pitchFamily="18" charset="0"/>
                      </a:rPr>
                      <m:t>(0) </m:t>
                    </m:r>
                    <m:r>
                      <a:rPr lang="en-US" altLang="zh-CN" sz="1600" b="0" i="1" dirty="0" smtClean="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oMath>
                </a14:m>
                <a:r>
                  <a:rPr lang="zh-CN" altLang="en-US" sz="1600" dirty="0"/>
                  <a:t>，但是可以找到一组没有实施政策的群体，控制不平行的趋势。即对于基线潜在结果，满足</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𝐷𝐼𝐷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𝑧</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oMath>
                  </m:oMathPara>
                </a14:m>
                <a:endParaRPr lang="en-US" altLang="zh-CN" sz="1600" dirty="0"/>
              </a:p>
              <a:p>
                <a:pPr marL="0" indent="0">
                  <a:lnSpc>
                    <a:spcPct val="120000"/>
                  </a:lnSpc>
                  <a:buNone/>
                </a:pPr>
                <a:r>
                  <a:rPr lang="zh-CN" altLang="en-US" sz="1600" dirty="0"/>
                  <a:t>后文均省略了协变量𝑋，其中</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𝐷𝐼𝐷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𝑧</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=1,</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𝑧</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=0,</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𝑧</m:t>
                          </m:r>
                        </m:e>
                      </m:d>
                      <m:r>
                        <a:rPr lang="zh-CN" altLang="en-US" sz="1600" i="1" smtClean="0">
                          <a:latin typeface="Cambria Math" panose="02040503050406030204" pitchFamily="18" charset="0"/>
                        </a:rPr>
                        <m:t>.</m:t>
                      </m:r>
                    </m:oMath>
                  </m:oMathPara>
                </a14:m>
                <a:endParaRPr lang="en-US" altLang="zh-CN" sz="1600" dirty="0"/>
              </a:p>
              <a:p>
                <a:pPr marL="0" indent="0">
                  <a:lnSpc>
                    <a:spcPct val="120000"/>
                  </a:lnSpc>
                  <a:buNone/>
                </a:pPr>
                <a:r>
                  <a:rPr lang="zh-CN" altLang="en-US" sz="1600" dirty="0"/>
                  <a:t>或</a:t>
                </a:r>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r>
                            <m:rPr>
                              <m:aln/>
                            </m:rPr>
                            <a:rPr lang="zh-CN" altLang="en-US" sz="1600" i="1" smtClean="0">
                              <a:latin typeface="Cambria Math" panose="02040503050406030204" pitchFamily="18" charset="0"/>
                            </a:rPr>
                            <m:t>&amp;</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=1,</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=0,</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=1</m:t>
                              </m:r>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=1,</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m:t>
                              </m:r>
                              <m:r>
                                <a:rPr lang="zh-CN" altLang="en-US" sz="1600" i="1" smtClean="0">
                                  <a:latin typeface="Cambria Math" panose="02040503050406030204" pitchFamily="18" charset="0"/>
                                </a:rPr>
                                <m:t>=0,</m:t>
                              </m:r>
                              <m:r>
                                <a:rPr lang="zh-CN" altLang="en-US" sz="1600" i="1" smtClean="0">
                                  <a:latin typeface="Cambria Math" panose="02040503050406030204" pitchFamily="18" charset="0"/>
                                </a:rPr>
                                <m:t>𝑍</m:t>
                              </m:r>
                              <m:r>
                                <a:rPr lang="zh-CN" altLang="en-US" sz="1600" i="1" smtClean="0">
                                  <a:latin typeface="Cambria Math" panose="02040503050406030204" pitchFamily="18" charset="0"/>
                                </a:rPr>
                                <m:t>=0</m:t>
                              </m:r>
                            </m:e>
                          </m:d>
                        </m:e>
                      </m:eqArr>
                    </m:oMath>
                  </m:oMathPara>
                </a14:m>
                <a:endParaRPr lang="en-US" altLang="zh-CN" sz="1600" dirty="0"/>
              </a:p>
              <a:p>
                <a:pPr marL="0" indent="0">
                  <a:lnSpc>
                    <a:spcPct val="120000"/>
                  </a:lnSpc>
                  <a:buNone/>
                </a:pPr>
                <a:r>
                  <a:rPr lang="zh-CN" altLang="en-US" sz="1600" dirty="0"/>
                  <a:t>即</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𝐷𝐼𝐷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𝐷𝐼𝐷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oMath>
                  </m:oMathPara>
                </a14:m>
                <a:endParaRPr lang="en-US" altLang="zh-CN" sz="1600" dirty="0"/>
              </a:p>
              <a:p>
                <a:pPr>
                  <a:lnSpc>
                    <a:spcPct val="120000"/>
                  </a:lnSpc>
                </a:pPr>
                <a:r>
                  <a:rPr lang="zh-CN" altLang="en-US" sz="1600" dirty="0"/>
                  <a:t>混杂因素的影响具有时变性，</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𝑈</m:t>
                        </m:r>
                      </m:e>
                      <m:sub>
                        <m:r>
                          <a:rPr lang="en-US" altLang="zh-CN" sz="1600" i="1" dirty="0" smtClean="0">
                            <a:latin typeface="Cambria Math" panose="02040503050406030204" pitchFamily="18" charset="0"/>
                          </a:rPr>
                          <m:t>𝑖𝑡</m:t>
                        </m:r>
                        <m:r>
                          <a:rPr lang="en-US" altLang="zh-CN" sz="1600" b="0" i="1" dirty="0" smtClean="0">
                            <a:latin typeface="Cambria Math" panose="02040503050406030204" pitchFamily="18" charset="0"/>
                          </a:rPr>
                          <m:t>−1</m:t>
                        </m:r>
                      </m:sub>
                    </m:sSub>
                    <m:r>
                      <a:rPr lang="en-US" altLang="zh-CN" sz="1600" i="1" dirty="0" smtClean="0">
                        <a:latin typeface="Cambria Math" panose="02040503050406030204" pitchFamily="18" charset="0"/>
                      </a:rPr>
                      <m:t>≠</m:t>
                    </m:r>
                    <m:r>
                      <a:rPr lang="en-US" altLang="zh-CN" sz="1600" i="1" dirty="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𝑈</m:t>
                        </m:r>
                      </m:e>
                      <m:sub>
                        <m:r>
                          <a:rPr lang="en-US" altLang="zh-CN" sz="1600" i="1" dirty="0">
                            <a:latin typeface="Cambria Math" panose="02040503050406030204" pitchFamily="18" charset="0"/>
                          </a:rPr>
                          <m:t>𝑖𝑡</m:t>
                        </m:r>
                      </m:sub>
                    </m:sSub>
                  </m:oMath>
                </a14:m>
                <a:r>
                  <a:rPr lang="zh-CN" altLang="en-US" sz="1600" dirty="0"/>
                  <a:t>，但是混杂因素的增量</a:t>
                </a:r>
                <a14:m>
                  <m:oMath xmlns:m="http://schemas.openxmlformats.org/officeDocument/2006/math">
                    <m:r>
                      <m:rPr>
                        <m:sty m:val="p"/>
                      </m:rPr>
                      <a:rPr lang="en-US" altLang="zh-CN" sz="1600" i="0" dirty="0" smtClean="0">
                        <a:latin typeface="Cambria Math" panose="02040503050406030204" pitchFamily="18" charset="0"/>
                      </a:rPr>
                      <m:t>Δ</m:t>
                    </m:r>
                    <m:r>
                      <a:rPr lang="en-US" altLang="zh-CN" sz="1600" i="1" dirty="0" smtClean="0">
                        <a:latin typeface="Cambria Math" panose="02040503050406030204" pitchFamily="18" charset="0"/>
                      </a:rPr>
                      <m:t> </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𝑈</m:t>
                        </m:r>
                      </m:e>
                      <m:sub>
                        <m:r>
                          <a:rPr lang="en-US" altLang="zh-CN" sz="1600" i="1" dirty="0" smtClean="0">
                            <a:latin typeface="Cambria Math" panose="02040503050406030204" pitchFamily="18" charset="0"/>
                          </a:rPr>
                          <m:t>𝑖𝑡</m:t>
                        </m:r>
                      </m:sub>
                    </m:sSub>
                  </m:oMath>
                </a14:m>
                <a:r>
                  <a:rPr lang="zh-CN" altLang="en-US" sz="1600" dirty="0"/>
                  <a:t>，独立于</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𝑍</m:t>
                        </m:r>
                      </m:e>
                      <m:sub>
                        <m:r>
                          <a:rPr lang="en-US" altLang="zh-CN" sz="1600" i="1" dirty="0" err="1">
                            <a:latin typeface="Cambria Math" panose="02040503050406030204" pitchFamily="18" charset="0"/>
                          </a:rPr>
                          <m:t>𝑖</m:t>
                        </m:r>
                      </m:sub>
                    </m:sSub>
                  </m:oMath>
                </a14:m>
                <a:r>
                  <a:rPr lang="zh-CN" altLang="en-US" sz="1600" dirty="0"/>
                  <a:t>。</a:t>
                </a:r>
                <a:endParaRPr lang="en-US" altLang="zh-CN" sz="1600" dirty="0"/>
              </a:p>
              <a:p>
                <a:pPr>
                  <a:lnSpc>
                    <a:spcPct val="120000"/>
                  </a:lnSpc>
                </a:pPr>
                <a:r>
                  <a:rPr lang="zh-CN" altLang="en-US" sz="1600" dirty="0"/>
                  <a:t>这里𝑍 是𝐷 的工具变量。</a:t>
                </a:r>
              </a:p>
            </p:txBody>
          </p:sp>
        </mc:Choice>
        <mc:Fallback xmlns="">
          <p:sp>
            <p:nvSpPr>
              <p:cNvPr id="3" name="内容占位符 2">
                <a:extLst>
                  <a:ext uri="{FF2B5EF4-FFF2-40B4-BE49-F238E27FC236}">
                    <a16:creationId xmlns:a16="http://schemas.microsoft.com/office/drawing/2014/main" id="{E63D747C-B96A-3C2F-BA1C-A187FF8751A9}"/>
                  </a:ext>
                </a:extLst>
              </p:cNvPr>
              <p:cNvSpPr>
                <a:spLocks noGrp="1" noRot="1" noChangeAspect="1" noMove="1" noResize="1" noEditPoints="1" noAdjustHandles="1" noChangeArrowheads="1" noChangeShapeType="1" noTextEdit="1"/>
              </p:cNvSpPr>
              <p:nvPr>
                <p:ph idx="1"/>
              </p:nvPr>
            </p:nvSpPr>
            <p:spPr>
              <a:blipFill>
                <a:blip r:embed="rId2"/>
                <a:stretch>
                  <a:fillRect l="-38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C0649B38-192C-E01F-EF95-842EAF8C0A2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354B7F7-F63D-4BAA-FAD4-BA7D734DEBDB}"/>
              </a:ext>
            </a:extLst>
          </p:cNvPr>
          <p:cNvSpPr>
            <a:spLocks noGrp="1"/>
          </p:cNvSpPr>
          <p:nvPr>
            <p:ph type="sldNum" sz="quarter" idx="12"/>
          </p:nvPr>
        </p:nvSpPr>
        <p:spPr/>
        <p:txBody>
          <a:bodyPr/>
          <a:lstStyle/>
          <a:p>
            <a:fld id="{D41FC515-8169-4A29-AA56-DBE520D5741B}" type="slidenum">
              <a:rPr lang="zh-CN" altLang="en-US" smtClean="0"/>
              <a:t>48</a:t>
            </a:fld>
            <a:endParaRPr lang="zh-CN" altLang="en-US"/>
          </a:p>
        </p:txBody>
      </p:sp>
      <p:pic>
        <p:nvPicPr>
          <p:cNvPr id="7" name="图片 6">
            <a:extLst>
              <a:ext uri="{FF2B5EF4-FFF2-40B4-BE49-F238E27FC236}">
                <a16:creationId xmlns:a16="http://schemas.microsoft.com/office/drawing/2014/main" id="{58595AB2-9EC3-D4D0-792F-FA1276D3230F}"/>
              </a:ext>
            </a:extLst>
          </p:cNvPr>
          <p:cNvPicPr>
            <a:picLocks noChangeAspect="1"/>
          </p:cNvPicPr>
          <p:nvPr/>
        </p:nvPicPr>
        <p:blipFill>
          <a:blip r:embed="rId3"/>
          <a:stretch>
            <a:fillRect/>
          </a:stretch>
        </p:blipFill>
        <p:spPr>
          <a:xfrm>
            <a:off x="3410936" y="1825626"/>
            <a:ext cx="228632" cy="323895"/>
          </a:xfrm>
          <a:prstGeom prst="rect">
            <a:avLst/>
          </a:prstGeom>
        </p:spPr>
      </p:pic>
    </p:spTree>
    <p:extLst>
      <p:ext uri="{BB962C8B-B14F-4D97-AF65-F5344CB8AC3E}">
        <p14:creationId xmlns:p14="http://schemas.microsoft.com/office/powerpoint/2010/main" val="2716513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2C2984-BE97-7025-8142-D1CF06322CBE}"/>
              </a:ext>
            </a:extLst>
          </p:cNvPr>
          <p:cNvSpPr>
            <a:spLocks noGrp="1"/>
          </p:cNvSpPr>
          <p:nvPr>
            <p:ph type="title"/>
          </p:nvPr>
        </p:nvSpPr>
        <p:spPr/>
        <p:txBody>
          <a:bodyPr/>
          <a:lstStyle/>
          <a:p>
            <a:r>
              <a:rPr lang="zh-CN" altLang="en-US" dirty="0"/>
              <a:t>三重差分法</a:t>
            </a:r>
          </a:p>
        </p:txBody>
      </p:sp>
      <p:pic>
        <p:nvPicPr>
          <p:cNvPr id="7" name="内容占位符 6">
            <a:extLst>
              <a:ext uri="{FF2B5EF4-FFF2-40B4-BE49-F238E27FC236}">
                <a16:creationId xmlns:a16="http://schemas.microsoft.com/office/drawing/2014/main" id="{98955FF1-C5B3-EAB3-B26A-76D05B562E00}"/>
              </a:ext>
            </a:extLst>
          </p:cNvPr>
          <p:cNvPicPr>
            <a:picLocks noGrp="1" noChangeAspect="1"/>
          </p:cNvPicPr>
          <p:nvPr>
            <p:ph idx="1"/>
          </p:nvPr>
        </p:nvPicPr>
        <p:blipFill>
          <a:blip r:embed="rId2"/>
          <a:stretch>
            <a:fillRect/>
          </a:stretch>
        </p:blipFill>
        <p:spPr>
          <a:xfrm>
            <a:off x="794320" y="1515978"/>
            <a:ext cx="7387154" cy="4859969"/>
          </a:xfrm>
          <a:prstGeom prst="rect">
            <a:avLst/>
          </a:prstGeom>
        </p:spPr>
      </p:pic>
      <p:sp>
        <p:nvSpPr>
          <p:cNvPr id="4" name="页脚占位符 3">
            <a:extLst>
              <a:ext uri="{FF2B5EF4-FFF2-40B4-BE49-F238E27FC236}">
                <a16:creationId xmlns:a16="http://schemas.microsoft.com/office/drawing/2014/main" id="{13109549-F52E-3892-DBD3-42D7B0C1E0D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4D5D97C-88D8-C555-D99B-256915CCB6BC}"/>
              </a:ext>
            </a:extLst>
          </p:cNvPr>
          <p:cNvSpPr>
            <a:spLocks noGrp="1"/>
          </p:cNvSpPr>
          <p:nvPr>
            <p:ph type="sldNum" sz="quarter" idx="12"/>
          </p:nvPr>
        </p:nvSpPr>
        <p:spPr/>
        <p:txBody>
          <a:bodyPr/>
          <a:lstStyle/>
          <a:p>
            <a:fld id="{D41FC515-8169-4A29-AA56-DBE520D5741B}" type="slidenum">
              <a:rPr lang="zh-CN" altLang="en-US" smtClean="0"/>
              <a:t>49</a:t>
            </a:fld>
            <a:endParaRPr lang="zh-CN" altLang="en-US"/>
          </a:p>
        </p:txBody>
      </p:sp>
    </p:spTree>
    <p:extLst>
      <p:ext uri="{BB962C8B-B14F-4D97-AF65-F5344CB8AC3E}">
        <p14:creationId xmlns:p14="http://schemas.microsoft.com/office/powerpoint/2010/main" val="2312226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594DC8-58AC-1F8C-7C1B-72A8E01349F8}"/>
              </a:ext>
            </a:extLst>
          </p:cNvPr>
          <p:cNvSpPr>
            <a:spLocks noGrp="1"/>
          </p:cNvSpPr>
          <p:nvPr>
            <p:ph type="title"/>
          </p:nvPr>
        </p:nvSpPr>
        <p:spPr/>
        <p:txBody>
          <a:bodyPr/>
          <a:lstStyle/>
          <a:p>
            <a:r>
              <a:rPr lang="zh-CN" altLang="en-US" dirty="0"/>
              <a:t>三重差分法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BAB8F17-FF7B-17A8-6113-240BACF3DB7E}"/>
                  </a:ext>
                </a:extLst>
              </p:cNvPr>
              <p:cNvSpPr>
                <a:spLocks noGrp="1"/>
              </p:cNvSpPr>
              <p:nvPr>
                <p:ph idx="1"/>
              </p:nvPr>
            </p:nvSpPr>
            <p:spPr/>
            <p:txBody>
              <a:bodyPr>
                <a:normAutofit fontScale="55000" lnSpcReduction="20000"/>
              </a:bodyPr>
              <a:lstStyle/>
              <a:p>
                <a:pPr>
                  <a:lnSpc>
                    <a:spcPct val="120000"/>
                  </a:lnSpc>
                </a:pPr>
                <a:r>
                  <a:rPr lang="zh-CN" altLang="en-US" dirty="0"/>
                  <a:t>在上述平行趋势（增量）假设下，政策效应可以识别：</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up>
                              <m:r>
                                <a:rPr lang="zh-CN" altLang="en-US" i="1" smtClean="0">
                                  <a:latin typeface="Cambria Math" panose="02040503050406030204" pitchFamily="18" charset="0"/>
                                </a:rPr>
                                <m:t>𝐷𝐷𝐷</m:t>
                              </m:r>
                            </m:sup>
                          </m:sSubSup>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r>
                                    <m:rPr>
                                      <m:sty m:val="p"/>
                                    </m:rPr>
                                    <a:rPr lang="zh-CN" altLang="en-US" i="1" smtClean="0">
                                      <a:latin typeface="Cambria Math" panose="02040503050406030204" pitchFamily="18" charset="0"/>
                                    </a:rPr>
                                    <m:t>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4BAB8F17-FF7B-17A8-6113-240BACF3DB7E}"/>
                  </a:ext>
                </a:extLst>
              </p:cNvPr>
              <p:cNvSpPr>
                <a:spLocks noGrp="1" noRot="1" noChangeAspect="1" noMove="1" noResize="1" noEditPoints="1" noAdjustHandles="1" noChangeArrowheads="1" noChangeShapeType="1" noTextEdit="1"/>
              </p:cNvSpPr>
              <p:nvPr>
                <p:ph idx="1"/>
              </p:nvPr>
            </p:nvSpPr>
            <p:spPr>
              <a:blipFill>
                <a:blip r:embed="rId2"/>
                <a:stretch>
                  <a:fillRect l="-232"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7B7DED5-1E47-A534-3BD6-E10B6B526EE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2EEE792-C4B0-14B9-7C7A-88C4B5419CEC}"/>
              </a:ext>
            </a:extLst>
          </p:cNvPr>
          <p:cNvSpPr>
            <a:spLocks noGrp="1"/>
          </p:cNvSpPr>
          <p:nvPr>
            <p:ph type="sldNum" sz="quarter" idx="12"/>
          </p:nvPr>
        </p:nvSpPr>
        <p:spPr/>
        <p:txBody>
          <a:bodyPr/>
          <a:lstStyle/>
          <a:p>
            <a:fld id="{D41FC515-8169-4A29-AA56-DBE520D5741B}" type="slidenum">
              <a:rPr lang="zh-CN" altLang="en-US" smtClean="0"/>
              <a:t>50</a:t>
            </a:fld>
            <a:endParaRPr lang="zh-CN" altLang="en-US"/>
          </a:p>
        </p:txBody>
      </p:sp>
    </p:spTree>
    <p:extLst>
      <p:ext uri="{BB962C8B-B14F-4D97-AF65-F5344CB8AC3E}">
        <p14:creationId xmlns:p14="http://schemas.microsoft.com/office/powerpoint/2010/main" val="1879445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2C07B8-2DF1-A2EE-72C7-1D068B848BDE}"/>
              </a:ext>
            </a:extLst>
          </p:cNvPr>
          <p:cNvSpPr>
            <a:spLocks noGrp="1"/>
          </p:cNvSpPr>
          <p:nvPr>
            <p:ph type="title"/>
          </p:nvPr>
        </p:nvSpPr>
        <p:spPr/>
        <p:txBody>
          <a:bodyPr/>
          <a:lstStyle/>
          <a:p>
            <a:r>
              <a:rPr lang="zh-CN" altLang="en-US" dirty="0"/>
              <a:t>三重差分法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57167AE-E83C-EBB9-C1E3-76B4B8798401}"/>
                  </a:ext>
                </a:extLst>
              </p:cNvPr>
              <p:cNvSpPr>
                <a:spLocks noGrp="1"/>
              </p:cNvSpPr>
              <p:nvPr>
                <p:ph idx="1"/>
              </p:nvPr>
            </p:nvSpPr>
            <p:spPr/>
            <p:txBody>
              <a:bodyPr>
                <a:normAutofit fontScale="62500" lnSpcReduction="20000"/>
              </a:bodyPr>
              <a:lstStyle/>
              <a:p>
                <a:pPr>
                  <a:lnSpc>
                    <a:spcPct val="120000"/>
                  </a:lnSpc>
                </a:pPr>
                <a:r>
                  <a:rPr lang="en-US" altLang="zh-CN" dirty="0"/>
                  <a:t>DDD </a:t>
                </a:r>
                <a:r>
                  <a:rPr lang="zh-CN" altLang="en-US" dirty="0"/>
                  <a:t>的回归实现</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𝑍</m:t>
                          </m:r>
                          <m:r>
                            <a:rPr lang="zh-CN" altLang="en-US" i="1" smtClean="0">
                              <a:latin typeface="Cambria Math" panose="02040503050406030204" pitchFamily="18" charset="0"/>
                            </a:rPr>
                            <m:t>=0: &amp;</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0</m:t>
                              </m:r>
                            </m:sup>
                          </m:sSubSup>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𝐷</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𝐷𝑇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e>
                        <m:e>
                          <m:r>
                            <a:rPr lang="zh-CN" altLang="en-US" i="1" smtClean="0">
                              <a:latin typeface="Cambria Math" panose="02040503050406030204" pitchFamily="18" charset="0"/>
                            </a:rPr>
                            <m:t>𝑍</m:t>
                          </m:r>
                          <m:r>
                            <a:rPr lang="zh-CN" altLang="en-US" i="1" smtClean="0">
                              <a:latin typeface="Cambria Math" panose="02040503050406030204" pitchFamily="18" charset="0"/>
                            </a:rPr>
                            <m:t>=1: &amp;</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1</m:t>
                              </m:r>
                            </m:sup>
                          </m:sSubSup>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𝐷</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𝐷𝑇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e>
                      </m:eqArr>
                    </m:oMath>
                  </m:oMathPara>
                </a14:m>
                <a:endParaRPr lang="en-US" altLang="zh-CN" dirty="0"/>
              </a:p>
              <a:p>
                <a:pPr>
                  <a:lnSpc>
                    <a:spcPct val="120000"/>
                  </a:lnSpc>
                </a:pPr>
                <a:r>
                  <a:rPr lang="zh-CN" altLang="en-US" dirty="0"/>
                  <a:t>将上述两个式子合在一起：</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0</m:t>
                              </m:r>
                            </m:sup>
                          </m:sSubSup>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1</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0</m:t>
                                  </m:r>
                                </m:sup>
                              </m:sSubSup>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𝐷</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𝐷𝑇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𝑍</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e>
                      </m:eqArr>
                    </m:oMath>
                  </m:oMathPara>
                </a14:m>
                <a:endParaRPr lang="en-US" altLang="zh-CN" dirty="0"/>
              </a:p>
              <a:p>
                <a:pPr>
                  <a:lnSpc>
                    <a:spcPct val="120000"/>
                  </a:lnSpc>
                </a:pPr>
                <a:r>
                  <a:rPr lang="zh-CN" altLang="en-US" dirty="0"/>
                  <a:t>这里设定</a:t>
                </a:r>
                <a14:m>
                  <m:oMath xmlns:m="http://schemas.openxmlformats.org/officeDocument/2006/math">
                    <m:r>
                      <a:rPr lang="en-US" altLang="zh-CN" i="1" smtClean="0">
                        <a:latin typeface="Cambria Math" panose="02040503050406030204" pitchFamily="18" charset="0"/>
                      </a:rPr>
                      <m:t>𝛼</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𝛼</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𝛼</m:t>
                        </m:r>
                      </m:e>
                      <m:sub>
                        <m:r>
                          <a:rPr lang="en-US" altLang="zh-CN" i="1">
                            <a:latin typeface="Cambria Math" panose="02040503050406030204" pitchFamily="18" charset="0"/>
                          </a:rPr>
                          <m:t>0</m:t>
                        </m:r>
                      </m:sub>
                    </m:sSub>
                    <m:r>
                      <a:rPr lang="zh-CN" altLang="en-US" i="1">
                        <a:latin typeface="Cambria Math" panose="02040503050406030204" pitchFamily="18" charset="0"/>
                      </a:rPr>
                      <m:t>，</m:t>
                    </m:r>
                    <m:r>
                      <a:rPr lang="en-US" altLang="zh-CN" i="1" smtClean="0">
                        <a:latin typeface="Cambria Math" panose="02040503050406030204" pitchFamily="18" charset="0"/>
                      </a:rPr>
                      <m:t>𝛽</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𝛽</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𝛽</m:t>
                        </m:r>
                      </m:e>
                      <m:sub>
                        <m:r>
                          <a:rPr lang="en-US" altLang="zh-CN" i="1">
                            <a:latin typeface="Cambria Math" panose="02040503050406030204" pitchFamily="18" charset="0"/>
                          </a:rPr>
                          <m:t>0</m:t>
                        </m:r>
                      </m:sub>
                    </m:sSub>
                    <m:r>
                      <a:rPr lang="zh-CN" altLang="en-US" i="1">
                        <a:latin typeface="Cambria Math" panose="02040503050406030204" pitchFamily="18" charset="0"/>
                      </a:rPr>
                      <m:t>，</m:t>
                    </m:r>
                    <m:r>
                      <a:rPr lang="en-US" altLang="zh-CN" i="1" smtClean="0">
                        <a:latin typeface="Cambria Math" panose="02040503050406030204" pitchFamily="18" charset="0"/>
                      </a:rPr>
                      <m:t>𝛿</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a:latin typeface="Cambria Math" panose="02040503050406030204" pitchFamily="18" charset="0"/>
                          </a:rPr>
                          <m:t>0</m:t>
                        </m:r>
                      </m:sub>
                    </m:sSub>
                    <m:r>
                      <a:rPr lang="zh-CN" altLang="en-US" i="1">
                        <a:latin typeface="Cambria Math" panose="02040503050406030204" pitchFamily="18" charset="0"/>
                      </a:rPr>
                      <m:t>，</m:t>
                    </m:r>
                    <m:r>
                      <a:rPr lang="en-US" altLang="zh-CN" i="1" smtClean="0">
                        <a:latin typeface="Cambria Math" panose="02040503050406030204" pitchFamily="18" charset="0"/>
                      </a:rPr>
                      <m:t>𝜏</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a:latin typeface="Cambria Math" panose="02040503050406030204" pitchFamily="18" charset="0"/>
                          </a:rPr>
                          <m:t>0</m:t>
                        </m:r>
                      </m:sub>
                    </m:sSub>
                    <m:r>
                      <a:rPr lang="zh-CN" altLang="en-US"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𝜀</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r>
                      <a:rPr lang="en-US" altLang="zh-CN" i="1">
                        <a:latin typeface="Cambria Math" panose="02040503050406030204" pitchFamily="18" charset="0"/>
                      </a:rPr>
                      <m:t>𝑍</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557167AE-E83C-EBB9-C1E3-76B4B8798401}"/>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17A5C3E-95F3-1C8D-9B31-637BCB32A22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0B03980-132D-8A03-5D4A-700119D40982}"/>
              </a:ext>
            </a:extLst>
          </p:cNvPr>
          <p:cNvSpPr>
            <a:spLocks noGrp="1"/>
          </p:cNvSpPr>
          <p:nvPr>
            <p:ph type="sldNum" sz="quarter" idx="12"/>
          </p:nvPr>
        </p:nvSpPr>
        <p:spPr/>
        <p:txBody>
          <a:bodyPr/>
          <a:lstStyle/>
          <a:p>
            <a:fld id="{D41FC515-8169-4A29-AA56-DBE520D5741B}" type="slidenum">
              <a:rPr lang="zh-CN" altLang="en-US" smtClean="0"/>
              <a:t>51</a:t>
            </a:fld>
            <a:endParaRPr lang="zh-CN" altLang="en-US"/>
          </a:p>
        </p:txBody>
      </p:sp>
    </p:spTree>
    <p:extLst>
      <p:ext uri="{BB962C8B-B14F-4D97-AF65-F5344CB8AC3E}">
        <p14:creationId xmlns:p14="http://schemas.microsoft.com/office/powerpoint/2010/main" val="4177985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A8DD99-4D58-DDD7-70C7-E2B46C82B488}"/>
              </a:ext>
            </a:extLst>
          </p:cNvPr>
          <p:cNvSpPr>
            <a:spLocks noGrp="1"/>
          </p:cNvSpPr>
          <p:nvPr>
            <p:ph type="title"/>
          </p:nvPr>
        </p:nvSpPr>
        <p:spPr/>
        <p:txBody>
          <a:bodyPr/>
          <a:lstStyle/>
          <a:p>
            <a:r>
              <a:rPr lang="zh-CN" altLang="en-US" dirty="0"/>
              <a:t>三重差分法</a:t>
            </a:r>
          </a:p>
        </p:txBody>
      </p:sp>
      <p:pic>
        <p:nvPicPr>
          <p:cNvPr id="7" name="内容占位符 6">
            <a:extLst>
              <a:ext uri="{FF2B5EF4-FFF2-40B4-BE49-F238E27FC236}">
                <a16:creationId xmlns:a16="http://schemas.microsoft.com/office/drawing/2014/main" id="{E8F44D04-166D-6594-FEF4-9DA39DF838CD}"/>
              </a:ext>
            </a:extLst>
          </p:cNvPr>
          <p:cNvPicPr>
            <a:picLocks noGrp="1" noChangeAspect="1"/>
          </p:cNvPicPr>
          <p:nvPr>
            <p:ph idx="1"/>
          </p:nvPr>
        </p:nvPicPr>
        <p:blipFill>
          <a:blip r:embed="rId2"/>
          <a:stretch>
            <a:fillRect/>
          </a:stretch>
        </p:blipFill>
        <p:spPr>
          <a:xfrm>
            <a:off x="413677" y="1690689"/>
            <a:ext cx="8316645" cy="4325100"/>
          </a:xfrm>
          <a:prstGeom prst="rect">
            <a:avLst/>
          </a:prstGeom>
        </p:spPr>
      </p:pic>
      <p:sp>
        <p:nvSpPr>
          <p:cNvPr id="4" name="页脚占位符 3">
            <a:extLst>
              <a:ext uri="{FF2B5EF4-FFF2-40B4-BE49-F238E27FC236}">
                <a16:creationId xmlns:a16="http://schemas.microsoft.com/office/drawing/2014/main" id="{98036C82-01D7-0D1D-49DF-7D2E4A698D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DC0E1B3-C06F-2B60-B4B1-5C5C7E38E1A3}"/>
              </a:ext>
            </a:extLst>
          </p:cNvPr>
          <p:cNvSpPr>
            <a:spLocks noGrp="1"/>
          </p:cNvSpPr>
          <p:nvPr>
            <p:ph type="sldNum" sz="quarter" idx="12"/>
          </p:nvPr>
        </p:nvSpPr>
        <p:spPr/>
        <p:txBody>
          <a:bodyPr/>
          <a:lstStyle/>
          <a:p>
            <a:fld id="{D41FC515-8169-4A29-AA56-DBE520D5741B}" type="slidenum">
              <a:rPr lang="zh-CN" altLang="en-US" smtClean="0"/>
              <a:t>52</a:t>
            </a:fld>
            <a:endParaRPr lang="zh-CN" altLang="en-US"/>
          </a:p>
        </p:txBody>
      </p:sp>
    </p:spTree>
    <p:extLst>
      <p:ext uri="{BB962C8B-B14F-4D97-AF65-F5344CB8AC3E}">
        <p14:creationId xmlns:p14="http://schemas.microsoft.com/office/powerpoint/2010/main" val="1888248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A5ABB1-2C5C-C28D-1325-75FA637AC642}"/>
              </a:ext>
            </a:extLst>
          </p:cNvPr>
          <p:cNvSpPr>
            <a:spLocks noGrp="1"/>
          </p:cNvSpPr>
          <p:nvPr>
            <p:ph type="title"/>
          </p:nvPr>
        </p:nvSpPr>
        <p:spPr/>
        <p:txBody>
          <a:bodyPr/>
          <a:lstStyle/>
          <a:p>
            <a:r>
              <a:rPr lang="zh-CN" altLang="en-US" dirty="0"/>
              <a:t>三重差分法</a:t>
            </a:r>
          </a:p>
        </p:txBody>
      </p:sp>
      <p:pic>
        <p:nvPicPr>
          <p:cNvPr id="7" name="内容占位符 6">
            <a:extLst>
              <a:ext uri="{FF2B5EF4-FFF2-40B4-BE49-F238E27FC236}">
                <a16:creationId xmlns:a16="http://schemas.microsoft.com/office/drawing/2014/main" id="{3CD4E148-6749-20EC-D4FD-9934BAA6CCA6}"/>
              </a:ext>
            </a:extLst>
          </p:cNvPr>
          <p:cNvPicPr>
            <a:picLocks noGrp="1" noChangeAspect="1"/>
          </p:cNvPicPr>
          <p:nvPr>
            <p:ph idx="1"/>
          </p:nvPr>
        </p:nvPicPr>
        <p:blipFill>
          <a:blip r:embed="rId2"/>
          <a:stretch>
            <a:fillRect/>
          </a:stretch>
        </p:blipFill>
        <p:spPr>
          <a:xfrm>
            <a:off x="471490" y="1690689"/>
            <a:ext cx="8059863" cy="4541669"/>
          </a:xfrm>
          <a:prstGeom prst="rect">
            <a:avLst/>
          </a:prstGeom>
        </p:spPr>
      </p:pic>
      <p:sp>
        <p:nvSpPr>
          <p:cNvPr id="4" name="页脚占位符 3">
            <a:extLst>
              <a:ext uri="{FF2B5EF4-FFF2-40B4-BE49-F238E27FC236}">
                <a16:creationId xmlns:a16="http://schemas.microsoft.com/office/drawing/2014/main" id="{E7538A0D-C215-BEFA-6A5E-2CAF04C7E8B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7698165-7EC3-F264-1B41-BC8C0C7BD37D}"/>
              </a:ext>
            </a:extLst>
          </p:cNvPr>
          <p:cNvSpPr>
            <a:spLocks noGrp="1"/>
          </p:cNvSpPr>
          <p:nvPr>
            <p:ph type="sldNum" sz="quarter" idx="12"/>
          </p:nvPr>
        </p:nvSpPr>
        <p:spPr/>
        <p:txBody>
          <a:bodyPr/>
          <a:lstStyle/>
          <a:p>
            <a:fld id="{D41FC515-8169-4A29-AA56-DBE520D5741B}" type="slidenum">
              <a:rPr lang="zh-CN" altLang="en-US" smtClean="0"/>
              <a:t>53</a:t>
            </a:fld>
            <a:endParaRPr lang="zh-CN" altLang="en-US"/>
          </a:p>
        </p:txBody>
      </p:sp>
    </p:spTree>
    <p:extLst>
      <p:ext uri="{BB962C8B-B14F-4D97-AF65-F5344CB8AC3E}">
        <p14:creationId xmlns:p14="http://schemas.microsoft.com/office/powerpoint/2010/main" val="2524221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265D8-6E01-5280-9294-CBF09F54D255}"/>
              </a:ext>
            </a:extLst>
          </p:cNvPr>
          <p:cNvSpPr>
            <a:spLocks noGrp="1"/>
          </p:cNvSpPr>
          <p:nvPr>
            <p:ph type="title"/>
          </p:nvPr>
        </p:nvSpPr>
        <p:spPr/>
        <p:txBody>
          <a:bodyPr/>
          <a:lstStyle/>
          <a:p>
            <a:r>
              <a:rPr lang="zh-CN" altLang="en-US" dirty="0"/>
              <a:t>多期单一政策</a:t>
            </a:r>
            <a:r>
              <a:rPr lang="en-US" altLang="zh-CN" dirty="0"/>
              <a:t>DID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ABA033E-3F67-F119-AEE1-E625AA16F10C}"/>
                  </a:ext>
                </a:extLst>
              </p:cNvPr>
              <p:cNvSpPr>
                <a:spLocks noGrp="1"/>
              </p:cNvSpPr>
              <p:nvPr>
                <p:ph idx="1"/>
              </p:nvPr>
            </p:nvSpPr>
            <p:spPr/>
            <p:txBody>
              <a:bodyPr>
                <a:normAutofit fontScale="55000" lnSpcReduction="20000"/>
              </a:bodyPr>
              <a:lstStyle/>
              <a:p>
                <a:endParaRPr lang="en-US" altLang="zh-CN" dirty="0"/>
              </a:p>
              <a:p>
                <a:endParaRPr lang="en-US" altLang="zh-CN" dirty="0"/>
              </a:p>
              <a:p>
                <a:endParaRPr lang="en-US" altLang="zh-CN" dirty="0"/>
              </a:p>
              <a:p>
                <a:endParaRPr lang="en-US" altLang="zh-CN" dirty="0"/>
              </a:p>
              <a:p>
                <a:endParaRPr lang="en-US" altLang="zh-CN" dirty="0"/>
              </a:p>
              <a:p>
                <a:r>
                  <a:rPr lang="zh-CN" altLang="en-US" dirty="0"/>
                  <a:t>假设</a:t>
                </a:r>
                <a:r>
                  <a:rPr lang="en-US" altLang="zh-CN" dirty="0"/>
                  <a:t>1’ </a:t>
                </a:r>
                <a:r>
                  <a:rPr lang="zh-CN" altLang="en-US" dirty="0"/>
                  <a:t>（平行趋势假设）：</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r>
                                    <a:rPr lang="en-US" altLang="zh-CN" i="1" smtClean="0">
                                      <a:latin typeface="Cambria Math" panose="02040503050406030204" pitchFamily="18" charset="0"/>
                                    </a:rPr>
                                    <m:t>0</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=1,</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r>
                                    <a:rPr lang="en-US" altLang="zh-CN" i="1" smtClean="0">
                                      <a:latin typeface="Cambria Math" panose="02040503050406030204" pitchFamily="18" charset="0"/>
                                    </a:rPr>
                                    <m:t>0</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=0,</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𝑋</m:t>
                                  </m:r>
                                </m:e>
                                <m:sub>
                                  <m:r>
                                    <a:rPr lang="en-US" altLang="zh-CN" i="1" smtClean="0">
                                      <a:latin typeface="Cambria Math" panose="02040503050406030204" pitchFamily="18" charset="0"/>
                                    </a:rPr>
                                    <m:t>𝑖</m:t>
                                  </m:r>
                                </m:sub>
                              </m:sSub>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𝜃</m:t>
                              </m:r>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 </m:t>
                          </m:r>
                          <m:r>
                            <a:rPr lang="en-US" altLang="zh-CN" i="1" smtClean="0">
                              <a:latin typeface="Cambria Math" panose="02040503050406030204" pitchFamily="18" charset="0"/>
                            </a:rPr>
                            <m:t>𝑡</m:t>
                          </m:r>
                          <m:r>
                            <a:rPr lang="en-US" altLang="zh-CN" i="1" smtClean="0">
                              <a:latin typeface="Cambria Math" panose="02040503050406030204" pitchFamily="18" charset="0"/>
                            </a:rPr>
                            <m:t>=1,…,</m:t>
                          </m:r>
                          <m:r>
                            <a:rPr lang="en-US" altLang="zh-CN" i="1" smtClean="0">
                              <a:latin typeface="Cambria Math" panose="02040503050406030204" pitchFamily="18" charset="0"/>
                            </a:rPr>
                            <m:t>𝑇</m:t>
                          </m:r>
                          <m:r>
                            <a:rPr lang="en-US" altLang="zh-CN" i="1" smtClean="0">
                              <a:latin typeface="Cambria Math" panose="02040503050406030204" pitchFamily="18" charset="0"/>
                            </a:rPr>
                            <m:t>. </m:t>
                          </m:r>
                        </m:e>
                        <m:e>
                          <m:r>
                            <a:rPr lang="en-US" altLang="zh-CN" b="0" i="1" smtClean="0">
                              <a:latin typeface="Cambria Math" panose="02040503050406030204" pitchFamily="18" charset="0"/>
                            </a:rPr>
                            <m:t>                                                                                                (27)</m:t>
                          </m:r>
                        </m:e>
                      </m:eqArr>
                    </m:oMath>
                  </m:oMathPara>
                </a14:m>
                <a:endParaRPr lang="en-US" altLang="zh-CN" dirty="0"/>
              </a:p>
              <a:p>
                <a:r>
                  <a:rPr lang="zh-CN" altLang="en-US" dirty="0"/>
                  <a:t>假设</a:t>
                </a:r>
                <a:r>
                  <a:rPr lang="en-US" altLang="zh-CN" dirty="0"/>
                  <a:t>2’ </a:t>
                </a:r>
                <a:r>
                  <a:rPr lang="zh-CN" altLang="en-US" dirty="0"/>
                  <a:t>（无预期假设）：对于𝐷𝑖 </a:t>
                </a:r>
                <a:r>
                  <a:rPr lang="en-US" altLang="zh-CN" dirty="0"/>
                  <a:t>= 1</a:t>
                </a:r>
                <a:r>
                  <a:rPr lang="zh-CN" altLang="en-US" dirty="0"/>
                  <a:t>，</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 </m:t>
                          </m:r>
                          <m:r>
                            <a:rPr lang="en-US" altLang="zh-CN" i="1" smtClean="0">
                              <a:latin typeface="Cambria Math" panose="02040503050406030204" pitchFamily="18" charset="0"/>
                            </a:rPr>
                            <m:t>𝑡</m:t>
                          </m:r>
                          <m:r>
                            <a:rPr lang="en-US" altLang="zh-CN" i="1" smtClean="0">
                              <a:latin typeface="Cambria Math" panose="02040503050406030204" pitchFamily="18" charset="0"/>
                            </a:rPr>
                            <m:t>=0,1,…,</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𝑇</m:t>
                              </m:r>
                            </m:e>
                            <m:sub>
                              <m:r>
                                <a:rPr lang="en-US" altLang="zh-CN" i="1" smtClean="0">
                                  <a:latin typeface="Cambria Math" panose="02040503050406030204" pitchFamily="18" charset="0"/>
                                </a:rPr>
                                <m:t>0.</m:t>
                              </m:r>
                            </m:sub>
                          </m:sSub>
                        </m:e>
                      </m:eqArr>
                      <m:r>
                        <a:rPr lang="en-US" altLang="zh-CN" b="0" i="1" smtClean="0">
                          <a:latin typeface="Cambria Math" panose="02040503050406030204" pitchFamily="18" charset="0"/>
                        </a:rPr>
                        <m:t>                                             (28)</m:t>
                      </m:r>
                    </m:oMath>
                  </m:oMathPara>
                </a14:m>
                <a:endParaRPr lang="en-US" altLang="zh-CN" dirty="0"/>
              </a:p>
              <a:p>
                <a:r>
                  <a:rPr lang="zh-CN" altLang="en-US" dirty="0"/>
                  <a:t>假设</a:t>
                </a:r>
                <a:r>
                  <a:rPr lang="en-US" altLang="zh-CN" dirty="0"/>
                  <a:t>3’ </a:t>
                </a:r>
                <a:r>
                  <a:rPr lang="zh-CN" altLang="en-US" dirty="0"/>
                  <a:t>（无溢出效应假设）：对于𝐷𝑖 </a:t>
                </a:r>
                <a:r>
                  <a:rPr lang="en-US" altLang="zh-CN" dirty="0"/>
                  <a:t>= 0</a:t>
                </a:r>
                <a:r>
                  <a:rPr lang="zh-CN" altLang="en-US" dirty="0"/>
                  <a:t>，</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0</m:t>
                              </m:r>
                            </m:e>
                          </m:d>
                          <m:r>
                            <a:rPr lang="en-US" altLang="zh-CN" i="1" smtClean="0">
                              <a:latin typeface="Cambria Math" panose="02040503050406030204" pitchFamily="18" charset="0"/>
                            </a:rPr>
                            <m:t>, </m:t>
                          </m:r>
                          <m:r>
                            <a:rPr lang="en-US" altLang="zh-CN" i="1" smtClean="0">
                              <a:latin typeface="Cambria Math" panose="02040503050406030204" pitchFamily="18" charset="0"/>
                            </a:rPr>
                            <m:t>𝑡</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𝑇</m:t>
                              </m:r>
                            </m:e>
                            <m:sub>
                              <m:r>
                                <a:rPr lang="en-US" altLang="zh-CN" i="1" smtClean="0">
                                  <a:latin typeface="Cambria Math" panose="02040503050406030204" pitchFamily="18" charset="0"/>
                                </a:rPr>
                                <m:t>0</m:t>
                              </m:r>
                            </m:sub>
                          </m:sSub>
                          <m:r>
                            <a:rPr lang="en-US" altLang="zh-CN" i="1" smtClean="0">
                              <a:latin typeface="Cambria Math" panose="02040503050406030204" pitchFamily="18" charset="0"/>
                            </a:rPr>
                            <m:t>+1,…,</m:t>
                          </m:r>
                          <m:r>
                            <a:rPr lang="en-US" altLang="zh-CN" i="1" smtClean="0">
                              <a:latin typeface="Cambria Math" panose="02040503050406030204" pitchFamily="18" charset="0"/>
                            </a:rPr>
                            <m:t>𝑇</m:t>
                          </m:r>
                          <m:r>
                            <a:rPr lang="en-US" altLang="zh-CN" i="1" smtClean="0">
                              <a:latin typeface="Cambria Math" panose="02040503050406030204" pitchFamily="18" charset="0"/>
                            </a:rPr>
                            <m:t>.                                        </m:t>
                          </m:r>
                        </m:e>
                      </m:eqArr>
                      <m:r>
                        <a:rPr lang="en-US" altLang="zh-CN" b="0" i="1" smtClean="0">
                          <a:latin typeface="Cambria Math" panose="02040503050406030204" pitchFamily="18" charset="0"/>
                        </a:rPr>
                        <m:t>(29)</m:t>
                      </m:r>
                    </m:oMath>
                  </m:oMathPara>
                </a14:m>
                <a:endParaRPr lang="en-US" altLang="zh-CN" dirty="0"/>
              </a:p>
              <a:p>
                <a:r>
                  <a:rPr lang="zh-CN" altLang="en-US" dirty="0"/>
                  <a:t>假设</a:t>
                </a:r>
                <a:r>
                  <a:rPr lang="en-US" altLang="zh-CN" dirty="0"/>
                  <a:t>4’ </a:t>
                </a:r>
                <a:r>
                  <a:rPr lang="zh-CN" altLang="en-US" dirty="0"/>
                  <a:t>（共同区间假设）：</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0&lt;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func>
                          <m:r>
                            <a:rPr lang="zh-CN" altLang="en-US" i="1" smtClean="0">
                              <a:latin typeface="Cambria Math" panose="02040503050406030204" pitchFamily="18" charset="0"/>
                            </a:rPr>
                            <m:t>&lt;1, </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func>
                          <m:r>
                            <a:rPr lang="zh-CN" altLang="en-US" i="1" smtClean="0">
                              <a:latin typeface="Cambria Math" panose="02040503050406030204" pitchFamily="18" charset="0"/>
                            </a:rPr>
                            <m:t>&lt;1.</m:t>
                          </m:r>
                        </m:e>
                      </m:eqArr>
                      <m:r>
                        <a:rPr lang="en-US" altLang="zh-CN" b="0" i="1" smtClean="0">
                          <a:latin typeface="Cambria Math" panose="02040503050406030204" pitchFamily="18" charset="0"/>
                        </a:rPr>
                        <m:t>                    (30)</m:t>
                      </m:r>
                    </m:oMath>
                  </m:oMathPara>
                </a14:m>
                <a:endParaRPr lang="zh-CN" altLang="en-US" dirty="0"/>
              </a:p>
            </p:txBody>
          </p:sp>
        </mc:Choice>
        <mc:Fallback xmlns="">
          <p:sp>
            <p:nvSpPr>
              <p:cNvPr id="3" name="内容占位符 2">
                <a:extLst>
                  <a:ext uri="{FF2B5EF4-FFF2-40B4-BE49-F238E27FC236}">
                    <a16:creationId xmlns:a16="http://schemas.microsoft.com/office/drawing/2014/main" id="{7ABA033E-3F67-F119-AEE1-E625AA16F10C}"/>
                  </a:ext>
                </a:extLst>
              </p:cNvPr>
              <p:cNvSpPr>
                <a:spLocks noGrp="1" noRot="1" noChangeAspect="1" noMove="1" noResize="1" noEditPoints="1" noAdjustHandles="1" noChangeArrowheads="1" noChangeShapeType="1" noTextEdit="1"/>
              </p:cNvSpPr>
              <p:nvPr>
                <p:ph idx="1"/>
              </p:nvPr>
            </p:nvSpPr>
            <p:spPr>
              <a:blipFill>
                <a:blip r:embed="rId2"/>
                <a:stretch>
                  <a:fillRect l="-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5826965-3F57-EA6A-0133-7DF8E051774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F22D79D-FDA5-17B8-5B3B-964CA848AAC5}"/>
              </a:ext>
            </a:extLst>
          </p:cNvPr>
          <p:cNvSpPr>
            <a:spLocks noGrp="1"/>
          </p:cNvSpPr>
          <p:nvPr>
            <p:ph type="sldNum" sz="quarter" idx="12"/>
          </p:nvPr>
        </p:nvSpPr>
        <p:spPr/>
        <p:txBody>
          <a:bodyPr/>
          <a:lstStyle/>
          <a:p>
            <a:fld id="{D41FC515-8169-4A29-AA56-DBE520D5741B}" type="slidenum">
              <a:rPr lang="zh-CN" altLang="en-US" smtClean="0"/>
              <a:t>54</a:t>
            </a:fld>
            <a:endParaRPr lang="zh-CN" altLang="en-US"/>
          </a:p>
        </p:txBody>
      </p:sp>
      <p:pic>
        <p:nvPicPr>
          <p:cNvPr id="7" name="图片 6">
            <a:extLst>
              <a:ext uri="{FF2B5EF4-FFF2-40B4-BE49-F238E27FC236}">
                <a16:creationId xmlns:a16="http://schemas.microsoft.com/office/drawing/2014/main" id="{05985FC3-F6AE-44BC-89A9-B352C7AD6A4D}"/>
              </a:ext>
            </a:extLst>
          </p:cNvPr>
          <p:cNvPicPr>
            <a:picLocks noChangeAspect="1"/>
          </p:cNvPicPr>
          <p:nvPr/>
        </p:nvPicPr>
        <p:blipFill>
          <a:blip r:embed="rId3"/>
          <a:stretch>
            <a:fillRect/>
          </a:stretch>
        </p:blipFill>
        <p:spPr>
          <a:xfrm>
            <a:off x="825065" y="1690689"/>
            <a:ext cx="7690285" cy="1325562"/>
          </a:xfrm>
          <a:prstGeom prst="rect">
            <a:avLst/>
          </a:prstGeom>
        </p:spPr>
      </p:pic>
    </p:spTree>
    <p:extLst>
      <p:ext uri="{BB962C8B-B14F-4D97-AF65-F5344CB8AC3E}">
        <p14:creationId xmlns:p14="http://schemas.microsoft.com/office/powerpoint/2010/main" val="33572034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635B9C-5276-D6B4-5CC6-0293D407F7F7}"/>
              </a:ext>
            </a:extLst>
          </p:cNvPr>
          <p:cNvSpPr>
            <a:spLocks noGrp="1"/>
          </p:cNvSpPr>
          <p:nvPr>
            <p:ph type="title"/>
          </p:nvPr>
        </p:nvSpPr>
        <p:spPr/>
        <p:txBody>
          <a:bodyPr/>
          <a:lstStyle/>
          <a:p>
            <a:r>
              <a:rPr lang="zh-CN" altLang="en-US" dirty="0"/>
              <a:t>多期单一政策</a:t>
            </a:r>
            <a:r>
              <a:rPr lang="en-US" altLang="zh-CN" dirty="0"/>
              <a:t>DID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B988FC-EFA5-B52F-3A9E-820B5CBA867F}"/>
                  </a:ext>
                </a:extLst>
              </p:cNvPr>
              <p:cNvSpPr>
                <a:spLocks noGrp="1"/>
              </p:cNvSpPr>
              <p:nvPr>
                <p:ph idx="1"/>
              </p:nvPr>
            </p:nvSpPr>
            <p:spPr/>
            <p:txBody>
              <a:bodyPr>
                <a:normAutofit fontScale="62500" lnSpcReduction="20000"/>
              </a:bodyPr>
              <a:lstStyle/>
              <a:p>
                <a:r>
                  <a:rPr lang="zh-CN" altLang="en-US" dirty="0"/>
                  <a:t>在假设</a:t>
                </a:r>
                <a:r>
                  <a:rPr lang="en-US" altLang="zh-CN" dirty="0"/>
                  <a:t>1’-4’ </a:t>
                </a:r>
                <a:r>
                  <a:rPr lang="zh-CN" altLang="en-US" dirty="0"/>
                  <a:t>和假设</a:t>
                </a:r>
                <a:r>
                  <a:rPr lang="en-US" altLang="zh-CN" dirty="0"/>
                  <a:t>5 </a:t>
                </a:r>
                <a:r>
                  <a:rPr lang="zh-CN" altLang="en-US" dirty="0"/>
                  <a:t>下，各期政策效应可以识别，对于</a:t>
                </a:r>
                <a14:m>
                  <m:oMath xmlns:m="http://schemas.openxmlformats.org/officeDocument/2006/math">
                    <m:r>
                      <a:rPr lang="zh-CN" altLang="en-US" i="1" dirty="0" smtClean="0">
                        <a:latin typeface="Cambria Math" panose="02040503050406030204" pitchFamily="18" charset="0"/>
                      </a:rPr>
                      <m:t>𝑡</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+ 1, … , </m:t>
                    </m:r>
                    <m:r>
                      <a:rPr lang="zh-CN" altLang="en-US" i="1" dirty="0">
                        <a:latin typeface="Cambria Math" panose="02040503050406030204" pitchFamily="18" charset="0"/>
                      </a:rPr>
                      <m:t>𝑇</m:t>
                    </m:r>
                    <m:r>
                      <a:rPr lang="zh-CN" altLang="en-US" i="1" dirty="0">
                        <a:latin typeface="Cambria Math" panose="02040503050406030204" pitchFamily="18" charset="0"/>
                      </a:rPr>
                      <m:t> :</m:t>
                    </m:r>
                  </m:oMath>
                </a14:m>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m:rPr>
                                      <m:sty m:val="p"/>
                                    </m:rPr>
                                    <a:rPr lang="zh-CN" altLang="en-US" i="1" smtClean="0">
                                      <a:latin typeface="Cambria Math" panose="02040503050406030204" pitchFamily="18" charset="0"/>
                                    </a:rPr>
                                    <m:t>Δ</m:t>
                                  </m:r>
                                </m:e>
                                <m:sup>
                                  <m:r>
                                    <a:rPr lang="zh-CN" altLang="en-US" i="1" smtClean="0">
                                      <a:latin typeface="Cambria Math" panose="02040503050406030204" pitchFamily="18" charset="0"/>
                                    </a:rPr>
                                    <m:t>𝑡</m:t>
                                  </m:r>
                                </m:sup>
                              </m:s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p>
                                <m:sSupPr>
                                  <m:ctrlPr>
                                    <a:rPr lang="zh-CN" altLang="en-US" i="1" smtClean="0">
                                      <a:latin typeface="Cambria Math" panose="02040503050406030204" pitchFamily="18" charset="0"/>
                                    </a:rPr>
                                  </m:ctrlPr>
                                </m:sSupPr>
                                <m:e>
                                  <m:r>
                                    <m:rPr>
                                      <m:sty m:val="p"/>
                                    </m:rPr>
                                    <a:rPr lang="zh-CN" altLang="en-US" i="1" smtClean="0">
                                      <a:latin typeface="Cambria Math" panose="02040503050406030204" pitchFamily="18" charset="0"/>
                                    </a:rPr>
                                    <m:t>Δ</m:t>
                                  </m:r>
                                </m:e>
                                <m:sup>
                                  <m:r>
                                    <a:rPr lang="zh-CN" altLang="en-US" i="1" smtClean="0">
                                      <a:latin typeface="Cambria Math" panose="02040503050406030204" pitchFamily="18" charset="0"/>
                                    </a:rPr>
                                    <m:t>𝑡</m:t>
                                  </m:r>
                                </m:sup>
                              </m:s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e>
                      </m:eqArr>
                    </m:oMath>
                  </m:oMathPara>
                </a14:m>
                <a:endParaRPr lang="en-US" altLang="zh-CN" dirty="0"/>
              </a:p>
              <a:p>
                <a:r>
                  <a:rPr lang="zh-CN" altLang="en-US" dirty="0"/>
                  <a:t>不考虑协变量，定义𝑇𝑙 </a:t>
                </a:r>
                <a:r>
                  <a:rPr lang="en-US" altLang="zh-CN" dirty="0"/>
                  <a:t>= </a:t>
                </a:r>
                <a:r>
                  <a:rPr lang="zh-CN" altLang="en-US" dirty="0"/>
                  <a:t>𝟙</a:t>
                </a:r>
                <a:r>
                  <a:rPr lang="en-US" altLang="zh-CN" dirty="0"/>
                  <a:t>[</a:t>
                </a:r>
                <a:r>
                  <a:rPr lang="zh-CN" altLang="en-US" dirty="0"/>
                  <a:t>𝑡 </a:t>
                </a:r>
                <a:r>
                  <a:rPr lang="en-US" altLang="zh-CN" dirty="0"/>
                  <a:t>= </a:t>
                </a:r>
                <a:r>
                  <a:rPr lang="zh-CN" altLang="en-US" dirty="0"/>
                  <a:t>𝑙</a:t>
                </a:r>
                <a:r>
                  <a:rPr lang="en-US" altLang="zh-CN" dirty="0"/>
                  <a:t>]</a:t>
                </a:r>
                <a:r>
                  <a:rPr lang="zh-CN" altLang="en-US" dirty="0"/>
                  <a:t>，回归</a:t>
                </a:r>
                <a:r>
                  <a:rPr lang="en-US" altLang="zh-CN" dirty="0"/>
                  <a:t>DID </a:t>
                </a:r>
                <a:r>
                  <a:rPr lang="zh-CN" altLang="en-US" dirty="0"/>
                  <a:t>模型为</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64B988FC-EFA5-B52F-3A9E-820B5CBA867F}"/>
                  </a:ext>
                </a:extLst>
              </p:cNvPr>
              <p:cNvSpPr>
                <a:spLocks noGrp="1" noRot="1" noChangeAspect="1" noMove="1" noResize="1" noEditPoints="1" noAdjustHandles="1" noChangeArrowheads="1" noChangeShapeType="1" noTextEdit="1"/>
              </p:cNvSpPr>
              <p:nvPr>
                <p:ph idx="1"/>
              </p:nvPr>
            </p:nvSpPr>
            <p:spPr>
              <a:blipFill>
                <a:blip r:embed="rId2"/>
                <a:stretch>
                  <a:fillRect l="-464"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D25BE6D-0766-96C4-BA04-E747DE7B6F9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21BFAF1-DE15-F2E6-104E-C0C7551F4FE9}"/>
              </a:ext>
            </a:extLst>
          </p:cNvPr>
          <p:cNvSpPr>
            <a:spLocks noGrp="1"/>
          </p:cNvSpPr>
          <p:nvPr>
            <p:ph type="sldNum" sz="quarter" idx="12"/>
          </p:nvPr>
        </p:nvSpPr>
        <p:spPr/>
        <p:txBody>
          <a:bodyPr/>
          <a:lstStyle/>
          <a:p>
            <a:fld id="{D41FC515-8169-4A29-AA56-DBE520D5741B}" type="slidenum">
              <a:rPr lang="zh-CN" altLang="en-US" smtClean="0"/>
              <a:t>55</a:t>
            </a:fld>
            <a:endParaRPr lang="zh-CN" altLang="en-US"/>
          </a:p>
        </p:txBody>
      </p:sp>
    </p:spTree>
    <p:extLst>
      <p:ext uri="{BB962C8B-B14F-4D97-AF65-F5344CB8AC3E}">
        <p14:creationId xmlns:p14="http://schemas.microsoft.com/office/powerpoint/2010/main" val="12632612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F03F6-08D6-6AB8-E346-F65F7860962A}"/>
              </a:ext>
            </a:extLst>
          </p:cNvPr>
          <p:cNvSpPr>
            <a:spLocks noGrp="1"/>
          </p:cNvSpPr>
          <p:nvPr>
            <p:ph type="title"/>
          </p:nvPr>
        </p:nvSpPr>
        <p:spPr/>
        <p:txBody>
          <a:bodyPr/>
          <a:lstStyle/>
          <a:p>
            <a:r>
              <a:rPr lang="zh-CN" altLang="en-US" dirty="0"/>
              <a:t>多期单一政策</a:t>
            </a:r>
            <a:r>
              <a:rPr lang="en-US" altLang="zh-CN" dirty="0"/>
              <a:t>DID</a:t>
            </a:r>
            <a:br>
              <a:rPr lang="en-US" altLang="zh-CN" dirty="0"/>
            </a:br>
            <a:r>
              <a:rPr lang="zh-CN" altLang="en-US" sz="2400" dirty="0"/>
              <a:t>事件研究法设定</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99186EF-A8FB-67D9-031F-5DA2D0C3F6B6}"/>
                  </a:ext>
                </a:extLst>
              </p:cNvPr>
              <p:cNvSpPr>
                <a:spLocks noGrp="1"/>
              </p:cNvSpPr>
              <p:nvPr>
                <p:ph idx="1"/>
              </p:nvPr>
            </p:nvSpPr>
            <p:spPr/>
            <p:txBody>
              <a:bodyPr>
                <a:normAutofit fontScale="77500" lnSpcReduction="20000"/>
              </a:bodyPr>
              <a:lstStyle/>
              <a:p>
                <a:pPr>
                  <a:lnSpc>
                    <a:spcPct val="120000"/>
                  </a:lnSpc>
                </a:pPr>
                <a:r>
                  <a:rPr lang="zh-CN" altLang="en-US" dirty="0"/>
                  <a:t>上述模型用基期作为基准组，也可以用事前一期作为基准组，重新定义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𝑙</m:t>
                        </m:r>
                      </m:sub>
                    </m:sSub>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smtClean="0">
                        <a:latin typeface="Cambria Math" panose="02040503050406030204" pitchFamily="18" charset="0"/>
                      </a:rPr>
                      <m:t> </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0</m:t>
                        </m:r>
                      </m:sub>
                    </m:sSub>
                    <m:r>
                      <a:rPr lang="en-US" altLang="zh-CN" i="1">
                        <a:latin typeface="Cambria Math" panose="02040503050406030204" pitchFamily="18" charset="0"/>
                      </a:rPr>
                      <m:t>+1)=</m:t>
                    </m:r>
                    <m:r>
                      <a:rPr lang="en-US" altLang="zh-CN" i="1">
                        <a:latin typeface="Cambria Math" panose="02040503050406030204" pitchFamily="18" charset="0"/>
                      </a:rPr>
                      <m:t>𝑙</m:t>
                    </m:r>
                    <m:r>
                      <a:rPr lang="en-US" altLang="zh-CN" i="1">
                        <a:latin typeface="Cambria Math" panose="02040503050406030204" pitchFamily="18" charset="0"/>
                      </a:rPr>
                      <m:t>]</m:t>
                    </m:r>
                  </m:oMath>
                </a14:m>
                <a:r>
                  <a:rPr lang="zh-CN" altLang="en-US" dirty="0"/>
                  <a:t>：</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e>
                          </m:groupCh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lim>
                      </m:limLow>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groupCh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lim>
                      </m:limLow>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可以用事前期的系数</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𝜃</m:t>
                        </m:r>
                      </m:e>
                      <m:sub>
                        <m:r>
                          <a:rPr lang="zh-CN" altLang="en-US" i="1" dirty="0" smtClean="0">
                            <a:latin typeface="Cambria Math" panose="02040503050406030204" pitchFamily="18" charset="0"/>
                          </a:rPr>
                          <m:t>𝑡</m:t>
                        </m:r>
                      </m:sub>
                    </m:sSub>
                    <m:r>
                      <a:rPr lang="en-US" altLang="zh-CN" i="1" dirty="0">
                        <a:latin typeface="Cambria Math" panose="02040503050406030204" pitchFamily="18" charset="0"/>
                      </a:rPr>
                      <m:t>, </m:t>
                    </m:r>
                    <m:r>
                      <a:rPr lang="zh-CN" altLang="en-US" i="1" dirty="0">
                        <a:latin typeface="Cambria Math" panose="02040503050406030204" pitchFamily="18" charset="0"/>
                      </a:rPr>
                      <m:t>𝑡</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oMath>
                </a14:m>
                <a:r>
                  <a:rPr lang="zh-CN" altLang="en-US" dirty="0"/>
                  <a:t>检验事前趋势是否满足平行趋势，事后期系数</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a:latin typeface="Cambria Math" panose="02040503050406030204" pitchFamily="18" charset="0"/>
                          </a:rPr>
                          <m:t>𝑡</m:t>
                        </m:r>
                      </m:sub>
                    </m:sSub>
                    <m:r>
                      <a:rPr lang="en-US" altLang="zh-CN" i="1" dirty="0">
                        <a:latin typeface="Cambria Math" panose="02040503050406030204" pitchFamily="18" charset="0"/>
                      </a:rPr>
                      <m:t>, </m:t>
                    </m:r>
                    <m:r>
                      <a:rPr lang="zh-CN" altLang="en-US" i="1" dirty="0">
                        <a:latin typeface="Cambria Math" panose="02040503050406030204" pitchFamily="18" charset="0"/>
                      </a:rPr>
                      <m:t>𝑡</m:t>
                    </m:r>
                    <m:r>
                      <a:rPr lang="zh-CN" altLang="en-US" i="1" dirty="0">
                        <a:latin typeface="Cambria Math" panose="02040503050406030204" pitchFamily="18" charset="0"/>
                      </a:rPr>
                      <m:t> &gt;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oMath>
                </a14:m>
                <a:r>
                  <a:rPr lang="zh-CN" altLang="en-US" dirty="0"/>
                  <a:t>反映的是事后期平均因果效应。</a:t>
                </a:r>
                <a:endParaRPr lang="en-US" altLang="zh-CN" dirty="0"/>
              </a:p>
              <a:p>
                <a:pPr>
                  <a:lnSpc>
                    <a:spcPct val="120000"/>
                  </a:lnSpc>
                </a:pPr>
                <a:r>
                  <a:rPr lang="zh-CN" altLang="en-US" dirty="0"/>
                  <a:t>可以将上述系数用图形呈现出来，比如</a:t>
                </a:r>
                <a:r>
                  <a:rPr lang="en-US" altLang="zh-CN" dirty="0"/>
                  <a:t>Duflo(2001) </a:t>
                </a:r>
                <a:r>
                  <a:rPr lang="zh-CN" altLang="en-US" dirty="0"/>
                  <a:t>估计了印尼建校项目对教育和收入的动态影响。</a:t>
                </a:r>
              </a:p>
            </p:txBody>
          </p:sp>
        </mc:Choice>
        <mc:Fallback xmlns="">
          <p:sp>
            <p:nvSpPr>
              <p:cNvPr id="3" name="内容占位符 2">
                <a:extLst>
                  <a:ext uri="{FF2B5EF4-FFF2-40B4-BE49-F238E27FC236}">
                    <a16:creationId xmlns:a16="http://schemas.microsoft.com/office/drawing/2014/main" id="{599186EF-A8FB-67D9-031F-5DA2D0C3F6B6}"/>
                  </a:ext>
                </a:extLst>
              </p:cNvPr>
              <p:cNvSpPr>
                <a:spLocks noGrp="1" noRot="1" noChangeAspect="1" noMove="1" noResize="1" noEditPoints="1" noAdjustHandles="1" noChangeArrowheads="1" noChangeShapeType="1" noTextEdit="1"/>
              </p:cNvSpPr>
              <p:nvPr>
                <p:ph idx="1"/>
              </p:nvPr>
            </p:nvSpPr>
            <p:spPr>
              <a:blipFill>
                <a:blip r:embed="rId2"/>
                <a:stretch>
                  <a:fillRect l="-850" t="-840" r="-18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CBB03A7-D813-9454-B8B4-EE075BA4996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4FDBECC-854E-5720-CF3B-E29CC4199FB2}"/>
              </a:ext>
            </a:extLst>
          </p:cNvPr>
          <p:cNvSpPr>
            <a:spLocks noGrp="1"/>
          </p:cNvSpPr>
          <p:nvPr>
            <p:ph type="sldNum" sz="quarter" idx="12"/>
          </p:nvPr>
        </p:nvSpPr>
        <p:spPr/>
        <p:txBody>
          <a:bodyPr/>
          <a:lstStyle/>
          <a:p>
            <a:fld id="{D41FC515-8169-4A29-AA56-DBE520D5741B}" type="slidenum">
              <a:rPr lang="zh-CN" altLang="en-US" smtClean="0"/>
              <a:t>56</a:t>
            </a:fld>
            <a:endParaRPr lang="zh-CN" altLang="en-US"/>
          </a:p>
        </p:txBody>
      </p:sp>
    </p:spTree>
    <p:extLst>
      <p:ext uri="{BB962C8B-B14F-4D97-AF65-F5344CB8AC3E}">
        <p14:creationId xmlns:p14="http://schemas.microsoft.com/office/powerpoint/2010/main" val="1710442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310B35-CFAF-0215-4285-32439113E640}"/>
              </a:ext>
            </a:extLst>
          </p:cNvPr>
          <p:cNvSpPr>
            <a:spLocks noGrp="1"/>
          </p:cNvSpPr>
          <p:nvPr>
            <p:ph type="title"/>
          </p:nvPr>
        </p:nvSpPr>
        <p:spPr/>
        <p:txBody>
          <a:bodyPr/>
          <a:lstStyle/>
          <a:p>
            <a:r>
              <a:rPr lang="zh-CN" altLang="en-US" dirty="0"/>
              <a:t>多期单一政策</a:t>
            </a:r>
            <a:r>
              <a:rPr lang="en-US" altLang="zh-CN" dirty="0"/>
              <a:t>DID</a:t>
            </a:r>
            <a:br>
              <a:rPr lang="en-US" altLang="zh-CN" dirty="0"/>
            </a:br>
            <a:r>
              <a:rPr lang="zh-CN" altLang="en-US" sz="2400" dirty="0"/>
              <a:t>事件研究法设定</a:t>
            </a:r>
            <a:endParaRPr lang="zh-CN" altLang="en-US" dirty="0"/>
          </a:p>
        </p:txBody>
      </p:sp>
      <p:pic>
        <p:nvPicPr>
          <p:cNvPr id="7" name="内容占位符 6">
            <a:extLst>
              <a:ext uri="{FF2B5EF4-FFF2-40B4-BE49-F238E27FC236}">
                <a16:creationId xmlns:a16="http://schemas.microsoft.com/office/drawing/2014/main" id="{1A16C7AB-E825-8297-600C-BC63182A0F25}"/>
              </a:ext>
            </a:extLst>
          </p:cNvPr>
          <p:cNvPicPr>
            <a:picLocks noGrp="1" noChangeAspect="1"/>
          </p:cNvPicPr>
          <p:nvPr>
            <p:ph idx="1"/>
          </p:nvPr>
        </p:nvPicPr>
        <p:blipFill>
          <a:blip r:embed="rId2"/>
          <a:stretch>
            <a:fillRect/>
          </a:stretch>
        </p:blipFill>
        <p:spPr>
          <a:xfrm>
            <a:off x="1560694" y="1825625"/>
            <a:ext cx="6022612" cy="4351338"/>
          </a:xfrm>
          <a:prstGeom prst="rect">
            <a:avLst/>
          </a:prstGeom>
        </p:spPr>
      </p:pic>
      <p:sp>
        <p:nvSpPr>
          <p:cNvPr id="4" name="页脚占位符 3">
            <a:extLst>
              <a:ext uri="{FF2B5EF4-FFF2-40B4-BE49-F238E27FC236}">
                <a16:creationId xmlns:a16="http://schemas.microsoft.com/office/drawing/2014/main" id="{7017BED8-240F-FE40-DBF9-29AA0BA19B4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718E19E-C29F-DD6F-DC55-9450BB44C160}"/>
              </a:ext>
            </a:extLst>
          </p:cNvPr>
          <p:cNvSpPr>
            <a:spLocks noGrp="1"/>
          </p:cNvSpPr>
          <p:nvPr>
            <p:ph type="sldNum" sz="quarter" idx="12"/>
          </p:nvPr>
        </p:nvSpPr>
        <p:spPr/>
        <p:txBody>
          <a:bodyPr/>
          <a:lstStyle/>
          <a:p>
            <a:fld id="{D41FC515-8169-4A29-AA56-DBE520D5741B}" type="slidenum">
              <a:rPr lang="zh-CN" altLang="en-US" smtClean="0"/>
              <a:t>57</a:t>
            </a:fld>
            <a:endParaRPr lang="zh-CN" altLang="en-US"/>
          </a:p>
        </p:txBody>
      </p:sp>
    </p:spTree>
    <p:extLst>
      <p:ext uri="{BB962C8B-B14F-4D97-AF65-F5344CB8AC3E}">
        <p14:creationId xmlns:p14="http://schemas.microsoft.com/office/powerpoint/2010/main" val="41295213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1D30DE-A056-08E6-BDFD-A6ED09F0E9EB}"/>
              </a:ext>
            </a:extLst>
          </p:cNvPr>
          <p:cNvSpPr>
            <a:spLocks noGrp="1"/>
          </p:cNvSpPr>
          <p:nvPr>
            <p:ph type="title"/>
          </p:nvPr>
        </p:nvSpPr>
        <p:spPr/>
        <p:txBody>
          <a:bodyPr/>
          <a:lstStyle/>
          <a:p>
            <a:r>
              <a:rPr lang="zh-CN" altLang="en-US" dirty="0"/>
              <a:t>多期单一政策</a:t>
            </a:r>
            <a:r>
              <a:rPr lang="en-US" altLang="zh-CN" dirty="0"/>
              <a:t>DID</a:t>
            </a:r>
            <a:br>
              <a:rPr lang="en-US" altLang="zh-CN" dirty="0"/>
            </a:br>
            <a:r>
              <a:rPr lang="zh-CN" altLang="en-US" sz="2400" dirty="0"/>
              <a:t>引入不随时间变化的协变量𝑋𝑖</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C9E1B63-C9C4-194B-FF3C-094E20F4FE6F}"/>
                  </a:ext>
                </a:extLst>
              </p:cNvPr>
              <p:cNvSpPr>
                <a:spLocks noGrp="1"/>
              </p:cNvSpPr>
              <p:nvPr>
                <p:ph idx="1"/>
              </p:nvPr>
            </p:nvSpPr>
            <p:spPr/>
            <p:txBody>
              <a:bodyPr>
                <a:normAutofit fontScale="47500" lnSpcReduction="20000"/>
              </a:bodyPr>
              <a:lstStyle/>
              <a:p>
                <a:pPr>
                  <a:lnSpc>
                    <a:spcPct val="120000"/>
                  </a:lnSpc>
                </a:pPr>
                <a:r>
                  <a:rPr lang="zh-CN" altLang="en-US" dirty="0"/>
                  <a:t>假设</a:t>
                </a:r>
                <a:r>
                  <a:rPr lang="en-US" altLang="zh-CN" dirty="0"/>
                  <a:t>5’</a:t>
                </a:r>
                <a:r>
                  <a:rPr lang="zh-CN" altLang="en-US" dirty="0"/>
                  <a:t>（协变量参数线性假设）：</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=1,…,</m:t>
                          </m:r>
                          <m:r>
                            <a:rPr lang="zh-CN" altLang="en-US" i="1" smtClean="0">
                              <a:latin typeface="Cambria Math" panose="02040503050406030204" pitchFamily="18" charset="0"/>
                            </a:rPr>
                            <m:t>𝑇</m:t>
                          </m:r>
                        </m:e>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=1,…,</m:t>
                          </m:r>
                          <m:r>
                            <a:rPr lang="zh-CN" altLang="en-US" i="1" smtClean="0">
                              <a:latin typeface="Cambria Math" panose="02040503050406030204" pitchFamily="18" charset="0"/>
                            </a:rPr>
                            <m:t>𝑇</m:t>
                          </m:r>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oMath>
                </a14:m>
                <a:r>
                  <a:rPr lang="zh-CN" altLang="en-US" dirty="0"/>
                  <a:t>。在协变量参数线性假设下，引入协变量的多期</a:t>
                </a:r>
                <a:r>
                  <a:rPr lang="en-US" altLang="zh-CN" dirty="0"/>
                  <a:t>DID </a:t>
                </a:r>
                <a:r>
                  <a:rPr lang="zh-CN" altLang="en-US" dirty="0"/>
                  <a:t>回归模型为：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en-US" altLang="zh-CN" b="0" i="1" smtClean="0">
                                  <a:latin typeface="Cambria Math" panose="02040503050406030204" pitchFamily="18" charset="0"/>
                                </a:rPr>
                                <m:t>                       (32)</m:t>
                              </m:r>
                            </m:e>
                          </m:eqArr>
                        </m:e>
                      </m:eqArr>
                    </m:oMath>
                  </m:oMathPara>
                </a14:m>
                <a:endParaRPr lang="en-US" altLang="zh-CN" dirty="0"/>
              </a:p>
              <a:p>
                <a:pPr>
                  <a:lnSpc>
                    <a:spcPct val="120000"/>
                  </a:lnSpc>
                </a:pPr>
                <a:r>
                  <a:rPr lang="zh-CN" altLang="en-US" dirty="0"/>
                  <a:t>应用中人们往往直接引入协变量𝑋𝑖𝑡，</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𝑙</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e>
                              </m:d>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𝑙</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d>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𝛾</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en-US" altLang="zh-CN" b="0" i="1" smtClean="0">
                              <a:latin typeface="Cambria Math" panose="02040503050406030204" pitchFamily="18" charset="0"/>
                            </a:rPr>
                            <m:t>            (33)</m:t>
                          </m:r>
                        </m:e>
                      </m:eqArr>
                    </m:oMath>
                  </m:oMathPara>
                </a14:m>
                <a:endParaRPr lang="zh-CN" altLang="en-US" dirty="0"/>
              </a:p>
            </p:txBody>
          </p:sp>
        </mc:Choice>
        <mc:Fallback>
          <p:sp>
            <p:nvSpPr>
              <p:cNvPr id="3" name="内容占位符 2">
                <a:extLst>
                  <a:ext uri="{FF2B5EF4-FFF2-40B4-BE49-F238E27FC236}">
                    <a16:creationId xmlns:a16="http://schemas.microsoft.com/office/drawing/2014/main" id="{9C9E1B63-C9C4-194B-FF3C-094E20F4FE6F}"/>
                  </a:ext>
                </a:extLst>
              </p:cNvPr>
              <p:cNvSpPr>
                <a:spLocks noGrp="1" noRot="1" noChangeAspect="1" noMove="1" noResize="1" noEditPoints="1" noAdjustHandles="1" noChangeArrowheads="1" noChangeShapeType="1" noTextEdit="1"/>
              </p:cNvSpPr>
              <p:nvPr>
                <p:ph idx="1"/>
              </p:nvPr>
            </p:nvSpPr>
            <p:spPr>
              <a:blipFill>
                <a:blip r:embed="rId2"/>
                <a:stretch>
                  <a:fillRect l="-77"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AFF53DC-B56C-5C22-70FD-E077B2B8092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16A17DA-7E42-3348-D725-6857F7581E1E}"/>
              </a:ext>
            </a:extLst>
          </p:cNvPr>
          <p:cNvSpPr>
            <a:spLocks noGrp="1"/>
          </p:cNvSpPr>
          <p:nvPr>
            <p:ph type="sldNum" sz="quarter" idx="12"/>
          </p:nvPr>
        </p:nvSpPr>
        <p:spPr/>
        <p:txBody>
          <a:bodyPr/>
          <a:lstStyle/>
          <a:p>
            <a:fld id="{D41FC515-8169-4A29-AA56-DBE520D5741B}" type="slidenum">
              <a:rPr lang="zh-CN" altLang="en-US" smtClean="0"/>
              <a:t>58</a:t>
            </a:fld>
            <a:endParaRPr lang="zh-CN" altLang="en-US"/>
          </a:p>
        </p:txBody>
      </p:sp>
    </p:spTree>
    <p:extLst>
      <p:ext uri="{BB962C8B-B14F-4D97-AF65-F5344CB8AC3E}">
        <p14:creationId xmlns:p14="http://schemas.microsoft.com/office/powerpoint/2010/main" val="31882782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383FD0-3C4E-210C-0015-0F831B71B1A7}"/>
              </a:ext>
            </a:extLst>
          </p:cNvPr>
          <p:cNvSpPr>
            <a:spLocks noGrp="1"/>
          </p:cNvSpPr>
          <p:nvPr>
            <p:ph type="title"/>
          </p:nvPr>
        </p:nvSpPr>
        <p:spPr/>
        <p:txBody>
          <a:bodyPr>
            <a:normAutofit/>
          </a:bodyPr>
          <a:lstStyle/>
          <a:p>
            <a:r>
              <a:rPr lang="zh-CN" altLang="en-US" dirty="0"/>
              <a:t>多期</a:t>
            </a:r>
            <a:r>
              <a:rPr lang="en-US" altLang="zh-CN" dirty="0"/>
              <a:t>DID</a:t>
            </a:r>
            <a:br>
              <a:rPr lang="en-US" altLang="zh-CN" dirty="0"/>
            </a:br>
            <a:r>
              <a:rPr lang="en-US" altLang="zh-CN" sz="2700" dirty="0"/>
              <a:t>Qian (2008)</a:t>
            </a:r>
            <a:r>
              <a:rPr lang="zh-CN" altLang="en-US" sz="2700" dirty="0"/>
              <a:t>：茶叶价格和消失的女性</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0A25474-79CE-1026-41B1-40FFAF7CD6D8}"/>
                  </a:ext>
                </a:extLst>
              </p:cNvPr>
              <p:cNvSpPr>
                <a:spLocks noGrp="1"/>
              </p:cNvSpPr>
              <p:nvPr>
                <p:ph idx="1"/>
              </p:nvPr>
            </p:nvSpPr>
            <p:spPr/>
            <p:txBody>
              <a:bodyPr>
                <a:noAutofit/>
              </a:bodyPr>
              <a:lstStyle/>
              <a:p>
                <a:pPr>
                  <a:lnSpc>
                    <a:spcPct val="120000"/>
                  </a:lnSpc>
                </a:pPr>
                <a:r>
                  <a:rPr lang="zh-CN" altLang="en-US" sz="1600" dirty="0"/>
                  <a:t>问题：女性经济地位与出生性别比</a:t>
                </a:r>
                <a:endParaRPr lang="en-US" altLang="zh-CN" sz="1600" dirty="0"/>
              </a:p>
              <a:p>
                <a:pPr>
                  <a:lnSpc>
                    <a:spcPct val="120000"/>
                  </a:lnSpc>
                </a:pPr>
                <a:r>
                  <a:rPr lang="zh-CN" altLang="en-US" sz="1600" dirty="0"/>
                  <a:t>利用</a:t>
                </a:r>
                <a:r>
                  <a:rPr lang="en-US" altLang="zh-CN" sz="1600" dirty="0"/>
                  <a:t>1979 </a:t>
                </a:r>
                <a:r>
                  <a:rPr lang="zh-CN" altLang="en-US" sz="1600" dirty="0"/>
                  <a:t>年中国农产品价格改革和农村家庭联系承包责任制改革，考察女性经济地位上升和性别比例的关系。</a:t>
                </a:r>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𝑠𝑒</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𝑖𝑐</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=1963</m:t>
                              </m:r>
                            </m:sub>
                            <m:sup>
                              <m:r>
                                <a:rPr lang="zh-CN" altLang="en-US" sz="1600" i="1" smtClean="0">
                                  <a:latin typeface="Cambria Math" panose="02040503050406030204" pitchFamily="18" charset="0"/>
                                </a:rPr>
                                <m:t>1990</m:t>
                              </m:r>
                            </m:sup>
                            <m:e>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𝑡𝑒</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𝑎</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𝑑</m:t>
                                      </m:r>
                                    </m:e>
                                    <m:sub>
                                      <m:r>
                                        <a:rPr lang="zh-CN" altLang="en-US" sz="1600" i="1" smtClean="0">
                                          <a:latin typeface="Cambria Math" panose="02040503050406030204" pitchFamily="18" charset="0"/>
                                        </a:rPr>
                                        <m:t>𝑙</m:t>
                                      </m:r>
                                    </m:sub>
                                  </m:sSub>
                                </m:e>
                              </m:d>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𝛽</m:t>
                              </m:r>
                            </m:e>
                            <m:sub>
                              <m:r>
                                <a:rPr lang="zh-CN" altLang="en-US" sz="1600" i="1" smtClean="0">
                                  <a:latin typeface="Cambria Math" panose="02040503050406030204" pitchFamily="18" charset="0"/>
                                </a:rPr>
                                <m:t>𝑙</m:t>
                              </m:r>
                            </m:sub>
                          </m:sSub>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=1963</m:t>
                              </m:r>
                            </m:sub>
                            <m:sup>
                              <m:r>
                                <a:rPr lang="zh-CN" altLang="en-US" sz="1600" i="1" smtClean="0">
                                  <a:latin typeface="Cambria Math" panose="02040503050406030204" pitchFamily="18" charset="0"/>
                                </a:rPr>
                                <m:t>1990</m:t>
                              </m:r>
                            </m:sup>
                            <m:e>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𝑜𝑟𝑐ℎ𝑎𝑟</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𝑑</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𝑑</m:t>
                                      </m:r>
                                    </m:e>
                                    <m:sub>
                                      <m:r>
                                        <a:rPr lang="zh-CN" altLang="en-US" sz="1600" i="1" smtClean="0">
                                          <a:latin typeface="Cambria Math" panose="02040503050406030204" pitchFamily="18" charset="0"/>
                                        </a:rPr>
                                        <m:t>𝑙</m:t>
                                      </m:r>
                                    </m:sub>
                                  </m:sSub>
                                </m:e>
                              </m:d>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𝛿</m:t>
                              </m:r>
                            </m:e>
                            <m:sub>
                              <m:r>
                                <a:rPr lang="zh-CN" altLang="en-US" sz="1600" i="1" smtClean="0">
                                  <a:latin typeface="Cambria Math" panose="02040503050406030204" pitchFamily="18" charset="0"/>
                                </a:rPr>
                                <m:t>𝑙</m:t>
                              </m:r>
                            </m:sub>
                          </m:sSub>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=1993</m:t>
                              </m:r>
                            </m:sub>
                            <m:sup>
                              <m:r>
                                <a:rPr lang="zh-CN" altLang="en-US" sz="1600" i="1" smtClean="0">
                                  <a:latin typeface="Cambria Math" panose="02040503050406030204" pitchFamily="18" charset="0"/>
                                </a:rPr>
                                <m:t>1990</m:t>
                              </m:r>
                            </m:sup>
                            <m:e>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𝑐𝑎𝑠ℎ𝑐𝑟𝑜</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𝑝</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𝑑</m:t>
                                      </m:r>
                                    </m:e>
                                    <m:sub>
                                      <m:r>
                                        <a:rPr lang="zh-CN" altLang="en-US" sz="1600" i="1" smtClean="0">
                                          <a:latin typeface="Cambria Math" panose="02040503050406030204" pitchFamily="18" charset="0"/>
                                        </a:rPr>
                                        <m:t>𝑙</m:t>
                                      </m:r>
                                    </m:sub>
                                  </m:sSub>
                                </m:e>
                              </m:d>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𝜌</m:t>
                              </m:r>
                            </m:e>
                            <m:sub>
                              <m:r>
                                <a:rPr lang="zh-CN" altLang="en-US" sz="1600" i="1" smtClean="0">
                                  <a:latin typeface="Cambria Math" panose="02040503050406030204" pitchFamily="18" charset="0"/>
                                </a:rPr>
                                <m:t>𝑙</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𝐻𝑎</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𝑛</m:t>
                              </m:r>
                            </m:e>
                            <m:sub>
                              <m:r>
                                <a:rPr lang="zh-CN" altLang="en-US" sz="1600" i="1" smtClean="0">
                                  <a:latin typeface="Cambria Math" panose="02040503050406030204" pitchFamily="18" charset="0"/>
                                </a:rPr>
                                <m:t>𝑖𝑐</m:t>
                              </m:r>
                            </m:sub>
                          </m:sSub>
                          <m:r>
                            <a:rPr lang="zh-CN" altLang="en-US" sz="1600" i="1" smtClean="0">
                              <a:latin typeface="Cambria Math" panose="02040503050406030204" pitchFamily="18" charset="0"/>
                            </a:rPr>
                            <m:t>𝜁</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𝜓</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𝛾</m:t>
                              </m:r>
                            </m:e>
                            <m:sub>
                              <m:r>
                                <a:rPr lang="zh-CN" altLang="en-US" sz="1600" i="1" smtClean="0">
                                  <a:latin typeface="Cambria Math" panose="02040503050406030204" pitchFamily="18" charset="0"/>
                                </a:rPr>
                                <m:t>𝑐</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𝑖𝑐</m:t>
                              </m:r>
                            </m:sub>
                          </m:sSub>
                          <m:r>
                            <a:rPr lang="zh-CN" altLang="en-US" sz="1600" i="1" smtClean="0">
                              <a:latin typeface="Cambria Math" panose="02040503050406030204" pitchFamily="18" charset="0"/>
                            </a:rPr>
                            <m:t>,</m:t>
                          </m:r>
                        </m:e>
                      </m:eqArr>
                    </m:oMath>
                  </m:oMathPara>
                </a14:m>
                <a:endParaRPr lang="en-US" altLang="zh-CN" sz="1600" dirty="0"/>
              </a:p>
              <a:p>
                <a:pPr marL="0" indent="0">
                  <a:lnSpc>
                    <a:spcPct val="120000"/>
                  </a:lnSpc>
                  <a:buNone/>
                </a:pPr>
                <a:r>
                  <a:rPr lang="zh-CN" altLang="en-US" sz="1600" dirty="0"/>
                  <a:t>其中</a:t>
                </a:r>
                <a14:m>
                  <m:oMath xmlns:m="http://schemas.openxmlformats.org/officeDocument/2006/math">
                    <m:r>
                      <a:rPr lang="en-US" altLang="zh-CN" sz="1600" i="1" dirty="0" smtClean="0">
                        <a:latin typeface="Cambria Math" panose="02040503050406030204" pitchFamily="18" charset="0"/>
                      </a:rPr>
                      <m:t>𝑠𝑒</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𝑥</m:t>
                        </m:r>
                      </m:e>
                      <m:sub>
                        <m:r>
                          <a:rPr lang="en-US" altLang="zh-CN" sz="1600" i="1" dirty="0" err="1">
                            <a:latin typeface="Cambria Math" panose="02040503050406030204" pitchFamily="18" charset="0"/>
                          </a:rPr>
                          <m:t>𝑖𝑐</m:t>
                        </m:r>
                      </m:sub>
                    </m:sSub>
                  </m:oMath>
                </a14:m>
                <a:r>
                  <a:rPr lang="zh-CN" altLang="en-US" sz="1600" dirty="0"/>
                  <a:t>表示</a:t>
                </a:r>
                <a14:m>
                  <m:oMath xmlns:m="http://schemas.openxmlformats.org/officeDocument/2006/math">
                    <m:r>
                      <a:rPr lang="en-US" altLang="zh-CN" sz="1600" i="1" dirty="0" smtClean="0">
                        <a:latin typeface="Cambria Math" panose="02040503050406030204" pitchFamily="18" charset="0"/>
                      </a:rPr>
                      <m:t>𝑖</m:t>
                    </m:r>
                  </m:oMath>
                </a14:m>
                <a:r>
                  <a:rPr lang="zh-CN" altLang="en-US" sz="1600" dirty="0"/>
                  <a:t>县出生群组为</a:t>
                </a:r>
                <a14:m>
                  <m:oMath xmlns:m="http://schemas.openxmlformats.org/officeDocument/2006/math">
                    <m:r>
                      <a:rPr lang="en-US" altLang="zh-CN" sz="1600" i="1" dirty="0" smtClean="0">
                        <a:latin typeface="Cambria Math" panose="02040503050406030204" pitchFamily="18" charset="0"/>
                      </a:rPr>
                      <m:t>𝑐</m:t>
                    </m:r>
                  </m:oMath>
                </a14:m>
                <a:r>
                  <a:rPr lang="zh-CN" altLang="en-US" sz="1600" dirty="0"/>
                  <a:t>的男性比例，</a:t>
                </a:r>
                <a14:m>
                  <m:oMath xmlns:m="http://schemas.openxmlformats.org/officeDocument/2006/math">
                    <m:r>
                      <a:rPr lang="en-US" altLang="zh-CN" sz="1600" i="1" dirty="0" smtClean="0">
                        <a:latin typeface="Cambria Math" panose="02040503050406030204" pitchFamily="18" charset="0"/>
                      </a:rPr>
                      <m:t>𝑡𝑒</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𝑎</m:t>
                        </m:r>
                      </m:e>
                      <m:sub>
                        <m:r>
                          <a:rPr lang="en-US" altLang="zh-CN" sz="1600" i="1" dirty="0" err="1">
                            <a:latin typeface="Cambria Math" panose="02040503050406030204" pitchFamily="18" charset="0"/>
                          </a:rPr>
                          <m:t>𝑖</m:t>
                        </m:r>
                      </m:sub>
                    </m:sSub>
                  </m:oMath>
                </a14:m>
                <a:r>
                  <a:rPr lang="zh-CN" altLang="en-US" sz="1600" dirty="0"/>
                  <a:t>、</a:t>
                </a:r>
                <a14:m>
                  <m:oMath xmlns:m="http://schemas.openxmlformats.org/officeDocument/2006/math">
                    <m:r>
                      <a:rPr lang="en-US" altLang="zh-CN" sz="1600" i="1" dirty="0" smtClean="0">
                        <a:latin typeface="Cambria Math" panose="02040503050406030204" pitchFamily="18" charset="0"/>
                      </a:rPr>
                      <m:t>𝑜𝑟𝑐ℎ𝑎𝑟</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𝑑</m:t>
                        </m:r>
                      </m:e>
                      <m:sub>
                        <m:r>
                          <a:rPr lang="en-US" altLang="zh-CN" sz="1600" i="1" dirty="0" err="1">
                            <a:latin typeface="Cambria Math" panose="02040503050406030204" pitchFamily="18" charset="0"/>
                          </a:rPr>
                          <m:t>𝑖</m:t>
                        </m:r>
                      </m:sub>
                    </m:sSub>
                  </m:oMath>
                </a14:m>
                <a:r>
                  <a:rPr lang="zh-CN" altLang="en-US" sz="1600" dirty="0"/>
                  <a:t>、</a:t>
                </a:r>
                <a14:m>
                  <m:oMath xmlns:m="http://schemas.openxmlformats.org/officeDocument/2006/math">
                    <m:r>
                      <a:rPr lang="en-US" altLang="zh-CN" sz="1600" i="1" dirty="0" smtClean="0">
                        <a:latin typeface="Cambria Math" panose="02040503050406030204" pitchFamily="18" charset="0"/>
                      </a:rPr>
                      <m:t>𝑐𝑎𝑠ℎ𝑐𝑟𝑜</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𝑝</m:t>
                        </m:r>
                      </m:e>
                      <m:sub>
                        <m:r>
                          <a:rPr lang="en-US" altLang="zh-CN" sz="1600" i="1" dirty="0" err="1">
                            <a:latin typeface="Cambria Math" panose="02040503050406030204" pitchFamily="18" charset="0"/>
                          </a:rPr>
                          <m:t>𝑖</m:t>
                        </m:r>
                      </m:sub>
                    </m:sSub>
                  </m:oMath>
                </a14:m>
                <a:r>
                  <a:rPr lang="zh-CN" altLang="en-US" sz="1600" dirty="0"/>
                  <a:t>分别为</a:t>
                </a:r>
                <a14:m>
                  <m:oMath xmlns:m="http://schemas.openxmlformats.org/officeDocument/2006/math">
                    <m:r>
                      <a:rPr lang="en-US" altLang="zh-CN" sz="1600" i="1" dirty="0" smtClean="0">
                        <a:latin typeface="Cambria Math" panose="02040503050406030204" pitchFamily="18" charset="0"/>
                      </a:rPr>
                      <m:t>𝑖</m:t>
                    </m:r>
                  </m:oMath>
                </a14:m>
                <a:r>
                  <a:rPr lang="zh-CN" altLang="en-US" sz="1600" dirty="0"/>
                  <a:t>县的茶叶、果园和其他经济作物的种植面积、</a:t>
                </a:r>
                <a14:m>
                  <m:oMath xmlns:m="http://schemas.openxmlformats.org/officeDocument/2006/math">
                    <m:r>
                      <a:rPr lang="en-US" altLang="zh-CN" sz="1600" i="1" dirty="0" smtClean="0">
                        <a:latin typeface="Cambria Math" panose="02040503050406030204" pitchFamily="18" charset="0"/>
                      </a:rPr>
                      <m:t>𝐻𝑎</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𝑛</m:t>
                        </m:r>
                      </m:e>
                      <m:sub>
                        <m:r>
                          <a:rPr lang="en-US" altLang="zh-CN" sz="1600" i="1" dirty="0" smtClean="0">
                            <a:latin typeface="Cambria Math" panose="02040503050406030204" pitchFamily="18" charset="0"/>
                          </a:rPr>
                          <m:t>𝑖𝑐</m:t>
                        </m:r>
                      </m:sub>
                    </m:sSub>
                  </m:oMath>
                </a14:m>
                <a:r>
                  <a:rPr lang="zh-CN" altLang="en-US" sz="1600" dirty="0"/>
                  <a:t>为</a:t>
                </a:r>
                <a14:m>
                  <m:oMath xmlns:m="http://schemas.openxmlformats.org/officeDocument/2006/math">
                    <m:r>
                      <a:rPr lang="en-US" altLang="zh-CN" sz="1600" i="1" dirty="0" smtClean="0">
                        <a:latin typeface="Cambria Math" panose="02040503050406030204" pitchFamily="18" charset="0"/>
                      </a:rPr>
                      <m:t>𝑖</m:t>
                    </m:r>
                  </m:oMath>
                </a14:m>
                <a:r>
                  <a:rPr lang="zh-CN" altLang="en-US" sz="1600" dirty="0"/>
                  <a:t>县</a:t>
                </a:r>
                <a14:m>
                  <m:oMath xmlns:m="http://schemas.openxmlformats.org/officeDocument/2006/math">
                    <m:r>
                      <a:rPr lang="en-US" altLang="zh-CN" sz="1600" i="1" dirty="0" smtClean="0">
                        <a:latin typeface="Cambria Math" panose="02040503050406030204" pitchFamily="18" charset="0"/>
                      </a:rPr>
                      <m:t>𝑐</m:t>
                    </m:r>
                  </m:oMath>
                </a14:m>
                <a:r>
                  <a:rPr lang="zh-CN" altLang="en-US" sz="1600" dirty="0"/>
                  <a:t>群组的汉族比例，</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𝑑</m:t>
                        </m:r>
                      </m:e>
                      <m:sub>
                        <m:r>
                          <a:rPr lang="en-US" altLang="zh-CN" sz="1600" i="1" dirty="0" err="1">
                            <a:latin typeface="Cambria Math" panose="02040503050406030204" pitchFamily="18" charset="0"/>
                          </a:rPr>
                          <m:t>𝑙</m:t>
                        </m:r>
                      </m:sub>
                    </m:sSub>
                  </m:oMath>
                </a14:m>
                <a:r>
                  <a:rPr lang="zh-CN" altLang="en-US" sz="1600" dirty="0"/>
                  <a:t>为出生年份的虚拟变量，出生年份为</a:t>
                </a:r>
                <a14:m>
                  <m:oMath xmlns:m="http://schemas.openxmlformats.org/officeDocument/2006/math">
                    <m:r>
                      <a:rPr lang="en-US" altLang="zh-CN" sz="1600" i="1" dirty="0" smtClean="0">
                        <a:latin typeface="Cambria Math" panose="02040503050406030204" pitchFamily="18" charset="0"/>
                      </a:rPr>
                      <m:t>𝑙</m:t>
                    </m:r>
                  </m:oMath>
                </a14:m>
                <a:r>
                  <a:rPr lang="zh-CN" altLang="en-US" sz="1600" dirty="0"/>
                  <a:t>时取</a:t>
                </a:r>
                <a:r>
                  <a:rPr lang="en-US" altLang="zh-CN" sz="1600" dirty="0"/>
                  <a:t>1</a:t>
                </a:r>
                <a:r>
                  <a:rPr lang="zh-CN" altLang="en-US" sz="1600" dirty="0"/>
                  <a:t>，</a:t>
                </a:r>
                <a14:m>
                  <m:oMath xmlns:m="http://schemas.openxmlformats.org/officeDocument/2006/math">
                    <m:r>
                      <a:rPr lang="en-US" altLang="zh-CN" sz="1600" i="1" dirty="0" smtClean="0">
                        <a:latin typeface="Cambria Math" panose="02040503050406030204" pitchFamily="18" charset="0"/>
                      </a:rPr>
                      <m:t>𝑐𝑎𝑠ℎ𝑐𝑟𝑜</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𝑝</m:t>
                        </m:r>
                      </m:e>
                      <m:sub>
                        <m:r>
                          <a:rPr lang="en-US" altLang="zh-CN" sz="1600" i="1" dirty="0" err="1">
                            <a:latin typeface="Cambria Math" panose="02040503050406030204" pitchFamily="18" charset="0"/>
                          </a:rPr>
                          <m:t>𝑖</m:t>
                        </m:r>
                      </m:sub>
                    </m:sSub>
                    <m:r>
                      <a:rPr lang="en-US" altLang="zh-CN" sz="1600" i="1" dirty="0" smtClean="0">
                        <a:latin typeface="Cambria Math" panose="02040503050406030204" pitchFamily="18" charset="0"/>
                      </a:rPr>
                      <m:t>×</m:t>
                    </m:r>
                    <m:r>
                      <a:rPr lang="en-US" altLang="zh-CN" sz="1600" i="1" dirty="0">
                        <a:latin typeface="Cambria Math" panose="02040503050406030204" pitchFamily="18" charset="0"/>
                      </a:rPr>
                      <m:t> </m:t>
                    </m:r>
                    <m:sSub>
                      <m:sSubPr>
                        <m:ctrlPr>
                          <a:rPr lang="en-US" altLang="zh-CN" sz="1600" i="1" dirty="0" err="1">
                            <a:latin typeface="Cambria Math" panose="02040503050406030204" pitchFamily="18" charset="0"/>
                          </a:rPr>
                        </m:ctrlPr>
                      </m:sSubPr>
                      <m:e>
                        <m:r>
                          <a:rPr lang="en-US" altLang="zh-CN" sz="1600" i="1" dirty="0" err="1">
                            <a:latin typeface="Cambria Math" panose="02040503050406030204" pitchFamily="18" charset="0"/>
                          </a:rPr>
                          <m:t>𝑑</m:t>
                        </m:r>
                      </m:e>
                      <m:sub>
                        <m:r>
                          <a:rPr lang="en-US" altLang="zh-CN" sz="1600" i="1" dirty="0" err="1">
                            <a:latin typeface="Cambria Math" panose="02040503050406030204" pitchFamily="18" charset="0"/>
                          </a:rPr>
                          <m:t>𝑙</m:t>
                        </m:r>
                      </m:sub>
                    </m:sSub>
                  </m:oMath>
                </a14:m>
                <a:r>
                  <a:rPr lang="zh-CN" altLang="en-US" sz="1600" dirty="0"/>
                  <a:t>、</a:t>
                </a:r>
                <a14:m>
                  <m:oMath xmlns:m="http://schemas.openxmlformats.org/officeDocument/2006/math">
                    <m:r>
                      <a:rPr lang="en-US" altLang="zh-CN" sz="1600" i="1" dirty="0" smtClean="0">
                        <a:latin typeface="Cambria Math" panose="02040503050406030204" pitchFamily="18" charset="0"/>
                      </a:rPr>
                      <m:t>𝐻𝑎</m:t>
                    </m:r>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𝑛</m:t>
                        </m:r>
                      </m:e>
                      <m:sub>
                        <m:r>
                          <a:rPr lang="en-US" altLang="zh-CN" sz="1600" i="1" dirty="0" smtClean="0">
                            <a:latin typeface="Cambria Math" panose="02040503050406030204" pitchFamily="18" charset="0"/>
                          </a:rPr>
                          <m:t>𝑖𝑐</m:t>
                        </m:r>
                      </m:sub>
                    </m:sSub>
                  </m:oMath>
                </a14:m>
                <a:r>
                  <a:rPr lang="zh-CN" altLang="en-US" sz="1600" dirty="0"/>
                  <a:t>是主要的控制变量，</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𝜓</m:t>
                        </m:r>
                      </m:e>
                      <m:sub>
                        <m:r>
                          <a:rPr lang="en-US" altLang="zh-CN" sz="1600" i="1" dirty="0" err="1">
                            <a:latin typeface="Cambria Math" panose="02040503050406030204" pitchFamily="18" charset="0"/>
                          </a:rPr>
                          <m:t>𝑖</m:t>
                        </m:r>
                      </m:sub>
                    </m:sSub>
                  </m:oMath>
                </a14:m>
                <a:r>
                  <a:rPr lang="zh-CN" altLang="en-US" sz="1600" dirty="0"/>
                  <a:t>是县固定效应，</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𝛾</m:t>
                        </m:r>
                      </m:e>
                      <m:sub>
                        <m:r>
                          <a:rPr lang="en-US" altLang="zh-CN" sz="1600" i="1" dirty="0" err="1">
                            <a:latin typeface="Cambria Math" panose="02040503050406030204" pitchFamily="18" charset="0"/>
                          </a:rPr>
                          <m:t>𝑐</m:t>
                        </m:r>
                      </m:sub>
                    </m:sSub>
                  </m:oMath>
                </a14:m>
                <a:r>
                  <a:rPr lang="zh-CN" altLang="en-US" sz="1600" dirty="0"/>
                  <a:t>是出生群组固定效应。</a:t>
                </a:r>
                <a:endParaRPr lang="en-US" altLang="zh-CN" sz="1600" dirty="0"/>
              </a:p>
              <a:p>
                <a:pPr>
                  <a:lnSpc>
                    <a:spcPct val="120000"/>
                  </a:lnSpc>
                </a:pPr>
                <a:r>
                  <a:rPr lang="en-US" altLang="zh-CN" sz="1600" dirty="0"/>
                  <a:t>1962 </a:t>
                </a:r>
                <a:r>
                  <a:rPr lang="zh-CN" altLang="en-US" sz="1600" dirty="0"/>
                  <a:t>年是基准期，第一种设定方式。</a:t>
                </a:r>
              </a:p>
            </p:txBody>
          </p:sp>
        </mc:Choice>
        <mc:Fallback>
          <p:sp>
            <p:nvSpPr>
              <p:cNvPr id="3" name="内容占位符 2">
                <a:extLst>
                  <a:ext uri="{FF2B5EF4-FFF2-40B4-BE49-F238E27FC236}">
                    <a16:creationId xmlns:a16="http://schemas.microsoft.com/office/drawing/2014/main" id="{90A25474-79CE-1026-41B1-40FFAF7CD6D8}"/>
                  </a:ext>
                </a:extLst>
              </p:cNvPr>
              <p:cNvSpPr>
                <a:spLocks noGrp="1" noRot="1" noChangeAspect="1" noMove="1" noResize="1" noEditPoints="1" noAdjustHandles="1" noChangeArrowheads="1" noChangeShapeType="1" noTextEdit="1"/>
              </p:cNvSpPr>
              <p:nvPr>
                <p:ph idx="1"/>
              </p:nvPr>
            </p:nvSpPr>
            <p:spPr>
              <a:blipFill>
                <a:blip r:embed="rId2"/>
                <a:stretch>
                  <a:fillRect l="-386" b="-462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BC0C812-3FC0-D5A8-83CD-5DF3CFA0B37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667E87D-A3E1-8075-5163-A9C4832F6424}"/>
              </a:ext>
            </a:extLst>
          </p:cNvPr>
          <p:cNvSpPr>
            <a:spLocks noGrp="1"/>
          </p:cNvSpPr>
          <p:nvPr>
            <p:ph type="sldNum" sz="quarter" idx="12"/>
          </p:nvPr>
        </p:nvSpPr>
        <p:spPr/>
        <p:txBody>
          <a:bodyPr/>
          <a:lstStyle/>
          <a:p>
            <a:fld id="{D41FC515-8169-4A29-AA56-DBE520D5741B}" type="slidenum">
              <a:rPr lang="zh-CN" altLang="en-US" smtClean="0"/>
              <a:t>59</a:t>
            </a:fld>
            <a:endParaRPr lang="zh-CN" altLang="en-US"/>
          </a:p>
        </p:txBody>
      </p:sp>
    </p:spTree>
    <p:extLst>
      <p:ext uri="{BB962C8B-B14F-4D97-AF65-F5344CB8AC3E}">
        <p14:creationId xmlns:p14="http://schemas.microsoft.com/office/powerpoint/2010/main" val="2896383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EC73E-89EF-C1B4-450B-DDC8AB388598}"/>
              </a:ext>
            </a:extLst>
          </p:cNvPr>
          <p:cNvSpPr>
            <a:spLocks noGrp="1"/>
          </p:cNvSpPr>
          <p:nvPr>
            <p:ph type="title"/>
          </p:nvPr>
        </p:nvSpPr>
        <p:spPr/>
        <p:txBody>
          <a:bodyPr>
            <a:normAutofit/>
          </a:bodyPr>
          <a:lstStyle/>
          <a:p>
            <a:r>
              <a:rPr lang="zh-CN" altLang="en-US" dirty="0"/>
              <a:t>多期</a:t>
            </a:r>
            <a:r>
              <a:rPr lang="en-US" altLang="zh-CN" dirty="0"/>
              <a:t>DID</a:t>
            </a:r>
            <a:br>
              <a:rPr lang="en-US" altLang="zh-CN" dirty="0"/>
            </a:br>
            <a:r>
              <a:rPr lang="en-US" altLang="zh-CN" sz="2700" dirty="0"/>
              <a:t>Qian (2008)</a:t>
            </a:r>
            <a:r>
              <a:rPr lang="zh-CN" altLang="en-US" sz="2700" dirty="0"/>
              <a:t>：茶叶价格和消失的女性</a:t>
            </a:r>
          </a:p>
        </p:txBody>
      </p:sp>
      <p:pic>
        <p:nvPicPr>
          <p:cNvPr id="7" name="内容占位符 6">
            <a:extLst>
              <a:ext uri="{FF2B5EF4-FFF2-40B4-BE49-F238E27FC236}">
                <a16:creationId xmlns:a16="http://schemas.microsoft.com/office/drawing/2014/main" id="{46FDDE1F-3954-081D-A4F2-309565656307}"/>
              </a:ext>
            </a:extLst>
          </p:cNvPr>
          <p:cNvPicPr>
            <a:picLocks noGrp="1" noChangeAspect="1"/>
          </p:cNvPicPr>
          <p:nvPr>
            <p:ph idx="1"/>
          </p:nvPr>
        </p:nvPicPr>
        <p:blipFill>
          <a:blip r:embed="rId2"/>
          <a:stretch>
            <a:fillRect/>
          </a:stretch>
        </p:blipFill>
        <p:spPr>
          <a:xfrm>
            <a:off x="1574308" y="1825625"/>
            <a:ext cx="5995384" cy="4351338"/>
          </a:xfrm>
          <a:prstGeom prst="rect">
            <a:avLst/>
          </a:prstGeom>
        </p:spPr>
      </p:pic>
      <p:sp>
        <p:nvSpPr>
          <p:cNvPr id="4" name="页脚占位符 3">
            <a:extLst>
              <a:ext uri="{FF2B5EF4-FFF2-40B4-BE49-F238E27FC236}">
                <a16:creationId xmlns:a16="http://schemas.microsoft.com/office/drawing/2014/main" id="{A08BCE4A-18A6-AB1A-E9D1-6590892043F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6A997D1-EA57-8D42-9EA9-208B661F792C}"/>
              </a:ext>
            </a:extLst>
          </p:cNvPr>
          <p:cNvSpPr>
            <a:spLocks noGrp="1"/>
          </p:cNvSpPr>
          <p:nvPr>
            <p:ph type="sldNum" sz="quarter" idx="12"/>
          </p:nvPr>
        </p:nvSpPr>
        <p:spPr/>
        <p:txBody>
          <a:bodyPr/>
          <a:lstStyle/>
          <a:p>
            <a:fld id="{D41FC515-8169-4A29-AA56-DBE520D5741B}" type="slidenum">
              <a:rPr lang="zh-CN" altLang="en-US" smtClean="0"/>
              <a:t>60</a:t>
            </a:fld>
            <a:endParaRPr lang="zh-CN" altLang="en-US"/>
          </a:p>
        </p:txBody>
      </p:sp>
      <p:sp>
        <p:nvSpPr>
          <p:cNvPr id="9" name="文本框 8">
            <a:extLst>
              <a:ext uri="{FF2B5EF4-FFF2-40B4-BE49-F238E27FC236}">
                <a16:creationId xmlns:a16="http://schemas.microsoft.com/office/drawing/2014/main" id="{88EDEAF3-3A73-39E5-B907-1E58D08779B3}"/>
              </a:ext>
            </a:extLst>
          </p:cNvPr>
          <p:cNvSpPr txBox="1"/>
          <p:nvPr/>
        </p:nvSpPr>
        <p:spPr>
          <a:xfrm>
            <a:off x="2914650" y="6049212"/>
            <a:ext cx="4572000"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Figure 4: </a:t>
            </a:r>
            <a:r>
              <a:rPr lang="zh-CN" altLang="en-US" sz="1600" b="0" i="0" u="none" strike="noStrike" baseline="0" dirty="0">
                <a:solidFill>
                  <a:srgbClr val="000000"/>
                </a:solidFill>
                <a:latin typeface="宋体" panose="02010600030101010101" pitchFamily="2" charset="-122"/>
                <a:ea typeface="宋体" panose="02010600030101010101" pitchFamily="2" charset="-122"/>
              </a:rPr>
              <a:t>种植茶叶和水果对性别比的影响</a:t>
            </a:r>
            <a:endParaRPr lang="zh-CN" altLang="en-US" sz="1600" dirty="0"/>
          </a:p>
        </p:txBody>
      </p:sp>
    </p:spTree>
    <p:extLst>
      <p:ext uri="{BB962C8B-B14F-4D97-AF65-F5344CB8AC3E}">
        <p14:creationId xmlns:p14="http://schemas.microsoft.com/office/powerpoint/2010/main" val="3587467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F5F3B-7D42-5388-887C-CAD04049F25C}"/>
              </a:ext>
            </a:extLst>
          </p:cNvPr>
          <p:cNvSpPr>
            <a:spLocks noGrp="1"/>
          </p:cNvSpPr>
          <p:nvPr>
            <p:ph type="title"/>
          </p:nvPr>
        </p:nvSpPr>
        <p:spPr/>
        <p:txBody>
          <a:bodyPr/>
          <a:lstStyle/>
          <a:p>
            <a:r>
              <a:rPr lang="zh-CN" altLang="en-US" dirty="0"/>
              <a:t>交错</a:t>
            </a:r>
            <a:r>
              <a:rPr lang="en-US" altLang="zh-CN" dirty="0"/>
              <a:t>DID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268608D-6BBC-2687-4550-CF41EF90E6BC}"/>
                  </a:ext>
                </a:extLst>
              </p:cNvPr>
              <p:cNvSpPr>
                <a:spLocks noGrp="1"/>
              </p:cNvSpPr>
              <p:nvPr>
                <p:ph idx="1"/>
              </p:nvPr>
            </p:nvSpPr>
            <p:spPr/>
            <p:txBody>
              <a:bodyPr>
                <a:noAutofit/>
              </a:bodyPr>
              <a:lstStyle/>
              <a:p>
                <a:r>
                  <a:rPr lang="zh-CN" altLang="en-US" sz="1400" dirty="0"/>
                  <a:t>交错</a:t>
                </a:r>
                <a:r>
                  <a:rPr lang="en-US" altLang="zh-CN" sz="1400" dirty="0"/>
                  <a:t>DID</a:t>
                </a:r>
                <a:r>
                  <a:rPr lang="zh-CN" altLang="en-US" sz="1400" dirty="0"/>
                  <a:t>（</a:t>
                </a:r>
                <a:r>
                  <a:rPr lang="en-US" altLang="zh-CN" sz="1400" dirty="0"/>
                  <a:t>staggered DID</a:t>
                </a:r>
                <a:r>
                  <a:rPr lang="zh-CN" altLang="en-US" sz="1400" dirty="0"/>
                  <a:t>）</a:t>
                </a:r>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r>
                  <a:rPr lang="zh-CN" altLang="en-US" sz="1400" dirty="0"/>
                  <a:t>𝐷𝑖𝑡 </a:t>
                </a:r>
                <a:r>
                  <a:rPr lang="en-US" altLang="zh-CN" sz="1400" dirty="0"/>
                  <a:t>= 1</a:t>
                </a:r>
                <a:r>
                  <a:rPr lang="zh-CN" altLang="en-US" sz="1400" dirty="0"/>
                  <a:t>，如果个体𝑖 在𝑡 期受到干预，否则为</a:t>
                </a:r>
                <a:r>
                  <a:rPr lang="en-US" altLang="zh-CN" sz="1400" dirty="0"/>
                  <a:t>0</a:t>
                </a:r>
                <a:r>
                  <a:rPr lang="zh-CN" altLang="en-US" sz="1400" dirty="0"/>
                  <a:t>，即阴影部分为</a:t>
                </a:r>
                <a:r>
                  <a:rPr lang="en-US" altLang="zh-CN" sz="1400" dirty="0"/>
                  <a:t>1</a:t>
                </a:r>
                <a:r>
                  <a:rPr lang="zh-CN" altLang="en-US" sz="1400" dirty="0"/>
                  <a:t>，非阴影部分为</a:t>
                </a:r>
                <a:r>
                  <a:rPr lang="en-US" altLang="zh-CN" sz="1400" dirty="0"/>
                  <a:t>0</a:t>
                </a:r>
                <a:r>
                  <a:rPr lang="zh-CN" altLang="en-US" sz="1400" dirty="0"/>
                  <a:t>。</a:t>
                </a:r>
                <a:endParaRPr lang="en-US" altLang="zh-CN" sz="1400" dirty="0"/>
              </a:p>
              <a:p>
                <a:r>
                  <a:rPr lang="zh-CN" altLang="en-US" sz="1400" dirty="0"/>
                  <a:t>双向固定效应估计量（静态模型），</a:t>
                </a:r>
                <a:endParaRPr lang="en-US" altLang="zh-CN" sz="1400" dirty="0"/>
              </a:p>
              <a:p>
                <a:pPr marL="0" indent="0">
                  <a:buNone/>
                </a:pPr>
                <a14:m>
                  <m:oMathPara xmlns:m="http://schemas.openxmlformats.org/officeDocument/2006/math">
                    <m:oMath>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𝑌</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𝜇</m:t>
                          </m:r>
                        </m:e>
                        <m:sub>
                          <m:r>
                            <a:rPr lang="en-US" altLang="zh-CN" sz="1400" i="1" smtClean="0">
                              <a:latin typeface="Cambria Math" panose="02040503050406030204" pitchFamily="18" charset="0"/>
                            </a:rPr>
                            <m:t>𝑖</m:t>
                          </m:r>
                        </m:sub>
                      </m:sSub>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𝜆</m:t>
                          </m:r>
                        </m:e>
                        <m:sub>
                          <m:r>
                            <a:rPr lang="en-US" altLang="zh-CN" sz="1400" i="1" smtClean="0">
                              <a:latin typeface="Cambria Math" panose="02040503050406030204" pitchFamily="18" charset="0"/>
                            </a:rPr>
                            <m:t>𝑡</m:t>
                          </m:r>
                        </m:sub>
                      </m:sSub>
                      <m:r>
                        <a:rPr lang="en-US" altLang="zh-CN" sz="1400" i="1" smtClean="0">
                          <a:latin typeface="Cambria Math" panose="02040503050406030204" pitchFamily="18" charset="0"/>
                        </a:rPr>
                        <m:t>+</m:t>
                      </m:r>
                      <m:r>
                        <a:rPr lang="en-US" altLang="zh-CN" sz="1400" i="1" smtClean="0">
                          <a:latin typeface="Cambria Math" panose="02040503050406030204" pitchFamily="18" charset="0"/>
                        </a:rPr>
                        <m:t>𝜏</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𝐷</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𝑋</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r>
                        <a:rPr lang="en-US" altLang="zh-CN" sz="1400" i="1" smtClean="0">
                          <a:latin typeface="Cambria Math" panose="02040503050406030204" pitchFamily="18" charset="0"/>
                        </a:rPr>
                        <m:t>𝛾</m:t>
                      </m:r>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𝜀</m:t>
                          </m:r>
                        </m:e>
                        <m:sub>
                          <m:r>
                            <a:rPr lang="en-US" altLang="zh-CN" sz="1400" i="1" smtClean="0">
                              <a:latin typeface="Cambria Math" panose="02040503050406030204" pitchFamily="18" charset="0"/>
                            </a:rPr>
                            <m:t>𝑖𝑡</m:t>
                          </m:r>
                        </m:sub>
                      </m:sSub>
                    </m:oMath>
                  </m:oMathPara>
                </a14:m>
                <a:endParaRPr lang="en-US" altLang="zh-CN" sz="1400" dirty="0"/>
              </a:p>
              <a:p>
                <a:r>
                  <a:rPr lang="zh-CN" altLang="en-US" sz="1400" dirty="0"/>
                  <a:t>事件研究法（动态模型），定义</a:t>
                </a:r>
                <a14:m>
                  <m:oMath xmlns:m="http://schemas.openxmlformats.org/officeDocument/2006/math">
                    <m:sSubSup>
                      <m:sSubSupPr>
                        <m:ctrlPr>
                          <a:rPr lang="en-US" altLang="zh-CN" sz="1400" i="1" dirty="0" smtClean="0">
                            <a:latin typeface="Cambria Math" panose="02040503050406030204" pitchFamily="18" charset="0"/>
                          </a:rPr>
                        </m:ctrlPr>
                      </m:sSubSupPr>
                      <m:e>
                        <m:r>
                          <a:rPr lang="en-US" altLang="zh-CN" sz="1400" i="1" dirty="0" smtClean="0">
                            <a:latin typeface="Cambria Math" panose="02040503050406030204" pitchFamily="18" charset="0"/>
                          </a:rPr>
                          <m:t>𝐷</m:t>
                        </m:r>
                      </m:e>
                      <m:sub>
                        <m:r>
                          <a:rPr lang="en-US" altLang="zh-CN" sz="1400" i="1" dirty="0" smtClean="0">
                            <a:latin typeface="Cambria Math" panose="02040503050406030204" pitchFamily="18" charset="0"/>
                          </a:rPr>
                          <m:t>𝑖𝑡</m:t>
                        </m:r>
                      </m:sub>
                      <m:sup>
                        <m:r>
                          <a:rPr lang="en-US" altLang="zh-CN" sz="1400" i="1" dirty="0" smtClean="0">
                            <a:latin typeface="Cambria Math" panose="02040503050406030204" pitchFamily="18" charset="0"/>
                          </a:rPr>
                          <m:t>𝑙</m:t>
                        </m:r>
                      </m:sup>
                    </m:sSubSup>
                    <m:r>
                      <a:rPr lang="en-US" altLang="zh-CN" sz="1400" i="1" dirty="0" smtClean="0">
                        <a:latin typeface="Cambria Math" panose="02040503050406030204" pitchFamily="18" charset="0"/>
                      </a:rPr>
                      <m:t>=</m:t>
                    </m:r>
                    <m:r>
                      <a:rPr lang="en-US" altLang="zh-CN" sz="1400" b="0" i="1" dirty="0" smtClean="0">
                        <a:latin typeface="Cambria Math" panose="02040503050406030204" pitchFamily="18" charset="0"/>
                      </a:rPr>
                      <m:t>1</m:t>
                    </m:r>
                    <m:r>
                      <a:rPr lang="en-US" altLang="zh-CN" sz="1400" i="1" dirty="0">
                        <a:latin typeface="Cambria Math" panose="02040503050406030204" pitchFamily="18" charset="0"/>
                      </a:rPr>
                      <m:t>[</m:t>
                    </m:r>
                    <m:r>
                      <a:rPr lang="en-US" altLang="zh-CN" sz="1400" i="1" dirty="0">
                        <a:latin typeface="Cambria Math" panose="02040503050406030204" pitchFamily="18" charset="0"/>
                      </a:rPr>
                      <m:t>𝑡</m:t>
                    </m:r>
                    <m:r>
                      <a:rPr lang="en-US" altLang="zh-CN" sz="1400" i="1" dirty="0">
                        <a:latin typeface="Cambria Math" panose="02040503050406030204" pitchFamily="18" charset="0"/>
                      </a:rPr>
                      <m:t>−</m:t>
                    </m:r>
                    <m:r>
                      <a:rPr lang="en-US" altLang="zh-CN" sz="1400" i="1" dirty="0">
                        <a:latin typeface="Cambria Math" panose="02040503050406030204" pitchFamily="18" charset="0"/>
                      </a:rPr>
                      <m:t>𝑒</m:t>
                    </m:r>
                    <m:r>
                      <a:rPr lang="en-US" altLang="zh-CN" sz="1400" i="1" dirty="0">
                        <a:latin typeface="Cambria Math" panose="02040503050406030204" pitchFamily="18" charset="0"/>
                      </a:rPr>
                      <m:t>=</m:t>
                    </m:r>
                    <m:r>
                      <a:rPr lang="en-US" altLang="zh-CN" sz="1400" i="1" dirty="0">
                        <a:latin typeface="Cambria Math" panose="02040503050406030204" pitchFamily="18" charset="0"/>
                      </a:rPr>
                      <m:t>𝑙</m:t>
                    </m:r>
                    <m:r>
                      <a:rPr lang="en-US" altLang="zh-CN" sz="1400" i="1" dirty="0">
                        <a:latin typeface="Cambria Math" panose="02040503050406030204" pitchFamily="18" charset="0"/>
                      </a:rPr>
                      <m:t>]</m:t>
                    </m:r>
                  </m:oMath>
                </a14:m>
                <a:r>
                  <a:rPr lang="zh-CN" altLang="en-US" sz="1400" dirty="0"/>
                  <a:t>，</a:t>
                </a:r>
                <a:r>
                  <a:rPr lang="en-US" altLang="zh-CN" sz="1400" dirty="0"/>
                  <a:t>e</a:t>
                </a:r>
                <a:r>
                  <a:rPr lang="zh-CN" altLang="en-US" sz="1400" dirty="0"/>
                  <a:t>表示政策开始时间，</a:t>
                </a:r>
                <a14:m>
                  <m:oMath xmlns:m="http://schemas.openxmlformats.org/officeDocument/2006/math">
                    <m:sSubSup>
                      <m:sSubSupPr>
                        <m:ctrlPr>
                          <a:rPr lang="en-US" altLang="zh-CN" sz="1400" b="0" i="1" dirty="0" smtClean="0">
                            <a:latin typeface="Cambria Math" panose="02040503050406030204" pitchFamily="18" charset="0"/>
                          </a:rPr>
                        </m:ctrlPr>
                      </m:sSubSupPr>
                      <m:e>
                        <m:r>
                          <a:rPr lang="en-US" altLang="zh-CN" sz="1400" b="0" i="1" dirty="0" smtClean="0">
                            <a:latin typeface="Cambria Math" panose="02040503050406030204" pitchFamily="18" charset="0"/>
                          </a:rPr>
                          <m:t>𝐷</m:t>
                        </m:r>
                      </m:e>
                      <m:sub>
                        <m:r>
                          <a:rPr lang="en-US" altLang="zh-CN" sz="1400" b="0" i="1" dirty="0" smtClean="0">
                            <a:latin typeface="Cambria Math" panose="02040503050406030204" pitchFamily="18" charset="0"/>
                          </a:rPr>
                          <m:t>𝑖𝑡</m:t>
                        </m:r>
                      </m:sub>
                      <m:sup>
                        <m:r>
                          <a:rPr lang="en-US" altLang="zh-CN" sz="1400" b="0" i="1" dirty="0" smtClean="0">
                            <a:latin typeface="Cambria Math" panose="02040503050406030204" pitchFamily="18" charset="0"/>
                          </a:rPr>
                          <m:t>𝑙</m:t>
                        </m:r>
                      </m:sup>
                    </m:sSubSup>
                  </m:oMath>
                </a14:m>
                <a:r>
                  <a:rPr lang="zh-CN" altLang="en-US" sz="1400" dirty="0"/>
                  <a:t>表示个体</a:t>
                </a:r>
                <a14:m>
                  <m:oMath xmlns:m="http://schemas.openxmlformats.org/officeDocument/2006/math">
                    <m:r>
                      <a:rPr lang="en-US" altLang="zh-CN" sz="1400" b="0" i="1" smtClean="0">
                        <a:latin typeface="Cambria Math" panose="02040503050406030204" pitchFamily="18" charset="0"/>
                      </a:rPr>
                      <m:t>𝑖</m:t>
                    </m:r>
                  </m:oMath>
                </a14:m>
                <a:r>
                  <a:rPr lang="zh-CN" altLang="en-US" sz="1400" dirty="0"/>
                  <a:t>在</a:t>
                </a:r>
                <a14:m>
                  <m:oMath xmlns:m="http://schemas.openxmlformats.org/officeDocument/2006/math">
                    <m:r>
                      <a:rPr lang="en-US" altLang="zh-CN" sz="1400" i="1" dirty="0" smtClean="0">
                        <a:latin typeface="Cambria Math" panose="02040503050406030204" pitchFamily="18" charset="0"/>
                      </a:rPr>
                      <m:t>𝑡</m:t>
                    </m:r>
                  </m:oMath>
                </a14:m>
                <a:r>
                  <a:rPr lang="zh-CN" altLang="en-US" sz="1400" dirty="0"/>
                  <a:t>是否受到</a:t>
                </a:r>
                <a14:m>
                  <m:oMath xmlns:m="http://schemas.openxmlformats.org/officeDocument/2006/math">
                    <m:r>
                      <a:rPr lang="en-US" altLang="zh-CN" sz="1400" b="0" i="1" smtClean="0">
                        <a:latin typeface="Cambria Math" panose="02040503050406030204" pitchFamily="18" charset="0"/>
                      </a:rPr>
                      <m:t>𝑙</m:t>
                    </m:r>
                  </m:oMath>
                </a14:m>
                <a:r>
                  <a:rPr lang="zh-CN" altLang="en-US" sz="1400" dirty="0"/>
                  <a:t>期影响，构建下列模型</a:t>
                </a:r>
                <a:endParaRPr lang="en-US" altLang="zh-CN" sz="1400" dirty="0"/>
              </a:p>
              <a:p>
                <a:pPr marL="0" indent="0">
                  <a:buNone/>
                </a:pPr>
                <a14:m>
                  <m:oMathPara xmlns:m="http://schemas.openxmlformats.org/officeDocument/2006/math">
                    <m:oMath>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𝑌</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𝜇</m:t>
                          </m:r>
                        </m:e>
                        <m:sub>
                          <m:r>
                            <a:rPr lang="en-US" altLang="zh-CN" sz="1400" i="1" smtClean="0">
                              <a:latin typeface="Cambria Math" panose="02040503050406030204" pitchFamily="18" charset="0"/>
                            </a:rPr>
                            <m:t>𝑖</m:t>
                          </m:r>
                        </m:sub>
                      </m:sSub>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𝜆</m:t>
                          </m:r>
                        </m:e>
                        <m:sub>
                          <m:r>
                            <a:rPr lang="en-US" altLang="zh-CN" sz="1400" i="1" smtClean="0">
                              <a:latin typeface="Cambria Math" panose="02040503050406030204" pitchFamily="18" charset="0"/>
                            </a:rPr>
                            <m:t>𝑡</m:t>
                          </m:r>
                        </m:sub>
                      </m:sSub>
                      <m:r>
                        <a:rPr lang="en-US" altLang="zh-CN" sz="1400" i="1" smtClean="0">
                          <a:latin typeface="Cambria Math" panose="02040503050406030204" pitchFamily="18" charset="0"/>
                        </a:rPr>
                        <m:t>+</m:t>
                      </m:r>
                      <m:nary>
                        <m:naryPr>
                          <m:chr m:val="∑"/>
                          <m:limLoc m:val="undOvr"/>
                          <m:ctrlPr>
                            <a:rPr lang="en-US" altLang="zh-CN" sz="1400" i="1" smtClean="0">
                              <a:latin typeface="Cambria Math" panose="02040503050406030204" pitchFamily="18" charset="0"/>
                            </a:rPr>
                          </m:ctrlPr>
                        </m:naryPr>
                        <m:sub>
                          <m:r>
                            <a:rPr lang="en-US" altLang="zh-CN" sz="1400" i="1" smtClean="0">
                              <a:latin typeface="Cambria Math" panose="02040503050406030204" pitchFamily="18" charset="0"/>
                            </a:rPr>
                            <m:t>𝑙</m:t>
                          </m:r>
                          <m:r>
                            <a:rPr lang="en-US" altLang="zh-CN" sz="1400" i="1" smtClean="0">
                              <a:latin typeface="Cambria Math" panose="02040503050406030204" pitchFamily="18" charset="0"/>
                            </a:rPr>
                            <m:t>=−</m:t>
                          </m:r>
                          <m:r>
                            <a:rPr lang="en-US" altLang="zh-CN" sz="1400" i="1" smtClean="0">
                              <a:latin typeface="Cambria Math" panose="02040503050406030204" pitchFamily="18" charset="0"/>
                            </a:rPr>
                            <m:t>𝐿</m:t>
                          </m:r>
                        </m:sub>
                        <m:sup>
                          <m:r>
                            <a:rPr lang="en-US" altLang="zh-CN" sz="1400" i="1" smtClean="0">
                              <a:latin typeface="Cambria Math" panose="02040503050406030204" pitchFamily="18" charset="0"/>
                            </a:rPr>
                            <m:t>−2</m:t>
                          </m:r>
                        </m:sup>
                        <m:e>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𝜏</m:t>
                              </m:r>
                            </m:e>
                            <m:sub>
                              <m:r>
                                <a:rPr lang="en-US" altLang="zh-CN" sz="1400" i="1" smtClean="0">
                                  <a:latin typeface="Cambria Math" panose="02040503050406030204" pitchFamily="18" charset="0"/>
                                </a:rPr>
                                <m:t>𝑙</m:t>
                              </m:r>
                            </m:sub>
                          </m:sSub>
                        </m:e>
                      </m:nary>
                      <m:sSubSup>
                        <m:sSubSupPr>
                          <m:ctrlPr>
                            <a:rPr lang="en-US" altLang="zh-CN" sz="1400" i="1" smtClean="0">
                              <a:latin typeface="Cambria Math" panose="02040503050406030204" pitchFamily="18" charset="0"/>
                            </a:rPr>
                          </m:ctrlPr>
                        </m:sSubSupPr>
                        <m:e>
                          <m:r>
                            <a:rPr lang="en-US" altLang="zh-CN" sz="1400" i="1" smtClean="0">
                              <a:latin typeface="Cambria Math" panose="02040503050406030204" pitchFamily="18" charset="0"/>
                            </a:rPr>
                            <m:t>𝐷</m:t>
                          </m:r>
                        </m:e>
                        <m:sub>
                          <m:r>
                            <a:rPr lang="en-US" altLang="zh-CN" sz="1400" i="1" smtClean="0">
                              <a:latin typeface="Cambria Math" panose="02040503050406030204" pitchFamily="18" charset="0"/>
                            </a:rPr>
                            <m:t>𝑖𝑡</m:t>
                          </m:r>
                        </m:sub>
                        <m:sup>
                          <m:r>
                            <a:rPr lang="en-US" altLang="zh-CN" sz="1400" i="1" smtClean="0">
                              <a:latin typeface="Cambria Math" panose="02040503050406030204" pitchFamily="18" charset="0"/>
                            </a:rPr>
                            <m:t>𝑙</m:t>
                          </m:r>
                        </m:sup>
                      </m:sSubSup>
                      <m:r>
                        <a:rPr lang="en-US" altLang="zh-CN" sz="1400" i="1" smtClean="0">
                          <a:latin typeface="Cambria Math" panose="02040503050406030204" pitchFamily="18" charset="0"/>
                        </a:rPr>
                        <m:t>+</m:t>
                      </m:r>
                      <m:nary>
                        <m:naryPr>
                          <m:chr m:val="∑"/>
                          <m:limLoc m:val="undOvr"/>
                          <m:ctrlPr>
                            <a:rPr lang="en-US" altLang="zh-CN" sz="1400" i="1" smtClean="0">
                              <a:latin typeface="Cambria Math" panose="02040503050406030204" pitchFamily="18" charset="0"/>
                            </a:rPr>
                          </m:ctrlPr>
                        </m:naryPr>
                        <m:sub>
                          <m:r>
                            <a:rPr lang="en-US" altLang="zh-CN" sz="1400" i="1" smtClean="0">
                              <a:latin typeface="Cambria Math" panose="02040503050406030204" pitchFamily="18" charset="0"/>
                            </a:rPr>
                            <m:t>𝑙</m:t>
                          </m:r>
                          <m:r>
                            <a:rPr lang="en-US" altLang="zh-CN" sz="1400" i="1" smtClean="0">
                              <a:latin typeface="Cambria Math" panose="02040503050406030204" pitchFamily="18" charset="0"/>
                            </a:rPr>
                            <m:t>=0</m:t>
                          </m:r>
                        </m:sub>
                        <m:sup>
                          <m:r>
                            <a:rPr lang="en-US" altLang="zh-CN" sz="1400" i="1" smtClean="0">
                              <a:latin typeface="Cambria Math" panose="02040503050406030204" pitchFamily="18" charset="0"/>
                            </a:rPr>
                            <m:t>𝐿</m:t>
                          </m:r>
                        </m:sup>
                        <m:e>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𝜏</m:t>
                              </m:r>
                            </m:e>
                            <m:sub>
                              <m:r>
                                <a:rPr lang="en-US" altLang="zh-CN" sz="1400" i="1" smtClean="0">
                                  <a:latin typeface="Cambria Math" panose="02040503050406030204" pitchFamily="18" charset="0"/>
                                </a:rPr>
                                <m:t>𝑙</m:t>
                              </m:r>
                            </m:sub>
                          </m:sSub>
                        </m:e>
                      </m:nary>
                      <m:sSubSup>
                        <m:sSubSupPr>
                          <m:ctrlPr>
                            <a:rPr lang="en-US" altLang="zh-CN" sz="1400" i="1" smtClean="0">
                              <a:latin typeface="Cambria Math" panose="02040503050406030204" pitchFamily="18" charset="0"/>
                            </a:rPr>
                          </m:ctrlPr>
                        </m:sSubSupPr>
                        <m:e>
                          <m:r>
                            <a:rPr lang="en-US" altLang="zh-CN" sz="1400" i="1" smtClean="0">
                              <a:latin typeface="Cambria Math" panose="02040503050406030204" pitchFamily="18" charset="0"/>
                            </a:rPr>
                            <m:t>𝐷</m:t>
                          </m:r>
                        </m:e>
                        <m:sub>
                          <m:r>
                            <a:rPr lang="en-US" altLang="zh-CN" sz="1400" i="1" smtClean="0">
                              <a:latin typeface="Cambria Math" panose="02040503050406030204" pitchFamily="18" charset="0"/>
                            </a:rPr>
                            <m:t>𝑖𝑡</m:t>
                          </m:r>
                        </m:sub>
                        <m:sup>
                          <m:r>
                            <a:rPr lang="en-US" altLang="zh-CN" sz="1400" i="1" smtClean="0">
                              <a:latin typeface="Cambria Math" panose="02040503050406030204" pitchFamily="18" charset="0"/>
                            </a:rPr>
                            <m:t>𝑙</m:t>
                          </m:r>
                        </m:sup>
                      </m:sSubSup>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𝑋</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r>
                        <a:rPr lang="en-US" altLang="zh-CN" sz="1400" i="1" smtClean="0">
                          <a:latin typeface="Cambria Math" panose="02040503050406030204" pitchFamily="18" charset="0"/>
                        </a:rPr>
                        <m:t>𝛾</m:t>
                      </m:r>
                      <m:r>
                        <a:rPr lang="en-US" altLang="zh-CN" sz="1400" i="1" smtClean="0">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i="1" smtClean="0">
                              <a:latin typeface="Cambria Math" panose="02040503050406030204" pitchFamily="18" charset="0"/>
                            </a:rPr>
                            <m:t>𝜀</m:t>
                          </m:r>
                        </m:e>
                        <m:sub>
                          <m:r>
                            <a:rPr lang="en-US" altLang="zh-CN" sz="1400" i="1" smtClean="0">
                              <a:latin typeface="Cambria Math" panose="02040503050406030204" pitchFamily="18" charset="0"/>
                            </a:rPr>
                            <m:t>𝑖𝑡</m:t>
                          </m:r>
                        </m:sub>
                      </m:sSub>
                      <m:r>
                        <a:rPr lang="en-US" altLang="zh-CN" sz="1400" i="1" smtClean="0">
                          <a:latin typeface="Cambria Math" panose="02040503050406030204" pitchFamily="18" charset="0"/>
                        </a:rPr>
                        <m:t>.</m:t>
                      </m:r>
                    </m:oMath>
                  </m:oMathPara>
                </a14:m>
                <a:endParaRPr lang="en-US" altLang="zh-CN" sz="1400" dirty="0"/>
              </a:p>
              <a:p>
                <a:endParaRPr lang="zh-CN" altLang="en-US" sz="1400" dirty="0"/>
              </a:p>
            </p:txBody>
          </p:sp>
        </mc:Choice>
        <mc:Fallback xmlns="">
          <p:sp>
            <p:nvSpPr>
              <p:cNvPr id="3" name="内容占位符 2">
                <a:extLst>
                  <a:ext uri="{FF2B5EF4-FFF2-40B4-BE49-F238E27FC236}">
                    <a16:creationId xmlns:a16="http://schemas.microsoft.com/office/drawing/2014/main" id="{D268608D-6BBC-2687-4550-CF41EF90E6BC}"/>
                  </a:ext>
                </a:extLst>
              </p:cNvPr>
              <p:cNvSpPr>
                <a:spLocks noGrp="1" noRot="1" noChangeAspect="1" noMove="1" noResize="1" noEditPoints="1" noAdjustHandles="1" noChangeArrowheads="1" noChangeShapeType="1" noTextEdit="1"/>
              </p:cNvSpPr>
              <p:nvPr>
                <p:ph idx="1"/>
              </p:nvPr>
            </p:nvSpPr>
            <p:spPr>
              <a:blipFill>
                <a:blip r:embed="rId2"/>
                <a:stretch>
                  <a:fillRect l="-77" t="-140" b="-56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BF273DA-DA0B-C9DC-48D0-F9D66F98F3D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2DCF5A8-0549-753B-BDA6-99B49C9AE3DF}"/>
              </a:ext>
            </a:extLst>
          </p:cNvPr>
          <p:cNvSpPr>
            <a:spLocks noGrp="1"/>
          </p:cNvSpPr>
          <p:nvPr>
            <p:ph type="sldNum" sz="quarter" idx="12"/>
          </p:nvPr>
        </p:nvSpPr>
        <p:spPr/>
        <p:txBody>
          <a:bodyPr/>
          <a:lstStyle/>
          <a:p>
            <a:fld id="{D41FC515-8169-4A29-AA56-DBE520D5741B}" type="slidenum">
              <a:rPr lang="zh-CN" altLang="en-US" smtClean="0"/>
              <a:t>61</a:t>
            </a:fld>
            <a:endParaRPr lang="zh-CN" altLang="en-US"/>
          </a:p>
        </p:txBody>
      </p:sp>
      <p:pic>
        <p:nvPicPr>
          <p:cNvPr id="7" name="图片 6">
            <a:extLst>
              <a:ext uri="{FF2B5EF4-FFF2-40B4-BE49-F238E27FC236}">
                <a16:creationId xmlns:a16="http://schemas.microsoft.com/office/drawing/2014/main" id="{EBE3D1A4-4F5D-D474-D996-9EC7B9A6EE06}"/>
              </a:ext>
            </a:extLst>
          </p:cNvPr>
          <p:cNvPicPr>
            <a:picLocks noChangeAspect="1"/>
          </p:cNvPicPr>
          <p:nvPr/>
        </p:nvPicPr>
        <p:blipFill>
          <a:blip r:embed="rId3"/>
          <a:srcRect t="5650" b="5785"/>
          <a:stretch>
            <a:fillRect/>
          </a:stretch>
        </p:blipFill>
        <p:spPr>
          <a:xfrm>
            <a:off x="1156214" y="2175640"/>
            <a:ext cx="6593983" cy="2007477"/>
          </a:xfrm>
          <a:prstGeom prst="rect">
            <a:avLst/>
          </a:prstGeom>
        </p:spPr>
      </p:pic>
    </p:spTree>
    <p:extLst>
      <p:ext uri="{BB962C8B-B14F-4D97-AF65-F5344CB8AC3E}">
        <p14:creationId xmlns:p14="http://schemas.microsoft.com/office/powerpoint/2010/main" val="26491677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D09EB-38B4-0983-F871-E94EE3D46205}"/>
              </a:ext>
            </a:extLst>
          </p:cNvPr>
          <p:cNvSpPr>
            <a:spLocks noGrp="1"/>
          </p:cNvSpPr>
          <p:nvPr>
            <p:ph type="title"/>
          </p:nvPr>
        </p:nvSpPr>
        <p:spPr/>
        <p:txBody>
          <a:bodyPr>
            <a:normAutofit/>
          </a:bodyPr>
          <a:lstStyle/>
          <a:p>
            <a:r>
              <a:rPr lang="zh-CN" altLang="en-US" dirty="0"/>
              <a:t>交错</a:t>
            </a:r>
            <a:r>
              <a:rPr lang="en-US" altLang="zh-CN" dirty="0"/>
              <a:t>DID </a:t>
            </a:r>
            <a:r>
              <a:rPr lang="zh-CN" altLang="en-US" dirty="0"/>
              <a:t>设计</a:t>
            </a:r>
            <a:br>
              <a:rPr lang="zh-CN" altLang="en-US" dirty="0"/>
            </a:br>
            <a:r>
              <a:rPr lang="en-US" altLang="zh-CN" sz="2700" dirty="0"/>
              <a:t>He and Wang (2017)</a:t>
            </a:r>
            <a:r>
              <a:rPr lang="zh-CN" altLang="en-US" sz="2700" dirty="0"/>
              <a:t>：大学生村官与农村发展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3A9F5CC-0847-7A75-3434-588CAADC9BEE}"/>
                  </a:ext>
                </a:extLst>
              </p:cNvPr>
              <p:cNvSpPr>
                <a:spLocks noGrp="1"/>
              </p:cNvSpPr>
              <p:nvPr>
                <p:ph idx="1"/>
              </p:nvPr>
            </p:nvSpPr>
            <p:spPr/>
            <p:txBody>
              <a:bodyPr>
                <a:normAutofit/>
              </a:bodyPr>
              <a:lstStyle/>
              <a:p>
                <a:r>
                  <a:rPr lang="en-US" altLang="zh-CN" sz="1600" dirty="0"/>
                  <a:t>He and Wang (2017) </a:t>
                </a:r>
                <a:r>
                  <a:rPr lang="zh-CN" altLang="en-US" sz="1600" dirty="0"/>
                  <a:t>利用</a:t>
                </a:r>
                <a:r>
                  <a:rPr lang="en-US" altLang="zh-CN" sz="1600" dirty="0"/>
                  <a:t>255 </a:t>
                </a:r>
                <a:r>
                  <a:rPr lang="zh-CN" altLang="en-US" sz="1600" dirty="0"/>
                  <a:t>个代表性农村</a:t>
                </a:r>
                <a:r>
                  <a:rPr lang="en-US" altLang="zh-CN" sz="1600" dirty="0"/>
                  <a:t>12 </a:t>
                </a:r>
                <a:r>
                  <a:rPr lang="zh-CN" altLang="en-US" sz="1600" dirty="0"/>
                  <a:t>年</a:t>
                </a:r>
                <a:r>
                  <a:rPr lang="en-US" altLang="zh-CN" sz="1600" dirty="0"/>
                  <a:t>(2000-2011) </a:t>
                </a:r>
                <a:r>
                  <a:rPr lang="zh-CN" altLang="en-US" sz="1600" dirty="0"/>
                  <a:t>的面板数据和他们</a:t>
                </a:r>
                <a:r>
                  <a:rPr lang="en-US" altLang="zh-CN" sz="1600" dirty="0"/>
                  <a:t>2012 </a:t>
                </a:r>
                <a:r>
                  <a:rPr lang="zh-CN" altLang="en-US" sz="1600" dirty="0"/>
                  <a:t>年关于大学生村官的回溯性调查数据相结合，评估了大学生村官对农村发展的作用。由于村拥有大学生村官的时间不同，作者采用了交错</a:t>
                </a:r>
                <a:r>
                  <a:rPr lang="en-US" altLang="zh-CN" sz="1600" dirty="0"/>
                  <a:t>DID </a:t>
                </a:r>
                <a:r>
                  <a:rPr lang="zh-CN" altLang="en-US" sz="1600" dirty="0"/>
                  <a:t>设计，作者构建了下列固定效应模型：</a:t>
                </a:r>
                <a:endParaRPr lang="en-US" altLang="zh-CN" sz="1600" dirty="0"/>
              </a:p>
              <a:p>
                <a:pPr marL="0" indent="0">
                  <a:buNone/>
                </a:pPr>
                <a14:m>
                  <m:oMathPara xmlns:m="http://schemas.openxmlformats.org/officeDocument/2006/math">
                    <m:oMath>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𝜏</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𝜆</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oMath>
                  </m:oMathPara>
                </a14:m>
                <a:endParaRPr lang="en-US" altLang="zh-CN" sz="1600" dirty="0"/>
              </a:p>
              <a:p>
                <a:pPr marL="0" indent="0">
                  <a:buNone/>
                </a:pPr>
                <a:endParaRPr lang="zh-CN" altLang="en-US" sz="1600" dirty="0"/>
              </a:p>
            </p:txBody>
          </p:sp>
        </mc:Choice>
        <mc:Fallback xmlns="">
          <p:sp>
            <p:nvSpPr>
              <p:cNvPr id="3" name="内容占位符 2">
                <a:extLst>
                  <a:ext uri="{FF2B5EF4-FFF2-40B4-BE49-F238E27FC236}">
                    <a16:creationId xmlns:a16="http://schemas.microsoft.com/office/drawing/2014/main" id="{03A9F5CC-0847-7A75-3434-588CAADC9BEE}"/>
                  </a:ext>
                </a:extLst>
              </p:cNvPr>
              <p:cNvSpPr>
                <a:spLocks noGrp="1" noRot="1" noChangeAspect="1" noMove="1" noResize="1" noEditPoints="1" noAdjustHandles="1" noChangeArrowheads="1" noChangeShapeType="1" noTextEdit="1"/>
              </p:cNvSpPr>
              <p:nvPr>
                <p:ph idx="1"/>
              </p:nvPr>
            </p:nvSpPr>
            <p:spPr>
              <a:blipFill>
                <a:blip r:embed="rId2"/>
                <a:stretch>
                  <a:fillRect l="-309" t="-420" r="-10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0BCBDDE-0C94-C4D6-AC11-38B97E7DE64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ECE2D58-2B9F-D48A-075E-E72441025F9E}"/>
              </a:ext>
            </a:extLst>
          </p:cNvPr>
          <p:cNvSpPr>
            <a:spLocks noGrp="1"/>
          </p:cNvSpPr>
          <p:nvPr>
            <p:ph type="sldNum" sz="quarter" idx="12"/>
          </p:nvPr>
        </p:nvSpPr>
        <p:spPr/>
        <p:txBody>
          <a:bodyPr/>
          <a:lstStyle/>
          <a:p>
            <a:fld id="{D41FC515-8169-4A29-AA56-DBE520D5741B}" type="slidenum">
              <a:rPr lang="zh-CN" altLang="en-US" smtClean="0"/>
              <a:t>62</a:t>
            </a:fld>
            <a:endParaRPr lang="zh-CN" altLang="en-US"/>
          </a:p>
        </p:txBody>
      </p:sp>
      <p:pic>
        <p:nvPicPr>
          <p:cNvPr id="7" name="图片 6">
            <a:extLst>
              <a:ext uri="{FF2B5EF4-FFF2-40B4-BE49-F238E27FC236}">
                <a16:creationId xmlns:a16="http://schemas.microsoft.com/office/drawing/2014/main" id="{09EB4E70-1EAB-71D8-8C26-1BDCEA4AA7C8}"/>
              </a:ext>
            </a:extLst>
          </p:cNvPr>
          <p:cNvPicPr>
            <a:picLocks noChangeAspect="1"/>
          </p:cNvPicPr>
          <p:nvPr/>
        </p:nvPicPr>
        <p:blipFill>
          <a:blip r:embed="rId3"/>
          <a:stretch>
            <a:fillRect/>
          </a:stretch>
        </p:blipFill>
        <p:spPr>
          <a:xfrm>
            <a:off x="922703" y="3190740"/>
            <a:ext cx="7378205" cy="2800985"/>
          </a:xfrm>
          <a:prstGeom prst="rect">
            <a:avLst/>
          </a:prstGeom>
        </p:spPr>
      </p:pic>
    </p:spTree>
    <p:extLst>
      <p:ext uri="{BB962C8B-B14F-4D97-AF65-F5344CB8AC3E}">
        <p14:creationId xmlns:p14="http://schemas.microsoft.com/office/powerpoint/2010/main" val="28604774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FBFE9A-AD02-CC8E-E01E-3CC880696607}"/>
              </a:ext>
            </a:extLst>
          </p:cNvPr>
          <p:cNvSpPr>
            <a:spLocks noGrp="1"/>
          </p:cNvSpPr>
          <p:nvPr>
            <p:ph type="title"/>
          </p:nvPr>
        </p:nvSpPr>
        <p:spPr/>
        <p:txBody>
          <a:bodyPr/>
          <a:lstStyle/>
          <a:p>
            <a:r>
              <a:rPr lang="zh-CN" altLang="en-US" dirty="0"/>
              <a:t>交错时间出现的大问题</a:t>
            </a:r>
          </a:p>
        </p:txBody>
      </p:sp>
      <p:sp>
        <p:nvSpPr>
          <p:cNvPr id="3" name="内容占位符 2">
            <a:extLst>
              <a:ext uri="{FF2B5EF4-FFF2-40B4-BE49-F238E27FC236}">
                <a16:creationId xmlns:a16="http://schemas.microsoft.com/office/drawing/2014/main" id="{65B89386-6DD4-25BC-DA34-F553ACB5F006}"/>
              </a:ext>
            </a:extLst>
          </p:cNvPr>
          <p:cNvSpPr>
            <a:spLocks noGrp="1"/>
          </p:cNvSpPr>
          <p:nvPr>
            <p:ph idx="1"/>
          </p:nvPr>
        </p:nvSpPr>
        <p:spPr/>
        <p:txBody>
          <a:bodyPr/>
          <a:lstStyle/>
          <a:p>
            <a:r>
              <a:rPr lang="zh-CN" altLang="en-US" dirty="0"/>
              <a:t>在（时间）异质性因果效应情况下，</a:t>
            </a:r>
            <a:r>
              <a:rPr lang="en-US" altLang="zh-CN" dirty="0"/>
              <a:t>TWFE </a:t>
            </a:r>
            <a:r>
              <a:rPr lang="zh-CN" altLang="en-US" dirty="0"/>
              <a:t>估计量</a:t>
            </a:r>
            <a:r>
              <a:rPr lang="en-US" altLang="zh-CN" dirty="0"/>
              <a:t>(estimator) </a:t>
            </a:r>
            <a:r>
              <a:rPr lang="zh-CN" altLang="en-US" dirty="0"/>
              <a:t>不能够解释为目标参数</a:t>
            </a:r>
            <a:r>
              <a:rPr lang="en-US" altLang="zh-CN" dirty="0"/>
              <a:t>(</a:t>
            </a:r>
            <a:r>
              <a:rPr lang="en-US" altLang="zh-CN" dirty="0" err="1"/>
              <a:t>estimand</a:t>
            </a:r>
            <a:r>
              <a:rPr lang="en-US" altLang="zh-CN" dirty="0"/>
              <a:t>)</a:t>
            </a:r>
            <a:r>
              <a:rPr lang="zh-CN" altLang="en-US" dirty="0"/>
              <a:t>，或估计是有偏差的，</a:t>
            </a:r>
            <a:r>
              <a:rPr lang="en-US" altLang="zh-CN" dirty="0"/>
              <a:t>de </a:t>
            </a:r>
            <a:r>
              <a:rPr lang="en-US" altLang="zh-CN" dirty="0" err="1"/>
              <a:t>Chaisemartin</a:t>
            </a:r>
            <a:r>
              <a:rPr lang="en-US" altLang="zh-CN" dirty="0"/>
              <a:t> and </a:t>
            </a:r>
            <a:r>
              <a:rPr lang="en-US" altLang="zh-CN" dirty="0" err="1"/>
              <a:t>d’Haultfoeuille</a:t>
            </a:r>
            <a:r>
              <a:rPr lang="en-US" altLang="zh-CN" dirty="0"/>
              <a:t> (2020)</a:t>
            </a:r>
            <a:r>
              <a:rPr lang="zh-CN" altLang="en-US" dirty="0"/>
              <a:t>、</a:t>
            </a:r>
            <a:r>
              <a:rPr lang="en-US" altLang="zh-CN" dirty="0"/>
              <a:t>Goodman-Bacon (2021)</a:t>
            </a:r>
            <a:r>
              <a:rPr lang="zh-CN" altLang="en-US" dirty="0"/>
              <a:t>！</a:t>
            </a:r>
            <a:endParaRPr lang="en-US" altLang="zh-CN" dirty="0"/>
          </a:p>
          <a:p>
            <a:r>
              <a:rPr lang="zh-CN" altLang="en-US" dirty="0"/>
              <a:t>在（分组）异质性因果效应情况下，事件研究法估计量也是有偏差的</a:t>
            </a:r>
            <a:r>
              <a:rPr lang="en-US" altLang="zh-CN" dirty="0"/>
              <a:t>(Sun and Abraham, 2021)</a:t>
            </a:r>
            <a:r>
              <a:rPr lang="zh-CN" altLang="en-US" dirty="0"/>
              <a:t>！</a:t>
            </a:r>
            <a:endParaRPr lang="en-US" altLang="zh-CN" dirty="0"/>
          </a:p>
          <a:p>
            <a:r>
              <a:rPr lang="zh-CN" altLang="en-US" dirty="0"/>
              <a:t>先介绍为什么出现偏差，然后讨论解决办法。</a:t>
            </a:r>
          </a:p>
        </p:txBody>
      </p:sp>
      <p:sp>
        <p:nvSpPr>
          <p:cNvPr id="4" name="页脚占位符 3">
            <a:extLst>
              <a:ext uri="{FF2B5EF4-FFF2-40B4-BE49-F238E27FC236}">
                <a16:creationId xmlns:a16="http://schemas.microsoft.com/office/drawing/2014/main" id="{D6B491A7-0DFB-0BA9-FFAC-A1DE5C3B9E3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5C5434C-BE26-6A7C-56BC-55D93B27C8C7}"/>
              </a:ext>
            </a:extLst>
          </p:cNvPr>
          <p:cNvSpPr>
            <a:spLocks noGrp="1"/>
          </p:cNvSpPr>
          <p:nvPr>
            <p:ph type="sldNum" sz="quarter" idx="12"/>
          </p:nvPr>
        </p:nvSpPr>
        <p:spPr/>
        <p:txBody>
          <a:bodyPr/>
          <a:lstStyle/>
          <a:p>
            <a:fld id="{D41FC515-8169-4A29-AA56-DBE520D5741B}" type="slidenum">
              <a:rPr lang="zh-CN" altLang="en-US" smtClean="0"/>
              <a:t>63</a:t>
            </a:fld>
            <a:endParaRPr lang="zh-CN" altLang="en-US"/>
          </a:p>
        </p:txBody>
      </p:sp>
    </p:spTree>
    <p:extLst>
      <p:ext uri="{BB962C8B-B14F-4D97-AF65-F5344CB8AC3E}">
        <p14:creationId xmlns:p14="http://schemas.microsoft.com/office/powerpoint/2010/main" val="20756532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1B12B-FF68-D252-B288-0CCC09502BD4}"/>
              </a:ext>
            </a:extLst>
          </p:cNvPr>
          <p:cNvSpPr>
            <a:spLocks noGrp="1"/>
          </p:cNvSpPr>
          <p:nvPr>
            <p:ph type="title"/>
          </p:nvPr>
        </p:nvSpPr>
        <p:spPr/>
        <p:txBody>
          <a:bodyPr/>
          <a:lstStyle/>
          <a:p>
            <a:r>
              <a:rPr lang="en-US" altLang="zh-CN" dirty="0"/>
              <a:t>TWFE </a:t>
            </a:r>
            <a:r>
              <a:rPr lang="zh-CN" altLang="en-US" dirty="0"/>
              <a:t>怎么了？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C45B45E-E3E9-C82D-4E4E-3B7C88EDF933}"/>
                  </a:ext>
                </a:extLst>
              </p:cNvPr>
              <p:cNvSpPr>
                <a:spLocks noGrp="1"/>
              </p:cNvSpPr>
              <p:nvPr>
                <p:ph idx="1"/>
              </p:nvPr>
            </p:nvSpPr>
            <p:spPr/>
            <p:txBody>
              <a:bodyPr>
                <a:normAutofit fontScale="85000" lnSpcReduction="10000"/>
              </a:bodyPr>
              <a:lstStyle/>
              <a:p>
                <a:r>
                  <a:rPr lang="zh-CN" altLang="en-US" sz="2400" dirty="0"/>
                  <a:t>回忆在线性回归中，回归系数是对𝜏𝐴𝑇 𝑇 </a:t>
                </a:r>
                <a:r>
                  <a:rPr lang="en-US" altLang="zh-CN" sz="2400" dirty="0"/>
                  <a:t>(</a:t>
                </a:r>
                <a:r>
                  <a:rPr lang="zh-CN" altLang="en-US" sz="2400" dirty="0"/>
                  <a:t>𝑋</a:t>
                </a:r>
                <a:r>
                  <a:rPr lang="en-US" altLang="zh-CN" sz="2400" dirty="0"/>
                  <a:t>) </a:t>
                </a:r>
                <a:r>
                  <a:rPr lang="zh-CN" altLang="en-US" sz="2400" dirty="0"/>
                  <a:t>的方差加权近似：</a:t>
                </a:r>
                <a:endParaRPr lang="en-US" altLang="zh-CN" sz="2400" dirty="0"/>
              </a:p>
              <a:p>
                <a:pPr marL="0" indent="0">
                  <a:buNone/>
                </a:pPr>
                <a14:m>
                  <m:oMathPara xmlns:m="http://schemas.openxmlformats.org/officeDocument/2006/math">
                    <m:oMath>
                      <m:sSup>
                        <m:sSupPr>
                          <m:ctrlPr>
                            <a:rPr lang="zh-CN" altLang="en-US" sz="2400" i="1" smtClean="0">
                              <a:latin typeface="Cambria Math" panose="02040503050406030204" pitchFamily="18" charset="0"/>
                            </a:rPr>
                          </m:ctrlPr>
                        </m:sSupPr>
                        <m:e>
                          <m:r>
                            <a:rPr lang="zh-CN" altLang="en-US" sz="2400" i="1" smtClean="0">
                              <a:latin typeface="Cambria Math" panose="02040503050406030204" pitchFamily="18" charset="0"/>
                            </a:rPr>
                            <m:t>𝜏</m:t>
                          </m:r>
                        </m:e>
                        <m:sup>
                          <m:r>
                            <a:rPr lang="zh-CN" altLang="en-US" sz="2400" i="1" smtClean="0">
                              <a:latin typeface="Cambria Math" panose="02040503050406030204" pitchFamily="18" charset="0"/>
                            </a:rPr>
                            <m:t>𝑜𝑙𝑠</m:t>
                          </m:r>
                        </m:sup>
                      </m:sSup>
                      <m:r>
                        <a:rPr lang="zh-CN" altLang="en-US" sz="2400" i="1" smtClean="0">
                          <a:latin typeface="Cambria Math" panose="02040503050406030204" pitchFamily="18" charset="0"/>
                        </a:rPr>
                        <m:t>=</m:t>
                      </m:r>
                      <m:f>
                        <m:fPr>
                          <m:ctrlPr>
                            <a:rPr lang="zh-CN" altLang="en-US" sz="2400" i="1" smtClean="0">
                              <a:latin typeface="Cambria Math" panose="02040503050406030204" pitchFamily="18" charset="0"/>
                            </a:rPr>
                          </m:ctrlPr>
                        </m:fPr>
                        <m:num>
                          <m:r>
                            <a:rPr lang="zh-CN" altLang="en-US" sz="2400" i="1" smtClean="0">
                              <a:latin typeface="Cambria Math" panose="02040503050406030204" pitchFamily="18" charset="0"/>
                            </a:rPr>
                            <m:t>𝐸</m:t>
                          </m:r>
                          <m:d>
                            <m:dPr>
                              <m:begChr m:val="["/>
                              <m:endChr m:val="]"/>
                              <m:ctrlPr>
                                <a:rPr lang="zh-CN" altLang="en-US" sz="2400" i="1" smtClean="0">
                                  <a:latin typeface="Cambria Math" panose="02040503050406030204" pitchFamily="18" charset="0"/>
                                </a:rPr>
                              </m:ctrlPr>
                            </m:dPr>
                            <m:e>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𝜎</m:t>
                                  </m:r>
                                </m:e>
                                <m:sub>
                                  <m:r>
                                    <a:rPr lang="zh-CN" altLang="en-US" sz="2400" i="1" smtClean="0">
                                      <a:latin typeface="Cambria Math" panose="02040503050406030204" pitchFamily="18" charset="0"/>
                                    </a:rPr>
                                    <m:t>𝐷</m:t>
                                  </m:r>
                                </m:sub>
                                <m:sup>
                                  <m:r>
                                    <a:rPr lang="zh-CN" altLang="en-US" sz="2400" i="1" smtClean="0">
                                      <a:latin typeface="Cambria Math" panose="02040503050406030204" pitchFamily="18" charset="0"/>
                                    </a:rPr>
                                    <m:t>2</m:t>
                                  </m:r>
                                </m:sup>
                              </m:sSubSup>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r>
                                <a:rPr lang="zh-CN" altLang="en-US" sz="2400" i="1" smtClean="0">
                                  <a:latin typeface="Cambria Math" panose="02040503050406030204" pitchFamily="18" charset="0"/>
                                </a:rPr>
                                <m:t>𝜏</m:t>
                              </m:r>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e>
                          </m:d>
                        </m:num>
                        <m:den>
                          <m:r>
                            <a:rPr lang="zh-CN" altLang="en-US" sz="2400" i="1" smtClean="0">
                              <a:latin typeface="Cambria Math" panose="02040503050406030204" pitchFamily="18" charset="0"/>
                            </a:rPr>
                            <m:t>𝐸</m:t>
                          </m:r>
                          <m:d>
                            <m:dPr>
                              <m:begChr m:val="["/>
                              <m:endChr m:val="]"/>
                              <m:ctrlPr>
                                <a:rPr lang="zh-CN" altLang="en-US" sz="2400" i="1" smtClean="0">
                                  <a:latin typeface="Cambria Math" panose="02040503050406030204" pitchFamily="18" charset="0"/>
                                </a:rPr>
                              </m:ctrlPr>
                            </m:dPr>
                            <m:e>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𝜎</m:t>
                                  </m:r>
                                </m:e>
                                <m:sub>
                                  <m:r>
                                    <a:rPr lang="zh-CN" altLang="en-US" sz="2400" i="1" smtClean="0">
                                      <a:latin typeface="Cambria Math" panose="02040503050406030204" pitchFamily="18" charset="0"/>
                                    </a:rPr>
                                    <m:t>𝐷</m:t>
                                  </m:r>
                                </m:sub>
                                <m:sup>
                                  <m:r>
                                    <a:rPr lang="zh-CN" altLang="en-US" sz="2400" i="1" smtClean="0">
                                      <a:latin typeface="Cambria Math" panose="02040503050406030204" pitchFamily="18" charset="0"/>
                                    </a:rPr>
                                    <m:t>2</m:t>
                                  </m:r>
                                </m:sup>
                              </m:sSubSup>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e>
                          </m:d>
                        </m:den>
                      </m:f>
                      <m:r>
                        <a:rPr lang="zh-CN" altLang="en-US" sz="2400" i="1" smtClean="0">
                          <a:latin typeface="Cambria Math" panose="02040503050406030204" pitchFamily="18" charset="0"/>
                        </a:rPr>
                        <m:t>, </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𝜎</m:t>
                          </m:r>
                        </m:e>
                        <m:sub>
                          <m:r>
                            <a:rPr lang="zh-CN" altLang="en-US" sz="2400" i="1" smtClean="0">
                              <a:latin typeface="Cambria Math" panose="02040503050406030204" pitchFamily="18" charset="0"/>
                            </a:rPr>
                            <m:t>𝐷</m:t>
                          </m:r>
                        </m:sub>
                        <m:sup>
                          <m:r>
                            <a:rPr lang="zh-CN" altLang="en-US" sz="2400" i="1" smtClean="0">
                              <a:latin typeface="Cambria Math" panose="02040503050406030204" pitchFamily="18" charset="0"/>
                            </a:rPr>
                            <m:t>2</m:t>
                          </m:r>
                        </m:sup>
                      </m:sSubSup>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𝐸</m:t>
                      </m:r>
                      <m:d>
                        <m:dPr>
                          <m:begChr m:val="["/>
                          <m:endChr m:val="]"/>
                          <m:ctrlPr>
                            <a:rPr lang="zh-CN" altLang="en-US" sz="2400" i="1" smtClean="0">
                              <a:latin typeface="Cambria Math" panose="02040503050406030204" pitchFamily="18" charset="0"/>
                            </a:rPr>
                          </m:ctrlPr>
                        </m:dPr>
                        <m:e>
                          <m:sSup>
                            <m:sSupPr>
                              <m:ctrlPr>
                                <a:rPr lang="zh-CN" altLang="en-US" sz="2400" i="1" smtClean="0">
                                  <a:latin typeface="Cambria Math" panose="02040503050406030204" pitchFamily="18" charset="0"/>
                                </a:rPr>
                              </m:ctrlPr>
                            </m:sSupPr>
                            <m:e>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𝐷</m:t>
                                      </m:r>
                                    </m:e>
                                    <m:sub>
                                      <m:r>
                                        <a:rPr lang="zh-CN" altLang="en-US" sz="2400" i="1" smtClean="0">
                                          <a:latin typeface="Cambria Math" panose="02040503050406030204" pitchFamily="18" charset="0"/>
                                        </a:rPr>
                                        <m:t>𝑖</m:t>
                                      </m:r>
                                    </m:sub>
                                  </m:sSub>
                                  <m:r>
                                    <a:rPr lang="zh-CN" altLang="en-US" sz="2400" i="1" smtClean="0">
                                      <a:latin typeface="Cambria Math" panose="02040503050406030204" pitchFamily="18" charset="0"/>
                                    </a:rPr>
                                    <m:t>−</m:t>
                                  </m:r>
                                  <m:r>
                                    <a:rPr lang="zh-CN" altLang="en-US" sz="2400" i="1" smtClean="0">
                                      <a:latin typeface="Cambria Math" panose="02040503050406030204" pitchFamily="18" charset="0"/>
                                    </a:rPr>
                                    <m:t>𝐸</m:t>
                                  </m:r>
                                  <m:d>
                                    <m:dPr>
                                      <m:begChr m:val="["/>
                                      <m:endChr m:val="]"/>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𝐷</m:t>
                                          </m:r>
                                        </m:e>
                                        <m:sub>
                                          <m:r>
                                            <a:rPr lang="zh-CN" altLang="en-US" sz="2400" i="1" smtClean="0">
                                              <a:latin typeface="Cambria Math" panose="02040503050406030204" pitchFamily="18" charset="0"/>
                                            </a:rPr>
                                            <m:t>𝑖</m:t>
                                          </m:r>
                                        </m:sub>
                                      </m:sSub>
                                      <m:r>
                                        <a:rPr lang="zh-CN" altLang="en-US" sz="2400" i="1" smtClean="0">
                                          <a:latin typeface="Cambria Math" panose="02040503050406030204" pitchFamily="18" charset="0"/>
                                        </a:rPr>
                                        <m:t>|</m:t>
                                      </m:r>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e>
                              </m:d>
                            </m:e>
                            <m:sup>
                              <m:r>
                                <a:rPr lang="zh-CN" altLang="en-US" sz="2400" i="1" smtClean="0">
                                  <a:latin typeface="Cambria Math" panose="02040503050406030204" pitchFamily="18" charset="0"/>
                                </a:rPr>
                                <m:t>2</m:t>
                              </m:r>
                            </m:sup>
                          </m:sSup>
                          <m:r>
                            <a:rPr lang="zh-CN" altLang="en-US" sz="2400" i="1" smtClean="0">
                              <a:latin typeface="Cambria Math" panose="02040503050406030204" pitchFamily="18" charset="0"/>
                            </a:rPr>
                            <m:t>|</m:t>
                          </m:r>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𝑋</m:t>
                              </m:r>
                            </m:e>
                            <m:sub>
                              <m:r>
                                <a:rPr lang="zh-CN" altLang="en-US" sz="2400" i="1" smtClean="0">
                                  <a:latin typeface="Cambria Math" panose="02040503050406030204" pitchFamily="18" charset="0"/>
                                </a:rPr>
                                <m:t>𝑖</m:t>
                              </m:r>
                            </m:sub>
                          </m:sSub>
                        </m:e>
                      </m:d>
                      <m:r>
                        <a:rPr lang="zh-CN" altLang="en-US" sz="2400" i="1" smtClean="0">
                          <a:latin typeface="Cambria Math" panose="02040503050406030204" pitchFamily="18" charset="0"/>
                        </a:rPr>
                        <m:t>.</m:t>
                      </m:r>
                    </m:oMath>
                  </m:oMathPara>
                </a14:m>
                <a:endParaRPr lang="en-US" altLang="zh-CN" sz="2400" dirty="0"/>
              </a:p>
              <a:p>
                <a:pPr marL="0" indent="0">
                  <a:buNone/>
                </a:pPr>
                <a:r>
                  <a:rPr lang="zh-CN" altLang="en-US" sz="2400" dirty="0"/>
                  <a:t>但是，在渐近政策情况下，这些权重不一定为正的。</a:t>
                </a:r>
                <a:endParaRPr lang="en-US" altLang="zh-CN" sz="2400" dirty="0"/>
              </a:p>
              <a:p>
                <a:r>
                  <a:rPr lang="zh-CN" altLang="en-US" sz="2400" dirty="0"/>
                  <a:t>下面看</a:t>
                </a:r>
                <a:r>
                  <a:rPr lang="en-US" altLang="zh-CN" sz="2400" dirty="0"/>
                  <a:t>de </a:t>
                </a:r>
                <a:r>
                  <a:rPr lang="en-US" altLang="zh-CN" sz="2400" dirty="0" err="1"/>
                  <a:t>Chaisemartin</a:t>
                </a:r>
                <a:r>
                  <a:rPr lang="en-US" altLang="zh-CN" sz="2400" dirty="0"/>
                  <a:t> and </a:t>
                </a:r>
                <a:r>
                  <a:rPr lang="en-US" altLang="zh-CN" sz="2400" dirty="0" err="1"/>
                  <a:t>d’Haultfoeuille</a:t>
                </a:r>
                <a:r>
                  <a:rPr lang="en-US" altLang="zh-CN" sz="2400" dirty="0"/>
                  <a:t> (2020)</a:t>
                </a:r>
                <a:r>
                  <a:rPr lang="zh-CN" altLang="en-US" sz="2400" dirty="0"/>
                  <a:t>、</a:t>
                </a:r>
                <a:r>
                  <a:rPr lang="en-US" altLang="zh-CN" sz="2400" dirty="0"/>
                  <a:t>Goodman-Bacon (2021)</a:t>
                </a:r>
                <a:r>
                  <a:rPr lang="zh-CN" altLang="en-US" sz="2400" dirty="0"/>
                  <a:t>，对</a:t>
                </a:r>
              </a:p>
              <a:p>
                <a:r>
                  <a:rPr lang="en-US" altLang="zh-CN" sz="2400" dirty="0"/>
                  <a:t>TWFE </a:t>
                </a:r>
                <a:r>
                  <a:rPr lang="zh-CN" altLang="en-US" sz="2400" dirty="0"/>
                  <a:t>估计量问题的讨论。</a:t>
                </a:r>
              </a:p>
            </p:txBody>
          </p:sp>
        </mc:Choice>
        <mc:Fallback xmlns="">
          <p:sp>
            <p:nvSpPr>
              <p:cNvPr id="3" name="内容占位符 2">
                <a:extLst>
                  <a:ext uri="{FF2B5EF4-FFF2-40B4-BE49-F238E27FC236}">
                    <a16:creationId xmlns:a16="http://schemas.microsoft.com/office/drawing/2014/main" id="{CC45B45E-E3E9-C82D-4E4E-3B7C88EDF933}"/>
                  </a:ext>
                </a:extLst>
              </p:cNvPr>
              <p:cNvSpPr>
                <a:spLocks noGrp="1" noRot="1" noChangeAspect="1" noMove="1" noResize="1" noEditPoints="1" noAdjustHandles="1" noChangeArrowheads="1" noChangeShapeType="1" noTextEdit="1"/>
              </p:cNvSpPr>
              <p:nvPr>
                <p:ph idx="1"/>
              </p:nvPr>
            </p:nvSpPr>
            <p:spPr>
              <a:blipFill>
                <a:blip r:embed="rId2"/>
                <a:stretch>
                  <a:fillRect l="-773" t="-1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803ADD7-777C-E949-FBC2-FBBE0E8AB8C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37F29D-68C1-E786-35B9-44D7A8EF1A22}"/>
              </a:ext>
            </a:extLst>
          </p:cNvPr>
          <p:cNvSpPr>
            <a:spLocks noGrp="1"/>
          </p:cNvSpPr>
          <p:nvPr>
            <p:ph type="sldNum" sz="quarter" idx="12"/>
          </p:nvPr>
        </p:nvSpPr>
        <p:spPr/>
        <p:txBody>
          <a:bodyPr/>
          <a:lstStyle/>
          <a:p>
            <a:fld id="{D41FC515-8169-4A29-AA56-DBE520D5741B}" type="slidenum">
              <a:rPr lang="zh-CN" altLang="en-US" smtClean="0"/>
              <a:t>64</a:t>
            </a:fld>
            <a:endParaRPr lang="zh-CN" altLang="en-US"/>
          </a:p>
        </p:txBody>
      </p:sp>
    </p:spTree>
    <p:extLst>
      <p:ext uri="{BB962C8B-B14F-4D97-AF65-F5344CB8AC3E}">
        <p14:creationId xmlns:p14="http://schemas.microsoft.com/office/powerpoint/2010/main" val="25284781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2CBB80-85BA-4573-19FC-C1FA9D9FC121}"/>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43222DB-2F0A-EE5B-197F-BAF772F18545}"/>
                  </a:ext>
                </a:extLst>
              </p:cNvPr>
              <p:cNvSpPr>
                <a:spLocks noGrp="1"/>
              </p:cNvSpPr>
              <p:nvPr>
                <p:ph idx="1"/>
              </p:nvPr>
            </p:nvSpPr>
            <p:spPr/>
            <p:txBody>
              <a:bodyPr>
                <a:normAutofit fontScale="55000" lnSpcReduction="2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首先，定义目标参数：</a:t>
                </a:r>
                <a:endParaRPr lang="en-US" altLang="zh-CN" dirty="0"/>
              </a:p>
              <a:p>
                <a:pPr lvl="1"/>
                <a:r>
                  <a:rPr lang="zh-CN" altLang="en-US" dirty="0"/>
                  <a:t>假设格子</a:t>
                </a:r>
                <a:r>
                  <a:rPr lang="en-US" altLang="zh-CN" dirty="0"/>
                  <a:t>(</a:t>
                </a:r>
                <a:r>
                  <a:rPr lang="zh-CN" altLang="en-US" dirty="0"/>
                  <a:t>𝑒</a:t>
                </a:r>
                <a:r>
                  <a:rPr lang="en-US" altLang="zh-CN" dirty="0"/>
                  <a:t>, </a:t>
                </a:r>
                <a:r>
                  <a:rPr lang="zh-CN" altLang="en-US" dirty="0"/>
                  <a:t>𝑡</a:t>
                </a:r>
                <a:r>
                  <a:rPr lang="en-US" altLang="zh-CN" dirty="0"/>
                  <a:t>) </a:t>
                </a:r>
                <a:r>
                  <a:rPr lang="zh-CN" altLang="en-US" dirty="0"/>
                  <a:t>样本数为𝑁𝑒𝑡，令</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𝑁</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r>
                      <m:rPr>
                        <m:sty m:val="p"/>
                      </m:rPr>
                      <a:rPr lang="en-US" altLang="zh-CN" i="0" dirty="0">
                        <a:latin typeface="Cambria Math" panose="02040503050406030204" pitchFamily="18" charset="0"/>
                      </a:rPr>
                      <m:t>Σ</m:t>
                    </m:r>
                    <m:r>
                      <a:rPr lang="zh-CN" altLang="en-US" i="1" dirty="0">
                        <a:latin typeface="Cambria Math" panose="02040503050406030204" pitchFamily="18" charset="0"/>
                      </a:rPr>
                      <m:t>𝑖</m:t>
                    </m:r>
                    <m:r>
                      <a:rPr lang="en-US" altLang="zh-CN" i="1" dirty="0">
                        <a:latin typeface="Cambria Math" panose="02040503050406030204" pitchFamily="18" charset="0"/>
                      </a:rPr>
                      <m:t>,</m:t>
                    </m:r>
                    <m:r>
                      <a:rPr lang="zh-CN" altLang="en-US" i="1" dirty="0">
                        <a:latin typeface="Cambria Math" panose="02040503050406030204" pitchFamily="18" charset="0"/>
                      </a:rPr>
                      <m:t>𝑡</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𝑖𝑡</m:t>
                        </m:r>
                      </m:sub>
                    </m:sSub>
                    <m:r>
                      <a:rPr lang="zh-CN" altLang="en-US" i="1" dirty="0">
                        <a:latin typeface="Cambria Math" panose="02040503050406030204" pitchFamily="18" charset="0"/>
                      </a:rPr>
                      <m:t> </m:t>
                    </m:r>
                  </m:oMath>
                </a14:m>
                <a:r>
                  <a:rPr lang="zh-CN" altLang="en-US" dirty="0"/>
                  <a:t>为干预组在个体和时间上的总数。</a:t>
                </a:r>
                <a:endParaRPr lang="en-US" altLang="zh-CN" dirty="0"/>
              </a:p>
              <a:p>
                <a:pPr lvl="1"/>
                <a:r>
                  <a:rPr lang="zh-CN" altLang="en-US" dirty="0"/>
                  <a:t>群组时间因果效应</a:t>
                </a:r>
                <a:r>
                  <a:rPr lang="en-US" altLang="zh-CN" dirty="0"/>
                  <a:t>(group-time treatment effects) </a:t>
                </a:r>
                <a:r>
                  <a:rPr lang="zh-CN" altLang="en-US" dirty="0"/>
                  <a:t>可以写为</a:t>
                </a:r>
                <a:endParaRPr lang="en-US" altLang="zh-CN" dirty="0"/>
              </a:p>
              <a:p>
                <a:pPr marL="457200" lvl="1"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𝑒𝑡</m:t>
                              </m:r>
                            </m:sub>
                          </m:sSub>
                        </m:den>
                      </m:f>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up/>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nary>
                    </m:oMath>
                  </m:oMathPara>
                </a14:m>
                <a:endParaRPr lang="en-US" altLang="zh-CN" dirty="0"/>
              </a:p>
              <a:p>
                <a:pPr lvl="1"/>
                <a:r>
                  <a:rPr lang="en-US" altLang="zh-CN" dirty="0"/>
                  <a:t>ATT </a:t>
                </a:r>
                <a:r>
                  <a:rPr lang="zh-CN" altLang="en-US" dirty="0"/>
                  <a:t>可以记为</a:t>
                </a:r>
                <a:endParaRPr lang="en-US" altLang="zh-CN" dirty="0"/>
              </a:p>
              <a:p>
                <a:pPr marL="457200" lvl="1"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=1</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𝑒𝑡</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e>
                      </m:d>
                    </m:oMath>
                  </m:oMathPara>
                </a14:m>
                <a:endParaRPr lang="en-US" altLang="zh-CN" dirty="0"/>
              </a:p>
              <a:p>
                <a:pPr marL="457200" lvl="1" indent="0">
                  <a:buNone/>
                </a:pPr>
                <a:r>
                  <a:rPr lang="zh-CN" altLang="en-US" dirty="0"/>
                  <a:t>是群组时间效应的加权平均，即阴影部分因果效应的平均值。</a:t>
                </a:r>
              </a:p>
            </p:txBody>
          </p:sp>
        </mc:Choice>
        <mc:Fallback xmlns="">
          <p:sp>
            <p:nvSpPr>
              <p:cNvPr id="3" name="内容占位符 2">
                <a:extLst>
                  <a:ext uri="{FF2B5EF4-FFF2-40B4-BE49-F238E27FC236}">
                    <a16:creationId xmlns:a16="http://schemas.microsoft.com/office/drawing/2014/main" id="{143222DB-2F0A-EE5B-197F-BAF772F18545}"/>
                  </a:ext>
                </a:extLst>
              </p:cNvPr>
              <p:cNvSpPr>
                <a:spLocks noGrp="1" noRot="1" noChangeAspect="1" noMove="1" noResize="1" noEditPoints="1" noAdjustHandles="1" noChangeArrowheads="1" noChangeShapeType="1" noTextEdit="1"/>
              </p:cNvSpPr>
              <p:nvPr>
                <p:ph idx="1"/>
              </p:nvPr>
            </p:nvSpPr>
            <p:spPr>
              <a:blipFill>
                <a:blip r:embed="rId2"/>
                <a:stretch>
                  <a:fillRect l="-232" b="-1540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1CA5F89-3013-66A3-5D1A-54DAED2FA3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5028363-D2B7-51D6-CA64-D8AE985EBC92}"/>
              </a:ext>
            </a:extLst>
          </p:cNvPr>
          <p:cNvSpPr>
            <a:spLocks noGrp="1"/>
          </p:cNvSpPr>
          <p:nvPr>
            <p:ph type="sldNum" sz="quarter" idx="12"/>
          </p:nvPr>
        </p:nvSpPr>
        <p:spPr/>
        <p:txBody>
          <a:bodyPr/>
          <a:lstStyle/>
          <a:p>
            <a:fld id="{D41FC515-8169-4A29-AA56-DBE520D5741B}" type="slidenum">
              <a:rPr lang="zh-CN" altLang="en-US" smtClean="0"/>
              <a:t>65</a:t>
            </a:fld>
            <a:endParaRPr lang="zh-CN" altLang="en-US"/>
          </a:p>
        </p:txBody>
      </p:sp>
      <p:pic>
        <p:nvPicPr>
          <p:cNvPr id="9" name="图片 8">
            <a:extLst>
              <a:ext uri="{FF2B5EF4-FFF2-40B4-BE49-F238E27FC236}">
                <a16:creationId xmlns:a16="http://schemas.microsoft.com/office/drawing/2014/main" id="{66BBCFDA-7A40-B702-B704-D5754495414D}"/>
              </a:ext>
            </a:extLst>
          </p:cNvPr>
          <p:cNvPicPr>
            <a:picLocks noChangeAspect="1"/>
          </p:cNvPicPr>
          <p:nvPr/>
        </p:nvPicPr>
        <p:blipFill>
          <a:blip r:embed="rId3"/>
          <a:stretch>
            <a:fillRect/>
          </a:stretch>
        </p:blipFill>
        <p:spPr>
          <a:xfrm>
            <a:off x="1085172" y="1646237"/>
            <a:ext cx="6593983" cy="2266682"/>
          </a:xfrm>
          <a:prstGeom prst="rect">
            <a:avLst/>
          </a:prstGeom>
        </p:spPr>
      </p:pic>
    </p:spTree>
    <p:extLst>
      <p:ext uri="{BB962C8B-B14F-4D97-AF65-F5344CB8AC3E}">
        <p14:creationId xmlns:p14="http://schemas.microsoft.com/office/powerpoint/2010/main" val="12860423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42915-D74C-FC8E-963B-61F5BE603E6D}"/>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88CE2B-9510-EF06-8EC6-696B19702FC8}"/>
                  </a:ext>
                </a:extLst>
              </p:cNvPr>
              <p:cNvSpPr>
                <a:spLocks noGrp="1"/>
              </p:cNvSpPr>
              <p:nvPr>
                <p:ph idx="1"/>
              </p:nvPr>
            </p:nvSpPr>
            <p:spPr/>
            <p:txBody>
              <a:bodyPr>
                <a:normAutofit fontScale="70000" lnSpcReduction="20000"/>
              </a:bodyPr>
              <a:lstStyle/>
              <a:p>
                <a:pPr>
                  <a:lnSpc>
                    <a:spcPct val="110000"/>
                  </a:lnSpc>
                </a:pPr>
                <a:r>
                  <a:rPr lang="zh-CN" altLang="fr-FR" b="1" dirty="0"/>
                  <a:t>定理 </a:t>
                </a:r>
                <a:r>
                  <a:rPr lang="fr-FR" altLang="zh-CN" dirty="0"/>
                  <a:t>(de Chaisemartin and d’Haultfoeuille (2020))</a:t>
                </a:r>
                <a:r>
                  <a:rPr lang="zh-CN" altLang="en-US" dirty="0"/>
                  <a:t>：</a:t>
                </a:r>
                <a:endParaRPr lang="fr-FR" altLang="zh-CN" dirty="0"/>
              </a:p>
              <a:p>
                <a:pPr marL="0" indent="0">
                  <a:lnSpc>
                    <a:spcPct val="110000"/>
                  </a:lnSpc>
                  <a:buNone/>
                </a:pPr>
                <a:r>
                  <a:rPr lang="en-US" altLang="zh-CN" i="1" dirty="0"/>
                  <a:t>    TWFE </a:t>
                </a:r>
                <a:r>
                  <a:rPr lang="zh-CN" altLang="en-US" dirty="0"/>
                  <a:t>估计量为</a:t>
                </a:r>
                <a:endParaRPr lang="en-US" altLang="zh-CN" dirty="0"/>
              </a:p>
              <a:p>
                <a:pPr marL="0" indent="0">
                  <a:lnSpc>
                    <a:spcPct val="11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𝑇𝑊𝐹𝐸</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=1</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𝑒𝑡</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𝑒𝑡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e>
                      </m:d>
                    </m:oMath>
                  </m:oMathPara>
                </a14:m>
                <a:endParaRPr lang="en-US" altLang="zh-CN" dirty="0"/>
              </a:p>
              <a:p>
                <a:pPr>
                  <a:lnSpc>
                    <a:spcPct val="110000"/>
                  </a:lnSpc>
                </a:pPr>
                <a:r>
                  <a:rPr lang="zh-CN" altLang="en-US" dirty="0"/>
                  <a:t>其中</a:t>
                </a:r>
                <a:endParaRPr lang="en-US" altLang="zh-CN" dirty="0"/>
              </a:p>
              <a:p>
                <a:pPr marL="0" indent="0">
                  <a:lnSpc>
                    <a:spcPct val="11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𝑒𝑡</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𝐷</m:t>
                                  </m:r>
                                </m:e>
                              </m:acc>
                            </m:e>
                            <m:sub>
                              <m:r>
                                <a:rPr lang="zh-CN" altLang="en-US" i="1" smtClean="0">
                                  <a:latin typeface="Cambria Math" panose="02040503050406030204" pitchFamily="18" charset="0"/>
                                </a:rPr>
                                <m:t>𝑒𝑡</m:t>
                              </m:r>
                            </m:sub>
                          </m:sSub>
                        </m:num>
                        <m:den>
                          <m:nary>
                            <m:naryPr>
                              <m:chr m:val="∑"/>
                              <m:limLoc m:val="undOvr"/>
                              <m:supHide m:val="on"/>
                              <m:ctrlPr>
                                <a:rPr lang="zh-CN" altLang="en-US" i="1" smtClean="0">
                                  <a:latin typeface="Cambria Math" panose="02040503050406030204" pitchFamily="18" charset="0"/>
                                </a:rPr>
                              </m:ctrlPr>
                            </m:naryPr>
                            <m: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=1</m:t>
                              </m:r>
                            </m:sub>
                            <m:sup/>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𝑒𝑡</m:t>
                                      </m:r>
                                    </m:sub>
                                  </m:sSub>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1</m:t>
                                      </m:r>
                                    </m:sub>
                                  </m:sSub>
                                </m:den>
                              </m:f>
                            </m:e>
                          </m:nary>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𝐷</m:t>
                                  </m:r>
                                </m:e>
                              </m:acc>
                            </m:e>
                            <m:sub>
                              <m:r>
                                <a:rPr lang="zh-CN" altLang="en-US" i="1" smtClean="0">
                                  <a:latin typeface="Cambria Math" panose="02040503050406030204" pitchFamily="18" charset="0"/>
                                </a:rPr>
                                <m:t>𝑒𝑡</m:t>
                              </m:r>
                            </m:sub>
                          </m:sSub>
                        </m:den>
                      </m:f>
                    </m:oMath>
                  </m:oMathPara>
                </a14:m>
                <a:endParaRPr lang="en-US" altLang="zh-CN" dirty="0"/>
              </a:p>
              <a:p>
                <a:pPr marL="0" indent="0">
                  <a:lnSpc>
                    <a:spcPct val="110000"/>
                  </a:lnSpc>
                  <a:buNone/>
                </a:pPr>
                <a:r>
                  <a:rPr lang="zh-CN" altLang="en-US" dirty="0"/>
                  <a:t>其中</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𝐷</m:t>
                            </m:r>
                          </m:e>
                        </m:acc>
                      </m:e>
                      <m:sub>
                        <m:r>
                          <a:rPr lang="en-US" altLang="zh-CN" i="1">
                            <a:latin typeface="Cambria Math" panose="02040503050406030204" pitchFamily="18" charset="0"/>
                          </a:rPr>
                          <m:t>𝑒𝑡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r>
                      <a:rPr lang="en-US" altLang="zh-CN" i="1">
                        <a:latin typeface="Cambria Math" panose="02040503050406030204" pitchFamily="18" charset="0"/>
                      </a:rPr>
                      <m:t>𝐸</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𝑖𝑡</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𝜇</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𝜆</m:t>
                        </m:r>
                      </m:e>
                      <m:sub>
                        <m:r>
                          <a:rPr lang="en-US" altLang="zh-CN" i="1">
                            <a:latin typeface="Cambria Math" panose="02040503050406030204" pitchFamily="18" charset="0"/>
                          </a:rPr>
                          <m:t>𝑡</m:t>
                        </m:r>
                      </m:sub>
                    </m:sSub>
                    <m:r>
                      <a:rPr lang="en-US" altLang="zh-CN" i="1">
                        <a:latin typeface="Cambria Math" panose="02040503050406030204" pitchFamily="18" charset="0"/>
                      </a:rPr>
                      <m:t>]</m:t>
                    </m:r>
                  </m:oMath>
                </a14:m>
                <a:r>
                  <a:rPr lang="zh-CN" altLang="en-US" dirty="0"/>
                  <a:t>是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oMath>
                </a14:m>
                <a:r>
                  <a:rPr lang="zh-CN" altLang="en-US" dirty="0"/>
                  <a:t>移除双向固定效应后的残差。</a:t>
                </a:r>
              </a:p>
            </p:txBody>
          </p:sp>
        </mc:Choice>
        <mc:Fallback xmlns="">
          <p:sp>
            <p:nvSpPr>
              <p:cNvPr id="3" name="内容占位符 2">
                <a:extLst>
                  <a:ext uri="{FF2B5EF4-FFF2-40B4-BE49-F238E27FC236}">
                    <a16:creationId xmlns:a16="http://schemas.microsoft.com/office/drawing/2014/main" id="{D988CE2B-9510-EF06-8EC6-696B19702FC8}"/>
                  </a:ext>
                </a:extLst>
              </p:cNvPr>
              <p:cNvSpPr>
                <a:spLocks noGrp="1" noRot="1" noChangeAspect="1" noMove="1" noResize="1" noEditPoints="1" noAdjustHandles="1" noChangeArrowheads="1" noChangeShapeType="1" noTextEdit="1"/>
              </p:cNvSpPr>
              <p:nvPr>
                <p:ph idx="1"/>
              </p:nvPr>
            </p:nvSpPr>
            <p:spPr>
              <a:blipFill>
                <a:blip r:embed="rId2"/>
                <a:stretch>
                  <a:fillRect l="-773"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C8FC180A-FEBF-9DF9-8041-5A3DDF50775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A134E11-2E7F-4CC7-4F2A-4C34E53F671F}"/>
              </a:ext>
            </a:extLst>
          </p:cNvPr>
          <p:cNvSpPr>
            <a:spLocks noGrp="1"/>
          </p:cNvSpPr>
          <p:nvPr>
            <p:ph type="sldNum" sz="quarter" idx="12"/>
          </p:nvPr>
        </p:nvSpPr>
        <p:spPr/>
        <p:txBody>
          <a:bodyPr/>
          <a:lstStyle/>
          <a:p>
            <a:fld id="{D41FC515-8169-4A29-AA56-DBE520D5741B}" type="slidenum">
              <a:rPr lang="zh-CN" altLang="en-US" smtClean="0"/>
              <a:t>66</a:t>
            </a:fld>
            <a:endParaRPr lang="zh-CN" altLang="en-US"/>
          </a:p>
        </p:txBody>
      </p:sp>
    </p:spTree>
    <p:extLst>
      <p:ext uri="{BB962C8B-B14F-4D97-AF65-F5344CB8AC3E}">
        <p14:creationId xmlns:p14="http://schemas.microsoft.com/office/powerpoint/2010/main" val="32090235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E6429-1A21-4EB6-F9E7-68FB75F0E55D}"/>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1922B3A-CAA2-85EF-AC7E-3C587BEEA90C}"/>
                  </a:ext>
                </a:extLst>
              </p:cNvPr>
              <p:cNvSpPr>
                <a:spLocks noGrp="1"/>
              </p:cNvSpPr>
              <p:nvPr>
                <p:ph idx="1"/>
              </p:nvPr>
            </p:nvSpPr>
            <p:spPr/>
            <p:txBody>
              <a:bodyPr>
                <a:noAutofit/>
              </a:bodyPr>
              <a:lstStyle/>
              <a:p>
                <a:r>
                  <a:rPr lang="zh-CN" altLang="en-US" sz="1600" dirty="0"/>
                  <a:t>结果表明：</a:t>
                </a:r>
                <a:endParaRPr lang="en-US" altLang="zh-CN" sz="1600" dirty="0"/>
              </a:p>
              <a:p>
                <a:pPr lvl="1"/>
                <a:r>
                  <a:rPr lang="zh-CN" altLang="en-US" sz="1600" dirty="0"/>
                  <a:t>如果𝜏𝑒𝑡 为常数，则</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𝜏</m:t>
                        </m:r>
                      </m:e>
                      <m:sub>
                        <m:r>
                          <a:rPr lang="en-US" altLang="zh-CN" sz="1600" i="1">
                            <a:latin typeface="Cambria Math" panose="02040503050406030204" pitchFamily="18" charset="0"/>
                          </a:rPr>
                          <m:t>𝑇𝑊𝐹𝐸</m:t>
                        </m:r>
                      </m:sub>
                    </m:sSub>
                    <m:r>
                      <a:rPr lang="en-US" altLang="zh-CN" sz="1600" i="1">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𝜏</m:t>
                        </m:r>
                      </m:e>
                      <m:sub>
                        <m:r>
                          <a:rPr lang="en-US" altLang="zh-CN" sz="1600" i="1">
                            <a:latin typeface="Cambria Math" panose="02040503050406030204" pitchFamily="18" charset="0"/>
                          </a:rPr>
                          <m:t>𝐴𝑇𝑇</m:t>
                        </m:r>
                      </m:sub>
                    </m:sSub>
                    <m:r>
                      <a:rPr lang="zh-CN" altLang="en-US" sz="1600" i="1">
                        <a:latin typeface="Cambria Math" panose="02040503050406030204" pitchFamily="18" charset="0"/>
                      </a:rPr>
                      <m:t>（因为</m:t>
                    </m:r>
                    <m:nary>
                      <m:naryPr>
                        <m:chr m:val="∑"/>
                        <m:supHide m:val="on"/>
                        <m:ctrlPr>
                          <a:rPr lang="en-US" altLang="zh-CN" sz="1600" i="1">
                            <a:latin typeface="Cambria Math" panose="02040503050406030204" pitchFamily="18" charset="0"/>
                          </a:rPr>
                        </m:ctrlPr>
                      </m:naryPr>
                      <m: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𝑒</m:t>
                            </m:r>
                            <m:r>
                              <a:rPr lang="en-US" altLang="zh-CN" sz="1600" i="1">
                                <a:latin typeface="Cambria Math" panose="02040503050406030204" pitchFamily="18" charset="0"/>
                              </a:rPr>
                              <m:t>,</m:t>
                            </m:r>
                            <m:r>
                              <a:rPr lang="en-US" altLang="zh-CN" sz="1600" i="1">
                                <a:latin typeface="Cambria Math" panose="02040503050406030204" pitchFamily="18" charset="0"/>
                              </a:rPr>
                              <m:t>𝑡</m:t>
                            </m:r>
                          </m:e>
                        </m:d>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𝐷</m:t>
                            </m:r>
                          </m:e>
                          <m:sub>
                            <m:r>
                              <a:rPr lang="en-US" altLang="zh-CN" sz="1600" i="1">
                                <a:latin typeface="Cambria Math" panose="02040503050406030204" pitchFamily="18" charset="0"/>
                              </a:rPr>
                              <m:t>𝑖𝑡</m:t>
                            </m:r>
                          </m:sub>
                        </m:sSub>
                        <m:r>
                          <a:rPr lang="en-US" altLang="zh-CN" sz="1600" b="0" i="1" smtClean="0">
                            <a:latin typeface="Cambria Math" panose="02040503050406030204" pitchFamily="18" charset="0"/>
                          </a:rPr>
                          <m:t>=1</m:t>
                        </m:r>
                      </m:sub>
                      <m:sup/>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𝑒𝑡</m:t>
                                </m:r>
                              </m:sub>
                            </m:sSub>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den>
                        </m:f>
                      </m:e>
                    </m:nary>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𝑒𝑡</m:t>
                        </m:r>
                      </m:sub>
                    </m:sSub>
                    <m:r>
                      <a:rPr lang="en-US" altLang="zh-CN" sz="1600" i="1">
                        <a:latin typeface="Cambria Math" panose="02040503050406030204" pitchFamily="18" charset="0"/>
                      </a:rPr>
                      <m:t>=1</m:t>
                    </m:r>
                  </m:oMath>
                </a14:m>
                <a:endParaRPr lang="en-US" altLang="zh-CN" sz="1600" dirty="0"/>
              </a:p>
              <a:p>
                <a:pPr lvl="1"/>
                <a:r>
                  <a:rPr lang="zh-CN" altLang="en-US" sz="1600" dirty="0"/>
                  <a:t>但是如果</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𝜏</m:t>
                        </m:r>
                      </m:e>
                      <m:sub>
                        <m:r>
                          <a:rPr lang="zh-CN" altLang="en-US" sz="1600" i="1" dirty="0" smtClean="0">
                            <a:latin typeface="Cambria Math" panose="02040503050406030204" pitchFamily="18" charset="0"/>
                          </a:rPr>
                          <m:t>𝑒𝑡</m:t>
                        </m:r>
                      </m:sub>
                    </m:sSub>
                    <m:r>
                      <a:rPr lang="zh-CN" altLang="en-US" sz="1600" i="1" dirty="0" smtClean="0">
                        <a:latin typeface="Cambria Math" panose="02040503050406030204" pitchFamily="18" charset="0"/>
                      </a:rPr>
                      <m:t> </m:t>
                    </m:r>
                  </m:oMath>
                </a14:m>
                <a:r>
                  <a:rPr lang="zh-CN" altLang="en-US" sz="1600" dirty="0"/>
                  <a:t>是变化的，则</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𝜏</m:t>
                        </m:r>
                      </m:e>
                      <m:sub>
                        <m:r>
                          <a:rPr lang="zh-CN" altLang="en-US" sz="1600" i="1" dirty="0" smtClean="0">
                            <a:latin typeface="Cambria Math" panose="02040503050406030204" pitchFamily="18" charset="0"/>
                          </a:rPr>
                          <m:t>𝑇𝑊𝐹𝐸</m:t>
                        </m:r>
                      </m:sub>
                    </m:sSub>
                    <m:r>
                      <a:rPr lang="zh-CN" altLang="en-US" sz="1600" i="1" dirty="0" smtClean="0">
                        <a:latin typeface="Cambria Math" panose="02040503050406030204" pitchFamily="18" charset="0"/>
                      </a:rPr>
                      <m:t> ≠ </m:t>
                    </m:r>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𝜏</m:t>
                        </m:r>
                      </m:e>
                      <m:sub>
                        <m:r>
                          <a:rPr lang="zh-CN" altLang="en-US" sz="1600" i="1" dirty="0" smtClean="0">
                            <a:latin typeface="Cambria Math" panose="02040503050406030204" pitchFamily="18" charset="0"/>
                          </a:rPr>
                          <m:t>𝐴𝑇𝑇</m:t>
                        </m:r>
                      </m:sub>
                    </m:sSub>
                    <m:r>
                      <a:rPr lang="zh-CN" altLang="en-US" sz="1600" i="1" dirty="0" smtClean="0">
                        <a:latin typeface="Cambria Math" panose="02040503050406030204" pitchFamily="18" charset="0"/>
                      </a:rPr>
                      <m:t> </m:t>
                    </m:r>
                  </m:oMath>
                </a14:m>
                <a:r>
                  <a:rPr lang="zh-CN" altLang="en-US" sz="1600" dirty="0"/>
                  <a:t>，所以，通常</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𝜏</m:t>
                        </m:r>
                      </m:e>
                      <m:sub>
                        <m:r>
                          <a:rPr lang="zh-CN" altLang="en-US" sz="1600" i="1" dirty="0">
                            <a:latin typeface="Cambria Math" panose="02040503050406030204" pitchFamily="18" charset="0"/>
                          </a:rPr>
                          <m:t>𝑇𝑊𝐹𝐸</m:t>
                        </m:r>
                      </m:sub>
                    </m:sSub>
                  </m:oMath>
                </a14:m>
                <a:r>
                  <a:rPr lang="zh-CN" altLang="en-US" sz="1600" dirty="0"/>
                  <a:t>是</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𝜏</m:t>
                        </m:r>
                      </m:e>
                      <m:sub>
                        <m:r>
                          <a:rPr lang="zh-CN" altLang="en-US" sz="1600" i="1" dirty="0">
                            <a:latin typeface="Cambria Math" panose="02040503050406030204" pitchFamily="18" charset="0"/>
                          </a:rPr>
                          <m:t>𝐴𝑇𝑇</m:t>
                        </m:r>
                      </m:sub>
                    </m:sSub>
                  </m:oMath>
                </a14:m>
                <a:r>
                  <a:rPr lang="zh-CN" altLang="en-US" sz="1600" dirty="0"/>
                  <a:t>的有偏估计量。</a:t>
                </a:r>
                <a:endParaRPr lang="en-US" altLang="zh-CN" sz="1600" dirty="0"/>
              </a:p>
              <a:p>
                <a:pPr lvl="1"/>
                <a:r>
                  <a:rPr lang="zh-CN" altLang="en-US" sz="1600" dirty="0"/>
                  <a:t>考虑一个</a:t>
                </a:r>
                <a:r>
                  <a:rPr lang="en-US" altLang="zh-CN" sz="1600" dirty="0"/>
                  <a:t>3 </a:t>
                </a:r>
                <a:r>
                  <a:rPr lang="zh-CN" altLang="en-US" sz="1600" dirty="0"/>
                  <a:t>期两组的渐近政策，即𝑇 </a:t>
                </a:r>
                <a:r>
                  <a:rPr lang="en-US" altLang="zh-CN" sz="1600" dirty="0"/>
                  <a:t>= 3, </a:t>
                </a:r>
                <a:r>
                  <a:rPr lang="zh-CN" altLang="en-US" sz="1600" dirty="0"/>
                  <a:t>𝐸 </a:t>
                </a:r>
                <a:r>
                  <a:rPr lang="en-US" altLang="zh-CN" sz="1600" dirty="0"/>
                  <a:t>= {2, 3}</a:t>
                </a:r>
              </a:p>
              <a:p>
                <a:pPr marL="457200" lvl="1" indent="0">
                  <a:buNone/>
                </a:pPr>
                <a14:m>
                  <m:oMathPara xmlns:m="http://schemas.openxmlformats.org/officeDocument/2006/math">
                    <m:oMath>
                      <m:r>
                        <a:rPr lang="zh-CN" altLang="en-US" sz="1600" b="1" i="1" smtClean="0">
                          <a:latin typeface="Cambria Math" panose="02040503050406030204" pitchFamily="18" charset="0"/>
                        </a:rPr>
                        <m:t>𝐃</m:t>
                      </m:r>
                      <m:r>
                        <a:rPr lang="zh-CN" altLang="en-US" sz="1600" b="0" i="1" smtClean="0">
                          <a:latin typeface="Cambria Math" panose="02040503050406030204" pitchFamily="18" charset="0"/>
                        </a:rPr>
                        <m:t>=</m:t>
                      </m:r>
                      <m:d>
                        <m:dPr>
                          <m:begChr m:val="["/>
                          <m:endChr m:val="]"/>
                          <m:ctrlPr>
                            <a:rPr lang="zh-CN" altLang="en-US" sz="1600" b="0" i="1" smtClean="0">
                              <a:latin typeface="Cambria Math" panose="02040503050406030204" pitchFamily="18" charset="0"/>
                            </a:rPr>
                          </m:ctrlPr>
                        </m:dPr>
                        <m:e>
                          <m:m>
                            <m:mPr>
                              <m:mcs>
                                <m:mc>
                                  <m:mcPr>
                                    <m:count m:val="3"/>
                                    <m:mcJc m:val="center"/>
                                  </m:mcPr>
                                </m:mc>
                              </m:mcs>
                              <m:ctrlPr>
                                <a:rPr lang="zh-CN" altLang="en-US" sz="1600" b="0" i="1" smtClean="0">
                                  <a:latin typeface="Cambria Math" panose="02040503050406030204" pitchFamily="18" charset="0"/>
                                </a:rPr>
                              </m:ctrlPr>
                            </m:mPr>
                            <m:mr>
                              <m:e>
                                <m:r>
                                  <a:rPr lang="zh-CN" altLang="en-US" sz="1600" b="0" i="1" smtClean="0">
                                    <a:latin typeface="Cambria Math" panose="02040503050406030204" pitchFamily="18" charset="0"/>
                                  </a:rPr>
                                  <m:t>0</m:t>
                                </m:r>
                              </m:e>
                              <m:e>
                                <m:r>
                                  <a:rPr lang="zh-CN" altLang="en-US" sz="1600" b="0" i="1" smtClean="0">
                                    <a:latin typeface="Cambria Math" panose="02040503050406030204" pitchFamily="18" charset="0"/>
                                  </a:rPr>
                                  <m:t>0</m:t>
                                </m:r>
                              </m:e>
                              <m:e>
                                <m:r>
                                  <a:rPr lang="zh-CN" altLang="en-US" sz="1600" b="0" i="1" smtClean="0">
                                    <a:latin typeface="Cambria Math" panose="02040503050406030204" pitchFamily="18" charset="0"/>
                                  </a:rPr>
                                  <m:t>1</m:t>
                                </m:r>
                              </m:e>
                            </m:mr>
                            <m:mr>
                              <m:e>
                                <m:r>
                                  <a:rPr lang="zh-CN" altLang="en-US" sz="1600" b="0" i="1" smtClean="0">
                                    <a:latin typeface="Cambria Math" panose="02040503050406030204" pitchFamily="18" charset="0"/>
                                  </a:rPr>
                                  <m:t>0</m:t>
                                </m:r>
                              </m:e>
                              <m:e>
                                <m:r>
                                  <a:rPr lang="zh-CN" altLang="en-US" sz="1600" b="0" i="1" smtClean="0">
                                    <a:latin typeface="Cambria Math" panose="02040503050406030204" pitchFamily="18" charset="0"/>
                                  </a:rPr>
                                  <m:t>1</m:t>
                                </m:r>
                              </m:e>
                              <m:e>
                                <m:r>
                                  <a:rPr lang="zh-CN" altLang="en-US" sz="1600" b="0" i="1" smtClean="0">
                                    <a:latin typeface="Cambria Math" panose="02040503050406030204" pitchFamily="18" charset="0"/>
                                  </a:rPr>
                                  <m:t>1</m:t>
                                </m:r>
                              </m:e>
                            </m:mr>
                          </m:m>
                        </m:e>
                      </m:d>
                    </m:oMath>
                  </m:oMathPara>
                </a14:m>
                <a:endParaRPr lang="en-US" altLang="zh-CN" sz="1600" dirty="0"/>
              </a:p>
              <a:p>
                <a:pPr lvl="1"/>
                <a:r>
                  <a:rPr lang="zh-CN" altLang="en-US" sz="1600" dirty="0"/>
                  <a:t>由 </a:t>
                </a:r>
                <a:r>
                  <a:rPr lang="en-US" altLang="zh-CN" sz="1600" dirty="0"/>
                  <a:t>FWL</a:t>
                </a:r>
                <a:r>
                  <a:rPr lang="zh-CN" altLang="en-US" sz="1600" dirty="0"/>
                  <a:t>，</a:t>
                </a:r>
                <a14:m>
                  <m:oMath xmlns:m="http://schemas.openxmlformats.org/officeDocument/2006/math">
                    <m:sSub>
                      <m:sSubPr>
                        <m:ctrlPr>
                          <a:rPr lang="en-US" altLang="zh-CN" sz="1600" b="0" i="1" smtClean="0">
                            <a:latin typeface="Cambria Math" panose="02040503050406030204" pitchFamily="18" charset="0"/>
                          </a:rPr>
                        </m:ctrlPr>
                      </m:sSubPr>
                      <m:e>
                        <m:acc>
                          <m:accPr>
                            <m:chr m:val="̃"/>
                            <m:ctrlPr>
                              <a:rPr lang="en-US" altLang="zh-CN" sz="1600" b="0" i="0" smtClean="0">
                                <a:latin typeface="Cambria Math" panose="02040503050406030204" pitchFamily="18" charset="0"/>
                              </a:rPr>
                            </m:ctrlPr>
                          </m:accPr>
                          <m:e>
                            <m:r>
                              <m:rPr>
                                <m:sty m:val="p"/>
                              </m:rPr>
                              <a:rPr lang="en-US" altLang="zh-CN" sz="1600" b="0" i="0" smtClean="0">
                                <a:latin typeface="Cambria Math" panose="02040503050406030204" pitchFamily="18" charset="0"/>
                              </a:rPr>
                              <m:t>D</m:t>
                            </m:r>
                          </m:e>
                        </m:acc>
                      </m:e>
                      <m:sub>
                        <m:r>
                          <a:rPr lang="en-US" altLang="zh-CN" sz="1600" i="1">
                            <a:latin typeface="Cambria Math" panose="02040503050406030204" pitchFamily="18" charset="0"/>
                          </a:rPr>
                          <m:t>𝑒𝑡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𝐷</m:t>
                        </m:r>
                      </m:e>
                      <m:sub>
                        <m:r>
                          <a:rPr lang="en-US" altLang="zh-CN" sz="1600" i="1">
                            <a:latin typeface="Cambria Math" panose="02040503050406030204" pitchFamily="18" charset="0"/>
                          </a:rPr>
                          <m:t>𝑖𝑡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𝐷</m:t>
                            </m:r>
                          </m:e>
                        </m:acc>
                      </m:e>
                      <m:sub>
                        <m:r>
                          <a:rPr lang="en-US" altLang="zh-CN" sz="1600" i="1">
                            <a:latin typeface="Cambria Math" panose="02040503050406030204" pitchFamily="18" charset="0"/>
                          </a:rPr>
                          <m:t>𝑒</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𝐷</m:t>
                            </m:r>
                          </m:e>
                        </m:acc>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𝐷</m:t>
                        </m:r>
                      </m:e>
                    </m:acc>
                  </m:oMath>
                </a14:m>
                <a:r>
                  <a:rPr lang="zh-CN" altLang="en-US" sz="1600" dirty="0"/>
                  <a:t>，因而，</a:t>
                </a:r>
                <a:endParaRPr lang="en-US" altLang="zh-CN" sz="1600" dirty="0"/>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𝐷</m:t>
                                  </m:r>
                                </m:e>
                              </m:acc>
                            </m:e>
                            <m:sub>
                              <m:r>
                                <a:rPr lang="zh-CN" altLang="en-US" sz="1600" i="1" smtClean="0">
                                  <a:latin typeface="Cambria Math" panose="02040503050406030204" pitchFamily="18" charset="0"/>
                                </a:rPr>
                                <m:t>33</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=1−</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3</m:t>
                              </m:r>
                            </m:den>
                          </m:f>
                          <m:r>
                            <a:rPr lang="zh-CN" altLang="en-US" sz="1600" i="1" smtClean="0">
                              <a:latin typeface="Cambria Math" panose="02040503050406030204" pitchFamily="18" charset="0"/>
                            </a:rPr>
                            <m:t>−1+</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2</m:t>
                              </m:r>
                            </m:den>
                          </m:f>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6</m:t>
                              </m:r>
                            </m:den>
                          </m:f>
                        </m:e>
                        <m:e>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𝐷</m:t>
                                  </m:r>
                                </m:e>
                              </m:acc>
                            </m:e>
                            <m:sub>
                              <m:r>
                                <a:rPr lang="zh-CN" altLang="en-US" sz="1600" i="1" smtClean="0">
                                  <a:latin typeface="Cambria Math" panose="02040503050406030204" pitchFamily="18" charset="0"/>
                                </a:rPr>
                                <m:t>22</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=1−</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3</m:t>
                              </m:r>
                            </m:num>
                            <m:den>
                              <m:r>
                                <a:rPr lang="zh-CN" altLang="en-US" sz="1600" i="1" smtClean="0">
                                  <a:latin typeface="Cambria Math" panose="02040503050406030204" pitchFamily="18" charset="0"/>
                                </a:rPr>
                                <m:t>3</m:t>
                              </m:r>
                            </m:den>
                          </m:f>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2</m:t>
                              </m:r>
                            </m:den>
                          </m:f>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2</m:t>
                              </m:r>
                            </m:den>
                          </m:f>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3</m:t>
                              </m:r>
                            </m:den>
                          </m:f>
                        </m:e>
                        <m:e>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𝐷</m:t>
                                  </m:r>
                                </m:e>
                              </m:acc>
                            </m:e>
                            <m:sub>
                              <m:r>
                                <a:rPr lang="zh-CN" altLang="en-US" sz="1600" i="1" smtClean="0">
                                  <a:latin typeface="Cambria Math" panose="02040503050406030204" pitchFamily="18" charset="0"/>
                                </a:rPr>
                                <m:t>23</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=1−</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2</m:t>
                              </m:r>
                            </m:num>
                            <m:den>
                              <m:r>
                                <a:rPr lang="zh-CN" altLang="en-US" sz="1600" i="1" smtClean="0">
                                  <a:latin typeface="Cambria Math" panose="02040503050406030204" pitchFamily="18" charset="0"/>
                                </a:rPr>
                                <m:t>3</m:t>
                              </m:r>
                            </m:den>
                          </m:f>
                          <m:r>
                            <a:rPr lang="zh-CN" altLang="en-US" sz="1600" i="1" smtClean="0">
                              <a:latin typeface="Cambria Math" panose="02040503050406030204" pitchFamily="18" charset="0"/>
                            </a:rPr>
                            <m:t>−1+</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2</m:t>
                              </m:r>
                            </m:den>
                          </m:f>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6</m:t>
                              </m:r>
                            </m:den>
                          </m:f>
                        </m:e>
                      </m:eqArr>
                    </m:oMath>
                  </m:oMathPara>
                </a14:m>
                <a:endParaRPr lang="zh-CN" altLang="en-US" sz="1600" dirty="0"/>
              </a:p>
            </p:txBody>
          </p:sp>
        </mc:Choice>
        <mc:Fallback xmlns="">
          <p:sp>
            <p:nvSpPr>
              <p:cNvPr id="3" name="内容占位符 2">
                <a:extLst>
                  <a:ext uri="{FF2B5EF4-FFF2-40B4-BE49-F238E27FC236}">
                    <a16:creationId xmlns:a16="http://schemas.microsoft.com/office/drawing/2014/main" id="{A1922B3A-CAA2-85EF-AC7E-3C587BEEA90C}"/>
                  </a:ext>
                </a:extLst>
              </p:cNvPr>
              <p:cNvSpPr>
                <a:spLocks noGrp="1" noRot="1" noChangeAspect="1" noMove="1" noResize="1" noEditPoints="1" noAdjustHandles="1" noChangeArrowheads="1" noChangeShapeType="1" noTextEdit="1"/>
              </p:cNvSpPr>
              <p:nvPr>
                <p:ph idx="1"/>
              </p:nvPr>
            </p:nvSpPr>
            <p:spPr>
              <a:blipFill>
                <a:blip r:embed="rId2"/>
                <a:stretch>
                  <a:fillRect l="-309"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D6771F9-E62B-A13A-F884-7D490380E1E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F24FDCD-2F1B-FFE7-E299-AD4DE3B92205}"/>
              </a:ext>
            </a:extLst>
          </p:cNvPr>
          <p:cNvSpPr>
            <a:spLocks noGrp="1"/>
          </p:cNvSpPr>
          <p:nvPr>
            <p:ph type="sldNum" sz="quarter" idx="12"/>
          </p:nvPr>
        </p:nvSpPr>
        <p:spPr/>
        <p:txBody>
          <a:bodyPr/>
          <a:lstStyle/>
          <a:p>
            <a:fld id="{D41FC515-8169-4A29-AA56-DBE520D5741B}" type="slidenum">
              <a:rPr lang="zh-CN" altLang="en-US" smtClean="0"/>
              <a:t>67</a:t>
            </a:fld>
            <a:endParaRPr lang="zh-CN" altLang="en-US"/>
          </a:p>
        </p:txBody>
      </p:sp>
    </p:spTree>
    <p:extLst>
      <p:ext uri="{BB962C8B-B14F-4D97-AF65-F5344CB8AC3E}">
        <p14:creationId xmlns:p14="http://schemas.microsoft.com/office/powerpoint/2010/main" val="41307546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F4D8BC-B49D-416B-C7A6-3DAD750461A9}"/>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E9DABF-1F2C-7748-4211-21E8C094B7D2}"/>
                  </a:ext>
                </a:extLst>
              </p:cNvPr>
              <p:cNvSpPr>
                <a:spLocks noGrp="1"/>
              </p:cNvSpPr>
              <p:nvPr>
                <p:ph idx="1"/>
              </p:nvPr>
            </p:nvSpPr>
            <p:spPr/>
            <p:txBody>
              <a:bodyPr>
                <a:normAutofit fontScale="92500" lnSpcReduction="20000"/>
              </a:bodyPr>
              <a:lstStyle/>
              <a:p>
                <a:endParaRPr lang="en-US" altLang="zh-CN" dirty="0"/>
              </a:p>
              <a:p>
                <a:endParaRPr lang="en-US" altLang="zh-CN" dirty="0"/>
              </a:p>
              <a:p>
                <a:r>
                  <a:rPr lang="zh-CN" altLang="en-US" dirty="0"/>
                  <a:t>考虑：</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en-US" altLang="zh-CN" i="1" dirty="0">
                            <a:latin typeface="Cambria Math" panose="02040503050406030204" pitchFamily="18" charset="0"/>
                          </a:rPr>
                          <m:t>33</m:t>
                        </m:r>
                      </m:sub>
                    </m:sSub>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en-US" altLang="zh-CN" i="1" dirty="0">
                            <a:latin typeface="Cambria Math" panose="02040503050406030204" pitchFamily="18" charset="0"/>
                          </a:rPr>
                          <m:t>22</m:t>
                        </m:r>
                      </m:sub>
                    </m:sSub>
                    <m:r>
                      <a:rPr lang="en-US" altLang="zh-CN" i="1" dirty="0">
                        <a:latin typeface="Cambria Math" panose="02040503050406030204" pitchFamily="18" charset="0"/>
                      </a:rPr>
                      <m:t>] = 1</m:t>
                    </m:r>
                    <m:r>
                      <a:rPr lang="zh-CN" altLang="en-US"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en-US" altLang="zh-CN" i="1" dirty="0">
                            <a:latin typeface="Cambria Math" panose="02040503050406030204" pitchFamily="18" charset="0"/>
                          </a:rPr>
                          <m:t>23</m:t>
                        </m:r>
                      </m:sub>
                    </m:sSub>
                    <m:r>
                      <a:rPr lang="en-US" altLang="zh-CN" i="1" dirty="0">
                        <a:latin typeface="Cambria Math" panose="02040503050406030204" pitchFamily="18" charset="0"/>
                      </a:rPr>
                      <m:t>] = 4 </m:t>
                    </m:r>
                  </m:oMath>
                </a14:m>
                <a:r>
                  <a:rPr lang="zh-CN" altLang="en-US" dirty="0"/>
                  <a:t>由定理可得：</a:t>
                </a:r>
                <a:endParaRPr lang="en-US" altLang="zh-CN" dirty="0"/>
              </a:p>
              <a:p>
                <a:pPr marL="0" indent="0">
                  <a:buNone/>
                </a:pPr>
                <a14:m>
                  <m:oMathPara xmlns:m="http://schemas.openxmlformats.org/officeDocument/2006/math">
                    <m:o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𝑇𝑊𝐹𝐸</m:t>
                          </m:r>
                        </m:sub>
                      </m:sSub>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2</m:t>
                          </m:r>
                        </m:den>
                      </m:f>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33</m:t>
                              </m:r>
                            </m:sub>
                          </m:sSub>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22</m:t>
                              </m:r>
                            </m:sub>
                          </m:sSub>
                        </m:e>
                      </m:d>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2</m:t>
                          </m:r>
                        </m:den>
                      </m:f>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23</m:t>
                              </m:r>
                            </m:sub>
                          </m:sSub>
                        </m:e>
                      </m:d>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2</m:t>
                          </m:r>
                        </m:den>
                      </m:f>
                    </m:oMath>
                  </m:oMathPara>
                </a14:m>
                <a:endParaRPr lang="en-US" altLang="zh-CN" dirty="0"/>
              </a:p>
              <a:p>
                <a:r>
                  <a:rPr lang="zh-CN" altLang="en-US" dirty="0"/>
                  <a:t>即使每项</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𝑒𝑡</m:t>
                        </m:r>
                      </m:sub>
                    </m:sSub>
                    <m:r>
                      <a:rPr lang="en-US" altLang="zh-CN" i="1" dirty="0">
                        <a:latin typeface="Cambria Math" panose="02040503050406030204" pitchFamily="18" charset="0"/>
                      </a:rPr>
                      <m:t>]</m:t>
                    </m:r>
                  </m:oMath>
                </a14:m>
                <a:r>
                  <a:rPr lang="en-US" altLang="zh-CN" dirty="0"/>
                  <a:t> </a:t>
                </a:r>
                <a:r>
                  <a:rPr lang="zh-CN" altLang="en-US" dirty="0"/>
                  <a:t>为正，</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𝑇𝑊𝐹𝐸</m:t>
                        </m:r>
                      </m:sub>
                    </m:sSub>
                  </m:oMath>
                </a14:m>
                <a:r>
                  <a:rPr lang="zh-CN" altLang="en-US" dirty="0"/>
                  <a:t> 为负。</a:t>
                </a:r>
                <a:endParaRPr lang="en-US" altLang="zh-CN" dirty="0"/>
              </a:p>
              <a:p>
                <a:r>
                  <a:rPr lang="zh-CN" altLang="en-US" dirty="0"/>
                  <a:t>除非</a:t>
                </a:r>
                <a14:m>
                  <m:oMath xmlns:m="http://schemas.openxmlformats.org/officeDocument/2006/math">
                    <m:r>
                      <a:rPr lang="zh-CN" altLang="en-US" i="1" dirty="0" smtClean="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𝑒𝑡</m:t>
                        </m:r>
                      </m:sub>
                    </m:sSub>
                    <m:r>
                      <a:rPr lang="en-US" altLang="zh-CN" i="1" dirty="0">
                        <a:latin typeface="Cambria Math" panose="02040503050406030204" pitchFamily="18" charset="0"/>
                      </a:rPr>
                      <m:t>] = 1 </m:t>
                    </m:r>
                  </m:oMath>
                </a14:m>
                <a:r>
                  <a:rPr lang="zh-CN" altLang="en-US" dirty="0"/>
                  <a:t>同质，</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𝑇𝑊𝐹𝐸</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=1</m:t>
                      </m:r>
                    </m:oMath>
                  </m:oMathPara>
                </a14:m>
                <a:endParaRPr lang="en-US" altLang="zh-CN" dirty="0"/>
              </a:p>
              <a:p>
                <a:r>
                  <a:rPr lang="zh-CN" altLang="en-US" dirty="0"/>
                  <a:t>负权重使得𝜏𝑇 𝑊𝐹 𝐸 不同于𝜏𝐴𝑇 𝑇</a:t>
                </a:r>
              </a:p>
            </p:txBody>
          </p:sp>
        </mc:Choice>
        <mc:Fallback xmlns="">
          <p:sp>
            <p:nvSpPr>
              <p:cNvPr id="3" name="内容占位符 2">
                <a:extLst>
                  <a:ext uri="{FF2B5EF4-FFF2-40B4-BE49-F238E27FC236}">
                    <a16:creationId xmlns:a16="http://schemas.microsoft.com/office/drawing/2014/main" id="{1BE9DABF-1F2C-7748-4211-21E8C094B7D2}"/>
                  </a:ext>
                </a:extLst>
              </p:cNvPr>
              <p:cNvSpPr>
                <a:spLocks noGrp="1" noRot="1" noChangeAspect="1" noMove="1" noResize="1" noEditPoints="1" noAdjustHandles="1" noChangeArrowheads="1" noChangeShapeType="1" noTextEdit="1"/>
              </p:cNvSpPr>
              <p:nvPr>
                <p:ph idx="1"/>
              </p:nvPr>
            </p:nvSpPr>
            <p:spPr>
              <a:blipFill>
                <a:blip r:embed="rId2"/>
                <a:stretch>
                  <a:fillRect l="-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DBB1CC5-06BC-6EFE-FA2B-5BF2FA54682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E8ADD1F-9131-1F66-3431-CF6406E06C03}"/>
              </a:ext>
            </a:extLst>
          </p:cNvPr>
          <p:cNvSpPr>
            <a:spLocks noGrp="1"/>
          </p:cNvSpPr>
          <p:nvPr>
            <p:ph type="sldNum" sz="quarter" idx="12"/>
          </p:nvPr>
        </p:nvSpPr>
        <p:spPr/>
        <p:txBody>
          <a:bodyPr/>
          <a:lstStyle/>
          <a:p>
            <a:fld id="{D41FC515-8169-4A29-AA56-DBE520D5741B}" type="slidenum">
              <a:rPr lang="zh-CN" altLang="en-US" smtClean="0"/>
              <a:t>68</a:t>
            </a:fld>
            <a:endParaRPr lang="zh-CN" altLang="en-US"/>
          </a:p>
        </p:txBody>
      </p:sp>
      <p:pic>
        <p:nvPicPr>
          <p:cNvPr id="7" name="图片 6">
            <a:extLst>
              <a:ext uri="{FF2B5EF4-FFF2-40B4-BE49-F238E27FC236}">
                <a16:creationId xmlns:a16="http://schemas.microsoft.com/office/drawing/2014/main" id="{E7B16BDA-9337-BCF1-39A5-F3F654F18BE9}"/>
              </a:ext>
            </a:extLst>
          </p:cNvPr>
          <p:cNvPicPr>
            <a:picLocks noChangeAspect="1"/>
          </p:cNvPicPr>
          <p:nvPr/>
        </p:nvPicPr>
        <p:blipFill>
          <a:blip r:embed="rId3"/>
          <a:stretch>
            <a:fillRect/>
          </a:stretch>
        </p:blipFill>
        <p:spPr>
          <a:xfrm>
            <a:off x="739687" y="1690689"/>
            <a:ext cx="7354327" cy="785228"/>
          </a:xfrm>
          <a:prstGeom prst="rect">
            <a:avLst/>
          </a:prstGeom>
        </p:spPr>
      </p:pic>
    </p:spTree>
    <p:extLst>
      <p:ext uri="{BB962C8B-B14F-4D97-AF65-F5344CB8AC3E}">
        <p14:creationId xmlns:p14="http://schemas.microsoft.com/office/powerpoint/2010/main" val="21294823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8E1CA-0E2C-68E4-FE37-6FAEF731E524}"/>
              </a:ext>
            </a:extLst>
          </p:cNvPr>
          <p:cNvSpPr>
            <a:spLocks noGrp="1"/>
          </p:cNvSpPr>
          <p:nvPr>
            <p:ph type="title"/>
          </p:nvPr>
        </p:nvSpPr>
        <p:spPr/>
        <p:txBody>
          <a:bodyPr>
            <a:normAutofit/>
          </a:bodyPr>
          <a:lstStyle/>
          <a:p>
            <a:r>
              <a:rPr lang="fr-FR" altLang="zh-CN" sz="3100" dirty="0"/>
              <a:t>de Chaisemartin and d’Haultfoeuille (2020)</a:t>
            </a:r>
            <a:br>
              <a:rPr lang="fr-FR" altLang="zh-CN" dirty="0"/>
            </a:br>
            <a:r>
              <a:rPr lang="zh-CN" altLang="en-US" sz="2700" dirty="0"/>
              <a:t>负权重的来源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F2E5255-DC86-A8C7-34C0-0CDC44E5C990}"/>
                  </a:ext>
                </a:extLst>
              </p:cNvPr>
              <p:cNvSpPr>
                <a:spLocks noGrp="1"/>
              </p:cNvSpPr>
              <p:nvPr>
                <p:ph idx="1"/>
              </p:nvPr>
            </p:nvSpPr>
            <p:spPr/>
            <p:txBody>
              <a:bodyPr>
                <a:normAutofit fontScale="70000" lnSpcReduction="20000"/>
              </a:bodyPr>
              <a:lstStyle/>
              <a:p>
                <a:pPr>
                  <a:lnSpc>
                    <a:spcPct val="120000"/>
                  </a:lnSpc>
                </a:pPr>
                <a:r>
                  <a:rPr lang="zh-CN" altLang="en-US" dirty="0"/>
                  <a:t>可以证明：</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𝑇𝑊𝐹𝐸</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2</m:t>
                              </m:r>
                            </m:sub>
                          </m:sSub>
                        </m:e>
                      </m:d>
                      <m:r>
                        <a:rPr lang="zh-CN" altLang="en-US" i="1" smtClean="0">
                          <a:latin typeface="Cambria Math" panose="02040503050406030204" pitchFamily="18" charset="0"/>
                        </a:rPr>
                        <m:t>/2</m:t>
                      </m:r>
                    </m:oMath>
                  </m:oMathPara>
                </a14:m>
                <a:endParaRPr lang="en-US" altLang="zh-CN" dirty="0"/>
              </a:p>
              <a:p>
                <a:pPr>
                  <a:lnSpc>
                    <a:spcPct val="120000"/>
                  </a:lnSpc>
                </a:pPr>
                <a:r>
                  <a:rPr lang="zh-CN" altLang="en-US" dirty="0"/>
                  <a:t>其中，</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22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21</m:t>
                                      </m:r>
                                    </m:sub>
                                  </m:sSub>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32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31</m:t>
                                      </m:r>
                                    </m:sub>
                                  </m:sSub>
                                </m:e>
                              </m:d>
                            </m:e>
                          </m:d>
                        </m:e>
                        <m:e>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2</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33</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32</m:t>
                                      </m:r>
                                    </m:sub>
                                  </m:sSub>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23</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22</m:t>
                                      </m:r>
                                    </m:sub>
                                  </m:sSub>
                                </m:e>
                              </m:d>
                            </m:e>
                          </m:d>
                        </m:e>
                      </m:eqArr>
                    </m:oMath>
                  </m:oMathPara>
                </a14:m>
                <a:endParaRPr lang="en-US" altLang="zh-CN" dirty="0"/>
              </a:p>
              <a:p>
                <a:pPr>
                  <a:lnSpc>
                    <a:spcPct val="120000"/>
                  </a:lnSpc>
                </a:pPr>
                <a:r>
                  <a:rPr lang="zh-CN" altLang="en-US" dirty="0"/>
                  <a:t>即是两个</a:t>
                </a:r>
                <a:r>
                  <a:rPr lang="en-US" altLang="zh-CN" dirty="0"/>
                  <a:t>2 × 2 DID </a:t>
                </a:r>
                <a:r>
                  <a:rPr lang="zh-CN" altLang="en-US" dirty="0"/>
                  <a:t>的平均：</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3"/>
                                    <m:mcJc m:val="center"/>
                                  </m:mcPr>
                                </m:mc>
                              </m:mcs>
                              <m:ctrlPr>
                                <a:rPr lang="zh-CN" altLang="en-US" i="1" smtClean="0">
                                  <a:latin typeface="Cambria Math" panose="02040503050406030204" pitchFamily="18" charset="0"/>
                                </a:rPr>
                              </m:ctrlPr>
                            </m:mPr>
                            <m:mr>
                              <m:e>
                                <m:r>
                                  <a:rPr lang="zh-CN" altLang="en-US" i="1" smtClean="0">
                                    <a:latin typeface="Cambria Math" panose="02040503050406030204" pitchFamily="18" charset="0"/>
                                  </a:rPr>
                                  <m:t>0</m:t>
                                </m:r>
                              </m:e>
                              <m:e>
                                <m:r>
                                  <a:rPr lang="zh-CN" altLang="en-US" i="1" smtClean="0">
                                    <a:latin typeface="Cambria Math" panose="02040503050406030204" pitchFamily="18" charset="0"/>
                                  </a:rPr>
                                  <m:t>0</m:t>
                                </m:r>
                              </m:e>
                              <m:e>
                                <m:r>
                                  <a:rPr lang="zh-CN" altLang="en-US" i="1" smtClean="0">
                                    <a:latin typeface="Cambria Math" panose="02040503050406030204" pitchFamily="18" charset="0"/>
                                  </a:rPr>
                                  <m:t>1</m:t>
                                </m:r>
                              </m:e>
                            </m:mr>
                            <m:mr>
                              <m:e>
                                <m:r>
                                  <a:rPr lang="zh-CN" altLang="en-US" i="1" smtClean="0">
                                    <a:latin typeface="Cambria Math" panose="02040503050406030204" pitchFamily="18" charset="0"/>
                                  </a:rPr>
                                  <m:t>0</m:t>
                                </m:r>
                              </m:e>
                              <m:e>
                                <m:r>
                                  <a:rPr lang="zh-CN" altLang="en-US" i="1" smtClean="0">
                                    <a:latin typeface="Cambria Math" panose="02040503050406030204" pitchFamily="18" charset="0"/>
                                  </a:rPr>
                                  <m:t>1</m:t>
                                </m:r>
                              </m:e>
                              <m:e>
                                <m:r>
                                  <a:rPr lang="zh-CN" altLang="en-US" i="1" smtClean="0">
                                    <a:latin typeface="Cambria Math" panose="02040503050406030204" pitchFamily="18" charset="0"/>
                                  </a:rPr>
                                  <m:t>1</m:t>
                                </m:r>
                              </m:e>
                            </m:mr>
                          </m:m>
                        </m:e>
                      </m:d>
                      <m:r>
                        <a:rPr lang="zh-CN" altLang="en-US" i="1" smtClean="0">
                          <a:latin typeface="Cambria Math" panose="02040503050406030204" pitchFamily="18" charset="0"/>
                        </a:rPr>
                        <m:t>,</m:t>
                      </m:r>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3"/>
                                    <m:mcJc m:val="center"/>
                                  </m:mcPr>
                                </m:mc>
                              </m:mcs>
                              <m:ctrlPr>
                                <a:rPr lang="zh-CN" altLang="en-US" i="1" smtClean="0">
                                  <a:latin typeface="Cambria Math" panose="02040503050406030204" pitchFamily="18" charset="0"/>
                                </a:rPr>
                              </m:ctrlPr>
                            </m:mPr>
                            <m:mr>
                              <m:e>
                                <m:r>
                                  <a:rPr lang="zh-CN" altLang="en-US" i="1" smtClean="0">
                                    <a:latin typeface="Cambria Math" panose="02040503050406030204" pitchFamily="18" charset="0"/>
                                  </a:rPr>
                                  <m:t>0</m:t>
                                </m:r>
                              </m:e>
                              <m:e>
                                <m:r>
                                  <a:rPr lang="zh-CN" altLang="en-US" i="1" smtClean="0">
                                    <a:latin typeface="Cambria Math" panose="02040503050406030204" pitchFamily="18" charset="0"/>
                                  </a:rPr>
                                  <m:t>0</m:t>
                                </m:r>
                              </m:e>
                              <m:e>
                                <m:r>
                                  <a:rPr lang="zh-CN" altLang="en-US" i="1" smtClean="0">
                                    <a:latin typeface="Cambria Math" panose="02040503050406030204" pitchFamily="18" charset="0"/>
                                  </a:rPr>
                                  <m:t>1</m:t>
                                </m:r>
                              </m:e>
                            </m:mr>
                            <m:mr>
                              <m:e>
                                <m:r>
                                  <a:rPr lang="zh-CN" altLang="en-US" i="1" smtClean="0">
                                    <a:latin typeface="Cambria Math" panose="02040503050406030204" pitchFamily="18" charset="0"/>
                                  </a:rPr>
                                  <m:t>0</m:t>
                                </m:r>
                              </m:e>
                              <m:e>
                                <m:r>
                                  <a:rPr lang="zh-CN" altLang="en-US" i="1" smtClean="0">
                                    <a:latin typeface="Cambria Math" panose="02040503050406030204" pitchFamily="18" charset="0"/>
                                  </a:rPr>
                                  <m:t>1</m:t>
                                </m:r>
                              </m:e>
                              <m:e>
                                <m:r>
                                  <a:rPr lang="zh-CN" altLang="en-US" i="1" smtClean="0">
                                    <a:latin typeface="Cambria Math" panose="02040503050406030204" pitchFamily="18" charset="0"/>
                                  </a:rPr>
                                  <m:t>1</m:t>
                                </m:r>
                              </m:e>
                            </m:mr>
                          </m:m>
                        </m:e>
                      </m:d>
                    </m:oMath>
                  </m:oMathPara>
                </a14:m>
                <a:endParaRPr lang="en-US" altLang="zh-CN" dirty="0"/>
              </a:p>
              <a:p>
                <a:pPr>
                  <a:lnSpc>
                    <a:spcPct val="120000"/>
                  </a:lnSpc>
                </a:pPr>
                <a:r>
                  <a:rPr lang="zh-CN" altLang="en-US" dirty="0"/>
                  <a:t>𝐷𝐼𝐷</a:t>
                </a:r>
                <a:r>
                  <a:rPr lang="en-US" altLang="zh-CN" dirty="0"/>
                  <a:t>1 = </a:t>
                </a:r>
                <a:r>
                  <a:rPr lang="zh-CN" altLang="en-US" dirty="0"/>
                  <a:t>𝐸</a:t>
                </a:r>
                <a:r>
                  <a:rPr lang="en-US" altLang="zh-CN" dirty="0"/>
                  <a:t>[</a:t>
                </a:r>
                <a:r>
                  <a:rPr lang="zh-CN" altLang="en-US" dirty="0"/>
                  <a:t>𝜏</a:t>
                </a:r>
                <a:r>
                  <a:rPr lang="en-US" altLang="zh-CN" dirty="0"/>
                  <a:t>22]</a:t>
                </a:r>
                <a:r>
                  <a:rPr lang="zh-CN" altLang="en-US" dirty="0"/>
                  <a:t>，但是，𝐷𝐼𝐷</a:t>
                </a:r>
                <a:r>
                  <a:rPr lang="en-US" altLang="zh-CN" dirty="0"/>
                  <a:t>2 = </a:t>
                </a:r>
                <a:r>
                  <a:rPr lang="zh-CN" altLang="en-US" dirty="0"/>
                  <a:t>𝐸</a:t>
                </a:r>
                <a:r>
                  <a:rPr lang="en-US" altLang="zh-CN" dirty="0"/>
                  <a:t>[</a:t>
                </a:r>
                <a:r>
                  <a:rPr lang="zh-CN" altLang="en-US" dirty="0"/>
                  <a:t>𝜏</a:t>
                </a:r>
                <a:r>
                  <a:rPr lang="en-US" altLang="zh-CN" dirty="0"/>
                  <a:t>33] − (</a:t>
                </a:r>
                <a:r>
                  <a:rPr lang="zh-CN" altLang="en-US" dirty="0"/>
                  <a:t>𝐸</a:t>
                </a:r>
                <a:r>
                  <a:rPr lang="en-US" altLang="zh-CN" dirty="0"/>
                  <a:t>[</a:t>
                </a:r>
                <a:r>
                  <a:rPr lang="zh-CN" altLang="en-US" dirty="0"/>
                  <a:t>𝜏</a:t>
                </a:r>
                <a:r>
                  <a:rPr lang="en-US" altLang="zh-CN" dirty="0"/>
                  <a:t>23] − </a:t>
                </a:r>
                <a:r>
                  <a:rPr lang="zh-CN" altLang="en-US" dirty="0"/>
                  <a:t>𝐸</a:t>
                </a:r>
                <a:r>
                  <a:rPr lang="en-US" altLang="zh-CN" dirty="0"/>
                  <a:t>[</a:t>
                </a:r>
                <a:r>
                  <a:rPr lang="zh-CN" altLang="en-US" dirty="0"/>
                  <a:t>𝜏</a:t>
                </a:r>
                <a:r>
                  <a:rPr lang="en-US" altLang="zh-CN" dirty="0"/>
                  <a:t>22])</a:t>
                </a:r>
              </a:p>
              <a:p>
                <a:pPr>
                  <a:lnSpc>
                    <a:spcPct val="120000"/>
                  </a:lnSpc>
                </a:pPr>
                <a:r>
                  <a:rPr lang="zh-CN" altLang="en-US" dirty="0"/>
                  <a:t>如果</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en-US" altLang="zh-CN" i="1" dirty="0">
                            <a:latin typeface="Cambria Math" panose="02040503050406030204" pitchFamily="18" charset="0"/>
                          </a:rPr>
                          <m:t>23</m:t>
                        </m:r>
                      </m:sub>
                    </m:sSub>
                  </m:oMath>
                </a14:m>
                <a:r>
                  <a:rPr lang="en-US" altLang="zh-CN" dirty="0"/>
                  <a:t> </a:t>
                </a:r>
                <a:r>
                  <a:rPr lang="zh-CN" altLang="en-US" dirty="0"/>
                  <a:t>和</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en-US" altLang="zh-CN" i="1" dirty="0">
                            <a:latin typeface="Cambria Math" panose="02040503050406030204" pitchFamily="18" charset="0"/>
                          </a:rPr>
                          <m:t>22</m:t>
                        </m:r>
                      </m:sub>
                    </m:sSub>
                  </m:oMath>
                </a14:m>
                <a:r>
                  <a:rPr lang="en-US" altLang="zh-CN" dirty="0"/>
                  <a:t> </a:t>
                </a:r>
                <a:r>
                  <a:rPr lang="zh-CN" altLang="en-US" dirty="0"/>
                  <a:t>不同，则</a:t>
                </a:r>
                <a14:m>
                  <m:oMath xmlns:m="http://schemas.openxmlformats.org/officeDocument/2006/math">
                    <m:r>
                      <a:rPr lang="zh-CN" altLang="en-US" i="1" dirty="0" smtClean="0">
                        <a:latin typeface="Cambria Math" panose="02040503050406030204" pitchFamily="18" charset="0"/>
                      </a:rPr>
                      <m:t>𝐷𝐼</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en-US" altLang="zh-CN" i="1" dirty="0">
                            <a:latin typeface="Cambria Math" panose="02040503050406030204" pitchFamily="18" charset="0"/>
                          </a:rPr>
                          <m:t>2</m:t>
                        </m:r>
                      </m:sub>
                    </m:sSub>
                  </m:oMath>
                </a14:m>
                <a:r>
                  <a:rPr lang="en-US" altLang="zh-CN" dirty="0"/>
                  <a:t> </a:t>
                </a:r>
                <a:r>
                  <a:rPr lang="zh-CN" altLang="en-US" dirty="0"/>
                  <a:t>无因果解释，因为使用了坏的控制</a:t>
                </a:r>
                <a:r>
                  <a:rPr lang="en-US" altLang="zh-CN" dirty="0"/>
                  <a:t>(bad control or forbidden control)</a:t>
                </a:r>
                <a:endParaRPr lang="zh-CN" altLang="en-US" dirty="0"/>
              </a:p>
            </p:txBody>
          </p:sp>
        </mc:Choice>
        <mc:Fallback xmlns="">
          <p:sp>
            <p:nvSpPr>
              <p:cNvPr id="3" name="内容占位符 2">
                <a:extLst>
                  <a:ext uri="{FF2B5EF4-FFF2-40B4-BE49-F238E27FC236}">
                    <a16:creationId xmlns:a16="http://schemas.microsoft.com/office/drawing/2014/main" id="{4F2E5255-DC86-A8C7-34C0-0CDC44E5C990}"/>
                  </a:ext>
                </a:extLst>
              </p:cNvPr>
              <p:cNvSpPr>
                <a:spLocks noGrp="1" noRot="1" noChangeAspect="1" noMove="1" noResize="1" noEditPoints="1" noAdjustHandles="1" noChangeArrowheads="1" noChangeShapeType="1" noTextEdit="1"/>
              </p:cNvSpPr>
              <p:nvPr>
                <p:ph idx="1"/>
              </p:nvPr>
            </p:nvSpPr>
            <p:spPr>
              <a:blipFill>
                <a:blip r:embed="rId2"/>
                <a:stretch>
                  <a:fillRect l="-696" t="-700" b="-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AD2E451-F270-A73C-64FB-CC64AB17119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E41FB3-D373-C0A0-B774-869A9525B016}"/>
              </a:ext>
            </a:extLst>
          </p:cNvPr>
          <p:cNvSpPr>
            <a:spLocks noGrp="1"/>
          </p:cNvSpPr>
          <p:nvPr>
            <p:ph type="sldNum" sz="quarter" idx="12"/>
          </p:nvPr>
        </p:nvSpPr>
        <p:spPr/>
        <p:txBody>
          <a:bodyPr/>
          <a:lstStyle/>
          <a:p>
            <a:fld id="{D41FC515-8169-4A29-AA56-DBE520D5741B}" type="slidenum">
              <a:rPr lang="zh-CN" altLang="en-US" smtClean="0"/>
              <a:t>69</a:t>
            </a:fld>
            <a:endParaRPr lang="zh-CN" altLang="en-US"/>
          </a:p>
        </p:txBody>
      </p:sp>
    </p:spTree>
    <p:extLst>
      <p:ext uri="{BB962C8B-B14F-4D97-AF65-F5344CB8AC3E}">
        <p14:creationId xmlns:p14="http://schemas.microsoft.com/office/powerpoint/2010/main" val="18289123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5151C-1FFF-C241-2076-B46DC39F5370}"/>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2FB8502-35EA-6314-611F-D6E7B98E88F8}"/>
                  </a:ext>
                </a:extLst>
              </p:cNvPr>
              <p:cNvSpPr>
                <a:spLocks noGrp="1"/>
              </p:cNvSpPr>
              <p:nvPr>
                <p:ph idx="1"/>
              </p:nvPr>
            </p:nvSpPr>
            <p:spPr/>
            <p:txBody>
              <a:bodyPr>
                <a:normAutofit fontScale="70000" lnSpcReduction="20000"/>
              </a:bodyPr>
              <a:lstStyle/>
              <a:p>
                <a:pPr>
                  <a:lnSpc>
                    <a:spcPct val="120000"/>
                  </a:lnSpc>
                </a:pPr>
                <a:endParaRPr lang="en-US" altLang="zh-CN" dirty="0"/>
              </a:p>
              <a:p>
                <a:pPr>
                  <a:lnSpc>
                    <a:spcPct val="120000"/>
                  </a:lnSpc>
                </a:pPr>
                <a:endParaRPr lang="en-US" altLang="zh-CN" dirty="0"/>
              </a:p>
              <a:p>
                <a:pPr>
                  <a:lnSpc>
                    <a:spcPct val="120000"/>
                  </a:lnSpc>
                </a:pPr>
                <a:r>
                  <a:rPr lang="zh-CN" altLang="en-US" dirty="0"/>
                  <a:t>为了克服异质性造成的影响，他们提出一个新的目标参数：</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𝑆</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𝑆</m:t>
                                  </m:r>
                                </m:sub>
                              </m:sSub>
                            </m:den>
                          </m:f>
                          <m:nary>
                            <m:naryPr>
                              <m:chr m:val="∑"/>
                              <m:limLoc m:val="undOvr"/>
                              <m:supHide m:val="on"/>
                              <m:ctrlPr>
                                <a:rPr lang="zh-CN" altLang="en-US" i="1" smtClean="0">
                                  <a:latin typeface="Cambria Math" panose="02040503050406030204" pitchFamily="18" charset="0"/>
                                </a:rPr>
                              </m:ctrlPr>
                            </m:naryPr>
                            <m: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≥2,</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sub>
                            <m:sup/>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nary>
                        </m:e>
                      </m:d>
                    </m:oMath>
                  </m:oMathPara>
                </a14:m>
                <a:endParaRPr lang="en-US" altLang="zh-CN" dirty="0"/>
              </a:p>
              <a:p>
                <a:pPr marL="0" indent="0">
                  <a:lnSpc>
                    <a:spcPct val="120000"/>
                  </a:lnSpc>
                  <a:buNone/>
                </a:pPr>
                <a:r>
                  <a:rPr lang="zh-CN" altLang="en-US" dirty="0"/>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a:latin typeface="Cambria Math" panose="02040503050406030204" pitchFamily="18" charset="0"/>
                          </a:rPr>
                          <m:t>𝑆</m:t>
                        </m:r>
                      </m:sub>
                    </m:sSub>
                    <m:r>
                      <a:rPr lang="en-US" altLang="zh-CN" i="1" dirty="0">
                        <a:latin typeface="Cambria Math" panose="02040503050406030204" pitchFamily="18" charset="0"/>
                      </a:rPr>
                      <m:t>=</m:t>
                    </m:r>
                    <m:nary>
                      <m:naryPr>
                        <m:chr m:val="∑"/>
                        <m:supHide m:val="on"/>
                        <m:ctrlPr>
                          <a:rPr lang="en-US" altLang="zh-CN" i="1" dirty="0" err="1">
                            <a:latin typeface="Cambria Math" panose="02040503050406030204" pitchFamily="18" charset="0"/>
                          </a:rPr>
                        </m:ctrlPr>
                      </m:naryPr>
                      <m:sub>
                        <m:d>
                          <m:dPr>
                            <m:ctrlPr>
                              <a:rPr lang="en-US" altLang="zh-CN" i="1" dirty="0" err="1">
                                <a:latin typeface="Cambria Math" panose="02040503050406030204" pitchFamily="18" charset="0"/>
                              </a:rPr>
                            </m:ctrlPr>
                          </m:dPr>
                          <m:e>
                            <m:r>
                              <a:rPr lang="en-US" altLang="zh-CN" i="1" dirty="0" err="1">
                                <a:latin typeface="Cambria Math" panose="02040503050406030204" pitchFamily="18" charset="0"/>
                              </a:rPr>
                              <m:t>𝑒</m:t>
                            </m:r>
                            <m:r>
                              <a:rPr lang="en-US" altLang="zh-CN" i="1" dirty="0" err="1">
                                <a:latin typeface="Cambria Math" panose="02040503050406030204" pitchFamily="18" charset="0"/>
                              </a:rPr>
                              <m:t>,</m:t>
                            </m:r>
                            <m:r>
                              <a:rPr lang="en-US" altLang="zh-CN" i="1" dirty="0" err="1">
                                <a:latin typeface="Cambria Math" panose="02040503050406030204" pitchFamily="18" charset="0"/>
                              </a:rPr>
                              <m:t>𝑡</m:t>
                            </m:r>
                          </m:e>
                        </m:d>
                        <m:r>
                          <a:rPr lang="en-US" altLang="zh-CN" b="0" i="1" dirty="0" smtClean="0">
                            <a:latin typeface="Cambria Math" panose="02040503050406030204" pitchFamily="18" charset="0"/>
                          </a:rPr>
                          <m:t>: </m:t>
                        </m:r>
                        <m:r>
                          <a:rPr lang="en-US" altLang="zh-CN" i="1" dirty="0">
                            <a:latin typeface="Cambria Math" panose="02040503050406030204" pitchFamily="18" charset="0"/>
                          </a:rPr>
                          <m:t>𝑡</m:t>
                        </m:r>
                        <m:r>
                          <a:rPr lang="en-US" altLang="zh-CN" i="1" dirty="0">
                            <a:latin typeface="Cambria Math" panose="02040503050406030204" pitchFamily="18" charset="0"/>
                          </a:rPr>
                          <m:t>≥ 2,</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𝑖𝑡</m:t>
                            </m:r>
                            <m:r>
                              <a:rPr lang="en-US" altLang="zh-CN" i="1" dirty="0">
                                <a:latin typeface="Cambria Math" panose="02040503050406030204" pitchFamily="18" charset="0"/>
                              </a:rPr>
                              <m:t>−1</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𝑒𝑡</m:t>
                            </m:r>
                          </m:sub>
                        </m:sSub>
                      </m:e>
                    </m:nary>
                    <m:r>
                      <a:rPr lang="en-US" altLang="zh-CN" i="1" dirty="0" smtClean="0">
                        <a:latin typeface="Cambria Math" panose="02040503050406030204" pitchFamily="18" charset="0"/>
                      </a:rPr>
                      <m:t> </m:t>
                    </m:r>
                  </m:oMath>
                </a14:m>
                <a:r>
                  <a:rPr lang="zh-CN" altLang="en-US" dirty="0"/>
                  <a:t>是状态改变的格子</a:t>
                </a:r>
                <a:r>
                  <a:rPr lang="en-US" altLang="zh-CN" dirty="0"/>
                  <a:t>(switching cells)</a:t>
                </a:r>
                <a:r>
                  <a:rPr lang="zh-CN" altLang="en-US" dirty="0"/>
                  <a:t>里的样本数。</a:t>
                </a:r>
                <a:endParaRPr lang="en-US" altLang="zh-CN" dirty="0"/>
              </a:p>
              <a:p>
                <a:pPr>
                  <a:lnSpc>
                    <a:spcPct val="120000"/>
                  </a:lnSpc>
                </a:pPr>
                <a:r>
                  <a:rPr lang="zh-CN" altLang="en-US" dirty="0"/>
                  <a:t>比如上图中，对应的是</a:t>
                </a:r>
                <a:r>
                  <a:rPr lang="en-US" altLang="zh-CN" dirty="0"/>
                  <a:t>22</a:t>
                </a:r>
                <a:r>
                  <a:rPr lang="zh-CN" altLang="en-US" dirty="0"/>
                  <a:t>、</a:t>
                </a:r>
                <a:r>
                  <a:rPr lang="en-US" altLang="zh-CN" dirty="0"/>
                  <a:t>33 </a:t>
                </a:r>
                <a:r>
                  <a:rPr lang="zh-CN" altLang="en-US" dirty="0"/>
                  <a:t>两个格子中的平均因果效应。</a:t>
                </a:r>
                <a:endParaRPr lang="en-US" altLang="zh-CN" dirty="0"/>
              </a:p>
              <a:p>
                <a:pPr>
                  <a:lnSpc>
                    <a:spcPct val="120000"/>
                  </a:lnSpc>
                </a:pPr>
                <a:r>
                  <a:rPr lang="zh-CN" altLang="en-US" dirty="0"/>
                  <a:t>这是所有状态改变格子里的</a:t>
                </a:r>
                <a:r>
                  <a:rPr lang="en-US" altLang="zh-CN" dirty="0"/>
                  <a:t>ATT</a:t>
                </a:r>
              </a:p>
              <a:p>
                <a:pPr>
                  <a:lnSpc>
                    <a:spcPct val="120000"/>
                  </a:lnSpc>
                </a:pPr>
                <a:r>
                  <a:rPr lang="zh-CN" altLang="en-US" dirty="0"/>
                  <a:t>在渐近政策中，是政策开始时的平均因果效应。</a:t>
                </a:r>
              </a:p>
            </p:txBody>
          </p:sp>
        </mc:Choice>
        <mc:Fallback xmlns="">
          <p:sp>
            <p:nvSpPr>
              <p:cNvPr id="3" name="内容占位符 2">
                <a:extLst>
                  <a:ext uri="{FF2B5EF4-FFF2-40B4-BE49-F238E27FC236}">
                    <a16:creationId xmlns:a16="http://schemas.microsoft.com/office/drawing/2014/main" id="{E2FB8502-35EA-6314-611F-D6E7B98E88F8}"/>
                  </a:ext>
                </a:extLst>
              </p:cNvPr>
              <p:cNvSpPr>
                <a:spLocks noGrp="1" noRot="1" noChangeAspect="1" noMove="1" noResize="1" noEditPoints="1" noAdjustHandles="1" noChangeArrowheads="1" noChangeShapeType="1" noTextEdit="1"/>
              </p:cNvSpPr>
              <p:nvPr>
                <p:ph idx="1"/>
              </p:nvPr>
            </p:nvSpPr>
            <p:spPr>
              <a:blipFill>
                <a:blip r:embed="rId2"/>
                <a:stretch>
                  <a:fillRect l="-773" b="-9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32D496C-5E7A-F645-D567-501E77DB3F4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483BA51-1A36-6C44-5443-C8F6DF377638}"/>
              </a:ext>
            </a:extLst>
          </p:cNvPr>
          <p:cNvSpPr>
            <a:spLocks noGrp="1"/>
          </p:cNvSpPr>
          <p:nvPr>
            <p:ph type="sldNum" sz="quarter" idx="12"/>
          </p:nvPr>
        </p:nvSpPr>
        <p:spPr/>
        <p:txBody>
          <a:bodyPr/>
          <a:lstStyle/>
          <a:p>
            <a:fld id="{D41FC515-8169-4A29-AA56-DBE520D5741B}" type="slidenum">
              <a:rPr lang="zh-CN" altLang="en-US" smtClean="0"/>
              <a:t>70</a:t>
            </a:fld>
            <a:endParaRPr lang="zh-CN" altLang="en-US"/>
          </a:p>
        </p:txBody>
      </p:sp>
      <p:pic>
        <p:nvPicPr>
          <p:cNvPr id="7" name="图片 6">
            <a:extLst>
              <a:ext uri="{FF2B5EF4-FFF2-40B4-BE49-F238E27FC236}">
                <a16:creationId xmlns:a16="http://schemas.microsoft.com/office/drawing/2014/main" id="{D4599208-F5A4-4382-BF1A-87A40B9A89D7}"/>
              </a:ext>
            </a:extLst>
          </p:cNvPr>
          <p:cNvPicPr>
            <a:picLocks noChangeAspect="1"/>
          </p:cNvPicPr>
          <p:nvPr/>
        </p:nvPicPr>
        <p:blipFill>
          <a:blip r:embed="rId3"/>
          <a:stretch>
            <a:fillRect/>
          </a:stretch>
        </p:blipFill>
        <p:spPr>
          <a:xfrm>
            <a:off x="739687" y="1690689"/>
            <a:ext cx="7354327" cy="785228"/>
          </a:xfrm>
          <a:prstGeom prst="rect">
            <a:avLst/>
          </a:prstGeom>
        </p:spPr>
      </p:pic>
    </p:spTree>
    <p:extLst>
      <p:ext uri="{BB962C8B-B14F-4D97-AF65-F5344CB8AC3E}">
        <p14:creationId xmlns:p14="http://schemas.microsoft.com/office/powerpoint/2010/main" val="9553223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0B011F-9467-2F5B-0316-4C2BDCACC9CE}"/>
              </a:ext>
            </a:extLst>
          </p:cNvPr>
          <p:cNvSpPr>
            <a:spLocks noGrp="1"/>
          </p:cNvSpPr>
          <p:nvPr>
            <p:ph type="title"/>
          </p:nvPr>
        </p:nvSpPr>
        <p:spPr/>
        <p:txBody>
          <a:bodyPr/>
          <a:lstStyle/>
          <a:p>
            <a:r>
              <a:rPr lang="fr-FR" altLang="zh-CN" dirty="0"/>
              <a:t>de Chaisemartin and d’Haultfoeuille (2020)</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4981957-B05B-E8BB-CC00-368052D68E10}"/>
                  </a:ext>
                </a:extLst>
              </p:cNvPr>
              <p:cNvSpPr>
                <a:spLocks noGrp="1"/>
              </p:cNvSpPr>
              <p:nvPr>
                <p:ph idx="1"/>
              </p:nvPr>
            </p:nvSpPr>
            <p:spPr/>
            <p:txBody>
              <a:bodyPr>
                <a:normAutofit fontScale="92500" lnSpcReduction="10000"/>
              </a:bodyPr>
              <a:lstStyle/>
              <a:p>
                <a:r>
                  <a:rPr lang="zh-CN" altLang="en-US" dirty="0"/>
                  <a:t>异质性稳健的估计量：</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𝑀</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𝑡</m:t>
                          </m:r>
                          <m:r>
                            <a:rPr lang="zh-CN" altLang="en-US" i="1" smtClean="0">
                              <a:latin typeface="Cambria Math" panose="02040503050406030204" pitchFamily="18" charset="0"/>
                            </a:rPr>
                            <m:t>=2</m:t>
                          </m:r>
                        </m:sub>
                        <m:sup>
                          <m:r>
                            <a:rPr lang="zh-CN" altLang="en-US" i="1" smtClean="0">
                              <a:latin typeface="Cambria Math" panose="02040503050406030204" pitchFamily="18" charset="0"/>
                            </a:rPr>
                            <m:t>𝑇</m:t>
                          </m:r>
                        </m:sup>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𝐷𝐼</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e>
                          </m:d>
                        </m:e>
                      </m:nary>
                    </m:oMath>
                  </m:oMathPara>
                </a14:m>
                <a:endParaRPr lang="en-US" altLang="zh-CN" dirty="0"/>
              </a:p>
              <a:p>
                <a:pPr marL="0" indent="0">
                  <a:buNone/>
                </a:pPr>
                <a:r>
                  <a:rPr lang="zh-CN" altLang="en-US" dirty="0"/>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𝑤</m:t>
                        </m:r>
                      </m:e>
                      <m:sub>
                        <m:r>
                          <a:rPr lang="en-US" altLang="zh-CN" i="1" dirty="0">
                            <a:latin typeface="Cambria Math" panose="02040503050406030204" pitchFamily="18" charset="0"/>
                          </a:rPr>
                          <m:t>+,</m:t>
                        </m:r>
                        <m:r>
                          <a:rPr lang="en-US" altLang="zh-CN" i="1" dirty="0">
                            <a:latin typeface="Cambria Math" panose="02040503050406030204" pitchFamily="18" charset="0"/>
                          </a:rPr>
                          <m:t>𝑡</m:t>
                        </m:r>
                      </m:sub>
                    </m:sSub>
                  </m:oMath>
                </a14:m>
                <a:r>
                  <a:rPr lang="zh-CN" altLang="en-US" dirty="0"/>
                  <a:t>和</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𝑤</m:t>
                        </m:r>
                      </m:e>
                      <m:sub>
                        <m:r>
                          <a:rPr lang="en-US" altLang="zh-CN" i="1" dirty="0">
                            <a:latin typeface="Cambria Math" panose="02040503050406030204" pitchFamily="18" charset="0"/>
                          </a:rPr>
                          <m:t>−,</m:t>
                        </m:r>
                        <m:r>
                          <a:rPr lang="en-US" altLang="zh-CN" i="1" dirty="0">
                            <a:latin typeface="Cambria Math" panose="02040503050406030204" pitchFamily="18" charset="0"/>
                          </a:rPr>
                          <m:t>𝑡</m:t>
                        </m:r>
                      </m:sub>
                    </m:sSub>
                  </m:oMath>
                </a14:m>
                <a:r>
                  <a:rPr lang="zh-CN" altLang="en-US" dirty="0"/>
                  <a:t>为样本权重</a:t>
                </a:r>
                <a:endParaRPr lang="en-US" altLang="zh-CN" dirty="0"/>
              </a:p>
              <a:p>
                <a:r>
                  <a:rPr lang="zh-CN" altLang="en-US" dirty="0"/>
                  <a:t>其中：</a:t>
                </a:r>
                <a:endParaRPr lang="en-US" altLang="zh-CN" dirty="0"/>
              </a:p>
              <a:p>
                <a:pPr lvl="1"/>
                <a14:m>
                  <m:oMath xmlns:m="http://schemas.openxmlformats.org/officeDocument/2006/math">
                    <m:r>
                      <a:rPr lang="zh-CN" altLang="en-US" i="1" dirty="0" smtClean="0">
                        <a:latin typeface="Cambria Math" panose="02040503050406030204" pitchFamily="18" charset="0"/>
                      </a:rPr>
                      <m:t>𝐷𝐼</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en-US" altLang="zh-CN" i="1" dirty="0">
                            <a:latin typeface="Cambria Math" panose="02040503050406030204" pitchFamily="18" charset="0"/>
                          </a:rPr>
                          <m:t>+,</m:t>
                        </m:r>
                        <m:r>
                          <a:rPr lang="zh-CN" altLang="en-US" i="1" dirty="0">
                            <a:latin typeface="Cambria Math" panose="02040503050406030204" pitchFamily="18" charset="0"/>
                          </a:rPr>
                          <m:t>𝑡</m:t>
                        </m:r>
                      </m:sub>
                    </m:sSub>
                    <m:r>
                      <a:rPr lang="zh-CN" altLang="en-US" i="1" dirty="0">
                        <a:latin typeface="Cambria Math" panose="02040503050406030204" pitchFamily="18" charset="0"/>
                      </a:rPr>
                      <m:t> </m:t>
                    </m:r>
                  </m:oMath>
                </a14:m>
                <a:r>
                  <a:rPr lang="zh-CN" altLang="en-US" dirty="0"/>
                  <a:t>是加入效应</a:t>
                </a:r>
                <a:r>
                  <a:rPr lang="en-US" altLang="zh-CN" dirty="0"/>
                  <a:t>(joiner-effect): [0,1] </a:t>
                </a:r>
                <a:r>
                  <a:rPr lang="zh-CN" altLang="en-US" dirty="0"/>
                  <a:t>与</a:t>
                </a:r>
                <a:r>
                  <a:rPr lang="en-US" altLang="zh-CN" dirty="0"/>
                  <a:t>[0,0] </a:t>
                </a:r>
                <a:r>
                  <a:rPr lang="zh-CN" altLang="en-US" dirty="0"/>
                  <a:t>对比</a:t>
                </a:r>
                <a:endParaRPr lang="en-US" altLang="zh-CN" dirty="0"/>
              </a:p>
              <a:p>
                <a:pPr lvl="1"/>
                <a14:m>
                  <m:oMath xmlns:m="http://schemas.openxmlformats.org/officeDocument/2006/math">
                    <m:r>
                      <a:rPr lang="zh-CN" altLang="en-US" i="1" dirty="0" smtClean="0">
                        <a:latin typeface="Cambria Math" panose="02040503050406030204" pitchFamily="18" charset="0"/>
                      </a:rPr>
                      <m:t>𝐷𝐼</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m:t>
                        </m:r>
                      </m:sub>
                    </m:sSub>
                    <m:r>
                      <a:rPr lang="en-US" altLang="zh-CN" i="1" dirty="0">
                        <a:latin typeface="Cambria Math" panose="02040503050406030204" pitchFamily="18" charset="0"/>
                      </a:rPr>
                      <m:t>,</m:t>
                    </m:r>
                    <m:r>
                      <a:rPr lang="zh-CN" altLang="en-US" i="1" dirty="0">
                        <a:latin typeface="Cambria Math" panose="02040503050406030204" pitchFamily="18" charset="0"/>
                      </a:rPr>
                      <m:t>𝑡</m:t>
                    </m:r>
                  </m:oMath>
                </a14:m>
                <a:r>
                  <a:rPr lang="zh-CN" altLang="en-US" dirty="0"/>
                  <a:t>是退出效应</a:t>
                </a:r>
                <a:r>
                  <a:rPr lang="en-US" altLang="zh-CN" dirty="0"/>
                  <a:t>(leaver-effect): [1,0] </a:t>
                </a:r>
                <a:r>
                  <a:rPr lang="zh-CN" altLang="en-US" dirty="0"/>
                  <a:t>与</a:t>
                </a:r>
                <a:r>
                  <a:rPr lang="en-US" altLang="zh-CN" dirty="0"/>
                  <a:t>[1,1] </a:t>
                </a:r>
                <a:r>
                  <a:rPr lang="zh-CN" altLang="en-US" dirty="0"/>
                  <a:t>对比</a:t>
                </a:r>
                <a:endParaRPr lang="en-US" altLang="zh-CN" dirty="0"/>
              </a:p>
              <a:p>
                <a:pPr lvl="1"/>
                <a:r>
                  <a:rPr lang="zh-CN" altLang="en-US" dirty="0"/>
                  <a:t>忽略其他情形，从而只有类似例子中的</a:t>
                </a:r>
                <a14:m>
                  <m:oMath xmlns:m="http://schemas.openxmlformats.org/officeDocument/2006/math">
                    <m:r>
                      <a:rPr lang="zh-CN" altLang="en-US" i="1" dirty="0" smtClean="0">
                        <a:latin typeface="Cambria Math" panose="02040503050406030204" pitchFamily="18" charset="0"/>
                      </a:rPr>
                      <m:t>𝐷𝐼</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en-US" altLang="zh-CN" i="1" dirty="0" smtClean="0">
                            <a:latin typeface="Cambria Math" panose="02040503050406030204" pitchFamily="18" charset="0"/>
                          </a:rPr>
                          <m:t>1</m:t>
                        </m:r>
                      </m:sub>
                    </m:sSub>
                  </m:oMath>
                </a14:m>
                <a:endParaRPr lang="en-US" altLang="zh-CN" dirty="0"/>
              </a:p>
              <a:p>
                <a:r>
                  <a:rPr lang="en-US" altLang="zh-CN" dirty="0"/>
                  <a:t>Stata </a:t>
                </a:r>
                <a:r>
                  <a:rPr lang="zh-CN" altLang="en-US" dirty="0"/>
                  <a:t>命令：</a:t>
                </a:r>
                <a:r>
                  <a:rPr lang="en-US" altLang="zh-CN" dirty="0" err="1"/>
                  <a:t>fuzzydid</a:t>
                </a:r>
                <a:r>
                  <a:rPr lang="en-US" altLang="zh-CN" dirty="0"/>
                  <a:t>, </a:t>
                </a:r>
                <a:r>
                  <a:rPr lang="en-US" altLang="zh-CN" dirty="0" err="1"/>
                  <a:t>did_multiplegt</a:t>
                </a:r>
                <a:endParaRPr lang="zh-CN" altLang="en-US" dirty="0"/>
              </a:p>
            </p:txBody>
          </p:sp>
        </mc:Choice>
        <mc:Fallback xmlns="">
          <p:sp>
            <p:nvSpPr>
              <p:cNvPr id="3" name="内容占位符 2">
                <a:extLst>
                  <a:ext uri="{FF2B5EF4-FFF2-40B4-BE49-F238E27FC236}">
                    <a16:creationId xmlns:a16="http://schemas.microsoft.com/office/drawing/2014/main" id="{04981957-B05B-E8BB-CC00-368052D68E10}"/>
                  </a:ext>
                </a:extLst>
              </p:cNvPr>
              <p:cNvSpPr>
                <a:spLocks noGrp="1" noRot="1" noChangeAspect="1" noMove="1" noResize="1" noEditPoints="1" noAdjustHandles="1" noChangeArrowheads="1" noChangeShapeType="1" noTextEdit="1"/>
              </p:cNvSpPr>
              <p:nvPr>
                <p:ph idx="1"/>
              </p:nvPr>
            </p:nvSpPr>
            <p:spPr>
              <a:blipFill>
                <a:blip r:embed="rId2"/>
                <a:stretch>
                  <a:fillRect l="-1391"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CEE10A57-F19F-E916-4DB7-CE0B1E95151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B9D8371-1D49-176E-DF62-A6ED56345E14}"/>
              </a:ext>
            </a:extLst>
          </p:cNvPr>
          <p:cNvSpPr>
            <a:spLocks noGrp="1"/>
          </p:cNvSpPr>
          <p:nvPr>
            <p:ph type="sldNum" sz="quarter" idx="12"/>
          </p:nvPr>
        </p:nvSpPr>
        <p:spPr/>
        <p:txBody>
          <a:bodyPr/>
          <a:lstStyle/>
          <a:p>
            <a:fld id="{D41FC515-8169-4A29-AA56-DBE520D5741B}" type="slidenum">
              <a:rPr lang="zh-CN" altLang="en-US" smtClean="0"/>
              <a:t>71</a:t>
            </a:fld>
            <a:endParaRPr lang="zh-CN" altLang="en-US"/>
          </a:p>
        </p:txBody>
      </p:sp>
    </p:spTree>
    <p:extLst>
      <p:ext uri="{BB962C8B-B14F-4D97-AF65-F5344CB8AC3E}">
        <p14:creationId xmlns:p14="http://schemas.microsoft.com/office/powerpoint/2010/main" val="41876345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A2267-950F-27BB-04FF-434A68ACA412}"/>
              </a:ext>
            </a:extLst>
          </p:cNvPr>
          <p:cNvSpPr>
            <a:spLocks noGrp="1"/>
          </p:cNvSpPr>
          <p:nvPr>
            <p:ph type="title"/>
          </p:nvPr>
        </p:nvSpPr>
        <p:spPr/>
        <p:txBody>
          <a:bodyPr/>
          <a:lstStyle/>
          <a:p>
            <a:r>
              <a:rPr lang="en-US" altLang="zh-CN" dirty="0"/>
              <a:t>TWFE </a:t>
            </a:r>
            <a:r>
              <a:rPr lang="zh-CN" altLang="en-US" dirty="0"/>
              <a:t>在估计什么</a:t>
            </a:r>
            <a:br>
              <a:rPr lang="zh-CN" altLang="en-US" dirty="0"/>
            </a:br>
            <a:r>
              <a:rPr lang="en-US" altLang="zh-CN" sz="2400" dirty="0"/>
              <a:t>Goodman-Bacon(2021)</a:t>
            </a:r>
            <a:endParaRPr lang="zh-CN" altLang="en-US" sz="2400" dirty="0"/>
          </a:p>
        </p:txBody>
      </p:sp>
      <p:pic>
        <p:nvPicPr>
          <p:cNvPr id="7" name="内容占位符 6">
            <a:extLst>
              <a:ext uri="{FF2B5EF4-FFF2-40B4-BE49-F238E27FC236}">
                <a16:creationId xmlns:a16="http://schemas.microsoft.com/office/drawing/2014/main" id="{65AB9BFA-0CB1-9464-BA87-EC94BA532D90}"/>
              </a:ext>
            </a:extLst>
          </p:cNvPr>
          <p:cNvPicPr>
            <a:picLocks noGrp="1" noChangeAspect="1"/>
          </p:cNvPicPr>
          <p:nvPr>
            <p:ph idx="1"/>
          </p:nvPr>
        </p:nvPicPr>
        <p:blipFill>
          <a:blip r:embed="rId2"/>
          <a:stretch>
            <a:fillRect/>
          </a:stretch>
        </p:blipFill>
        <p:spPr>
          <a:xfrm>
            <a:off x="1593277" y="1825625"/>
            <a:ext cx="5957445" cy="4351338"/>
          </a:xfrm>
          <a:prstGeom prst="rect">
            <a:avLst/>
          </a:prstGeom>
        </p:spPr>
      </p:pic>
      <p:sp>
        <p:nvSpPr>
          <p:cNvPr id="4" name="页脚占位符 3">
            <a:extLst>
              <a:ext uri="{FF2B5EF4-FFF2-40B4-BE49-F238E27FC236}">
                <a16:creationId xmlns:a16="http://schemas.microsoft.com/office/drawing/2014/main" id="{72CBF8AF-5ADC-2DB5-3F67-66714BC359C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7E62A16-93EF-3FDA-4BB3-495B91AC6945}"/>
              </a:ext>
            </a:extLst>
          </p:cNvPr>
          <p:cNvSpPr>
            <a:spLocks noGrp="1"/>
          </p:cNvSpPr>
          <p:nvPr>
            <p:ph type="sldNum" sz="quarter" idx="12"/>
          </p:nvPr>
        </p:nvSpPr>
        <p:spPr/>
        <p:txBody>
          <a:bodyPr/>
          <a:lstStyle/>
          <a:p>
            <a:fld id="{D41FC515-8169-4A29-AA56-DBE520D5741B}" type="slidenum">
              <a:rPr lang="zh-CN" altLang="en-US" smtClean="0"/>
              <a:t>72</a:t>
            </a:fld>
            <a:endParaRPr lang="zh-CN" altLang="en-US"/>
          </a:p>
        </p:txBody>
      </p:sp>
    </p:spTree>
    <p:extLst>
      <p:ext uri="{BB962C8B-B14F-4D97-AF65-F5344CB8AC3E}">
        <p14:creationId xmlns:p14="http://schemas.microsoft.com/office/powerpoint/2010/main" val="327629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935D0D-D91B-8FE3-2420-71BE5D928373}"/>
              </a:ext>
            </a:extLst>
          </p:cNvPr>
          <p:cNvSpPr>
            <a:spLocks noGrp="1"/>
          </p:cNvSpPr>
          <p:nvPr>
            <p:ph type="title"/>
          </p:nvPr>
        </p:nvSpPr>
        <p:spPr/>
        <p:txBody>
          <a:bodyPr/>
          <a:lstStyle/>
          <a:p>
            <a:r>
              <a:rPr lang="en-US" altLang="zh-CN" dirty="0"/>
              <a:t>TWFE </a:t>
            </a:r>
            <a:r>
              <a:rPr lang="zh-CN" altLang="en-US" dirty="0"/>
              <a:t>在估计什么</a:t>
            </a:r>
            <a:br>
              <a:rPr lang="zh-CN" altLang="en-US" dirty="0"/>
            </a:br>
            <a:r>
              <a:rPr lang="en-US" altLang="zh-CN" sz="2400" dirty="0"/>
              <a:t>Goodman-Bacon(2021)</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BA03954-B5F5-0576-98D0-D77B68606725}"/>
                  </a:ext>
                </a:extLst>
              </p:cNvPr>
              <p:cNvSpPr>
                <a:spLocks noGrp="1"/>
              </p:cNvSpPr>
              <p:nvPr>
                <p:ph idx="1"/>
              </p:nvPr>
            </p:nvSpPr>
            <p:spPr/>
            <p:txBody>
              <a:bodyPr>
                <a:normAutofit fontScale="47500" lnSpcReduction="20000"/>
              </a:bodyPr>
              <a:lstStyle/>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如果每组的因果效应𝐴𝑇 𝑇𝑘 不具有时变性，则权重均为正。</a:t>
                </a:r>
                <a:endParaRPr lang="en-US" altLang="zh-CN" dirty="0"/>
              </a:p>
              <a:p>
                <a:pPr>
                  <a:lnSpc>
                    <a:spcPct val="120000"/>
                  </a:lnSpc>
                </a:pPr>
                <a:r>
                  <a:rPr lang="zh-CN" altLang="en-US" dirty="0"/>
                  <a:t>如果因果效应存在时变性，权重将出现负值。原因在于第四种类型的对比，禁止比较</a:t>
                </a:r>
                <a:r>
                  <a:rPr lang="en-US" altLang="zh-CN" dirty="0"/>
                  <a:t>(forbidden comparison) </a:t>
                </a:r>
                <a:r>
                  <a:rPr lang="zh-CN" altLang="en-US" dirty="0"/>
                  <a:t>在因果效应存在时变性时，为：</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𝑝𝑜𝑠𝑡</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𝑙</m:t>
                              </m:r>
                            </m:e>
                          </m:d>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𝑘</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𝑝𝑜𝑠𝑡</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𝑙</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𝑘</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𝑚𝑖𝑑</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𝑘</m:t>
                                  </m:r>
                                  <m:r>
                                    <a:rPr lang="zh-CN" altLang="en-US" i="1" smtClean="0">
                                      <a:latin typeface="Cambria Math" panose="02040503050406030204" pitchFamily="18" charset="0"/>
                                    </a:rPr>
                                    <m:t>,</m:t>
                                  </m:r>
                                  <m:r>
                                    <a:rPr lang="zh-CN" altLang="en-US" i="1" smtClean="0">
                                      <a:latin typeface="Cambria Math" panose="02040503050406030204" pitchFamily="18" charset="0"/>
                                    </a:rPr>
                                    <m:t>𝑙</m:t>
                                  </m:r>
                                </m:e>
                              </m:d>
                            </m:e>
                          </m:d>
                        </m:e>
                      </m:d>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BBA03954-B5F5-0576-98D0-D77B6860672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F3ADE14-F5C0-DF45-64FB-437FE6670D8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8A377AF-291E-5360-BE2B-E79BA4DF5505}"/>
              </a:ext>
            </a:extLst>
          </p:cNvPr>
          <p:cNvSpPr>
            <a:spLocks noGrp="1"/>
          </p:cNvSpPr>
          <p:nvPr>
            <p:ph type="sldNum" sz="quarter" idx="12"/>
          </p:nvPr>
        </p:nvSpPr>
        <p:spPr/>
        <p:txBody>
          <a:bodyPr/>
          <a:lstStyle/>
          <a:p>
            <a:fld id="{D41FC515-8169-4A29-AA56-DBE520D5741B}" type="slidenum">
              <a:rPr lang="zh-CN" altLang="en-US" smtClean="0"/>
              <a:t>73</a:t>
            </a:fld>
            <a:endParaRPr lang="zh-CN" altLang="en-US"/>
          </a:p>
        </p:txBody>
      </p:sp>
      <p:pic>
        <p:nvPicPr>
          <p:cNvPr id="7" name="图片 6">
            <a:extLst>
              <a:ext uri="{FF2B5EF4-FFF2-40B4-BE49-F238E27FC236}">
                <a16:creationId xmlns:a16="http://schemas.microsoft.com/office/drawing/2014/main" id="{CA69B4D8-A8CC-F91D-2A87-13D9CDB5DEF9}"/>
              </a:ext>
            </a:extLst>
          </p:cNvPr>
          <p:cNvPicPr>
            <a:picLocks noChangeAspect="1"/>
          </p:cNvPicPr>
          <p:nvPr/>
        </p:nvPicPr>
        <p:blipFill>
          <a:blip r:embed="rId3"/>
          <a:stretch>
            <a:fillRect/>
          </a:stretch>
        </p:blipFill>
        <p:spPr>
          <a:xfrm>
            <a:off x="920416" y="1556986"/>
            <a:ext cx="7134726" cy="3052756"/>
          </a:xfrm>
          <a:prstGeom prst="rect">
            <a:avLst/>
          </a:prstGeom>
        </p:spPr>
      </p:pic>
    </p:spTree>
    <p:extLst>
      <p:ext uri="{BB962C8B-B14F-4D97-AF65-F5344CB8AC3E}">
        <p14:creationId xmlns:p14="http://schemas.microsoft.com/office/powerpoint/2010/main" val="35117003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8DC6-1354-246E-203B-A970FA8AC968}"/>
              </a:ext>
            </a:extLst>
          </p:cNvPr>
          <p:cNvSpPr>
            <a:spLocks noGrp="1"/>
          </p:cNvSpPr>
          <p:nvPr>
            <p:ph type="title"/>
          </p:nvPr>
        </p:nvSpPr>
        <p:spPr/>
        <p:txBody>
          <a:bodyPr/>
          <a:lstStyle/>
          <a:p>
            <a:r>
              <a:rPr lang="en-US" altLang="zh-CN" dirty="0"/>
              <a:t>TWFE </a:t>
            </a:r>
            <a:r>
              <a:rPr lang="zh-CN" altLang="en-US" dirty="0"/>
              <a:t>在估计什么</a:t>
            </a:r>
            <a:br>
              <a:rPr lang="zh-CN" altLang="en-US" dirty="0"/>
            </a:br>
            <a:r>
              <a:rPr lang="en-US" altLang="zh-CN" sz="2400" dirty="0"/>
              <a:t>Goodman-Bacon(2021)</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DA22F9E-7652-8C86-345E-2254A021C14A}"/>
                  </a:ext>
                </a:extLst>
              </p:cNvPr>
              <p:cNvSpPr>
                <a:spLocks noGrp="1"/>
              </p:cNvSpPr>
              <p:nvPr>
                <p:ph idx="1"/>
              </p:nvPr>
            </p:nvSpPr>
            <p:spPr/>
            <p:txBody>
              <a:bodyPr>
                <a:normAutofit/>
              </a:bodyPr>
              <a:lstStyle/>
              <a:p>
                <a:r>
                  <a:rPr lang="en-US" altLang="zh-CN" sz="1600" dirty="0"/>
                  <a:t>Goodman-bacon </a:t>
                </a:r>
                <a:r>
                  <a:rPr lang="zh-CN" altLang="en-US" sz="1600" dirty="0"/>
                  <a:t>分解定理：</a:t>
                </a:r>
                <a:endParaRPr lang="en-US" altLang="zh-CN" sz="1600" dirty="0"/>
              </a:p>
              <a:p>
                <a:pPr marL="0" indent="0">
                  <a:buNone/>
                </a:pPr>
                <a14:m>
                  <m:oMathPara xmlns:m="http://schemas.openxmlformats.org/officeDocument/2006/math">
                    <m:oMath>
                      <m:sSup>
                        <m:sSupPr>
                          <m:ctrlPr>
                            <a:rPr lang="zh-CN" altLang="en-US" sz="1600" i="1" smtClean="0">
                              <a:latin typeface="Cambria Math" panose="02040503050406030204" pitchFamily="18" charset="0"/>
                            </a:rPr>
                          </m:ctrlPr>
                        </m:s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p>
                          <m:r>
                            <a:rPr lang="zh-CN" altLang="en-US" sz="1600" i="1" smtClean="0">
                              <a:latin typeface="Cambria Math" panose="02040503050406030204" pitchFamily="18" charset="0"/>
                            </a:rPr>
                            <m:t>𝐷𝐷</m:t>
                          </m:r>
                        </m:sup>
                      </m:sSup>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𝑘𝑈</m:t>
                              </m:r>
                            </m:sub>
                          </m:sSub>
                        </m:e>
                      </m:nary>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𝑘𝑈</m:t>
                          </m:r>
                        </m:sub>
                        <m:sup>
                          <m:r>
                            <a:rPr lang="zh-CN" altLang="en-US" sz="1600" i="1" smtClean="0">
                              <a:latin typeface="Cambria Math" panose="02040503050406030204" pitchFamily="18" charset="0"/>
                            </a:rPr>
                            <m:t>2×2</m:t>
                          </m:r>
                        </m:sup>
                      </m:sSubSup>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&gt;</m:t>
                              </m:r>
                              <m:r>
                                <a:rPr lang="zh-CN" altLang="en-US" sz="1600" i="1" smtClean="0">
                                  <a:latin typeface="Cambria Math" panose="02040503050406030204" pitchFamily="18" charset="0"/>
                                </a:rPr>
                                <m:t>𝑘</m:t>
                              </m:r>
                            </m:sub>
                            <m:sup/>
                            <m:e>
                              <m:d>
                                <m:dPr>
                                  <m:begChr m:val="["/>
                                  <m:endChr m:val="]"/>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𝑘</m:t>
                                      </m:r>
                                    </m:sup>
                                  </m:sSubSup>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2×2,</m:t>
                                      </m:r>
                                      <m:r>
                                        <a:rPr lang="zh-CN" altLang="en-US" sz="1600" i="1" smtClean="0">
                                          <a:latin typeface="Cambria Math" panose="02040503050406030204" pitchFamily="18" charset="0"/>
                                        </a:rPr>
                                        <m:t>𝑘</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𝑙</m:t>
                                      </m:r>
                                    </m:sup>
                                  </m:sSubSup>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2×2,</m:t>
                                      </m:r>
                                      <m:r>
                                        <a:rPr lang="zh-CN" altLang="en-US" sz="1600" i="1" smtClean="0">
                                          <a:latin typeface="Cambria Math" panose="02040503050406030204" pitchFamily="18" charset="0"/>
                                        </a:rPr>
                                        <m:t>𝑙</m:t>
                                      </m:r>
                                    </m:sup>
                                  </m:sSubSup>
                                </m:e>
                              </m:d>
                            </m:e>
                          </m:nary>
                        </m:e>
                      </m:nary>
                      <m:r>
                        <a:rPr lang="zh-CN" altLang="en-US" sz="1600" i="1" smtClean="0">
                          <a:latin typeface="Cambria Math" panose="02040503050406030204" pitchFamily="18" charset="0"/>
                        </a:rPr>
                        <m:t>,</m:t>
                      </m:r>
                    </m:oMath>
                  </m:oMathPara>
                </a14:m>
                <a:endParaRPr lang="en-US" altLang="zh-CN" sz="1600" dirty="0"/>
              </a:p>
              <a:p>
                <a:pPr marL="0" indent="0">
                  <a:buNone/>
                </a:pPr>
                <a:r>
                  <a:rPr lang="zh-CN" altLang="en-US" sz="1600" dirty="0"/>
                  <a:t>其中</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r>
                            <m:rPr>
                              <m:aln/>
                            </m:rPr>
                            <a:rPr lang="zh-CN" altLang="en-US" sz="1600" i="1" smtClean="0">
                              <a:latin typeface="Cambria Math" panose="02040503050406030204" pitchFamily="18" charset="0"/>
                            </a:rPr>
                            <m:t>&amp;</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𝑘𝑈</m:t>
                              </m:r>
                            </m:sub>
                            <m:sup>
                              <m:r>
                                <a:rPr lang="zh-CN" altLang="en-US" sz="1600" i="1" smtClean="0">
                                  <a:latin typeface="Cambria Math" panose="02040503050406030204" pitchFamily="18" charset="0"/>
                                </a:rPr>
                                <m:t>2×2</m:t>
                              </m:r>
                            </m:sup>
                          </m:sSubSup>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e>
                          </m:d>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𝑈</m:t>
                                  </m:r>
                                </m:sub>
                                <m:sup>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𝑈</m:t>
                                  </m:r>
                                </m:sub>
                                <m:sup>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e>
                          </m:d>
                          <m:r>
                            <a:rPr lang="zh-CN" altLang="en-US" sz="1600" i="1" smtClean="0">
                              <a:latin typeface="Cambria Math" panose="02040503050406030204" pitchFamily="18" charset="0"/>
                            </a:rPr>
                            <m:t>,</m:t>
                          </m:r>
                        </m:e>
                        <m:e>
                          <m:r>
                            <m:rPr>
                              <m:aln/>
                            </m:rPr>
                            <a:rPr lang="zh-CN" altLang="en-US" sz="1600" i="1" smtClean="0">
                              <a:latin typeface="Cambria Math" panose="02040503050406030204" pitchFamily="18" charset="0"/>
                            </a:rPr>
                            <m:t>&amp;</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2×2,</m:t>
                              </m:r>
                              <m:r>
                                <a:rPr lang="zh-CN" altLang="en-US" sz="1600" i="1" smtClean="0">
                                  <a:latin typeface="Cambria Math" panose="02040503050406030204" pitchFamily="18" charset="0"/>
                                </a:rPr>
                                <m:t>𝑘</m:t>
                              </m:r>
                            </m:sup>
                          </m:sSubSup>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e>
                          </m:d>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sup>
                              </m:sSubSup>
                            </m:e>
                          </m:d>
                          <m:r>
                            <a:rPr lang="zh-CN" altLang="en-US" sz="1600" i="1" smtClean="0">
                              <a:latin typeface="Cambria Math" panose="02040503050406030204" pitchFamily="18" charset="0"/>
                            </a:rPr>
                            <m:t>,</m:t>
                          </m:r>
                        </m:e>
                        <m:e>
                          <m:r>
                            <m:rPr>
                              <m:aln/>
                            </m:rPr>
                            <a:rPr lang="zh-CN" altLang="en-US" sz="1600" i="1" smtClean="0">
                              <a:latin typeface="Cambria Math" panose="02040503050406030204" pitchFamily="18" charset="0"/>
                            </a:rPr>
                            <m:t>&amp;</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2×2,</m:t>
                              </m:r>
                              <m:r>
                                <a:rPr lang="zh-CN" altLang="en-US" sz="1600" i="1" smtClean="0">
                                  <a:latin typeface="Cambria Math" panose="02040503050406030204" pitchFamily="18" charset="0"/>
                                </a:rPr>
                                <m:t>𝑙</m:t>
                              </m:r>
                            </m:sup>
                          </m:sSubSup>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sup>
                              </m:sSubSup>
                            </m:e>
                          </m:d>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bar>
                                    <m:barPr>
                                      <m:pos m:val="top"/>
                                      <m:ctrlPr>
                                        <a:rPr lang="zh-CN" altLang="en-US" sz="1600" i="1" smtClean="0">
                                          <a:latin typeface="Cambria Math" panose="02040503050406030204" pitchFamily="18" charset="0"/>
                                        </a:rPr>
                                      </m:ctrlPr>
                                    </m:barPr>
                                    <m:e>
                                      <m:r>
                                        <a:rPr lang="zh-CN" altLang="en-US" sz="1600" i="1" smtClean="0">
                                          <a:latin typeface="Cambria Math" panose="02040503050406030204" pitchFamily="18" charset="0"/>
                                        </a:rPr>
                                        <m:t>𝑦</m:t>
                                      </m:r>
                                    </m:e>
                                  </m:ba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sup>
                              </m:sSubSup>
                            </m:e>
                          </m:d>
                          <m:r>
                            <a:rPr lang="zh-CN" altLang="en-US" sz="1600" i="1" smtClean="0">
                              <a:latin typeface="Cambria Math" panose="02040503050406030204" pitchFamily="18" charset="0"/>
                            </a:rPr>
                            <m:t>.</m:t>
                          </m:r>
                        </m:e>
                      </m:eqArr>
                    </m:oMath>
                  </m:oMathPara>
                </a14:m>
                <a:endParaRPr lang="en-US" altLang="zh-CN" sz="1600" dirty="0"/>
              </a:p>
              <a:p>
                <a:pPr marL="0" indent="0">
                  <a:buNone/>
                </a:pPr>
                <a:r>
                  <a:rPr lang="zh-CN" altLang="en-US" sz="1600" dirty="0"/>
                  <a:t>权重满足</a:t>
                </a:r>
                <a:endParaRPr lang="en-US" altLang="zh-CN" sz="1600" dirty="0"/>
              </a:p>
              <a:p>
                <a:pPr marL="0" indent="0">
                  <a:buNone/>
                </a:pPr>
                <a14:m>
                  <m:oMathPara xmlns:m="http://schemas.openxmlformats.org/officeDocument/2006/math">
                    <m:oMath>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𝑘𝑈</m:t>
                              </m:r>
                            </m:sub>
                          </m:sSub>
                        </m:e>
                      </m:nary>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&gt;</m:t>
                              </m:r>
                              <m:r>
                                <a:rPr lang="zh-CN" altLang="en-US" sz="1600" i="1" smtClean="0">
                                  <a:latin typeface="Cambria Math" panose="02040503050406030204" pitchFamily="18" charset="0"/>
                                </a:rPr>
                                <m:t>𝑘</m:t>
                              </m:r>
                            </m:sub>
                            <m:sup/>
                            <m:e>
                              <m:d>
                                <m:dPr>
                                  <m:begChr m:val="["/>
                                  <m:endChr m:val="]"/>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𝑘</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𝑠</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𝑙</m:t>
                                      </m:r>
                                    </m:sup>
                                  </m:sSubSup>
                                </m:e>
                              </m:d>
                            </m:e>
                          </m:nary>
                        </m:e>
                      </m:nary>
                      <m:r>
                        <a:rPr lang="zh-CN" altLang="en-US" sz="1600" i="1" smtClean="0">
                          <a:latin typeface="Cambria Math" panose="02040503050406030204" pitchFamily="18" charset="0"/>
                        </a:rPr>
                        <m:t>=1.</m:t>
                      </m:r>
                    </m:oMath>
                  </m:oMathPara>
                </a14:m>
                <a:endParaRPr lang="en-US" altLang="zh-CN" sz="1600" dirty="0"/>
              </a:p>
              <a:p>
                <a:pPr marL="0" indent="0">
                  <a:buNone/>
                </a:pPr>
                <a:r>
                  <a:rPr lang="zh-CN" altLang="en-US" sz="1600" dirty="0"/>
                  <a:t>坏的对比</a:t>
                </a:r>
                <a:r>
                  <a:rPr lang="en-US" altLang="zh-CN" sz="1600" dirty="0"/>
                  <a:t>(bad comparison)</a:t>
                </a:r>
                <a:r>
                  <a:rPr lang="zh-CN" altLang="en-US" sz="1600" dirty="0"/>
                  <a:t>的估计值</a:t>
                </a:r>
                <a14:m>
                  <m:oMath xmlns:m="http://schemas.openxmlformats.org/officeDocument/2006/math">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𝛽</m:t>
                            </m:r>
                          </m:e>
                        </m:acc>
                      </m:e>
                      <m:sub>
                        <m:r>
                          <a:rPr lang="en-US" altLang="zh-CN" sz="1600" b="0" i="1" dirty="0" smtClean="0">
                            <a:latin typeface="Cambria Math" panose="02040503050406030204" pitchFamily="18" charset="0"/>
                          </a:rPr>
                          <m:t>𝑘𝑙</m:t>
                        </m:r>
                      </m:sub>
                      <m:sup>
                        <m:r>
                          <a:rPr lang="en-US" altLang="zh-CN" sz="1600" b="0" i="1" dirty="0" smtClean="0">
                            <a:latin typeface="Cambria Math" panose="02040503050406030204" pitchFamily="18" charset="0"/>
                          </a:rPr>
                          <m:t>2</m:t>
                        </m:r>
                        <m:r>
                          <a:rPr lang="en-US" altLang="zh-CN" sz="1600" i="1" dirty="0">
                            <a:latin typeface="Cambria Math" panose="02040503050406030204" pitchFamily="18" charset="0"/>
                          </a:rPr>
                          <m:t>×2,</m:t>
                        </m:r>
                        <m:r>
                          <a:rPr lang="en-US" altLang="zh-CN" sz="1600" i="1" dirty="0">
                            <a:latin typeface="Cambria Math" panose="02040503050406030204" pitchFamily="18" charset="0"/>
                          </a:rPr>
                          <m:t>𝑙</m:t>
                        </m:r>
                      </m:sup>
                    </m:sSubSup>
                  </m:oMath>
                </a14:m>
                <a:r>
                  <a:rPr lang="zh-CN" altLang="en-US" sz="1600" dirty="0"/>
                  <a:t>其权重为</a:t>
                </a:r>
                <a14:m>
                  <m:oMath xmlns:m="http://schemas.openxmlformats.org/officeDocument/2006/math">
                    <m:sSubSup>
                      <m:sSubSupPr>
                        <m:ctrlPr>
                          <a:rPr lang="en-US" altLang="zh-CN" sz="1600" i="1" dirty="0" smtClean="0">
                            <a:latin typeface="Cambria Math" panose="02040503050406030204" pitchFamily="18" charset="0"/>
                          </a:rPr>
                        </m:ctrlPr>
                      </m:sSubSupPr>
                      <m:e>
                        <m:r>
                          <a:rPr lang="en-US" altLang="zh-CN" sz="1600" i="1" dirty="0" smtClean="0">
                            <a:latin typeface="Cambria Math" panose="02040503050406030204" pitchFamily="18" charset="0"/>
                          </a:rPr>
                          <m:t>𝑠</m:t>
                        </m:r>
                      </m:e>
                      <m:sub>
                        <m:r>
                          <a:rPr lang="en-US" altLang="zh-CN" sz="1600" i="1" dirty="0" smtClean="0">
                            <a:latin typeface="Cambria Math" panose="02040503050406030204" pitchFamily="18" charset="0"/>
                          </a:rPr>
                          <m:t>𝑘𝑙</m:t>
                        </m:r>
                      </m:sub>
                      <m:sup>
                        <m:r>
                          <a:rPr lang="en-US" altLang="zh-CN" sz="1600" i="1" dirty="0" err="1">
                            <a:latin typeface="Cambria Math" panose="02040503050406030204" pitchFamily="18" charset="0"/>
                          </a:rPr>
                          <m:t>𝑙</m:t>
                        </m:r>
                      </m:sup>
                    </m:sSubSup>
                  </m:oMath>
                </a14:m>
                <a:r>
                  <a:rPr lang="zh-CN" altLang="en-US" sz="1600" dirty="0"/>
                  <a:t>，是对早期干预组</a:t>
                </a:r>
                <a14:m>
                  <m:oMath xmlns:m="http://schemas.openxmlformats.org/officeDocument/2006/math">
                    <m:r>
                      <a:rPr lang="en-US" altLang="zh-CN" sz="1600" i="1" dirty="0" smtClean="0">
                        <a:latin typeface="Cambria Math" panose="02040503050406030204" pitchFamily="18" charset="0"/>
                      </a:rPr>
                      <m:t>𝑘</m:t>
                    </m:r>
                  </m:oMath>
                </a14:m>
                <a:r>
                  <a:rPr lang="zh-CN" altLang="en-US" sz="1600" dirty="0"/>
                  <a:t>组作为控制组的，若其权重很小，则</a:t>
                </a:r>
                <a:r>
                  <a:rPr lang="en-US" altLang="zh-CN" sz="1600" dirty="0"/>
                  <a:t>TWFE</a:t>
                </a:r>
                <a:r>
                  <a:rPr lang="zh-CN" altLang="en-US" sz="1600" dirty="0"/>
                  <a:t>估计量偏差比较小，仍然可以使用，否则偏差太大，不能使用。</a:t>
                </a:r>
              </a:p>
            </p:txBody>
          </p:sp>
        </mc:Choice>
        <mc:Fallback xmlns="">
          <p:sp>
            <p:nvSpPr>
              <p:cNvPr id="3" name="内容占位符 2">
                <a:extLst>
                  <a:ext uri="{FF2B5EF4-FFF2-40B4-BE49-F238E27FC236}">
                    <a16:creationId xmlns:a16="http://schemas.microsoft.com/office/drawing/2014/main" id="{8DA22F9E-7652-8C86-345E-2254A021C14A}"/>
                  </a:ext>
                </a:extLst>
              </p:cNvPr>
              <p:cNvSpPr>
                <a:spLocks noGrp="1" noRot="1" noChangeAspect="1" noMove="1" noResize="1" noEditPoints="1" noAdjustHandles="1" noChangeArrowheads="1" noChangeShapeType="1" noTextEdit="1"/>
              </p:cNvSpPr>
              <p:nvPr>
                <p:ph idx="1"/>
              </p:nvPr>
            </p:nvSpPr>
            <p:spPr>
              <a:blipFill>
                <a:blip r:embed="rId2"/>
                <a:stretch>
                  <a:fillRect l="-386" t="-420" b="-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4BE4E99-CB09-8D40-BB42-429287FFFA6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DD9ECF0-03CE-C876-D56F-FE2706D01C49}"/>
              </a:ext>
            </a:extLst>
          </p:cNvPr>
          <p:cNvSpPr>
            <a:spLocks noGrp="1"/>
          </p:cNvSpPr>
          <p:nvPr>
            <p:ph type="sldNum" sz="quarter" idx="12"/>
          </p:nvPr>
        </p:nvSpPr>
        <p:spPr/>
        <p:txBody>
          <a:bodyPr/>
          <a:lstStyle/>
          <a:p>
            <a:fld id="{D41FC515-8169-4A29-AA56-DBE520D5741B}" type="slidenum">
              <a:rPr lang="zh-CN" altLang="en-US" smtClean="0"/>
              <a:t>74</a:t>
            </a:fld>
            <a:endParaRPr lang="zh-CN" altLang="en-US"/>
          </a:p>
        </p:txBody>
      </p:sp>
    </p:spTree>
    <p:extLst>
      <p:ext uri="{BB962C8B-B14F-4D97-AF65-F5344CB8AC3E}">
        <p14:creationId xmlns:p14="http://schemas.microsoft.com/office/powerpoint/2010/main" val="33361043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C1271-1E66-4AA3-F8A5-311786E76E3F}"/>
              </a:ext>
            </a:extLst>
          </p:cNvPr>
          <p:cNvSpPr>
            <a:spLocks noGrp="1"/>
          </p:cNvSpPr>
          <p:nvPr>
            <p:ph type="title"/>
          </p:nvPr>
        </p:nvSpPr>
        <p:spPr/>
        <p:txBody>
          <a:bodyPr/>
          <a:lstStyle/>
          <a:p>
            <a:r>
              <a:rPr lang="en-US" altLang="zh-CN" dirty="0"/>
              <a:t>TWFE </a:t>
            </a:r>
            <a:r>
              <a:rPr lang="zh-CN" altLang="en-US" dirty="0"/>
              <a:t>在估计什么</a:t>
            </a:r>
            <a:br>
              <a:rPr lang="zh-CN" altLang="en-US" dirty="0"/>
            </a:br>
            <a:r>
              <a:rPr lang="en-US" altLang="zh-CN" sz="2400" dirty="0"/>
              <a:t>Goodman-Bacon(2021)</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9C3B61-219D-06E9-254C-4CD9516276E6}"/>
                  </a:ext>
                </a:extLst>
              </p:cNvPr>
              <p:cNvSpPr>
                <a:spLocks noGrp="1"/>
              </p:cNvSpPr>
              <p:nvPr>
                <p:ph idx="1"/>
              </p:nvPr>
            </p:nvSpPr>
            <p:spPr/>
            <p:txBody>
              <a:bodyPr>
                <a:normAutofit/>
              </a:bodyPr>
              <a:lstStyle/>
              <a:p>
                <a:r>
                  <a:rPr lang="en-US" altLang="zh-CN" sz="1600" dirty="0"/>
                  <a:t>TWFE </a:t>
                </a:r>
                <a:r>
                  <a:rPr lang="zh-CN" altLang="en-US" sz="1600" dirty="0"/>
                  <a:t>一般情况下不能解释为因果效应，</a:t>
                </a:r>
                <a:r>
                  <a:rPr lang="en-US" altLang="zh-CN" sz="1600" dirty="0"/>
                  <a:t>Goodman-Bacon(2021</a:t>
                </a:r>
                <a:r>
                  <a:rPr lang="zh-CN" altLang="en-US" sz="1600" dirty="0"/>
                  <a:t>）证明</a:t>
                </a:r>
                <a:endParaRPr lang="en-US" altLang="zh-CN" sz="1600" dirty="0"/>
              </a:p>
              <a:p>
                <a14:m>
                  <m:oMath xmlns:m="http://schemas.openxmlformats.org/officeDocument/2006/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𝑉𝑊𝐴𝑇𝑇</m:t>
                        </m:r>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𝑘𝑈</m:t>
                                </m:r>
                              </m:sub>
                            </m:sSub>
                          </m:e>
                        </m:nary>
                        <m:r>
                          <a:rPr lang="zh-CN" altLang="en-US" sz="1600" i="1" smtClean="0">
                            <a:latin typeface="Cambria Math" panose="02040503050406030204" pitchFamily="18" charset="0"/>
                          </a:rPr>
                          <m:t>𝐴𝑇</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𝑘</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e>
                        </m:d>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&gt;</m:t>
                                </m:r>
                                <m:r>
                                  <a:rPr lang="zh-CN" altLang="en-US" sz="1600" i="1" smtClean="0">
                                    <a:latin typeface="Cambria Math" panose="02040503050406030204" pitchFamily="18" charset="0"/>
                                  </a:rPr>
                                  <m:t>𝑘</m:t>
                                </m:r>
                              </m:sub>
                              <m:sup/>
                              <m:e>
                                <m:r>
                                  <a:rPr lang="zh-CN" altLang="en-US" sz="1600" i="1" smtClean="0">
                                    <a:latin typeface="Cambria Math" panose="02040503050406030204" pitchFamily="18" charset="0"/>
                                  </a:rPr>
                                  <m:t>[</m:t>
                                </m:r>
                              </m:e>
                            </m:nary>
                          </m:e>
                        </m:nary>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𝑘</m:t>
                            </m:r>
                          </m:sup>
                        </m:sSubSup>
                        <m:r>
                          <a:rPr lang="zh-CN" altLang="en-US" sz="1600" i="1" smtClean="0">
                            <a:latin typeface="Cambria Math" panose="02040503050406030204" pitchFamily="18" charset="0"/>
                          </a:rPr>
                          <m:t>𝐴𝑇</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𝑘</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𝑙</m:t>
                            </m:r>
                          </m:sup>
                        </m:sSubSup>
                        <m:r>
                          <a:rPr lang="zh-CN" altLang="en-US" sz="1600" i="1" smtClean="0">
                            <a:latin typeface="Cambria Math" panose="02040503050406030204" pitchFamily="18" charset="0"/>
                          </a:rPr>
                          <m:t>𝐴𝑇</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𝑙</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e>
                        </m:d>
                        <m:r>
                          <a:rPr lang="zh-CN" altLang="en-US" sz="1600" i="1" smtClean="0">
                            <a:latin typeface="Cambria Math" panose="02040503050406030204" pitchFamily="18" charset="0"/>
                          </a:rPr>
                          <m:t>].</m:t>
                        </m:r>
                      </m:e>
                      <m:e>
                        <m:r>
                          <a:rPr lang="zh-CN" altLang="en-US" sz="1600" i="1" smtClean="0">
                            <a:latin typeface="Cambria Math" panose="02040503050406030204" pitchFamily="18" charset="0"/>
                          </a:rPr>
                          <m:t>𝑉𝑊𝐶𝑇</m:t>
                        </m:r>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𝑘𝑈</m:t>
                                </m:r>
                              </m:sub>
                            </m:sSub>
                          </m:e>
                        </m:nary>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e>
                            </m:d>
                            <m:r>
                              <a:rPr lang="zh-CN" altLang="en-US" sz="1600" i="1" smtClean="0">
                                <a:latin typeface="Cambria Math" panose="02040503050406030204" pitchFamily="18" charset="0"/>
                              </a:rPr>
                              <m:t>−</m:t>
                            </m:r>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𝑈</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e>
                            </m:d>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&gt;</m:t>
                                </m:r>
                                <m:r>
                                  <a:rPr lang="zh-CN" altLang="en-US" sz="1600" i="1" smtClean="0">
                                    <a:latin typeface="Cambria Math" panose="02040503050406030204" pitchFamily="18" charset="0"/>
                                  </a:rPr>
                                  <m:t>𝑘</m:t>
                                </m:r>
                              </m:sub>
                              <m:sup/>
                              <m:e>
                                <m:r>
                                  <a:rPr lang="zh-CN" altLang="en-US" sz="1600" i="1" smtClean="0">
                                    <a:latin typeface="Cambria Math" panose="02040503050406030204" pitchFamily="18" charset="0"/>
                                  </a:rPr>
                                  <m:t>[</m:t>
                                </m:r>
                              </m:e>
                            </m:nary>
                          </m:e>
                        </m:nary>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𝑘</m:t>
                            </m:r>
                          </m:sup>
                        </m:sSubSup>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e>
                            </m:d>
                            <m:r>
                              <a:rPr lang="zh-CN" altLang="en-US" sz="1600" i="1" smtClean="0">
                                <a:latin typeface="Cambria Math" panose="02040503050406030204" pitchFamily="18" charset="0"/>
                              </a:rPr>
                              <m:t>−</m:t>
                            </m:r>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𝑃𝑅𝐸</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e>
                                </m:d>
                              </m:e>
                            </m:d>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𝑙</m:t>
                            </m:r>
                          </m:sup>
                        </m:sSubSup>
                        <m:d>
                          <m:dPr>
                            <m:begChr m:val="{"/>
                            <m:endChr m:val="}"/>
                            <m:ctrlPr>
                              <a:rPr lang="zh-CN" altLang="en-US" sz="1600" i="1" smtClean="0">
                                <a:latin typeface="Cambria Math" panose="02040503050406030204" pitchFamily="18" charset="0"/>
                              </a:rPr>
                            </m:ctrlPr>
                          </m:dPr>
                          <m:e>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𝑙</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e>
                            </m:d>
                            <m:r>
                              <a:rPr lang="zh-CN" altLang="en-US" sz="1600" i="1" smtClean="0">
                                <a:latin typeface="Cambria Math" panose="02040503050406030204" pitchFamily="18" charset="0"/>
                              </a:rPr>
                              <m:t>−</m:t>
                            </m:r>
                            <m:r>
                              <m:rPr>
                                <m:sty m:val="p"/>
                              </m:rPr>
                              <a:rPr lang="zh-CN" altLang="en-US" sz="1600" i="1" smtClean="0">
                                <a:latin typeface="Cambria Math" panose="02040503050406030204" pitchFamily="18" charset="0"/>
                              </a:rPr>
                              <m:t>Δ</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𝑘</m:t>
                                </m:r>
                              </m:sub>
                              <m:sup>
                                <m:r>
                                  <a:rPr lang="zh-CN" altLang="en-US" sz="1600" i="1" smtClean="0">
                                    <a:latin typeface="Cambria Math" panose="02040503050406030204" pitchFamily="18" charset="0"/>
                                  </a:rPr>
                                  <m:t>0</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e>
                            </m:d>
                          </m:e>
                        </m:d>
                        <m:r>
                          <a:rPr lang="zh-CN" altLang="en-US" sz="1600" i="1" smtClean="0">
                            <a:latin typeface="Cambria Math" panose="02040503050406030204" pitchFamily="18" charset="0"/>
                          </a:rPr>
                          <m:t>].</m:t>
                        </m:r>
                      </m:e>
                      <m:e>
                        <m:r>
                          <m:rPr>
                            <m:sty m:val="p"/>
                          </m:rPr>
                          <a:rPr lang="zh-CN" altLang="en-US" sz="1600" i="1" smtClean="0">
                            <a:latin typeface="Cambria Math" panose="02040503050406030204" pitchFamily="18" charset="0"/>
                          </a:rPr>
                          <m:t>Δ</m:t>
                        </m:r>
                        <m:r>
                          <a:rPr lang="zh-CN" altLang="en-US" sz="1600" i="1" smtClean="0">
                            <a:latin typeface="Cambria Math" panose="02040503050406030204" pitchFamily="18" charset="0"/>
                          </a:rPr>
                          <m:t>𝐴𝑇𝑇</m:t>
                        </m:r>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𝑈</m:t>
                            </m:r>
                          </m:sub>
                          <m:sup/>
                          <m:e>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𝑙</m:t>
                                </m:r>
                                <m:r>
                                  <a:rPr lang="zh-CN" altLang="en-US" sz="1600" i="1" smtClean="0">
                                    <a:latin typeface="Cambria Math" panose="02040503050406030204" pitchFamily="18" charset="0"/>
                                  </a:rPr>
                                  <m:t>&gt;</m:t>
                                </m:r>
                                <m:r>
                                  <a:rPr lang="zh-CN" altLang="en-US" sz="1600" i="1" smtClean="0">
                                    <a:latin typeface="Cambria Math" panose="02040503050406030204" pitchFamily="18" charset="0"/>
                                  </a:rPr>
                                  <m:t>𝑘</m:t>
                                </m:r>
                              </m:sub>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𝑘𝑙</m:t>
                                    </m:r>
                                  </m:sub>
                                  <m:sup>
                                    <m:r>
                                      <a:rPr lang="zh-CN" altLang="en-US" sz="1600" i="1" smtClean="0">
                                        <a:latin typeface="Cambria Math" panose="02040503050406030204" pitchFamily="18" charset="0"/>
                                      </a:rPr>
                                      <m:t>𝑙</m:t>
                                    </m:r>
                                  </m:sup>
                                </m:sSubSup>
                              </m:e>
                            </m:nary>
                          </m:e>
                        </m:nary>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𝐴𝑇</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𝑘</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𝑃𝑂𝑆𝑇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𝑙</m:t>
                                    </m:r>
                                  </m:e>
                                </m:d>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𝐴𝑇</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𝑘</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𝑀𝐼𝐷</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𝑘</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𝑙</m:t>
                                    </m:r>
                                  </m:e>
                                </m:d>
                              </m:e>
                            </m:d>
                          </m:e>
                        </m:d>
                        <m:r>
                          <a:rPr lang="zh-CN" altLang="en-US" sz="1600" i="1" smtClean="0">
                            <a:latin typeface="Cambria Math" panose="02040503050406030204" pitchFamily="18" charset="0"/>
                          </a:rPr>
                          <m:t>.</m:t>
                        </m:r>
                      </m:e>
                    </m:eqArr>
                  </m:oMath>
                </a14:m>
                <a:endParaRPr lang="en-US" altLang="zh-CN" sz="1600" dirty="0"/>
              </a:p>
              <a:p>
                <a:r>
                  <a:rPr lang="zh-CN" altLang="en-US" sz="1600" dirty="0"/>
                  <a:t>𝑉𝑊𝐴𝑇𝑇 是方差加权的</a:t>
                </a:r>
                <a:r>
                  <a:rPr lang="en-US" altLang="zh-CN" sz="1600" dirty="0"/>
                  <a:t>ATT</a:t>
                </a:r>
                <a:r>
                  <a:rPr lang="zh-CN" altLang="en-US" sz="1600" dirty="0"/>
                  <a:t>，𝑉𝑊𝐶𝑇 是方差加权的平行趋势，在平行趋势假设下为零，</a:t>
                </a:r>
                <a:r>
                  <a:rPr lang="en-US" altLang="zh-CN" sz="1600" dirty="0"/>
                  <a:t>Δ</a:t>
                </a:r>
                <a:r>
                  <a:rPr lang="zh-CN" altLang="en-US" sz="1600" dirty="0"/>
                  <a:t>𝐴𝑇 𝑇反映的是时间异质性，若没有时间异质性，它也为零，此时𝑇𝑊𝐹 𝐸 </a:t>
                </a:r>
                <a:r>
                  <a:rPr lang="en-US" altLang="zh-CN" sz="1600" dirty="0"/>
                  <a:t>= </a:t>
                </a:r>
                <a:r>
                  <a:rPr lang="zh-CN" altLang="en-US" sz="1600" dirty="0"/>
                  <a:t>𝑉𝑊𝐴𝑇 𝑇 。详细参见</a:t>
                </a:r>
                <a:r>
                  <a:rPr lang="en-US" altLang="zh-CN" sz="1600" dirty="0"/>
                  <a:t>Goodman-Bacon (2021)</a:t>
                </a:r>
                <a:r>
                  <a:rPr lang="zh-CN" altLang="en-US" sz="1600" dirty="0"/>
                  <a:t>、</a:t>
                </a:r>
                <a:r>
                  <a:rPr lang="en-US" altLang="zh-CN" sz="1600" dirty="0"/>
                  <a:t>de </a:t>
                </a:r>
                <a:r>
                  <a:rPr lang="en-US" altLang="zh-CN" sz="1600" dirty="0" err="1"/>
                  <a:t>Chaisemartin</a:t>
                </a:r>
                <a:r>
                  <a:rPr lang="en-US" altLang="zh-CN" sz="1600" dirty="0"/>
                  <a:t> and </a:t>
                </a:r>
                <a:r>
                  <a:rPr lang="en-US" altLang="zh-CN" sz="1600" dirty="0" err="1"/>
                  <a:t>d’Haultfoeuille</a:t>
                </a:r>
                <a:r>
                  <a:rPr lang="en-US" altLang="zh-CN" sz="1600" dirty="0"/>
                  <a:t> (2020).</a:t>
                </a:r>
                <a:endParaRPr lang="zh-CN" altLang="en-US" sz="1600" dirty="0"/>
              </a:p>
            </p:txBody>
          </p:sp>
        </mc:Choice>
        <mc:Fallback xmlns="">
          <p:sp>
            <p:nvSpPr>
              <p:cNvPr id="3" name="内容占位符 2">
                <a:extLst>
                  <a:ext uri="{FF2B5EF4-FFF2-40B4-BE49-F238E27FC236}">
                    <a16:creationId xmlns:a16="http://schemas.microsoft.com/office/drawing/2014/main" id="{929C3B61-219D-06E9-254C-4CD9516276E6}"/>
                  </a:ext>
                </a:extLst>
              </p:cNvPr>
              <p:cNvSpPr>
                <a:spLocks noGrp="1" noRot="1" noChangeAspect="1" noMove="1" noResize="1" noEditPoints="1" noAdjustHandles="1" noChangeArrowheads="1" noChangeShapeType="1" noTextEdit="1"/>
              </p:cNvSpPr>
              <p:nvPr>
                <p:ph idx="1"/>
              </p:nvPr>
            </p:nvSpPr>
            <p:spPr>
              <a:blipFill>
                <a:blip r:embed="rId2"/>
                <a:stretch>
                  <a:fillRect l="-309" t="-420" r="-28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AD6042C-08C4-1D73-BDB1-AFB3F011EE8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ECDD359-7D46-2220-0F1D-881577B02160}"/>
              </a:ext>
            </a:extLst>
          </p:cNvPr>
          <p:cNvSpPr>
            <a:spLocks noGrp="1"/>
          </p:cNvSpPr>
          <p:nvPr>
            <p:ph type="sldNum" sz="quarter" idx="12"/>
          </p:nvPr>
        </p:nvSpPr>
        <p:spPr/>
        <p:txBody>
          <a:bodyPr/>
          <a:lstStyle/>
          <a:p>
            <a:fld id="{D41FC515-8169-4A29-AA56-DBE520D5741B}" type="slidenum">
              <a:rPr lang="zh-CN" altLang="en-US" smtClean="0"/>
              <a:t>75</a:t>
            </a:fld>
            <a:endParaRPr lang="zh-CN" altLang="en-US"/>
          </a:p>
        </p:txBody>
      </p:sp>
    </p:spTree>
    <p:extLst>
      <p:ext uri="{BB962C8B-B14F-4D97-AF65-F5344CB8AC3E}">
        <p14:creationId xmlns:p14="http://schemas.microsoft.com/office/powerpoint/2010/main" val="39398851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5BF27-59F5-7FB2-A4E5-0002D3480BA3}"/>
              </a:ext>
            </a:extLst>
          </p:cNvPr>
          <p:cNvSpPr>
            <a:spLocks noGrp="1"/>
          </p:cNvSpPr>
          <p:nvPr>
            <p:ph type="title"/>
          </p:nvPr>
        </p:nvSpPr>
        <p:spPr/>
        <p:txBody>
          <a:bodyPr/>
          <a:lstStyle/>
          <a:p>
            <a:r>
              <a:rPr lang="en-US" altLang="zh-CN" dirty="0"/>
              <a:t>TWFE </a:t>
            </a:r>
            <a:r>
              <a:rPr lang="zh-CN" altLang="en-US" dirty="0"/>
              <a:t>在估计什么</a:t>
            </a:r>
            <a:br>
              <a:rPr lang="zh-CN" altLang="en-US" dirty="0"/>
            </a:br>
            <a:r>
              <a:rPr lang="en-US" altLang="zh-CN" sz="2400" dirty="0"/>
              <a:t>Goodman-Bacon(2021)</a:t>
            </a:r>
            <a:endParaRPr lang="zh-CN" altLang="en-US" sz="2400" dirty="0"/>
          </a:p>
        </p:txBody>
      </p:sp>
      <p:pic>
        <p:nvPicPr>
          <p:cNvPr id="7" name="内容占位符 6">
            <a:extLst>
              <a:ext uri="{FF2B5EF4-FFF2-40B4-BE49-F238E27FC236}">
                <a16:creationId xmlns:a16="http://schemas.microsoft.com/office/drawing/2014/main" id="{32F06A2F-9FD0-B61E-209E-98A8A54E7CA2}"/>
              </a:ext>
            </a:extLst>
          </p:cNvPr>
          <p:cNvPicPr>
            <a:picLocks noGrp="1" noChangeAspect="1"/>
          </p:cNvPicPr>
          <p:nvPr>
            <p:ph idx="1"/>
          </p:nvPr>
        </p:nvPicPr>
        <p:blipFill>
          <a:blip r:embed="rId2"/>
          <a:stretch>
            <a:fillRect/>
          </a:stretch>
        </p:blipFill>
        <p:spPr>
          <a:xfrm>
            <a:off x="1611906" y="1825625"/>
            <a:ext cx="5920187" cy="4351338"/>
          </a:xfrm>
          <a:prstGeom prst="rect">
            <a:avLst/>
          </a:prstGeom>
        </p:spPr>
      </p:pic>
      <p:sp>
        <p:nvSpPr>
          <p:cNvPr id="4" name="页脚占位符 3">
            <a:extLst>
              <a:ext uri="{FF2B5EF4-FFF2-40B4-BE49-F238E27FC236}">
                <a16:creationId xmlns:a16="http://schemas.microsoft.com/office/drawing/2014/main" id="{A562BEF3-76B9-7DAE-3973-3B379CBD4D3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10EF4E1-F947-E370-D262-E763F69328E5}"/>
              </a:ext>
            </a:extLst>
          </p:cNvPr>
          <p:cNvSpPr>
            <a:spLocks noGrp="1"/>
          </p:cNvSpPr>
          <p:nvPr>
            <p:ph type="sldNum" sz="quarter" idx="12"/>
          </p:nvPr>
        </p:nvSpPr>
        <p:spPr/>
        <p:txBody>
          <a:bodyPr/>
          <a:lstStyle/>
          <a:p>
            <a:fld id="{D41FC515-8169-4A29-AA56-DBE520D5741B}" type="slidenum">
              <a:rPr lang="zh-CN" altLang="en-US" smtClean="0"/>
              <a:t>76</a:t>
            </a:fld>
            <a:endParaRPr lang="zh-CN" altLang="en-US"/>
          </a:p>
        </p:txBody>
      </p:sp>
      <p:sp>
        <p:nvSpPr>
          <p:cNvPr id="9" name="文本框 8">
            <a:extLst>
              <a:ext uri="{FF2B5EF4-FFF2-40B4-BE49-F238E27FC236}">
                <a16:creationId xmlns:a16="http://schemas.microsoft.com/office/drawing/2014/main" id="{B462BB4D-B7C0-29FF-BFEA-8F0DBD540ABE}"/>
              </a:ext>
            </a:extLst>
          </p:cNvPr>
          <p:cNvSpPr txBox="1"/>
          <p:nvPr/>
        </p:nvSpPr>
        <p:spPr>
          <a:xfrm>
            <a:off x="2225841" y="6097380"/>
            <a:ext cx="5101390"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Figure 5: </a:t>
            </a:r>
            <a:r>
              <a:rPr lang="en-US" altLang="zh-CN" sz="1600" b="0" i="0" u="none" strike="noStrike" baseline="0" dirty="0">
                <a:solidFill>
                  <a:srgbClr val="000000"/>
                </a:solidFill>
                <a:latin typeface="LMRoman8-Regular-Identity-H"/>
              </a:rPr>
              <a:t>Goodman-bacon </a:t>
            </a:r>
            <a:r>
              <a:rPr lang="zh-CN" altLang="en-US" sz="1600" b="0" i="0" u="none" strike="noStrike" baseline="0" dirty="0">
                <a:solidFill>
                  <a:srgbClr val="000000"/>
                </a:solidFill>
                <a:latin typeface="宋体" panose="02010600030101010101" pitchFamily="2" charset="-122"/>
                <a:ea typeface="宋体" panose="02010600030101010101" pitchFamily="2" charset="-122"/>
              </a:rPr>
              <a:t>分解：无错离婚法案的作用</a:t>
            </a:r>
            <a:endParaRPr lang="zh-CN" altLang="en-US" sz="1600" dirty="0"/>
          </a:p>
        </p:txBody>
      </p:sp>
    </p:spTree>
    <p:extLst>
      <p:ext uri="{BB962C8B-B14F-4D97-AF65-F5344CB8AC3E}">
        <p14:creationId xmlns:p14="http://schemas.microsoft.com/office/powerpoint/2010/main" val="38226716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FD24B-58DA-5928-7248-35FC5130D0EC}"/>
              </a:ext>
            </a:extLst>
          </p:cNvPr>
          <p:cNvSpPr>
            <a:spLocks noGrp="1"/>
          </p:cNvSpPr>
          <p:nvPr>
            <p:ph type="title"/>
          </p:nvPr>
        </p:nvSpPr>
        <p:spPr/>
        <p:txBody>
          <a:bodyPr/>
          <a:lstStyle/>
          <a:p>
            <a:r>
              <a:rPr lang="zh-CN" altLang="en-US" dirty="0"/>
              <a:t>事件研究法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B11AE4C-A2EC-096A-5578-06E2F8F60E83}"/>
                  </a:ext>
                </a:extLst>
              </p:cNvPr>
              <p:cNvSpPr>
                <a:spLocks noGrp="1"/>
              </p:cNvSpPr>
              <p:nvPr>
                <p:ph idx="1"/>
              </p:nvPr>
            </p:nvSpPr>
            <p:spPr/>
            <p:txBody>
              <a:bodyPr>
                <a:normAutofit fontScale="62500" lnSpcReduction="20000"/>
              </a:bodyPr>
              <a:lstStyle/>
              <a:p>
                <a:r>
                  <a:rPr lang="zh-CN" altLang="en-US" dirty="0"/>
                  <a:t>简单情形：</a:t>
                </a:r>
                <a:r>
                  <a:rPr lang="en-US" altLang="zh-CN" dirty="0"/>
                  <a:t>3 </a:t>
                </a:r>
                <a:r>
                  <a:rPr lang="zh-CN" altLang="en-US" dirty="0"/>
                  <a:t>组，</a:t>
                </a:r>
                <a:r>
                  <a:rPr lang="en-US" altLang="zh-CN" dirty="0"/>
                  <a:t>2 </a:t>
                </a:r>
                <a:r>
                  <a:rPr lang="zh-CN" altLang="en-US" dirty="0"/>
                  <a:t>组分别在</a:t>
                </a:r>
                <a:r>
                  <a:rPr lang="en-US" altLang="zh-CN" dirty="0"/>
                  <a:t>2</a:t>
                </a:r>
                <a:r>
                  <a:rPr lang="zh-CN" altLang="en-US" dirty="0"/>
                  <a:t>、</a:t>
                </a:r>
                <a:r>
                  <a:rPr lang="en-US" altLang="zh-CN" dirty="0"/>
                  <a:t>3 </a:t>
                </a:r>
                <a:r>
                  <a:rPr lang="zh-CN" altLang="en-US" dirty="0"/>
                  <a:t>期接受干预。</a:t>
                </a:r>
                <a:endParaRPr lang="en-US" altLang="zh-CN" dirty="0"/>
              </a:p>
              <a:p>
                <a:endParaRPr lang="en-US" altLang="zh-CN" dirty="0"/>
              </a:p>
              <a:p>
                <a:endParaRPr lang="en-US" altLang="zh-CN" dirty="0"/>
              </a:p>
              <a:p>
                <a:r>
                  <a:rPr lang="en-US" altLang="zh-CN" dirty="0"/>
                  <a:t>Cohort ATT(Sun and Abraham, 2021):</a:t>
                </a:r>
              </a:p>
              <a:p>
                <a:pPr marL="0" indent="0">
                  <a:buNone/>
                </a:pPr>
                <a14:m>
                  <m:oMathPara xmlns:m="http://schemas.openxmlformats.org/officeDocument/2006/math">
                    <m:oMath>
                      <m:r>
                        <a:rPr lang="en-US" altLang="zh-CN" i="1" smtClean="0">
                          <a:latin typeface="Cambria Math" panose="02040503050406030204" pitchFamily="18" charset="0"/>
                        </a:rPr>
                        <m:t>𝐶</m:t>
                      </m:r>
                      <m:r>
                        <a:rPr lang="en-US" altLang="zh-CN" i="1" smtClean="0">
                          <a:latin typeface="Cambria Math" panose="02040503050406030204" pitchFamily="18" charset="0"/>
                        </a:rPr>
                        <m:t>​</m:t>
                      </m:r>
                      <m:r>
                        <a:rPr lang="en-US" altLang="zh-CN" i="1" smtClean="0">
                          <a:latin typeface="Cambria Math" panose="02040503050406030204" pitchFamily="18" charset="0"/>
                        </a:rPr>
                        <m:t>𝐴𝑇</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𝑇</m:t>
                          </m:r>
                        </m:e>
                        <m:sub>
                          <m:r>
                            <a:rPr lang="en-US" altLang="zh-CN" i="1" smtClean="0">
                              <a:latin typeface="Cambria Math" panose="02040503050406030204" pitchFamily="18" charset="0"/>
                            </a:rPr>
                            <m:t>𝑒𝑙</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𝑖𝑒</m:t>
                              </m:r>
                              <m:r>
                                <a:rPr lang="en-US" altLang="zh-CN" i="1" smtClean="0">
                                  <a:latin typeface="Cambria Math" panose="02040503050406030204" pitchFamily="18" charset="0"/>
                                </a:rPr>
                                <m:t>+</m:t>
                              </m:r>
                              <m:r>
                                <a:rPr lang="en-US" altLang="zh-CN" i="1" smtClean="0">
                                  <a:latin typeface="Cambria Math" panose="02040503050406030204" pitchFamily="18" charset="0"/>
                                </a:rPr>
                                <m:t>𝑙</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𝑖𝑒</m:t>
                              </m:r>
                              <m:r>
                                <a:rPr lang="en-US" altLang="zh-CN" i="1" smtClean="0">
                                  <a:latin typeface="Cambria Math" panose="02040503050406030204" pitchFamily="18" charset="0"/>
                                </a:rPr>
                                <m:t>+</m:t>
                              </m:r>
                              <m:r>
                                <a:rPr lang="en-US" altLang="zh-CN" i="1" smtClean="0">
                                  <a:latin typeface="Cambria Math" panose="02040503050406030204" pitchFamily="18" charset="0"/>
                                </a:rPr>
                                <m:t>𝑙</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𝑒</m:t>
                          </m:r>
                        </m:e>
                      </m:d>
                      <m:r>
                        <a:rPr lang="en-US" altLang="zh-CN" i="1" smtClean="0">
                          <a:latin typeface="Cambria Math" panose="02040503050406030204" pitchFamily="18" charset="0"/>
                        </a:rPr>
                        <m:t>.</m:t>
                      </m:r>
                    </m:oMath>
                  </m:oMathPara>
                </a14:m>
                <a:endParaRPr lang="en-US" altLang="zh-CN" dirty="0"/>
              </a:p>
              <a:p>
                <a:r>
                  <a:rPr lang="zh-CN" altLang="en-US" dirty="0"/>
                  <a:t>定义变量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构建模型：</a:t>
                </a:r>
                <a:endParaRPr lang="en-US" altLang="zh-CN" dirty="0"/>
              </a:p>
              <a:p>
                <a:pPr marL="0" indent="0">
                  <a:buNone/>
                </a:pPr>
                <a14:m>
                  <m:oMathPara xmlns:m="http://schemas.openxmlformats.org/officeDocument/2006/math">
                    <m:o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𝜇</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𝜆</m:t>
                          </m:r>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−2</m:t>
                          </m:r>
                        </m:sub>
                      </m:sSub>
                      <m:sSubSup>
                        <m:sSubSupPr>
                          <m:ctrlPr>
                            <a:rPr lang="en-US" altLang="zh-CN" i="1" smtClean="0">
                              <a:latin typeface="Cambria Math" panose="02040503050406030204" pitchFamily="18" charset="0"/>
                            </a:rPr>
                          </m:ctrlPr>
                        </m:sSubSup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𝑖𝑡</m:t>
                          </m:r>
                        </m:sub>
                        <m:sup>
                          <m:r>
                            <a:rPr lang="en-US" altLang="zh-CN" i="1" smtClean="0">
                              <a:latin typeface="Cambria Math" panose="02040503050406030204" pitchFamily="18" charset="0"/>
                            </a:rPr>
                            <m:t>−2</m:t>
                          </m:r>
                        </m:sup>
                      </m:sSubSup>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0</m:t>
                          </m:r>
                        </m:sub>
                      </m:sSub>
                      <m:sSubSup>
                        <m:sSubSupPr>
                          <m:ctrlPr>
                            <a:rPr lang="en-US" altLang="zh-CN" i="1" smtClean="0">
                              <a:latin typeface="Cambria Math" panose="02040503050406030204" pitchFamily="18" charset="0"/>
                            </a:rPr>
                          </m:ctrlPr>
                        </m:sSubSupPr>
                        <m:e>
                          <m:r>
                            <a:rPr lang="en-US" altLang="zh-CN" i="1" smtClean="0">
                              <a:latin typeface="Cambria Math" panose="02040503050406030204" pitchFamily="18" charset="0"/>
                            </a:rPr>
                            <m:t>𝐷</m:t>
                          </m:r>
                        </m:e>
                        <m:sub>
                          <m:r>
                            <a:rPr lang="en-US" altLang="zh-CN" i="1" smtClean="0">
                              <a:latin typeface="Cambria Math" panose="02040503050406030204" pitchFamily="18" charset="0"/>
                            </a:rPr>
                            <m:t>𝑖𝑡</m:t>
                          </m:r>
                        </m:sub>
                        <m:sup>
                          <m:r>
                            <a:rPr lang="en-US" altLang="zh-CN" i="1" smtClean="0">
                              <a:latin typeface="Cambria Math" panose="02040503050406030204" pitchFamily="18" charset="0"/>
                            </a:rPr>
                            <m:t>0</m:t>
                          </m:r>
                        </m:sup>
                      </m:sSubSup>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𝜀</m:t>
                          </m:r>
                        </m:e>
                        <m:sub>
                          <m:r>
                            <a:rPr lang="en-US" altLang="zh-CN" i="1" smtClean="0">
                              <a:latin typeface="Cambria Math" panose="02040503050406030204" pitchFamily="18" charset="0"/>
                            </a:rPr>
                            <m:t>𝑖𝑡</m:t>
                          </m:r>
                        </m:sub>
                      </m:sSub>
                      <m:r>
                        <a:rPr lang="en-US" altLang="zh-CN" i="1" smtClean="0">
                          <a:latin typeface="Cambria Math" panose="02040503050406030204" pitchFamily="18" charset="0"/>
                        </a:rPr>
                        <m:t>.</m:t>
                      </m:r>
                    </m:oMath>
                  </m:oMathPara>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2B11AE4C-A2EC-096A-5578-06E2F8F60E83}"/>
                  </a:ext>
                </a:extLst>
              </p:cNvPr>
              <p:cNvSpPr>
                <a:spLocks noGrp="1" noRot="1" noChangeAspect="1" noMove="1" noResize="1" noEditPoints="1" noAdjustHandles="1" noChangeArrowheads="1" noChangeShapeType="1" noTextEdit="1"/>
              </p:cNvSpPr>
              <p:nvPr>
                <p:ph idx="1"/>
              </p:nvPr>
            </p:nvSpPr>
            <p:spPr>
              <a:blipFill>
                <a:blip r:embed="rId2"/>
                <a:stretch>
                  <a:fillRect l="-464" t="-1961" b="-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24C0FCC-459C-A897-29A3-C8BCDD105E7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4447536-C57C-BD01-ED98-3C2035B67644}"/>
              </a:ext>
            </a:extLst>
          </p:cNvPr>
          <p:cNvSpPr>
            <a:spLocks noGrp="1"/>
          </p:cNvSpPr>
          <p:nvPr>
            <p:ph type="sldNum" sz="quarter" idx="12"/>
          </p:nvPr>
        </p:nvSpPr>
        <p:spPr/>
        <p:txBody>
          <a:bodyPr/>
          <a:lstStyle/>
          <a:p>
            <a:fld id="{D41FC515-8169-4A29-AA56-DBE520D5741B}" type="slidenum">
              <a:rPr lang="zh-CN" altLang="en-US" smtClean="0"/>
              <a:t>77</a:t>
            </a:fld>
            <a:endParaRPr lang="zh-CN" altLang="en-US"/>
          </a:p>
        </p:txBody>
      </p:sp>
      <p:pic>
        <p:nvPicPr>
          <p:cNvPr id="7" name="图片 6">
            <a:extLst>
              <a:ext uri="{FF2B5EF4-FFF2-40B4-BE49-F238E27FC236}">
                <a16:creationId xmlns:a16="http://schemas.microsoft.com/office/drawing/2014/main" id="{3FFE3694-2E1E-0A80-12EB-AF2B188EF4C3}"/>
              </a:ext>
            </a:extLst>
          </p:cNvPr>
          <p:cNvPicPr>
            <a:picLocks noChangeAspect="1"/>
          </p:cNvPicPr>
          <p:nvPr/>
        </p:nvPicPr>
        <p:blipFill>
          <a:blip r:embed="rId3"/>
          <a:stretch>
            <a:fillRect/>
          </a:stretch>
        </p:blipFill>
        <p:spPr>
          <a:xfrm>
            <a:off x="1476114" y="2068510"/>
            <a:ext cx="4551707" cy="678080"/>
          </a:xfrm>
          <a:prstGeom prst="rect">
            <a:avLst/>
          </a:prstGeom>
        </p:spPr>
      </p:pic>
      <p:pic>
        <p:nvPicPr>
          <p:cNvPr id="9" name="图片 8">
            <a:extLst>
              <a:ext uri="{FF2B5EF4-FFF2-40B4-BE49-F238E27FC236}">
                <a16:creationId xmlns:a16="http://schemas.microsoft.com/office/drawing/2014/main" id="{BFEF5574-925F-B726-2996-8CDF3F758FDB}"/>
              </a:ext>
            </a:extLst>
          </p:cNvPr>
          <p:cNvPicPr>
            <a:picLocks noChangeAspect="1"/>
          </p:cNvPicPr>
          <p:nvPr/>
        </p:nvPicPr>
        <p:blipFill>
          <a:blip r:embed="rId4"/>
          <a:stretch>
            <a:fillRect/>
          </a:stretch>
        </p:blipFill>
        <p:spPr>
          <a:xfrm>
            <a:off x="2545780" y="3553382"/>
            <a:ext cx="3482041" cy="1989738"/>
          </a:xfrm>
          <a:prstGeom prst="rect">
            <a:avLst/>
          </a:prstGeom>
        </p:spPr>
      </p:pic>
    </p:spTree>
    <p:extLst>
      <p:ext uri="{BB962C8B-B14F-4D97-AF65-F5344CB8AC3E}">
        <p14:creationId xmlns:p14="http://schemas.microsoft.com/office/powerpoint/2010/main" val="38727960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23260C-C8A8-C724-EA8F-D0AB2ADD64F6}"/>
              </a:ext>
            </a:extLst>
          </p:cNvPr>
          <p:cNvSpPr>
            <a:spLocks noGrp="1"/>
          </p:cNvSpPr>
          <p:nvPr>
            <p:ph type="title"/>
          </p:nvPr>
        </p:nvSpPr>
        <p:spPr/>
        <p:txBody>
          <a:bodyPr/>
          <a:lstStyle/>
          <a:p>
            <a:r>
              <a:rPr lang="en-US" altLang="zh-CN" dirty="0"/>
              <a:t>TWFE </a:t>
            </a:r>
            <a:r>
              <a:rPr lang="zh-CN" altLang="en-US" dirty="0"/>
              <a:t>在估计什么</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3DF72E4-D620-E4A5-C862-ADF107D51691}"/>
                  </a:ext>
                </a:extLst>
              </p:cNvPr>
              <p:cNvSpPr>
                <a:spLocks noGrp="1"/>
              </p:cNvSpPr>
              <p:nvPr>
                <p:ph idx="1"/>
              </p:nvPr>
            </p:nvSpPr>
            <p:spPr>
              <a:xfrm>
                <a:off x="628650" y="1825624"/>
                <a:ext cx="7886700" cy="4895851"/>
              </a:xfrm>
            </p:spPr>
            <p:txBody>
              <a:bodyPr>
                <a:normAutofit fontScale="55000" lnSpcReduction="20000"/>
              </a:bodyPr>
              <a:lstStyle/>
              <a:p>
                <a:pPr>
                  <a:lnSpc>
                    <a:spcPct val="120000"/>
                  </a:lnSpc>
                </a:pP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m:t>
                    </m:r>
                    <m:r>
                      <m:rPr>
                        <m:lit/>
                      </m:rPr>
                      <a:rPr lang="en-US" altLang="zh-CN" i="1" dirty="0">
                        <a:latin typeface="Cambria Math" panose="02040503050406030204" pitchFamily="18" charset="0"/>
                      </a:rPr>
                      <m:t>{</m:t>
                    </m:r>
                    <m:r>
                      <a:rPr lang="en-US" altLang="zh-CN" i="1" dirty="0">
                        <a:latin typeface="Cambria Math" panose="02040503050406030204" pitchFamily="18" charset="0"/>
                      </a:rPr>
                      <m:t>1,2</m:t>
                    </m:r>
                    <m:r>
                      <a:rPr lang="en-US" altLang="zh-CN" b="0" i="1" dirty="0" smtClean="0">
                        <a:latin typeface="Cambria Math" panose="02040503050406030204" pitchFamily="18" charset="0"/>
                      </a:rPr>
                      <m:t>}</m:t>
                    </m:r>
                  </m:oMath>
                </a14:m>
                <a:r>
                  <a:rPr lang="zh-CN" altLang="en-US" dirty="0"/>
                  <a:t>，为避免共线，令</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𝑠</m:t>
                        </m:r>
                      </m:e>
                      <m:sup>
                        <m:r>
                          <a:rPr lang="en-US" altLang="zh-CN" i="1" dirty="0">
                            <a:latin typeface="Cambria Math" panose="02040503050406030204" pitchFamily="18" charset="0"/>
                          </a:rPr>
                          <m:t>𝑖𝑛𝑐𝑙</m:t>
                        </m:r>
                      </m:sup>
                    </m:sSup>
                    <m:r>
                      <a:rPr lang="en-US" altLang="zh-CN" i="1" dirty="0">
                        <a:latin typeface="Cambria Math" panose="02040503050406030204" pitchFamily="18" charset="0"/>
                      </a:rPr>
                      <m:t>=</m:t>
                    </m:r>
                    <m:r>
                      <m:rPr>
                        <m:lit/>
                      </m:rPr>
                      <a:rPr lang="en-US" altLang="zh-CN" i="1" dirty="0">
                        <a:latin typeface="Cambria Math" panose="02040503050406030204" pitchFamily="18" charset="0"/>
                      </a:rPr>
                      <m:t>{</m:t>
                    </m:r>
                    <m:r>
                      <a:rPr lang="en-US" altLang="zh-CN" i="1" dirty="0">
                        <a:latin typeface="Cambria Math" panose="02040503050406030204" pitchFamily="18" charset="0"/>
                      </a:rPr>
                      <m:t>−2,0</m:t>
                    </m:r>
                    <m:r>
                      <m:rPr>
                        <m:lit/>
                      </m:rPr>
                      <a:rPr lang="en-US" altLang="zh-CN" i="1" dirty="0">
                        <a:latin typeface="Cambria Math" panose="02040503050406030204" pitchFamily="18" charset="0"/>
                      </a:rPr>
                      <m:t>}</m:t>
                    </m:r>
                  </m:oMath>
                </a14:m>
                <a:r>
                  <a:rPr lang="zh-CN" altLang="en-US" dirty="0"/>
                  <a:t>，</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𝑠</m:t>
                        </m:r>
                      </m:e>
                      <m:sup>
                        <m:r>
                          <a:rPr lang="en-US" altLang="zh-CN" i="1" dirty="0" smtClean="0">
                            <a:latin typeface="Cambria Math" panose="02040503050406030204" pitchFamily="18" charset="0"/>
                          </a:rPr>
                          <m:t>𝑒𝑥𝑐𝑙</m:t>
                        </m:r>
                      </m:sup>
                    </m:sSup>
                    <m:r>
                      <a:rPr lang="en-US" altLang="zh-CN" i="1" dirty="0" smtClean="0">
                        <a:latin typeface="Cambria Math" panose="02040503050406030204" pitchFamily="18" charset="0"/>
                      </a:rPr>
                      <m:t>={−</m:t>
                    </m:r>
                    <m:r>
                      <a:rPr lang="en-US" altLang="zh-CN" i="1" dirty="0">
                        <a:latin typeface="Cambria Math" panose="02040503050406030204" pitchFamily="18" charset="0"/>
                      </a:rPr>
                      <m:t>1,1</m:t>
                    </m:r>
                    <m:r>
                      <m:rPr>
                        <m:lit/>
                      </m:rPr>
                      <a:rPr lang="en-US" altLang="zh-CN" i="1" dirty="0">
                        <a:latin typeface="Cambria Math" panose="02040503050406030204" pitchFamily="18" charset="0"/>
                      </a:rPr>
                      <m:t>}</m:t>
                    </m:r>
                  </m:oMath>
                </a14:m>
                <a:r>
                  <a:rPr lang="zh-CN" altLang="en-US" dirty="0"/>
                  <a:t>，则事件研究法模型为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−2</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−2</m:t>
                          </m:r>
                        </m:sup>
                      </m:sSubSup>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up>
                          <m:r>
                            <a:rPr lang="zh-CN" altLang="en-US" i="1" smtClean="0">
                              <a:latin typeface="Cambria Math" panose="02040503050406030204" pitchFamily="18" charset="0"/>
                            </a:rPr>
                            <m:t>0</m:t>
                          </m:r>
                        </m:sup>
                      </m:sSubSup>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a:lnSpc>
                    <a:spcPct val="120000"/>
                  </a:lnSpc>
                </a:pPr>
                <a:r>
                  <a:rPr lang="en-US" altLang="zh-CN" dirty="0"/>
                  <a:t>Sun and Abraham (2021) </a:t>
                </a:r>
                <a:r>
                  <a:rPr lang="zh-CN" altLang="en-US" dirty="0"/>
                  <a:t>证明回归系数</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−2</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2,−2</m:t>
                                      </m:r>
                                    </m:sub>
                                  </m:sSub>
                                </m:e>
                              </m:groupChr>
                            </m:e>
                            <m:lim>
                              <m:r>
                                <m:rPr>
                                  <m:nor/>
                                </m:rPr>
                                <a:rPr lang="zh-CN" altLang="en-US" i="0" smtClean="0">
                                  <a:latin typeface="Cambria Math" panose="02040503050406030204" pitchFamily="18" charset="0"/>
                                </a:rPr>
                                <m:t>own period</m:t>
                              </m:r>
                            </m:lim>
                          </m:limLow>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2</m:t>
                                      </m:r>
                                    </m:den>
                                  </m:f>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1,0</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2</m:t>
                                      </m:r>
                                    </m:den>
                                  </m:f>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2,0</m:t>
                                      </m:r>
                                    </m:sub>
                                  </m:sSub>
                                </m:e>
                              </m:groupChr>
                            </m:e>
                            <m:lim>
                              <m:r>
                                <a:rPr lang="zh-CN" altLang="en-US" i="1" smtClean="0">
                                  <a:latin typeface="Cambria Math" panose="02040503050406030204" pitchFamily="18" charset="0"/>
                                </a:rPr>
                                <m:t>𝑙</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r>
                                    <a:rPr lang="zh-CN" altLang="en-US" i="1" smtClean="0">
                                      <a:latin typeface="Cambria Math" panose="02040503050406030204" pitchFamily="18" charset="0"/>
                                    </a:rPr>
                                    <m:t>𝑖𝑛𝑐𝑙</m:t>
                                  </m:r>
                                </m:sup>
                              </m:sSup>
                              <m:r>
                                <a:rPr lang="zh-CN" altLang="en-US" i="1" smtClean="0">
                                  <a:latin typeface="Cambria Math" panose="02040503050406030204" pitchFamily="18" charset="0"/>
                                </a:rPr>
                                <m:t>,</m:t>
                              </m:r>
                              <m:r>
                                <a:rPr lang="zh-CN" altLang="en-US" i="1" smtClean="0">
                                  <a:latin typeface="Cambria Math" panose="02040503050406030204" pitchFamily="18" charset="0"/>
                                </a:rPr>
                                <m:t>𝑙</m:t>
                              </m:r>
                              <m:r>
                                <a:rPr lang="zh-CN" altLang="en-US" i="1" smtClean="0">
                                  <a:latin typeface="Cambria Math" panose="02040503050406030204" pitchFamily="18" charset="0"/>
                                </a:rPr>
                                <m:t>′≠−2</m:t>
                              </m:r>
                            </m:lim>
                          </m:limLow>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2</m:t>
                                      </m:r>
                                    </m:den>
                                  </m:f>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1,1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1,−1</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2</m:t>
                                      </m:r>
                                    </m:den>
                                  </m:f>
                                  <m:r>
                                    <a:rPr lang="zh-CN" altLang="en-US" i="1" smtClean="0">
                                      <a:latin typeface="Cambria Math" panose="02040503050406030204" pitchFamily="18" charset="0"/>
                                    </a:rPr>
                                    <m:t>𝐶</m:t>
                                  </m:r>
                                  <m:r>
                                    <a:rPr lang="zh-CN" altLang="en-US" i="1" smtClean="0">
                                      <a:latin typeface="Cambria Math" panose="02040503050406030204" pitchFamily="18" charset="0"/>
                                    </a:rPr>
                                    <m:t>​</m:t>
                                  </m:r>
                                  <m:r>
                                    <a:rPr lang="zh-CN" altLang="en-US" i="1" smtClean="0">
                                      <a:latin typeface="Cambria Math" panose="02040503050406030204" pitchFamily="18" charset="0"/>
                                    </a:rPr>
                                    <m:t>𝐴𝑇</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2,−1</m:t>
                                      </m:r>
                                    </m:sub>
                                  </m:sSub>
                                </m:e>
                              </m:groupChr>
                            </m:e>
                            <m:lim>
                              <m:r>
                                <a:rPr lang="zh-CN" altLang="en-US" i="1" smtClean="0">
                                  <a:latin typeface="Cambria Math" panose="02040503050406030204" pitchFamily="18" charset="0"/>
                                </a:rPr>
                                <m:t>𝑙</m:t>
                              </m:r>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r>
                                    <a:rPr lang="zh-CN" altLang="en-US" i="1" smtClean="0">
                                      <a:latin typeface="Cambria Math" panose="02040503050406030204" pitchFamily="18" charset="0"/>
                                    </a:rPr>
                                    <m:t>𝑒𝑥𝑐𝑙</m:t>
                                  </m:r>
                                </m:sup>
                              </m:sSup>
                            </m:lim>
                          </m:limLow>
                        </m:e>
                      </m:eqArr>
                    </m:oMath>
                  </m:oMathPara>
                </a14:m>
                <a:endParaRPr lang="en-US" altLang="zh-CN" dirty="0"/>
              </a:p>
              <a:p>
                <a:pPr>
                  <a:lnSpc>
                    <a:spcPct val="120000"/>
                  </a:lnSpc>
                </a:pPr>
                <a:r>
                  <a:rPr lang="zh-CN" altLang="en-US" dirty="0"/>
                  <a:t>事件研究中，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m:t>
                        </m:r>
                        <m:r>
                          <a:rPr lang="en-US" altLang="zh-CN" i="1" dirty="0">
                            <a:latin typeface="Cambria Math" panose="02040503050406030204" pitchFamily="18" charset="0"/>
                          </a:rPr>
                          <m:t>2</m:t>
                        </m:r>
                      </m:sub>
                    </m:sSub>
                  </m:oMath>
                </a14:m>
                <a:r>
                  <a:rPr lang="en-US" altLang="zh-CN" dirty="0"/>
                  <a:t> </a:t>
                </a:r>
                <a:r>
                  <a:rPr lang="zh-CN" altLang="en-US" dirty="0"/>
                  <a:t>解释为干预前</a:t>
                </a:r>
                <a:r>
                  <a:rPr lang="en-US" altLang="zh-CN" dirty="0"/>
                  <a:t>2 </a:t>
                </a:r>
                <a:r>
                  <a:rPr lang="zh-CN" altLang="en-US" dirty="0"/>
                  <a:t>期的效应，一般预期为</a:t>
                </a:r>
                <a:r>
                  <a:rPr lang="en-US" altLang="zh-CN" dirty="0"/>
                  <a:t>0</a:t>
                </a:r>
                <a:r>
                  <a:rPr lang="zh-CN" altLang="en-US" dirty="0"/>
                  <a:t>，通常用于平行趋势检验，但是</a:t>
                </a:r>
                <a:endParaRPr lang="en-US" altLang="zh-CN" dirty="0"/>
              </a:p>
              <a:p>
                <a:pPr lvl="1">
                  <a:lnSpc>
                    <a:spcPct val="120000"/>
                  </a:lnSpc>
                </a:pPr>
                <a:r>
                  <a:rPr lang="zh-CN" altLang="en-US" dirty="0"/>
                  <a:t>假设没有预期效应，则</a:t>
                </a:r>
                <a14:m>
                  <m:oMath xmlns:m="http://schemas.openxmlformats.org/officeDocument/2006/math">
                    <m:r>
                      <a:rPr lang="zh-CN" altLang="en-US" i="1" dirty="0" smtClean="0">
                        <a:latin typeface="Cambria Math" panose="02040503050406030204" pitchFamily="18" charset="0"/>
                      </a:rPr>
                      <m:t>𝐶𝐴𝑇</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zh-CN" altLang="en-US" i="1" dirty="0">
                            <a:latin typeface="Cambria Math" panose="02040503050406030204" pitchFamily="18" charset="0"/>
                          </a:rPr>
                          <m:t>𝑔</m:t>
                        </m:r>
                        <m:r>
                          <a:rPr lang="en-US" altLang="zh-CN" i="1" dirty="0">
                            <a:latin typeface="Cambria Math" panose="02040503050406030204" pitchFamily="18" charset="0"/>
                          </a:rPr>
                          <m:t>,</m:t>
                        </m:r>
                        <m:r>
                          <a:rPr lang="zh-CN" altLang="en-US" i="1" dirty="0">
                            <a:latin typeface="Cambria Math" panose="02040503050406030204" pitchFamily="18" charset="0"/>
                          </a:rPr>
                          <m:t>𝑙</m:t>
                        </m:r>
                      </m:sub>
                    </m:sSub>
                    <m:r>
                      <a:rPr lang="en-US" altLang="zh-CN" i="1" dirty="0">
                        <a:latin typeface="Cambria Math" panose="02040503050406030204" pitchFamily="18" charset="0"/>
                      </a:rPr>
                      <m:t>&lt;0 = 0</m:t>
                    </m:r>
                  </m:oMath>
                </a14:m>
                <a:r>
                  <a:rPr lang="zh-CN" altLang="en-US" dirty="0"/>
                  <a:t>，</a:t>
                </a:r>
                <a:endParaRPr lang="en-US" altLang="zh-CN" dirty="0"/>
              </a:p>
              <a:p>
                <a:pPr lvl="1">
                  <a:lnSpc>
                    <a:spcPct val="120000"/>
                  </a:lnSpc>
                </a:pPr>
                <a:r>
                  <a:rPr lang="zh-CN" altLang="en-US" dirty="0"/>
                  <a:t>在同质性假设下，</a:t>
                </a:r>
                <a14:m>
                  <m:oMath xmlns:m="http://schemas.openxmlformats.org/officeDocument/2006/math">
                    <m:r>
                      <a:rPr lang="zh-CN" altLang="en-US" i="1" dirty="0" smtClean="0">
                        <a:latin typeface="Cambria Math" panose="02040503050406030204" pitchFamily="18" charset="0"/>
                      </a:rPr>
                      <m:t>𝐶𝐴𝑇</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en-US" altLang="zh-CN" i="1" dirty="0">
                            <a:latin typeface="Cambria Math" panose="02040503050406030204" pitchFamily="18" charset="0"/>
                          </a:rPr>
                          <m:t>1,0</m:t>
                        </m:r>
                      </m:sub>
                    </m:sSub>
                  </m:oMath>
                </a14:m>
                <a:r>
                  <a:rPr lang="en-US" altLang="zh-CN" dirty="0"/>
                  <a:t>, </a:t>
                </a:r>
                <a14:m>
                  <m:oMath xmlns:m="http://schemas.openxmlformats.org/officeDocument/2006/math">
                    <m:r>
                      <a:rPr lang="zh-CN" altLang="en-US" i="1" dirty="0" smtClean="0">
                        <a:latin typeface="Cambria Math" panose="02040503050406030204" pitchFamily="18" charset="0"/>
                      </a:rPr>
                      <m:t>𝐶𝐴𝑇</m:t>
                    </m:r>
                    <m:r>
                      <a:rPr lang="zh-CN" altLang="en-US" i="1" dirty="0" smtClean="0">
                        <a:latin typeface="Cambria Math" panose="02040503050406030204" pitchFamily="18" charset="0"/>
                      </a:rPr>
                      <m:t>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en-US" altLang="zh-CN" i="1" dirty="0">
                            <a:latin typeface="Cambria Math" panose="02040503050406030204" pitchFamily="18" charset="0"/>
                          </a:rPr>
                          <m:t>2,0</m:t>
                        </m:r>
                      </m:sub>
                    </m:sSub>
                  </m:oMath>
                </a14:m>
                <a:r>
                  <a:rPr lang="en-US" altLang="zh-CN" dirty="0"/>
                  <a:t> </a:t>
                </a:r>
                <a:r>
                  <a:rPr lang="zh-CN" altLang="en-US" dirty="0"/>
                  <a:t>相互抵销</a:t>
                </a:r>
                <a:endParaRPr lang="en-US" altLang="zh-CN" dirty="0"/>
              </a:p>
              <a:p>
                <a:pPr lvl="1">
                  <a:lnSpc>
                    <a:spcPct val="120000"/>
                  </a:lnSpc>
                </a:pPr>
                <a:r>
                  <a:rPr lang="zh-CN" altLang="en-US" dirty="0"/>
                  <a:t>若</a:t>
                </a:r>
                <a14:m>
                  <m:oMath xmlns:m="http://schemas.openxmlformats.org/officeDocument/2006/math">
                    <m:r>
                      <a:rPr lang="zh-CN" altLang="en-US" i="1" dirty="0" smtClean="0">
                        <a:latin typeface="Cambria Math" panose="02040503050406030204" pitchFamily="18" charset="0"/>
                      </a:rPr>
                      <m:t>𝐶𝐴𝑇</m:t>
                    </m:r>
                    <m:r>
                      <a:rPr lang="zh-CN" altLang="en-US" i="1" dirty="0" smtClean="0">
                        <a:latin typeface="Cambria Math" panose="02040503050406030204" pitchFamily="18" charset="0"/>
                      </a:rPr>
                      <m:t>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en-US" altLang="zh-CN" i="1" dirty="0">
                            <a:latin typeface="Cambria Math" panose="02040503050406030204" pitchFamily="18" charset="0"/>
                          </a:rPr>
                          <m:t>1,1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0</m:t>
                    </m:r>
                  </m:oMath>
                </a14:m>
                <a:r>
                  <a:rPr lang="zh-CN" altLang="en-US" dirty="0"/>
                  <a:t>，则</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m:t>
                        </m:r>
                        <m:r>
                          <a:rPr lang="en-US" altLang="zh-CN" i="1" dirty="0">
                            <a:latin typeface="Cambria Math" panose="02040503050406030204" pitchFamily="18" charset="0"/>
                          </a:rPr>
                          <m:t>2</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0</m:t>
                    </m:r>
                  </m:oMath>
                </a14:m>
                <a:r>
                  <a:rPr lang="zh-CN" altLang="en-US" dirty="0"/>
                  <a:t>。</a:t>
                </a:r>
                <a:endParaRPr lang="en-US" altLang="zh-CN" dirty="0"/>
              </a:p>
              <a:p>
                <a:pPr lvl="1">
                  <a:lnSpc>
                    <a:spcPct val="120000"/>
                  </a:lnSpc>
                </a:pPr>
                <a:r>
                  <a:rPr lang="zh-CN" altLang="en-US" dirty="0"/>
                  <a:t>排除期（基准期）可以选择事前期，比如</a:t>
                </a:r>
                <a:r>
                  <a:rPr lang="en-US" altLang="zh-CN" dirty="0"/>
                  <a:t>{-2,-1}</a:t>
                </a:r>
                <a:r>
                  <a:rPr lang="zh-CN" altLang="en-US" dirty="0"/>
                  <a:t>，在同质性假设和无预期假设，可以避免污染偏差。但若有组间异质性时，污染偏差可能仍然可能会存在。</a:t>
                </a:r>
                <a:endParaRPr lang="en-US" altLang="zh-CN" dirty="0"/>
              </a:p>
              <a:p>
                <a:pPr>
                  <a:lnSpc>
                    <a:spcPct val="120000"/>
                  </a:lnSpc>
                </a:pPr>
                <a:r>
                  <a:rPr lang="zh-CN" altLang="da-DK" dirty="0"/>
                  <a:t>污染偏差</a:t>
                </a:r>
                <a:r>
                  <a:rPr lang="da-DK" altLang="zh-CN" dirty="0"/>
                  <a:t>(Goldsmith-Pinkham et al., 2022)</a:t>
                </a:r>
                <a:endParaRPr lang="zh-CN" altLang="en-US" dirty="0"/>
              </a:p>
            </p:txBody>
          </p:sp>
        </mc:Choice>
        <mc:Fallback xmlns="">
          <p:sp>
            <p:nvSpPr>
              <p:cNvPr id="3" name="内容占位符 2">
                <a:extLst>
                  <a:ext uri="{FF2B5EF4-FFF2-40B4-BE49-F238E27FC236}">
                    <a16:creationId xmlns:a16="http://schemas.microsoft.com/office/drawing/2014/main" id="{E3DF72E4-D620-E4A5-C862-ADF107D51691}"/>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232" t="-12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877B073-B17A-8599-2874-E8ACB4AF4E5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750F52-2824-BE02-7BFD-942DDEE88C15}"/>
              </a:ext>
            </a:extLst>
          </p:cNvPr>
          <p:cNvSpPr>
            <a:spLocks noGrp="1"/>
          </p:cNvSpPr>
          <p:nvPr>
            <p:ph type="sldNum" sz="quarter" idx="12"/>
          </p:nvPr>
        </p:nvSpPr>
        <p:spPr/>
        <p:txBody>
          <a:bodyPr/>
          <a:lstStyle/>
          <a:p>
            <a:fld id="{D41FC515-8169-4A29-AA56-DBE520D5741B}" type="slidenum">
              <a:rPr lang="zh-CN" altLang="en-US" smtClean="0"/>
              <a:t>78</a:t>
            </a:fld>
            <a:endParaRPr lang="zh-CN" altLang="en-US"/>
          </a:p>
        </p:txBody>
      </p:sp>
    </p:spTree>
    <p:extLst>
      <p:ext uri="{BB962C8B-B14F-4D97-AF65-F5344CB8AC3E}">
        <p14:creationId xmlns:p14="http://schemas.microsoft.com/office/powerpoint/2010/main" val="25462604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B4CAC-BBBC-10E0-C840-31435D279636}"/>
              </a:ext>
            </a:extLst>
          </p:cNvPr>
          <p:cNvSpPr>
            <a:spLocks noGrp="1"/>
          </p:cNvSpPr>
          <p:nvPr>
            <p:ph type="title"/>
          </p:nvPr>
        </p:nvSpPr>
        <p:spPr/>
        <p:txBody>
          <a:bodyPr/>
          <a:lstStyle/>
          <a:p>
            <a:r>
              <a:rPr lang="zh-CN" altLang="en-US" dirty="0"/>
              <a:t>渐近政策下传统方法的问题</a:t>
            </a:r>
          </a:p>
        </p:txBody>
      </p:sp>
      <p:sp>
        <p:nvSpPr>
          <p:cNvPr id="3" name="内容占位符 2">
            <a:extLst>
              <a:ext uri="{FF2B5EF4-FFF2-40B4-BE49-F238E27FC236}">
                <a16:creationId xmlns:a16="http://schemas.microsoft.com/office/drawing/2014/main" id="{0570A6F6-26E6-ED9A-9DE9-B6064891CB89}"/>
              </a:ext>
            </a:extLst>
          </p:cNvPr>
          <p:cNvSpPr>
            <a:spLocks noGrp="1"/>
          </p:cNvSpPr>
          <p:nvPr>
            <p:ph idx="1"/>
          </p:nvPr>
        </p:nvSpPr>
        <p:spPr/>
        <p:txBody>
          <a:bodyPr>
            <a:normAutofit fontScale="70000" lnSpcReduction="20000"/>
          </a:bodyPr>
          <a:lstStyle/>
          <a:p>
            <a:pPr>
              <a:lnSpc>
                <a:spcPct val="120000"/>
              </a:lnSpc>
            </a:pPr>
            <a:r>
              <a:rPr lang="en-US" altLang="zh-CN" dirty="0"/>
              <a:t>Goodman-Bacon (2021) </a:t>
            </a:r>
            <a:r>
              <a:rPr lang="zh-CN" altLang="en-US" dirty="0"/>
              <a:t>证明静态模型的</a:t>
            </a:r>
            <a:r>
              <a:rPr lang="en-US" altLang="zh-CN" dirty="0"/>
              <a:t>TWFE </a:t>
            </a:r>
            <a:r>
              <a:rPr lang="zh-CN" altLang="en-US" dirty="0"/>
              <a:t>估计，在因果效应存在时间异质性时，部分群体权重为负值，</a:t>
            </a:r>
            <a:r>
              <a:rPr lang="en-US" altLang="zh-CN" dirty="0"/>
              <a:t>TWFE </a:t>
            </a:r>
            <a:r>
              <a:rPr lang="zh-CN" altLang="en-US" dirty="0"/>
              <a:t>不能解释为群组</a:t>
            </a:r>
            <a:r>
              <a:rPr lang="en-US" altLang="zh-CN" dirty="0"/>
              <a:t>ATT </a:t>
            </a:r>
            <a:r>
              <a:rPr lang="zh-CN" altLang="en-US" dirty="0"/>
              <a:t>的正权重的加权平均，不能解释为目标参数</a:t>
            </a:r>
            <a:r>
              <a:rPr lang="en-US" altLang="zh-CN" dirty="0"/>
              <a:t>(causal </a:t>
            </a:r>
            <a:r>
              <a:rPr lang="en-US" altLang="zh-CN" dirty="0" err="1"/>
              <a:t>estimand</a:t>
            </a:r>
            <a:r>
              <a:rPr lang="en-US" altLang="zh-CN" dirty="0"/>
              <a:t>)</a:t>
            </a:r>
            <a:r>
              <a:rPr lang="zh-CN" altLang="en-US" dirty="0"/>
              <a:t>。</a:t>
            </a:r>
            <a:endParaRPr lang="en-US" altLang="zh-CN" dirty="0"/>
          </a:p>
          <a:p>
            <a:pPr>
              <a:lnSpc>
                <a:spcPct val="120000"/>
              </a:lnSpc>
            </a:pPr>
            <a:r>
              <a:rPr lang="en-US" altLang="zh-CN" dirty="0"/>
              <a:t>Sun and Abraham (2021) </a:t>
            </a:r>
            <a:r>
              <a:rPr lang="zh-CN" altLang="en-US" dirty="0"/>
              <a:t>证明动态模型的事件研究法，系数存在着污染偏差，即使假设被干预同样时期的群组</a:t>
            </a:r>
            <a:r>
              <a:rPr lang="en-US" altLang="zh-CN" dirty="0"/>
              <a:t>ATT </a:t>
            </a:r>
            <a:r>
              <a:rPr lang="zh-CN" altLang="en-US" dirty="0"/>
              <a:t>相同，也不能消除偏差，用事件研究法与检测平行趋势也是错误的。</a:t>
            </a:r>
            <a:endParaRPr lang="en-US" altLang="zh-CN" dirty="0"/>
          </a:p>
          <a:p>
            <a:pPr>
              <a:lnSpc>
                <a:spcPct val="120000"/>
              </a:lnSpc>
            </a:pPr>
            <a:r>
              <a:rPr lang="zh-CN" altLang="en-US" dirty="0"/>
              <a:t>怎么办？</a:t>
            </a:r>
            <a:endParaRPr lang="en-US" altLang="zh-CN" dirty="0"/>
          </a:p>
          <a:p>
            <a:pPr lvl="1">
              <a:lnSpc>
                <a:spcPct val="120000"/>
              </a:lnSpc>
            </a:pPr>
            <a:r>
              <a:rPr lang="en-US" altLang="zh-CN" dirty="0"/>
              <a:t>Callaway and Sant’Anna (2021) </a:t>
            </a:r>
            <a:r>
              <a:rPr lang="zh-CN" altLang="en-US" dirty="0"/>
              <a:t>的非参数方法</a:t>
            </a:r>
            <a:endParaRPr lang="en-US" altLang="zh-CN" dirty="0"/>
          </a:p>
          <a:p>
            <a:pPr lvl="1">
              <a:lnSpc>
                <a:spcPct val="120000"/>
              </a:lnSpc>
            </a:pPr>
            <a:r>
              <a:rPr lang="en-US" altLang="zh-CN" dirty="0"/>
              <a:t>Wooldridge (2021) </a:t>
            </a:r>
            <a:r>
              <a:rPr lang="zh-CN" altLang="en-US" dirty="0"/>
              <a:t>的回归方法</a:t>
            </a:r>
            <a:endParaRPr lang="en-US" altLang="zh-CN" dirty="0"/>
          </a:p>
          <a:p>
            <a:pPr lvl="1">
              <a:lnSpc>
                <a:spcPct val="120000"/>
              </a:lnSpc>
            </a:pPr>
            <a:r>
              <a:rPr lang="zh-CN" altLang="en-US" dirty="0"/>
              <a:t>基本思路是相同的，都是估计组群组因果效应（每个格子的效应），然后再进行合适的加权平均，得到相应地目标参数。</a:t>
            </a:r>
            <a:endParaRPr lang="en-US" altLang="zh-CN" dirty="0"/>
          </a:p>
          <a:p>
            <a:pPr lvl="1">
              <a:lnSpc>
                <a:spcPct val="120000"/>
              </a:lnSpc>
            </a:pPr>
            <a:r>
              <a:rPr lang="zh-CN" altLang="en-US" dirty="0"/>
              <a:t>缺失值填补</a:t>
            </a:r>
            <a:r>
              <a:rPr lang="en-US" altLang="zh-CN" dirty="0"/>
              <a:t>(imputation)(</a:t>
            </a:r>
            <a:r>
              <a:rPr lang="en-US" altLang="zh-CN" dirty="0" err="1"/>
              <a:t>Borusyak</a:t>
            </a:r>
            <a:r>
              <a:rPr lang="en-US" altLang="zh-CN" dirty="0"/>
              <a:t> et al., 2024; Gardner, 2021)</a:t>
            </a:r>
          </a:p>
          <a:p>
            <a:pPr lvl="1">
              <a:lnSpc>
                <a:spcPct val="120000"/>
              </a:lnSpc>
            </a:pPr>
            <a:r>
              <a:rPr lang="zh-CN" altLang="en-US" dirty="0"/>
              <a:t>堆叠方法</a:t>
            </a:r>
            <a:r>
              <a:rPr lang="en-US" altLang="zh-CN" dirty="0"/>
              <a:t>(stacking)(Cengiz et al., 2019)</a:t>
            </a:r>
            <a:endParaRPr lang="zh-CN" altLang="en-US" dirty="0"/>
          </a:p>
        </p:txBody>
      </p:sp>
      <p:sp>
        <p:nvSpPr>
          <p:cNvPr id="4" name="页脚占位符 3">
            <a:extLst>
              <a:ext uri="{FF2B5EF4-FFF2-40B4-BE49-F238E27FC236}">
                <a16:creationId xmlns:a16="http://schemas.microsoft.com/office/drawing/2014/main" id="{01DA60A4-B9C7-E1A8-AB4A-17F7CD3E67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17F767-B8B7-1A92-DD1A-6BB108CF0047}"/>
              </a:ext>
            </a:extLst>
          </p:cNvPr>
          <p:cNvSpPr>
            <a:spLocks noGrp="1"/>
          </p:cNvSpPr>
          <p:nvPr>
            <p:ph type="sldNum" sz="quarter" idx="12"/>
          </p:nvPr>
        </p:nvSpPr>
        <p:spPr/>
        <p:txBody>
          <a:bodyPr/>
          <a:lstStyle/>
          <a:p>
            <a:fld id="{D41FC515-8169-4A29-AA56-DBE520D5741B}" type="slidenum">
              <a:rPr lang="zh-CN" altLang="en-US" smtClean="0"/>
              <a:t>79</a:t>
            </a:fld>
            <a:endParaRPr lang="zh-CN" altLang="en-US"/>
          </a:p>
        </p:txBody>
      </p:sp>
    </p:spTree>
    <p:extLst>
      <p:ext uri="{BB962C8B-B14F-4D97-AF65-F5344CB8AC3E}">
        <p14:creationId xmlns:p14="http://schemas.microsoft.com/office/powerpoint/2010/main" val="37116277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1C6BA-5AF3-999E-21F8-C131C2E03A66}"/>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8F24AE5-7AD2-6665-1D55-75E42061CF30}"/>
                  </a:ext>
                </a:extLst>
              </p:cNvPr>
              <p:cNvSpPr>
                <a:spLocks noGrp="1"/>
              </p:cNvSpPr>
              <p:nvPr>
                <p:ph idx="1"/>
              </p:nvPr>
            </p:nvSpPr>
            <p:spPr/>
            <p:txBody>
              <a:bodyPr>
                <a:normAutofit fontScale="70000" lnSpcReduction="20000"/>
              </a:bodyPr>
              <a:lstStyle/>
              <a:p>
                <a:pPr>
                  <a:lnSpc>
                    <a:spcPct val="120000"/>
                  </a:lnSpc>
                </a:pPr>
                <a:r>
                  <a:rPr lang="zh-CN" altLang="en-US" dirty="0"/>
                  <a:t>基本设定：𝑡 </a:t>
                </a:r>
                <a:r>
                  <a:rPr lang="en-US" altLang="zh-CN" dirty="0"/>
                  <a:t>= 1, … , </a:t>
                </a:r>
                <a:r>
                  <a:rPr lang="zh-CN" altLang="en-US" dirty="0"/>
                  <a:t>𝑇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oMath>
                </a14:m>
                <a:r>
                  <a:rPr lang="zh-CN" altLang="en-US" dirty="0"/>
                  <a:t>表示个体𝑖 在𝑡 期的干预状态。</a:t>
                </a:r>
                <a:endParaRPr lang="en-US" altLang="zh-CN" dirty="0"/>
              </a:p>
              <a:p>
                <a:pPr>
                  <a:lnSpc>
                    <a:spcPct val="120000"/>
                  </a:lnSpc>
                </a:pPr>
                <a:r>
                  <a:rPr lang="zh-CN" altLang="en-US" dirty="0"/>
                  <a:t>假设</a:t>
                </a:r>
                <a:r>
                  <a:rPr lang="en-US" altLang="zh-CN" dirty="0"/>
                  <a:t>1</a:t>
                </a:r>
                <a:r>
                  <a:rPr lang="zh-CN" altLang="en-US" dirty="0"/>
                  <a:t>（干预的不可逆反性）： 𝐷</a:t>
                </a:r>
                <a:r>
                  <a:rPr lang="en-US" altLang="zh-CN" dirty="0"/>
                  <a:t>1 = 0</a:t>
                </a:r>
                <a:r>
                  <a:rPr lang="zh-CN" altLang="en-US" dirty="0"/>
                  <a:t>，对于𝑡 </a:t>
                </a:r>
                <a:r>
                  <a:rPr lang="en-US" altLang="zh-CN" dirty="0"/>
                  <a:t>= 2, … , </a:t>
                </a:r>
                <a:r>
                  <a:rPr lang="zh-CN" altLang="en-US" dirty="0"/>
                  <a:t>𝑇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𝑡</m:t>
                        </m:r>
                        <m:r>
                          <a:rPr lang="zh-CN" altLang="en-US" i="1" dirty="0">
                            <a:latin typeface="Cambria Math" panose="02040503050406030204" pitchFamily="18" charset="0"/>
                          </a:rPr>
                          <m:t>−</m:t>
                        </m:r>
                        <m:r>
                          <a:rPr lang="en-US" altLang="zh-CN" i="1" dirty="0">
                            <a:latin typeface="Cambria Math" panose="02040503050406030204" pitchFamily="18" charset="0"/>
                          </a:rPr>
                          <m:t>1</m:t>
                        </m:r>
                      </m:sub>
                    </m:sSub>
                    <m:r>
                      <a:rPr lang="en-US" altLang="zh-CN" i="1" dirty="0">
                        <a:latin typeface="Cambria Math" panose="02040503050406030204" pitchFamily="18" charset="0"/>
                      </a:rPr>
                      <m:t> = 1</m:t>
                    </m:r>
                  </m:oMath>
                </a14:m>
                <a:r>
                  <a:rPr lang="zh-CN" altLang="en-US" dirty="0"/>
                  <a:t>，则</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1</m:t>
                    </m:r>
                  </m:oMath>
                </a14:m>
                <a:r>
                  <a:rPr lang="zh-CN" altLang="en-US" dirty="0"/>
                  <a:t>。即假设第</a:t>
                </a:r>
                <a:r>
                  <a:rPr lang="en-US" altLang="zh-CN" dirty="0"/>
                  <a:t>1 </a:t>
                </a:r>
                <a:r>
                  <a:rPr lang="zh-CN" altLang="en-US" dirty="0"/>
                  <a:t>期没有个体受到干预，并且一旦个体受到干预，其后期均受到干预，即为交错模式</a:t>
                </a:r>
                <a:r>
                  <a:rPr lang="en-US" altLang="zh-CN" dirty="0"/>
                  <a:t>(staggered)</a:t>
                </a:r>
                <a:r>
                  <a:rPr lang="zh-CN" altLang="en-US" dirty="0"/>
                  <a:t>。</a:t>
                </a:r>
              </a:p>
              <a:p>
                <a:pPr>
                  <a:lnSpc>
                    <a:spcPct val="120000"/>
                  </a:lnSpc>
                </a:pPr>
                <a:r>
                  <a:rPr lang="zh-CN" altLang="en-US" dirty="0"/>
                  <a:t>用𝐸𝑖 表示个体𝑖 首次干预的时期，若个体𝑖 在全时期没有受到干预，记为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𝐸</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oMath>
                </a14:m>
                <a:r>
                  <a:rPr lang="zh-CN" altLang="en-US" dirty="0"/>
                  <a:t>，令</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𝐸</m:t>
                        </m:r>
                      </m:e>
                      <m:sub>
                        <m:r>
                          <a:rPr lang="zh-CN" altLang="en-US" i="1" dirty="0" smtClean="0">
                            <a:latin typeface="Cambria Math" panose="02040503050406030204" pitchFamily="18" charset="0"/>
                          </a:rPr>
                          <m:t>𝑖</m:t>
                        </m:r>
                        <m:r>
                          <a:rPr lang="en-US" altLang="zh-CN" i="1" dirty="0">
                            <a:latin typeface="Cambria Math" panose="02040503050406030204" pitchFamily="18" charset="0"/>
                          </a:rPr>
                          <m:t>,</m:t>
                        </m:r>
                        <m:r>
                          <a:rPr lang="zh-CN" altLang="en-US" i="1" dirty="0">
                            <a:latin typeface="Cambria Math" panose="02040503050406030204" pitchFamily="18" charset="0"/>
                          </a:rPr>
                          <m:t>𝑒</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𝐸</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oMath>
                </a14:m>
                <a:r>
                  <a:rPr lang="zh-CN" altLang="en-US" dirty="0"/>
                  <a:t>，定义倾向指数：</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𝑠</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𝑠</m:t>
                                      </m:r>
                                    </m:sub>
                                  </m:sSub>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r>
                                <a:rPr lang="zh-CN" altLang="en-US" i="1" smtClean="0">
                                  <a:latin typeface="Cambria Math" panose="02040503050406030204" pitchFamily="18" charset="0"/>
                                </a:rPr>
                                <m:t>=1</m:t>
                              </m:r>
                            </m:e>
                          </m:d>
                        </m:e>
                      </m:func>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表示个体首次在𝑒 期被干预的可能性，相对于𝑒 群组和截止𝑠 期还未受干预的个体中。</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𝐶</m:t>
                              </m:r>
                              <m:r>
                                <a:rPr lang="zh-CN" altLang="en-US" i="1" smtClean="0">
                                  <a:latin typeface="Cambria Math" panose="02040503050406030204" pitchFamily="18" charset="0"/>
                                </a:rPr>
                                <m:t>=1</m:t>
                              </m:r>
                            </m:e>
                          </m:d>
                        </m:e>
                      </m:func>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表示个体首次在𝑒 期被干预的可能性，相对于𝑒 群组和∞ 群组。</a:t>
                </a:r>
              </a:p>
            </p:txBody>
          </p:sp>
        </mc:Choice>
        <mc:Fallback xmlns="">
          <p:sp>
            <p:nvSpPr>
              <p:cNvPr id="3" name="内容占位符 2">
                <a:extLst>
                  <a:ext uri="{FF2B5EF4-FFF2-40B4-BE49-F238E27FC236}">
                    <a16:creationId xmlns:a16="http://schemas.microsoft.com/office/drawing/2014/main" id="{18F24AE5-7AD2-6665-1D55-75E42061CF30}"/>
                  </a:ext>
                </a:extLst>
              </p:cNvPr>
              <p:cNvSpPr>
                <a:spLocks noGrp="1" noRot="1" noChangeAspect="1" noMove="1" noResize="1" noEditPoints="1" noAdjustHandles="1" noChangeArrowheads="1" noChangeShapeType="1" noTextEdit="1"/>
              </p:cNvSpPr>
              <p:nvPr>
                <p:ph idx="1"/>
              </p:nvPr>
            </p:nvSpPr>
            <p:spPr>
              <a:blipFill>
                <a:blip r:embed="rId2"/>
                <a:stretch>
                  <a:fillRect l="-696" t="-840" r="-7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5638968-0C12-F571-253A-939C7609E0F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161227A-653E-524F-80B6-36DBC117BC73}"/>
              </a:ext>
            </a:extLst>
          </p:cNvPr>
          <p:cNvSpPr>
            <a:spLocks noGrp="1"/>
          </p:cNvSpPr>
          <p:nvPr>
            <p:ph type="sldNum" sz="quarter" idx="12"/>
          </p:nvPr>
        </p:nvSpPr>
        <p:spPr/>
        <p:txBody>
          <a:bodyPr/>
          <a:lstStyle/>
          <a:p>
            <a:fld id="{D41FC515-8169-4A29-AA56-DBE520D5741B}" type="slidenum">
              <a:rPr lang="zh-CN" altLang="en-US" smtClean="0"/>
              <a:t>80</a:t>
            </a:fld>
            <a:endParaRPr lang="zh-CN" altLang="en-US"/>
          </a:p>
        </p:txBody>
      </p:sp>
    </p:spTree>
    <p:extLst>
      <p:ext uri="{BB962C8B-B14F-4D97-AF65-F5344CB8AC3E}">
        <p14:creationId xmlns:p14="http://schemas.microsoft.com/office/powerpoint/2010/main" val="29294859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C78E3B-D169-8680-D836-C067E78A93D0}"/>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8DBE4D7-F727-65EE-C7C5-7A5CF5B33BAA}"/>
                  </a:ext>
                </a:extLst>
              </p:cNvPr>
              <p:cNvSpPr>
                <a:spLocks noGrp="1"/>
              </p:cNvSpPr>
              <p:nvPr>
                <p:ph idx="1"/>
              </p:nvPr>
            </p:nvSpPr>
            <p:spPr/>
            <p:txBody>
              <a:bodyPr>
                <a:normAutofit fontScale="92500" lnSpcReduction="10000"/>
              </a:bodyPr>
              <a:lstStyle/>
              <a:p>
                <a:pPr>
                  <a:lnSpc>
                    <a:spcPct val="110000"/>
                  </a:lnSpc>
                </a:pPr>
                <a:endParaRPr lang="en-US" altLang="zh-CN" sz="2400" dirty="0"/>
              </a:p>
              <a:p>
                <a:pPr>
                  <a:lnSpc>
                    <a:spcPct val="110000"/>
                  </a:lnSpc>
                </a:pPr>
                <a:endParaRPr lang="en-US" altLang="zh-CN" sz="2400" dirty="0"/>
              </a:p>
              <a:p>
                <a:pPr>
                  <a:lnSpc>
                    <a:spcPct val="110000"/>
                  </a:lnSpc>
                </a:pPr>
                <a:endParaRPr lang="en-US" altLang="zh-CN" sz="2400" dirty="0"/>
              </a:p>
              <a:p>
                <a:pPr>
                  <a:lnSpc>
                    <a:spcPct val="110000"/>
                  </a:lnSpc>
                </a:pPr>
                <a:endParaRPr lang="en-US" altLang="zh-CN" sz="2400" dirty="0"/>
              </a:p>
              <a:p>
                <a:pPr>
                  <a:lnSpc>
                    <a:spcPct val="110000"/>
                  </a:lnSpc>
                </a:pPr>
                <a14:m>
                  <m:oMath xmlns:m="http://schemas.openxmlformats.org/officeDocument/2006/math">
                    <m:sSub>
                      <m:sSubPr>
                        <m:ctrlPr>
                          <a:rPr lang="zh-CN" altLang="en-US" sz="2400" i="1" dirty="0" smtClean="0">
                            <a:latin typeface="Cambria Math" panose="02040503050406030204" pitchFamily="18" charset="0"/>
                          </a:rPr>
                        </m:ctrlPr>
                      </m:sSubPr>
                      <m:e>
                        <m:r>
                          <a:rPr lang="zh-CN" altLang="en-US" sz="2400" i="1" dirty="0" smtClean="0">
                            <a:latin typeface="Cambria Math" panose="02040503050406030204" pitchFamily="18" charset="0"/>
                          </a:rPr>
                          <m:t>𝑃</m:t>
                        </m:r>
                      </m:e>
                      <m:sub>
                        <m:r>
                          <a:rPr lang="zh-CN" altLang="en-US" sz="2400" i="1" dirty="0" smtClean="0">
                            <a:latin typeface="Cambria Math" panose="02040503050406030204" pitchFamily="18" charset="0"/>
                          </a:rPr>
                          <m:t>𝑒</m:t>
                        </m:r>
                        <m:r>
                          <a:rPr lang="en-US" altLang="zh-CN" sz="2400" i="1" dirty="0">
                            <a:latin typeface="Cambria Math" panose="02040503050406030204" pitchFamily="18" charset="0"/>
                          </a:rPr>
                          <m:t>,</m:t>
                        </m:r>
                        <m:r>
                          <a:rPr lang="zh-CN" altLang="en-US" sz="2400" i="1" dirty="0">
                            <a:latin typeface="Cambria Math" panose="02040503050406030204" pitchFamily="18" charset="0"/>
                          </a:rPr>
                          <m:t>𝑠</m:t>
                        </m:r>
                      </m:sub>
                    </m:sSub>
                    <m:r>
                      <a:rPr lang="en-US" altLang="zh-CN" sz="2400" i="1" dirty="0" smtClean="0">
                        <a:latin typeface="Cambria Math" panose="02040503050406030204" pitchFamily="18" charset="0"/>
                      </a:rPr>
                      <m:t> </m:t>
                    </m:r>
                    <m:r>
                      <a:rPr lang="en-US" altLang="zh-CN" sz="2400" i="1" dirty="0">
                        <a:latin typeface="Cambria Math" panose="02040503050406030204" pitchFamily="18" charset="0"/>
                      </a:rPr>
                      <m:t>(</m:t>
                    </m:r>
                    <m:r>
                      <a:rPr lang="zh-CN" altLang="en-US" sz="2400" i="1" dirty="0">
                        <a:latin typeface="Cambria Math" panose="02040503050406030204" pitchFamily="18" charset="0"/>
                      </a:rPr>
                      <m:t>𝑋</m:t>
                    </m:r>
                    <m:r>
                      <a:rPr lang="en-US" altLang="zh-CN" sz="2400" i="1" dirty="0">
                        <a:latin typeface="Cambria Math" panose="02040503050406030204" pitchFamily="18" charset="0"/>
                      </a:rPr>
                      <m:t>) </m:t>
                    </m:r>
                  </m:oMath>
                </a14:m>
                <a:r>
                  <a:rPr lang="zh-CN" altLang="en-US" sz="2400" dirty="0"/>
                  <a:t>表示图中黑框所示时期个体被𝑒 期开始被干预的可能性，即对应𝑒 和下白色所示当前还未受干预的个体中所占的比例。</a:t>
                </a:r>
                <a14:m>
                  <m:oMath xmlns:m="http://schemas.openxmlformats.org/officeDocument/2006/math">
                    <m:sSub>
                      <m:sSubPr>
                        <m:ctrlPr>
                          <a:rPr lang="zh-CN" altLang="en-US" sz="2400" i="1" dirty="0" smtClean="0">
                            <a:latin typeface="Cambria Math" panose="02040503050406030204" pitchFamily="18" charset="0"/>
                          </a:rPr>
                        </m:ctrlPr>
                      </m:sSubPr>
                      <m:e>
                        <m:r>
                          <a:rPr lang="zh-CN" altLang="en-US" sz="2400" i="1" dirty="0" smtClean="0">
                            <a:latin typeface="Cambria Math" panose="02040503050406030204" pitchFamily="18" charset="0"/>
                          </a:rPr>
                          <m:t>𝑃</m:t>
                        </m:r>
                      </m:e>
                      <m:sub>
                        <m:r>
                          <a:rPr lang="zh-CN" altLang="en-US" sz="2400" i="1" dirty="0" smtClean="0">
                            <a:latin typeface="Cambria Math" panose="02040503050406030204" pitchFamily="18" charset="0"/>
                          </a:rPr>
                          <m:t>𝑒</m:t>
                        </m:r>
                      </m:sub>
                    </m:sSub>
                    <m:r>
                      <a:rPr lang="en-US" altLang="zh-CN" sz="2400" i="1" dirty="0">
                        <a:latin typeface="Cambria Math" panose="02040503050406030204" pitchFamily="18" charset="0"/>
                      </a:rPr>
                      <m:t>(</m:t>
                    </m:r>
                    <m:r>
                      <a:rPr lang="zh-CN" altLang="en-US" sz="2400" i="1" dirty="0">
                        <a:latin typeface="Cambria Math" panose="02040503050406030204" pitchFamily="18" charset="0"/>
                      </a:rPr>
                      <m:t>𝑋</m:t>
                    </m:r>
                    <m:r>
                      <a:rPr lang="en-US" altLang="zh-CN" sz="2400" i="1" dirty="0">
                        <a:latin typeface="Cambria Math" panose="02040503050406030204" pitchFamily="18" charset="0"/>
                      </a:rPr>
                      <m:t>) </m:t>
                    </m:r>
                  </m:oMath>
                </a14:m>
                <a:r>
                  <a:rPr lang="zh-CN" altLang="en-US" sz="2400" dirty="0"/>
                  <a:t>表示图中𝑒 期和最下方一直未受干预的群组中𝑒 期开始被干预的可能性。</a:t>
                </a:r>
                <a:r>
                  <a:rPr lang="en-US" altLang="zh-CN" sz="2400" dirty="0"/>
                  <a:t> </a:t>
                </a:r>
              </a:p>
              <a:p>
                <a:pPr>
                  <a:lnSpc>
                    <a:spcPct val="110000"/>
                  </a:lnSpc>
                </a:pPr>
                <a14:m>
                  <m:oMath xmlns:m="http://schemas.openxmlformats.org/officeDocument/2006/math">
                    <m:eqArr>
                      <m:eqArrPr>
                        <m:ctrlPr>
                          <a:rPr lang="zh-CN" altLang="en-US" sz="2400" i="1" smtClean="0">
                            <a:latin typeface="Cambria Math" panose="02040503050406030204" pitchFamily="18" charset="0"/>
                          </a:rPr>
                        </m:ctrlPr>
                      </m:eqArr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𝑌</m:t>
                            </m:r>
                          </m:e>
                          <m:sub>
                            <m:r>
                              <a:rPr lang="zh-CN" altLang="en-US" sz="2400" i="1" smtClean="0">
                                <a:latin typeface="Cambria Math" panose="02040503050406030204" pitchFamily="18" charset="0"/>
                              </a:rPr>
                              <m:t>𝑖𝑡</m:t>
                            </m:r>
                          </m:sub>
                        </m:sSub>
                        <m:r>
                          <a:rPr lang="zh-CN" altLang="en-US" sz="2400" i="1" smtClean="0">
                            <a:latin typeface="Cambria Math" panose="02040503050406030204" pitchFamily="18" charset="0"/>
                          </a:rPr>
                          <m:t>=</m:t>
                        </m:r>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𝑌</m:t>
                            </m:r>
                          </m:e>
                          <m:sub>
                            <m:r>
                              <a:rPr lang="zh-CN" altLang="en-US" sz="2400" i="1" smtClean="0">
                                <a:latin typeface="Cambria Math" panose="02040503050406030204" pitchFamily="18" charset="0"/>
                              </a:rPr>
                              <m:t>𝑖𝑡</m:t>
                            </m:r>
                          </m:sub>
                        </m:sSub>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m:t>
                            </m:r>
                          </m:e>
                        </m:d>
                        <m:r>
                          <a:rPr lang="zh-CN" altLang="en-US" sz="2400" i="1" smtClean="0">
                            <a:latin typeface="Cambria Math" panose="02040503050406030204" pitchFamily="18" charset="0"/>
                          </a:rPr>
                          <m:t>+</m:t>
                        </m:r>
                        <m:nary>
                          <m:naryPr>
                            <m:chr m:val="∑"/>
                            <m:limLoc m:val="undOvr"/>
                            <m:ctrlPr>
                              <a:rPr lang="zh-CN" altLang="en-US" sz="2400" i="1" smtClean="0">
                                <a:latin typeface="Cambria Math" panose="02040503050406030204" pitchFamily="18" charset="0"/>
                              </a:rPr>
                            </m:ctrlPr>
                          </m:naryPr>
                          <m:sub>
                            <m:r>
                              <a:rPr lang="zh-CN" altLang="en-US" sz="2400" i="1" smtClean="0">
                                <a:latin typeface="Cambria Math" panose="02040503050406030204" pitchFamily="18" charset="0"/>
                              </a:rPr>
                              <m:t>𝑒</m:t>
                            </m:r>
                            <m:r>
                              <a:rPr lang="zh-CN" altLang="en-US" sz="2400" i="1" smtClean="0">
                                <a:latin typeface="Cambria Math" panose="02040503050406030204" pitchFamily="18" charset="0"/>
                              </a:rPr>
                              <m:t>=2</m:t>
                            </m:r>
                          </m:sub>
                          <m:sup>
                            <m:r>
                              <a:rPr lang="zh-CN" altLang="en-US" sz="2400" i="1" smtClean="0">
                                <a:latin typeface="Cambria Math" panose="02040503050406030204" pitchFamily="18" charset="0"/>
                              </a:rPr>
                              <m:t>𝑇</m:t>
                            </m:r>
                          </m:sup>
                          <m:e>
                            <m:d>
                              <m:dPr>
                                <m:ctrlPr>
                                  <a:rPr lang="zh-CN" altLang="en-US" sz="2400" i="1" smtClean="0">
                                    <a:latin typeface="Cambria Math" panose="02040503050406030204" pitchFamily="18" charset="0"/>
                                  </a:rPr>
                                </m:ctrlPr>
                              </m:dPr>
                              <m:e>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𝑌</m:t>
                                    </m:r>
                                  </m:e>
                                  <m:sub>
                                    <m:r>
                                      <a:rPr lang="zh-CN" altLang="en-US" sz="2400" i="1" smtClean="0">
                                        <a:latin typeface="Cambria Math" panose="02040503050406030204" pitchFamily="18" charset="0"/>
                                      </a:rPr>
                                      <m:t>𝑖𝑡</m:t>
                                    </m:r>
                                  </m:sub>
                                </m:sSub>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e>
                                </m:d>
                                <m:r>
                                  <a:rPr lang="zh-CN" altLang="en-US" sz="2400" i="1" smtClean="0">
                                    <a:latin typeface="Cambria Math" panose="02040503050406030204" pitchFamily="18" charset="0"/>
                                  </a:rPr>
                                  <m:t>−</m:t>
                                </m:r>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𝑌</m:t>
                                    </m:r>
                                  </m:e>
                                  <m:sub>
                                    <m:r>
                                      <a:rPr lang="zh-CN" altLang="en-US" sz="2400" i="1" smtClean="0">
                                        <a:latin typeface="Cambria Math" panose="02040503050406030204" pitchFamily="18" charset="0"/>
                                      </a:rPr>
                                      <m:t>𝑖𝑡</m:t>
                                    </m:r>
                                  </m:sub>
                                </m:sSub>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m:t>
                                    </m:r>
                                  </m:e>
                                </m:d>
                              </m:e>
                            </m:d>
                          </m:e>
                        </m:nary>
                        <m:r>
                          <a:rPr lang="zh-CN" altLang="en-US" sz="2400" i="1" smtClean="0">
                            <a:latin typeface="Cambria Math" panose="02040503050406030204" pitchFamily="18" charset="0"/>
                          </a:rPr>
                          <m:t>⋅</m:t>
                        </m:r>
                        <m:sSub>
                          <m:sSubPr>
                            <m:ctrlPr>
                              <a:rPr lang="zh-CN" altLang="en-US" sz="2400" i="1" smtClean="0">
                                <a:latin typeface="Cambria Math" panose="02040503050406030204" pitchFamily="18" charset="0"/>
                              </a:rPr>
                            </m:ctrlPr>
                          </m:sSubPr>
                          <m:e>
                            <m:r>
                              <a:rPr lang="zh-CN" altLang="en-US" sz="2400" i="1" smtClean="0">
                                <a:latin typeface="Cambria Math" panose="02040503050406030204" pitchFamily="18" charset="0"/>
                              </a:rPr>
                              <m:t>𝐸</m:t>
                            </m:r>
                          </m:e>
                          <m:sub>
                            <m:r>
                              <a:rPr lang="zh-CN" altLang="en-US" sz="2400" i="1" smtClean="0">
                                <a:latin typeface="Cambria Math" panose="02040503050406030204" pitchFamily="18" charset="0"/>
                              </a:rPr>
                              <m:t>𝑖𝑒</m:t>
                            </m:r>
                          </m:sub>
                        </m:sSub>
                        <m:r>
                          <a:rPr lang="zh-CN" altLang="en-US" sz="2400" i="1" smtClean="0">
                            <a:latin typeface="Cambria Math" panose="02040503050406030204" pitchFamily="18" charset="0"/>
                          </a:rPr>
                          <m:t>.</m:t>
                        </m:r>
                      </m:e>
                    </m:eqArr>
                  </m:oMath>
                </a14:m>
                <a:endParaRPr lang="en-US" altLang="zh-CN" sz="2400" dirty="0"/>
              </a:p>
              <a:p>
                <a:pPr>
                  <a:lnSpc>
                    <a:spcPct val="110000"/>
                  </a:lnSpc>
                </a:pPr>
                <a:r>
                  <a:rPr lang="zh-CN" altLang="en-US" sz="2400" dirty="0"/>
                  <a:t>令</a:t>
                </a:r>
                <a:r>
                  <a:rPr lang="en-US" altLang="zh-CN" sz="2400" dirty="0"/>
                  <a:t> </a:t>
                </a:r>
                <a14:m>
                  <m:oMath xmlns:m="http://schemas.openxmlformats.org/officeDocument/2006/math">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𝑒</m:t>
                        </m:r>
                      </m:e>
                    </m:acc>
                    <m:r>
                      <a:rPr lang="en-US" altLang="zh-CN" sz="2400" b="0" i="1" dirty="0" smtClean="0">
                        <a:latin typeface="Cambria Math" panose="02040503050406030204" pitchFamily="18" charset="0"/>
                      </a:rPr>
                      <m:t>=</m:t>
                    </m:r>
                    <m:r>
                      <m:rPr>
                        <m:sty m:val="p"/>
                      </m:rPr>
                      <a:rPr lang="en-US" altLang="zh-CN" sz="2400" i="1" dirty="0">
                        <a:latin typeface="Cambria Math" panose="02040503050406030204" pitchFamily="18" charset="0"/>
                      </a:rPr>
                      <m:t>max</m:t>
                    </m:r>
                    <m:r>
                      <a:rPr lang="en-US" altLang="zh-CN" sz="2400" i="1" dirty="0">
                        <a:latin typeface="Cambria Math" panose="02040503050406030204" pitchFamily="18" charset="0"/>
                      </a:rPr>
                      <m:t>⁡</m:t>
                    </m:r>
                    <m:sSub>
                      <m:sSubPr>
                        <m:ctrlPr>
                          <a:rPr lang="en-US" altLang="zh-CN" sz="2400" i="1" dirty="0" err="1">
                            <a:latin typeface="Cambria Math" panose="02040503050406030204" pitchFamily="18" charset="0"/>
                          </a:rPr>
                        </m:ctrlPr>
                      </m:sSubPr>
                      <m:e>
                        <m:r>
                          <a:rPr lang="en-US" altLang="zh-CN" sz="2400" i="1" dirty="0" err="1">
                            <a:latin typeface="Cambria Math" panose="02040503050406030204" pitchFamily="18" charset="0"/>
                          </a:rPr>
                          <m:t>𝐸</m:t>
                        </m:r>
                      </m:e>
                      <m:sub>
                        <m:r>
                          <a:rPr lang="en-US" altLang="zh-CN" sz="2400" i="1" dirty="0" err="1">
                            <a:latin typeface="Cambria Math" panose="02040503050406030204" pitchFamily="18" charset="0"/>
                          </a:rPr>
                          <m:t>𝑖</m:t>
                        </m:r>
                      </m:sub>
                    </m:sSub>
                  </m:oMath>
                </a14:m>
                <a:r>
                  <a:rPr lang="zh-CN" altLang="en-US" sz="2400" dirty="0"/>
                  <a:t>，</a:t>
                </a:r>
                <a:r>
                  <a:rPr lang="en-US" altLang="zh-CN" sz="2400" dirty="0"/>
                  <a:t>ℰ = </a:t>
                </a:r>
                <a:r>
                  <a:rPr lang="zh-CN" altLang="en-US" sz="2400" dirty="0"/>
                  <a:t>𝑠𝑢𝑝𝑝</a:t>
                </a:r>
                <a:r>
                  <a:rPr lang="en-US" altLang="zh-CN" sz="2400" dirty="0"/>
                  <a:t>(</a:t>
                </a:r>
                <a:r>
                  <a:rPr lang="zh-CN" altLang="en-US" sz="2400" dirty="0"/>
                  <a:t>𝐸</a:t>
                </a:r>
                <a:r>
                  <a:rPr lang="en-US" altLang="zh-CN" sz="2400" dirty="0"/>
                  <a:t>)\{</a:t>
                </a:r>
                <a:r>
                  <a:rPr lang="zh-CN" altLang="en-US" sz="2400" dirty="0"/>
                  <a:t>𝑒</a:t>
                </a:r>
                <a:r>
                  <a:rPr lang="en-US" altLang="zh-CN" sz="2400" dirty="0"/>
                  <a:t>}</a:t>
                </a:r>
                <a:r>
                  <a:rPr lang="zh-CN" altLang="en-US" sz="2400" dirty="0"/>
                  <a:t>。。</a:t>
                </a:r>
              </a:p>
            </p:txBody>
          </p:sp>
        </mc:Choice>
        <mc:Fallback xmlns="">
          <p:sp>
            <p:nvSpPr>
              <p:cNvPr id="3" name="内容占位符 2">
                <a:extLst>
                  <a:ext uri="{FF2B5EF4-FFF2-40B4-BE49-F238E27FC236}">
                    <a16:creationId xmlns:a16="http://schemas.microsoft.com/office/drawing/2014/main" id="{88DBE4D7-F727-65EE-C7C5-7A5CF5B33BAA}"/>
                  </a:ext>
                </a:extLst>
              </p:cNvPr>
              <p:cNvSpPr>
                <a:spLocks noGrp="1" noRot="1" noChangeAspect="1" noMove="1" noResize="1" noEditPoints="1" noAdjustHandles="1" noChangeArrowheads="1" noChangeShapeType="1" noTextEdit="1"/>
              </p:cNvSpPr>
              <p:nvPr>
                <p:ph idx="1"/>
              </p:nvPr>
            </p:nvSpPr>
            <p:spPr>
              <a:blipFill>
                <a:blip r:embed="rId2"/>
                <a:stretch>
                  <a:fillRect l="-850" r="-1005" b="-644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8975F23-E412-4F19-D343-79713C2442D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6F6F762-7986-AFEB-4BD9-9C98BEEBDDC9}"/>
              </a:ext>
            </a:extLst>
          </p:cNvPr>
          <p:cNvSpPr>
            <a:spLocks noGrp="1"/>
          </p:cNvSpPr>
          <p:nvPr>
            <p:ph type="sldNum" sz="quarter" idx="12"/>
          </p:nvPr>
        </p:nvSpPr>
        <p:spPr/>
        <p:txBody>
          <a:bodyPr/>
          <a:lstStyle/>
          <a:p>
            <a:fld id="{D41FC515-8169-4A29-AA56-DBE520D5741B}" type="slidenum">
              <a:rPr lang="zh-CN" altLang="en-US" smtClean="0"/>
              <a:t>81</a:t>
            </a:fld>
            <a:endParaRPr lang="zh-CN" altLang="en-US"/>
          </a:p>
        </p:txBody>
      </p:sp>
      <p:pic>
        <p:nvPicPr>
          <p:cNvPr id="9" name="图片 8">
            <a:extLst>
              <a:ext uri="{FF2B5EF4-FFF2-40B4-BE49-F238E27FC236}">
                <a16:creationId xmlns:a16="http://schemas.microsoft.com/office/drawing/2014/main" id="{5E38F218-B6FF-853F-9DF2-A92DC3A5F201}"/>
              </a:ext>
            </a:extLst>
          </p:cNvPr>
          <p:cNvPicPr>
            <a:picLocks noChangeAspect="1"/>
          </p:cNvPicPr>
          <p:nvPr/>
        </p:nvPicPr>
        <p:blipFill>
          <a:blip r:embed="rId3"/>
          <a:stretch>
            <a:fillRect/>
          </a:stretch>
        </p:blipFill>
        <p:spPr>
          <a:xfrm>
            <a:off x="1178078" y="1714752"/>
            <a:ext cx="6980349" cy="1468192"/>
          </a:xfrm>
          <a:prstGeom prst="rect">
            <a:avLst/>
          </a:prstGeom>
        </p:spPr>
      </p:pic>
      <p:sp>
        <p:nvSpPr>
          <p:cNvPr id="11" name="文本框 10">
            <a:extLst>
              <a:ext uri="{FF2B5EF4-FFF2-40B4-BE49-F238E27FC236}">
                <a16:creationId xmlns:a16="http://schemas.microsoft.com/office/drawing/2014/main" id="{C00A5573-AFEE-D113-30A3-1D0EC4336D01}"/>
              </a:ext>
            </a:extLst>
          </p:cNvPr>
          <p:cNvSpPr txBox="1"/>
          <p:nvPr/>
        </p:nvSpPr>
        <p:spPr>
          <a:xfrm>
            <a:off x="3708734" y="3134031"/>
            <a:ext cx="2406316"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Figure 6: </a:t>
            </a:r>
            <a:r>
              <a:rPr lang="zh-CN" altLang="en-US" sz="1600" b="0" i="0" u="none" strike="noStrike" baseline="0" dirty="0">
                <a:solidFill>
                  <a:srgbClr val="000000"/>
                </a:solidFill>
                <a:latin typeface="宋体" panose="02010600030101010101" pitchFamily="2" charset="-122"/>
                <a:ea typeface="宋体" panose="02010600030101010101" pitchFamily="2" charset="-122"/>
              </a:rPr>
              <a:t>倾向指数定义</a:t>
            </a:r>
            <a:endParaRPr lang="zh-CN" altLang="en-US" sz="1600" dirty="0"/>
          </a:p>
        </p:txBody>
      </p:sp>
    </p:spTree>
    <p:extLst>
      <p:ext uri="{BB962C8B-B14F-4D97-AF65-F5344CB8AC3E}">
        <p14:creationId xmlns:p14="http://schemas.microsoft.com/office/powerpoint/2010/main" val="7476814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3A6882-BE35-1784-97C6-2E7AAC44474D}"/>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282269D-FCD5-0733-C0D3-A30C0763EB0E}"/>
                  </a:ext>
                </a:extLst>
              </p:cNvPr>
              <p:cNvSpPr>
                <a:spLocks noGrp="1"/>
              </p:cNvSpPr>
              <p:nvPr>
                <p:ph idx="1"/>
              </p:nvPr>
            </p:nvSpPr>
            <p:spPr/>
            <p:txBody>
              <a:bodyPr>
                <a:noAutofit/>
              </a:bodyPr>
              <a:lstStyle/>
              <a:p>
                <a:pPr>
                  <a:lnSpc>
                    <a:spcPct val="120000"/>
                  </a:lnSpc>
                </a:pPr>
                <a:r>
                  <a:rPr lang="zh-CN" altLang="en-US" sz="1600" dirty="0"/>
                  <a:t>假设</a:t>
                </a:r>
                <a:r>
                  <a:rPr lang="en-US" altLang="zh-CN" sz="1600" dirty="0"/>
                  <a:t>2</a:t>
                </a:r>
                <a:r>
                  <a:rPr lang="zh-CN" altLang="en-US" sz="1600" dirty="0"/>
                  <a:t>（随机抽样）：</a:t>
                </a:r>
                <a:r>
                  <a:rPr lang="en-US" altLang="zh-CN" sz="1600" dirty="0"/>
                  <a:t>{</a:t>
                </a:r>
                <a:r>
                  <a:rPr lang="zh-CN" altLang="en-US" sz="1600" dirty="0"/>
                  <a:t>𝑌𝑖</a:t>
                </a:r>
                <a:r>
                  <a:rPr lang="en-US" altLang="zh-CN" sz="1600" dirty="0"/>
                  <a:t>1, </a:t>
                </a:r>
                <a:r>
                  <a:rPr lang="zh-CN" altLang="en-US" sz="1600" dirty="0"/>
                  <a:t>𝑌𝑖</a:t>
                </a:r>
                <a:r>
                  <a:rPr lang="en-US" altLang="zh-CN" sz="1600" dirty="0"/>
                  <a:t>2, … , </a:t>
                </a:r>
                <a:r>
                  <a:rPr lang="zh-CN" altLang="en-US" sz="1600" dirty="0"/>
                  <a:t>𝑌𝑖𝑇 </a:t>
                </a:r>
                <a:r>
                  <a:rPr lang="en-US" altLang="zh-CN" sz="1600" dirty="0"/>
                  <a:t>, </a:t>
                </a:r>
                <a:r>
                  <a:rPr lang="zh-CN" altLang="en-US" sz="1600" dirty="0"/>
                  <a:t>𝑋𝑖</a:t>
                </a:r>
                <a:r>
                  <a:rPr lang="en-US" altLang="zh-CN" sz="1600" dirty="0"/>
                  <a:t>, </a:t>
                </a:r>
                <a:r>
                  <a:rPr lang="zh-CN" altLang="en-US" sz="1600" dirty="0"/>
                  <a:t>𝐷𝑖</a:t>
                </a:r>
                <a:r>
                  <a:rPr lang="en-US" altLang="zh-CN" sz="1600" dirty="0"/>
                  <a:t>1, … , </a:t>
                </a:r>
                <a:r>
                  <a:rPr lang="zh-CN" altLang="en-US" sz="1600" dirty="0"/>
                  <a:t>𝐷𝑖𝑇 </a:t>
                </a:r>
                <a:r>
                  <a:rPr lang="en-US" altLang="zh-CN" sz="1600" dirty="0"/>
                  <a:t>}</a:t>
                </a:r>
                <a:r>
                  <a:rPr lang="zh-CN" altLang="en-US" sz="1600" dirty="0"/>
                  <a:t>𝑛𝑖</a:t>
                </a:r>
                <a:r>
                  <a:rPr lang="en-US" altLang="zh-CN" sz="1600" dirty="0"/>
                  <a:t>=1 </a:t>
                </a:r>
                <a:r>
                  <a:rPr lang="zh-CN" altLang="en-US" sz="1600" dirty="0"/>
                  <a:t>是独立同分布的。</a:t>
                </a:r>
                <a:endParaRPr lang="en-US" altLang="zh-CN" sz="1600" dirty="0"/>
              </a:p>
              <a:p>
                <a:pPr>
                  <a:lnSpc>
                    <a:spcPct val="120000"/>
                  </a:lnSpc>
                </a:pPr>
                <a:r>
                  <a:rPr lang="zh-CN" altLang="en-US" sz="1600" dirty="0"/>
                  <a:t>群组时间平均因果效应</a:t>
                </a:r>
                <a:r>
                  <a:rPr lang="en-US" altLang="zh-CN" sz="1600" dirty="0"/>
                  <a:t>:</a:t>
                </a:r>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𝐴𝑇𝑇</m:t>
                      </m:r>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𝑒</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oMath>
                  </m:oMathPara>
                </a14:m>
                <a:endParaRPr lang="en-US" altLang="zh-CN" sz="1600" dirty="0"/>
              </a:p>
              <a:p>
                <a:pPr marL="0" indent="0">
                  <a:lnSpc>
                    <a:spcPct val="120000"/>
                  </a:lnSpc>
                  <a:buNone/>
                </a:pPr>
                <a:r>
                  <a:rPr lang="zh-CN" altLang="en-US" sz="1600" b="1" dirty="0"/>
                  <a:t>识别假设：</a:t>
                </a:r>
                <a:endParaRPr lang="en-US" altLang="zh-CN" sz="1600" b="1" dirty="0"/>
              </a:p>
              <a:p>
                <a:pPr>
                  <a:lnSpc>
                    <a:spcPct val="120000"/>
                  </a:lnSpc>
                </a:pPr>
                <a:r>
                  <a:rPr lang="zh-CN" altLang="en-US" sz="1600" dirty="0"/>
                  <a:t>假设</a:t>
                </a:r>
                <a:r>
                  <a:rPr lang="en-US" altLang="zh-CN" sz="1600" dirty="0"/>
                  <a:t>3 </a:t>
                </a:r>
                <a:r>
                  <a:rPr lang="zh-CN" altLang="en-US" sz="1600" dirty="0"/>
                  <a:t>（无预期效应）：对于所有𝑒 ∈ </a:t>
                </a:r>
                <a:r>
                  <a:rPr lang="en-US" altLang="zh-CN" sz="1600" dirty="0"/>
                  <a:t>ℰ</a:t>
                </a:r>
                <a:r>
                  <a:rPr lang="zh-CN" altLang="en-US" sz="1600" dirty="0"/>
                  <a:t>，𝑡 ∈ </a:t>
                </a:r>
                <a:r>
                  <a:rPr lang="en-US" altLang="zh-CN" sz="1600" dirty="0"/>
                  <a:t>{1, … , </a:t>
                </a:r>
                <a:r>
                  <a:rPr lang="zh-CN" altLang="en-US" sz="1600" dirty="0"/>
                  <a:t>𝑇 </a:t>
                </a:r>
                <a:r>
                  <a:rPr lang="en-US" altLang="zh-CN" sz="1600" dirty="0"/>
                  <a:t>}</a:t>
                </a:r>
                <a:r>
                  <a:rPr lang="zh-CN" altLang="en-US" sz="1600" dirty="0"/>
                  <a:t>，且𝑡 </a:t>
                </a:r>
                <a:r>
                  <a:rPr lang="en-US" altLang="zh-CN" sz="1600" dirty="0"/>
                  <a:t>&lt; </a:t>
                </a:r>
                <a:r>
                  <a:rPr lang="zh-CN" altLang="en-US" sz="1600" dirty="0"/>
                  <a:t>𝑒，</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𝑒</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oMath>
                  </m:oMathPara>
                </a14:m>
                <a:endParaRPr lang="en-US" altLang="zh-CN" sz="1600" dirty="0"/>
              </a:p>
              <a:p>
                <a:pPr>
                  <a:lnSpc>
                    <a:spcPct val="120000"/>
                  </a:lnSpc>
                </a:pPr>
                <a:r>
                  <a:rPr lang="zh-CN" altLang="en-US" sz="1600" dirty="0"/>
                  <a:t>假设</a:t>
                </a:r>
                <a:r>
                  <a:rPr lang="en-US" altLang="zh-CN" sz="1600" dirty="0"/>
                  <a:t>4 </a:t>
                </a:r>
                <a:r>
                  <a:rPr lang="zh-CN" altLang="en-US" sz="1600" dirty="0"/>
                  <a:t>（相对于从未受干预者的平行趋势假设）：对于𝑒 ∈ </a:t>
                </a:r>
                <a:r>
                  <a:rPr lang="en-US" altLang="zh-CN" sz="1600" dirty="0"/>
                  <a:t>ℰ</a:t>
                </a:r>
                <a:r>
                  <a:rPr lang="zh-CN" altLang="en-US" sz="1600" dirty="0"/>
                  <a:t>，𝑡 ∈ </a:t>
                </a:r>
                <a:r>
                  <a:rPr lang="en-US" altLang="zh-CN" sz="1600" dirty="0"/>
                  <a:t>{2, … , </a:t>
                </a:r>
                <a:r>
                  <a:rPr lang="zh-CN" altLang="en-US" sz="1600" dirty="0"/>
                  <a:t>𝑇 </a:t>
                </a:r>
                <a:r>
                  <a:rPr lang="en-US" altLang="zh-CN" sz="1600" dirty="0"/>
                  <a:t>}</a:t>
                </a:r>
                <a:r>
                  <a:rPr lang="zh-CN" altLang="en-US" sz="1600" dirty="0"/>
                  <a:t>，和𝑡 ≥ 𝑒，</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𝐶</m:t>
                          </m:r>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oMath>
                  </m:oMathPara>
                </a14:m>
                <a:endParaRPr lang="en-US" altLang="zh-CN" sz="1600" dirty="0"/>
              </a:p>
              <a:p>
                <a:pPr>
                  <a:lnSpc>
                    <a:spcPct val="120000"/>
                  </a:lnSpc>
                </a:pPr>
                <a:r>
                  <a:rPr lang="zh-CN" altLang="en-US" sz="1600" dirty="0"/>
                  <a:t>假设</a:t>
                </a:r>
                <a:r>
                  <a:rPr lang="en-US" altLang="zh-CN" sz="1600" dirty="0"/>
                  <a:t>5 </a:t>
                </a:r>
                <a:r>
                  <a:rPr lang="zh-CN" altLang="en-US" sz="1600" dirty="0"/>
                  <a:t>（相对于还未受干预组的平行趋势假设）：对于任意𝑒 ∈ </a:t>
                </a:r>
                <a:r>
                  <a:rPr lang="en-US" altLang="zh-CN" sz="1600" dirty="0"/>
                  <a:t>ℰ</a:t>
                </a:r>
                <a:r>
                  <a:rPr lang="zh-CN" altLang="en-US" sz="1600" dirty="0"/>
                  <a:t>，</a:t>
                </a:r>
                <a:r>
                  <a:rPr lang="en-US" altLang="zh-CN" sz="1600" dirty="0"/>
                  <a:t> (</a:t>
                </a:r>
                <a:r>
                  <a:rPr lang="zh-CN" altLang="en-US" sz="1600" dirty="0"/>
                  <a:t>𝑠</a:t>
                </a:r>
                <a:r>
                  <a:rPr lang="en-US" altLang="zh-CN" sz="1600" dirty="0"/>
                  <a:t>, </a:t>
                </a:r>
                <a:r>
                  <a:rPr lang="zh-CN" altLang="en-US" sz="1600" dirty="0"/>
                  <a:t>𝑡</a:t>
                </a:r>
                <a:r>
                  <a:rPr lang="en-US" altLang="zh-CN" sz="1600" dirty="0"/>
                  <a:t>) ∈ {2, … , </a:t>
                </a:r>
                <a:r>
                  <a:rPr lang="zh-CN" altLang="en-US" sz="1600" dirty="0"/>
                  <a:t>𝑇 </a:t>
                </a:r>
                <a:r>
                  <a:rPr lang="en-US" altLang="zh-CN" sz="1600" dirty="0"/>
                  <a:t>} × {2, … , </a:t>
                </a:r>
                <a:r>
                  <a:rPr lang="zh-CN" altLang="en-US" sz="1600" dirty="0"/>
                  <a:t>𝑇 </a:t>
                </a:r>
                <a:r>
                  <a:rPr lang="en-US" altLang="zh-CN" sz="1600" dirty="0"/>
                  <a:t>}</a:t>
                </a:r>
                <a:r>
                  <a:rPr lang="zh-CN" altLang="en-US" sz="1600" dirty="0"/>
                  <a:t>，使得𝑡 ≥ 𝑒 且𝑡 ≤ 𝑠 </a:t>
                </a:r>
                <a:r>
                  <a:rPr lang="en-US" altLang="zh-CN" sz="1600" dirty="0"/>
                  <a:t>&lt; </a:t>
                </a:r>
                <a:r>
                  <a:rPr lang="zh-CN" altLang="en-US" sz="1600" dirty="0"/>
                  <a:t>𝑒，</a:t>
                </a:r>
                <a:endParaRPr lang="en-US" altLang="zh-CN" sz="1600" dirty="0"/>
              </a:p>
              <a:p>
                <a:pPr marL="0" indent="0">
                  <a:lnSpc>
                    <a:spcPct val="120000"/>
                  </a:lnSpc>
                  <a:buNone/>
                </a:pPr>
                <a14:m>
                  <m:oMathPara xmlns:m="http://schemas.openxmlformats.org/officeDocument/2006/math">
                    <m:oMath>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𝑠</m:t>
                              </m:r>
                            </m:sub>
                          </m:sSub>
                          <m:r>
                            <a:rPr lang="zh-CN" altLang="en-US" sz="1600" i="1" smtClean="0">
                              <a:latin typeface="Cambria Math" panose="02040503050406030204" pitchFamily="18" charset="0"/>
                            </a:rPr>
                            <m:t>=0,</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oMath>
                  </m:oMathPara>
                </a14:m>
                <a:endParaRPr lang="en-US" altLang="zh-CN" sz="1600" dirty="0"/>
              </a:p>
              <a:p>
                <a:pPr>
                  <a:lnSpc>
                    <a:spcPct val="120000"/>
                  </a:lnSpc>
                </a:pPr>
                <a:r>
                  <a:rPr lang="zh-CN" altLang="en-US" sz="1600" dirty="0"/>
                  <a:t>假设</a:t>
                </a:r>
                <a:r>
                  <a:rPr lang="en-US" altLang="zh-CN" sz="1600" dirty="0"/>
                  <a:t>6 </a:t>
                </a:r>
                <a:r>
                  <a:rPr lang="zh-CN" altLang="en-US" sz="1600" dirty="0"/>
                  <a:t>（共同区间假设）： 𝑃 𝑟</a:t>
                </a:r>
                <a:r>
                  <a:rPr lang="en-US" altLang="zh-CN" sz="1600" dirty="0"/>
                  <a:t>[</a:t>
                </a:r>
                <a:r>
                  <a:rPr lang="zh-CN" altLang="en-US" sz="1600" dirty="0"/>
                  <a:t>𝐸𝑒 </a:t>
                </a:r>
                <a:r>
                  <a:rPr lang="en-US" altLang="zh-CN" sz="1600" dirty="0"/>
                  <a:t>= 1] &gt; 0</a:t>
                </a:r>
                <a:r>
                  <a:rPr lang="zh-CN" altLang="en-US" sz="1600" dirty="0"/>
                  <a:t>，𝑝𝑒</a:t>
                </a:r>
                <a:r>
                  <a:rPr lang="en-US" altLang="zh-CN" sz="1600" dirty="0"/>
                  <a:t>,</a:t>
                </a:r>
                <a:r>
                  <a:rPr lang="zh-CN" altLang="en-US" sz="1600" dirty="0"/>
                  <a:t>𝑡</a:t>
                </a:r>
                <a:r>
                  <a:rPr lang="en-US" altLang="zh-CN" sz="1600" dirty="0"/>
                  <a:t>(</a:t>
                </a:r>
                <a:r>
                  <a:rPr lang="zh-CN" altLang="en-US" sz="1600" dirty="0"/>
                  <a:t>𝑋</a:t>
                </a:r>
                <a:r>
                  <a:rPr lang="en-US" altLang="zh-CN" sz="1600" dirty="0"/>
                  <a:t>) &lt; 1</a:t>
                </a:r>
                <a:r>
                  <a:rPr lang="zh-CN" altLang="en-US" sz="1600" dirty="0"/>
                  <a:t>。</a:t>
                </a:r>
              </a:p>
            </p:txBody>
          </p:sp>
        </mc:Choice>
        <mc:Fallback xmlns="">
          <p:sp>
            <p:nvSpPr>
              <p:cNvPr id="3" name="内容占位符 2">
                <a:extLst>
                  <a:ext uri="{FF2B5EF4-FFF2-40B4-BE49-F238E27FC236}">
                    <a16:creationId xmlns:a16="http://schemas.microsoft.com/office/drawing/2014/main" id="{1282269D-FCD5-0733-C0D3-A30C0763EB0E}"/>
                  </a:ext>
                </a:extLst>
              </p:cNvPr>
              <p:cNvSpPr>
                <a:spLocks noGrp="1" noRot="1" noChangeAspect="1" noMove="1" noResize="1" noEditPoints="1" noAdjustHandles="1" noChangeArrowheads="1" noChangeShapeType="1" noTextEdit="1"/>
              </p:cNvSpPr>
              <p:nvPr>
                <p:ph idx="1"/>
              </p:nvPr>
            </p:nvSpPr>
            <p:spPr>
              <a:blipFill>
                <a:blip r:embed="rId2"/>
                <a:stretch>
                  <a:fillRect l="-386" r="-1546" b="-826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98A4B64-A4A5-4749-3DEB-985BDC8FE07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FF50B83-56DE-8D77-B37A-C4D1C66B23F1}"/>
              </a:ext>
            </a:extLst>
          </p:cNvPr>
          <p:cNvSpPr>
            <a:spLocks noGrp="1"/>
          </p:cNvSpPr>
          <p:nvPr>
            <p:ph type="sldNum" sz="quarter" idx="12"/>
          </p:nvPr>
        </p:nvSpPr>
        <p:spPr/>
        <p:txBody>
          <a:bodyPr/>
          <a:lstStyle/>
          <a:p>
            <a:fld id="{D41FC515-8169-4A29-AA56-DBE520D5741B}" type="slidenum">
              <a:rPr lang="zh-CN" altLang="en-US" smtClean="0"/>
              <a:t>82</a:t>
            </a:fld>
            <a:endParaRPr lang="zh-CN" altLang="en-US" dirty="0"/>
          </a:p>
        </p:txBody>
      </p:sp>
    </p:spTree>
    <p:extLst>
      <p:ext uri="{BB962C8B-B14F-4D97-AF65-F5344CB8AC3E}">
        <p14:creationId xmlns:p14="http://schemas.microsoft.com/office/powerpoint/2010/main" val="22292173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914170-2CD2-D6C4-E07F-97F3658DF7E0}"/>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469E99-B2A3-19B4-C828-7DDA4FB14F68}"/>
                  </a:ext>
                </a:extLst>
              </p:cNvPr>
              <p:cNvSpPr>
                <a:spLocks noGrp="1"/>
              </p:cNvSpPr>
              <p:nvPr>
                <p:ph idx="1"/>
              </p:nvPr>
            </p:nvSpPr>
            <p:spPr/>
            <p:txBody>
              <a:bodyPr>
                <a:normAutofit fontScale="62500" lnSpcReduction="20000"/>
              </a:bodyPr>
              <a:lstStyle/>
              <a:p>
                <a:r>
                  <a:rPr lang="zh-CN" altLang="en-US" dirty="0"/>
                  <a:t>令条件期望：</a:t>
                </a:r>
                <a:endParaRPr lang="en-US" altLang="zh-CN" dirty="0"/>
              </a:p>
              <a:p>
                <a:pPr marL="0" indent="0">
                  <a:buNone/>
                </a:pPr>
                <a14:m>
                  <m:oMathPara xmlns:m="http://schemas.openxmlformats.org/officeDocument/2006/math">
                    <m:oMath>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𝑛𝑒𝑣</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r>
                            <a:rPr lang="zh-CN" altLang="en-US" i="1" smtClean="0">
                              <a:latin typeface="Cambria Math" panose="02040503050406030204" pitchFamily="18" charset="0"/>
                            </a:rPr>
                            <m:t>𝐶</m:t>
                          </m:r>
                          <m:r>
                            <a:rPr lang="zh-CN" altLang="en-US" i="1" smtClean="0">
                              <a:latin typeface="Cambria Math" panose="02040503050406030204" pitchFamily="18" charset="0"/>
                            </a:rPr>
                            <m:t>=1</m:t>
                          </m:r>
                        </m:e>
                      </m:d>
                      <m:r>
                        <a:rPr lang="zh-CN" altLang="en-US" i="1" smtClean="0">
                          <a:latin typeface="Cambria Math" panose="02040503050406030204" pitchFamily="18" charset="0"/>
                        </a:rPr>
                        <m:t>, </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𝑛𝑦</m:t>
                          </m:r>
                        </m:sup>
                      </m:sSubSup>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=0,</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r>
                  <a:rPr lang="zh-CN" altLang="en-US" dirty="0"/>
                  <a:t>因果效应参数识别</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𝑖𝑝𝑤</m:t>
                              </m:r>
                            </m:sub>
                            <m:sup>
                              <m:r>
                                <a:rPr lang="zh-CN" altLang="en-US" i="1" smtClean="0">
                                  <a:latin typeface="Cambria Math" panose="02040503050406030204" pitchFamily="18" charset="0"/>
                                </a:rPr>
                                <m:t>𝑛𝑒𝑣</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𝐶</m:t>
                                          </m:r>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𝐶</m:t>
                                              </m:r>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e>
                                      </m:d>
                                    </m:den>
                                  </m:f>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𝑒</m:t>
                                      </m:r>
                                      <m:r>
                                        <a:rPr lang="zh-CN" altLang="en-US" i="1" smtClean="0">
                                          <a:latin typeface="Cambria Math" panose="02040503050406030204" pitchFamily="18" charset="0"/>
                                        </a:rPr>
                                        <m:t>−1</m:t>
                                      </m:r>
                                    </m:sub>
                                  </m:sSub>
                                </m:e>
                              </m:d>
                            </m:e>
                          </m:d>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35</m:t>
                          </m:r>
                          <m:r>
                            <a:rPr lang="zh-CN" altLang="en-US" i="1">
                              <a:latin typeface="Cambria Math" panose="02040503050406030204" pitchFamily="18" charset="0"/>
                            </a:rPr>
                            <m:t>）</m:t>
                          </m:r>
                        </m:e>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𝑜𝑟</m:t>
                              </m:r>
                            </m:sub>
                            <m:sup>
                              <m:r>
                                <a:rPr lang="zh-CN" altLang="en-US" i="1" smtClean="0">
                                  <a:latin typeface="Cambria Math" panose="02040503050406030204" pitchFamily="18" charset="0"/>
                                </a:rPr>
                                <m:t>𝑛𝑒𝑣</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𝑛𝑒𝑣</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e>
                              </m:d>
                            </m:e>
                          </m:d>
                          <m:r>
                            <a:rPr lang="zh-CN" altLang="en-US" i="1" smtClean="0">
                              <a:latin typeface="Cambria Math" panose="02040503050406030204" pitchFamily="18" charset="0"/>
                            </a:rPr>
                            <m:t>,</m:t>
                          </m:r>
                          <m:r>
                            <a:rPr lang="en-US" altLang="zh-CN" b="0" i="1" smtClean="0">
                              <a:latin typeface="Cambria Math" panose="02040503050406030204" pitchFamily="18" charset="0"/>
                            </a:rPr>
                            <m:t>                               (36)</m:t>
                          </m:r>
                        </m:e>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𝑑𝑟</m:t>
                              </m:r>
                            </m:sub>
                            <m:sup>
                              <m:r>
                                <a:rPr lang="zh-CN" altLang="en-US" i="1" smtClean="0">
                                  <a:latin typeface="Cambria Math" panose="02040503050406030204" pitchFamily="18" charset="0"/>
                                </a:rPr>
                                <m:t>𝑛𝑒𝑣</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𝐶</m:t>
                                          </m:r>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r>
                                                <a:rPr lang="zh-CN" altLang="en-US" i="1" smtClean="0">
                                                  <a:latin typeface="Cambria Math" panose="02040503050406030204" pitchFamily="18" charset="0"/>
                                                </a:rPr>
                                                <m:t>𝐶</m:t>
                                              </m:r>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e>
                                      </m:d>
                                    </m:den>
                                  </m:f>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𝑛𝑒𝑣</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e>
                              </m:d>
                            </m:e>
                          </m:d>
                          <m:r>
                            <a:rPr lang="zh-CN" altLang="en-US" i="1" smtClean="0">
                              <a:latin typeface="Cambria Math" panose="02040503050406030204" pitchFamily="18" charset="0"/>
                            </a:rPr>
                            <m:t>.</m:t>
                          </m:r>
                          <m:r>
                            <a:rPr lang="en-US" altLang="zh-CN" b="0" i="1" smtClean="0">
                              <a:latin typeface="Cambria Math" panose="02040503050406030204" pitchFamily="18" charset="0"/>
                            </a:rPr>
                            <m:t>(37)</m:t>
                          </m:r>
                        </m:e>
                      </m:eqArr>
                    </m:oMath>
                  </m:oMathPara>
                </a14:m>
                <a:endParaRPr lang="en-US" altLang="zh-CN" dirty="0"/>
              </a:p>
              <a:p>
                <a:r>
                  <a:rPr lang="zh-CN" altLang="en-US" dirty="0"/>
                  <a:t>上述估计量利用从未受干预的组作为平行趋势的控制组。</a:t>
                </a:r>
              </a:p>
            </p:txBody>
          </p:sp>
        </mc:Choice>
        <mc:Fallback xmlns="">
          <p:sp>
            <p:nvSpPr>
              <p:cNvPr id="3" name="内容占位符 2">
                <a:extLst>
                  <a:ext uri="{FF2B5EF4-FFF2-40B4-BE49-F238E27FC236}">
                    <a16:creationId xmlns:a16="http://schemas.microsoft.com/office/drawing/2014/main" id="{1B469E99-B2A3-19B4-C828-7DDA4FB14F68}"/>
                  </a:ext>
                </a:extLst>
              </p:cNvPr>
              <p:cNvSpPr>
                <a:spLocks noGrp="1" noRot="1" noChangeAspect="1" noMove="1" noResize="1" noEditPoints="1" noAdjustHandles="1" noChangeArrowheads="1" noChangeShapeType="1" noTextEdit="1"/>
              </p:cNvSpPr>
              <p:nvPr>
                <p:ph idx="1"/>
              </p:nvPr>
            </p:nvSpPr>
            <p:spPr>
              <a:blipFill>
                <a:blip r:embed="rId2"/>
                <a:stretch>
                  <a:fillRect l="-464"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B324BDF-4AAA-2602-89FD-C0B6CDF94D7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885BD93-BF62-6B8A-F56D-80C3DEB10718}"/>
              </a:ext>
            </a:extLst>
          </p:cNvPr>
          <p:cNvSpPr>
            <a:spLocks noGrp="1"/>
          </p:cNvSpPr>
          <p:nvPr>
            <p:ph type="sldNum" sz="quarter" idx="12"/>
          </p:nvPr>
        </p:nvSpPr>
        <p:spPr/>
        <p:txBody>
          <a:bodyPr/>
          <a:lstStyle/>
          <a:p>
            <a:fld id="{D41FC515-8169-4A29-AA56-DBE520D5741B}" type="slidenum">
              <a:rPr lang="zh-CN" altLang="en-US" smtClean="0"/>
              <a:t>83</a:t>
            </a:fld>
            <a:endParaRPr lang="zh-CN" altLang="en-US"/>
          </a:p>
        </p:txBody>
      </p:sp>
    </p:spTree>
    <p:extLst>
      <p:ext uri="{BB962C8B-B14F-4D97-AF65-F5344CB8AC3E}">
        <p14:creationId xmlns:p14="http://schemas.microsoft.com/office/powerpoint/2010/main" val="20045998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E5FA01-045F-4FD7-F534-B1F7189CF0AD}"/>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997E1E5-02C1-C8C7-3A04-7A028CB738E5}"/>
                  </a:ext>
                </a:extLst>
              </p:cNvPr>
              <p:cNvSpPr>
                <a:spLocks noGrp="1"/>
              </p:cNvSpPr>
              <p:nvPr>
                <p:ph idx="1"/>
              </p:nvPr>
            </p:nvSpPr>
            <p:spPr/>
            <p:txBody>
              <a:bodyPr>
                <a:normAutofit fontScale="55000" lnSpcReduction="20000"/>
              </a:bodyPr>
              <a:lstStyle/>
              <a:p>
                <a:r>
                  <a:rPr lang="zh-CN" altLang="en-US" dirty="0"/>
                  <a:t>若以目前还未受干预的组作为控制组，也有三个类似的估计量</a:t>
                </a:r>
                <a:r>
                  <a:rPr lang="en-US" altLang="zh-CN" dirty="0"/>
                  <a:t>,</a:t>
                </a:r>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𝑜𝑟</m:t>
                              </m:r>
                            </m:sub>
                            <m:sup>
                              <m:r>
                                <a:rPr lang="zh-CN" altLang="en-US" i="1" smtClean="0">
                                  <a:latin typeface="Cambria Math" panose="02040503050406030204" pitchFamily="18" charset="0"/>
                                </a:rPr>
                                <m:t>𝑛𝑦</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𝑛𝑦</m:t>
                                      </m:r>
                                    </m:sup>
                                  </m:sSubSup>
                                </m:e>
                              </m:d>
                            </m:e>
                          </m:d>
                          <m:r>
                            <a:rPr lang="en-US" altLang="zh-CN" b="0" i="1" smtClean="0">
                              <a:latin typeface="Cambria Math" panose="02040503050406030204" pitchFamily="18" charset="0"/>
                            </a:rPr>
                            <m:t>                                                                             (38)</m:t>
                          </m:r>
                        </m:e>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𝑖𝑝𝑤</m:t>
                              </m:r>
                            </m:sub>
                            <m:sup>
                              <m:r>
                                <a:rPr lang="zh-CN" altLang="en-US" i="1" smtClean="0">
                                  <a:latin typeface="Cambria Math" panose="02040503050406030204" pitchFamily="18" charset="0"/>
                                </a:rPr>
                                <m:t>𝑛𝑦</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d>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d>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e>
                                      </m:d>
                                    </m:den>
                                  </m:f>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𝑖𝑒</m:t>
                                      </m:r>
                                      <m:r>
                                        <a:rPr lang="zh-CN" altLang="en-US" i="1" smtClean="0">
                                          <a:latin typeface="Cambria Math" panose="02040503050406030204" pitchFamily="18" charset="0"/>
                                        </a:rPr>
                                        <m:t>−1</m:t>
                                      </m:r>
                                    </m:sub>
                                  </m:sSub>
                                </m:e>
                              </m:d>
                            </m:e>
                          </m:d>
                          <m:r>
                            <a:rPr lang="en-US" altLang="zh-CN" b="0" i="1" smtClean="0">
                              <a:latin typeface="Cambria Math" panose="02040503050406030204" pitchFamily="18" charset="0"/>
                            </a:rPr>
                            <m:t>                     (39)</m:t>
                          </m:r>
                        </m:e>
                        <m:e>
                          <m:r>
                            <a:rPr lang="zh-CN" altLang="en-US" i="1" smtClean="0">
                              <a:latin typeface="Cambria Math" panose="02040503050406030204" pitchFamily="18" charset="0"/>
                            </a:rPr>
                            <m:t>𝐴𝑇</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𝑑𝑟</m:t>
                              </m:r>
                            </m:sub>
                            <m:sup>
                              <m:r>
                                <a:rPr lang="zh-CN" altLang="en-US" i="1" smtClean="0">
                                  <a:latin typeface="Cambria Math" panose="02040503050406030204" pitchFamily="18" charset="0"/>
                                </a:rPr>
                                <m:t>𝑛𝑦</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𝑒</m:t>
                                              </m:r>
                                            </m:sub>
                                          </m:sSub>
                                        </m:e>
                                      </m:d>
                                    </m:den>
                                  </m:f>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d>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num>
                                    <m:den>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e>
                                              </m:d>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d>
                                            </m:num>
                                            <m:den>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𝑝</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den>
                                          </m:f>
                                        </m:e>
                                      </m:d>
                                    </m:den>
                                  </m:f>
                                </m:e>
                              </m:d>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𝑖𝑒</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𝑚</m:t>
                                      </m:r>
                                    </m:e>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𝑡</m:t>
                                      </m:r>
                                    </m:sub>
                                    <m:sup>
                                      <m:r>
                                        <a:rPr lang="zh-CN" altLang="en-US" i="1" smtClean="0">
                                          <a:latin typeface="Cambria Math" panose="02040503050406030204" pitchFamily="18" charset="0"/>
                                        </a:rPr>
                                        <m:t>𝑛𝑦</m:t>
                                      </m:r>
                                    </m:sup>
                                  </m:sSub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e>
                                  </m:d>
                                </m:e>
                              </m:d>
                            </m:e>
                          </m:d>
                          <m:r>
                            <a:rPr lang="en-US" altLang="zh-CN" b="0" i="1" smtClean="0">
                              <a:latin typeface="Cambria Math" panose="02040503050406030204" pitchFamily="18" charset="0"/>
                            </a:rPr>
                            <m:t>(40)</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B997E1E5-02C1-C8C7-3A04-7A028CB738E5}"/>
                  </a:ext>
                </a:extLst>
              </p:cNvPr>
              <p:cNvSpPr>
                <a:spLocks noGrp="1" noRot="1" noChangeAspect="1" noMove="1" noResize="1" noEditPoints="1" noAdjustHandles="1" noChangeArrowheads="1" noChangeShapeType="1" noTextEdit="1"/>
              </p:cNvSpPr>
              <p:nvPr>
                <p:ph idx="1"/>
              </p:nvPr>
            </p:nvSpPr>
            <p:spPr>
              <a:blipFill>
                <a:blip r:embed="rId2"/>
                <a:stretch>
                  <a:fillRect l="-232"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7046255-08F4-2F93-EE5F-54897A58657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F7554CF-8E54-F8A8-6FF4-3A63A1816CB0}"/>
              </a:ext>
            </a:extLst>
          </p:cNvPr>
          <p:cNvSpPr>
            <a:spLocks noGrp="1"/>
          </p:cNvSpPr>
          <p:nvPr>
            <p:ph type="sldNum" sz="quarter" idx="12"/>
          </p:nvPr>
        </p:nvSpPr>
        <p:spPr/>
        <p:txBody>
          <a:bodyPr/>
          <a:lstStyle/>
          <a:p>
            <a:fld id="{D41FC515-8169-4A29-AA56-DBE520D5741B}" type="slidenum">
              <a:rPr lang="zh-CN" altLang="en-US" smtClean="0"/>
              <a:t>84</a:t>
            </a:fld>
            <a:endParaRPr lang="zh-CN" altLang="en-US"/>
          </a:p>
        </p:txBody>
      </p:sp>
    </p:spTree>
    <p:extLst>
      <p:ext uri="{BB962C8B-B14F-4D97-AF65-F5344CB8AC3E}">
        <p14:creationId xmlns:p14="http://schemas.microsoft.com/office/powerpoint/2010/main" val="38777197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D94E3-A209-E397-88BA-FA00105A5C4F}"/>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8CB3D8F-36AB-4E61-3464-E9A7CD63FAD6}"/>
                  </a:ext>
                </a:extLst>
              </p:cNvPr>
              <p:cNvSpPr>
                <a:spLocks noGrp="1"/>
              </p:cNvSpPr>
              <p:nvPr>
                <p:ph idx="1"/>
              </p:nvPr>
            </p:nvSpPr>
            <p:spPr/>
            <p:txBody>
              <a:bodyPr>
                <a:normAutofit/>
              </a:bodyPr>
              <a:lstStyle/>
              <a:p>
                <a:r>
                  <a:rPr lang="zh-CN" altLang="en-US" dirty="0"/>
                  <a:t>定理：在假设</a:t>
                </a:r>
                <a:r>
                  <a:rPr lang="en-US" altLang="zh-CN" i="1" dirty="0"/>
                  <a:t>1-3 </a:t>
                </a:r>
                <a:r>
                  <a:rPr lang="zh-CN" altLang="en-US" dirty="0"/>
                  <a:t>和</a:t>
                </a:r>
                <a:r>
                  <a:rPr lang="en-US" altLang="zh-CN" i="1" dirty="0"/>
                  <a:t>6 </a:t>
                </a:r>
                <a:r>
                  <a:rPr lang="zh-CN" altLang="en-US" dirty="0"/>
                  <a:t>下，</a:t>
                </a:r>
                <a:endParaRPr lang="en-US" altLang="zh-CN" dirty="0"/>
              </a:p>
              <a:p>
                <a:pPr lvl="1"/>
                <a:r>
                  <a:rPr lang="zh-CN" altLang="en-US" dirty="0"/>
                  <a:t>若平行趋势假设</a:t>
                </a:r>
                <a:r>
                  <a:rPr lang="en-US" altLang="zh-CN" i="1" dirty="0"/>
                  <a:t>4 </a:t>
                </a:r>
                <a:r>
                  <a:rPr lang="zh-CN" altLang="en-US" dirty="0"/>
                  <a:t>成立，则对于任意𝑒</a:t>
                </a:r>
                <a:r>
                  <a:rPr lang="en-US" altLang="zh-CN" dirty="0"/>
                  <a:t>, </a:t>
                </a:r>
                <a:r>
                  <a:rPr lang="zh-CN" altLang="en-US" dirty="0"/>
                  <a:t>𝑡</a:t>
                </a:r>
                <a:r>
                  <a:rPr lang="en-US" altLang="zh-CN" i="1" dirty="0"/>
                  <a:t>,</a:t>
                </a:r>
                <a:r>
                  <a:rPr lang="zh-CN" altLang="en-US" dirty="0"/>
                  <a:t>𝑒 ∈ </a:t>
                </a:r>
                <a:r>
                  <a:rPr lang="en-US" altLang="zh-CN" dirty="0"/>
                  <a:t>ℰ, </a:t>
                </a:r>
                <a:r>
                  <a:rPr lang="zh-CN" altLang="en-US" dirty="0"/>
                  <a:t>𝑡 ∈ </a:t>
                </a:r>
                <a:r>
                  <a:rPr lang="en-US" altLang="zh-CN" dirty="0"/>
                  <a:t>{2, … , </a:t>
                </a:r>
                <a:r>
                  <a:rPr lang="zh-CN" altLang="en-US" dirty="0"/>
                  <a:t>𝑇 </a:t>
                </a:r>
                <a:r>
                  <a:rPr lang="en-US" altLang="zh-CN" dirty="0"/>
                  <a:t>}</a:t>
                </a:r>
                <a:r>
                  <a:rPr lang="zh-CN" altLang="en-US" dirty="0"/>
                  <a:t>，且𝑡 ≥ 𝑒，有</a:t>
                </a:r>
                <a:endParaRPr lang="en-US" altLang="zh-CN" dirty="0"/>
              </a:p>
              <a:p>
                <a:pPr marL="0" indent="0">
                  <a:buNone/>
                </a:pPr>
                <a14:m>
                  <m:oMathPara xmlns:m="http://schemas.openxmlformats.org/officeDocument/2006/math">
                    <m:oMath>
                      <m:r>
                        <a:rPr lang="zh-CN" altLang="en-US" sz="2400" i="1" smtClean="0">
                          <a:latin typeface="Cambria Math" panose="02040503050406030204" pitchFamily="18" charset="0"/>
                        </a:rPr>
                        <m:t>𝐴𝑇𝑇</m:t>
                      </m:r>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𝑖𝑝𝑤</m:t>
                          </m:r>
                        </m:sub>
                        <m:sup>
                          <m:r>
                            <a:rPr lang="zh-CN" altLang="en-US" sz="2400" i="1" smtClean="0">
                              <a:latin typeface="Cambria Math" panose="02040503050406030204" pitchFamily="18" charset="0"/>
                            </a:rPr>
                            <m:t>𝑛𝑒𝑣</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𝑜𝑟</m:t>
                          </m:r>
                        </m:sub>
                        <m:sup>
                          <m:r>
                            <a:rPr lang="zh-CN" altLang="en-US" sz="2400" i="1" smtClean="0">
                              <a:latin typeface="Cambria Math" panose="02040503050406030204" pitchFamily="18" charset="0"/>
                            </a:rPr>
                            <m:t>𝑛𝑒𝑣</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𝑑𝑟</m:t>
                          </m:r>
                        </m:sub>
                        <m:sup>
                          <m:r>
                            <a:rPr lang="zh-CN" altLang="en-US" sz="2400" i="1" smtClean="0">
                              <a:latin typeface="Cambria Math" panose="02040503050406030204" pitchFamily="18" charset="0"/>
                            </a:rPr>
                            <m:t>𝑛𝑒𝑣</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oMath>
                  </m:oMathPara>
                </a14:m>
                <a:endParaRPr lang="en-US" altLang="zh-CN" sz="2400" dirty="0"/>
              </a:p>
              <a:p>
                <a:pPr lvl="1"/>
                <a:r>
                  <a:rPr lang="zh-CN" altLang="en-US" dirty="0"/>
                  <a:t>若平等趋势假设</a:t>
                </a:r>
                <a:r>
                  <a:rPr lang="en-US" altLang="zh-CN" i="1" dirty="0"/>
                  <a:t>5 </a:t>
                </a:r>
                <a:r>
                  <a:rPr lang="zh-CN" altLang="en-US" dirty="0"/>
                  <a:t>成立，则对于任意𝑒</a:t>
                </a:r>
                <a:r>
                  <a:rPr lang="en-US" altLang="zh-CN" dirty="0"/>
                  <a:t>, </a:t>
                </a:r>
                <a:r>
                  <a:rPr lang="zh-CN" altLang="en-US" dirty="0"/>
                  <a:t>𝑡</a:t>
                </a:r>
                <a:r>
                  <a:rPr lang="en-US" altLang="zh-CN" i="1" dirty="0"/>
                  <a:t>,</a:t>
                </a:r>
                <a:r>
                  <a:rPr lang="zh-CN" altLang="en-US" dirty="0"/>
                  <a:t>𝑒 ∈ </a:t>
                </a:r>
                <a:r>
                  <a:rPr lang="en-US" altLang="zh-CN" dirty="0"/>
                  <a:t>ℰ, </a:t>
                </a:r>
                <a:r>
                  <a:rPr lang="zh-CN" altLang="en-US" dirty="0"/>
                  <a:t>𝑡 ∈ </a:t>
                </a:r>
                <a:r>
                  <a:rPr lang="en-US" altLang="zh-CN" dirty="0"/>
                  <a:t>{2, … , </a:t>
                </a:r>
                <a:r>
                  <a:rPr lang="zh-CN" altLang="en-US" dirty="0"/>
                  <a:t>𝑇 </a:t>
                </a:r>
                <a:r>
                  <a:rPr lang="en-US" altLang="zh-CN" dirty="0"/>
                  <a:t>}</a:t>
                </a:r>
                <a:r>
                  <a:rPr lang="zh-CN" altLang="en-US" dirty="0"/>
                  <a:t>，且𝑒 ≤ 𝑡 </a:t>
                </a:r>
                <a:r>
                  <a:rPr lang="en-US" altLang="zh-CN" dirty="0"/>
                  <a:t>&lt; </a:t>
                </a:r>
                <a:r>
                  <a:rPr lang="zh-CN" altLang="en-US" dirty="0"/>
                  <a:t>𝑒，有</a:t>
                </a:r>
                <a:endParaRPr lang="en-US" altLang="zh-CN" dirty="0"/>
              </a:p>
              <a:p>
                <a:pPr marL="0" indent="0">
                  <a:buNone/>
                </a:pPr>
                <a14:m>
                  <m:oMathPara xmlns:m="http://schemas.openxmlformats.org/officeDocument/2006/math">
                    <m:oMath>
                      <m:r>
                        <a:rPr lang="zh-CN" altLang="en-US" sz="2400" i="1" smtClean="0">
                          <a:latin typeface="Cambria Math" panose="02040503050406030204" pitchFamily="18" charset="0"/>
                        </a:rPr>
                        <m:t>𝐴𝑇𝑇</m:t>
                      </m:r>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𝑖𝑝𝑤</m:t>
                          </m:r>
                        </m:sub>
                        <m:sup>
                          <m:r>
                            <a:rPr lang="zh-CN" altLang="en-US" sz="2400" i="1" smtClean="0">
                              <a:latin typeface="Cambria Math" panose="02040503050406030204" pitchFamily="18" charset="0"/>
                            </a:rPr>
                            <m:t>𝑛𝑦</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𝑜𝑟</m:t>
                          </m:r>
                        </m:sub>
                        <m:sup>
                          <m:r>
                            <a:rPr lang="zh-CN" altLang="en-US" sz="2400" i="1" smtClean="0">
                              <a:latin typeface="Cambria Math" panose="02040503050406030204" pitchFamily="18" charset="0"/>
                            </a:rPr>
                            <m:t>𝑛𝑦</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r>
                        <a:rPr lang="zh-CN" altLang="en-US" sz="2400" i="1" smtClean="0">
                          <a:latin typeface="Cambria Math" panose="02040503050406030204" pitchFamily="18" charset="0"/>
                        </a:rPr>
                        <m:t>𝐴𝑇</m:t>
                      </m:r>
                      <m:sSubSup>
                        <m:sSubSupPr>
                          <m:ctrlPr>
                            <a:rPr lang="zh-CN" altLang="en-US" sz="2400" i="1" smtClean="0">
                              <a:latin typeface="Cambria Math" panose="02040503050406030204" pitchFamily="18" charset="0"/>
                            </a:rPr>
                          </m:ctrlPr>
                        </m:sSubSupPr>
                        <m:e>
                          <m:r>
                            <a:rPr lang="zh-CN" altLang="en-US" sz="2400" i="1" smtClean="0">
                              <a:latin typeface="Cambria Math" panose="02040503050406030204" pitchFamily="18" charset="0"/>
                            </a:rPr>
                            <m:t>𝑇</m:t>
                          </m:r>
                        </m:e>
                        <m:sub>
                          <m:r>
                            <a:rPr lang="zh-CN" altLang="en-US" sz="2400" i="1" smtClean="0">
                              <a:latin typeface="Cambria Math" panose="02040503050406030204" pitchFamily="18" charset="0"/>
                            </a:rPr>
                            <m:t>𝑑𝑟</m:t>
                          </m:r>
                        </m:sub>
                        <m:sup>
                          <m:r>
                            <a:rPr lang="zh-CN" altLang="en-US" sz="2400" i="1" smtClean="0">
                              <a:latin typeface="Cambria Math" panose="02040503050406030204" pitchFamily="18" charset="0"/>
                            </a:rPr>
                            <m:t>𝑛𝑦</m:t>
                          </m:r>
                        </m:sup>
                      </m:sSubSup>
                      <m:d>
                        <m:dPr>
                          <m:ctrlPr>
                            <a:rPr lang="zh-CN" altLang="en-US" sz="2400" i="1" smtClean="0">
                              <a:latin typeface="Cambria Math" panose="02040503050406030204" pitchFamily="18" charset="0"/>
                            </a:rPr>
                          </m:ctrlPr>
                        </m:dPr>
                        <m:e>
                          <m:r>
                            <a:rPr lang="zh-CN" altLang="en-US" sz="2400" i="1" smtClean="0">
                              <a:latin typeface="Cambria Math" panose="02040503050406030204" pitchFamily="18" charset="0"/>
                            </a:rPr>
                            <m:t>𝑒</m:t>
                          </m:r>
                          <m:r>
                            <a:rPr lang="zh-CN" altLang="en-US" sz="2400" i="1" smtClean="0">
                              <a:latin typeface="Cambria Math" panose="02040503050406030204" pitchFamily="18" charset="0"/>
                            </a:rPr>
                            <m:t>,</m:t>
                          </m:r>
                          <m:r>
                            <a:rPr lang="zh-CN" altLang="en-US" sz="2400" i="1" smtClean="0">
                              <a:latin typeface="Cambria Math" panose="02040503050406030204" pitchFamily="18" charset="0"/>
                            </a:rPr>
                            <m:t>𝑡</m:t>
                          </m:r>
                        </m:e>
                      </m:d>
                      <m:r>
                        <a:rPr lang="zh-CN" altLang="en-US" sz="2400" i="1" smtClean="0">
                          <a:latin typeface="Cambria Math" panose="02040503050406030204" pitchFamily="18" charset="0"/>
                        </a:rPr>
                        <m:t>.</m:t>
                      </m:r>
                    </m:oMath>
                  </m:oMathPara>
                </a14:m>
                <a:endParaRPr lang="zh-CN" altLang="en-US" sz="2400" dirty="0"/>
              </a:p>
            </p:txBody>
          </p:sp>
        </mc:Choice>
        <mc:Fallback xmlns="">
          <p:sp>
            <p:nvSpPr>
              <p:cNvPr id="3" name="内容占位符 2">
                <a:extLst>
                  <a:ext uri="{FF2B5EF4-FFF2-40B4-BE49-F238E27FC236}">
                    <a16:creationId xmlns:a16="http://schemas.microsoft.com/office/drawing/2014/main" id="{C8CB3D8F-36AB-4E61-3464-E9A7CD63FAD6}"/>
                  </a:ext>
                </a:extLst>
              </p:cNvPr>
              <p:cNvSpPr>
                <a:spLocks noGrp="1" noRot="1" noChangeAspect="1" noMove="1" noResize="1" noEditPoints="1" noAdjustHandles="1" noChangeArrowheads="1" noChangeShapeType="1" noTextEdit="1"/>
              </p:cNvSpPr>
              <p:nvPr>
                <p:ph idx="1"/>
              </p:nvPr>
            </p:nvSpPr>
            <p:spPr>
              <a:blipFill>
                <a:blip r:embed="rId2"/>
                <a:stretch>
                  <a:fillRect l="-1391"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8D36DB7-4B13-1EA4-5A33-736111E8AE6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06FB46E-3419-10CF-AF0A-A8E84F271184}"/>
              </a:ext>
            </a:extLst>
          </p:cNvPr>
          <p:cNvSpPr>
            <a:spLocks noGrp="1"/>
          </p:cNvSpPr>
          <p:nvPr>
            <p:ph type="sldNum" sz="quarter" idx="12"/>
          </p:nvPr>
        </p:nvSpPr>
        <p:spPr/>
        <p:txBody>
          <a:bodyPr/>
          <a:lstStyle/>
          <a:p>
            <a:fld id="{D41FC515-8169-4A29-AA56-DBE520D5741B}" type="slidenum">
              <a:rPr lang="zh-CN" altLang="en-US" smtClean="0"/>
              <a:t>85</a:t>
            </a:fld>
            <a:endParaRPr lang="zh-CN" altLang="en-US"/>
          </a:p>
        </p:txBody>
      </p:sp>
    </p:spTree>
    <p:extLst>
      <p:ext uri="{BB962C8B-B14F-4D97-AF65-F5344CB8AC3E}">
        <p14:creationId xmlns:p14="http://schemas.microsoft.com/office/powerpoint/2010/main" val="18317554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03EFB6-CE04-FFF0-D71F-4C09B3D603FC}"/>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8937F95-AE26-D931-5ADE-3444CA281B49}"/>
                  </a:ext>
                </a:extLst>
              </p:cNvPr>
              <p:cNvSpPr>
                <a:spLocks noGrp="1"/>
              </p:cNvSpPr>
              <p:nvPr>
                <p:ph idx="1"/>
              </p:nvPr>
            </p:nvSpPr>
            <p:spPr/>
            <p:txBody>
              <a:bodyPr>
                <a:normAutofit fontScale="70000" lnSpcReduction="20000"/>
              </a:bodyPr>
              <a:lstStyle/>
              <a:p>
                <a:endParaRPr lang="en-US" altLang="zh-CN" dirty="0"/>
              </a:p>
              <a:p>
                <a:endParaRPr lang="en-US" altLang="zh-CN" dirty="0"/>
              </a:p>
              <a:p>
                <a:endParaRPr lang="en-US" altLang="zh-CN" dirty="0"/>
              </a:p>
              <a:p>
                <a:r>
                  <a:rPr lang="zh-CN" altLang="en-US" dirty="0"/>
                  <a:t>受𝑙 期干预的平均因果效应：令𝑙 </a:t>
                </a:r>
                <a:r>
                  <a:rPr lang="en-US" altLang="zh-CN" dirty="0"/>
                  <a:t>= </a:t>
                </a:r>
                <a:r>
                  <a:rPr lang="zh-CN" altLang="en-US" dirty="0"/>
                  <a:t>𝑡 − 𝑒 表示𝑒 组个体受影响的期数，定义受𝑙 期干预的平均因果效应：</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𝑙</m:t>
                              </m:r>
                            </m:sub>
                          </m:sSub>
                          <m:r>
                            <a:rPr lang="en-US" altLang="zh-CN" i="1" smtClean="0">
                              <a:latin typeface="Cambria Math" panose="02040503050406030204" pitchFamily="18" charset="0"/>
                            </a:rPr>
                            <m:t>=</m:t>
                          </m:r>
                          <m:nary>
                            <m:naryPr>
                              <m:chr m:val="∑"/>
                              <m:limLoc m:val="undOvr"/>
                              <m:supHide m:val="on"/>
                              <m:ctrlPr>
                                <a:rPr lang="en-US" altLang="zh-CN" i="1" smtClean="0">
                                  <a:latin typeface="Cambria Math" panose="02040503050406030204" pitchFamily="18" charset="0"/>
                                </a:rPr>
                              </m:ctrlPr>
                            </m:naryPr>
                            <m:sub>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ℰ</m:t>
                              </m:r>
                            </m:sub>
                            <m:sup/>
                            <m:e>
                              <m:r>
                                <a:rPr lang="en-US" altLang="zh-CN" i="1" smtClean="0">
                                  <a:latin typeface="Cambria Math" panose="02040503050406030204" pitchFamily="18" charset="0"/>
                                </a:rPr>
                                <m:t>𝟙</m:t>
                              </m:r>
                            </m:e>
                          </m:nary>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𝑙</m:t>
                              </m:r>
                              <m:r>
                                <a:rPr lang="en-US" altLang="zh-CN" i="1" smtClean="0">
                                  <a:latin typeface="Cambria Math" panose="02040503050406030204" pitchFamily="18" charset="0"/>
                                </a:rPr>
                                <m:t>≤</m:t>
                              </m:r>
                              <m:r>
                                <a:rPr lang="en-US" altLang="zh-CN" i="1" smtClean="0">
                                  <a:latin typeface="Cambria Math" panose="02040503050406030204" pitchFamily="18" charset="0"/>
                                </a:rPr>
                                <m:t>𝑇</m:t>
                              </m:r>
                            </m:e>
                          </m:d>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Pr</m:t>
                              </m:r>
                            </m:fName>
                            <m:e>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𝐸</m:t>
                                  </m:r>
                                  <m:r>
                                    <a:rPr lang="en-US" altLang="zh-CN" i="1" smtClean="0">
                                      <a:latin typeface="Cambria Math" panose="02040503050406030204" pitchFamily="18" charset="0"/>
                                    </a:rPr>
                                    <m:t>=</m:t>
                                  </m:r>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𝐸</m:t>
                                  </m:r>
                                  <m:r>
                                    <a:rPr lang="en-US" altLang="zh-CN" i="1" smtClean="0">
                                      <a:latin typeface="Cambria Math" panose="02040503050406030204" pitchFamily="18" charset="0"/>
                                    </a:rPr>
                                    <m:t>+</m:t>
                                  </m:r>
                                  <m:r>
                                    <a:rPr lang="en-US" altLang="zh-CN" i="1" smtClean="0">
                                      <a:latin typeface="Cambria Math" panose="02040503050406030204" pitchFamily="18" charset="0"/>
                                    </a:rPr>
                                    <m:t>𝑙</m:t>
                                  </m:r>
                                  <m:r>
                                    <a:rPr lang="en-US" altLang="zh-CN" i="1" smtClean="0">
                                      <a:latin typeface="Cambria Math" panose="02040503050406030204" pitchFamily="18" charset="0"/>
                                    </a:rPr>
                                    <m:t>≤</m:t>
                                  </m:r>
                                  <m:r>
                                    <a:rPr lang="en-US" altLang="zh-CN" i="1" smtClean="0">
                                      <a:latin typeface="Cambria Math" panose="02040503050406030204" pitchFamily="18" charset="0"/>
                                    </a:rPr>
                                    <m:t>𝑇</m:t>
                                  </m:r>
                                </m:e>
                              </m:d>
                            </m:e>
                          </m:func>
                          <m:r>
                            <a:rPr lang="en-US" altLang="zh-CN" i="1" smtClean="0">
                              <a:latin typeface="Cambria Math" panose="02040503050406030204" pitchFamily="18" charset="0"/>
                            </a:rPr>
                            <m:t>𝐴𝑇𝑇</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𝑙</m:t>
                              </m:r>
                            </m:e>
                          </m:d>
                          <m:r>
                            <a:rPr lang="en-US" altLang="zh-CN"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41</m:t>
                          </m:r>
                          <m:r>
                            <a:rPr lang="zh-CN" altLang="en-US" i="1">
                              <a:latin typeface="Cambria Math" panose="02040503050406030204" pitchFamily="18" charset="0"/>
                            </a:rPr>
                            <m:t>）</m:t>
                          </m:r>
                        </m:e>
                      </m:eqArr>
                    </m:oMath>
                  </m:oMathPara>
                </a14:m>
                <a:endParaRPr lang="en-US" altLang="zh-CN" dirty="0"/>
              </a:p>
              <a:p>
                <a:r>
                  <a:rPr lang="zh-CN" altLang="en-US" dirty="0"/>
                  <a:t>这是动态效应，事件研究法关注的参数。</a:t>
                </a:r>
                <a:endParaRPr lang="en-US" altLang="zh-CN" dirty="0"/>
              </a:p>
              <a:p>
                <a:r>
                  <a:rPr lang="zh-CN" altLang="en-US" dirty="0"/>
                  <a:t>组平均因果效应：群组𝑒 受𝑇 − 𝑒 </a:t>
                </a:r>
                <a:r>
                  <a:rPr lang="en-US" altLang="zh-CN" dirty="0"/>
                  <a:t>+ 1 </a:t>
                </a:r>
                <a:r>
                  <a:rPr lang="zh-CN" altLang="en-US" dirty="0"/>
                  <a:t>期干预的平均因果效应，是同一组效应时间上的平均</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𝑒</m:t>
                              </m:r>
                            </m:sub>
                          </m:sSub>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𝑇</m:t>
                              </m:r>
                              <m:r>
                                <a:rPr lang="en-US" altLang="zh-CN" i="1" smtClean="0">
                                  <a:latin typeface="Cambria Math" panose="02040503050406030204" pitchFamily="18" charset="0"/>
                                </a:rPr>
                                <m:t>−</m:t>
                              </m:r>
                              <m:r>
                                <a:rPr lang="en-US" altLang="zh-CN" i="1" smtClean="0">
                                  <a:latin typeface="Cambria Math" panose="02040503050406030204" pitchFamily="18" charset="0"/>
                                </a:rPr>
                                <m:t>𝑒</m:t>
                              </m:r>
                              <m:r>
                                <a:rPr lang="en-US" altLang="zh-CN" i="1" smtClean="0">
                                  <a:latin typeface="Cambria Math" panose="02040503050406030204" pitchFamily="18" charset="0"/>
                                </a:rPr>
                                <m:t>+1</m:t>
                              </m:r>
                            </m:den>
                          </m:f>
                          <m:nary>
                            <m:naryPr>
                              <m:chr m:val="∑"/>
                              <m:limLoc m:val="undOvr"/>
                              <m:ctrlPr>
                                <a:rPr lang="en-US" altLang="zh-CN" i="1" smtClean="0">
                                  <a:latin typeface="Cambria Math" panose="02040503050406030204" pitchFamily="18" charset="0"/>
                                </a:rPr>
                              </m:ctrlPr>
                            </m:naryPr>
                            <m:sub>
                              <m:r>
                                <a:rPr lang="en-US" altLang="zh-CN" i="1" smtClean="0">
                                  <a:latin typeface="Cambria Math" panose="02040503050406030204" pitchFamily="18" charset="0"/>
                                </a:rPr>
                                <m:t>𝑡</m:t>
                              </m:r>
                              <m:r>
                                <a:rPr lang="en-US" altLang="zh-CN" i="1" smtClean="0">
                                  <a:latin typeface="Cambria Math" panose="02040503050406030204" pitchFamily="18" charset="0"/>
                                </a:rPr>
                                <m:t>=</m:t>
                              </m:r>
                              <m:r>
                                <a:rPr lang="en-US" altLang="zh-CN" i="1" smtClean="0">
                                  <a:latin typeface="Cambria Math" panose="02040503050406030204" pitchFamily="18" charset="0"/>
                                </a:rPr>
                                <m:t>𝑒</m:t>
                              </m:r>
                            </m:sub>
                            <m:sup>
                              <m:r>
                                <a:rPr lang="en-US" altLang="zh-CN" i="1" smtClean="0">
                                  <a:latin typeface="Cambria Math" panose="02040503050406030204" pitchFamily="18" charset="0"/>
                                </a:rPr>
                                <m:t>𝑇</m:t>
                              </m:r>
                            </m:sup>
                            <m:e>
                              <m:r>
                                <a:rPr lang="en-US" altLang="zh-CN" i="1" smtClean="0">
                                  <a:latin typeface="Cambria Math" panose="02040503050406030204" pitchFamily="18" charset="0"/>
                                </a:rPr>
                                <m:t>𝐴</m:t>
                              </m:r>
                            </m:e>
                          </m:nary>
                          <m:r>
                            <a:rPr lang="en-US" altLang="zh-CN" i="1" smtClean="0">
                              <a:latin typeface="Cambria Math" panose="02040503050406030204" pitchFamily="18" charset="0"/>
                            </a:rPr>
                            <m:t>𝑇𝑇</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𝑡</m:t>
                              </m:r>
                            </m:e>
                          </m:d>
                          <m:r>
                            <a:rPr lang="en-US" altLang="zh-CN" i="1" smtClean="0">
                              <a:latin typeface="Cambria Math" panose="02040503050406030204" pitchFamily="18" charset="0"/>
                            </a:rPr>
                            <m:t>.</m:t>
                          </m:r>
                        </m:e>
                      </m:eqArr>
                      <m:r>
                        <a:rPr lang="en-US" altLang="zh-CN" b="0" i="1" smtClean="0">
                          <a:latin typeface="Cambria Math" panose="02040503050406030204" pitchFamily="18" charset="0"/>
                        </a:rPr>
                        <m:t>                                                         (42)</m:t>
                      </m:r>
                    </m:oMath>
                  </m:oMathPara>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A8937F95-AE26-D931-5ADE-3444CA281B49}"/>
                  </a:ext>
                </a:extLst>
              </p:cNvPr>
              <p:cNvSpPr>
                <a:spLocks noGrp="1" noRot="1" noChangeAspect="1" noMove="1" noResize="1" noEditPoints="1" noAdjustHandles="1" noChangeArrowheads="1" noChangeShapeType="1" noTextEdit="1"/>
              </p:cNvSpPr>
              <p:nvPr>
                <p:ph idx="1"/>
              </p:nvPr>
            </p:nvSpPr>
            <p:spPr>
              <a:blipFill>
                <a:blip r:embed="rId2"/>
                <a:stretch>
                  <a:fillRect l="-696" r="-239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C422A4B-6698-7C61-8D55-2791CF632C5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FC71FD4-3D4A-BEC9-7ACE-67B78E0796F6}"/>
              </a:ext>
            </a:extLst>
          </p:cNvPr>
          <p:cNvSpPr>
            <a:spLocks noGrp="1"/>
          </p:cNvSpPr>
          <p:nvPr>
            <p:ph type="sldNum" sz="quarter" idx="12"/>
          </p:nvPr>
        </p:nvSpPr>
        <p:spPr/>
        <p:txBody>
          <a:bodyPr/>
          <a:lstStyle/>
          <a:p>
            <a:fld id="{D41FC515-8169-4A29-AA56-DBE520D5741B}" type="slidenum">
              <a:rPr lang="zh-CN" altLang="en-US" smtClean="0"/>
              <a:t>86</a:t>
            </a:fld>
            <a:endParaRPr lang="zh-CN" altLang="en-US"/>
          </a:p>
        </p:txBody>
      </p:sp>
      <p:pic>
        <p:nvPicPr>
          <p:cNvPr id="7" name="图片 6">
            <a:extLst>
              <a:ext uri="{FF2B5EF4-FFF2-40B4-BE49-F238E27FC236}">
                <a16:creationId xmlns:a16="http://schemas.microsoft.com/office/drawing/2014/main" id="{B27CB50E-82C1-0798-8E10-0FDA452E8346}"/>
              </a:ext>
            </a:extLst>
          </p:cNvPr>
          <p:cNvPicPr>
            <a:picLocks noChangeAspect="1"/>
          </p:cNvPicPr>
          <p:nvPr/>
        </p:nvPicPr>
        <p:blipFill>
          <a:blip r:embed="rId3"/>
          <a:stretch>
            <a:fillRect/>
          </a:stretch>
        </p:blipFill>
        <p:spPr>
          <a:xfrm>
            <a:off x="628650" y="1690689"/>
            <a:ext cx="7985961" cy="1786333"/>
          </a:xfrm>
          <a:prstGeom prst="rect">
            <a:avLst/>
          </a:prstGeom>
        </p:spPr>
      </p:pic>
    </p:spTree>
    <p:extLst>
      <p:ext uri="{BB962C8B-B14F-4D97-AF65-F5344CB8AC3E}">
        <p14:creationId xmlns:p14="http://schemas.microsoft.com/office/powerpoint/2010/main" val="25973620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415D1-53EA-9C41-3A0F-3CD8ED13E7E0}"/>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FDD982E-4B51-DE78-8091-659F92E8C774}"/>
                  </a:ext>
                </a:extLst>
              </p:cNvPr>
              <p:cNvSpPr>
                <a:spLocks noGrp="1"/>
              </p:cNvSpPr>
              <p:nvPr>
                <p:ph idx="1"/>
              </p:nvPr>
            </p:nvSpPr>
            <p:spPr/>
            <p:txBody>
              <a:bodyPr>
                <a:noAutofit/>
              </a:bodyPr>
              <a:lstStyle/>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r>
                  <a:rPr lang="zh-CN" altLang="en-US" sz="1200" dirty="0"/>
                  <a:t>同期平均因果效应：在日历时间𝑡，所有受影响组的平均因果效应，即上图同一列中非负值对应格子因果效应的平均值，</a:t>
                </a:r>
                <a:endParaRPr lang="en-US" altLang="zh-CN" sz="1200" dirty="0"/>
              </a:p>
              <a:p>
                <a:pPr marL="0" indent="0">
                  <a:buNone/>
                </a:pPr>
                <a14:m>
                  <m:oMathPara xmlns:m="http://schemas.openxmlformats.org/officeDocument/2006/math">
                    <m:oMath>
                      <m:eqArr>
                        <m:eqArrPr>
                          <m:ctrlPr>
                            <a:rPr lang="zh-CN" altLang="en-US" sz="1200" i="1" smtClean="0">
                              <a:latin typeface="Cambria Math" panose="02040503050406030204" pitchFamily="18" charset="0"/>
                            </a:rPr>
                          </m:ctrlPr>
                        </m:eqArr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𝑡</m:t>
                              </m:r>
                            </m:sub>
                          </m:sSub>
                          <m:r>
                            <a:rPr lang="zh-CN" altLang="en-US" sz="1200" i="1" smtClean="0">
                              <a:latin typeface="Cambria Math" panose="02040503050406030204" pitchFamily="18" charset="0"/>
                            </a:rPr>
                            <m:t>=</m:t>
                          </m:r>
                          <m:nary>
                            <m:naryPr>
                              <m:chr m:val="∑"/>
                              <m:limLoc m:val="undOvr"/>
                              <m:supHide m:val="on"/>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sub>
                            <m:sup/>
                            <m:e>
                              <m:r>
                                <a:rPr lang="zh-CN" altLang="en-US" sz="1200" i="1" smtClean="0">
                                  <a:latin typeface="Cambria Math" panose="02040503050406030204" pitchFamily="18" charset="0"/>
                                </a:rPr>
                                <m:t>𝟙</m:t>
                              </m:r>
                            </m:e>
                          </m:nary>
                          <m:d>
                            <m:dPr>
                              <m:begChr m:val="["/>
                              <m:endChr m:val="]"/>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𝑡</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e>
                          </m:d>
                          <m:func>
                            <m:funcPr>
                              <m:ctrlPr>
                                <a:rPr lang="zh-CN" altLang="en-US" sz="1200" i="1" smtClean="0">
                                  <a:latin typeface="Cambria Math" panose="02040503050406030204" pitchFamily="18" charset="0"/>
                                </a:rPr>
                              </m:ctrlPr>
                            </m:funcPr>
                            <m:fName>
                              <m:r>
                                <m:rPr>
                                  <m:sty m:val="p"/>
                                </m:rPr>
                                <a:rPr lang="zh-CN" altLang="en-US" sz="1200" i="1" smtClean="0">
                                  <a:latin typeface="Cambria Math" panose="02040503050406030204" pitchFamily="18" charset="0"/>
                                </a:rPr>
                                <m:t>Pr</m:t>
                              </m:r>
                            </m:fName>
                            <m:e>
                              <m:d>
                                <m:dPr>
                                  <m:begChr m:val="["/>
                                  <m:endChr m:val="]"/>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𝐸</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𝑡</m:t>
                                  </m:r>
                                </m:e>
                              </m:d>
                            </m:e>
                          </m:func>
                          <m:r>
                            <a:rPr lang="zh-CN" altLang="en-US" sz="1200" i="1" smtClean="0">
                              <a:latin typeface="Cambria Math" panose="02040503050406030204" pitchFamily="18" charset="0"/>
                            </a:rPr>
                            <m:t>𝐴𝑇𝑇</m:t>
                          </m:r>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𝑡</m:t>
                              </m:r>
                            </m:e>
                          </m:d>
                        </m:e>
                      </m:eqArr>
                    </m:oMath>
                  </m:oMathPara>
                </a14:m>
                <a:endParaRPr lang="en-US" altLang="zh-CN" sz="1200" dirty="0"/>
              </a:p>
              <a:p>
                <a:pPr marL="0" indent="0">
                  <a:buNone/>
                </a:pPr>
                <a:r>
                  <a:rPr lang="zh-CN" altLang="en-US" sz="1200" dirty="0"/>
                  <a:t>将所有𝑡 期及之前的同期平均因果效应加总起来，得到累积的平均因果效应：</a:t>
                </a:r>
                <a:endParaRPr lang="en-US" altLang="zh-CN" sz="1200" dirty="0"/>
              </a:p>
              <a:p>
                <a:pPr marL="0" indent="0">
                  <a:buNone/>
                </a:pPr>
                <a14:m>
                  <m:oMathPara xmlns:m="http://schemas.openxmlformats.org/officeDocument/2006/math">
                    <m:oMath>
                      <m:eqArr>
                        <m:eqArrPr>
                          <m:ctrlPr>
                            <a:rPr lang="zh-CN" altLang="en-US" sz="1200" i="1" smtClean="0">
                              <a:latin typeface="Cambria Math" panose="02040503050406030204" pitchFamily="18" charset="0"/>
                            </a:rPr>
                          </m:ctrlPr>
                        </m:eqArrPr>
                        <m:e>
                          <m:sSubSup>
                            <m:sSubSupPr>
                              <m:ctrlPr>
                                <a:rPr lang="zh-CN" altLang="en-US" sz="1200" i="1" smtClean="0">
                                  <a:latin typeface="Cambria Math" panose="02040503050406030204" pitchFamily="18" charset="0"/>
                                </a:rPr>
                              </m:ctrlPr>
                            </m:sSubSup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𝑡</m:t>
                              </m:r>
                            </m:sub>
                            <m:sup>
                              <m:r>
                                <a:rPr lang="zh-CN" altLang="en-US" sz="1200" i="1" smtClean="0">
                                  <a:latin typeface="Cambria Math" panose="02040503050406030204" pitchFamily="18" charset="0"/>
                                </a:rPr>
                                <m:t>𝑐𝑢𝑚</m:t>
                              </m:r>
                            </m:sup>
                          </m:sSubSup>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𝑡</m:t>
                              </m:r>
                              <m:r>
                                <a:rPr lang="zh-CN" altLang="en-US" sz="1200" i="1" smtClean="0">
                                  <a:latin typeface="Cambria Math" panose="02040503050406030204" pitchFamily="18" charset="0"/>
                                </a:rPr>
                                <m:t>′=2</m:t>
                              </m:r>
                            </m:sub>
                            <m:sup>
                              <m:r>
                                <a:rPr lang="zh-CN" altLang="en-US" sz="1200" i="1" smtClean="0">
                                  <a:latin typeface="Cambria Math" panose="02040503050406030204" pitchFamily="18" charset="0"/>
                                </a:rPr>
                                <m:t>𝑡</m:t>
                              </m:r>
                            </m:sup>
                            <m:e>
                              <m:sSup>
                                <m:sSupPr>
                                  <m:ctrlPr>
                                    <a:rPr lang="zh-CN" altLang="en-US" sz="1200" i="1" smtClean="0">
                                      <a:latin typeface="Cambria Math" panose="02040503050406030204" pitchFamily="18" charset="0"/>
                                    </a:rPr>
                                  </m:ctrlPr>
                                </m:sSupPr>
                                <m:e>
                                  <m:r>
                                    <a:rPr lang="zh-CN" altLang="en-US" sz="1200" i="1" smtClean="0">
                                      <a:latin typeface="Cambria Math" panose="02040503050406030204" pitchFamily="18" charset="0"/>
                                    </a:rPr>
                                    <m:t>𝜏</m:t>
                                  </m:r>
                                </m:e>
                                <m:sup>
                                  <m:r>
                                    <a:rPr lang="zh-CN" altLang="en-US" sz="1200" i="1" smtClean="0">
                                      <a:latin typeface="Cambria Math" panose="02040503050406030204" pitchFamily="18" charset="0"/>
                                    </a:rPr>
                                    <m:t>𝑡</m:t>
                                  </m:r>
                                  <m:r>
                                    <a:rPr lang="zh-CN" altLang="en-US" sz="1200" i="1" smtClean="0">
                                      <a:latin typeface="Cambria Math" panose="02040503050406030204" pitchFamily="18" charset="0"/>
                                    </a:rPr>
                                    <m:t>′</m:t>
                                  </m:r>
                                </m:sup>
                              </m:sSup>
                            </m:e>
                          </m:nary>
                          <m:r>
                            <a:rPr lang="zh-CN" altLang="en-US" sz="1200" i="1" smtClean="0">
                              <a:latin typeface="Cambria Math" panose="02040503050406030204" pitchFamily="18" charset="0"/>
                            </a:rPr>
                            <m:t>.</m:t>
                          </m:r>
                        </m:e>
                      </m:eqArr>
                    </m:oMath>
                  </m:oMathPara>
                </a14:m>
                <a:endParaRPr lang="en-US" altLang="zh-CN" sz="1200" dirty="0"/>
              </a:p>
              <a:p>
                <a:r>
                  <a:rPr lang="zh-CN" altLang="en-US" sz="1200" dirty="0"/>
                  <a:t>总体平均因果效应，即图阴影部分格式对应的因果效应全部加总起来，</a:t>
                </a:r>
                <a:endParaRPr lang="en-US" altLang="zh-CN" sz="1200" dirty="0"/>
              </a:p>
              <a:p>
                <a:pPr marL="0" indent="0">
                  <a:buNone/>
                </a:pPr>
                <a14:m>
                  <m:oMathPara xmlns:m="http://schemas.openxmlformats.org/officeDocument/2006/math">
                    <m:oMath>
                      <m:eqArr>
                        <m:eqArrPr>
                          <m:ctrlPr>
                            <a:rPr lang="zh-CN" altLang="en-US" sz="1200" i="1" smtClean="0">
                              <a:latin typeface="Cambria Math" panose="02040503050406030204" pitchFamily="18" charset="0"/>
                            </a:rPr>
                          </m:ctrlPr>
                        </m:eqArrPr>
                        <m:e>
                          <m:r>
                            <a:rPr lang="zh-CN" altLang="en-US" sz="1200" i="1" smtClean="0">
                              <a:latin typeface="Cambria Math" panose="02040503050406030204" pitchFamily="18" charset="0"/>
                            </a:rPr>
                            <m:t>𝜏</m:t>
                          </m:r>
                          <m:r>
                            <a:rPr lang="zh-CN" altLang="en-US" sz="1200" i="1" smtClean="0">
                              <a:latin typeface="Cambria Math" panose="02040503050406030204" pitchFamily="18" charset="0"/>
                            </a:rPr>
                            <m:t>=</m:t>
                          </m:r>
                          <m:f>
                            <m:fPr>
                              <m:ctrlPr>
                                <a:rPr lang="zh-CN" altLang="en-US" sz="1200" i="1" smtClean="0">
                                  <a:latin typeface="Cambria Math" panose="02040503050406030204" pitchFamily="18" charset="0"/>
                                </a:rPr>
                              </m:ctrlPr>
                            </m:fPr>
                            <m:num>
                              <m:r>
                                <a:rPr lang="zh-CN" altLang="en-US" sz="1200" i="1" smtClean="0">
                                  <a:latin typeface="Cambria Math" panose="02040503050406030204" pitchFamily="18" charset="0"/>
                                </a:rPr>
                                <m:t>1</m:t>
                              </m:r>
                            </m:num>
                            <m:den>
                              <m:r>
                                <a:rPr lang="zh-CN" altLang="en-US" sz="1200" i="1" smtClean="0">
                                  <a:latin typeface="Cambria Math" panose="02040503050406030204" pitchFamily="18" charset="0"/>
                                </a:rPr>
                                <m:t>𝜅</m:t>
                              </m:r>
                            </m:den>
                          </m:f>
                          <m:nary>
                            <m:naryPr>
                              <m:chr m:val="∑"/>
                              <m:limLoc m:val="undOvr"/>
                              <m:supHide m:val="on"/>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sub>
                            <m:sup/>
                            <m:e>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𝑡</m:t>
                                  </m:r>
                                  <m:r>
                                    <a:rPr lang="zh-CN" altLang="en-US" sz="1200" i="1" smtClean="0">
                                      <a:latin typeface="Cambria Math" panose="02040503050406030204" pitchFamily="18" charset="0"/>
                                    </a:rPr>
                                    <m:t>=2</m:t>
                                  </m:r>
                                </m:sub>
                                <m:sup>
                                  <m:r>
                                    <a:rPr lang="zh-CN" altLang="en-US" sz="1200" i="1" smtClean="0">
                                      <a:latin typeface="Cambria Math" panose="02040503050406030204" pitchFamily="18" charset="0"/>
                                    </a:rPr>
                                    <m:t>𝑇</m:t>
                                  </m:r>
                                </m:sup>
                                <m:e>
                                  <m:r>
                                    <a:rPr lang="zh-CN" altLang="en-US" sz="1200" i="1" smtClean="0">
                                      <a:latin typeface="Cambria Math" panose="02040503050406030204" pitchFamily="18" charset="0"/>
                                    </a:rPr>
                                    <m:t>𝟙</m:t>
                                  </m:r>
                                </m:e>
                              </m:nary>
                            </m:e>
                          </m:nary>
                          <m:d>
                            <m:dPr>
                              <m:begChr m:val="["/>
                              <m:endChr m:val="]"/>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𝑡</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e>
                          </m:d>
                          <m:r>
                            <a:rPr lang="zh-CN" altLang="en-US" sz="1200" i="1" smtClean="0">
                              <a:latin typeface="Cambria Math" panose="02040503050406030204" pitchFamily="18" charset="0"/>
                            </a:rPr>
                            <m:t>𝐴𝑇𝑇</m:t>
                          </m:r>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𝑡</m:t>
                              </m:r>
                            </m:e>
                          </m:d>
                          <m:func>
                            <m:funcPr>
                              <m:ctrlPr>
                                <a:rPr lang="zh-CN" altLang="en-US" sz="1200" i="1" smtClean="0">
                                  <a:latin typeface="Cambria Math" panose="02040503050406030204" pitchFamily="18" charset="0"/>
                                </a:rPr>
                              </m:ctrlPr>
                            </m:funcPr>
                            <m:fName>
                              <m:r>
                                <m:rPr>
                                  <m:sty m:val="p"/>
                                </m:rPr>
                                <a:rPr lang="zh-CN" altLang="en-US" sz="1200" i="1" smtClean="0">
                                  <a:latin typeface="Cambria Math" panose="02040503050406030204" pitchFamily="18" charset="0"/>
                                </a:rPr>
                                <m:t>Pr</m:t>
                              </m:r>
                            </m:fName>
                            <m:e>
                              <m:d>
                                <m:dPr>
                                  <m:begChr m:val="["/>
                                  <m:endChr m:val="]"/>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𝐸</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𝑇</m:t>
                                  </m:r>
                                </m:e>
                              </m:d>
                            </m:e>
                          </m:func>
                          <m:r>
                            <a:rPr lang="zh-CN" altLang="en-US" sz="1200" i="1" smtClean="0">
                              <a:latin typeface="Cambria Math" panose="02040503050406030204" pitchFamily="18" charset="0"/>
                            </a:rPr>
                            <m:t>,</m:t>
                          </m:r>
                        </m:e>
                      </m:eqArr>
                    </m:oMath>
                  </m:oMathPara>
                </a14:m>
                <a:endParaRPr lang="en-US" altLang="zh-CN" sz="1200" dirty="0"/>
              </a:p>
              <a:p>
                <a:pPr marL="0" indent="0">
                  <a:buNone/>
                </a:pPr>
                <a:r>
                  <a:rPr lang="zh-CN" altLang="en-US" sz="1200" dirty="0"/>
                  <a:t>其中</a:t>
                </a:r>
                <a14:m>
                  <m:oMath xmlns:m="http://schemas.openxmlformats.org/officeDocument/2006/math">
                    <m:r>
                      <a:rPr lang="en-US" altLang="zh-CN" sz="1200" i="1" dirty="0" smtClean="0">
                        <a:latin typeface="Cambria Math" panose="02040503050406030204" pitchFamily="18" charset="0"/>
                      </a:rPr>
                      <m:t>𝜅</m:t>
                    </m:r>
                    <m:r>
                      <a:rPr lang="en-US" altLang="zh-CN" sz="1200" b="0" i="1" dirty="0" smtClean="0">
                        <a:latin typeface="Cambria Math" panose="02040503050406030204" pitchFamily="18" charset="0"/>
                      </a:rPr>
                      <m:t>=</m:t>
                    </m:r>
                    <m:f>
                      <m:fPr>
                        <m:ctrlPr>
                          <a:rPr lang="en-US" altLang="zh-CN" sz="1200" b="0" i="1" dirty="0" smtClean="0">
                            <a:latin typeface="Cambria Math" panose="02040503050406030204" pitchFamily="18" charset="0"/>
                          </a:rPr>
                        </m:ctrlPr>
                      </m:fPr>
                      <m:num>
                        <m:r>
                          <a:rPr lang="en-US" altLang="zh-CN" sz="1200" b="0" i="1" dirty="0" smtClean="0">
                            <a:latin typeface="Cambria Math" panose="02040503050406030204" pitchFamily="18" charset="0"/>
                          </a:rPr>
                          <m:t>1</m:t>
                        </m:r>
                      </m:num>
                      <m:den>
                        <m:r>
                          <a:rPr lang="en-US" altLang="zh-CN" sz="1200" i="1" dirty="0" smtClean="0">
                            <a:latin typeface="Cambria Math" panose="02040503050406030204" pitchFamily="18" charset="0"/>
                          </a:rPr>
                          <m:t>𝜅</m:t>
                        </m:r>
                      </m:den>
                    </m:f>
                    <m:nary>
                      <m:naryPr>
                        <m:chr m:val="∑"/>
                        <m:supHide m:val="on"/>
                        <m:ctrlPr>
                          <a:rPr lang="en-US" altLang="zh-CN" sz="1200" b="0" i="1" dirty="0" smtClean="0">
                            <a:latin typeface="Cambria Math" panose="02040503050406030204" pitchFamily="18" charset="0"/>
                          </a:rPr>
                        </m:ctrlPr>
                      </m:naryPr>
                      <m:sub>
                        <m:r>
                          <a:rPr lang="en-US" altLang="zh-CN" sz="1200" b="0" i="1" dirty="0" smtClean="0">
                            <a:latin typeface="Cambria Math" panose="02040503050406030204" pitchFamily="18" charset="0"/>
                          </a:rPr>
                          <m:t>𝑒</m:t>
                        </m:r>
                      </m:sub>
                      <m:sup/>
                      <m:e>
                        <m:nary>
                          <m:naryPr>
                            <m:chr m:val="∑"/>
                            <m:ctrlPr>
                              <a:rPr lang="en-US" altLang="zh-CN" sz="1200" b="0" i="1" dirty="0" smtClean="0">
                                <a:latin typeface="Cambria Math" panose="02040503050406030204" pitchFamily="18" charset="0"/>
                              </a:rPr>
                            </m:ctrlPr>
                          </m:naryPr>
                          <m:sub>
                            <m:r>
                              <a:rPr lang="en-US" altLang="zh-CN" sz="1200" b="0" i="1" dirty="0" smtClean="0">
                                <a:latin typeface="Cambria Math" panose="02040503050406030204" pitchFamily="18" charset="0"/>
                              </a:rPr>
                              <m:t>𝑡</m:t>
                            </m:r>
                          </m:sub>
                          <m:sup>
                            <m:r>
                              <a:rPr lang="en-US" altLang="zh-CN" sz="1200" b="0" i="1" dirty="0" smtClean="0">
                                <a:latin typeface="Cambria Math" panose="02040503050406030204" pitchFamily="18" charset="0"/>
                              </a:rPr>
                              <m:t>𝑇</m:t>
                            </m:r>
                          </m:sup>
                          <m:e>
                            <m:r>
                              <a:rPr lang="en-US" altLang="zh-CN" sz="1200" b="0" i="1" dirty="0" smtClean="0">
                                <a:latin typeface="Cambria Math" panose="02040503050406030204" pitchFamily="18" charset="0"/>
                              </a:rPr>
                              <m:t>1</m:t>
                            </m:r>
                            <m:d>
                              <m:dPr>
                                <m:begChr m:val="["/>
                                <m:endChr m:val="]"/>
                                <m:ctrlPr>
                                  <a:rPr lang="en-US" altLang="zh-CN" sz="1200" b="0" i="1" dirty="0" smtClean="0">
                                    <a:latin typeface="Cambria Math" panose="02040503050406030204" pitchFamily="18" charset="0"/>
                                  </a:rPr>
                                </m:ctrlPr>
                              </m:dPr>
                              <m:e>
                                <m:r>
                                  <a:rPr lang="en-US" altLang="zh-CN" sz="1200" b="0" i="1" dirty="0" smtClean="0">
                                    <a:latin typeface="Cambria Math" panose="02040503050406030204" pitchFamily="18" charset="0"/>
                                  </a:rPr>
                                  <m:t>𝑡</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𝑒</m:t>
                                </m:r>
                              </m:e>
                            </m:d>
                            <m:r>
                              <a:rPr lang="en-US" altLang="zh-CN" sz="1200" b="0" i="1" dirty="0" smtClean="0">
                                <a:latin typeface="Cambria Math" panose="02040503050406030204" pitchFamily="18" charset="0"/>
                              </a:rPr>
                              <m:t>𝐴𝑇𝑇</m:t>
                            </m:r>
                            <m:d>
                              <m:dPr>
                                <m:ctrlPr>
                                  <a:rPr lang="en-US" altLang="zh-CN" sz="1200" b="0" i="1" dirty="0" smtClean="0">
                                    <a:latin typeface="Cambria Math" panose="02040503050406030204" pitchFamily="18" charset="0"/>
                                  </a:rPr>
                                </m:ctrlPr>
                              </m:dPr>
                              <m:e>
                                <m:r>
                                  <a:rPr lang="en-US" altLang="zh-CN" sz="1200" b="0" i="1" dirty="0" smtClean="0">
                                    <a:latin typeface="Cambria Math" panose="02040503050406030204" pitchFamily="18" charset="0"/>
                                  </a:rPr>
                                  <m:t>𝑒</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𝑡</m:t>
                                </m:r>
                              </m:e>
                            </m:d>
                            <m:func>
                              <m:funcPr>
                                <m:ctrlPr>
                                  <a:rPr lang="en-US" altLang="zh-CN" sz="1200" b="0" i="0" dirty="0" smtClean="0">
                                    <a:latin typeface="Cambria Math" panose="02040503050406030204" pitchFamily="18" charset="0"/>
                                  </a:rPr>
                                </m:ctrlPr>
                              </m:funcPr>
                              <m:fName>
                                <m:r>
                                  <m:rPr>
                                    <m:sty m:val="p"/>
                                  </m:rPr>
                                  <a:rPr lang="en-US" altLang="zh-CN" sz="1200" b="0" i="0" dirty="0" smtClean="0">
                                    <a:latin typeface="Cambria Math" panose="02040503050406030204" pitchFamily="18" charset="0"/>
                                  </a:rPr>
                                  <m:t>Pr</m:t>
                                </m:r>
                              </m:fName>
                              <m:e>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𝐸</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𝑒</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𝐸</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𝑇</m:t>
                                </m:r>
                                <m:r>
                                  <a:rPr lang="en-US" altLang="zh-CN" sz="1200" b="0" i="1" dirty="0" smtClean="0">
                                    <a:latin typeface="Cambria Math" panose="02040503050406030204" pitchFamily="18" charset="0"/>
                                  </a:rPr>
                                  <m:t>]</m:t>
                                </m:r>
                              </m:e>
                            </m:func>
                          </m:e>
                        </m:nary>
                      </m:e>
                    </m:nary>
                  </m:oMath>
                </a14:m>
                <a:r>
                  <a:rPr lang="zh-CN" altLang="en-US" sz="1200" dirty="0"/>
                  <a:t>。等价于</a:t>
                </a:r>
                <a:r>
                  <a:rPr lang="en-US" altLang="zh-CN" sz="1200" dirty="0"/>
                  <a:t>de </a:t>
                </a:r>
                <a:r>
                  <a:rPr lang="en-US" altLang="zh-CN" sz="1200" dirty="0" err="1"/>
                  <a:t>Chaisemartion</a:t>
                </a:r>
                <a:r>
                  <a:rPr lang="en-US" altLang="zh-CN" sz="1200" dirty="0"/>
                  <a:t> and </a:t>
                </a:r>
                <a:r>
                  <a:rPr lang="en-US" altLang="zh-CN" sz="1200" dirty="0" err="1"/>
                  <a:t>D’Haultfoeuille</a:t>
                </a:r>
                <a:r>
                  <a:rPr lang="en-US" altLang="zh-CN" sz="1200" dirty="0"/>
                  <a:t> (2020)</a:t>
                </a:r>
                <a:r>
                  <a:rPr lang="zh-CN" altLang="en-US" sz="1200" dirty="0"/>
                  <a:t>定义的</a:t>
                </a:r>
                <a:r>
                  <a:rPr lang="en-US" altLang="zh-CN" sz="1200" dirty="0"/>
                  <a:t>ATT</a:t>
                </a:r>
                <a:r>
                  <a:rPr lang="zh-CN" altLang="en-US" sz="1200" dirty="0"/>
                  <a:t>。</a:t>
                </a:r>
              </a:p>
            </p:txBody>
          </p:sp>
        </mc:Choice>
        <mc:Fallback xmlns="">
          <p:sp>
            <p:nvSpPr>
              <p:cNvPr id="3" name="内容占位符 2">
                <a:extLst>
                  <a:ext uri="{FF2B5EF4-FFF2-40B4-BE49-F238E27FC236}">
                    <a16:creationId xmlns:a16="http://schemas.microsoft.com/office/drawing/2014/main" id="{CFDD982E-4B51-DE78-8091-659F92E8C774}"/>
                  </a:ext>
                </a:extLst>
              </p:cNvPr>
              <p:cNvSpPr>
                <a:spLocks noGrp="1" noRot="1" noChangeAspect="1" noMove="1" noResize="1" noEditPoints="1" noAdjustHandles="1" noChangeArrowheads="1" noChangeShapeType="1" noTextEdit="1"/>
              </p:cNvSpPr>
              <p:nvPr>
                <p:ph idx="1"/>
              </p:nvPr>
            </p:nvSpPr>
            <p:spPr>
              <a:blipFill>
                <a:blip r:embed="rId2"/>
                <a:stretch>
                  <a:fillRect b="-19328"/>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3AB04A2-04C5-77B0-5E3F-FB2996AC5B7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CFCC6B-B031-9627-E72B-32E7FF5365C0}"/>
              </a:ext>
            </a:extLst>
          </p:cNvPr>
          <p:cNvSpPr>
            <a:spLocks noGrp="1"/>
          </p:cNvSpPr>
          <p:nvPr>
            <p:ph type="sldNum" sz="quarter" idx="12"/>
          </p:nvPr>
        </p:nvSpPr>
        <p:spPr/>
        <p:txBody>
          <a:bodyPr/>
          <a:lstStyle/>
          <a:p>
            <a:fld id="{D41FC515-8169-4A29-AA56-DBE520D5741B}" type="slidenum">
              <a:rPr lang="zh-CN" altLang="en-US" smtClean="0"/>
              <a:t>87</a:t>
            </a:fld>
            <a:endParaRPr lang="zh-CN" altLang="en-US"/>
          </a:p>
        </p:txBody>
      </p:sp>
      <p:pic>
        <p:nvPicPr>
          <p:cNvPr id="9" name="图片 8">
            <a:extLst>
              <a:ext uri="{FF2B5EF4-FFF2-40B4-BE49-F238E27FC236}">
                <a16:creationId xmlns:a16="http://schemas.microsoft.com/office/drawing/2014/main" id="{7E310123-7BDC-2876-5D5C-1455D051A83F}"/>
              </a:ext>
            </a:extLst>
          </p:cNvPr>
          <p:cNvPicPr>
            <a:picLocks noChangeAspect="1"/>
          </p:cNvPicPr>
          <p:nvPr/>
        </p:nvPicPr>
        <p:blipFill>
          <a:blip r:embed="rId3"/>
          <a:stretch>
            <a:fillRect/>
          </a:stretch>
        </p:blipFill>
        <p:spPr>
          <a:xfrm>
            <a:off x="628650" y="1690689"/>
            <a:ext cx="7985961" cy="1786333"/>
          </a:xfrm>
          <a:prstGeom prst="rect">
            <a:avLst/>
          </a:prstGeom>
        </p:spPr>
      </p:pic>
    </p:spTree>
    <p:extLst>
      <p:ext uri="{BB962C8B-B14F-4D97-AF65-F5344CB8AC3E}">
        <p14:creationId xmlns:p14="http://schemas.microsoft.com/office/powerpoint/2010/main" val="810962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48FF2-210B-C811-49FF-AF4A599790DF}"/>
              </a:ext>
            </a:extLst>
          </p:cNvPr>
          <p:cNvSpPr>
            <a:spLocks noGrp="1"/>
          </p:cNvSpPr>
          <p:nvPr>
            <p:ph type="title"/>
          </p:nvPr>
        </p:nvSpPr>
        <p:spPr/>
        <p:txBody>
          <a:bodyPr/>
          <a:lstStyle/>
          <a:p>
            <a:r>
              <a:rPr lang="en-US" altLang="zh-CN" dirty="0"/>
              <a:t>Callaway and Sant’Anna (2021) </a:t>
            </a:r>
            <a:r>
              <a:rPr lang="zh-CN" altLang="en-US" dirty="0"/>
              <a:t>的非参数方法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58C68E1-A313-0424-CCB2-D01CCD3DA46E}"/>
                  </a:ext>
                </a:extLst>
              </p:cNvPr>
              <p:cNvSpPr>
                <a:spLocks noGrp="1"/>
              </p:cNvSpPr>
              <p:nvPr>
                <p:ph idx="1"/>
              </p:nvPr>
            </p:nvSpPr>
            <p:spPr/>
            <p:txBody>
              <a:bodyPr>
                <a:normAutofit/>
              </a:bodyPr>
              <a:lstStyle/>
              <a:p>
                <a:r>
                  <a:rPr lang="zh-CN" altLang="en-US" sz="1600" dirty="0"/>
                  <a:t>估计和统计推断：</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𝐴𝑇𝑇</m:t>
                                  </m:r>
                                </m:e>
                              </m:acc>
                            </m:e>
                            <m:sub>
                              <m:r>
                                <a:rPr lang="zh-CN" altLang="en-US" sz="1600" i="1" smtClean="0">
                                  <a:latin typeface="Cambria Math" panose="02040503050406030204" pitchFamily="18" charset="0"/>
                                </a:rPr>
                                <m:t>𝑑𝑟</m:t>
                              </m:r>
                            </m:sub>
                            <m:sup>
                              <m:r>
                                <a:rPr lang="zh-CN" altLang="en-US" sz="1600" i="1" smtClean="0">
                                  <a:latin typeface="Cambria Math" panose="02040503050406030204" pitchFamily="18" charset="0"/>
                                </a:rPr>
                                <m:t>𝑛𝑒𝑣</m:t>
                              </m:r>
                            </m:sup>
                          </m:sSubSup>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𝑛</m:t>
                              </m:r>
                            </m:sub>
                          </m:sSub>
                          <m:d>
                            <m:dPr>
                              <m:begChr m:val="["/>
                              <m:endChr m:val="]"/>
                              <m:ctrlPr>
                                <a:rPr lang="zh-CN" altLang="en-US" sz="1600" i="1" smtClean="0">
                                  <a:latin typeface="Cambria Math" panose="02040503050406030204" pitchFamily="18" charset="0"/>
                                </a:rPr>
                              </m:ctrlPr>
                            </m:dPr>
                            <m:e>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𝑒</m:t>
                                      </m:r>
                                    </m:sub>
                                    <m:sup>
                                      <m:r>
                                        <a:rPr lang="zh-CN" altLang="en-US" sz="1600" i="1" smtClean="0">
                                          <a:latin typeface="Cambria Math" panose="02040503050406030204" pitchFamily="18" charset="0"/>
                                        </a:rPr>
                                        <m:t>𝑡</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𝑒</m:t>
                                      </m:r>
                                    </m:sub>
                                    <m:sup>
                                      <m:r>
                                        <a:rPr lang="zh-CN" altLang="en-US" sz="1600" i="1" smtClean="0">
                                          <a:latin typeface="Cambria Math" panose="02040503050406030204" pitchFamily="18" charset="0"/>
                                        </a:rPr>
                                        <m:t>𝑐</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𝑛𝑒𝑣</m:t>
                                      </m:r>
                                    </m:sup>
                                  </m:sSubSup>
                                </m:e>
                              </m:d>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𝑚</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up>
                                      <m:r>
                                        <a:rPr lang="zh-CN" altLang="en-US" sz="1600" i="1" smtClean="0">
                                          <a:latin typeface="Cambria Math" panose="02040503050406030204" pitchFamily="18" charset="0"/>
                                        </a:rPr>
                                        <m:t>𝑛𝑒𝑣</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up>
                                          <m:r>
                                            <a:rPr lang="zh-CN" altLang="en-US" sz="1600" i="1" smtClean="0">
                                              <a:latin typeface="Cambria Math" panose="02040503050406030204" pitchFamily="18" charset="0"/>
                                            </a:rPr>
                                            <m:t>𝑛𝑒𝑣</m:t>
                                          </m:r>
                                        </m:sup>
                                      </m:sSubSup>
                                    </m:e>
                                  </m:d>
                                </m:e>
                              </m:d>
                            </m:e>
                          </m:d>
                          <m:r>
                            <a:rPr lang="zh-CN" altLang="en-US" sz="1600" i="1" smtClean="0">
                              <a:latin typeface="Cambria Math" panose="02040503050406030204" pitchFamily="18" charset="0"/>
                            </a:rPr>
                            <m:t>,</m:t>
                          </m:r>
                        </m:e>
                        <m:e>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𝐴𝑇𝑇</m:t>
                                  </m:r>
                                </m:e>
                              </m:acc>
                            </m:e>
                            <m:sub>
                              <m:r>
                                <a:rPr lang="zh-CN" altLang="en-US" sz="1600" i="1" smtClean="0">
                                  <a:latin typeface="Cambria Math" panose="02040503050406030204" pitchFamily="18" charset="0"/>
                                </a:rPr>
                                <m:t>𝑑𝑟</m:t>
                              </m:r>
                            </m:sub>
                            <m:sup>
                              <m:r>
                                <a:rPr lang="zh-CN" altLang="en-US" sz="1600" i="1" smtClean="0">
                                  <a:latin typeface="Cambria Math" panose="02040503050406030204" pitchFamily="18" charset="0"/>
                                </a:rPr>
                                <m:t>𝑛𝑦</m:t>
                              </m:r>
                            </m:sup>
                          </m:sSubSup>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𝑛</m:t>
                              </m:r>
                            </m:sub>
                          </m:sSub>
                          <m:d>
                            <m:dPr>
                              <m:begChr m:val="["/>
                              <m:endChr m:val="]"/>
                              <m:ctrlPr>
                                <a:rPr lang="zh-CN" altLang="en-US" sz="1600" i="1" smtClean="0">
                                  <a:latin typeface="Cambria Math" panose="02040503050406030204" pitchFamily="18" charset="0"/>
                                </a:rPr>
                              </m:ctrlPr>
                            </m:dPr>
                            <m:e>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𝑒</m:t>
                                      </m:r>
                                    </m:sub>
                                    <m:sup>
                                      <m:r>
                                        <a:rPr lang="zh-CN" altLang="en-US" sz="1600" i="1" smtClean="0">
                                          <a:latin typeface="Cambria Math" panose="02040503050406030204" pitchFamily="18" charset="0"/>
                                        </a:rPr>
                                        <m:t>𝑡</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𝑒</m:t>
                                      </m:r>
                                    </m:sub>
                                    <m:sup>
                                      <m:r>
                                        <a:rPr lang="zh-CN" altLang="en-US" sz="1600" i="1" smtClean="0">
                                          <a:latin typeface="Cambria Math" panose="02040503050406030204" pitchFamily="18" charset="0"/>
                                        </a:rPr>
                                        <m:t>𝑐</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𝑛𝑦</m:t>
                                      </m:r>
                                    </m:sup>
                                  </m:sSubSup>
                                </m:e>
                              </m:d>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−1</m:t>
                                      </m:r>
                                    </m:sub>
                                  </m:sSub>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𝑚</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up>
                                      <m:r>
                                        <a:rPr lang="zh-CN" altLang="en-US" sz="1600" i="1" smtClean="0">
                                          <a:latin typeface="Cambria Math" panose="02040503050406030204" pitchFamily="18" charset="0"/>
                                        </a:rPr>
                                        <m:t>𝑛𝑦</m:t>
                                      </m:r>
                                    </m:sup>
                                  </m:sSubSup>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up>
                                          <m:r>
                                            <a:rPr lang="zh-CN" altLang="en-US" sz="1600" i="1" smtClean="0">
                                              <a:latin typeface="Cambria Math" panose="02040503050406030204" pitchFamily="18" charset="0"/>
                                            </a:rPr>
                                            <m:t>𝑛𝑦</m:t>
                                          </m:r>
                                        </m:sup>
                                      </m:sSubSup>
                                    </m:e>
                                  </m:d>
                                </m:e>
                              </m:d>
                            </m:e>
                          </m:d>
                          <m:r>
                            <a:rPr lang="zh-CN" altLang="en-US" sz="1600" i="1" smtClean="0">
                              <a:latin typeface="Cambria Math" panose="02040503050406030204" pitchFamily="18" charset="0"/>
                            </a:rPr>
                            <m:t>,</m:t>
                          </m:r>
                        </m:e>
                      </m:eqArr>
                    </m:oMath>
                  </m:oMathPara>
                </a14:m>
                <a:endParaRPr lang="en-US" altLang="zh-CN" sz="1600" dirty="0"/>
              </a:p>
              <a:p>
                <a:pPr marL="0" indent="0">
                  <a:buNone/>
                </a:pPr>
                <a:r>
                  <a:rPr lang="zh-CN" altLang="en-US" sz="1600" dirty="0"/>
                  <a:t>其中，𝐸𝑛 表示样本均值，</a:t>
                </a:r>
                <a:endParaRPr lang="en-US" altLang="zh-CN" sz="1600" dirty="0"/>
              </a:p>
              <a:p>
                <a:pPr marL="0" indent="0">
                  <a:buNone/>
                </a:pPr>
                <a14:m>
                  <m:oMathPara xmlns:m="http://schemas.openxmlformats.org/officeDocument/2006/math">
                    <m:oMath>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𝑒</m:t>
                          </m:r>
                        </m:sub>
                        <m:sup>
                          <m:r>
                            <a:rPr lang="zh-CN" altLang="en-US" sz="1600" i="1" smtClean="0">
                              <a:latin typeface="Cambria Math" panose="02040503050406030204" pitchFamily="18" charset="0"/>
                            </a:rPr>
                            <m:t>𝑡</m:t>
                          </m:r>
                        </m:sup>
                      </m:sSubSup>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num>
                        <m:den>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𝑛</m:t>
                              </m:r>
                            </m:sub>
                          </m:sSub>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e>
                          </m:d>
                        </m:den>
                      </m:f>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p>
                          <m:r>
                            <a:rPr lang="zh-CN" altLang="en-US" sz="1600" i="1" smtClean="0">
                              <a:latin typeface="Cambria Math" panose="02040503050406030204" pitchFamily="18" charset="0"/>
                            </a:rPr>
                            <m:t>𝑐</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𝑛𝑒𝑣</m:t>
                          </m:r>
                        </m:sup>
                      </m:sSup>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sub>
                                  </m:sSub>
                                </m:e>
                              </m:d>
                              <m:r>
                                <a:rPr lang="zh-CN" altLang="en-US" sz="1600" i="1" smtClean="0">
                                  <a:latin typeface="Cambria Math" panose="02040503050406030204" pitchFamily="18" charset="0"/>
                                </a:rPr>
                                <m:t>𝐶</m:t>
                              </m:r>
                            </m:num>
                            <m:den>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sub>
                                  </m:sSub>
                                </m:e>
                              </m:d>
                            </m:den>
                          </m:f>
                        </m:num>
                        <m:den>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𝑛</m:t>
                              </m:r>
                            </m:sub>
                          </m:sSub>
                          <m:d>
                            <m:dPr>
                              <m:begChr m:val="["/>
                              <m:endChr m:val="]"/>
                              <m:ctrlPr>
                                <a:rPr lang="zh-CN" altLang="en-US" sz="1600" i="1" smtClean="0">
                                  <a:latin typeface="Cambria Math" panose="02040503050406030204" pitchFamily="18" charset="0"/>
                                </a:rPr>
                              </m:ctrlPr>
                            </m:dPr>
                            <m:e>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sub>
                                      </m:sSub>
                                    </m:e>
                                  </m:d>
                                  <m:r>
                                    <a:rPr lang="zh-CN" altLang="en-US" sz="1600" i="1" smtClean="0">
                                      <a:latin typeface="Cambria Math" panose="02040503050406030204" pitchFamily="18" charset="0"/>
                                    </a:rPr>
                                    <m:t>𝐶</m:t>
                                  </m:r>
                                </m:num>
                                <m:den>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sub>
                                      </m:sSub>
                                    </m:e>
                                  </m:d>
                                </m:den>
                              </m:f>
                            </m:e>
                          </m:d>
                        </m:den>
                      </m:f>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p>
                          <m:r>
                            <a:rPr lang="zh-CN" altLang="en-US" sz="1600" i="1" smtClean="0">
                              <a:latin typeface="Cambria Math" panose="02040503050406030204" pitchFamily="18" charset="0"/>
                            </a:rPr>
                            <m:t>𝑐</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𝑛𝑦</m:t>
                          </m:r>
                        </m:sup>
                      </m:sSup>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𝑡</m:t>
                                      </m:r>
                                    </m:sub>
                                  </m:sSub>
                                </m:e>
                              </m:d>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𝑡</m:t>
                                      </m:r>
                                    </m:sub>
                                  </m:sSub>
                                </m:e>
                              </m:d>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e>
                              </m:d>
                            </m:num>
                            <m:den>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e>
                              </m:d>
                            </m:den>
                          </m:f>
                        </m:num>
                        <m:den>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𝑛</m:t>
                              </m:r>
                            </m:sub>
                          </m:sSub>
                          <m:d>
                            <m:dPr>
                              <m:begChr m:val="["/>
                              <m:endChr m:val="]"/>
                              <m:ctrlPr>
                                <a:rPr lang="zh-CN" altLang="en-US" sz="1600" i="1" smtClean="0">
                                  <a:latin typeface="Cambria Math" panose="02040503050406030204" pitchFamily="18" charset="0"/>
                                </a:rPr>
                              </m:ctrlPr>
                            </m:dPr>
                            <m:e>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𝑡</m:t>
                                          </m:r>
                                        </m:sub>
                                      </m:sSub>
                                    </m:e>
                                  </m:d>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𝑡</m:t>
                                          </m:r>
                                        </m:sub>
                                      </m:sSub>
                                    </m:e>
                                  </m:d>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𝑒</m:t>
                                          </m:r>
                                        </m:sub>
                                      </m:sSub>
                                    </m:e>
                                  </m:d>
                                </m:num>
                                <m:den>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𝑝</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𝑋</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𝜋</m:t>
                                              </m:r>
                                            </m:e>
                                          </m:acc>
                                        </m:e>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sub>
                                      </m:sSub>
                                    </m:e>
                                  </m:d>
                                </m:den>
                              </m:f>
                            </m:e>
                          </m:d>
                        </m:den>
                      </m:f>
                      <m:r>
                        <a:rPr lang="zh-CN" altLang="en-US" sz="1600" i="1" smtClean="0">
                          <a:latin typeface="Cambria Math" panose="02040503050406030204" pitchFamily="18" charset="0"/>
                        </a:rPr>
                        <m:t>.</m:t>
                      </m:r>
                    </m:oMath>
                  </m:oMathPara>
                </a14:m>
                <a:endParaRPr lang="en-US" altLang="zh-CN" sz="1600" dirty="0"/>
              </a:p>
              <a:p>
                <a:pPr marL="0" indent="0">
                  <a:buNone/>
                </a:pPr>
                <a:r>
                  <a:rPr lang="zh-CN" altLang="en-US" sz="1600" dirty="0"/>
                  <a:t>统计推断参见作者文章。</a:t>
                </a:r>
                <a:endParaRPr lang="en-US" altLang="zh-CN" sz="1600" dirty="0"/>
              </a:p>
              <a:p>
                <a:r>
                  <a:rPr lang="en-US" altLang="zh-CN" sz="1600" dirty="0"/>
                  <a:t>Stata: </a:t>
                </a:r>
                <a:r>
                  <a:rPr lang="en-US" altLang="zh-CN" sz="1600" dirty="0" err="1"/>
                  <a:t>csdid</a:t>
                </a:r>
                <a:r>
                  <a:rPr lang="en-US" altLang="zh-CN" sz="1600" dirty="0"/>
                  <a:t>, R: did</a:t>
                </a:r>
              </a:p>
            </p:txBody>
          </p:sp>
        </mc:Choice>
        <mc:Fallback xmlns="">
          <p:sp>
            <p:nvSpPr>
              <p:cNvPr id="3" name="内容占位符 2">
                <a:extLst>
                  <a:ext uri="{FF2B5EF4-FFF2-40B4-BE49-F238E27FC236}">
                    <a16:creationId xmlns:a16="http://schemas.microsoft.com/office/drawing/2014/main" id="{D58C68E1-A313-0424-CCB2-D01CCD3DA46E}"/>
                  </a:ext>
                </a:extLst>
              </p:cNvPr>
              <p:cNvSpPr>
                <a:spLocks noGrp="1" noRot="1" noChangeAspect="1" noMove="1" noResize="1" noEditPoints="1" noAdjustHandles="1" noChangeArrowheads="1" noChangeShapeType="1" noTextEdit="1"/>
              </p:cNvSpPr>
              <p:nvPr>
                <p:ph idx="1"/>
              </p:nvPr>
            </p:nvSpPr>
            <p:spPr>
              <a:blipFill>
                <a:blip r:embed="rId2"/>
                <a:stretch>
                  <a:fillRect l="-386"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C5F6D712-7FC8-78FB-EEDD-FB35BB4B13B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8815B81-4E03-EE8C-ECB8-65E35D1A4761}"/>
              </a:ext>
            </a:extLst>
          </p:cNvPr>
          <p:cNvSpPr>
            <a:spLocks noGrp="1"/>
          </p:cNvSpPr>
          <p:nvPr>
            <p:ph type="sldNum" sz="quarter" idx="12"/>
          </p:nvPr>
        </p:nvSpPr>
        <p:spPr/>
        <p:txBody>
          <a:bodyPr/>
          <a:lstStyle/>
          <a:p>
            <a:fld id="{D41FC515-8169-4A29-AA56-DBE520D5741B}" type="slidenum">
              <a:rPr lang="zh-CN" altLang="en-US" smtClean="0"/>
              <a:t>88</a:t>
            </a:fld>
            <a:endParaRPr lang="zh-CN" altLang="en-US"/>
          </a:p>
        </p:txBody>
      </p:sp>
    </p:spTree>
    <p:extLst>
      <p:ext uri="{BB962C8B-B14F-4D97-AF65-F5344CB8AC3E}">
        <p14:creationId xmlns:p14="http://schemas.microsoft.com/office/powerpoint/2010/main" val="40838795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86E90-4BA8-1ED7-A0E0-5AE7C78CDCB1}"/>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1C7761A-8F5D-9BA1-0D94-B8DECBB280AC}"/>
                  </a:ext>
                </a:extLst>
              </p:cNvPr>
              <p:cNvSpPr>
                <a:spLocks noGrp="1"/>
              </p:cNvSpPr>
              <p:nvPr>
                <p:ph idx="1"/>
              </p:nvPr>
            </p:nvSpPr>
            <p:spPr/>
            <p:txBody>
              <a:bodyPr>
                <a:normAutofit fontScale="62500" lnSpcReduction="20000"/>
              </a:bodyPr>
              <a:lstStyle/>
              <a:p>
                <a:r>
                  <a:rPr lang="en-US" altLang="zh-CN" dirty="0"/>
                  <a:t>Wooldridge (2021) </a:t>
                </a:r>
                <a:r>
                  <a:rPr lang="zh-CN" altLang="en-US" dirty="0"/>
                  <a:t>对交错情形下的回归</a:t>
                </a:r>
                <a:r>
                  <a:rPr lang="en-US" altLang="zh-CN" dirty="0"/>
                  <a:t>DID </a:t>
                </a:r>
                <a:r>
                  <a:rPr lang="zh-CN" altLang="en-US" dirty="0"/>
                  <a:t>进行了详细讨论。假设有𝑖 </a:t>
                </a:r>
                <a:r>
                  <a:rPr lang="en-US" altLang="zh-CN" dirty="0"/>
                  <a:t>= 1, … , </a:t>
                </a:r>
                <a:r>
                  <a:rPr lang="zh-CN" altLang="en-US" dirty="0"/>
                  <a:t>𝑁，𝑡 </a:t>
                </a:r>
                <a:r>
                  <a:rPr lang="en-US" altLang="zh-CN" dirty="0"/>
                  <a:t>= 1, … , </a:t>
                </a:r>
                <a:r>
                  <a:rPr lang="zh-CN" altLang="en-US" dirty="0"/>
                  <a:t>𝑇 的平衡面板数据，定义</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𝑒</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m:t>
                          </m:r>
                        </m:e>
                      </m:d>
                      <m:r>
                        <a:rPr lang="zh-CN" altLang="en-US" i="1" smtClean="0">
                          <a:latin typeface="Cambria Math" panose="02040503050406030204" pitchFamily="18" charset="0"/>
                        </a:rPr>
                        <m:t>,</m:t>
                      </m:r>
                    </m:oMath>
                  </m:oMathPara>
                </a14:m>
                <a:endParaRPr lang="en-US" altLang="zh-CN" dirty="0"/>
              </a:p>
              <a:p>
                <a:r>
                  <a:rPr lang="zh-CN" altLang="en-US" dirty="0"/>
                  <a:t>假设</a:t>
                </a:r>
                <a:r>
                  <a:rPr lang="en-US" altLang="zh-CN" dirty="0"/>
                  <a:t>1”</a:t>
                </a:r>
                <a:r>
                  <a:rPr lang="zh-CN" altLang="en-US" dirty="0"/>
                  <a:t>（平行趋势假设）：对于任意𝑒 ∈ </a:t>
                </a:r>
                <a:r>
                  <a:rPr lang="en-US" altLang="zh-CN" dirty="0"/>
                  <a:t>ℰ</a:t>
                </a:r>
                <a:r>
                  <a:rPr lang="zh-CN" altLang="en-US" dirty="0"/>
                  <a:t>，满足：</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𝑒</m:t>
                              </m:r>
                            </m:e>
                          </m:d>
                          <m:r>
                            <a:rPr lang="en-US" altLang="zh-CN" i="1" smtClean="0">
                              <a:latin typeface="Cambria Math" panose="02040503050406030204" pitchFamily="18" charset="0"/>
                            </a:rPr>
                            <m:t>=</m:t>
                          </m:r>
                          <m:r>
                            <a:rPr lang="en-US" altLang="zh-CN"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𝜃</m:t>
                              </m:r>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 </m:t>
                          </m:r>
                          <m:r>
                            <a:rPr lang="en-US" altLang="zh-CN" i="1" smtClean="0">
                              <a:latin typeface="Cambria Math" panose="02040503050406030204" pitchFamily="18" charset="0"/>
                            </a:rPr>
                            <m:t>𝑡</m:t>
                          </m:r>
                          <m:r>
                            <a:rPr lang="en-US" altLang="zh-CN" i="1" smtClean="0">
                              <a:latin typeface="Cambria Math" panose="02040503050406030204" pitchFamily="18" charset="0"/>
                            </a:rPr>
                            <m:t>=2,…,</m:t>
                          </m:r>
                          <m:r>
                            <a:rPr lang="en-US" altLang="zh-CN" i="1" smtClean="0">
                              <a:latin typeface="Cambria Math" panose="02040503050406030204" pitchFamily="18" charset="0"/>
                            </a:rPr>
                            <m:t>𝑇</m:t>
                          </m:r>
                          <m:r>
                            <a:rPr lang="en-US" altLang="zh-CN" i="1" smtClean="0">
                              <a:latin typeface="Cambria Math" panose="02040503050406030204" pitchFamily="18" charset="0"/>
                            </a:rPr>
                            <m:t>.</m:t>
                          </m:r>
                        </m:e>
                      </m:eqArr>
                      <m:r>
                        <a:rPr lang="en-US" altLang="zh-CN" b="0" i="1" smtClean="0">
                          <a:latin typeface="Cambria Math" panose="02040503050406030204" pitchFamily="18" charset="0"/>
                        </a:rPr>
                        <m:t>    (49)</m:t>
                      </m:r>
                    </m:oMath>
                  </m:oMathPara>
                </a14:m>
                <a:endParaRPr lang="en-US" altLang="zh-CN" dirty="0"/>
              </a:p>
              <a:p>
                <a:r>
                  <a:rPr lang="zh-CN" altLang="en-US" dirty="0"/>
                  <a:t>假设存在从未干预组，则𝐸∞ </a:t>
                </a:r>
                <a:r>
                  <a:rPr lang="en-US" altLang="zh-CN" dirty="0"/>
                  <a:t>= 1 − (</a:t>
                </a:r>
                <a:r>
                  <a:rPr lang="zh-CN" altLang="en-US" dirty="0"/>
                  <a:t>𝐸𝑞 </a:t>
                </a:r>
                <a:r>
                  <a:rPr lang="en-US" altLang="zh-CN" dirty="0"/>
                  <a:t>+ ⋯ + </a:t>
                </a:r>
                <a:r>
                  <a:rPr lang="zh-CN" altLang="en-US" dirty="0"/>
                  <a:t>𝐸𝑇 </a:t>
                </a:r>
                <a:r>
                  <a:rPr lang="en-US" altLang="zh-CN" dirty="0"/>
                  <a:t>)</a:t>
                </a:r>
                <a:r>
                  <a:rPr lang="zh-CN" altLang="en-US" dirty="0"/>
                  <a:t>，即分组之间是相互排斥的。观测结果可以写为：</a:t>
                </a:r>
                <a:endParaRPr lang="en-US" altLang="zh-CN" dirty="0"/>
              </a:p>
              <a:p>
                <a:pPr marL="0" indent="0">
                  <a:buNone/>
                </a:pPr>
                <a14:m>
                  <m:oMathPara xmlns:m="http://schemas.openxmlformats.org/officeDocument/2006/math">
                    <m:oMath>
                      <m:eqArr>
                        <m:eqArrPr>
                          <m:ctrlPr>
                            <a:rPr lang="en-US" altLang="zh-CN" i="1" smtClean="0">
                              <a:latin typeface="Cambria Math" panose="02040503050406030204" pitchFamily="18" charset="0"/>
                            </a:rPr>
                          </m:ctrlPr>
                        </m:eqArrPr>
                        <m:e>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nary>
                                <m:naryPr>
                                  <m:chr m:val="∑"/>
                                  <m:limLoc m:val="undOvr"/>
                                  <m:ctrlPr>
                                    <a:rPr lang="en-US" altLang="zh-CN" i="1" smtClean="0">
                                      <a:latin typeface="Cambria Math" panose="02040503050406030204" pitchFamily="18" charset="0"/>
                                    </a:rPr>
                                  </m:ctrlPr>
                                </m:naryPr>
                                <m:sub>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𝑞</m:t>
                                  </m:r>
                                </m:sub>
                                <m:sup>
                                  <m:r>
                                    <a:rPr lang="en-US" altLang="zh-CN" i="1" smtClean="0">
                                      <a:latin typeface="Cambria Math" panose="02040503050406030204" pitchFamily="18" charset="0"/>
                                    </a:rPr>
                                    <m:t>𝑇</m:t>
                                  </m:r>
                                </m:sup>
                                <m:e>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e>
                                  </m:d>
                                </m:e>
                              </m:nary>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m:t>
                                  </m:r>
                                  <m:r>
                                    <a:rPr lang="en-US" altLang="zh-CN" i="1" smtClean="0">
                                      <a:latin typeface="Cambria Math" panose="02040503050406030204" pitchFamily="18" charset="0"/>
                                    </a:rPr>
                                    <m:t>𝑒</m:t>
                                  </m:r>
                                </m:sub>
                              </m:sSub>
                            </m:e>
                            <m:e>
                              <m:r>
                                <m:rPr>
                                  <m:aln/>
                                </m:rPr>
                                <a:rPr lang="en-US" altLang="zh-CN" i="1" smtClean="0">
                                  <a:latin typeface="Cambria Math" panose="02040503050406030204" pitchFamily="18" charset="0"/>
                                </a:rPr>
                                <m:t>&amp;</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𝑌</m:t>
                                  </m:r>
                                </m:e>
                                <m:sub>
                                  <m:r>
                                    <a:rPr lang="en-US" altLang="zh-CN" i="1" smtClean="0">
                                      <a:latin typeface="Cambria Math" panose="02040503050406030204" pitchFamily="18" charset="0"/>
                                    </a:rPr>
                                    <m:t>𝑖𝑡</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m:t>
                                  </m:r>
                                </m:e>
                              </m:d>
                              <m:r>
                                <a:rPr lang="en-US" altLang="zh-CN" i="1" smtClean="0">
                                  <a:latin typeface="Cambria Math" panose="02040503050406030204" pitchFamily="18" charset="0"/>
                                </a:rPr>
                                <m:t>+</m:t>
                              </m:r>
                              <m:nary>
                                <m:naryPr>
                                  <m:chr m:val="∑"/>
                                  <m:limLoc m:val="undOvr"/>
                                  <m:ctrlPr>
                                    <a:rPr lang="en-US" altLang="zh-CN" i="1" smtClean="0">
                                      <a:latin typeface="Cambria Math" panose="02040503050406030204" pitchFamily="18" charset="0"/>
                                    </a:rPr>
                                  </m:ctrlPr>
                                </m:naryPr>
                                <m:sub>
                                  <m:r>
                                    <a:rPr lang="en-US" altLang="zh-CN" i="1" smtClean="0">
                                      <a:latin typeface="Cambria Math" panose="02040503050406030204" pitchFamily="18" charset="0"/>
                                    </a:rPr>
                                    <m:t>𝑒</m:t>
                                  </m:r>
                                  <m:r>
                                    <a:rPr lang="en-US" altLang="zh-CN" i="1" smtClean="0">
                                      <a:latin typeface="Cambria Math" panose="02040503050406030204" pitchFamily="18" charset="0"/>
                                    </a:rPr>
                                    <m:t>=</m:t>
                                  </m:r>
                                  <m:r>
                                    <a:rPr lang="en-US" altLang="zh-CN" i="1" smtClean="0">
                                      <a:latin typeface="Cambria Math" panose="02040503050406030204" pitchFamily="18" charset="0"/>
                                    </a:rPr>
                                    <m:t>𝑞</m:t>
                                  </m:r>
                                </m:sub>
                                <m:sup>
                                  <m:r>
                                    <a:rPr lang="en-US" altLang="zh-CN" i="1" smtClean="0">
                                      <a:latin typeface="Cambria Math" panose="02040503050406030204" pitchFamily="18" charset="0"/>
                                    </a:rPr>
                                    <m:t>𝑇</m:t>
                                  </m:r>
                                </m:sup>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𝜏</m:t>
                                      </m:r>
                                    </m:e>
                                    <m:sub>
                                      <m:r>
                                        <a:rPr lang="en-US" altLang="zh-CN" i="1" smtClean="0">
                                          <a:latin typeface="Cambria Math" panose="02040503050406030204" pitchFamily="18" charset="0"/>
                                        </a:rPr>
                                        <m:t>𝑖𝑡</m:t>
                                      </m:r>
                                    </m:sub>
                                  </m:sSub>
                                </m:e>
                              </m:nary>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𝑒</m:t>
                                  </m:r>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m:t>
                                  </m:r>
                                  <m:r>
                                    <a:rPr lang="en-US" altLang="zh-CN" i="1" smtClean="0">
                                      <a:latin typeface="Cambria Math" panose="02040503050406030204" pitchFamily="18" charset="0"/>
                                    </a:rPr>
                                    <m:t>𝑒</m:t>
                                  </m:r>
                                </m:sub>
                              </m:sSub>
                              <m:r>
                                <a:rPr lang="en-US" altLang="zh-CN" i="1" smtClean="0">
                                  <a:latin typeface="Cambria Math" panose="02040503050406030204" pitchFamily="18" charset="0"/>
                                </a:rPr>
                                <m:t>.</m:t>
                              </m:r>
                            </m:e>
                          </m:eqArr>
                          <m:r>
                            <a:rPr lang="en-US" altLang="zh-CN" b="0" i="1" smtClean="0">
                              <a:latin typeface="Cambria Math" panose="02040503050406030204" pitchFamily="18" charset="0"/>
                            </a:rPr>
                            <m:t>                                                           (50)</m:t>
                          </m:r>
                        </m:e>
                      </m:eqArr>
                    </m:oMath>
                  </m:oMathPara>
                </a14:m>
                <a:endParaRPr lang="en-US" altLang="zh-CN" dirty="0"/>
              </a:p>
              <a:p>
                <a:r>
                  <a:rPr lang="zh-CN" altLang="en-US" dirty="0"/>
                  <a:t>假设最早接受干预的组为𝑞，𝑞 ≥ </a:t>
                </a:r>
                <a:r>
                  <a:rPr lang="en-US" altLang="zh-CN" dirty="0"/>
                  <a:t>2</a:t>
                </a:r>
                <a:r>
                  <a:rPr lang="zh-CN" altLang="en-US" dirty="0"/>
                  <a:t>，即最早从第</a:t>
                </a:r>
                <a:r>
                  <a:rPr lang="en-US" altLang="zh-CN" dirty="0"/>
                  <a:t>2 </a:t>
                </a:r>
                <a:r>
                  <a:rPr lang="zh-CN" altLang="en-US" dirty="0"/>
                  <a:t>期开始干预，𝑞 − </a:t>
                </a:r>
                <a:r>
                  <a:rPr lang="en-US" altLang="zh-CN" dirty="0"/>
                  <a:t>1 </a:t>
                </a:r>
                <a:r>
                  <a:rPr lang="zh-CN" altLang="en-US" dirty="0"/>
                  <a:t>期之前所有组均未受到干预。</a:t>
                </a:r>
                <a:endParaRPr lang="en-US" altLang="zh-CN" dirty="0"/>
              </a:p>
            </p:txBody>
          </p:sp>
        </mc:Choice>
        <mc:Fallback xmlns="">
          <p:sp>
            <p:nvSpPr>
              <p:cNvPr id="3" name="内容占位符 2">
                <a:extLst>
                  <a:ext uri="{FF2B5EF4-FFF2-40B4-BE49-F238E27FC236}">
                    <a16:creationId xmlns:a16="http://schemas.microsoft.com/office/drawing/2014/main" id="{E1C7761A-8F5D-9BA1-0D94-B8DECBB280AC}"/>
                  </a:ext>
                </a:extLst>
              </p:cNvPr>
              <p:cNvSpPr>
                <a:spLocks noGrp="1" noRot="1" noChangeAspect="1" noMove="1" noResize="1" noEditPoints="1" noAdjustHandles="1" noChangeArrowheads="1" noChangeShapeType="1" noTextEdit="1"/>
              </p:cNvSpPr>
              <p:nvPr>
                <p:ph idx="1"/>
              </p:nvPr>
            </p:nvSpPr>
            <p:spPr>
              <a:blipFill>
                <a:blip r:embed="rId2"/>
                <a:stretch>
                  <a:fillRect l="-464"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8B25257-AA5B-8AF8-792C-F80F5256DA9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7ACC7AC-7A46-7345-6D35-3F6DDD2EA776}"/>
              </a:ext>
            </a:extLst>
          </p:cNvPr>
          <p:cNvSpPr>
            <a:spLocks noGrp="1"/>
          </p:cNvSpPr>
          <p:nvPr>
            <p:ph type="sldNum" sz="quarter" idx="12"/>
          </p:nvPr>
        </p:nvSpPr>
        <p:spPr/>
        <p:txBody>
          <a:bodyPr/>
          <a:lstStyle/>
          <a:p>
            <a:fld id="{D41FC515-8169-4A29-AA56-DBE520D5741B}" type="slidenum">
              <a:rPr lang="zh-CN" altLang="en-US" smtClean="0"/>
              <a:t>89</a:t>
            </a:fld>
            <a:endParaRPr lang="zh-CN" altLang="en-US"/>
          </a:p>
        </p:txBody>
      </p:sp>
    </p:spTree>
    <p:extLst>
      <p:ext uri="{BB962C8B-B14F-4D97-AF65-F5344CB8AC3E}">
        <p14:creationId xmlns:p14="http://schemas.microsoft.com/office/powerpoint/2010/main" val="8166849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8387EE-CAC2-AA8B-1A11-E17C0C8A6240}"/>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156B0BA-00A7-6843-E955-362E18DD584B}"/>
                  </a:ext>
                </a:extLst>
              </p:cNvPr>
              <p:cNvSpPr>
                <a:spLocks noGrp="1"/>
              </p:cNvSpPr>
              <p:nvPr>
                <p:ph idx="1"/>
              </p:nvPr>
            </p:nvSpPr>
            <p:spPr/>
            <p:txBody>
              <a:bodyPr>
                <a:normAutofit/>
              </a:bodyPr>
              <a:lstStyle/>
              <a:p>
                <a:pPr marL="0" indent="0">
                  <a:buNone/>
                </a:pPr>
                <a14:m>
                  <m:oMathPara xmlns:m="http://schemas.openxmlformats.org/officeDocument/2006/math">
                    <m:oMath>
                      <m:eqArr>
                        <m:eqArrPr>
                          <m:ctrlPr>
                            <a:rPr lang="zh-CN" altLang="en-US" sz="1200" i="1" smtClean="0">
                              <a:latin typeface="Cambria Math" panose="02040503050406030204" pitchFamily="18" charset="0"/>
                            </a:rPr>
                          </m:ctrlPr>
                        </m:eqArrPr>
                        <m:e>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𝑖𝑡</m:t>
                                  </m:r>
                                </m:sub>
                              </m:sSub>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𝑖𝑡</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r>
                                <a:rPr lang="zh-CN" altLang="en-US" sz="1200" i="1" smtClean="0">
                                  <a:latin typeface="Cambria Math" panose="02040503050406030204" pitchFamily="18" charset="0"/>
                                </a:rPr>
                                <m:t>𝐸</m:t>
                              </m:r>
                            </m:e>
                          </m:nary>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𝑖𝑡</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𝑒</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e>
                        <m:e>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𝑖𝑡</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r>
                                <a:rPr lang="zh-CN" altLang="en-US" sz="1200" i="1" smtClean="0">
                                  <a:latin typeface="Cambria Math" panose="02040503050406030204" pitchFamily="18" charset="0"/>
                                </a:rPr>
                                <m:t>𝐸</m:t>
                              </m:r>
                            </m:e>
                          </m:nary>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𝑖𝑡</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𝑒</m:t>
                                  </m:r>
                                </m:e>
                              </m:d>
                              <m:r>
                                <a:rPr lang="zh-CN" altLang="en-US" sz="1200" i="1" smtClean="0">
                                  <a:latin typeface="Cambria Math" panose="02040503050406030204" pitchFamily="18" charset="0"/>
                                </a:rPr>
                                <m:t>|</m:t>
                              </m:r>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r>
                                <a:rPr lang="zh-CN" altLang="en-US" sz="1200" i="1" smtClean="0">
                                  <a:latin typeface="Cambria Math" panose="02040503050406030204" pitchFamily="18" charset="0"/>
                                </a:rPr>
                                <m:t>=1</m:t>
                              </m:r>
                            </m:e>
                          </m:d>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e>
                        <m:e>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1</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𝑖𝑡</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1</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𝑒𝑡</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e>
                        <m:e>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𝐸</m:t>
                          </m:r>
                          <m:d>
                            <m:dPr>
                              <m:begChr m:val="["/>
                              <m:endChr m:val="]"/>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𝑌</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1</m:t>
                                  </m:r>
                                </m:sub>
                              </m:sSub>
                              <m:d>
                                <m:dPr>
                                  <m:ctrlPr>
                                    <a:rPr lang="zh-CN" altLang="en-US" sz="1200" i="1" smtClean="0">
                                      <a:latin typeface="Cambria Math" panose="02040503050406030204" pitchFamily="18" charset="0"/>
                                    </a:rPr>
                                  </m:ctrlPr>
                                </m:dPr>
                                <m:e>
                                  <m:r>
                                    <a:rPr lang="zh-CN" altLang="en-US" sz="1200" i="1" smtClean="0">
                                      <a:latin typeface="Cambria Math" panose="02040503050406030204" pitchFamily="18" charset="0"/>
                                    </a:rPr>
                                    <m:t>∞</m:t>
                                  </m:r>
                                </m:e>
                              </m:d>
                              <m:r>
                                <a:rPr lang="zh-CN" altLang="en-US" sz="1200" i="1" smtClean="0">
                                  <a:latin typeface="Cambria Math" panose="02040503050406030204" pitchFamily="18" charset="0"/>
                                </a:rPr>
                                <m:t>|</m:t>
                              </m:r>
                              <m:r>
                                <a:rPr lang="zh-CN" altLang="en-US" sz="1200" i="1" smtClean="0">
                                  <a:latin typeface="Cambria Math" panose="02040503050406030204" pitchFamily="18" charset="0"/>
                                </a:rPr>
                                <m:t>ℰ</m:t>
                              </m:r>
                            </m:e>
                          </m:d>
                          <m:r>
                            <a:rPr lang="zh-CN" altLang="en-US" sz="1200" i="1" smtClean="0">
                              <a:latin typeface="Cambria Math" panose="02040503050406030204" pitchFamily="18" charset="0"/>
                            </a:rPr>
                            <m:t>+</m:t>
                          </m:r>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𝜃</m:t>
                              </m:r>
                            </m:e>
                            <m:sub>
                              <m:r>
                                <a:rPr lang="zh-CN" altLang="en-US" sz="1200" i="1" smtClean="0">
                                  <a:latin typeface="Cambria Math" panose="02040503050406030204" pitchFamily="18" charset="0"/>
                                </a:rPr>
                                <m:t>𝑡</m:t>
                              </m:r>
                            </m:sub>
                          </m:sSub>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𝑒𝑡</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e>
                        <m:e>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𝛼</m:t>
                          </m:r>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𝛽</m:t>
                                  </m:r>
                                </m:e>
                                <m:sub>
                                  <m:r>
                                    <a:rPr lang="zh-CN" altLang="en-US" sz="1200" i="1" smtClean="0">
                                      <a:latin typeface="Cambria Math" panose="02040503050406030204" pitchFamily="18" charset="0"/>
                                    </a:rPr>
                                    <m:t>𝑒</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r>
                            <a:rPr lang="zh-CN" altLang="en-US" sz="1200" i="1" smtClean="0">
                              <a:latin typeface="Cambria Math" panose="02040503050406030204" pitchFamily="18" charset="0"/>
                            </a:rPr>
                            <m:t>+</m:t>
                          </m:r>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𝜃</m:t>
                              </m:r>
                            </m:e>
                            <m:sub>
                              <m:r>
                                <a:rPr lang="zh-CN" altLang="en-US" sz="1200" i="1" smtClean="0">
                                  <a:latin typeface="Cambria Math" panose="02040503050406030204" pitchFamily="18" charset="0"/>
                                </a:rPr>
                                <m:t>𝑡</m:t>
                              </m:r>
                            </m:sub>
                          </m:sSub>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𝑒𝑡</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e>
                        <m:e>
                          <m:r>
                            <m:rPr>
                              <m:aln/>
                            </m:rPr>
                            <a:rPr lang="zh-CN" altLang="en-US" sz="1200" i="1" smtClean="0">
                              <a:latin typeface="Cambria Math" panose="02040503050406030204" pitchFamily="18" charset="0"/>
                            </a:rPr>
                            <m:t>&amp;</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𝛼</m:t>
                          </m:r>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𝛽</m:t>
                                  </m:r>
                                </m:e>
                                <m:sub>
                                  <m:r>
                                    <a:rPr lang="zh-CN" altLang="en-US" sz="1200" i="1" smtClean="0">
                                      <a:latin typeface="Cambria Math" panose="02040503050406030204" pitchFamily="18" charset="0"/>
                                    </a:rPr>
                                    <m:t>𝑒</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𝑙</m:t>
                              </m:r>
                              <m:r>
                                <a:rPr lang="zh-CN" altLang="en-US" sz="1200" i="1" smtClean="0">
                                  <a:latin typeface="Cambria Math" panose="02040503050406030204" pitchFamily="18" charset="0"/>
                                </a:rPr>
                                <m:t>=2</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𝜃</m:t>
                                  </m:r>
                                </m:e>
                                <m:sub>
                                  <m:r>
                                    <a:rPr lang="zh-CN" altLang="en-US" sz="1200" i="1" smtClean="0">
                                      <a:latin typeface="Cambria Math" panose="02040503050406030204" pitchFamily="18" charset="0"/>
                                    </a:rPr>
                                    <m:t>𝑙</m:t>
                                  </m:r>
                                </m:sub>
                              </m:sSub>
                            </m:e>
                          </m:nary>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𝑇</m:t>
                              </m:r>
                            </m:e>
                            <m:sub>
                              <m:r>
                                <a:rPr lang="zh-CN" altLang="en-US" sz="1200" i="1" smtClean="0">
                                  <a:latin typeface="Cambria Math" panose="02040503050406030204" pitchFamily="18" charset="0"/>
                                </a:rPr>
                                <m:t>𝑙</m:t>
                              </m:r>
                            </m:sub>
                          </m:sSub>
                          <m:r>
                            <a:rPr lang="zh-CN" altLang="en-US" sz="1200" i="1" smtClean="0">
                              <a:latin typeface="Cambria Math" panose="02040503050406030204" pitchFamily="18" charset="0"/>
                            </a:rPr>
                            <m:t>+</m:t>
                          </m:r>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𝑒</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𝑞</m:t>
                              </m:r>
                            </m:sub>
                            <m:sup>
                              <m:r>
                                <a:rPr lang="zh-CN" altLang="en-US" sz="1200" i="1" smtClean="0">
                                  <a:latin typeface="Cambria Math" panose="02040503050406030204" pitchFamily="18" charset="0"/>
                                </a:rPr>
                                <m:t>𝑇</m:t>
                              </m:r>
                            </m:sup>
                            <m:e>
                              <m:nary>
                                <m:naryPr>
                                  <m:chr m:val="∑"/>
                                  <m:limLoc m:val="undOvr"/>
                                  <m:ctrlPr>
                                    <a:rPr lang="zh-CN" altLang="en-US" sz="1200" i="1" smtClean="0">
                                      <a:latin typeface="Cambria Math" panose="02040503050406030204" pitchFamily="18" charset="0"/>
                                    </a:rPr>
                                  </m:ctrlPr>
                                </m:naryPr>
                                <m:sub>
                                  <m:r>
                                    <a:rPr lang="zh-CN" altLang="en-US" sz="1200" i="1" smtClean="0">
                                      <a:latin typeface="Cambria Math" panose="02040503050406030204" pitchFamily="18" charset="0"/>
                                    </a:rPr>
                                    <m:t>𝑙</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up>
                                  <m:r>
                                    <a:rPr lang="zh-CN" altLang="en-US" sz="1200" i="1" smtClean="0">
                                      <a:latin typeface="Cambria Math" panose="02040503050406030204" pitchFamily="18" charset="0"/>
                                    </a:rPr>
                                    <m:t>𝑇</m:t>
                                  </m:r>
                                </m:sup>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𝜏</m:t>
                                      </m:r>
                                    </m:e>
                                    <m:sub>
                                      <m:r>
                                        <a:rPr lang="zh-CN" altLang="en-US" sz="1200" i="1" smtClean="0">
                                          <a:latin typeface="Cambria Math" panose="02040503050406030204" pitchFamily="18" charset="0"/>
                                        </a:rPr>
                                        <m:t>𝑒𝑙</m:t>
                                      </m:r>
                                    </m:sub>
                                  </m:sSub>
                                </m:e>
                              </m:nary>
                            </m:e>
                          </m:nary>
                          <m:d>
                            <m:dPr>
                              <m:ctrlPr>
                                <a:rPr lang="zh-CN" altLang="en-US" sz="1200" i="1" smtClean="0">
                                  <a:latin typeface="Cambria Math" panose="02040503050406030204" pitchFamily="18" charset="0"/>
                                </a:rPr>
                              </m:ctrlPr>
                            </m:dPr>
                            <m:e>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𝐸</m:t>
                                  </m:r>
                                </m:e>
                                <m:sub>
                                  <m:r>
                                    <a:rPr lang="zh-CN" altLang="en-US" sz="1200" i="1" smtClean="0">
                                      <a:latin typeface="Cambria Math" panose="02040503050406030204" pitchFamily="18" charset="0"/>
                                    </a:rPr>
                                    <m:t>𝑖</m:t>
                                  </m:r>
                                  <m:r>
                                    <a:rPr lang="zh-CN" altLang="en-US" sz="1200" i="1" smtClean="0">
                                      <a:latin typeface="Cambria Math" panose="02040503050406030204" pitchFamily="18" charset="0"/>
                                    </a:rPr>
                                    <m:t>,</m:t>
                                  </m:r>
                                  <m:r>
                                    <a:rPr lang="zh-CN" altLang="en-US" sz="1200" i="1" smtClean="0">
                                      <a:latin typeface="Cambria Math" panose="02040503050406030204" pitchFamily="18" charset="0"/>
                                    </a:rPr>
                                    <m:t>𝑒</m:t>
                                  </m:r>
                                </m:sub>
                              </m:sSub>
                              <m:sSub>
                                <m:sSubPr>
                                  <m:ctrlPr>
                                    <a:rPr lang="zh-CN" altLang="en-US" sz="1200" i="1" smtClean="0">
                                      <a:latin typeface="Cambria Math" panose="02040503050406030204" pitchFamily="18" charset="0"/>
                                    </a:rPr>
                                  </m:ctrlPr>
                                </m:sSubPr>
                                <m:e>
                                  <m:r>
                                    <a:rPr lang="zh-CN" altLang="en-US" sz="1200" i="1" smtClean="0">
                                      <a:latin typeface="Cambria Math" panose="02040503050406030204" pitchFamily="18" charset="0"/>
                                    </a:rPr>
                                    <m:t>𝑇</m:t>
                                  </m:r>
                                </m:e>
                                <m:sub>
                                  <m:r>
                                    <a:rPr lang="zh-CN" altLang="en-US" sz="1200" i="1" smtClean="0">
                                      <a:latin typeface="Cambria Math" panose="02040503050406030204" pitchFamily="18" charset="0"/>
                                    </a:rPr>
                                    <m:t>𝑙</m:t>
                                  </m:r>
                                </m:sub>
                              </m:sSub>
                            </m:e>
                          </m:d>
                          <m:r>
                            <a:rPr lang="zh-CN" altLang="en-US" sz="1200" i="1" smtClean="0">
                              <a:latin typeface="Cambria Math" panose="02040503050406030204" pitchFamily="18" charset="0"/>
                            </a:rPr>
                            <m:t>.</m:t>
                          </m:r>
                          <m:r>
                            <a:rPr lang="en-US" altLang="zh-CN" sz="1200" b="0" i="1" smtClean="0">
                              <a:latin typeface="Cambria Math" panose="02040503050406030204" pitchFamily="18" charset="0"/>
                            </a:rPr>
                            <m:t>          (51)</m:t>
                          </m:r>
                        </m:e>
                      </m:eqArr>
                    </m:oMath>
                  </m:oMathPara>
                </a14:m>
                <a:endParaRPr lang="en-US" altLang="zh-CN" sz="1200" dirty="0"/>
              </a:p>
              <a:p>
                <a:r>
                  <a:rPr lang="zh-CN" altLang="en-US" sz="1200" dirty="0"/>
                  <a:t>因而，在交错</a:t>
                </a:r>
                <a:r>
                  <a:rPr lang="en-US" altLang="zh-CN" sz="1200" dirty="0"/>
                  <a:t>DID </a:t>
                </a:r>
                <a:r>
                  <a:rPr lang="zh-CN" altLang="en-US" sz="1200" dirty="0"/>
                  <a:t>情形下，可以构建下列回归模型估计群组平均因果效应：</a:t>
                </a:r>
                <a:endParaRPr lang="en-US" altLang="zh-CN" sz="1200" dirty="0"/>
              </a:p>
              <a:p>
                <a:pPr marL="0" indent="0">
                  <a:buNone/>
                </a:pPr>
                <a14:m>
                  <m:oMathPara xmlns:m="http://schemas.openxmlformats.org/officeDocument/2006/math">
                    <m:oMath>
                      <m:eqArr>
                        <m:eqArrPr>
                          <m:ctrlPr>
                            <a:rPr lang="en-US" altLang="zh-CN" sz="1200" i="1" smtClean="0">
                              <a:latin typeface="Cambria Math" panose="02040503050406030204" pitchFamily="18" charset="0"/>
                            </a:rPr>
                          </m:ctrlPr>
                        </m:eqArrPr>
                        <m:e>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𝑌</m:t>
                              </m:r>
                            </m:e>
                            <m:sub>
                              <m:r>
                                <a:rPr lang="en-US" altLang="zh-CN" sz="1200" i="1" smtClean="0">
                                  <a:latin typeface="Cambria Math" panose="02040503050406030204" pitchFamily="18" charset="0"/>
                                </a:rPr>
                                <m:t>𝑖𝑡</m:t>
                              </m:r>
                            </m:sub>
                          </m:sSub>
                          <m:r>
                            <a:rPr lang="en-US" altLang="zh-CN" sz="1200" i="1" smtClean="0">
                              <a:latin typeface="Cambria Math" panose="02040503050406030204" pitchFamily="18" charset="0"/>
                            </a:rPr>
                            <m:t>=</m:t>
                          </m:r>
                          <m:r>
                            <a:rPr lang="en-US" altLang="zh-CN" sz="1200" i="1" smtClean="0">
                              <a:latin typeface="Cambria Math" panose="02040503050406030204" pitchFamily="18" charset="0"/>
                            </a:rPr>
                            <m:t>𝛼</m:t>
                          </m:r>
                          <m:r>
                            <a:rPr lang="en-US" altLang="zh-CN" sz="1200" i="1" smtClean="0">
                              <a:latin typeface="Cambria Math" panose="02040503050406030204" pitchFamily="18" charset="0"/>
                            </a:rPr>
                            <m:t>+</m:t>
                          </m:r>
                          <m:nary>
                            <m:naryPr>
                              <m:chr m:val="∑"/>
                              <m:limLoc m:val="undOvr"/>
                              <m:ctrlPr>
                                <a:rPr lang="en-US" altLang="zh-CN" sz="1200" i="1" smtClean="0">
                                  <a:latin typeface="Cambria Math" panose="02040503050406030204" pitchFamily="18" charset="0"/>
                                </a:rPr>
                              </m:ctrlPr>
                            </m:naryPr>
                            <m:sub>
                              <m:r>
                                <a:rPr lang="en-US" altLang="zh-CN" sz="1200" i="1" smtClean="0">
                                  <a:latin typeface="Cambria Math" panose="02040503050406030204" pitchFamily="18" charset="0"/>
                                </a:rPr>
                                <m:t>𝑒</m:t>
                              </m:r>
                              <m:r>
                                <a:rPr lang="en-US" altLang="zh-CN" sz="1200" i="1" smtClean="0">
                                  <a:latin typeface="Cambria Math" panose="02040503050406030204" pitchFamily="18" charset="0"/>
                                </a:rPr>
                                <m:t>=</m:t>
                              </m:r>
                              <m:r>
                                <a:rPr lang="en-US" altLang="zh-CN" sz="1200" i="1" smtClean="0">
                                  <a:latin typeface="Cambria Math" panose="02040503050406030204" pitchFamily="18" charset="0"/>
                                </a:rPr>
                                <m:t>𝑞</m:t>
                              </m:r>
                            </m:sub>
                            <m:sup>
                              <m:r>
                                <a:rPr lang="en-US" altLang="zh-CN" sz="1200" i="1" smtClean="0">
                                  <a:latin typeface="Cambria Math" panose="02040503050406030204" pitchFamily="18" charset="0"/>
                                </a:rPr>
                                <m:t>𝑇</m:t>
                              </m:r>
                            </m:sup>
                            <m:e>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𝛽</m:t>
                                  </m:r>
                                </m:e>
                                <m:sub>
                                  <m:r>
                                    <a:rPr lang="en-US" altLang="zh-CN" sz="1200" i="1" smtClean="0">
                                      <a:latin typeface="Cambria Math" panose="02040503050406030204" pitchFamily="18" charset="0"/>
                                    </a:rPr>
                                    <m:t>𝑒</m:t>
                                  </m:r>
                                </m:sub>
                              </m:sSub>
                            </m:e>
                          </m:nary>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𝐸</m:t>
                              </m:r>
                            </m:e>
                            <m:sub>
                              <m:r>
                                <a:rPr lang="en-US" altLang="zh-CN" sz="1200" i="1" smtClean="0">
                                  <a:latin typeface="Cambria Math" panose="02040503050406030204" pitchFamily="18" charset="0"/>
                                </a:rPr>
                                <m:t>𝑖</m:t>
                              </m:r>
                              <m:r>
                                <a:rPr lang="en-US" altLang="zh-CN" sz="1200" i="1" smtClean="0">
                                  <a:latin typeface="Cambria Math" panose="02040503050406030204" pitchFamily="18" charset="0"/>
                                </a:rPr>
                                <m:t>,</m:t>
                              </m:r>
                              <m:r>
                                <a:rPr lang="en-US" altLang="zh-CN" sz="1200" i="1" smtClean="0">
                                  <a:latin typeface="Cambria Math" panose="02040503050406030204" pitchFamily="18" charset="0"/>
                                </a:rPr>
                                <m:t>𝑒</m:t>
                              </m:r>
                            </m:sub>
                          </m:sSub>
                          <m:r>
                            <a:rPr lang="en-US" altLang="zh-CN" sz="1200" i="1" smtClean="0">
                              <a:latin typeface="Cambria Math" panose="02040503050406030204" pitchFamily="18" charset="0"/>
                            </a:rPr>
                            <m:t>+</m:t>
                          </m:r>
                          <m:nary>
                            <m:naryPr>
                              <m:chr m:val="∑"/>
                              <m:limLoc m:val="undOvr"/>
                              <m:ctrlPr>
                                <a:rPr lang="en-US" altLang="zh-CN" sz="1200" i="1" smtClean="0">
                                  <a:latin typeface="Cambria Math" panose="02040503050406030204" pitchFamily="18" charset="0"/>
                                </a:rPr>
                              </m:ctrlPr>
                            </m:naryPr>
                            <m:sub>
                              <m:r>
                                <a:rPr lang="en-US" altLang="zh-CN" sz="1200" i="1" smtClean="0">
                                  <a:latin typeface="Cambria Math" panose="02040503050406030204" pitchFamily="18" charset="0"/>
                                </a:rPr>
                                <m:t>𝑙</m:t>
                              </m:r>
                              <m:r>
                                <a:rPr lang="en-US" altLang="zh-CN" sz="1200" i="1" smtClean="0">
                                  <a:latin typeface="Cambria Math" panose="02040503050406030204" pitchFamily="18" charset="0"/>
                                </a:rPr>
                                <m:t>=2</m:t>
                              </m:r>
                            </m:sub>
                            <m:sup>
                              <m:r>
                                <a:rPr lang="en-US" altLang="zh-CN" sz="1200" i="1" smtClean="0">
                                  <a:latin typeface="Cambria Math" panose="02040503050406030204" pitchFamily="18" charset="0"/>
                                </a:rPr>
                                <m:t>𝑇</m:t>
                              </m:r>
                            </m:sup>
                            <m:e>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𝜃</m:t>
                                  </m:r>
                                </m:e>
                                <m:sub>
                                  <m:r>
                                    <a:rPr lang="en-US" altLang="zh-CN" sz="1200" i="1" smtClean="0">
                                      <a:latin typeface="Cambria Math" panose="02040503050406030204" pitchFamily="18" charset="0"/>
                                    </a:rPr>
                                    <m:t>𝑙</m:t>
                                  </m:r>
                                </m:sub>
                              </m:sSub>
                            </m:e>
                          </m:nary>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𝑇</m:t>
                              </m:r>
                            </m:e>
                            <m:sub>
                              <m:r>
                                <a:rPr lang="en-US" altLang="zh-CN" sz="1200" i="1" smtClean="0">
                                  <a:latin typeface="Cambria Math" panose="02040503050406030204" pitchFamily="18" charset="0"/>
                                </a:rPr>
                                <m:t>𝑙</m:t>
                              </m:r>
                            </m:sub>
                          </m:sSub>
                          <m:r>
                            <a:rPr lang="en-US" altLang="zh-CN" sz="1200" i="1" smtClean="0">
                              <a:latin typeface="Cambria Math" panose="02040503050406030204" pitchFamily="18" charset="0"/>
                            </a:rPr>
                            <m:t>+</m:t>
                          </m:r>
                          <m:nary>
                            <m:naryPr>
                              <m:chr m:val="∑"/>
                              <m:limLoc m:val="undOvr"/>
                              <m:ctrlPr>
                                <a:rPr lang="en-US" altLang="zh-CN" sz="1200" i="1" smtClean="0">
                                  <a:latin typeface="Cambria Math" panose="02040503050406030204" pitchFamily="18" charset="0"/>
                                </a:rPr>
                              </m:ctrlPr>
                            </m:naryPr>
                            <m:sub>
                              <m:r>
                                <a:rPr lang="en-US" altLang="zh-CN" sz="1200" i="1" smtClean="0">
                                  <a:latin typeface="Cambria Math" panose="02040503050406030204" pitchFamily="18" charset="0"/>
                                </a:rPr>
                                <m:t>𝑒</m:t>
                              </m:r>
                              <m:r>
                                <a:rPr lang="en-US" altLang="zh-CN" sz="1200" i="1" smtClean="0">
                                  <a:latin typeface="Cambria Math" panose="02040503050406030204" pitchFamily="18" charset="0"/>
                                </a:rPr>
                                <m:t>=</m:t>
                              </m:r>
                              <m:r>
                                <a:rPr lang="en-US" altLang="zh-CN" sz="1200" i="1" smtClean="0">
                                  <a:latin typeface="Cambria Math" panose="02040503050406030204" pitchFamily="18" charset="0"/>
                                </a:rPr>
                                <m:t>𝑞</m:t>
                              </m:r>
                            </m:sub>
                            <m:sup>
                              <m:r>
                                <a:rPr lang="en-US" altLang="zh-CN" sz="1200" i="1" smtClean="0">
                                  <a:latin typeface="Cambria Math" panose="02040503050406030204" pitchFamily="18" charset="0"/>
                                </a:rPr>
                                <m:t>𝑇</m:t>
                              </m:r>
                            </m:sup>
                            <m:e>
                              <m:nary>
                                <m:naryPr>
                                  <m:chr m:val="∑"/>
                                  <m:limLoc m:val="undOvr"/>
                                  <m:ctrlPr>
                                    <a:rPr lang="en-US" altLang="zh-CN" sz="1200" i="1" smtClean="0">
                                      <a:latin typeface="Cambria Math" panose="02040503050406030204" pitchFamily="18" charset="0"/>
                                    </a:rPr>
                                  </m:ctrlPr>
                                </m:naryPr>
                                <m:sub>
                                  <m:r>
                                    <a:rPr lang="en-US" altLang="zh-CN" sz="1200" i="1" smtClean="0">
                                      <a:latin typeface="Cambria Math" panose="02040503050406030204" pitchFamily="18" charset="0"/>
                                    </a:rPr>
                                    <m:t>𝑙</m:t>
                                  </m:r>
                                  <m:r>
                                    <a:rPr lang="en-US" altLang="zh-CN" sz="1200" i="1" smtClean="0">
                                      <a:latin typeface="Cambria Math" panose="02040503050406030204" pitchFamily="18" charset="0"/>
                                    </a:rPr>
                                    <m:t>=</m:t>
                                  </m:r>
                                  <m:r>
                                    <a:rPr lang="en-US" altLang="zh-CN" sz="1200" i="1" smtClean="0">
                                      <a:latin typeface="Cambria Math" panose="02040503050406030204" pitchFamily="18" charset="0"/>
                                    </a:rPr>
                                    <m:t>𝑒</m:t>
                                  </m:r>
                                </m:sub>
                                <m:sup>
                                  <m:r>
                                    <a:rPr lang="en-US" altLang="zh-CN" sz="1200" i="1" smtClean="0">
                                      <a:latin typeface="Cambria Math" panose="02040503050406030204" pitchFamily="18" charset="0"/>
                                    </a:rPr>
                                    <m:t>𝑇</m:t>
                                  </m:r>
                                </m:sup>
                                <m:e>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𝜏</m:t>
                                      </m:r>
                                    </m:e>
                                    <m:sub>
                                      <m:r>
                                        <a:rPr lang="en-US" altLang="zh-CN" sz="1200" i="1" smtClean="0">
                                          <a:latin typeface="Cambria Math" panose="02040503050406030204" pitchFamily="18" charset="0"/>
                                        </a:rPr>
                                        <m:t>𝑒𝑙</m:t>
                                      </m:r>
                                    </m:sub>
                                  </m:sSub>
                                </m:e>
                              </m:nary>
                            </m:e>
                          </m:nary>
                          <m:d>
                            <m:dPr>
                              <m:ctrlPr>
                                <a:rPr lang="en-US" altLang="zh-CN" sz="1200" i="1" smtClean="0">
                                  <a:latin typeface="Cambria Math" panose="02040503050406030204" pitchFamily="18" charset="0"/>
                                </a:rPr>
                              </m:ctrlPr>
                            </m:dPr>
                            <m:e>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𝐸</m:t>
                                  </m:r>
                                </m:e>
                                <m:sub>
                                  <m:r>
                                    <a:rPr lang="en-US" altLang="zh-CN" sz="1200" i="1" smtClean="0">
                                      <a:latin typeface="Cambria Math" panose="02040503050406030204" pitchFamily="18" charset="0"/>
                                    </a:rPr>
                                    <m:t>𝑖</m:t>
                                  </m:r>
                                  <m:r>
                                    <a:rPr lang="en-US" altLang="zh-CN" sz="1200" i="1" smtClean="0">
                                      <a:latin typeface="Cambria Math" panose="02040503050406030204" pitchFamily="18" charset="0"/>
                                    </a:rPr>
                                    <m:t>,</m:t>
                                  </m:r>
                                  <m:r>
                                    <a:rPr lang="en-US" altLang="zh-CN" sz="1200" i="1" smtClean="0">
                                      <a:latin typeface="Cambria Math" panose="02040503050406030204" pitchFamily="18" charset="0"/>
                                    </a:rPr>
                                    <m:t>𝑒</m:t>
                                  </m:r>
                                </m:sub>
                              </m:sSub>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𝑇</m:t>
                                  </m:r>
                                </m:e>
                                <m:sub>
                                  <m:r>
                                    <a:rPr lang="en-US" altLang="zh-CN" sz="1200" i="1" smtClean="0">
                                      <a:latin typeface="Cambria Math" panose="02040503050406030204" pitchFamily="18" charset="0"/>
                                    </a:rPr>
                                    <m:t>𝑙</m:t>
                                  </m:r>
                                </m:sub>
                              </m:sSub>
                            </m:e>
                          </m:d>
                          <m:r>
                            <a:rPr lang="en-US" altLang="zh-CN" sz="1200" i="1" smtClean="0">
                              <a:latin typeface="Cambria Math" panose="02040503050406030204" pitchFamily="18" charset="0"/>
                            </a:rPr>
                            <m:t>+</m:t>
                          </m:r>
                          <m:sSub>
                            <m:sSubPr>
                              <m:ctrlPr>
                                <a:rPr lang="en-US" altLang="zh-CN" sz="1200" i="1" smtClean="0">
                                  <a:latin typeface="Cambria Math" panose="02040503050406030204" pitchFamily="18" charset="0"/>
                                </a:rPr>
                              </m:ctrlPr>
                            </m:sSubPr>
                            <m:e>
                              <m:r>
                                <a:rPr lang="en-US" altLang="zh-CN" sz="1200" i="1" smtClean="0">
                                  <a:latin typeface="Cambria Math" panose="02040503050406030204" pitchFamily="18" charset="0"/>
                                </a:rPr>
                                <m:t>𝜀</m:t>
                              </m:r>
                            </m:e>
                            <m:sub>
                              <m:r>
                                <a:rPr lang="en-US" altLang="zh-CN" sz="1200" i="1" smtClean="0">
                                  <a:latin typeface="Cambria Math" panose="02040503050406030204" pitchFamily="18" charset="0"/>
                                </a:rPr>
                                <m:t>𝑖𝑡</m:t>
                              </m:r>
                            </m:sub>
                          </m:sSub>
                          <m:r>
                            <a:rPr lang="en-US" altLang="zh-CN" sz="1200" i="1" smtClean="0">
                              <a:latin typeface="Cambria Math" panose="02040503050406030204" pitchFamily="18" charset="0"/>
                            </a:rPr>
                            <m:t>,</m:t>
                          </m:r>
                          <m:r>
                            <a:rPr lang="en-US" altLang="zh-CN" sz="1200" b="0" i="1" smtClean="0">
                              <a:latin typeface="Cambria Math" panose="02040503050406030204" pitchFamily="18" charset="0"/>
                            </a:rPr>
                            <m:t>  (52)</m:t>
                          </m:r>
                        </m:e>
                      </m:eqArr>
                    </m:oMath>
                  </m:oMathPara>
                </a14:m>
                <a:endParaRPr lang="en-US" altLang="zh-CN" sz="1200" dirty="0"/>
              </a:p>
              <a:p>
                <a:endParaRPr lang="zh-CN" altLang="en-US" sz="1200" dirty="0"/>
              </a:p>
            </p:txBody>
          </p:sp>
        </mc:Choice>
        <mc:Fallback xmlns="">
          <p:sp>
            <p:nvSpPr>
              <p:cNvPr id="3" name="内容占位符 2">
                <a:extLst>
                  <a:ext uri="{FF2B5EF4-FFF2-40B4-BE49-F238E27FC236}">
                    <a16:creationId xmlns:a16="http://schemas.microsoft.com/office/drawing/2014/main" id="{A156B0BA-00A7-6843-E955-362E18DD584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6F7E61D-3997-DA7C-D7E9-6777154E787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684B8AA-EAAF-6B4D-38B7-55338499757B}"/>
              </a:ext>
            </a:extLst>
          </p:cNvPr>
          <p:cNvSpPr>
            <a:spLocks noGrp="1"/>
          </p:cNvSpPr>
          <p:nvPr>
            <p:ph type="sldNum" sz="quarter" idx="12"/>
          </p:nvPr>
        </p:nvSpPr>
        <p:spPr/>
        <p:txBody>
          <a:bodyPr/>
          <a:lstStyle/>
          <a:p>
            <a:fld id="{D41FC515-8169-4A29-AA56-DBE520D5741B}" type="slidenum">
              <a:rPr lang="zh-CN" altLang="en-US" smtClean="0"/>
              <a:t>90</a:t>
            </a:fld>
            <a:endParaRPr lang="zh-CN" altLang="en-US"/>
          </a:p>
        </p:txBody>
      </p:sp>
    </p:spTree>
    <p:extLst>
      <p:ext uri="{BB962C8B-B14F-4D97-AF65-F5344CB8AC3E}">
        <p14:creationId xmlns:p14="http://schemas.microsoft.com/office/powerpoint/2010/main" val="25675355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E9972-AE3E-2A5E-CF20-2D4A9919512B}"/>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4BE6920-F29A-E511-D890-B31F563C8C7B}"/>
                  </a:ext>
                </a:extLst>
              </p:cNvPr>
              <p:cNvSpPr>
                <a:spLocks noGrp="1"/>
              </p:cNvSpPr>
              <p:nvPr>
                <p:ph idx="1"/>
              </p:nvPr>
            </p:nvSpPr>
            <p:spPr/>
            <p:txBody>
              <a:bodyPr>
                <a:normAutofit fontScale="92500"/>
              </a:bodyPr>
              <a:lstStyle/>
              <a:p>
                <a:r>
                  <a:rPr lang="zh-CN" altLang="en-US" dirty="0"/>
                  <a:t>我们先看一个简单的例子，假设共有</a:t>
                </a:r>
                <a:r>
                  <a:rPr lang="en-US" altLang="zh-CN" dirty="0"/>
                  <a:t>3 </a:t>
                </a:r>
                <a:r>
                  <a:rPr lang="zh-CN" altLang="en-US" dirty="0"/>
                  <a:t>期数据，并有</a:t>
                </a:r>
                <a:r>
                  <a:rPr lang="en-US" altLang="zh-CN" dirty="0"/>
                  <a:t>3 </a:t>
                </a:r>
                <a:r>
                  <a:rPr lang="zh-CN" altLang="en-US" dirty="0"/>
                  <a:t>组个体，一组第</a:t>
                </a:r>
                <a:r>
                  <a:rPr lang="en-US" altLang="zh-CN" dirty="0"/>
                  <a:t>2 </a:t>
                </a:r>
                <a:r>
                  <a:rPr lang="zh-CN" altLang="en-US" dirty="0"/>
                  <a:t>期开始干预，一组第</a:t>
                </a:r>
                <a:r>
                  <a:rPr lang="en-US" altLang="zh-CN" dirty="0"/>
                  <a:t>3 </a:t>
                </a:r>
                <a:r>
                  <a:rPr lang="zh-CN" altLang="en-US" dirty="0"/>
                  <a:t>期开始干预，一组</a:t>
                </a:r>
                <a:r>
                  <a:rPr lang="en-US" altLang="zh-CN" dirty="0"/>
                  <a:t>3 </a:t>
                </a:r>
                <a:r>
                  <a:rPr lang="zh-CN" altLang="en-US" dirty="0"/>
                  <a:t>期均未受到干预，数据结构见下图：</a:t>
                </a:r>
                <a:endParaRPr lang="en-US" altLang="zh-CN" dirty="0"/>
              </a:p>
              <a:p>
                <a:endParaRPr lang="en-US" altLang="zh-CN" dirty="0"/>
              </a:p>
              <a:p>
                <a:endParaRPr lang="en-US" altLang="zh-CN" dirty="0"/>
              </a:p>
              <a:p>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3</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,3</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3</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3</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22</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2</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23</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3</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33</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,3</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3</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𝑡</m:t>
                          </m:r>
                          <m:r>
                            <a:rPr lang="zh-CN" altLang="en-US" i="1" smtClean="0">
                              <a:latin typeface="Cambria Math" panose="02040503050406030204" pitchFamily="18" charset="0"/>
                            </a:rPr>
                            <m:t>=1,2,3;</m:t>
                          </m:r>
                          <m:r>
                            <a:rPr lang="zh-CN" altLang="en-US" i="1" smtClean="0">
                              <a:latin typeface="Cambria Math" panose="02040503050406030204" pitchFamily="18" charset="0"/>
                            </a:rPr>
                            <m:t>𝑖</m:t>
                          </m:r>
                          <m:r>
                            <a:rPr lang="zh-CN" altLang="en-US" i="1" smtClean="0">
                              <a:latin typeface="Cambria Math" panose="02040503050406030204" pitchFamily="18" charset="0"/>
                            </a:rPr>
                            <m:t>=1,2,…,</m:t>
                          </m:r>
                          <m:r>
                            <a:rPr lang="zh-CN" altLang="en-US" i="1" smtClean="0">
                              <a:latin typeface="Cambria Math" panose="02040503050406030204" pitchFamily="18" charset="0"/>
                            </a:rPr>
                            <m:t>𝑁</m:t>
                          </m:r>
                          <m:r>
                            <a:rPr lang="zh-CN" altLang="en-US" i="1" smtClean="0">
                              <a:latin typeface="Cambria Math" panose="02040503050406030204" pitchFamily="18" charset="0"/>
                            </a:rPr>
                            <m:t>.</m:t>
                          </m:r>
                        </m:e>
                      </m:eqArr>
                    </m:oMath>
                  </m:oMathPara>
                </a14:m>
                <a:endParaRPr lang="zh-CN" altLang="en-US" dirty="0"/>
              </a:p>
            </p:txBody>
          </p:sp>
        </mc:Choice>
        <mc:Fallback>
          <p:sp>
            <p:nvSpPr>
              <p:cNvPr id="3" name="内容占位符 2">
                <a:extLst>
                  <a:ext uri="{FF2B5EF4-FFF2-40B4-BE49-F238E27FC236}">
                    <a16:creationId xmlns:a16="http://schemas.microsoft.com/office/drawing/2014/main" id="{24BE6920-F29A-E511-D890-B31F563C8C7B}"/>
                  </a:ext>
                </a:extLst>
              </p:cNvPr>
              <p:cNvSpPr>
                <a:spLocks noGrp="1" noRot="1" noChangeAspect="1" noMove="1" noResize="1" noEditPoints="1" noAdjustHandles="1" noChangeArrowheads="1" noChangeShapeType="1" noTextEdit="1"/>
              </p:cNvSpPr>
              <p:nvPr>
                <p:ph idx="1"/>
              </p:nvPr>
            </p:nvSpPr>
            <p:spPr>
              <a:blipFill>
                <a:blip r:embed="rId2"/>
                <a:stretch>
                  <a:fillRect l="-1159"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29339B2-ABDA-CB2C-0073-15DFC8B0578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69D637-C645-3498-5FB2-DC70F8326BFC}"/>
              </a:ext>
            </a:extLst>
          </p:cNvPr>
          <p:cNvSpPr>
            <a:spLocks noGrp="1"/>
          </p:cNvSpPr>
          <p:nvPr>
            <p:ph type="sldNum" sz="quarter" idx="12"/>
          </p:nvPr>
        </p:nvSpPr>
        <p:spPr/>
        <p:txBody>
          <a:bodyPr/>
          <a:lstStyle/>
          <a:p>
            <a:fld id="{D41FC515-8169-4A29-AA56-DBE520D5741B}" type="slidenum">
              <a:rPr lang="zh-CN" altLang="en-US" smtClean="0"/>
              <a:t>91</a:t>
            </a:fld>
            <a:endParaRPr lang="zh-CN" altLang="en-US"/>
          </a:p>
        </p:txBody>
      </p:sp>
      <p:pic>
        <p:nvPicPr>
          <p:cNvPr id="7" name="图片 6">
            <a:extLst>
              <a:ext uri="{FF2B5EF4-FFF2-40B4-BE49-F238E27FC236}">
                <a16:creationId xmlns:a16="http://schemas.microsoft.com/office/drawing/2014/main" id="{5CFF0F5B-6249-1FF1-6EC9-BFC6310E080C}"/>
              </a:ext>
            </a:extLst>
          </p:cNvPr>
          <p:cNvPicPr>
            <a:picLocks noChangeAspect="1"/>
          </p:cNvPicPr>
          <p:nvPr/>
        </p:nvPicPr>
        <p:blipFill>
          <a:blip r:embed="rId3"/>
          <a:stretch>
            <a:fillRect/>
          </a:stretch>
        </p:blipFill>
        <p:spPr>
          <a:xfrm>
            <a:off x="862546" y="3091605"/>
            <a:ext cx="7749057" cy="1285469"/>
          </a:xfrm>
          <a:prstGeom prst="rect">
            <a:avLst/>
          </a:prstGeom>
        </p:spPr>
      </p:pic>
    </p:spTree>
    <p:extLst>
      <p:ext uri="{BB962C8B-B14F-4D97-AF65-F5344CB8AC3E}">
        <p14:creationId xmlns:p14="http://schemas.microsoft.com/office/powerpoint/2010/main" val="42801915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B90FD-A861-14B9-721A-FC89F3144405}"/>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br>
              <a:rPr lang="zh-CN" altLang="en-US" dirty="0"/>
            </a:br>
            <a:r>
              <a:rPr lang="zh-CN" altLang="en-US" sz="2400" dirty="0"/>
              <a:t>引入协变量𝑋𝑖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FBBD930-4276-5135-AB8A-B5DAC45EB92E}"/>
                  </a:ext>
                </a:extLst>
              </p:cNvPr>
              <p:cNvSpPr>
                <a:spLocks noGrp="1"/>
              </p:cNvSpPr>
              <p:nvPr>
                <p:ph idx="1"/>
              </p:nvPr>
            </p:nvSpPr>
            <p:spPr/>
            <p:txBody>
              <a:bodyPr>
                <a:normAutofit/>
              </a:bodyPr>
              <a:lstStyle/>
              <a:p>
                <a:r>
                  <a:rPr lang="zh-CN" altLang="en-US" sz="1600" dirty="0"/>
                  <a:t>定义</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𝜏</m:t>
                        </m:r>
                      </m:e>
                      <m:sub>
                        <m:r>
                          <a:rPr lang="zh-CN" altLang="en-US" sz="1600" i="1" dirty="0" smtClean="0">
                            <a:latin typeface="Cambria Math" panose="02040503050406030204" pitchFamily="18" charset="0"/>
                          </a:rPr>
                          <m:t>𝑒𝑡</m:t>
                        </m:r>
                      </m:sub>
                    </m:sSub>
                    <m:r>
                      <a:rPr lang="en-US" altLang="zh-CN" sz="1600" i="1" dirty="0">
                        <a:latin typeface="Cambria Math" panose="02040503050406030204" pitchFamily="18" charset="0"/>
                      </a:rPr>
                      <m:t>(</m:t>
                    </m:r>
                    <m:r>
                      <a:rPr lang="zh-CN" altLang="en-US" sz="1600" i="1" dirty="0">
                        <a:latin typeface="Cambria Math" panose="02040503050406030204" pitchFamily="18" charset="0"/>
                      </a:rPr>
                      <m:t>𝑥</m:t>
                    </m:r>
                    <m:r>
                      <a:rPr lang="en-US" altLang="zh-CN" sz="1600" i="1" dirty="0">
                        <a:latin typeface="Cambria Math" panose="02040503050406030204" pitchFamily="18" charset="0"/>
                      </a:rPr>
                      <m:t>) = </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𝜏</m:t>
                        </m:r>
                      </m:e>
                      <m:sub>
                        <m:r>
                          <a:rPr lang="zh-CN" altLang="en-US" sz="1600" i="1" dirty="0">
                            <a:latin typeface="Cambria Math" panose="02040503050406030204" pitchFamily="18" charset="0"/>
                          </a:rPr>
                          <m:t>𝑖𝑡</m:t>
                        </m:r>
                      </m:sub>
                    </m:sSub>
                    <m:r>
                      <a:rPr lang="en-US" altLang="zh-CN" sz="1600" i="1" dirty="0">
                        <a:latin typeface="Cambria Math" panose="02040503050406030204" pitchFamily="18" charset="0"/>
                      </a:rPr>
                      <m:t>(</m:t>
                    </m:r>
                    <m:r>
                      <a:rPr lang="zh-CN" altLang="en-US" sz="1600" i="1" dirty="0">
                        <a:latin typeface="Cambria Math" panose="02040503050406030204" pitchFamily="18" charset="0"/>
                      </a:rPr>
                      <m:t>𝑒</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𝐸</m:t>
                        </m:r>
                      </m:e>
                      <m:sub>
                        <m:r>
                          <a:rPr lang="zh-CN" altLang="en-US" sz="1600" i="1" dirty="0">
                            <a:latin typeface="Cambria Math" panose="02040503050406030204" pitchFamily="18" charset="0"/>
                          </a:rPr>
                          <m:t>𝑖</m:t>
                        </m:r>
                        <m:r>
                          <a:rPr lang="en-US" altLang="zh-CN" sz="1600" i="1" dirty="0">
                            <a:latin typeface="Cambria Math" panose="02040503050406030204" pitchFamily="18" charset="0"/>
                          </a:rPr>
                          <m:t>,</m:t>
                        </m:r>
                        <m:r>
                          <a:rPr lang="zh-CN" altLang="en-US" sz="1600" i="1" dirty="0">
                            <a:latin typeface="Cambria Math" panose="02040503050406030204" pitchFamily="18" charset="0"/>
                          </a:rPr>
                          <m:t>𝑒</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1, </m:t>
                    </m:r>
                    <m:r>
                      <a:rPr lang="zh-CN" altLang="en-US" sz="1600" i="1" dirty="0">
                        <a:latin typeface="Cambria Math" panose="02040503050406030204" pitchFamily="18" charset="0"/>
                      </a:rPr>
                      <m:t>𝑥</m:t>
                    </m:r>
                    <m:r>
                      <a:rPr lang="en-US" altLang="zh-CN" sz="1600" i="1" dirty="0">
                        <a:latin typeface="Cambria Math" panose="02040503050406030204" pitchFamily="18" charset="0"/>
                      </a:rPr>
                      <m:t>]</m:t>
                    </m:r>
                  </m:oMath>
                </a14:m>
                <a:r>
                  <a:rPr lang="zh-CN" altLang="en-US" sz="1600" dirty="0"/>
                  <a:t>，利用</a:t>
                </a:r>
                <a:r>
                  <a:rPr lang="en-US" altLang="zh-CN" sz="1600" dirty="0"/>
                  <a:t>(50) </a:t>
                </a:r>
                <a:r>
                  <a:rPr lang="zh-CN" altLang="en-US" sz="1600" dirty="0"/>
                  <a:t>得</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𝑞</m:t>
                              </m:r>
                            </m:sub>
                            <m:sup>
                              <m:r>
                                <a:rPr lang="zh-CN" altLang="en-US" sz="1600" i="1" smtClean="0">
                                  <a:latin typeface="Cambria Math" panose="02040503050406030204" pitchFamily="18" charset="0"/>
                                </a:rPr>
                                <m:t>𝑇</m:t>
                              </m:r>
                            </m:sup>
                            <m:e>
                              <m:r>
                                <a:rPr lang="zh-CN" altLang="en-US" sz="1600" i="1" smtClean="0">
                                  <a:latin typeface="Cambria Math" panose="02040503050406030204" pitchFamily="18" charset="0"/>
                                </a:rPr>
                                <m:t>𝐸</m:t>
                              </m:r>
                            </m:e>
                          </m:nary>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𝑒</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𝑒</m:t>
                              </m:r>
                            </m:sub>
                          </m:sSub>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𝑞</m:t>
                              </m:r>
                            </m:sub>
                            <m:sup>
                              <m:r>
                                <a:rPr lang="zh-CN" altLang="en-US" sz="1600" i="1" smtClean="0">
                                  <a:latin typeface="Cambria Math" panose="02040503050406030204" pitchFamily="18" charset="0"/>
                                </a:rPr>
                                <m:t>𝑇</m:t>
                              </m:r>
                            </m:sup>
                            <m:e>
                              <m:r>
                                <a:rPr lang="zh-CN" altLang="en-US" sz="1600" i="1" smtClean="0">
                                  <a:latin typeface="Cambria Math" panose="02040503050406030204" pitchFamily="18" charset="0"/>
                                </a:rPr>
                                <m:t>𝐸</m:t>
                              </m:r>
                            </m:e>
                          </m:nary>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𝑒𝑡</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=1</m:t>
                              </m:r>
                            </m:e>
                          </m:d>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𝑒</m:t>
                              </m:r>
                            </m:sub>
                          </m:sSub>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𝑞</m:t>
                              </m:r>
                            </m:sub>
                            <m:sup>
                              <m:r>
                                <a:rPr lang="zh-CN" altLang="en-US" sz="1600" i="1" smtClean="0">
                                  <a:latin typeface="Cambria Math" panose="02040503050406030204" pitchFamily="18" charset="0"/>
                                </a:rPr>
                                <m:t>𝑇</m:t>
                              </m:r>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𝑒𝑡</m:t>
                                  </m:r>
                                </m:sub>
                              </m:sSub>
                            </m:e>
                          </m:nary>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𝑒</m:t>
                              </m:r>
                            </m:sub>
                          </m:sSub>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ℰ</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𝑒</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𝑞</m:t>
                              </m:r>
                            </m:sub>
                            <m:sup>
                              <m:r>
                                <a:rPr lang="zh-CN" altLang="en-US" sz="1600" i="1" smtClean="0">
                                  <a:latin typeface="Cambria Math" panose="02040503050406030204" pitchFamily="18" charset="0"/>
                                </a:rPr>
                                <m:t>𝑇</m:t>
                              </m:r>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𝑒𝑡</m:t>
                                  </m:r>
                                </m:sub>
                              </m:sSub>
                            </m:e>
                          </m:nary>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e>
                          </m:d>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𝐸</m:t>
                              </m:r>
                            </m:e>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𝑒</m:t>
                              </m:r>
                            </m:sub>
                          </m:sSub>
                          <m:r>
                            <a:rPr lang="zh-CN" altLang="en-US" sz="1600" i="1" smtClean="0">
                              <a:latin typeface="Cambria Math" panose="02040503050406030204" pitchFamily="18" charset="0"/>
                            </a:rPr>
                            <m:t>,</m:t>
                          </m:r>
                          <m:r>
                            <a:rPr lang="en-US" altLang="zh-CN" sz="1600" b="0" i="1" smtClean="0">
                              <a:latin typeface="Cambria Math" panose="02040503050406030204" pitchFamily="18" charset="0"/>
                            </a:rPr>
                            <m:t>  (53)</m:t>
                          </m:r>
                        </m:e>
                      </m:eqArr>
                    </m:oMath>
                  </m:oMathPara>
                </a14:m>
                <a:endParaRPr lang="zh-CN" altLang="en-US" sz="1600" dirty="0"/>
              </a:p>
            </p:txBody>
          </p:sp>
        </mc:Choice>
        <mc:Fallback xmlns="">
          <p:sp>
            <p:nvSpPr>
              <p:cNvPr id="3" name="内容占位符 2">
                <a:extLst>
                  <a:ext uri="{FF2B5EF4-FFF2-40B4-BE49-F238E27FC236}">
                    <a16:creationId xmlns:a16="http://schemas.microsoft.com/office/drawing/2014/main" id="{FFBBD930-4276-5135-AB8A-B5DAC45EB92E}"/>
                  </a:ext>
                </a:extLst>
              </p:cNvPr>
              <p:cNvSpPr>
                <a:spLocks noGrp="1" noRot="1" noChangeAspect="1" noMove="1" noResize="1" noEditPoints="1" noAdjustHandles="1" noChangeArrowheads="1" noChangeShapeType="1" noTextEdit="1"/>
              </p:cNvSpPr>
              <p:nvPr>
                <p:ph idx="1"/>
              </p:nvPr>
            </p:nvSpPr>
            <p:spPr>
              <a:blipFill>
                <a:blip r:embed="rId2"/>
                <a:stretch>
                  <a:fillRect l="-309"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84AB13B-2A30-ECA6-8D65-4A9234969A3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27CD0AC-958E-CD4C-11D6-043EE4121221}"/>
              </a:ext>
            </a:extLst>
          </p:cNvPr>
          <p:cNvSpPr>
            <a:spLocks noGrp="1"/>
          </p:cNvSpPr>
          <p:nvPr>
            <p:ph type="sldNum" sz="quarter" idx="12"/>
          </p:nvPr>
        </p:nvSpPr>
        <p:spPr/>
        <p:txBody>
          <a:bodyPr/>
          <a:lstStyle/>
          <a:p>
            <a:fld id="{D41FC515-8169-4A29-AA56-DBE520D5741B}" type="slidenum">
              <a:rPr lang="zh-CN" altLang="en-US" smtClean="0"/>
              <a:t>92</a:t>
            </a:fld>
            <a:endParaRPr lang="zh-CN" altLang="en-US"/>
          </a:p>
        </p:txBody>
      </p:sp>
    </p:spTree>
    <p:extLst>
      <p:ext uri="{BB962C8B-B14F-4D97-AF65-F5344CB8AC3E}">
        <p14:creationId xmlns:p14="http://schemas.microsoft.com/office/powerpoint/2010/main" val="23801876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C6734-98BD-8E74-F161-613780454FB3}"/>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0DC2D55-6E5C-58A9-7F54-021DBEEE8087}"/>
                  </a:ext>
                </a:extLst>
              </p:cNvPr>
              <p:cNvSpPr>
                <a:spLocks noGrp="1"/>
              </p:cNvSpPr>
              <p:nvPr>
                <p:ph idx="1"/>
              </p:nvPr>
            </p:nvSpPr>
            <p:spPr/>
            <p:txBody>
              <a:bodyPr>
                <a:normAutofit fontScale="47500" lnSpcReduction="20000"/>
              </a:bodyPr>
              <a:lstStyle/>
              <a:p>
                <a:r>
                  <a:rPr lang="zh-CN" altLang="en-US" dirty="0"/>
                  <a:t>假设条件期望为协变量𝑋𝑖 的线性函数：</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m:t>
                                  </m:r>
                                </m:e>
                              </m:d>
                              <m:r>
                                <a:rPr lang="zh-CN" altLang="en-US" i="1" smtClean="0">
                                  <a:latin typeface="Cambria Math" panose="02040503050406030204" pitchFamily="18" charset="0"/>
                                </a:rPr>
                                <m:t>|</m:t>
                              </m:r>
                              <m:r>
                                <a:rPr lang="zh-CN" altLang="en-US" i="1" smtClean="0">
                                  <a:latin typeface="Cambria Math" panose="02040503050406030204" pitchFamily="18" charset="0"/>
                                </a:rPr>
                                <m:t>ℰ</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nary>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𝑒</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𝑒𝑡</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𝑒</m:t>
                                  </m:r>
                                </m:sub>
                              </m:sSub>
                            </m:e>
                          </m:d>
                        </m:e>
                      </m:eqArr>
                    </m:oMath>
                  </m:oMathPara>
                </a14:m>
                <a:endParaRPr lang="en-US" altLang="zh-CN" dirty="0"/>
              </a:p>
              <a:p>
                <a:pPr marL="0" indent="0">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zh-CN" altLang="en-US" i="1" dirty="0" smtClean="0">
                            <a:latin typeface="Cambria Math" panose="02040503050406030204" pitchFamily="18" charset="0"/>
                          </a:rPr>
                          <m:t>𝑒</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𝐸</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𝑒</m:t>
                    </m:r>
                    <m:r>
                      <a:rPr lang="zh-CN" altLang="en-US" i="1" dirty="0">
                        <a:latin typeface="Cambria Math" panose="02040503050406030204" pitchFamily="18" charset="0"/>
                      </a:rPr>
                      <m:t> = 1]</m:t>
                    </m:r>
                    <m:r>
                      <a:rPr lang="en-US" altLang="zh-CN" i="1" dirty="0">
                        <a:latin typeface="Cambria Math" panose="02040503050406030204" pitchFamily="18" charset="0"/>
                      </a:rPr>
                      <m:t> </m:t>
                    </m:r>
                  </m:oMath>
                </a14:m>
                <a:r>
                  <a:rPr lang="zh-CN" altLang="en-US" dirty="0"/>
                  <a:t>为𝑒 组协变量的平均值。则</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ℰ</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nary>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𝑒</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𝑒𝑡</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𝑒𝑡</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𝑒</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nary>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𝑒</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=2</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=2</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𝑒𝑙</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𝑒𝑙</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𝑒</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e>
                          </m:eqArr>
                          <m:r>
                            <a:rPr lang="en-US" altLang="zh-CN" b="0" i="1" smtClean="0">
                              <a:latin typeface="Cambria Math" panose="02040503050406030204" pitchFamily="18" charset="0"/>
                            </a:rPr>
                            <m:t>(54)</m:t>
                          </m:r>
                        </m:e>
                      </m:eqArr>
                    </m:oMath>
                  </m:oMathPara>
                </a14:m>
                <a:endParaRPr lang="en-US" altLang="zh-CN" dirty="0"/>
              </a:p>
              <a:p>
                <a:pPr marL="0" indent="0">
                  <a:buNone/>
                </a:pPr>
                <a:r>
                  <a:rPr lang="zh-CN" altLang="en-US" dirty="0"/>
                  <a:t>其中𝑇𝑙 </a:t>
                </a:r>
                <a:r>
                  <a:rPr lang="en-US" altLang="zh-CN" dirty="0"/>
                  <a:t>= </a:t>
                </a:r>
                <a:r>
                  <a:rPr lang="zh-CN" altLang="en-US" dirty="0"/>
                  <a:t>𝟙</a:t>
                </a:r>
                <a:r>
                  <a:rPr lang="en-US" altLang="zh-CN" dirty="0"/>
                  <a:t>[</a:t>
                </a:r>
                <a:r>
                  <a:rPr lang="zh-CN" altLang="en-US" dirty="0"/>
                  <a:t>𝑡 </a:t>
                </a:r>
                <a:r>
                  <a:rPr lang="en-US" altLang="zh-CN" dirty="0"/>
                  <a:t>= </a:t>
                </a:r>
                <a:r>
                  <a:rPr lang="zh-CN" altLang="en-US" dirty="0"/>
                  <a:t>𝑙</a:t>
                </a:r>
                <a:r>
                  <a:rPr lang="en-US" altLang="zh-CN" dirty="0"/>
                  <a:t>] </a:t>
                </a:r>
                <a:r>
                  <a:rPr lang="zh-CN" altLang="en-US" dirty="0"/>
                  <a:t>为时间为𝑙 期的虚拟变量。</a:t>
                </a:r>
              </a:p>
            </p:txBody>
          </p:sp>
        </mc:Choice>
        <mc:Fallback>
          <p:sp>
            <p:nvSpPr>
              <p:cNvPr id="3" name="内容占位符 2">
                <a:extLst>
                  <a:ext uri="{FF2B5EF4-FFF2-40B4-BE49-F238E27FC236}">
                    <a16:creationId xmlns:a16="http://schemas.microsoft.com/office/drawing/2014/main" id="{90DC2D55-6E5C-58A9-7F54-021DBEEE8087}"/>
                  </a:ext>
                </a:extLst>
              </p:cNvPr>
              <p:cNvSpPr>
                <a:spLocks noGrp="1" noRot="1" noChangeAspect="1" noMove="1" noResize="1" noEditPoints="1" noAdjustHandles="1" noChangeArrowheads="1" noChangeShapeType="1" noTextEdit="1"/>
              </p:cNvSpPr>
              <p:nvPr>
                <p:ph idx="1"/>
              </p:nvPr>
            </p:nvSpPr>
            <p:spPr>
              <a:blipFill>
                <a:blip r:embed="rId2"/>
                <a:stretch>
                  <a:fillRect l="-77" t="-9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28A9741-3EEF-51FE-26E5-93011751B73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BAB7AA2-A981-0051-6FDA-7CA1A6CCA681}"/>
              </a:ext>
            </a:extLst>
          </p:cNvPr>
          <p:cNvSpPr>
            <a:spLocks noGrp="1"/>
          </p:cNvSpPr>
          <p:nvPr>
            <p:ph type="sldNum" sz="quarter" idx="12"/>
          </p:nvPr>
        </p:nvSpPr>
        <p:spPr/>
        <p:txBody>
          <a:bodyPr/>
          <a:lstStyle/>
          <a:p>
            <a:fld id="{D41FC515-8169-4A29-AA56-DBE520D5741B}" type="slidenum">
              <a:rPr lang="zh-CN" altLang="en-US" smtClean="0"/>
              <a:t>93</a:t>
            </a:fld>
            <a:endParaRPr lang="zh-CN" altLang="en-US"/>
          </a:p>
        </p:txBody>
      </p:sp>
    </p:spTree>
    <p:extLst>
      <p:ext uri="{BB962C8B-B14F-4D97-AF65-F5344CB8AC3E}">
        <p14:creationId xmlns:p14="http://schemas.microsoft.com/office/powerpoint/2010/main" val="5326657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0ECF2A-1DF0-D9D3-9EDF-C54D1D2BC1B8}"/>
              </a:ext>
            </a:extLst>
          </p:cNvPr>
          <p:cNvSpPr>
            <a:spLocks noGrp="1"/>
          </p:cNvSpPr>
          <p:nvPr>
            <p:ph type="title"/>
          </p:nvPr>
        </p:nvSpPr>
        <p:spPr/>
        <p:txBody>
          <a:bodyPr/>
          <a:lstStyle/>
          <a:p>
            <a:r>
              <a:rPr lang="zh-CN" altLang="en-US" dirty="0"/>
              <a:t>交错</a:t>
            </a:r>
            <a:r>
              <a:rPr lang="en-US" altLang="zh-CN" dirty="0"/>
              <a:t>DID </a:t>
            </a:r>
            <a:r>
              <a:rPr lang="zh-CN" altLang="en-US" dirty="0"/>
              <a:t>的回归实现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7BFEB2-0AF5-32C3-ABE4-301EF48F67B3}"/>
                  </a:ext>
                </a:extLst>
              </p:cNvPr>
              <p:cNvSpPr>
                <a:spLocks noGrp="1"/>
              </p:cNvSpPr>
              <p:nvPr>
                <p:ph idx="1"/>
              </p:nvPr>
            </p:nvSpPr>
            <p:spPr/>
            <p:txBody>
              <a:bodyPr>
                <a:normAutofit fontScale="70000" lnSpcReduction="20000"/>
              </a:bodyPr>
              <a:lstStyle/>
              <a:p>
                <a:pPr marL="0" indent="0">
                  <a:lnSpc>
                    <a:spcPct val="120000"/>
                  </a:lnSpc>
                  <a:buNone/>
                </a:pPr>
                <a:r>
                  <a:rPr lang="zh-CN" altLang="en-US" dirty="0"/>
                  <a:t>所以，交错</a:t>
                </a:r>
                <a:r>
                  <a:rPr lang="en-US" altLang="zh-CN" dirty="0"/>
                  <a:t>DID </a:t>
                </a:r>
                <a:r>
                  <a:rPr lang="zh-CN" altLang="en-US" dirty="0"/>
                  <a:t>的回归模型为：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𝛼</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e>
                              </m:nary>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=2</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𝑒𝑙</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𝑒</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=2</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𝜋</m:t>
                                      </m:r>
                                    </m:e>
                                    <m:sub>
                                      <m:r>
                                        <a:rPr lang="zh-CN" altLang="en-US" i="1" smtClean="0">
                                          <a:latin typeface="Cambria Math" panose="02040503050406030204" pitchFamily="18" charset="0"/>
                                        </a:rPr>
                                        <m:t>𝑙</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𝑒</m:t>
                                  </m:r>
                                  <m:r>
                                    <a:rPr lang="zh-CN" altLang="en-US" i="1" smtClean="0">
                                      <a:latin typeface="Cambria Math" panose="02040503050406030204" pitchFamily="18" charset="0"/>
                                    </a:rPr>
                                    <m:t>=</m:t>
                                  </m:r>
                                  <m:r>
                                    <a:rPr lang="zh-CN" altLang="en-US" i="1" smtClean="0">
                                      <a:latin typeface="Cambria Math" panose="02040503050406030204" pitchFamily="18" charset="0"/>
                                    </a:rPr>
                                    <m:t>𝑞</m:t>
                                  </m:r>
                                </m:sub>
                                <m:sup>
                                  <m:r>
                                    <a:rPr lang="zh-CN" altLang="en-US" i="1" smtClean="0">
                                      <a:latin typeface="Cambria Math" panose="02040503050406030204" pitchFamily="18" charset="0"/>
                                    </a:rPr>
                                    <m:t>𝑇</m:t>
                                  </m:r>
                                </m:sup>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𝑙</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𝜌</m:t>
                                          </m:r>
                                        </m:e>
                                        <m:sub>
                                          <m:r>
                                            <a:rPr lang="zh-CN" altLang="en-US" i="1" smtClean="0">
                                              <a:latin typeface="Cambria Math" panose="02040503050406030204" pitchFamily="18" charset="0"/>
                                            </a:rPr>
                                            <m:t>𝑒𝑙</m:t>
                                          </m:r>
                                        </m:sub>
                                      </m:sSub>
                                    </m:e>
                                  </m:nary>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𝑙</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𝑒</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𝐸</m:t>
                                  </m:r>
                                </m:e>
                                <m:sub>
                                  <m:r>
                                    <a:rPr lang="zh-CN" altLang="en-US" i="1" smtClean="0">
                                      <a:latin typeface="Cambria Math" panose="02040503050406030204" pitchFamily="18" charset="0"/>
                                    </a:rPr>
                                    <m:t>𝑖</m:t>
                                  </m:r>
                                  <m:r>
                                    <a:rPr lang="zh-CN" altLang="en-US" i="1" smtClean="0">
                                      <a:latin typeface="Cambria Math" panose="02040503050406030204" pitchFamily="18" charset="0"/>
                                    </a:rPr>
                                    <m:t>,</m:t>
                                  </m:r>
                                  <m:r>
                                    <a:rPr lang="zh-CN" altLang="en-US" i="1" smtClean="0">
                                      <a:latin typeface="Cambria Math" panose="02040503050406030204" pitchFamily="18" charset="0"/>
                                    </a:rPr>
                                    <m:t>𝑒</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r>
                            <a:rPr lang="en-US" altLang="zh-CN" b="0" i="1" smtClean="0">
                              <a:latin typeface="Cambria Math" panose="02040503050406030204" pitchFamily="18" charset="0"/>
                            </a:rPr>
                            <m:t>(55)</m:t>
                          </m:r>
                        </m:e>
                      </m:eqArr>
                    </m:oMath>
                  </m:oMathPara>
                </a14:m>
                <a:endParaRPr lang="en-US" altLang="zh-CN" dirty="0"/>
              </a:p>
              <a:p>
                <a:pPr marL="0" indent="0">
                  <a:lnSpc>
                    <a:spcPct val="120000"/>
                  </a:lnSpc>
                  <a:buNone/>
                </a:pPr>
                <a:r>
                  <a:rPr lang="zh-CN" altLang="en-US" dirty="0"/>
                  <a:t>一旦利用回归模型</a:t>
                </a:r>
                <a:r>
                  <a:rPr lang="en-US" altLang="zh-CN" dirty="0"/>
                  <a:t>(52) </a:t>
                </a:r>
                <a:r>
                  <a:rPr lang="zh-CN" altLang="en-US" dirty="0"/>
                  <a:t>或</a:t>
                </a:r>
                <a:r>
                  <a:rPr lang="en-US" altLang="zh-CN" dirty="0"/>
                  <a:t>(55) </a:t>
                </a:r>
                <a:r>
                  <a:rPr lang="zh-CN" altLang="en-US" dirty="0"/>
                  <a:t>估计出群组平均因果效应𝜏𝑒𝑡，则可以利用</a:t>
                </a:r>
                <a:r>
                  <a:rPr lang="en-US" altLang="zh-CN" dirty="0"/>
                  <a:t>Callaway et al. (2021) </a:t>
                </a:r>
                <a:r>
                  <a:rPr lang="zh-CN" altLang="en-US" dirty="0"/>
                  <a:t>的加总方法，根据研究需要加总出来。</a:t>
                </a:r>
                <a:endParaRPr lang="en-US" altLang="zh-CN" dirty="0"/>
              </a:p>
              <a:p>
                <a:pPr marL="0" indent="0">
                  <a:lnSpc>
                    <a:spcPct val="120000"/>
                  </a:lnSpc>
                  <a:buNone/>
                </a:pPr>
                <a:r>
                  <a:rPr lang="en-US" altLang="zh-CN" dirty="0"/>
                  <a:t>Fernando Rios-Avila </a:t>
                </a:r>
                <a:r>
                  <a:rPr lang="zh-CN" altLang="en-US" dirty="0"/>
                  <a:t>提供了一个</a:t>
                </a:r>
                <a:r>
                  <a:rPr lang="en-US" altLang="zh-CN" dirty="0"/>
                  <a:t>Stata </a:t>
                </a:r>
                <a:r>
                  <a:rPr lang="zh-CN" altLang="en-US" dirty="0"/>
                  <a:t>命令</a:t>
                </a:r>
                <a:r>
                  <a:rPr lang="en-US" altLang="zh-CN" dirty="0" err="1"/>
                  <a:t>jwdid</a:t>
                </a:r>
                <a:r>
                  <a:rPr lang="zh-CN" altLang="en-US" dirty="0"/>
                  <a:t>：</a:t>
                </a:r>
                <a:r>
                  <a:rPr lang="en-US" altLang="zh-CN" dirty="0"/>
                  <a:t>https://friosavila.github.io/playingwithstata/main_jwdid.html</a:t>
                </a:r>
                <a:r>
                  <a:rPr lang="zh-CN" altLang="en-US" dirty="0"/>
                  <a:t>。</a:t>
                </a:r>
              </a:p>
            </p:txBody>
          </p:sp>
        </mc:Choice>
        <mc:Fallback xmlns="">
          <p:sp>
            <p:nvSpPr>
              <p:cNvPr id="3" name="内容占位符 2">
                <a:extLst>
                  <a:ext uri="{FF2B5EF4-FFF2-40B4-BE49-F238E27FC236}">
                    <a16:creationId xmlns:a16="http://schemas.microsoft.com/office/drawing/2014/main" id="{9F7BFEB2-0AF5-32C3-ABE4-301EF48F67B3}"/>
                  </a:ext>
                </a:extLst>
              </p:cNvPr>
              <p:cNvSpPr>
                <a:spLocks noGrp="1" noRot="1" noChangeAspect="1" noMove="1" noResize="1" noEditPoints="1" noAdjustHandles="1" noChangeArrowheads="1" noChangeShapeType="1" noTextEdit="1"/>
              </p:cNvSpPr>
              <p:nvPr>
                <p:ph idx="1"/>
              </p:nvPr>
            </p:nvSpPr>
            <p:spPr>
              <a:blipFill>
                <a:blip r:embed="rId2"/>
                <a:stretch>
                  <a:fillRect l="-773" t="-700" r="-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E06221-7189-C693-26A2-D746733FEE1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1842CD1-BD90-37D6-A364-472A2AFE2A72}"/>
              </a:ext>
            </a:extLst>
          </p:cNvPr>
          <p:cNvSpPr>
            <a:spLocks noGrp="1"/>
          </p:cNvSpPr>
          <p:nvPr>
            <p:ph type="sldNum" sz="quarter" idx="12"/>
          </p:nvPr>
        </p:nvSpPr>
        <p:spPr/>
        <p:txBody>
          <a:bodyPr/>
          <a:lstStyle/>
          <a:p>
            <a:fld id="{D41FC515-8169-4A29-AA56-DBE520D5741B}" type="slidenum">
              <a:rPr lang="zh-CN" altLang="en-US" smtClean="0"/>
              <a:t>94</a:t>
            </a:fld>
            <a:endParaRPr lang="zh-CN" altLang="en-US"/>
          </a:p>
        </p:txBody>
      </p:sp>
    </p:spTree>
    <p:extLst>
      <p:ext uri="{BB962C8B-B14F-4D97-AF65-F5344CB8AC3E}">
        <p14:creationId xmlns:p14="http://schemas.microsoft.com/office/powerpoint/2010/main" val="40815603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B4EDF5-A514-22D9-6FA5-BCF44DE9DA8E}"/>
              </a:ext>
            </a:extLst>
          </p:cNvPr>
          <p:cNvSpPr>
            <a:spLocks noGrp="1"/>
          </p:cNvSpPr>
          <p:nvPr>
            <p:ph type="title"/>
          </p:nvPr>
        </p:nvSpPr>
        <p:spPr/>
        <p:txBody>
          <a:bodyPr/>
          <a:lstStyle/>
          <a:p>
            <a:r>
              <a:rPr lang="zh-CN" altLang="en-US" dirty="0"/>
              <a:t>多期</a:t>
            </a:r>
            <a:r>
              <a:rPr lang="en-US" altLang="zh-CN" dirty="0"/>
              <a:t>DID </a:t>
            </a:r>
            <a:r>
              <a:rPr lang="zh-CN" altLang="en-US" dirty="0"/>
              <a:t>估计方法</a:t>
            </a:r>
            <a:br>
              <a:rPr lang="zh-CN" altLang="en-US" dirty="0"/>
            </a:br>
            <a:r>
              <a:rPr lang="zh-CN" altLang="en-US" sz="2400" dirty="0"/>
              <a:t>其他相关方法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C9A0314-F8E7-8F95-E793-F7D8E6122BA2}"/>
                  </a:ext>
                </a:extLst>
              </p:cNvPr>
              <p:cNvSpPr>
                <a:spLocks noGrp="1"/>
              </p:cNvSpPr>
              <p:nvPr>
                <p:ph idx="1"/>
              </p:nvPr>
            </p:nvSpPr>
            <p:spPr/>
            <p:txBody>
              <a:bodyPr>
                <a:normAutofit fontScale="92500"/>
              </a:bodyPr>
              <a:lstStyle/>
              <a:p>
                <a:r>
                  <a:rPr lang="zh-CN" altLang="en-US" dirty="0"/>
                  <a:t>缺失值填补方法</a:t>
                </a:r>
                <a:r>
                  <a:rPr lang="en-US" altLang="zh-CN" dirty="0"/>
                  <a:t>(imputation)(</a:t>
                </a:r>
                <a:r>
                  <a:rPr lang="en-US" altLang="zh-CN" dirty="0" err="1"/>
                  <a:t>Borusyak</a:t>
                </a:r>
                <a:r>
                  <a:rPr lang="en-US" altLang="zh-CN" dirty="0"/>
                  <a:t> et al., 2024; Gardner, 2021)</a:t>
                </a:r>
                <a:r>
                  <a:rPr lang="zh-CN" altLang="en-US" dirty="0"/>
                  <a:t>：直接对𝑌𝑖𝑡</a:t>
                </a:r>
                <a:r>
                  <a:rPr lang="en-US" altLang="zh-CN" dirty="0"/>
                  <a:t>(0) </a:t>
                </a:r>
                <a:r>
                  <a:rPr lang="zh-CN" altLang="en-US" dirty="0"/>
                  <a:t>建模，比如令</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𝛾</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oMath>
                  </m:oMathPara>
                </a14:m>
                <a:endParaRPr lang="en-US" altLang="zh-CN" dirty="0"/>
              </a:p>
              <a:p>
                <a:r>
                  <a:rPr lang="zh-CN" altLang="en-US" dirty="0"/>
                  <a:t>用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0 </m:t>
                    </m:r>
                  </m:oMath>
                </a14:m>
                <a:r>
                  <a:rPr lang="zh-CN" altLang="en-US" dirty="0"/>
                  <a:t>的数据，估计上述模型，可以得</a:t>
                </a:r>
                <a14:m>
                  <m:oMath xmlns:m="http://schemas.openxmlformats.org/officeDocument/2006/math">
                    <m:r>
                      <a:rPr lang="zh-CN" altLang="en-US" i="1" dirty="0" smtClean="0">
                        <a:latin typeface="Cambria Math" panose="02040503050406030204" pitchFamily="18" charset="0"/>
                      </a:rPr>
                      <m:t>到 </m:t>
                    </m:r>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r>
                              <a:rPr lang="en-US" altLang="zh-CN" b="0" i="1" dirty="0" smtClean="0">
                                <a:latin typeface="Cambria Math" panose="02040503050406030204" pitchFamily="18" charset="0"/>
                              </a:rPr>
                              <m:t>𝑡</m:t>
                            </m:r>
                          </m:sub>
                        </m:sSub>
                      </m:e>
                    </m:acc>
                    <m:r>
                      <a:rPr lang="en-US" altLang="zh-CN" i="1" dirty="0">
                        <a:latin typeface="Cambria Math" panose="02040503050406030204" pitchFamily="18" charset="0"/>
                      </a:rPr>
                      <m:t>(0)</m:t>
                    </m:r>
                  </m:oMath>
                </a14:m>
                <a:r>
                  <a:rPr lang="zh-CN" altLang="en-US" dirty="0"/>
                  <a:t>，利用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1 </m:t>
                    </m:r>
                  </m:oMath>
                </a14:m>
                <a:r>
                  <a:rPr lang="zh-CN" altLang="en-US" dirty="0"/>
                  <a:t>数据，则可以估计</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oMath>
                  </m:oMathPara>
                </a14:m>
                <a:endParaRPr lang="en-US" altLang="zh-CN" dirty="0"/>
              </a:p>
              <a:p>
                <a:r>
                  <a:rPr lang="zh-CN" altLang="en-US" dirty="0"/>
                  <a:t>然后，将 </a:t>
                </a:r>
                <a14:m>
                  <m:oMath xmlns:m="http://schemas.openxmlformats.org/officeDocument/2006/math">
                    <m:sSub>
                      <m:sSubPr>
                        <m:ctrlPr>
                          <a:rPr lang="zh-CN" altLang="en-US" i="1">
                            <a:latin typeface="Cambria Math" panose="02040503050406030204" pitchFamily="18" charset="0"/>
                          </a:rPr>
                        </m:ctrlPr>
                      </m:sSubPr>
                      <m:e>
                        <m:acc>
                          <m:accPr>
                            <m:chr m:val="ˆ"/>
                            <m:ctrlPr>
                              <a:rPr lang="zh-CN" altLang="en-US" i="1">
                                <a:latin typeface="Cambria Math" panose="02040503050406030204" pitchFamily="18" charset="0"/>
                              </a:rPr>
                            </m:ctrlPr>
                          </m:accPr>
                          <m:e>
                            <m:r>
                              <a:rPr lang="zh-CN" altLang="en-US" i="1">
                                <a:latin typeface="Cambria Math" panose="02040503050406030204" pitchFamily="18" charset="0"/>
                              </a:rPr>
                              <m:t>𝜏</m:t>
                            </m:r>
                          </m:e>
                        </m:acc>
                      </m:e>
                      <m:sub>
                        <m:r>
                          <a:rPr lang="zh-CN" altLang="en-US" i="1">
                            <a:latin typeface="Cambria Math" panose="02040503050406030204" pitchFamily="18" charset="0"/>
                          </a:rPr>
                          <m:t>𝑖𝑡</m:t>
                        </m:r>
                      </m:sub>
                    </m:sSub>
                  </m:oMath>
                </a14:m>
                <a:r>
                  <a:rPr lang="zh-CN" altLang="en-US" dirty="0"/>
                  <a:t> 加总起来，则可以得到 </a:t>
                </a:r>
                <a:r>
                  <a:rPr lang="en-US" altLang="zh-CN" dirty="0"/>
                  <a:t>ATT </a:t>
                </a:r>
                <a:r>
                  <a:rPr lang="zh-CN" altLang="en-US" dirty="0"/>
                  <a:t>的估计。</a:t>
                </a:r>
                <a:endParaRPr lang="en-US" altLang="zh-CN" dirty="0"/>
              </a:p>
              <a:p>
                <a:r>
                  <a:rPr lang="zh-CN" altLang="en-US" dirty="0"/>
                  <a:t>堆叠方法</a:t>
                </a:r>
                <a:r>
                  <a:rPr lang="en-US" altLang="zh-CN" dirty="0"/>
                  <a:t>(stacking)(Cengiz et al., 2019)</a:t>
                </a:r>
                <a:r>
                  <a:rPr lang="zh-CN" altLang="en-US" dirty="0"/>
                  <a:t>：选择干预的控制组和不同的干预组构成</a:t>
                </a:r>
                <a:r>
                  <a:rPr lang="en-US" altLang="zh-CN" dirty="0"/>
                  <a:t>2 × 2 DID</a:t>
                </a:r>
                <a:endParaRPr lang="zh-CN" altLang="en-US" dirty="0"/>
              </a:p>
            </p:txBody>
          </p:sp>
        </mc:Choice>
        <mc:Fallback xmlns="">
          <p:sp>
            <p:nvSpPr>
              <p:cNvPr id="3" name="内容占位符 2">
                <a:extLst>
                  <a:ext uri="{FF2B5EF4-FFF2-40B4-BE49-F238E27FC236}">
                    <a16:creationId xmlns:a16="http://schemas.microsoft.com/office/drawing/2014/main" id="{2C9A0314-F8E7-8F95-E793-F7D8E6122BA2}"/>
                  </a:ext>
                </a:extLst>
              </p:cNvPr>
              <p:cNvSpPr>
                <a:spLocks noGrp="1" noRot="1" noChangeAspect="1" noMove="1" noResize="1" noEditPoints="1" noAdjustHandles="1" noChangeArrowheads="1" noChangeShapeType="1" noTextEdit="1"/>
              </p:cNvSpPr>
              <p:nvPr>
                <p:ph idx="1"/>
              </p:nvPr>
            </p:nvSpPr>
            <p:spPr>
              <a:blipFill>
                <a:blip r:embed="rId2"/>
                <a:stretch>
                  <a:fillRect l="-1159"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BA8C7FB-4140-B497-1010-7E38CB68AA1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89E54FD-D587-16E8-3425-DFCAEBE2E018}"/>
              </a:ext>
            </a:extLst>
          </p:cNvPr>
          <p:cNvSpPr>
            <a:spLocks noGrp="1"/>
          </p:cNvSpPr>
          <p:nvPr>
            <p:ph type="sldNum" sz="quarter" idx="12"/>
          </p:nvPr>
        </p:nvSpPr>
        <p:spPr/>
        <p:txBody>
          <a:bodyPr/>
          <a:lstStyle/>
          <a:p>
            <a:fld id="{D41FC515-8169-4A29-AA56-DBE520D5741B}" type="slidenum">
              <a:rPr lang="zh-CN" altLang="en-US" smtClean="0"/>
              <a:t>95</a:t>
            </a:fld>
            <a:endParaRPr lang="zh-CN" altLang="en-US"/>
          </a:p>
        </p:txBody>
      </p:sp>
    </p:spTree>
    <p:extLst>
      <p:ext uri="{BB962C8B-B14F-4D97-AF65-F5344CB8AC3E}">
        <p14:creationId xmlns:p14="http://schemas.microsoft.com/office/powerpoint/2010/main" val="11313333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B61BA0-17B9-68E2-C6F6-60D9B86955F6}"/>
              </a:ext>
            </a:extLst>
          </p:cNvPr>
          <p:cNvSpPr>
            <a:spLocks noGrp="1"/>
          </p:cNvSpPr>
          <p:nvPr>
            <p:ph type="title"/>
          </p:nvPr>
        </p:nvSpPr>
        <p:spPr/>
        <p:txBody>
          <a:bodyPr/>
          <a:lstStyle/>
          <a:p>
            <a:r>
              <a:rPr lang="zh-CN" altLang="en-US" dirty="0"/>
              <a:t>多期</a:t>
            </a:r>
            <a:r>
              <a:rPr lang="en-US" altLang="zh-CN" dirty="0"/>
              <a:t>DID </a:t>
            </a:r>
            <a:r>
              <a:rPr lang="zh-CN" altLang="en-US" dirty="0"/>
              <a:t>估计方法</a:t>
            </a:r>
            <a:br>
              <a:rPr lang="zh-CN" altLang="en-US" dirty="0"/>
            </a:br>
            <a:r>
              <a:rPr lang="zh-CN" altLang="en-US" sz="2400" dirty="0"/>
              <a:t>其他相关命令</a:t>
            </a:r>
          </a:p>
        </p:txBody>
      </p:sp>
      <p:sp>
        <p:nvSpPr>
          <p:cNvPr id="3" name="内容占位符 2">
            <a:extLst>
              <a:ext uri="{FF2B5EF4-FFF2-40B4-BE49-F238E27FC236}">
                <a16:creationId xmlns:a16="http://schemas.microsoft.com/office/drawing/2014/main" id="{F9177344-CC07-A6AF-941E-A611039BCA8A}"/>
              </a:ext>
            </a:extLst>
          </p:cNvPr>
          <p:cNvSpPr>
            <a:spLocks noGrp="1"/>
          </p:cNvSpPr>
          <p:nvPr>
            <p:ph idx="1"/>
          </p:nvPr>
        </p:nvSpPr>
        <p:spPr/>
        <p:txBody>
          <a:bodyPr/>
          <a:lstStyle/>
          <a:p>
            <a:r>
              <a:rPr lang="en-US" altLang="zh-CN" dirty="0">
                <a:hlinkClick r:id="rId2"/>
              </a:rPr>
              <a:t>https://asjadnaqvi.github.io/DiD/docs/01_stata/</a:t>
            </a:r>
            <a:endParaRPr lang="en-US" altLang="zh-CN" dirty="0"/>
          </a:p>
          <a:p>
            <a:r>
              <a:rPr lang="zh-CN" altLang="en-US" dirty="0"/>
              <a:t>提供了很好的软件总结</a:t>
            </a:r>
          </a:p>
        </p:txBody>
      </p:sp>
      <p:sp>
        <p:nvSpPr>
          <p:cNvPr id="4" name="页脚占位符 3">
            <a:extLst>
              <a:ext uri="{FF2B5EF4-FFF2-40B4-BE49-F238E27FC236}">
                <a16:creationId xmlns:a16="http://schemas.microsoft.com/office/drawing/2014/main" id="{D3617F70-DD38-7486-F701-EDF45A00E0A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9BEB2D5-047D-13EF-1AB5-F269047AA08C}"/>
              </a:ext>
            </a:extLst>
          </p:cNvPr>
          <p:cNvSpPr>
            <a:spLocks noGrp="1"/>
          </p:cNvSpPr>
          <p:nvPr>
            <p:ph type="sldNum" sz="quarter" idx="12"/>
          </p:nvPr>
        </p:nvSpPr>
        <p:spPr/>
        <p:txBody>
          <a:bodyPr/>
          <a:lstStyle/>
          <a:p>
            <a:fld id="{D41FC515-8169-4A29-AA56-DBE520D5741B}" type="slidenum">
              <a:rPr lang="zh-CN" altLang="en-US" smtClean="0"/>
              <a:t>96</a:t>
            </a:fld>
            <a:endParaRPr lang="zh-CN" altLang="en-US"/>
          </a:p>
        </p:txBody>
      </p:sp>
    </p:spTree>
    <p:extLst>
      <p:ext uri="{BB962C8B-B14F-4D97-AF65-F5344CB8AC3E}">
        <p14:creationId xmlns:p14="http://schemas.microsoft.com/office/powerpoint/2010/main" val="28589319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92DB15-2E8D-FBAB-6666-9F7CBAAFCFF5}"/>
              </a:ext>
            </a:extLst>
          </p:cNvPr>
          <p:cNvSpPr>
            <a:spLocks noGrp="1"/>
          </p:cNvSpPr>
          <p:nvPr>
            <p:ph type="title"/>
          </p:nvPr>
        </p:nvSpPr>
        <p:spPr/>
        <p:txBody>
          <a:bodyPr/>
          <a:lstStyle/>
          <a:p>
            <a:r>
              <a:rPr lang="zh-CN" altLang="en-US" dirty="0"/>
              <a:t>大而坏的银行：放松管制与收入分配</a:t>
            </a:r>
          </a:p>
        </p:txBody>
      </p:sp>
      <p:sp>
        <p:nvSpPr>
          <p:cNvPr id="3" name="内容占位符 2">
            <a:extLst>
              <a:ext uri="{FF2B5EF4-FFF2-40B4-BE49-F238E27FC236}">
                <a16:creationId xmlns:a16="http://schemas.microsoft.com/office/drawing/2014/main" id="{96CC05FD-ED60-D63D-4B1D-216898767C69}"/>
              </a:ext>
            </a:extLst>
          </p:cNvPr>
          <p:cNvSpPr>
            <a:spLocks noGrp="1"/>
          </p:cNvSpPr>
          <p:nvPr>
            <p:ph idx="1"/>
          </p:nvPr>
        </p:nvSpPr>
        <p:spPr/>
        <p:txBody>
          <a:bodyPr>
            <a:normAutofit/>
          </a:bodyPr>
          <a:lstStyle/>
          <a:p>
            <a:r>
              <a:rPr lang="en-US" altLang="zh-CN" sz="1600" dirty="0"/>
              <a:t>Beck et al. (2010) </a:t>
            </a:r>
            <a:r>
              <a:rPr lang="zh-CN" altLang="en-US" sz="1600" dirty="0"/>
              <a:t>考察了银行放松管制对美国收入分配的影响，利用美国</a:t>
            </a:r>
            <a:r>
              <a:rPr lang="en-US" altLang="zh-CN" sz="1600" dirty="0"/>
              <a:t>1970-1990 </a:t>
            </a:r>
            <a:r>
              <a:rPr lang="zh-CN" altLang="en-US" sz="1600" dirty="0"/>
              <a:t>年代美国很多州逐渐取消了银行跨州设立分支机构的限制，他利用固定效应模型进行估计，发现银行业放松管制显著降低收入差距，并且主要是通过增加低收入人群的收入实现的收入差距降低。</a:t>
            </a:r>
            <a:r>
              <a:rPr lang="en-US" altLang="zh-CN" sz="1600" dirty="0"/>
              <a:t>Baker et al.(2022) </a:t>
            </a:r>
            <a:r>
              <a:rPr lang="zh-CN" altLang="en-US" sz="1600" dirty="0"/>
              <a:t>进行了用新的方法进行重新分析，结果见下表。</a:t>
            </a:r>
          </a:p>
        </p:txBody>
      </p:sp>
      <p:sp>
        <p:nvSpPr>
          <p:cNvPr id="4" name="页脚占位符 3">
            <a:extLst>
              <a:ext uri="{FF2B5EF4-FFF2-40B4-BE49-F238E27FC236}">
                <a16:creationId xmlns:a16="http://schemas.microsoft.com/office/drawing/2014/main" id="{F66427D5-4106-9A2D-D567-0215AAF1BAA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AAAA08E-5CB7-D06F-6DD7-90BB0D675DEC}"/>
              </a:ext>
            </a:extLst>
          </p:cNvPr>
          <p:cNvSpPr>
            <a:spLocks noGrp="1"/>
          </p:cNvSpPr>
          <p:nvPr>
            <p:ph type="sldNum" sz="quarter" idx="12"/>
          </p:nvPr>
        </p:nvSpPr>
        <p:spPr/>
        <p:txBody>
          <a:bodyPr/>
          <a:lstStyle/>
          <a:p>
            <a:fld id="{D41FC515-8169-4A29-AA56-DBE520D5741B}" type="slidenum">
              <a:rPr lang="zh-CN" altLang="en-US" smtClean="0"/>
              <a:t>97</a:t>
            </a:fld>
            <a:endParaRPr lang="zh-CN" altLang="en-US"/>
          </a:p>
        </p:txBody>
      </p:sp>
      <p:pic>
        <p:nvPicPr>
          <p:cNvPr id="7" name="图片 6">
            <a:extLst>
              <a:ext uri="{FF2B5EF4-FFF2-40B4-BE49-F238E27FC236}">
                <a16:creationId xmlns:a16="http://schemas.microsoft.com/office/drawing/2014/main" id="{FE62F9C6-635A-DCB5-7AD1-A4F2B3810598}"/>
              </a:ext>
            </a:extLst>
          </p:cNvPr>
          <p:cNvPicPr>
            <a:picLocks noChangeAspect="1"/>
          </p:cNvPicPr>
          <p:nvPr/>
        </p:nvPicPr>
        <p:blipFill>
          <a:blip r:embed="rId2"/>
          <a:stretch>
            <a:fillRect/>
          </a:stretch>
        </p:blipFill>
        <p:spPr>
          <a:xfrm>
            <a:off x="995739" y="3117029"/>
            <a:ext cx="7269955" cy="3393290"/>
          </a:xfrm>
          <a:prstGeom prst="rect">
            <a:avLst/>
          </a:prstGeom>
        </p:spPr>
      </p:pic>
    </p:spTree>
    <p:extLst>
      <p:ext uri="{BB962C8B-B14F-4D97-AF65-F5344CB8AC3E}">
        <p14:creationId xmlns:p14="http://schemas.microsoft.com/office/powerpoint/2010/main" val="830239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B7C83-CCC1-420A-6B9E-079283904F29}"/>
              </a:ext>
            </a:extLst>
          </p:cNvPr>
          <p:cNvSpPr>
            <a:spLocks noGrp="1"/>
          </p:cNvSpPr>
          <p:nvPr>
            <p:ph type="title"/>
          </p:nvPr>
        </p:nvSpPr>
        <p:spPr/>
        <p:txBody>
          <a:bodyPr/>
          <a:lstStyle/>
          <a:p>
            <a:r>
              <a:rPr lang="zh-CN" altLang="en-US" dirty="0"/>
              <a:t>平行趋势检验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C041592-7B58-7FAD-B54E-33244A1C4CFE}"/>
                  </a:ext>
                </a:extLst>
              </p:cNvPr>
              <p:cNvSpPr>
                <a:spLocks noGrp="1"/>
              </p:cNvSpPr>
              <p:nvPr>
                <p:ph idx="1"/>
              </p:nvPr>
            </p:nvSpPr>
            <p:spPr/>
            <p:txBody>
              <a:bodyPr>
                <a:normAutofit fontScale="77500" lnSpcReduction="20000"/>
              </a:bodyPr>
              <a:lstStyle/>
              <a:p>
                <a:pPr>
                  <a:lnSpc>
                    <a:spcPct val="120000"/>
                  </a:lnSpc>
                </a:pPr>
                <a:r>
                  <a:rPr lang="zh-CN" altLang="en-US" dirty="0"/>
                  <a:t>一般用事件研究法，估计事前效应</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𝑙</m:t>
                        </m:r>
                      </m:sub>
                    </m:sSub>
                    <m:r>
                      <a:rPr lang="en-US" altLang="zh-CN" i="1" dirty="0">
                        <a:latin typeface="Cambria Math" panose="02040503050406030204" pitchFamily="18" charset="0"/>
                      </a:rPr>
                      <m:t>, </m:t>
                    </m:r>
                    <m:r>
                      <a:rPr lang="zh-CN" altLang="en-US" i="1" dirty="0">
                        <a:latin typeface="Cambria Math" panose="02040503050406030204" pitchFamily="18" charset="0"/>
                      </a:rPr>
                      <m:t>𝑙</m:t>
                    </m:r>
                    <m:r>
                      <a:rPr lang="zh-CN" altLang="en-US" i="1" dirty="0">
                        <a:latin typeface="Cambria Math" panose="02040503050406030204" pitchFamily="18" charset="0"/>
                      </a:rPr>
                      <m:t> &lt; 0</m:t>
                    </m:r>
                  </m:oMath>
                </a14:m>
                <a:r>
                  <a:rPr lang="zh-CN" altLang="en-US" dirty="0"/>
                  <a:t>，检验事前效应是否为零，可以用</a:t>
                </a:r>
                <a:r>
                  <a:rPr lang="en-US" altLang="zh-CN" dirty="0"/>
                  <a:t>F </a:t>
                </a:r>
                <a:r>
                  <a:rPr lang="zh-CN" altLang="en-US" dirty="0"/>
                  <a:t>检验。现在，可以用</a:t>
                </a:r>
                <a:r>
                  <a:rPr lang="en-US" altLang="zh-CN" dirty="0"/>
                  <a:t>CS(2021) </a:t>
                </a:r>
                <a:r>
                  <a:rPr lang="zh-CN" altLang="en-US" dirty="0"/>
                  <a:t>等估计量，加总得到事前效应系数</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𝑙</m:t>
                        </m:r>
                      </m:sub>
                    </m:sSub>
                    <m:r>
                      <a:rPr lang="en-US" altLang="zh-CN" i="1" dirty="0">
                        <a:latin typeface="Cambria Math" panose="02040503050406030204" pitchFamily="18" charset="0"/>
                      </a:rPr>
                      <m:t>, </m:t>
                    </m:r>
                    <m:r>
                      <a:rPr lang="zh-CN" altLang="en-US" i="1" dirty="0">
                        <a:latin typeface="Cambria Math" panose="02040503050406030204" pitchFamily="18" charset="0"/>
                      </a:rPr>
                      <m:t>𝑙</m:t>
                    </m:r>
                    <m:r>
                      <a:rPr lang="en-US" altLang="zh-CN" b="0" i="1" dirty="0" smtClean="0">
                        <a:latin typeface="Cambria Math" panose="02040503050406030204" pitchFamily="18" charset="0"/>
                      </a:rPr>
                      <m:t>&lt;</m:t>
                    </m:r>
                    <m:r>
                      <a:rPr lang="en-US" altLang="zh-CN" i="1" dirty="0">
                        <a:latin typeface="Cambria Math" panose="02040503050406030204" pitchFamily="18" charset="0"/>
                      </a:rPr>
                      <m:t> 0</m:t>
                    </m:r>
                  </m:oMath>
                </a14:m>
                <a:r>
                  <a:rPr lang="zh-CN" altLang="en-US" dirty="0"/>
                  <a:t>，同样可以用</a:t>
                </a:r>
                <a:r>
                  <a:rPr lang="en-US" altLang="zh-CN" dirty="0"/>
                  <a:t>t </a:t>
                </a:r>
                <a:r>
                  <a:rPr lang="zh-CN" altLang="en-US" dirty="0"/>
                  <a:t>或</a:t>
                </a:r>
                <a:r>
                  <a:rPr lang="en-US" altLang="zh-CN" dirty="0"/>
                  <a:t>F </a:t>
                </a:r>
                <a:r>
                  <a:rPr lang="zh-CN" altLang="en-US" dirty="0"/>
                  <a:t>检验。</a:t>
                </a:r>
                <a:endParaRPr lang="en-US" altLang="zh-CN" dirty="0"/>
              </a:p>
              <a:p>
                <a:pPr>
                  <a:lnSpc>
                    <a:spcPct val="120000"/>
                  </a:lnSpc>
                </a:pPr>
                <a:r>
                  <a:rPr lang="zh-CN" altLang="en-US" dirty="0"/>
                  <a:t>但平行趋势检验存在一些问题：</a:t>
                </a:r>
                <a:endParaRPr lang="en-US" altLang="zh-CN" dirty="0"/>
              </a:p>
              <a:p>
                <a:pPr lvl="1">
                  <a:lnSpc>
                    <a:spcPct val="120000"/>
                  </a:lnSpc>
                </a:pPr>
                <a:r>
                  <a:rPr lang="zh-CN" altLang="en-US" dirty="0"/>
                  <a:t>事前趋势平行并不能保证事后趋势平行。</a:t>
                </a:r>
                <a:endParaRPr lang="en-US" altLang="zh-CN" dirty="0"/>
              </a:p>
              <a:p>
                <a:pPr lvl="1">
                  <a:lnSpc>
                    <a:spcPct val="120000"/>
                  </a:lnSpc>
                </a:pPr>
                <a:r>
                  <a:rPr lang="zh-CN" altLang="en-US" dirty="0"/>
                  <a:t>利用事前系数进行平行趋势检验的检验方法统计功效低（</a:t>
                </a:r>
                <a:r>
                  <a:rPr lang="en-US" altLang="zh-CN" dirty="0"/>
                  <a:t>Bilinski &amp; Hatfield, 2018;Freyaldenhoven et al., 2019; Kahn-Lang &amp; Lang, 2020; Roth, 2022</a:t>
                </a:r>
                <a:r>
                  <a:rPr lang="zh-CN" altLang="en-US" dirty="0"/>
                  <a:t>）。即使事前不满足平行趋势假设，上述检验也很难拒绝原假设。</a:t>
                </a:r>
                <a:endParaRPr lang="en-US" altLang="zh-CN" dirty="0"/>
              </a:p>
              <a:p>
                <a:pPr lvl="1">
                  <a:lnSpc>
                    <a:spcPct val="120000"/>
                  </a:lnSpc>
                </a:pPr>
                <a:r>
                  <a:rPr lang="zh-CN" altLang="en-US" dirty="0"/>
                  <a:t>平行趋势检验会造成样本选择偏差。</a:t>
                </a:r>
                <a:endParaRPr lang="en-US" altLang="zh-CN" dirty="0"/>
              </a:p>
              <a:p>
                <a:pPr lvl="1">
                  <a:lnSpc>
                    <a:spcPct val="120000"/>
                  </a:lnSpc>
                </a:pPr>
                <a:r>
                  <a:rPr lang="zh-CN" altLang="en-US" dirty="0"/>
                  <a:t>如果平行趋势检验发现了显著的事前趋势，应该怎么办？传统方法在此方面未给出解决方案。</a:t>
                </a:r>
              </a:p>
            </p:txBody>
          </p:sp>
        </mc:Choice>
        <mc:Fallback xmlns="">
          <p:sp>
            <p:nvSpPr>
              <p:cNvPr id="3" name="内容占位符 2">
                <a:extLst>
                  <a:ext uri="{FF2B5EF4-FFF2-40B4-BE49-F238E27FC236}">
                    <a16:creationId xmlns:a16="http://schemas.microsoft.com/office/drawing/2014/main" id="{7C041592-7B58-7FAD-B54E-33244A1C4CFE}"/>
                  </a:ext>
                </a:extLst>
              </p:cNvPr>
              <p:cNvSpPr>
                <a:spLocks noGrp="1" noRot="1" noChangeAspect="1" noMove="1" noResize="1" noEditPoints="1" noAdjustHandles="1" noChangeArrowheads="1" noChangeShapeType="1" noTextEdit="1"/>
              </p:cNvSpPr>
              <p:nvPr>
                <p:ph idx="1"/>
              </p:nvPr>
            </p:nvSpPr>
            <p:spPr>
              <a:blipFill>
                <a:blip r:embed="rId2"/>
                <a:stretch>
                  <a:fillRect l="-850" t="-840" r="-1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E9CFBF9-C268-5CEE-4095-6353B179FDD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287DFB1-EC3F-CB2C-DF2F-7C4C92C0C3A6}"/>
              </a:ext>
            </a:extLst>
          </p:cNvPr>
          <p:cNvSpPr>
            <a:spLocks noGrp="1"/>
          </p:cNvSpPr>
          <p:nvPr>
            <p:ph type="sldNum" sz="quarter" idx="12"/>
          </p:nvPr>
        </p:nvSpPr>
        <p:spPr/>
        <p:txBody>
          <a:bodyPr/>
          <a:lstStyle/>
          <a:p>
            <a:fld id="{D41FC515-8169-4A29-AA56-DBE520D5741B}" type="slidenum">
              <a:rPr lang="zh-CN" altLang="en-US" smtClean="0"/>
              <a:t>98</a:t>
            </a:fld>
            <a:endParaRPr lang="zh-CN" altLang="en-US"/>
          </a:p>
        </p:txBody>
      </p:sp>
    </p:spTree>
    <p:extLst>
      <p:ext uri="{BB962C8B-B14F-4D97-AF65-F5344CB8AC3E}">
        <p14:creationId xmlns:p14="http://schemas.microsoft.com/office/powerpoint/2010/main" val="5541795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2CC730-7223-687A-F16A-74428C2B7689}"/>
              </a:ext>
            </a:extLst>
          </p:cNvPr>
          <p:cNvSpPr>
            <a:spLocks noGrp="1"/>
          </p:cNvSpPr>
          <p:nvPr>
            <p:ph type="title"/>
          </p:nvPr>
        </p:nvSpPr>
        <p:spPr/>
        <p:txBody>
          <a:bodyPr/>
          <a:lstStyle/>
          <a:p>
            <a:r>
              <a:rPr lang="zh-CN" altLang="en-US" dirty="0"/>
              <a:t>平行趋势检验</a:t>
            </a:r>
            <a:br>
              <a:rPr lang="zh-CN" altLang="en-US" dirty="0"/>
            </a:br>
            <a:r>
              <a:rPr lang="zh-CN" altLang="en-US" sz="2400" dirty="0"/>
              <a:t>诊断工具</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C3D3681-96B9-46A8-E527-E9639A08C02B}"/>
                  </a:ext>
                </a:extLst>
              </p:cNvPr>
              <p:cNvSpPr>
                <a:spLocks noGrp="1"/>
              </p:cNvSpPr>
              <p:nvPr>
                <p:ph idx="1"/>
              </p:nvPr>
            </p:nvSpPr>
            <p:spPr/>
            <p:txBody>
              <a:bodyPr>
                <a:normAutofit lnSpcReduction="10000"/>
              </a:bodyPr>
              <a:lstStyle/>
              <a:p>
                <a:r>
                  <a:rPr lang="en-US" altLang="zh-CN" dirty="0"/>
                  <a:t>Roth (2022) </a:t>
                </a:r>
                <a:r>
                  <a:rPr lang="zh-CN" altLang="en-US" dirty="0"/>
                  <a:t>发展出统计功效分析方法，计算假设的事前趋势存在时，原假设可以被拒绝掉的可能性。</a:t>
                </a:r>
                <a:r>
                  <a:rPr lang="en-US" altLang="zh-CN" dirty="0"/>
                  <a:t>Stata: </a:t>
                </a:r>
                <a:r>
                  <a:rPr lang="en-US" altLang="zh-CN" dirty="0" err="1"/>
                  <a:t>pretrends</a:t>
                </a:r>
                <a:endParaRPr lang="en-US" altLang="zh-CN" dirty="0"/>
              </a:p>
              <a:p>
                <a:r>
                  <a:rPr lang="en-US" altLang="zh-CN" dirty="0"/>
                  <a:t>Bilinski and Hatfield (2018) </a:t>
                </a:r>
                <a:r>
                  <a:rPr lang="zh-CN" altLang="en-US" dirty="0"/>
                  <a:t>提出“非劣于”</a:t>
                </a:r>
                <a:r>
                  <a:rPr lang="en-US" altLang="zh-CN" dirty="0"/>
                  <a:t>(non-inferiority) </a:t>
                </a:r>
                <a:r>
                  <a:rPr lang="zh-CN" altLang="en-US" dirty="0"/>
                  <a:t>的检验方法将原假设和备选假设替换了位置，将原假设定义为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𝐻</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𝑙</m:t>
                        </m:r>
                      </m:sub>
                    </m:sSub>
                    <m:r>
                      <a:rPr lang="en-US" altLang="zh-CN" i="1" dirty="0">
                        <a:latin typeface="Cambria Math" panose="02040503050406030204" pitchFamily="18" charset="0"/>
                      </a:rPr>
                      <m:t>| ≥ </m:t>
                    </m:r>
                    <m:r>
                      <a:rPr lang="zh-CN" altLang="en-US" i="1" dirty="0">
                        <a:latin typeface="Cambria Math" panose="02040503050406030204" pitchFamily="18" charset="0"/>
                      </a:rPr>
                      <m:t>𝑐</m:t>
                    </m:r>
                    <m:r>
                      <a:rPr lang="en-US" altLang="zh-CN" i="1" dirty="0">
                        <a:latin typeface="Cambria Math" panose="02040503050406030204" pitchFamily="18" charset="0"/>
                      </a:rPr>
                      <m:t>, </m:t>
                    </m:r>
                    <m:r>
                      <a:rPr lang="zh-CN" altLang="en-US" i="1" dirty="0">
                        <a:latin typeface="Cambria Math" panose="02040503050406030204" pitchFamily="18" charset="0"/>
                      </a:rPr>
                      <m:t>𝑙</m:t>
                    </m:r>
                    <m:r>
                      <a:rPr lang="zh-CN" altLang="en-US" i="1" dirty="0">
                        <a:latin typeface="Cambria Math" panose="02040503050406030204" pitchFamily="18" charset="0"/>
                      </a:rPr>
                      <m:t> &lt; 0</m:t>
                    </m:r>
                  </m:oMath>
                </a14:m>
                <a:r>
                  <a:rPr lang="zh-CN" altLang="en-US" dirty="0"/>
                  <a:t>，备选假设定义</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𝐻</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𝑙</m:t>
                        </m:r>
                      </m:sub>
                    </m:sSub>
                    <m:r>
                      <a:rPr lang="en-US" altLang="zh-CN" i="1" dirty="0">
                        <a:latin typeface="Cambria Math" panose="02040503050406030204" pitchFamily="18" charset="0"/>
                      </a:rPr>
                      <m:t>| &lt; </m:t>
                    </m:r>
                    <m:r>
                      <a:rPr lang="zh-CN" altLang="en-US" i="1" dirty="0">
                        <a:latin typeface="Cambria Math" panose="02040503050406030204" pitchFamily="18" charset="0"/>
                      </a:rPr>
                      <m:t>𝑐</m:t>
                    </m:r>
                    <m:r>
                      <a:rPr lang="en-US" altLang="zh-CN" i="1" dirty="0">
                        <a:latin typeface="Cambria Math" panose="02040503050406030204" pitchFamily="18" charset="0"/>
                      </a:rPr>
                      <m:t>, </m:t>
                    </m:r>
                    <m:r>
                      <a:rPr lang="zh-CN" altLang="en-US" i="1" dirty="0">
                        <a:latin typeface="Cambria Math" panose="02040503050406030204" pitchFamily="18" charset="0"/>
                      </a:rPr>
                      <m:t>𝑙</m:t>
                    </m:r>
                    <m:r>
                      <a:rPr lang="zh-CN" altLang="en-US" i="1" dirty="0">
                        <a:latin typeface="Cambria Math" panose="02040503050406030204" pitchFamily="18" charset="0"/>
                      </a:rPr>
                      <m:t> &lt; 0</m:t>
                    </m:r>
                  </m:oMath>
                </a14:m>
                <a:r>
                  <a:rPr lang="zh-CN" altLang="en-US" dirty="0"/>
                  <a:t>，以避免平行趋势检验的低功效问题，即将原假设修改为事前趋势大于等于某一门槛值而备选假设为小于该门槛值。</a:t>
                </a:r>
              </a:p>
            </p:txBody>
          </p:sp>
        </mc:Choice>
        <mc:Fallback xmlns="">
          <p:sp>
            <p:nvSpPr>
              <p:cNvPr id="3" name="内容占位符 2">
                <a:extLst>
                  <a:ext uri="{FF2B5EF4-FFF2-40B4-BE49-F238E27FC236}">
                    <a16:creationId xmlns:a16="http://schemas.microsoft.com/office/drawing/2014/main" id="{CC3D3681-96B9-46A8-E527-E9639A08C02B}"/>
                  </a:ext>
                </a:extLst>
              </p:cNvPr>
              <p:cNvSpPr>
                <a:spLocks noGrp="1" noRot="1" noChangeAspect="1" noMove="1" noResize="1" noEditPoints="1" noAdjustHandles="1" noChangeArrowheads="1" noChangeShapeType="1" noTextEdit="1"/>
              </p:cNvSpPr>
              <p:nvPr>
                <p:ph idx="1"/>
              </p:nvPr>
            </p:nvSpPr>
            <p:spPr>
              <a:blipFill>
                <a:blip r:embed="rId2"/>
                <a:stretch>
                  <a:fillRect l="-1391" t="-2381"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F699D21-C545-ED0C-218D-763C600A198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64D2984-0962-9BE1-6B88-EF4311B65176}"/>
              </a:ext>
            </a:extLst>
          </p:cNvPr>
          <p:cNvSpPr>
            <a:spLocks noGrp="1"/>
          </p:cNvSpPr>
          <p:nvPr>
            <p:ph type="sldNum" sz="quarter" idx="12"/>
          </p:nvPr>
        </p:nvSpPr>
        <p:spPr/>
        <p:txBody>
          <a:bodyPr/>
          <a:lstStyle/>
          <a:p>
            <a:fld id="{D41FC515-8169-4A29-AA56-DBE520D5741B}" type="slidenum">
              <a:rPr lang="zh-CN" altLang="en-US" smtClean="0"/>
              <a:t>99</a:t>
            </a:fld>
            <a:endParaRPr lang="zh-CN" altLang="en-US"/>
          </a:p>
        </p:txBody>
      </p:sp>
    </p:spTree>
    <p:extLst>
      <p:ext uri="{BB962C8B-B14F-4D97-AF65-F5344CB8AC3E}">
        <p14:creationId xmlns:p14="http://schemas.microsoft.com/office/powerpoint/2010/main" val="34682116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F64976-6C22-055C-3CED-5CEE2842C578}"/>
              </a:ext>
            </a:extLst>
          </p:cNvPr>
          <p:cNvSpPr>
            <a:spLocks noGrp="1"/>
          </p:cNvSpPr>
          <p:nvPr>
            <p:ph type="title"/>
          </p:nvPr>
        </p:nvSpPr>
        <p:spPr/>
        <p:txBody>
          <a:bodyPr/>
          <a:lstStyle/>
          <a:p>
            <a:r>
              <a:rPr lang="zh-CN" altLang="en-US" dirty="0"/>
              <a:t>平行趋势检验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B0F3339-B527-A2C3-5D52-0757D4B639D5}"/>
                  </a:ext>
                </a:extLst>
              </p:cNvPr>
              <p:cNvSpPr>
                <a:spLocks noGrp="1"/>
              </p:cNvSpPr>
              <p:nvPr>
                <p:ph idx="1"/>
              </p:nvPr>
            </p:nvSpPr>
            <p:spPr/>
            <p:txBody>
              <a:bodyPr>
                <a:normAutofit fontScale="70000" lnSpcReduction="20000"/>
              </a:bodyPr>
              <a:lstStyle/>
              <a:p>
                <a:pPr>
                  <a:lnSpc>
                    <a:spcPct val="120000"/>
                  </a:lnSpc>
                </a:pPr>
                <a:r>
                  <a:rPr lang="zh-CN" altLang="en-US" dirty="0"/>
                  <a:t>如果发现有事前趋势，怎么办？考虑三重差分。</a:t>
                </a:r>
                <a:endParaRPr lang="en-US" altLang="zh-CN" dirty="0"/>
              </a:p>
              <a:p>
                <a:pPr>
                  <a:lnSpc>
                    <a:spcPct val="120000"/>
                  </a:lnSpc>
                </a:pPr>
                <a:r>
                  <a:rPr lang="en-US" altLang="zh-CN" dirty="0"/>
                  <a:t>Rambachan and Roth (2023) </a:t>
                </a:r>
                <a:r>
                  <a:rPr lang="zh-CN" altLang="en-US" dirty="0"/>
                  <a:t>提出敏感性分析</a:t>
                </a:r>
                <a:r>
                  <a:rPr lang="en-US" altLang="zh-CN" dirty="0"/>
                  <a:t>(sensitivity analysis)</a:t>
                </a:r>
                <a:r>
                  <a:rPr lang="zh-CN" altLang="en-US" dirty="0"/>
                  <a:t>。假设事后趋势是事前趋势的若干倍（根据先验知识），检验因果效应是否仍然存在。假设有三期，事前趋势为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事后趋势为</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pPr>
                  <a:lnSpc>
                    <a:spcPct val="120000"/>
                  </a:lnSpc>
                </a:pPr>
                <a:r>
                  <a:rPr lang="zh-CN" altLang="en-US" dirty="0"/>
                  <a:t>考察</a:t>
                </a:r>
                <a:r>
                  <a:rPr lang="en-US" altLang="zh-CN" dirty="0"/>
                  <a:t>|</a:t>
                </a:r>
                <a:r>
                  <a:rPr lang="zh-CN" altLang="en-US" dirty="0"/>
                  <a:t>𝛿</a:t>
                </a:r>
                <a:r>
                  <a:rPr lang="en-US" altLang="zh-CN" dirty="0"/>
                  <a:t>1| ≤ </a:t>
                </a:r>
                <a:r>
                  <a:rPr lang="zh-CN" altLang="en-US" dirty="0"/>
                  <a:t>𝑀</a:t>
                </a:r>
                <a:r>
                  <a:rPr lang="en-US" altLang="zh-CN" dirty="0"/>
                  <a:t>|</a:t>
                </a:r>
                <a:r>
                  <a:rPr lang="zh-CN" altLang="en-US" dirty="0"/>
                  <a:t>𝛿−</a:t>
                </a:r>
                <a:r>
                  <a:rPr lang="en-US" altLang="zh-CN" dirty="0"/>
                  <a:t>1| </a:t>
                </a:r>
                <a:r>
                  <a:rPr lang="zh-CN" altLang="en-US" dirty="0"/>
                  <a:t>时，因果效应区间：</a:t>
                </a:r>
                <a:endParaRPr lang="zh-CN" altLang="en-US" i="1" dirty="0">
                  <a:latin typeface="Cambria Math" panose="02040503050406030204" pitchFamily="18" charset="0"/>
                </a:endParaRPr>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𝑑𝑖𝑑</m:t>
                          </m:r>
                        </m:sub>
                      </m:sSub>
                      <m:r>
                        <a:rPr lang="zh-CN" altLang="en-US" i="1" smtClean="0">
                          <a:latin typeface="Cambria Math" panose="02040503050406030204" pitchFamily="18" charset="0"/>
                        </a:rPr>
                        <m:t>±</m:t>
                      </m:r>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𝑀</m:t>
                          </m:r>
                        </m:e>
                      </m:ba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oMath>
                  </m:oMathPara>
                </a14:m>
                <a:endParaRPr lang="en-US" altLang="zh-CN" dirty="0"/>
              </a:p>
              <a:p>
                <a:pPr>
                  <a:lnSpc>
                    <a:spcPct val="120000"/>
                  </a:lnSpc>
                </a:pPr>
                <a:r>
                  <a:rPr lang="en-US" altLang="zh-CN" dirty="0"/>
                  <a:t>Stata: </a:t>
                </a:r>
                <a:r>
                  <a:rPr lang="en-US" altLang="zh-CN" dirty="0" err="1"/>
                  <a:t>honestdid</a:t>
                </a:r>
                <a:endParaRPr lang="zh-CN" altLang="en-US" dirty="0"/>
              </a:p>
            </p:txBody>
          </p:sp>
        </mc:Choice>
        <mc:Fallback xmlns="">
          <p:sp>
            <p:nvSpPr>
              <p:cNvPr id="3" name="内容占位符 2">
                <a:extLst>
                  <a:ext uri="{FF2B5EF4-FFF2-40B4-BE49-F238E27FC236}">
                    <a16:creationId xmlns:a16="http://schemas.microsoft.com/office/drawing/2014/main" id="{4B0F3339-B527-A2C3-5D52-0757D4B639D5}"/>
                  </a:ext>
                </a:extLst>
              </p:cNvPr>
              <p:cNvSpPr>
                <a:spLocks noGrp="1" noRot="1" noChangeAspect="1" noMove="1" noResize="1" noEditPoints="1" noAdjustHandles="1" noChangeArrowheads="1" noChangeShapeType="1" noTextEdit="1"/>
              </p:cNvSpPr>
              <p:nvPr>
                <p:ph idx="1"/>
              </p:nvPr>
            </p:nvSpPr>
            <p:spPr>
              <a:blipFill>
                <a:blip r:embed="rId2"/>
                <a:stretch>
                  <a:fillRect l="-696"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DE4FA55-2078-CB30-68C2-E30180B2D27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7AE43F7-4A20-3EC8-5660-561AACD4758A}"/>
              </a:ext>
            </a:extLst>
          </p:cNvPr>
          <p:cNvSpPr>
            <a:spLocks noGrp="1"/>
          </p:cNvSpPr>
          <p:nvPr>
            <p:ph type="sldNum" sz="quarter" idx="12"/>
          </p:nvPr>
        </p:nvSpPr>
        <p:spPr/>
        <p:txBody>
          <a:bodyPr/>
          <a:lstStyle/>
          <a:p>
            <a:fld id="{D41FC515-8169-4A29-AA56-DBE520D5741B}" type="slidenum">
              <a:rPr lang="zh-CN" altLang="en-US" smtClean="0"/>
              <a:t>100</a:t>
            </a:fld>
            <a:endParaRPr lang="zh-CN" altLang="en-US"/>
          </a:p>
        </p:txBody>
      </p:sp>
    </p:spTree>
    <p:extLst>
      <p:ext uri="{BB962C8B-B14F-4D97-AF65-F5344CB8AC3E}">
        <p14:creationId xmlns:p14="http://schemas.microsoft.com/office/powerpoint/2010/main" val="32232682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2DE7F-D358-6487-3940-3008490F3392}"/>
              </a:ext>
            </a:extLst>
          </p:cNvPr>
          <p:cNvSpPr>
            <a:spLocks noGrp="1"/>
          </p:cNvSpPr>
          <p:nvPr>
            <p:ph type="title"/>
          </p:nvPr>
        </p:nvSpPr>
        <p:spPr/>
        <p:txBody>
          <a:bodyPr/>
          <a:lstStyle/>
          <a:p>
            <a:r>
              <a:rPr lang="zh-CN" altLang="en-US" dirty="0"/>
              <a:t>平行趋势检验</a:t>
            </a:r>
          </a:p>
        </p:txBody>
      </p:sp>
      <p:sp>
        <p:nvSpPr>
          <p:cNvPr id="3" name="内容占位符 2">
            <a:extLst>
              <a:ext uri="{FF2B5EF4-FFF2-40B4-BE49-F238E27FC236}">
                <a16:creationId xmlns:a16="http://schemas.microsoft.com/office/drawing/2014/main" id="{B595A19C-4592-9DAF-E207-A08349E8533A}"/>
              </a:ext>
            </a:extLst>
          </p:cNvPr>
          <p:cNvSpPr>
            <a:spLocks noGrp="1"/>
          </p:cNvSpPr>
          <p:nvPr>
            <p:ph idx="1"/>
          </p:nvPr>
        </p:nvSpPr>
        <p:spPr/>
        <p:txBody>
          <a:bodyPr>
            <a:normAutofit/>
          </a:bodyPr>
          <a:lstStyle/>
          <a:p>
            <a:r>
              <a:rPr lang="en-US" altLang="zh-CN" sz="1600" dirty="0"/>
              <a:t>He and Wang (2017) </a:t>
            </a:r>
            <a:r>
              <a:rPr lang="zh-CN" altLang="en-US" sz="1600" dirty="0"/>
              <a:t>考察了大学生村官（</a:t>
            </a:r>
            <a:r>
              <a:rPr lang="en-US" altLang="zh-CN" sz="1600" dirty="0"/>
              <a:t>CGVO</a:t>
            </a:r>
            <a:r>
              <a:rPr lang="zh-CN" altLang="en-US" sz="1600" dirty="0"/>
              <a:t>）对农村发展的作用，他们利用山西运城市大学生村官的调查数据，评估了村官对村贫困人口注册率、危房注册率等指标的影响，发现有村官的村，上述注册率都有显著上升，说明大学生村官在政策的执行和信息传递方面起到了很大作用。</a:t>
            </a:r>
          </a:p>
        </p:txBody>
      </p:sp>
      <p:sp>
        <p:nvSpPr>
          <p:cNvPr id="4" name="页脚占位符 3">
            <a:extLst>
              <a:ext uri="{FF2B5EF4-FFF2-40B4-BE49-F238E27FC236}">
                <a16:creationId xmlns:a16="http://schemas.microsoft.com/office/drawing/2014/main" id="{D4E0C97C-FA39-5F8A-EA94-E400310F252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4E4FCFB-FA51-F38F-C2DC-81878B7D39B6}"/>
              </a:ext>
            </a:extLst>
          </p:cNvPr>
          <p:cNvSpPr>
            <a:spLocks noGrp="1"/>
          </p:cNvSpPr>
          <p:nvPr>
            <p:ph type="sldNum" sz="quarter" idx="12"/>
          </p:nvPr>
        </p:nvSpPr>
        <p:spPr/>
        <p:txBody>
          <a:bodyPr/>
          <a:lstStyle/>
          <a:p>
            <a:fld id="{D41FC515-8169-4A29-AA56-DBE520D5741B}" type="slidenum">
              <a:rPr lang="zh-CN" altLang="en-US" smtClean="0"/>
              <a:t>101</a:t>
            </a:fld>
            <a:endParaRPr lang="zh-CN" altLang="en-US"/>
          </a:p>
        </p:txBody>
      </p:sp>
      <p:pic>
        <p:nvPicPr>
          <p:cNvPr id="7" name="图片 6">
            <a:extLst>
              <a:ext uri="{FF2B5EF4-FFF2-40B4-BE49-F238E27FC236}">
                <a16:creationId xmlns:a16="http://schemas.microsoft.com/office/drawing/2014/main" id="{6DB63F50-2C81-FBA0-D170-7B3CFBA28747}"/>
              </a:ext>
            </a:extLst>
          </p:cNvPr>
          <p:cNvPicPr>
            <a:picLocks noChangeAspect="1"/>
          </p:cNvPicPr>
          <p:nvPr/>
        </p:nvPicPr>
        <p:blipFill>
          <a:blip r:embed="rId2"/>
          <a:stretch>
            <a:fillRect/>
          </a:stretch>
        </p:blipFill>
        <p:spPr>
          <a:xfrm>
            <a:off x="2251684" y="2997999"/>
            <a:ext cx="4640631" cy="3358352"/>
          </a:xfrm>
          <a:prstGeom prst="rect">
            <a:avLst/>
          </a:prstGeom>
        </p:spPr>
      </p:pic>
    </p:spTree>
    <p:extLst>
      <p:ext uri="{BB962C8B-B14F-4D97-AF65-F5344CB8AC3E}">
        <p14:creationId xmlns:p14="http://schemas.microsoft.com/office/powerpoint/2010/main" val="23981135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0B5AB-CF1A-EE93-E286-295CC130ADB6}"/>
              </a:ext>
            </a:extLst>
          </p:cNvPr>
          <p:cNvSpPr>
            <a:spLocks noGrp="1"/>
          </p:cNvSpPr>
          <p:nvPr>
            <p:ph type="title"/>
          </p:nvPr>
        </p:nvSpPr>
        <p:spPr/>
        <p:txBody>
          <a:bodyPr/>
          <a:lstStyle/>
          <a:p>
            <a:r>
              <a:rPr lang="zh-CN" altLang="en-US" dirty="0"/>
              <a:t>平行趋势检验</a:t>
            </a:r>
          </a:p>
        </p:txBody>
      </p:sp>
      <p:sp>
        <p:nvSpPr>
          <p:cNvPr id="3" name="内容占位符 2">
            <a:extLst>
              <a:ext uri="{FF2B5EF4-FFF2-40B4-BE49-F238E27FC236}">
                <a16:creationId xmlns:a16="http://schemas.microsoft.com/office/drawing/2014/main" id="{79139F84-C323-91DC-EB0B-E4182CDF3422}"/>
              </a:ext>
            </a:extLst>
          </p:cNvPr>
          <p:cNvSpPr>
            <a:spLocks noGrp="1"/>
          </p:cNvSpPr>
          <p:nvPr>
            <p:ph idx="1"/>
          </p:nvPr>
        </p:nvSpPr>
        <p:spPr/>
        <p:txBody>
          <a:bodyPr>
            <a:normAutofit/>
          </a:bodyPr>
          <a:lstStyle/>
          <a:p>
            <a:r>
              <a:rPr lang="en-US" altLang="zh-CN" sz="1200" dirty="0"/>
              <a:t>He and Wang (2017) </a:t>
            </a:r>
            <a:r>
              <a:rPr lang="zh-CN" altLang="en-US" sz="1200" dirty="0"/>
              <a:t>考察了大学生村官（</a:t>
            </a:r>
            <a:r>
              <a:rPr lang="en-US" altLang="zh-CN" sz="1200" dirty="0"/>
              <a:t>CGVO</a:t>
            </a:r>
            <a:r>
              <a:rPr lang="zh-CN" altLang="en-US" sz="1200" dirty="0"/>
              <a:t>）对农村发展的作用，他们利用山西运城市大学生村官的调查数据，评估了村官对村贫困人口注册率、危房注册率等指标的影响，发现有村官的村，上述注册率都有显著上升，说明大学生村官在政策的执行和信息传递方面起到了很大作用。</a:t>
            </a:r>
            <a:endParaRPr lang="en-US" altLang="zh-CN" sz="1200" dirty="0"/>
          </a:p>
          <a:p>
            <a:r>
              <a:rPr lang="zh-CN" altLang="en-US" sz="1200" dirty="0"/>
              <a:t>图中为斜率为</a:t>
            </a:r>
            <a:r>
              <a:rPr lang="en-US" altLang="zh-CN" sz="1200" dirty="0"/>
              <a:t>0.03 </a:t>
            </a:r>
            <a:r>
              <a:rPr lang="zh-CN" altLang="en-US" sz="1200" dirty="0"/>
              <a:t>的实线，计算得到的统计功效为</a:t>
            </a:r>
            <a:r>
              <a:rPr lang="en-US" altLang="zh-CN" sz="1200" dirty="0"/>
              <a:t>0.31</a:t>
            </a:r>
            <a:r>
              <a:rPr lang="zh-CN" altLang="en-US" sz="1200" dirty="0"/>
              <a:t>，即如果真实趋势为</a:t>
            </a:r>
            <a:r>
              <a:rPr lang="en-US" altLang="zh-CN" sz="1200" dirty="0"/>
              <a:t>0.03 </a:t>
            </a:r>
            <a:r>
              <a:rPr lang="zh-CN" altLang="en-US" sz="1200" dirty="0"/>
              <a:t>时，平行趋势检验能够拒绝掉的可能性只有</a:t>
            </a:r>
            <a:r>
              <a:rPr lang="en-US" altLang="zh-CN" sz="1200" dirty="0"/>
              <a:t>31%</a:t>
            </a:r>
            <a:r>
              <a:rPr lang="zh-CN" altLang="en-US" sz="1200" dirty="0"/>
              <a:t>，功效很低，我们可能会担心通过平行趋势检验并不能保证事前趋势平行。</a:t>
            </a:r>
          </a:p>
        </p:txBody>
      </p:sp>
      <p:sp>
        <p:nvSpPr>
          <p:cNvPr id="4" name="页脚占位符 3">
            <a:extLst>
              <a:ext uri="{FF2B5EF4-FFF2-40B4-BE49-F238E27FC236}">
                <a16:creationId xmlns:a16="http://schemas.microsoft.com/office/drawing/2014/main" id="{1EAE521E-4575-D37C-C176-E9BC285E8FC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BA5D0BC9-E626-AE40-7E01-4C467FE4E509}"/>
              </a:ext>
            </a:extLst>
          </p:cNvPr>
          <p:cNvSpPr>
            <a:spLocks noGrp="1"/>
          </p:cNvSpPr>
          <p:nvPr>
            <p:ph type="sldNum" sz="quarter" idx="12"/>
          </p:nvPr>
        </p:nvSpPr>
        <p:spPr/>
        <p:txBody>
          <a:bodyPr/>
          <a:lstStyle/>
          <a:p>
            <a:fld id="{D41FC515-8169-4A29-AA56-DBE520D5741B}" type="slidenum">
              <a:rPr lang="zh-CN" altLang="en-US" smtClean="0"/>
              <a:t>102</a:t>
            </a:fld>
            <a:endParaRPr lang="zh-CN" altLang="en-US"/>
          </a:p>
        </p:txBody>
      </p:sp>
      <p:pic>
        <p:nvPicPr>
          <p:cNvPr id="7" name="图片 6">
            <a:extLst>
              <a:ext uri="{FF2B5EF4-FFF2-40B4-BE49-F238E27FC236}">
                <a16:creationId xmlns:a16="http://schemas.microsoft.com/office/drawing/2014/main" id="{B410866E-B765-75F3-AE80-5AE290C733DF}"/>
              </a:ext>
            </a:extLst>
          </p:cNvPr>
          <p:cNvPicPr>
            <a:picLocks noChangeAspect="1"/>
          </p:cNvPicPr>
          <p:nvPr/>
        </p:nvPicPr>
        <p:blipFill>
          <a:blip r:embed="rId2"/>
          <a:stretch>
            <a:fillRect/>
          </a:stretch>
        </p:blipFill>
        <p:spPr>
          <a:xfrm>
            <a:off x="1840832" y="2967317"/>
            <a:ext cx="4920056" cy="3571596"/>
          </a:xfrm>
          <a:prstGeom prst="rect">
            <a:avLst/>
          </a:prstGeom>
        </p:spPr>
      </p:pic>
    </p:spTree>
    <p:extLst>
      <p:ext uri="{BB962C8B-B14F-4D97-AF65-F5344CB8AC3E}">
        <p14:creationId xmlns:p14="http://schemas.microsoft.com/office/powerpoint/2010/main" val="17929698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9A5980-0E36-E9E6-89E3-FDC89000D29A}"/>
              </a:ext>
            </a:extLst>
          </p:cNvPr>
          <p:cNvSpPr>
            <a:spLocks noGrp="1"/>
          </p:cNvSpPr>
          <p:nvPr>
            <p:ph type="title"/>
          </p:nvPr>
        </p:nvSpPr>
        <p:spPr/>
        <p:txBody>
          <a:bodyPr/>
          <a:lstStyle/>
          <a:p>
            <a:r>
              <a:rPr lang="zh-CN" altLang="en-US" dirty="0"/>
              <a:t>平行趋势检验</a:t>
            </a:r>
          </a:p>
        </p:txBody>
      </p:sp>
      <p:sp>
        <p:nvSpPr>
          <p:cNvPr id="3" name="内容占位符 2">
            <a:extLst>
              <a:ext uri="{FF2B5EF4-FFF2-40B4-BE49-F238E27FC236}">
                <a16:creationId xmlns:a16="http://schemas.microsoft.com/office/drawing/2014/main" id="{72081F51-9008-D11D-0CD8-05C65133EA98}"/>
              </a:ext>
            </a:extLst>
          </p:cNvPr>
          <p:cNvSpPr>
            <a:spLocks noGrp="1"/>
          </p:cNvSpPr>
          <p:nvPr>
            <p:ph idx="1"/>
          </p:nvPr>
        </p:nvSpPr>
        <p:spPr/>
        <p:txBody>
          <a:bodyPr>
            <a:normAutofit/>
          </a:bodyPr>
          <a:lstStyle/>
          <a:p>
            <a:r>
              <a:rPr lang="zh-CN" altLang="en-US" sz="1600" dirty="0"/>
              <a:t>这里主要估计滞后一期的效应（评估其他期估计量可以类似处理），可以看到，如果假设事后趋势是事前趋势偏差的</a:t>
            </a:r>
            <a:r>
              <a:rPr lang="en-US" altLang="zh-CN" sz="1600" dirty="0"/>
              <a:t>0.5 </a:t>
            </a:r>
            <a:r>
              <a:rPr lang="zh-CN" altLang="en-US" sz="1600" dirty="0"/>
              <a:t>倍时，估计结果已经不再显著，如果事后趋势与事前趋势相当或更大时，滞后一期的因果效应将在统计上不显著。</a:t>
            </a:r>
          </a:p>
        </p:txBody>
      </p:sp>
      <p:sp>
        <p:nvSpPr>
          <p:cNvPr id="4" name="页脚占位符 3">
            <a:extLst>
              <a:ext uri="{FF2B5EF4-FFF2-40B4-BE49-F238E27FC236}">
                <a16:creationId xmlns:a16="http://schemas.microsoft.com/office/drawing/2014/main" id="{32F20CCC-E90B-F972-20B4-63CC7A744B0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B0EC59-5F28-5596-5113-ECF34E70894B}"/>
              </a:ext>
            </a:extLst>
          </p:cNvPr>
          <p:cNvSpPr>
            <a:spLocks noGrp="1"/>
          </p:cNvSpPr>
          <p:nvPr>
            <p:ph type="sldNum" sz="quarter" idx="12"/>
          </p:nvPr>
        </p:nvSpPr>
        <p:spPr/>
        <p:txBody>
          <a:bodyPr/>
          <a:lstStyle/>
          <a:p>
            <a:fld id="{D41FC515-8169-4A29-AA56-DBE520D5741B}" type="slidenum">
              <a:rPr lang="zh-CN" altLang="en-US" smtClean="0"/>
              <a:t>103</a:t>
            </a:fld>
            <a:endParaRPr lang="zh-CN" altLang="en-US"/>
          </a:p>
        </p:txBody>
      </p:sp>
      <p:pic>
        <p:nvPicPr>
          <p:cNvPr id="7" name="图片 6">
            <a:extLst>
              <a:ext uri="{FF2B5EF4-FFF2-40B4-BE49-F238E27FC236}">
                <a16:creationId xmlns:a16="http://schemas.microsoft.com/office/drawing/2014/main" id="{E5C0126F-D8ED-5031-2765-1EB1EB4EF87D}"/>
              </a:ext>
            </a:extLst>
          </p:cNvPr>
          <p:cNvPicPr>
            <a:picLocks noChangeAspect="1"/>
          </p:cNvPicPr>
          <p:nvPr/>
        </p:nvPicPr>
        <p:blipFill>
          <a:blip r:embed="rId2"/>
          <a:srcRect t="4370"/>
          <a:stretch>
            <a:fillRect/>
          </a:stretch>
        </p:blipFill>
        <p:spPr>
          <a:xfrm>
            <a:off x="1455821" y="2775118"/>
            <a:ext cx="5751095" cy="3946358"/>
          </a:xfrm>
          <a:prstGeom prst="rect">
            <a:avLst/>
          </a:prstGeom>
        </p:spPr>
      </p:pic>
    </p:spTree>
    <p:extLst>
      <p:ext uri="{BB962C8B-B14F-4D97-AF65-F5344CB8AC3E}">
        <p14:creationId xmlns:p14="http://schemas.microsoft.com/office/powerpoint/2010/main" val="34940894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AC9616-07E3-DA13-273E-81C2C76891DD}"/>
              </a:ext>
            </a:extLst>
          </p:cNvPr>
          <p:cNvSpPr>
            <a:spLocks noGrp="1"/>
          </p:cNvSpPr>
          <p:nvPr>
            <p:ph type="title"/>
          </p:nvPr>
        </p:nvSpPr>
        <p:spPr/>
        <p:txBody>
          <a:bodyPr/>
          <a:lstStyle/>
          <a:p>
            <a:r>
              <a:rPr lang="zh-CN" altLang="en-US" dirty="0"/>
              <a:t>平行趋势检验</a:t>
            </a:r>
          </a:p>
        </p:txBody>
      </p:sp>
      <p:sp>
        <p:nvSpPr>
          <p:cNvPr id="3" name="内容占位符 2">
            <a:extLst>
              <a:ext uri="{FF2B5EF4-FFF2-40B4-BE49-F238E27FC236}">
                <a16:creationId xmlns:a16="http://schemas.microsoft.com/office/drawing/2014/main" id="{4AEF9323-CB35-F08C-52D7-CA3C654E99CC}"/>
              </a:ext>
            </a:extLst>
          </p:cNvPr>
          <p:cNvSpPr>
            <a:spLocks noGrp="1"/>
          </p:cNvSpPr>
          <p:nvPr>
            <p:ph idx="1"/>
          </p:nvPr>
        </p:nvSpPr>
        <p:spPr/>
        <p:txBody>
          <a:bodyPr>
            <a:normAutofit/>
          </a:bodyPr>
          <a:lstStyle/>
          <a:p>
            <a:r>
              <a:rPr lang="en-US" altLang="zh-CN" sz="1400" dirty="0"/>
              <a:t>He and Wang (2017) </a:t>
            </a:r>
            <a:r>
              <a:rPr lang="zh-CN" altLang="en-US" sz="1400" dirty="0"/>
              <a:t>考察了大学生村官（</a:t>
            </a:r>
            <a:r>
              <a:rPr lang="en-US" altLang="zh-CN" sz="1400" dirty="0"/>
              <a:t>CGVO</a:t>
            </a:r>
            <a:r>
              <a:rPr lang="zh-CN" altLang="en-US" sz="1400" dirty="0"/>
              <a:t>）对农村发展的作用，他们利用山西运城市大学生村官的调查数据，评估了村官对村贫困人口注册率、危房注册率等指标的影响，发现有村官的村，上述注册率都有显著上升，说明大学生村官在政策的执行和信息传递方面起到了很大作用。</a:t>
            </a:r>
            <a:endParaRPr lang="en-US" altLang="zh-CN" sz="1400" dirty="0"/>
          </a:p>
          <a:p>
            <a:r>
              <a:rPr lang="zh-CN" altLang="en-US" sz="1400" dirty="0"/>
              <a:t>利用</a:t>
            </a:r>
            <a:r>
              <a:rPr lang="en-US" altLang="zh-CN" sz="1400" dirty="0"/>
              <a:t>CS </a:t>
            </a:r>
            <a:r>
              <a:rPr lang="zh-CN" altLang="en-US" sz="1400" dirty="0"/>
              <a:t>估计量得到的加总平均因果效应为</a:t>
            </a:r>
            <a:r>
              <a:rPr lang="en-US" altLang="zh-CN" sz="1400" dirty="0"/>
              <a:t>0.12</a:t>
            </a:r>
            <a:r>
              <a:rPr lang="zh-CN" altLang="en-US" sz="1400" dirty="0"/>
              <a:t>，和</a:t>
            </a:r>
            <a:r>
              <a:rPr lang="en-US" altLang="zh-CN" sz="1400" dirty="0"/>
              <a:t>TWFE </a:t>
            </a:r>
            <a:r>
              <a:rPr lang="zh-CN" altLang="en-US" sz="1400" dirty="0"/>
              <a:t>估计值相似，标准误差为</a:t>
            </a:r>
            <a:r>
              <a:rPr lang="en-US" altLang="zh-CN" sz="1400" dirty="0"/>
              <a:t>0.10</a:t>
            </a:r>
            <a:r>
              <a:rPr lang="zh-CN" altLang="en-US" sz="1400" dirty="0"/>
              <a:t>，统计上不显著。上图是加总的动态效应，类似于事件研究法系数。事前效应均在统计上不显著，但无法通过平行趋势的联合检验，因而，事前可能不满足平行趋势假设。</a:t>
            </a:r>
          </a:p>
        </p:txBody>
      </p:sp>
      <p:sp>
        <p:nvSpPr>
          <p:cNvPr id="4" name="页脚占位符 3">
            <a:extLst>
              <a:ext uri="{FF2B5EF4-FFF2-40B4-BE49-F238E27FC236}">
                <a16:creationId xmlns:a16="http://schemas.microsoft.com/office/drawing/2014/main" id="{6B4AB48F-2EBE-40D3-D189-F9B5FA066F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EAA1A1F-1453-7CAC-F780-42492E55165C}"/>
              </a:ext>
            </a:extLst>
          </p:cNvPr>
          <p:cNvSpPr>
            <a:spLocks noGrp="1"/>
          </p:cNvSpPr>
          <p:nvPr>
            <p:ph type="sldNum" sz="quarter" idx="12"/>
          </p:nvPr>
        </p:nvSpPr>
        <p:spPr/>
        <p:txBody>
          <a:bodyPr/>
          <a:lstStyle/>
          <a:p>
            <a:fld id="{D41FC515-8169-4A29-AA56-DBE520D5741B}" type="slidenum">
              <a:rPr lang="zh-CN" altLang="en-US" smtClean="0"/>
              <a:t>104</a:t>
            </a:fld>
            <a:endParaRPr lang="zh-CN" altLang="en-US"/>
          </a:p>
        </p:txBody>
      </p:sp>
      <p:pic>
        <p:nvPicPr>
          <p:cNvPr id="7" name="图片 6">
            <a:extLst>
              <a:ext uri="{FF2B5EF4-FFF2-40B4-BE49-F238E27FC236}">
                <a16:creationId xmlns:a16="http://schemas.microsoft.com/office/drawing/2014/main" id="{1F70D32E-A4D6-2CC4-1690-FDEEF690EFB0}"/>
              </a:ext>
            </a:extLst>
          </p:cNvPr>
          <p:cNvPicPr>
            <a:picLocks noChangeAspect="1"/>
          </p:cNvPicPr>
          <p:nvPr/>
        </p:nvPicPr>
        <p:blipFill>
          <a:blip r:embed="rId2"/>
          <a:stretch>
            <a:fillRect/>
          </a:stretch>
        </p:blipFill>
        <p:spPr>
          <a:xfrm>
            <a:off x="1564104" y="3429000"/>
            <a:ext cx="5414211" cy="3241759"/>
          </a:xfrm>
          <a:prstGeom prst="rect">
            <a:avLst/>
          </a:prstGeom>
        </p:spPr>
      </p:pic>
    </p:spTree>
    <p:extLst>
      <p:ext uri="{BB962C8B-B14F-4D97-AF65-F5344CB8AC3E}">
        <p14:creationId xmlns:p14="http://schemas.microsoft.com/office/powerpoint/2010/main" val="9683289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AA2D2-2813-6FBA-5B40-A4A88C72FE4E}"/>
              </a:ext>
            </a:extLst>
          </p:cNvPr>
          <p:cNvSpPr>
            <a:spLocks noGrp="1"/>
          </p:cNvSpPr>
          <p:nvPr>
            <p:ph type="title"/>
          </p:nvPr>
        </p:nvSpPr>
        <p:spPr/>
        <p:txBody>
          <a:bodyPr/>
          <a:lstStyle/>
          <a:p>
            <a:r>
              <a:rPr lang="zh-CN" altLang="en-US" dirty="0"/>
              <a:t>平行趋势检验</a:t>
            </a:r>
          </a:p>
        </p:txBody>
      </p:sp>
      <p:sp>
        <p:nvSpPr>
          <p:cNvPr id="3" name="内容占位符 2">
            <a:extLst>
              <a:ext uri="{FF2B5EF4-FFF2-40B4-BE49-F238E27FC236}">
                <a16:creationId xmlns:a16="http://schemas.microsoft.com/office/drawing/2014/main" id="{5AD15520-05F2-C8B3-62B4-9070C8B95539}"/>
              </a:ext>
            </a:extLst>
          </p:cNvPr>
          <p:cNvSpPr>
            <a:spLocks noGrp="1"/>
          </p:cNvSpPr>
          <p:nvPr>
            <p:ph idx="1"/>
          </p:nvPr>
        </p:nvSpPr>
        <p:spPr/>
        <p:txBody>
          <a:bodyPr>
            <a:normAutofit/>
          </a:bodyPr>
          <a:lstStyle/>
          <a:p>
            <a:r>
              <a:rPr lang="zh-CN" altLang="en-US" sz="1600" dirty="0"/>
              <a:t>下图报告了滞后一期系数的敏感性分析，在不同的门槛值下，事后一期效应在统计上均不显著。</a:t>
            </a:r>
          </a:p>
        </p:txBody>
      </p:sp>
      <p:sp>
        <p:nvSpPr>
          <p:cNvPr id="4" name="页脚占位符 3">
            <a:extLst>
              <a:ext uri="{FF2B5EF4-FFF2-40B4-BE49-F238E27FC236}">
                <a16:creationId xmlns:a16="http://schemas.microsoft.com/office/drawing/2014/main" id="{E058672B-EF01-2508-D84D-3DBB7339565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5A4A3A-E9AC-084F-1F68-C34E5B1A535A}"/>
              </a:ext>
            </a:extLst>
          </p:cNvPr>
          <p:cNvSpPr>
            <a:spLocks noGrp="1"/>
          </p:cNvSpPr>
          <p:nvPr>
            <p:ph type="sldNum" sz="quarter" idx="12"/>
          </p:nvPr>
        </p:nvSpPr>
        <p:spPr/>
        <p:txBody>
          <a:bodyPr/>
          <a:lstStyle/>
          <a:p>
            <a:fld id="{D41FC515-8169-4A29-AA56-DBE520D5741B}" type="slidenum">
              <a:rPr lang="zh-CN" altLang="en-US" smtClean="0"/>
              <a:t>105</a:t>
            </a:fld>
            <a:endParaRPr lang="zh-CN" altLang="en-US"/>
          </a:p>
        </p:txBody>
      </p:sp>
      <p:pic>
        <p:nvPicPr>
          <p:cNvPr id="7" name="图片 6">
            <a:extLst>
              <a:ext uri="{FF2B5EF4-FFF2-40B4-BE49-F238E27FC236}">
                <a16:creationId xmlns:a16="http://schemas.microsoft.com/office/drawing/2014/main" id="{837F19A9-931F-7EC4-1C12-41DB3E7FE475}"/>
              </a:ext>
            </a:extLst>
          </p:cNvPr>
          <p:cNvPicPr>
            <a:picLocks noChangeAspect="1"/>
          </p:cNvPicPr>
          <p:nvPr/>
        </p:nvPicPr>
        <p:blipFill>
          <a:blip r:embed="rId2"/>
          <a:stretch>
            <a:fillRect/>
          </a:stretch>
        </p:blipFill>
        <p:spPr>
          <a:xfrm>
            <a:off x="1553599" y="2497622"/>
            <a:ext cx="5569096" cy="4041291"/>
          </a:xfrm>
          <a:prstGeom prst="rect">
            <a:avLst/>
          </a:prstGeom>
        </p:spPr>
      </p:pic>
    </p:spTree>
    <p:extLst>
      <p:ext uri="{BB962C8B-B14F-4D97-AF65-F5344CB8AC3E}">
        <p14:creationId xmlns:p14="http://schemas.microsoft.com/office/powerpoint/2010/main" val="29330212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EB00D-2FB4-ACDA-22E9-27B3D4B3BE08}"/>
              </a:ext>
            </a:extLst>
          </p:cNvPr>
          <p:cNvSpPr>
            <a:spLocks noGrp="1"/>
          </p:cNvSpPr>
          <p:nvPr>
            <p:ph type="title"/>
          </p:nvPr>
        </p:nvSpPr>
        <p:spPr/>
        <p:txBody>
          <a:bodyPr/>
          <a:lstStyle/>
          <a:p>
            <a:r>
              <a:rPr lang="zh-CN" altLang="en-US" dirty="0"/>
              <a:t>安慰剂检验</a:t>
            </a:r>
          </a:p>
        </p:txBody>
      </p:sp>
      <p:sp>
        <p:nvSpPr>
          <p:cNvPr id="3" name="内容占位符 2">
            <a:extLst>
              <a:ext uri="{FF2B5EF4-FFF2-40B4-BE49-F238E27FC236}">
                <a16:creationId xmlns:a16="http://schemas.microsoft.com/office/drawing/2014/main" id="{D465729A-54B5-08A3-8CE8-9E8733D8BCAF}"/>
              </a:ext>
            </a:extLst>
          </p:cNvPr>
          <p:cNvSpPr>
            <a:spLocks noGrp="1"/>
          </p:cNvSpPr>
          <p:nvPr>
            <p:ph idx="1"/>
          </p:nvPr>
        </p:nvSpPr>
        <p:spPr/>
        <p:txBody>
          <a:bodyPr/>
          <a:lstStyle/>
          <a:p>
            <a:r>
              <a:rPr lang="zh-CN" altLang="en-US" dirty="0"/>
              <a:t>时间安慰剂：利用事前数据，构造虚拟时间，参考</a:t>
            </a:r>
            <a:r>
              <a:rPr lang="en-US" altLang="zh-CN" dirty="0"/>
              <a:t>Abadie and </a:t>
            </a:r>
            <a:r>
              <a:rPr lang="en-US" altLang="zh-CN" dirty="0" err="1"/>
              <a:t>Dermisi</a:t>
            </a:r>
            <a:r>
              <a:rPr lang="en-US" altLang="zh-CN" dirty="0"/>
              <a:t> (2008)</a:t>
            </a:r>
            <a:r>
              <a:rPr lang="zh-CN" altLang="en-US" dirty="0"/>
              <a:t>，与利用事件研究法检验事前系数没有本质区别。</a:t>
            </a:r>
            <a:endParaRPr lang="en-US" altLang="zh-CN" dirty="0"/>
          </a:p>
          <a:p>
            <a:r>
              <a:rPr lang="zh-CN" altLang="en-US" dirty="0"/>
              <a:t>空间安慰剂：利用虚拟干预组，基于</a:t>
            </a:r>
            <a:r>
              <a:rPr lang="en-US" altLang="zh-CN" dirty="0"/>
              <a:t>Rosenbaum (1987)</a:t>
            </a:r>
            <a:r>
              <a:rPr lang="zh-CN" altLang="en-US" dirty="0"/>
              <a:t>、</a:t>
            </a:r>
            <a:r>
              <a:rPr lang="en-US" altLang="zh-CN" dirty="0" err="1"/>
              <a:t>Imbens</a:t>
            </a:r>
            <a:r>
              <a:rPr lang="en-US" altLang="zh-CN" dirty="0"/>
              <a:t> and Rubin(2015) </a:t>
            </a:r>
            <a:r>
              <a:rPr lang="zh-CN" altLang="en-US" dirty="0"/>
              <a:t>多控制组的思想，参考</a:t>
            </a:r>
            <a:r>
              <a:rPr lang="en-US" altLang="zh-CN" dirty="0"/>
              <a:t>Duflo (2001)</a:t>
            </a:r>
            <a:r>
              <a:rPr lang="zh-CN" altLang="en-US" dirty="0"/>
              <a:t>。</a:t>
            </a:r>
            <a:endParaRPr lang="en-US" altLang="zh-CN" dirty="0"/>
          </a:p>
          <a:p>
            <a:r>
              <a:rPr lang="zh-CN" altLang="en-US" dirty="0"/>
              <a:t>安慰剂检验利用虚拟时间或虚拟干预组，用于检验平行趋势，当然也存在着和平行趋势检验一样的问题。</a:t>
            </a:r>
          </a:p>
        </p:txBody>
      </p:sp>
      <p:sp>
        <p:nvSpPr>
          <p:cNvPr id="4" name="页脚占位符 3">
            <a:extLst>
              <a:ext uri="{FF2B5EF4-FFF2-40B4-BE49-F238E27FC236}">
                <a16:creationId xmlns:a16="http://schemas.microsoft.com/office/drawing/2014/main" id="{2D265345-F8C6-3517-E45D-4B81372EFE4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385060E-C8C3-4270-01D0-58892CFB4041}"/>
              </a:ext>
            </a:extLst>
          </p:cNvPr>
          <p:cNvSpPr>
            <a:spLocks noGrp="1"/>
          </p:cNvSpPr>
          <p:nvPr>
            <p:ph type="sldNum" sz="quarter" idx="12"/>
          </p:nvPr>
        </p:nvSpPr>
        <p:spPr/>
        <p:txBody>
          <a:bodyPr/>
          <a:lstStyle/>
          <a:p>
            <a:fld id="{D41FC515-8169-4A29-AA56-DBE520D5741B}" type="slidenum">
              <a:rPr lang="zh-CN" altLang="en-US" smtClean="0"/>
              <a:t>106</a:t>
            </a:fld>
            <a:endParaRPr lang="zh-CN" altLang="en-US"/>
          </a:p>
        </p:txBody>
      </p:sp>
    </p:spTree>
    <p:extLst>
      <p:ext uri="{BB962C8B-B14F-4D97-AF65-F5344CB8AC3E}">
        <p14:creationId xmlns:p14="http://schemas.microsoft.com/office/powerpoint/2010/main" val="17361259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B1E43-8439-36D2-1369-4807BACB8651}"/>
              </a:ext>
            </a:extLst>
          </p:cNvPr>
          <p:cNvSpPr>
            <a:spLocks noGrp="1"/>
          </p:cNvSpPr>
          <p:nvPr>
            <p:ph type="title"/>
          </p:nvPr>
        </p:nvSpPr>
        <p:spPr/>
        <p:txBody>
          <a:bodyPr/>
          <a:lstStyle/>
          <a:p>
            <a:r>
              <a:rPr lang="zh-CN" altLang="en-US" dirty="0"/>
              <a:t>统计推断问题</a:t>
            </a:r>
          </a:p>
        </p:txBody>
      </p:sp>
      <p:sp>
        <p:nvSpPr>
          <p:cNvPr id="3" name="内容占位符 2">
            <a:extLst>
              <a:ext uri="{FF2B5EF4-FFF2-40B4-BE49-F238E27FC236}">
                <a16:creationId xmlns:a16="http://schemas.microsoft.com/office/drawing/2014/main" id="{97ED441A-6ECB-C6E8-31C4-3449AB3DF34F}"/>
              </a:ext>
            </a:extLst>
          </p:cNvPr>
          <p:cNvSpPr>
            <a:spLocks noGrp="1"/>
          </p:cNvSpPr>
          <p:nvPr>
            <p:ph idx="1"/>
          </p:nvPr>
        </p:nvSpPr>
        <p:spPr/>
        <p:txBody>
          <a:bodyPr>
            <a:normAutofit fontScale="55000" lnSpcReduction="20000"/>
          </a:bodyPr>
          <a:lstStyle/>
          <a:p>
            <a:pPr>
              <a:lnSpc>
                <a:spcPct val="120000"/>
              </a:lnSpc>
            </a:pPr>
            <a:r>
              <a:rPr lang="zh-CN" altLang="en-US" dirty="0"/>
              <a:t>如果可能，标准误差应该聚类到政策实施的层面，即政策在哪个层面实施，就应聚类到哪个层面</a:t>
            </a:r>
            <a:r>
              <a:rPr lang="en-US" altLang="zh-CN" dirty="0"/>
              <a:t>(Bertrand et al., 2004)</a:t>
            </a:r>
            <a:r>
              <a:rPr lang="zh-CN" altLang="en-US" dirty="0"/>
              <a:t>。</a:t>
            </a:r>
            <a:endParaRPr lang="en-US" altLang="zh-CN" dirty="0"/>
          </a:p>
          <a:p>
            <a:pPr>
              <a:lnSpc>
                <a:spcPct val="120000"/>
              </a:lnSpc>
            </a:pPr>
            <a:r>
              <a:rPr lang="en-US" altLang="zh-CN" dirty="0"/>
              <a:t>Abadie et al. (2017, 2023) </a:t>
            </a:r>
            <a:r>
              <a:rPr lang="zh-CN" altLang="en-US" dirty="0"/>
              <a:t>提出的因果聚类标准误，一般会大于稳健标准误，小于聚类标准误。</a:t>
            </a:r>
            <a:endParaRPr lang="en-US" altLang="zh-CN" dirty="0"/>
          </a:p>
          <a:p>
            <a:pPr>
              <a:lnSpc>
                <a:spcPct val="120000"/>
              </a:lnSpc>
            </a:pPr>
            <a:r>
              <a:rPr lang="zh-CN" altLang="en-US" dirty="0"/>
              <a:t>随机置换检验</a:t>
            </a:r>
            <a:r>
              <a:rPr lang="en-US" altLang="zh-CN" dirty="0"/>
              <a:t>(random permutation test)</a:t>
            </a:r>
            <a:r>
              <a:rPr lang="zh-CN" altLang="en-US" dirty="0"/>
              <a:t>：基于平行趋势假设成立的前提下，其实更强，假设干预分组随机化，即</a:t>
            </a:r>
            <a:r>
              <a:rPr lang="en-US" altLang="zh-CN" dirty="0"/>
              <a:t>Δ</a:t>
            </a:r>
            <a:r>
              <a:rPr lang="zh-CN" altLang="en-US" dirty="0"/>
              <a:t>𝑌𝑖𝑡</a:t>
            </a:r>
            <a:r>
              <a:rPr lang="en-US" altLang="zh-CN" dirty="0"/>
              <a:t>(0) ⟂⟂ </a:t>
            </a:r>
            <a:r>
              <a:rPr lang="zh-CN" altLang="en-US" dirty="0"/>
              <a:t>𝐷</a:t>
            </a:r>
            <a:r>
              <a:rPr lang="en-US" altLang="zh-CN" dirty="0"/>
              <a:t>|</a:t>
            </a:r>
            <a:r>
              <a:rPr lang="zh-CN" altLang="en-US" dirty="0"/>
              <a:t>𝑋，利用</a:t>
            </a:r>
            <a:r>
              <a:rPr lang="en-US" altLang="zh-CN" dirty="0"/>
              <a:t>FEP </a:t>
            </a:r>
            <a:r>
              <a:rPr lang="zh-CN" altLang="en-US" dirty="0"/>
              <a:t>的思想，从原始数据中，随机抽取𝑁</a:t>
            </a:r>
            <a:r>
              <a:rPr lang="en-US" altLang="zh-CN" dirty="0"/>
              <a:t>1 </a:t>
            </a:r>
            <a:r>
              <a:rPr lang="zh-CN" altLang="en-US" dirty="0"/>
              <a:t>个分组作为伪干预组个体，估计</a:t>
            </a:r>
            <a:r>
              <a:rPr lang="en-US" altLang="zh-CN" dirty="0"/>
              <a:t>DID </a:t>
            </a:r>
            <a:r>
              <a:rPr lang="zh-CN" altLang="en-US" dirty="0"/>
              <a:t>估计量，重复抽取分配向量若干次，通常</a:t>
            </a:r>
            <a:r>
              <a:rPr lang="en-US" altLang="zh-CN" dirty="0"/>
              <a:t>1000 </a:t>
            </a:r>
            <a:r>
              <a:rPr lang="zh-CN" altLang="en-US" dirty="0"/>
              <a:t>次就可以达到比较好的近似，从而得到</a:t>
            </a:r>
            <a:r>
              <a:rPr lang="en-US" altLang="zh-CN" dirty="0"/>
              <a:t>DID </a:t>
            </a:r>
            <a:r>
              <a:rPr lang="zh-CN" altLang="en-US" dirty="0"/>
              <a:t>估计量的分布，计算</a:t>
            </a:r>
            <a:r>
              <a:rPr lang="en-US" altLang="zh-CN" dirty="0"/>
              <a:t>P </a:t>
            </a:r>
            <a:r>
              <a:rPr lang="zh-CN" altLang="en-US" dirty="0"/>
              <a:t>值，从而可以检验对任何个体没有政策影响的精确原假设是否成立。</a:t>
            </a:r>
            <a:endParaRPr lang="en-US" altLang="zh-CN" dirty="0"/>
          </a:p>
          <a:p>
            <a:pPr>
              <a:lnSpc>
                <a:spcPct val="120000"/>
              </a:lnSpc>
            </a:pPr>
            <a:r>
              <a:rPr lang="zh-CN" altLang="en-US" dirty="0"/>
              <a:t>需要强调一下，随机置换检验是统计显著性检验，不要称为安慰剂检验，它是在平行趋势假设成立的前提下检验统计显著性的，安慰剂检验是验证平行趋势是否成立的，两者有本质的不同。并且随机置换检验是在小样本情况下，利用比平行趋势假设更强的随机化假设进行检验的，在聚类足够多，能够利用聚类标准误进行统计推断时，没有必要使用随机置换检验。</a:t>
            </a:r>
            <a:endParaRPr lang="en-US" altLang="zh-CN" dirty="0"/>
          </a:p>
          <a:p>
            <a:pPr>
              <a:lnSpc>
                <a:spcPct val="120000"/>
              </a:lnSpc>
            </a:pPr>
            <a:r>
              <a:rPr lang="zh-CN" altLang="en-US" dirty="0"/>
              <a:t>很多国内文献将安慰剂检验和随机置换检验混为一谈，避免这种错误。</a:t>
            </a:r>
          </a:p>
        </p:txBody>
      </p:sp>
      <p:sp>
        <p:nvSpPr>
          <p:cNvPr id="4" name="页脚占位符 3">
            <a:extLst>
              <a:ext uri="{FF2B5EF4-FFF2-40B4-BE49-F238E27FC236}">
                <a16:creationId xmlns:a16="http://schemas.microsoft.com/office/drawing/2014/main" id="{4640D75F-ACBE-1F21-43A9-098C55124DF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1EBA963-8510-6B63-EE17-F9CBD9333127}"/>
              </a:ext>
            </a:extLst>
          </p:cNvPr>
          <p:cNvSpPr>
            <a:spLocks noGrp="1"/>
          </p:cNvSpPr>
          <p:nvPr>
            <p:ph type="sldNum" sz="quarter" idx="12"/>
          </p:nvPr>
        </p:nvSpPr>
        <p:spPr/>
        <p:txBody>
          <a:bodyPr/>
          <a:lstStyle/>
          <a:p>
            <a:fld id="{D41FC515-8169-4A29-AA56-DBE520D5741B}" type="slidenum">
              <a:rPr lang="zh-CN" altLang="en-US" smtClean="0"/>
              <a:t>107</a:t>
            </a:fld>
            <a:endParaRPr lang="zh-CN" altLang="en-US"/>
          </a:p>
        </p:txBody>
      </p:sp>
    </p:spTree>
    <p:extLst>
      <p:ext uri="{BB962C8B-B14F-4D97-AF65-F5344CB8AC3E}">
        <p14:creationId xmlns:p14="http://schemas.microsoft.com/office/powerpoint/2010/main" val="32182745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E794A-C413-1BBF-FC8A-08225B097868}"/>
              </a:ext>
            </a:extLst>
          </p:cNvPr>
          <p:cNvSpPr>
            <a:spLocks noGrp="1"/>
          </p:cNvSpPr>
          <p:nvPr>
            <p:ph type="title"/>
          </p:nvPr>
        </p:nvSpPr>
        <p:spPr/>
        <p:txBody>
          <a:bodyPr/>
          <a:lstStyle/>
          <a:p>
            <a:r>
              <a:rPr lang="zh-CN" altLang="en-US" dirty="0"/>
              <a:t>利用</a:t>
            </a:r>
            <a:r>
              <a:rPr lang="en-US" altLang="zh-CN" dirty="0"/>
              <a:t>DID </a:t>
            </a:r>
            <a:r>
              <a:rPr lang="zh-CN" altLang="en-US" dirty="0"/>
              <a:t>方法的步骤</a:t>
            </a:r>
          </a:p>
        </p:txBody>
      </p:sp>
      <p:sp>
        <p:nvSpPr>
          <p:cNvPr id="3" name="内容占位符 2">
            <a:extLst>
              <a:ext uri="{FF2B5EF4-FFF2-40B4-BE49-F238E27FC236}">
                <a16:creationId xmlns:a16="http://schemas.microsoft.com/office/drawing/2014/main" id="{32015AEE-2D98-F5C0-CA5A-10AE0BA9F81C}"/>
              </a:ext>
            </a:extLst>
          </p:cNvPr>
          <p:cNvSpPr>
            <a:spLocks noGrp="1"/>
          </p:cNvSpPr>
          <p:nvPr>
            <p:ph idx="1"/>
          </p:nvPr>
        </p:nvSpPr>
        <p:spPr/>
        <p:txBody>
          <a:bodyPr>
            <a:normAutofit fontScale="92500" lnSpcReduction="10000"/>
          </a:bodyPr>
          <a:lstStyle/>
          <a:p>
            <a:pPr>
              <a:lnSpc>
                <a:spcPct val="110000"/>
              </a:lnSpc>
            </a:pPr>
            <a:r>
              <a:rPr lang="en-US" altLang="zh-CN" dirty="0" err="1"/>
              <a:t>Imbens</a:t>
            </a:r>
            <a:r>
              <a:rPr lang="en-US" altLang="zh-CN" dirty="0"/>
              <a:t> and Xu (2024) </a:t>
            </a:r>
            <a:r>
              <a:rPr lang="zh-CN" altLang="en-US" dirty="0"/>
              <a:t>给出的建议：</a:t>
            </a:r>
            <a:endParaRPr lang="en-US" altLang="zh-CN" dirty="0"/>
          </a:p>
          <a:p>
            <a:pPr lvl="1">
              <a:lnSpc>
                <a:spcPct val="110000"/>
              </a:lnSpc>
            </a:pPr>
            <a:r>
              <a:rPr lang="zh-CN" altLang="en-US" dirty="0"/>
              <a:t>开始分析因果效应，努力理解分配机制。对“设计”的清晰把握对无混淆假设的可信度至关重要。</a:t>
            </a:r>
            <a:endParaRPr lang="en-US" altLang="zh-CN" dirty="0"/>
          </a:p>
          <a:p>
            <a:pPr lvl="1">
              <a:lnSpc>
                <a:spcPct val="110000"/>
              </a:lnSpc>
            </a:pPr>
            <a:r>
              <a:rPr lang="zh-CN" altLang="en-US" dirty="0"/>
              <a:t>使用灵活的方法估计倾向评分。通过绘制处理组和对照组的倾向评分分布图来评估重叠性。根据倾向评分修剪数据，使组间更具可比性。</a:t>
            </a:r>
            <a:endParaRPr lang="en-US" altLang="zh-CN" dirty="0"/>
          </a:p>
          <a:p>
            <a:pPr lvl="1">
              <a:lnSpc>
                <a:spcPct val="110000"/>
              </a:lnSpc>
            </a:pPr>
            <a:r>
              <a:rPr lang="zh-CN" altLang="en-US" dirty="0"/>
              <a:t>应用现代方法，如双重稳健估计量，来估计平均因果效应。探索替代的估计量，如条件平均处理效应和分位数处理效应。</a:t>
            </a:r>
            <a:endParaRPr lang="en-US" altLang="zh-CN" dirty="0"/>
          </a:p>
          <a:p>
            <a:pPr lvl="1">
              <a:lnSpc>
                <a:spcPct val="110000"/>
              </a:lnSpc>
            </a:pPr>
            <a:r>
              <a:rPr lang="zh-CN" altLang="en-US" dirty="0"/>
              <a:t>进行安慰剂测试，比如使用干预前结果的测试，以验证非混杂性条件。进行敏感性分析，以评估结果的稳健性。</a:t>
            </a:r>
          </a:p>
        </p:txBody>
      </p:sp>
      <p:sp>
        <p:nvSpPr>
          <p:cNvPr id="4" name="页脚占位符 3">
            <a:extLst>
              <a:ext uri="{FF2B5EF4-FFF2-40B4-BE49-F238E27FC236}">
                <a16:creationId xmlns:a16="http://schemas.microsoft.com/office/drawing/2014/main" id="{17EC7D33-3C67-0E17-BF19-D7D92BC4028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17FA146-877D-F70B-33F9-0452666870EF}"/>
              </a:ext>
            </a:extLst>
          </p:cNvPr>
          <p:cNvSpPr>
            <a:spLocks noGrp="1"/>
          </p:cNvSpPr>
          <p:nvPr>
            <p:ph type="sldNum" sz="quarter" idx="12"/>
          </p:nvPr>
        </p:nvSpPr>
        <p:spPr/>
        <p:txBody>
          <a:bodyPr/>
          <a:lstStyle/>
          <a:p>
            <a:fld id="{D41FC515-8169-4A29-AA56-DBE520D5741B}" type="slidenum">
              <a:rPr lang="zh-CN" altLang="en-US" smtClean="0"/>
              <a:t>108</a:t>
            </a:fld>
            <a:endParaRPr lang="zh-CN" altLang="en-US"/>
          </a:p>
        </p:txBody>
      </p:sp>
    </p:spTree>
    <p:extLst>
      <p:ext uri="{BB962C8B-B14F-4D97-AF65-F5344CB8AC3E}">
        <p14:creationId xmlns:p14="http://schemas.microsoft.com/office/powerpoint/2010/main" val="5415426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5AE23-D6FA-A2B2-1365-DAE1311BEAEE}"/>
              </a:ext>
            </a:extLst>
          </p:cNvPr>
          <p:cNvSpPr>
            <a:spLocks noGrp="1"/>
          </p:cNvSpPr>
          <p:nvPr>
            <p:ph type="title"/>
          </p:nvPr>
        </p:nvSpPr>
        <p:spPr/>
        <p:txBody>
          <a:bodyPr/>
          <a:lstStyle/>
          <a:p>
            <a:r>
              <a:rPr lang="zh-CN" altLang="en-US" dirty="0"/>
              <a:t>利用</a:t>
            </a:r>
            <a:r>
              <a:rPr lang="en-US" altLang="zh-CN" dirty="0"/>
              <a:t>DID </a:t>
            </a:r>
            <a:r>
              <a:rPr lang="zh-CN" altLang="en-US" dirty="0"/>
              <a:t>方法的步骤</a:t>
            </a:r>
          </a:p>
        </p:txBody>
      </p:sp>
      <p:sp>
        <p:nvSpPr>
          <p:cNvPr id="3" name="内容占位符 2">
            <a:extLst>
              <a:ext uri="{FF2B5EF4-FFF2-40B4-BE49-F238E27FC236}">
                <a16:creationId xmlns:a16="http://schemas.microsoft.com/office/drawing/2014/main" id="{6FFEF486-C12B-38E5-FA2F-098F63B8F9D8}"/>
              </a:ext>
            </a:extLst>
          </p:cNvPr>
          <p:cNvSpPr>
            <a:spLocks noGrp="1"/>
          </p:cNvSpPr>
          <p:nvPr>
            <p:ph idx="1"/>
          </p:nvPr>
        </p:nvSpPr>
        <p:spPr/>
        <p:txBody>
          <a:bodyPr>
            <a:noAutofit/>
          </a:bodyPr>
          <a:lstStyle/>
          <a:p>
            <a:pPr>
              <a:lnSpc>
                <a:spcPct val="120000"/>
              </a:lnSpc>
            </a:pPr>
            <a:r>
              <a:rPr lang="zh-CN" altLang="en-US" sz="1600" dirty="0"/>
              <a:t>用</a:t>
            </a:r>
            <a:r>
              <a:rPr lang="en-US" altLang="zh-CN" sz="1600" dirty="0" err="1"/>
              <a:t>panelview</a:t>
            </a:r>
            <a:r>
              <a:rPr lang="en-US" altLang="zh-CN" sz="1600" dirty="0"/>
              <a:t> </a:t>
            </a:r>
            <a:r>
              <a:rPr lang="zh-CN" altLang="en-US" sz="1600" dirty="0"/>
              <a:t>画出数据结构图。检验平行趋势是否满足。</a:t>
            </a:r>
            <a:endParaRPr lang="en-US" altLang="zh-CN" sz="1600" dirty="0"/>
          </a:p>
          <a:p>
            <a:pPr>
              <a:lnSpc>
                <a:spcPct val="120000"/>
              </a:lnSpc>
            </a:pPr>
            <a:r>
              <a:rPr lang="zh-CN" altLang="en-US" sz="1600" dirty="0"/>
              <a:t>如果总体上满足平行趋势，用回归模型</a:t>
            </a:r>
            <a:r>
              <a:rPr lang="en-US" altLang="zh-CN" sz="1600" dirty="0"/>
              <a:t>(9) </a:t>
            </a:r>
            <a:r>
              <a:rPr lang="zh-CN" altLang="en-US" sz="1600" dirty="0"/>
              <a:t>估计政策效应。如果总体平行趋势不满足，考虑引入条件平行趋势假设，利用事件研究法估计事前系数，评估平行趋势是否满足。</a:t>
            </a:r>
            <a:endParaRPr lang="en-US" altLang="zh-CN" sz="1600" dirty="0"/>
          </a:p>
          <a:p>
            <a:pPr>
              <a:lnSpc>
                <a:spcPct val="120000"/>
              </a:lnSpc>
            </a:pPr>
            <a:r>
              <a:rPr lang="zh-CN" altLang="en-US" sz="1600" dirty="0"/>
              <a:t>对于交错政策，考虑利用</a:t>
            </a:r>
            <a:r>
              <a:rPr lang="en-US" altLang="zh-CN" sz="1600" dirty="0"/>
              <a:t>CS </a:t>
            </a:r>
            <a:r>
              <a:rPr lang="zh-CN" altLang="en-US" sz="1600" dirty="0"/>
              <a:t>估计量、</a:t>
            </a:r>
            <a:r>
              <a:rPr lang="en-US" altLang="zh-CN" sz="1600" dirty="0"/>
              <a:t>Wooldridge </a:t>
            </a:r>
            <a:r>
              <a:rPr lang="zh-CN" altLang="en-US" sz="1600" dirty="0"/>
              <a:t>回归估计量等新的估计量估计分组时期平均因果效应，加总事前系数，并检验平行趋势是否成立。如果利用</a:t>
            </a:r>
            <a:r>
              <a:rPr lang="en-US" altLang="zh-CN" sz="1600" dirty="0"/>
              <a:t>TWFE</a:t>
            </a:r>
            <a:r>
              <a:rPr lang="zh-CN" altLang="en-US" sz="1600" dirty="0"/>
              <a:t>估计量，利用</a:t>
            </a:r>
            <a:r>
              <a:rPr lang="en-US" altLang="zh-CN" sz="1600" dirty="0"/>
              <a:t>Goodman-Bacon </a:t>
            </a:r>
            <a:r>
              <a:rPr lang="zh-CN" altLang="en-US" sz="1600" dirty="0"/>
              <a:t>分解，评估</a:t>
            </a:r>
            <a:r>
              <a:rPr lang="en-US" altLang="zh-CN" sz="1600" dirty="0"/>
              <a:t>TWFE </a:t>
            </a:r>
            <a:r>
              <a:rPr lang="zh-CN" altLang="en-US" sz="1600" dirty="0"/>
              <a:t>负权重问题的严重性，如果严重考虑利用最新估计量。</a:t>
            </a:r>
            <a:endParaRPr lang="en-US" altLang="zh-CN" sz="1600" dirty="0"/>
          </a:p>
          <a:p>
            <a:pPr>
              <a:lnSpc>
                <a:spcPct val="120000"/>
              </a:lnSpc>
            </a:pPr>
            <a:r>
              <a:rPr lang="zh-CN" altLang="en-US" sz="1600" dirty="0"/>
              <a:t>进行安慰剂检验和敏感性分析。构建合理的安慰剂，参考</a:t>
            </a:r>
            <a:r>
              <a:rPr lang="en-US" altLang="zh-CN" sz="1600" dirty="0"/>
              <a:t>Duflo (2001)</a:t>
            </a:r>
            <a:r>
              <a:rPr lang="zh-CN" altLang="en-US" sz="1600" dirty="0"/>
              <a:t>、</a:t>
            </a:r>
            <a:r>
              <a:rPr lang="en-US" altLang="zh-CN" sz="1600" dirty="0"/>
              <a:t>Bloom </a:t>
            </a:r>
            <a:r>
              <a:rPr lang="en-US" altLang="zh-CN" sz="1600" dirty="0" err="1"/>
              <a:t>etal</a:t>
            </a:r>
            <a:r>
              <a:rPr lang="en-US" altLang="zh-CN" sz="1600" dirty="0"/>
              <a:t>. (2019) </a:t>
            </a:r>
            <a:r>
              <a:rPr lang="zh-CN" altLang="en-US" sz="1600" dirty="0"/>
              <a:t>等构造虚拟干预组，注意不要才用随机置换检验。最后，可以利用</a:t>
            </a:r>
            <a:r>
              <a:rPr lang="en-US" altLang="zh-CN" sz="1600" dirty="0"/>
              <a:t>Rambachan and Roth (2023) </a:t>
            </a:r>
            <a:r>
              <a:rPr lang="zh-CN" altLang="en-US" sz="1600" dirty="0"/>
              <a:t>的方法进行敏感性分析，进一步验证事后的可能趋势对估计结果的影响。</a:t>
            </a:r>
            <a:endParaRPr lang="en-US" altLang="zh-CN" sz="1600" dirty="0"/>
          </a:p>
          <a:p>
            <a:pPr>
              <a:lnSpc>
                <a:spcPct val="120000"/>
              </a:lnSpc>
            </a:pPr>
            <a:r>
              <a:rPr lang="zh-CN" altLang="en-US" sz="1600" dirty="0"/>
              <a:t>关于统计推断，聚类足够多，可以使用聚类标准误差，如果聚类少可以考虑使用</a:t>
            </a:r>
            <a:r>
              <a:rPr lang="en-US" altLang="zh-CN" sz="1600" dirty="0"/>
              <a:t>Abadie et al. (2023) </a:t>
            </a:r>
            <a:r>
              <a:rPr lang="zh-CN" altLang="en-US" sz="1600" dirty="0"/>
              <a:t>的因果聚类标准误差，也可以使用随机置换检验，但注意随机置换检验所要求的识别条件比平行趋势强！</a:t>
            </a:r>
          </a:p>
        </p:txBody>
      </p:sp>
      <p:sp>
        <p:nvSpPr>
          <p:cNvPr id="4" name="页脚占位符 3">
            <a:extLst>
              <a:ext uri="{FF2B5EF4-FFF2-40B4-BE49-F238E27FC236}">
                <a16:creationId xmlns:a16="http://schemas.microsoft.com/office/drawing/2014/main" id="{0344AAB5-11C3-F94A-AFC4-1A0DFAB2159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2D0BF20-ADC9-FE65-342C-CA5E860F08ED}"/>
              </a:ext>
            </a:extLst>
          </p:cNvPr>
          <p:cNvSpPr>
            <a:spLocks noGrp="1"/>
          </p:cNvSpPr>
          <p:nvPr>
            <p:ph type="sldNum" sz="quarter" idx="12"/>
          </p:nvPr>
        </p:nvSpPr>
        <p:spPr/>
        <p:txBody>
          <a:bodyPr/>
          <a:lstStyle/>
          <a:p>
            <a:fld id="{D41FC515-8169-4A29-AA56-DBE520D5741B}" type="slidenum">
              <a:rPr lang="zh-CN" altLang="en-US" smtClean="0"/>
              <a:t>109</a:t>
            </a:fld>
            <a:endParaRPr lang="zh-CN" altLang="en-US"/>
          </a:p>
        </p:txBody>
      </p:sp>
    </p:spTree>
    <p:extLst>
      <p:ext uri="{BB962C8B-B14F-4D97-AF65-F5344CB8AC3E}">
        <p14:creationId xmlns:p14="http://schemas.microsoft.com/office/powerpoint/2010/main" val="852945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29F137-7B0A-3216-4C91-495B58A64C11}"/>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6EA40F26-E7B4-DFBF-F344-583D056AF5FD}"/>
              </a:ext>
            </a:extLst>
          </p:cNvPr>
          <p:cNvSpPr>
            <a:spLocks noGrp="1"/>
          </p:cNvSpPr>
          <p:nvPr>
            <p:ph idx="1"/>
          </p:nvPr>
        </p:nvSpPr>
        <p:spPr/>
        <p:txBody>
          <a:bodyPr>
            <a:normAutofit fontScale="62500" lnSpcReduction="20000"/>
          </a:bodyPr>
          <a:lstStyle/>
          <a:p>
            <a:pPr>
              <a:lnSpc>
                <a:spcPct val="120000"/>
              </a:lnSpc>
            </a:pPr>
            <a:r>
              <a:rPr lang="zh-CN" altLang="en-US" dirty="0"/>
              <a:t>面板数据提供了更多的优势，可以看到同一个体不同时期的数据，传统方法利用这一特点，控制不随时间变动的混杂因素，利用固定效应方法、双重差分法，实现因果效应的推断。</a:t>
            </a:r>
            <a:endParaRPr lang="en-US" altLang="zh-CN" dirty="0"/>
          </a:p>
          <a:p>
            <a:pPr>
              <a:lnSpc>
                <a:spcPct val="120000"/>
              </a:lnSpc>
            </a:pPr>
            <a:r>
              <a:rPr lang="zh-CN" altLang="en-US" dirty="0"/>
              <a:t>在存在时变混杂因素时，有些特殊的情况，可以推广双重差分的思路，利用三重差分或双重差分与工具变量法的结合，得到因果效应的估计。</a:t>
            </a:r>
            <a:endParaRPr lang="en-US" altLang="zh-CN" dirty="0"/>
          </a:p>
          <a:p>
            <a:pPr>
              <a:lnSpc>
                <a:spcPct val="120000"/>
              </a:lnSpc>
            </a:pPr>
            <a:r>
              <a:rPr lang="zh-CN" altLang="en-US" dirty="0"/>
              <a:t>在政策干预时点因不同个体而不同时，即交错实施情况下，估计出每一群组每一时</a:t>
            </a:r>
          </a:p>
          <a:p>
            <a:pPr>
              <a:lnSpc>
                <a:spcPct val="120000"/>
              </a:lnSpc>
            </a:pPr>
            <a:r>
              <a:rPr lang="zh-CN" altLang="en-US" dirty="0"/>
              <a:t>期的平均因果效应，然后根据研究需要进行合理加总</a:t>
            </a:r>
            <a:r>
              <a:rPr lang="en-US" altLang="zh-CN" dirty="0"/>
              <a:t>(Callaway et al., 2021;de </a:t>
            </a:r>
            <a:r>
              <a:rPr lang="en-US" altLang="zh-CN" dirty="0" err="1"/>
              <a:t>Chaisemartin</a:t>
            </a:r>
            <a:r>
              <a:rPr lang="en-US" altLang="zh-CN" dirty="0"/>
              <a:t> and </a:t>
            </a:r>
            <a:r>
              <a:rPr lang="en-US" altLang="zh-CN" dirty="0" err="1"/>
              <a:t>d’Haultfoeuille</a:t>
            </a:r>
            <a:r>
              <a:rPr lang="en-US" altLang="zh-CN" dirty="0"/>
              <a:t>, 2020; Sun and Abraham, 2021; Wooldridge,2021)</a:t>
            </a:r>
            <a:r>
              <a:rPr lang="zh-CN" altLang="en-US" dirty="0"/>
              <a:t>。</a:t>
            </a:r>
            <a:endParaRPr lang="en-US" altLang="zh-CN" dirty="0"/>
          </a:p>
          <a:p>
            <a:pPr>
              <a:lnSpc>
                <a:spcPct val="120000"/>
              </a:lnSpc>
            </a:pPr>
            <a:r>
              <a:rPr lang="zh-CN" altLang="en-US" dirty="0"/>
              <a:t>综述参考</a:t>
            </a:r>
            <a:r>
              <a:rPr lang="en-US" altLang="zh-CN" dirty="0"/>
              <a:t>Roth et al. (2022, 2023)</a:t>
            </a:r>
            <a:r>
              <a:rPr lang="zh-CN" altLang="en-US" dirty="0"/>
              <a:t>、</a:t>
            </a:r>
            <a:r>
              <a:rPr lang="en-US" altLang="zh-CN" dirty="0"/>
              <a:t>Arkhangelsky and </a:t>
            </a:r>
            <a:r>
              <a:rPr lang="en-US" altLang="zh-CN" dirty="0" err="1"/>
              <a:t>Imbens</a:t>
            </a:r>
            <a:r>
              <a:rPr lang="en-US" altLang="zh-CN" dirty="0"/>
              <a:t> (2024)</a:t>
            </a:r>
            <a:r>
              <a:rPr lang="zh-CN" altLang="en-US" dirty="0"/>
              <a:t>、赵西亮</a:t>
            </a:r>
            <a:r>
              <a:rPr lang="en-US" altLang="zh-CN" dirty="0"/>
              <a:t>(2024)</a:t>
            </a:r>
            <a:r>
              <a:rPr lang="zh-CN" altLang="en-US" dirty="0"/>
              <a:t>。</a:t>
            </a:r>
          </a:p>
        </p:txBody>
      </p:sp>
      <p:sp>
        <p:nvSpPr>
          <p:cNvPr id="4" name="页脚占位符 3">
            <a:extLst>
              <a:ext uri="{FF2B5EF4-FFF2-40B4-BE49-F238E27FC236}">
                <a16:creationId xmlns:a16="http://schemas.microsoft.com/office/drawing/2014/main" id="{1CA10F9A-97C4-DCC8-52A7-610F86B817C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679A3BF-4F59-A0E9-D5FB-159CF072CF12}"/>
              </a:ext>
            </a:extLst>
          </p:cNvPr>
          <p:cNvSpPr>
            <a:spLocks noGrp="1"/>
          </p:cNvSpPr>
          <p:nvPr>
            <p:ph type="sldNum" sz="quarter" idx="12"/>
          </p:nvPr>
        </p:nvSpPr>
        <p:spPr/>
        <p:txBody>
          <a:bodyPr/>
          <a:lstStyle/>
          <a:p>
            <a:fld id="{D41FC515-8169-4A29-AA56-DBE520D5741B}" type="slidenum">
              <a:rPr lang="zh-CN" altLang="en-US" smtClean="0"/>
              <a:t>110</a:t>
            </a:fld>
            <a:endParaRPr lang="zh-CN" altLang="en-US"/>
          </a:p>
        </p:txBody>
      </p:sp>
    </p:spTree>
    <p:extLst>
      <p:ext uri="{BB962C8B-B14F-4D97-AF65-F5344CB8AC3E}">
        <p14:creationId xmlns:p14="http://schemas.microsoft.com/office/powerpoint/2010/main" val="24178941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8E7EC6-BC47-FD45-2965-9B16A0D32658}"/>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2E14B677-EB84-7BFA-539D-7BDD3631C2A4}"/>
              </a:ext>
            </a:extLst>
          </p:cNvPr>
          <p:cNvSpPr>
            <a:spLocks noGrp="1"/>
          </p:cNvSpPr>
          <p:nvPr>
            <p:ph idx="1"/>
          </p:nvPr>
        </p:nvSpPr>
        <p:spPr/>
        <p:txBody>
          <a:bodyPr>
            <a:noAutofit/>
          </a:bodyPr>
          <a:lstStyle/>
          <a:p>
            <a:r>
              <a:rPr lang="en-US" altLang="zh-CN" sz="1400" b="1" dirty="0"/>
              <a:t>Abadie, Alberto</a:t>
            </a:r>
            <a:r>
              <a:rPr lang="en-US" altLang="zh-CN" sz="1400" dirty="0"/>
              <a:t>, “</a:t>
            </a:r>
            <a:r>
              <a:rPr lang="en-US" altLang="zh-CN" sz="1400" dirty="0" err="1"/>
              <a:t>Semiparametirc</a:t>
            </a:r>
            <a:r>
              <a:rPr lang="en-US" altLang="zh-CN" sz="1400" dirty="0"/>
              <a:t> Difference-in-Differences,” </a:t>
            </a:r>
            <a:r>
              <a:rPr lang="en-US" altLang="zh-CN" sz="1400" i="1" dirty="0"/>
              <a:t>Review of Economic Studies</a:t>
            </a:r>
            <a:r>
              <a:rPr lang="en-US" altLang="zh-CN" sz="1400" dirty="0"/>
              <a:t>, 2005, </a:t>
            </a:r>
            <a:r>
              <a:rPr lang="en-US" altLang="zh-CN" sz="1400" i="1" dirty="0"/>
              <a:t>72</a:t>
            </a:r>
            <a:r>
              <a:rPr lang="en-US" altLang="zh-CN" sz="1400" dirty="0"/>
              <a:t>, 1–19.</a:t>
            </a:r>
          </a:p>
          <a:p>
            <a:r>
              <a:rPr lang="en-US" altLang="zh-CN" sz="1400" b="1" dirty="0"/>
              <a:t>— and Sofia </a:t>
            </a:r>
            <a:r>
              <a:rPr lang="en-US" altLang="zh-CN" sz="1400" b="1" dirty="0" err="1"/>
              <a:t>Dermisi</a:t>
            </a:r>
            <a:r>
              <a:rPr lang="en-US" altLang="zh-CN" sz="1400" dirty="0"/>
              <a:t>, “Is terrorism eroding agglomeration economics in central business districts? Lessons from the office real estate market in downtown Chicago,” </a:t>
            </a:r>
            <a:r>
              <a:rPr lang="en-US" altLang="zh-CN" sz="1400" i="1" dirty="0"/>
              <a:t>Journal of Urban Economics</a:t>
            </a:r>
            <a:r>
              <a:rPr lang="en-US" altLang="zh-CN" sz="1400" dirty="0"/>
              <a:t>, 2008, </a:t>
            </a:r>
            <a:r>
              <a:rPr lang="en-US" altLang="zh-CN" sz="1400" i="1" dirty="0"/>
              <a:t>64</a:t>
            </a:r>
            <a:r>
              <a:rPr lang="en-US" altLang="zh-CN" sz="1400" dirty="0"/>
              <a:t>, 451–463.</a:t>
            </a:r>
          </a:p>
          <a:p>
            <a:r>
              <a:rPr lang="en-US" altLang="zh-CN" sz="1400" b="1" dirty="0"/>
              <a:t>—, Susan Athey, Guido W </a:t>
            </a:r>
            <a:r>
              <a:rPr lang="en-US" altLang="zh-CN" sz="1400" b="1" dirty="0" err="1"/>
              <a:t>Imbens</a:t>
            </a:r>
            <a:r>
              <a:rPr lang="en-US" altLang="zh-CN" sz="1400" b="1" dirty="0"/>
              <a:t>, and Jeffrey M Wooldridge</a:t>
            </a:r>
            <a:r>
              <a:rPr lang="en-US" altLang="zh-CN" sz="1400" dirty="0"/>
              <a:t>, “When should you adjust standard errors for clustering?,” </a:t>
            </a:r>
            <a:r>
              <a:rPr lang="en-US" altLang="zh-CN" sz="1400" i="1" dirty="0"/>
              <a:t>The Quarterly Journal of </a:t>
            </a:r>
            <a:r>
              <a:rPr lang="it-IT" altLang="zh-CN" sz="1400" i="1" dirty="0"/>
              <a:t>Economics</a:t>
            </a:r>
            <a:r>
              <a:rPr lang="it-IT" altLang="zh-CN" sz="1400" dirty="0"/>
              <a:t>, 2023, </a:t>
            </a:r>
            <a:r>
              <a:rPr lang="it-IT" altLang="zh-CN" sz="1400" i="1" dirty="0"/>
              <a:t>138 </a:t>
            </a:r>
            <a:r>
              <a:rPr lang="it-IT" altLang="zh-CN" sz="1400" dirty="0"/>
              <a:t>(1), 1–35.</a:t>
            </a:r>
          </a:p>
          <a:p>
            <a:r>
              <a:rPr lang="en-US" altLang="zh-CN" sz="1400" b="1" dirty="0"/>
              <a:t>—, — , — , and Jeffrey Wooldridge</a:t>
            </a:r>
            <a:r>
              <a:rPr lang="en-US" altLang="zh-CN" sz="1400" dirty="0"/>
              <a:t>, “When should you adjust standard errors for clustering?,” Technical Report, National Bureau of Economic Research 2017.</a:t>
            </a:r>
          </a:p>
          <a:p>
            <a:r>
              <a:rPr lang="en-US" altLang="zh-CN" sz="1400" b="1" dirty="0"/>
              <a:t>Arkhangelsky, Dmitry and Guido </a:t>
            </a:r>
            <a:r>
              <a:rPr lang="en-US" altLang="zh-CN" sz="1400" b="1" dirty="0" err="1"/>
              <a:t>Imbens</a:t>
            </a:r>
            <a:r>
              <a:rPr lang="en-US" altLang="zh-CN" sz="1400" dirty="0"/>
              <a:t>, “Causal models for longitudinal and panel data: A survey,” </a:t>
            </a:r>
            <a:r>
              <a:rPr lang="en-US" altLang="zh-CN" sz="1400" i="1" dirty="0"/>
              <a:t>The Econometrics Journal</a:t>
            </a:r>
            <a:r>
              <a:rPr lang="en-US" altLang="zh-CN" sz="1400" dirty="0"/>
              <a:t>, 2024, </a:t>
            </a:r>
            <a:r>
              <a:rPr lang="en-US" altLang="zh-CN" sz="1400" i="1" dirty="0"/>
              <a:t>27 </a:t>
            </a:r>
            <a:r>
              <a:rPr lang="en-US" altLang="zh-CN" sz="1400" dirty="0"/>
              <a:t>(3), C1–C61.</a:t>
            </a:r>
          </a:p>
          <a:p>
            <a:r>
              <a:rPr lang="en-US" altLang="zh-CN" sz="1400" b="1" dirty="0"/>
              <a:t>Ashenfelter, Orley</a:t>
            </a:r>
            <a:r>
              <a:rPr lang="en-US" altLang="zh-CN" sz="1400" dirty="0"/>
              <a:t>, “Estimating the effect of training programs on earnings,” </a:t>
            </a:r>
            <a:r>
              <a:rPr lang="en-US" altLang="zh-CN" sz="1400" i="1" dirty="0"/>
              <a:t>The Review of Economics and Statistics</a:t>
            </a:r>
            <a:r>
              <a:rPr lang="en-US" altLang="zh-CN" sz="1400" dirty="0"/>
              <a:t>, 1978, pp. 47–57.</a:t>
            </a:r>
          </a:p>
          <a:p>
            <a:r>
              <a:rPr lang="en-US" altLang="zh-CN" sz="1400" b="1" dirty="0"/>
              <a:t>—  and David Card</a:t>
            </a:r>
            <a:r>
              <a:rPr lang="en-US" altLang="zh-CN" sz="1400" dirty="0"/>
              <a:t>, “Using the longitudinal structure of earnings to estimate the effect of training programs,” </a:t>
            </a:r>
            <a:r>
              <a:rPr lang="en-US" altLang="zh-CN" sz="1400" i="1" dirty="0"/>
              <a:t>The Review of Economics and Statistics</a:t>
            </a:r>
            <a:r>
              <a:rPr lang="en-US" altLang="zh-CN" sz="1400" dirty="0"/>
              <a:t>, 1985, </a:t>
            </a:r>
            <a:r>
              <a:rPr lang="en-US" altLang="zh-CN" sz="1400" i="1" dirty="0"/>
              <a:t>67 </a:t>
            </a:r>
            <a:r>
              <a:rPr lang="en-US" altLang="zh-CN" sz="1400" dirty="0"/>
              <a:t>(4), 648–660.</a:t>
            </a:r>
          </a:p>
        </p:txBody>
      </p:sp>
      <p:sp>
        <p:nvSpPr>
          <p:cNvPr id="4" name="页脚占位符 3">
            <a:extLst>
              <a:ext uri="{FF2B5EF4-FFF2-40B4-BE49-F238E27FC236}">
                <a16:creationId xmlns:a16="http://schemas.microsoft.com/office/drawing/2014/main" id="{9CB705B7-2321-3739-C2E5-77DE4CC46C1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E97CF72-A314-BC2D-A3EA-6D317888A968}"/>
              </a:ext>
            </a:extLst>
          </p:cNvPr>
          <p:cNvSpPr>
            <a:spLocks noGrp="1"/>
          </p:cNvSpPr>
          <p:nvPr>
            <p:ph type="sldNum" sz="quarter" idx="12"/>
          </p:nvPr>
        </p:nvSpPr>
        <p:spPr/>
        <p:txBody>
          <a:bodyPr/>
          <a:lstStyle/>
          <a:p>
            <a:fld id="{D41FC515-8169-4A29-AA56-DBE520D5741B}" type="slidenum">
              <a:rPr lang="zh-CN" altLang="en-US" smtClean="0"/>
              <a:t>111</a:t>
            </a:fld>
            <a:endParaRPr lang="zh-CN" altLang="en-US"/>
          </a:p>
        </p:txBody>
      </p:sp>
    </p:spTree>
    <p:extLst>
      <p:ext uri="{BB962C8B-B14F-4D97-AF65-F5344CB8AC3E}">
        <p14:creationId xmlns:p14="http://schemas.microsoft.com/office/powerpoint/2010/main" val="263946358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A7A924-14CA-4396-7959-D515BD0EF9FC}"/>
              </a:ext>
            </a:extLst>
          </p:cNvPr>
          <p:cNvSpPr>
            <a:spLocks noGrp="1"/>
          </p:cNvSpPr>
          <p:nvPr>
            <p:ph idx="1"/>
          </p:nvPr>
        </p:nvSpPr>
        <p:spPr>
          <a:xfrm>
            <a:off x="628650" y="486137"/>
            <a:ext cx="7886700" cy="5690826"/>
          </a:xfrm>
        </p:spPr>
        <p:txBody>
          <a:bodyPr>
            <a:noAutofit/>
          </a:bodyPr>
          <a:lstStyle/>
          <a:p>
            <a:r>
              <a:rPr lang="en-US" altLang="zh-CN" sz="1400" b="1" dirty="0"/>
              <a:t>Baker, Andrew C, David F Larcker, and Charles CY Wang</a:t>
            </a:r>
            <a:r>
              <a:rPr lang="en-US" altLang="zh-CN" sz="1400" dirty="0"/>
              <a:t>, “How much should we trust staggered difference-in-differences estimates?,” </a:t>
            </a:r>
            <a:r>
              <a:rPr lang="en-US" altLang="zh-CN" sz="1400" i="1" dirty="0"/>
              <a:t>Journal of Financial Economics</a:t>
            </a:r>
            <a:r>
              <a:rPr lang="en-US" altLang="zh-CN" sz="1400" dirty="0"/>
              <a:t>, 2022, </a:t>
            </a:r>
            <a:r>
              <a:rPr lang="en-US" altLang="zh-CN" sz="1400" i="1" dirty="0"/>
              <a:t>144 </a:t>
            </a:r>
            <a:r>
              <a:rPr lang="en-US" altLang="zh-CN" sz="1400" dirty="0"/>
              <a:t>(2), 370–395.</a:t>
            </a:r>
          </a:p>
          <a:p>
            <a:r>
              <a:rPr lang="en-US" altLang="zh-CN" sz="1400" b="1" dirty="0"/>
              <a:t>Beck, Thorsten, Ross Levine, and Alexey Levkov</a:t>
            </a:r>
            <a:r>
              <a:rPr lang="en-US" altLang="zh-CN" sz="1400" dirty="0"/>
              <a:t>, “Big bad banks? The winners and losers from bank deregulation in the United States,” </a:t>
            </a:r>
            <a:r>
              <a:rPr lang="en-US" altLang="zh-CN" sz="1400" i="1" dirty="0"/>
              <a:t>The Journal of </a:t>
            </a:r>
            <a:r>
              <a:rPr lang="fr-FR" altLang="zh-CN" sz="1400" i="1" dirty="0"/>
              <a:t>Finance</a:t>
            </a:r>
            <a:r>
              <a:rPr lang="fr-FR" altLang="zh-CN" sz="1400" dirty="0"/>
              <a:t>, 2010, </a:t>
            </a:r>
            <a:r>
              <a:rPr lang="fr-FR" altLang="zh-CN" sz="1400" i="1" dirty="0"/>
              <a:t>65 </a:t>
            </a:r>
            <a:r>
              <a:rPr lang="fr-FR" altLang="zh-CN" sz="1400" dirty="0"/>
              <a:t>(5), 1637–1667.</a:t>
            </a:r>
            <a:endParaRPr lang="zh-CN" altLang="en-US" sz="1400" dirty="0"/>
          </a:p>
          <a:p>
            <a:r>
              <a:rPr lang="en-US" altLang="zh-CN" sz="1400" b="1" dirty="0"/>
              <a:t>Bertrand, Marianne, Esther Duflo, and Sendhil Mullainathan</a:t>
            </a:r>
            <a:r>
              <a:rPr lang="en-US" altLang="zh-CN" sz="1400" dirty="0"/>
              <a:t>, “How Much Should We Trust Differences-In-Differences Estimates?,” </a:t>
            </a:r>
            <a:r>
              <a:rPr lang="en-US" altLang="zh-CN" sz="1400" i="1" dirty="0"/>
              <a:t>The Quarterly Journal of </a:t>
            </a:r>
            <a:r>
              <a:rPr lang="it-IT" altLang="zh-CN" sz="1400" i="1" dirty="0"/>
              <a:t>Economics</a:t>
            </a:r>
            <a:r>
              <a:rPr lang="it-IT" altLang="zh-CN" sz="1400" dirty="0"/>
              <a:t>, 02 2004, </a:t>
            </a:r>
            <a:r>
              <a:rPr lang="it-IT" altLang="zh-CN" sz="1400" i="1" dirty="0"/>
              <a:t>119 </a:t>
            </a:r>
            <a:r>
              <a:rPr lang="it-IT" altLang="zh-CN" sz="1400" dirty="0"/>
              <a:t>(1), 249–275.</a:t>
            </a:r>
          </a:p>
          <a:p>
            <a:r>
              <a:rPr lang="en-US" altLang="zh-CN" sz="1400" b="1" dirty="0"/>
              <a:t>Bilinski, Alyssa and Laura A Hatfield</a:t>
            </a:r>
            <a:r>
              <a:rPr lang="en-US" altLang="zh-CN" sz="1400" dirty="0"/>
              <a:t>, “Nothing to see here? Non-inferiority approaches to parallel trends and other model assumptions,” </a:t>
            </a:r>
            <a:r>
              <a:rPr lang="en-US" altLang="zh-CN" sz="1400" i="1" dirty="0" err="1"/>
              <a:t>arXiv</a:t>
            </a:r>
            <a:r>
              <a:rPr lang="en-US" altLang="zh-CN" sz="1400" i="1" dirty="0"/>
              <a:t> preprint arXiv:1805.03273</a:t>
            </a:r>
            <a:r>
              <a:rPr lang="en-US" altLang="zh-CN" sz="1400" dirty="0"/>
              <a:t>, 2018.</a:t>
            </a:r>
          </a:p>
          <a:p>
            <a:r>
              <a:rPr lang="en-US" altLang="zh-CN" sz="1400" b="1" dirty="0"/>
              <a:t>Bloom, Nicholas, Erik Brynjolfsson, Lucia Foster, Ron Jarmin, Megha Patnaik, Itay Saporta-Eksten, and John Van Reenen</a:t>
            </a:r>
            <a:r>
              <a:rPr lang="en-US" altLang="zh-CN" sz="1400" dirty="0"/>
              <a:t>, “What drives</a:t>
            </a:r>
          </a:p>
          <a:p>
            <a:r>
              <a:rPr lang="en-US" altLang="zh-CN" sz="1400" dirty="0"/>
              <a:t>differences in management practices?,” </a:t>
            </a:r>
            <a:r>
              <a:rPr lang="en-US" altLang="zh-CN" sz="1400" i="1" dirty="0"/>
              <a:t>American Economic Review</a:t>
            </a:r>
            <a:r>
              <a:rPr lang="en-US" altLang="zh-CN" sz="1400" dirty="0"/>
              <a:t>, 2019, </a:t>
            </a:r>
            <a:r>
              <a:rPr lang="en-US" altLang="zh-CN" sz="1400" i="1" dirty="0"/>
              <a:t>109 </a:t>
            </a:r>
            <a:r>
              <a:rPr lang="en-US" altLang="zh-CN" sz="1400" dirty="0"/>
              <a:t>(5), 1648–1683.</a:t>
            </a:r>
          </a:p>
          <a:p>
            <a:r>
              <a:rPr lang="en-US" altLang="zh-CN" sz="1400" b="1" dirty="0" err="1"/>
              <a:t>Borusyak</a:t>
            </a:r>
            <a:r>
              <a:rPr lang="en-US" altLang="zh-CN" sz="1400" b="1" dirty="0"/>
              <a:t>, Kirill, Xavier </a:t>
            </a:r>
            <a:r>
              <a:rPr lang="en-US" altLang="zh-CN" sz="1400" b="1" dirty="0" err="1"/>
              <a:t>Jaravel</a:t>
            </a:r>
            <a:r>
              <a:rPr lang="en-US" altLang="zh-CN" sz="1400" b="1" dirty="0"/>
              <a:t>, and Jann Spiess</a:t>
            </a:r>
            <a:r>
              <a:rPr lang="en-US" altLang="zh-CN" sz="1400" dirty="0"/>
              <a:t>, “Revisiting event-study designs: robust and efficient estimation,” </a:t>
            </a:r>
            <a:r>
              <a:rPr lang="en-US" altLang="zh-CN" sz="1400" i="1" dirty="0"/>
              <a:t>Review of Economic Studies</a:t>
            </a:r>
            <a:r>
              <a:rPr lang="en-US" altLang="zh-CN" sz="1400" dirty="0"/>
              <a:t>, 2024, p. rdae007.</a:t>
            </a:r>
          </a:p>
          <a:p>
            <a:r>
              <a:rPr lang="en-US" altLang="zh-CN" sz="1400" b="1" dirty="0"/>
              <a:t>Caetano, Carolina and Brantly Callaway</a:t>
            </a:r>
            <a:r>
              <a:rPr lang="en-US" altLang="zh-CN" sz="1400" dirty="0"/>
              <a:t>, “Difference-in-Differences when Parallel Trends Holds Conditional on Covariates,” </a:t>
            </a:r>
            <a:r>
              <a:rPr lang="en-US" altLang="zh-CN" sz="1400" i="1" dirty="0" err="1"/>
              <a:t>arXiv</a:t>
            </a:r>
            <a:r>
              <a:rPr lang="en-US" altLang="zh-CN" sz="1400" i="1" dirty="0"/>
              <a:t> preprint arXiv:2406.15288</a:t>
            </a:r>
            <a:r>
              <a:rPr lang="en-US" altLang="zh-CN" sz="1400" dirty="0"/>
              <a:t>, 2024.</a:t>
            </a:r>
          </a:p>
          <a:p>
            <a:r>
              <a:rPr lang="en-US" altLang="zh-CN" sz="1400" b="1" dirty="0"/>
              <a:t>—, —, Stroud Payne, and Hugo Sant’Anna Rodrigues</a:t>
            </a:r>
            <a:r>
              <a:rPr lang="en-US" altLang="zh-CN" sz="1400" dirty="0"/>
              <a:t>, “Difference in differences with time-varying covariates,” </a:t>
            </a:r>
            <a:r>
              <a:rPr lang="en-US" altLang="zh-CN" sz="1400" i="1" dirty="0" err="1"/>
              <a:t>arXiv</a:t>
            </a:r>
            <a:r>
              <a:rPr lang="en-US" altLang="zh-CN" sz="1400" i="1" dirty="0"/>
              <a:t> preprint arXiv:2202.02903</a:t>
            </a:r>
            <a:r>
              <a:rPr lang="en-US" altLang="zh-CN" sz="1400" dirty="0"/>
              <a:t>, 2022.</a:t>
            </a:r>
          </a:p>
          <a:p>
            <a:r>
              <a:rPr lang="en-US" altLang="zh-CN" sz="1400" b="1" dirty="0"/>
              <a:t>Callaway, Brantly and Pedro HC Sant’Anna</a:t>
            </a:r>
            <a:r>
              <a:rPr lang="en-US" altLang="zh-CN" sz="1400" dirty="0"/>
              <a:t>, “Difference-in-differences with multiple time periods,” </a:t>
            </a:r>
            <a:r>
              <a:rPr lang="en-US" altLang="zh-CN" sz="1400" i="1" dirty="0"/>
              <a:t>Journal of Econometrics</a:t>
            </a:r>
            <a:r>
              <a:rPr lang="en-US" altLang="zh-CN" sz="1400" dirty="0"/>
              <a:t>, 2021, </a:t>
            </a:r>
            <a:r>
              <a:rPr lang="en-US" altLang="zh-CN" sz="1400" i="1" dirty="0"/>
              <a:t>225 </a:t>
            </a:r>
            <a:r>
              <a:rPr lang="en-US" altLang="zh-CN" sz="1400" dirty="0"/>
              <a:t>(2), 200–230.</a:t>
            </a:r>
          </a:p>
        </p:txBody>
      </p:sp>
      <p:sp>
        <p:nvSpPr>
          <p:cNvPr id="4" name="页脚占位符 3">
            <a:extLst>
              <a:ext uri="{FF2B5EF4-FFF2-40B4-BE49-F238E27FC236}">
                <a16:creationId xmlns:a16="http://schemas.microsoft.com/office/drawing/2014/main" id="{09C9975A-1AD9-5232-5B5E-883DDBEEB32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4A7D76-F6A4-4671-0C99-4DAB68485BC0}"/>
              </a:ext>
            </a:extLst>
          </p:cNvPr>
          <p:cNvSpPr>
            <a:spLocks noGrp="1"/>
          </p:cNvSpPr>
          <p:nvPr>
            <p:ph type="sldNum" sz="quarter" idx="12"/>
          </p:nvPr>
        </p:nvSpPr>
        <p:spPr/>
        <p:txBody>
          <a:bodyPr/>
          <a:lstStyle/>
          <a:p>
            <a:fld id="{D41FC515-8169-4A29-AA56-DBE520D5741B}" type="slidenum">
              <a:rPr lang="zh-CN" altLang="en-US" smtClean="0"/>
              <a:t>112</a:t>
            </a:fld>
            <a:endParaRPr lang="zh-CN" altLang="en-US"/>
          </a:p>
        </p:txBody>
      </p:sp>
    </p:spTree>
    <p:extLst>
      <p:ext uri="{BB962C8B-B14F-4D97-AF65-F5344CB8AC3E}">
        <p14:creationId xmlns:p14="http://schemas.microsoft.com/office/powerpoint/2010/main" val="9210804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4E73B4-A1B8-5EEB-C4BC-DBD1BA7C8427}"/>
              </a:ext>
            </a:extLst>
          </p:cNvPr>
          <p:cNvSpPr>
            <a:spLocks noGrp="1"/>
          </p:cNvSpPr>
          <p:nvPr>
            <p:ph idx="1"/>
          </p:nvPr>
        </p:nvSpPr>
        <p:spPr>
          <a:xfrm>
            <a:off x="628650" y="347241"/>
            <a:ext cx="7886700" cy="5829722"/>
          </a:xfrm>
        </p:spPr>
        <p:txBody>
          <a:bodyPr>
            <a:noAutofit/>
          </a:bodyPr>
          <a:lstStyle/>
          <a:p>
            <a:r>
              <a:rPr lang="en-US" altLang="zh-CN" sz="1400" b="1" dirty="0"/>
              <a:t>—, Andrew Goodman-Bacon, and Pedro HC Sant’Anna</a:t>
            </a:r>
            <a:r>
              <a:rPr lang="en-US" altLang="zh-CN" sz="1400" dirty="0"/>
              <a:t>, “Difference-in-differences with a continuous treatment,” </a:t>
            </a:r>
            <a:r>
              <a:rPr lang="en-US" altLang="zh-CN" sz="1400" i="1" dirty="0" err="1"/>
              <a:t>arXiv</a:t>
            </a:r>
            <a:r>
              <a:rPr lang="en-US" altLang="zh-CN" sz="1400" i="1" dirty="0"/>
              <a:t> preprint arXiv:2107.02637</a:t>
            </a:r>
            <a:r>
              <a:rPr lang="en-US" altLang="zh-CN" sz="1400" dirty="0"/>
              <a:t>, 2021.</a:t>
            </a:r>
            <a:endParaRPr lang="zh-CN" altLang="en-US" sz="1400" dirty="0"/>
          </a:p>
          <a:p>
            <a:r>
              <a:rPr lang="en-US" altLang="zh-CN" sz="1400" b="1" dirty="0"/>
              <a:t>Card, David</a:t>
            </a:r>
            <a:r>
              <a:rPr lang="en-US" altLang="zh-CN" sz="1400" dirty="0"/>
              <a:t>, “The impact of the Mariel boatlift on the Miami labor market,” </a:t>
            </a:r>
            <a:r>
              <a:rPr lang="en-US" altLang="zh-CN" sz="1400" i="1" dirty="0" err="1"/>
              <a:t>Ilr</a:t>
            </a:r>
            <a:r>
              <a:rPr lang="en-US" altLang="zh-CN" sz="1400" i="1" dirty="0"/>
              <a:t> Review</a:t>
            </a:r>
            <a:r>
              <a:rPr lang="en-US" altLang="zh-CN" sz="1400" dirty="0"/>
              <a:t>, 1990, </a:t>
            </a:r>
            <a:r>
              <a:rPr lang="en-US" altLang="zh-CN" sz="1400" i="1" dirty="0"/>
              <a:t>43 </a:t>
            </a:r>
            <a:r>
              <a:rPr lang="en-US" altLang="zh-CN" sz="1400" dirty="0"/>
              <a:t>(2), 245–257.</a:t>
            </a:r>
          </a:p>
          <a:p>
            <a:r>
              <a:rPr lang="en-US" altLang="zh-CN" sz="1400" b="1" dirty="0"/>
              <a:t>—  and Alan B. Krueger</a:t>
            </a:r>
            <a:r>
              <a:rPr lang="en-US" altLang="zh-CN" sz="1400" dirty="0"/>
              <a:t>, “Minimum Wages and Employment: A Case Study of the Fast-Food Industry in New Jersey and Pennsylvania,” </a:t>
            </a:r>
            <a:r>
              <a:rPr lang="en-US" altLang="zh-CN" sz="1400" i="1" dirty="0"/>
              <a:t>American Economic Review</a:t>
            </a:r>
            <a:r>
              <a:rPr lang="en-US" altLang="zh-CN" sz="1400" dirty="0"/>
              <a:t>, 1994, </a:t>
            </a:r>
            <a:r>
              <a:rPr lang="en-US" altLang="zh-CN" sz="1400" i="1" dirty="0"/>
              <a:t>84 </a:t>
            </a:r>
            <a:r>
              <a:rPr lang="en-US" altLang="zh-CN" sz="1400" dirty="0"/>
              <a:t>(4), 772–793.</a:t>
            </a:r>
          </a:p>
          <a:p>
            <a:r>
              <a:rPr lang="en-US" altLang="zh-CN" sz="1400" b="1" dirty="0"/>
              <a:t>Cengiz, Doruk, Arindrajit Dube, Attila Lindner, and Ben Zipperer</a:t>
            </a:r>
            <a:r>
              <a:rPr lang="en-US" altLang="zh-CN" sz="1400" dirty="0"/>
              <a:t>, “The effect of minimum wages on low-wage jobs,” </a:t>
            </a:r>
            <a:r>
              <a:rPr lang="en-US" altLang="zh-CN" sz="1400" i="1" dirty="0"/>
              <a:t>The Quarterly Journal of Economics</a:t>
            </a:r>
            <a:r>
              <a:rPr lang="en-US" altLang="zh-CN" sz="1400" dirty="0"/>
              <a:t>, 2019, </a:t>
            </a:r>
            <a:r>
              <a:rPr lang="en-US" altLang="zh-CN" sz="1400" i="1" dirty="0"/>
              <a:t>134 </a:t>
            </a:r>
            <a:r>
              <a:rPr lang="en-US" altLang="zh-CN" sz="1400" dirty="0"/>
              <a:t>(3), 1405–1454.</a:t>
            </a:r>
          </a:p>
          <a:p>
            <a:r>
              <a:rPr lang="en-US" altLang="zh-CN" sz="1400" b="1" dirty="0"/>
              <a:t>Currie, Janet, Henrik Kleven, and Esmée Zwiers</a:t>
            </a:r>
            <a:r>
              <a:rPr lang="en-US" altLang="zh-CN" sz="1400" dirty="0"/>
              <a:t>, “Technology and big data are changing economics: Mining text to track methods,” in “AEA Papers and </a:t>
            </a:r>
            <a:r>
              <a:rPr lang="nl-NL" altLang="zh-CN" sz="1400" dirty="0"/>
              <a:t>Proceedings,” Vol. 110 2020, pp. 42–48.</a:t>
            </a:r>
          </a:p>
          <a:p>
            <a:r>
              <a:rPr lang="en-US" altLang="zh-CN" sz="1400" b="1" dirty="0"/>
              <a:t>de </a:t>
            </a:r>
            <a:r>
              <a:rPr lang="en-US" altLang="zh-CN" sz="1400" b="1" dirty="0" err="1"/>
              <a:t>Chaisemartin</a:t>
            </a:r>
            <a:r>
              <a:rPr lang="en-US" altLang="zh-CN" sz="1400" b="1" dirty="0"/>
              <a:t>, Clément and Xavier </a:t>
            </a:r>
            <a:r>
              <a:rPr lang="en-US" altLang="zh-CN" sz="1400" b="1" dirty="0" err="1"/>
              <a:t>d’Haultfoeuille</a:t>
            </a:r>
            <a:r>
              <a:rPr lang="en-US" altLang="zh-CN" sz="1400" dirty="0"/>
              <a:t>, “Two-way fixed effects estimators with heterogeneous treatment effects,” </a:t>
            </a:r>
            <a:r>
              <a:rPr lang="en-US" altLang="zh-CN" sz="1400" i="1" dirty="0"/>
              <a:t>American Economic Review</a:t>
            </a:r>
            <a:r>
              <a:rPr lang="en-US" altLang="zh-CN" sz="1400" dirty="0"/>
              <a:t>, 2020, </a:t>
            </a:r>
            <a:r>
              <a:rPr lang="en-US" altLang="zh-CN" sz="1400" i="1" dirty="0"/>
              <a:t>110 </a:t>
            </a:r>
            <a:r>
              <a:rPr lang="en-US" altLang="zh-CN" sz="1400" dirty="0"/>
              <a:t>(9), 2964–96.</a:t>
            </a:r>
          </a:p>
          <a:p>
            <a:r>
              <a:rPr lang="en-US" altLang="zh-CN" sz="1400" b="1" dirty="0"/>
              <a:t>Duflo, Esther</a:t>
            </a:r>
            <a:r>
              <a:rPr lang="en-US" altLang="zh-CN" sz="1400" dirty="0"/>
              <a:t>, “Schooling and labor market consequences of school construction in Indonesia: Evidence from an unusual policy experiment,” </a:t>
            </a:r>
            <a:r>
              <a:rPr lang="en-US" altLang="zh-CN" sz="1400" i="1" dirty="0"/>
              <a:t>American economic review</a:t>
            </a:r>
            <a:r>
              <a:rPr lang="en-US" altLang="zh-CN" sz="1400" dirty="0"/>
              <a:t>, 2001, </a:t>
            </a:r>
            <a:r>
              <a:rPr lang="en-US" altLang="zh-CN" sz="1400" i="1" dirty="0"/>
              <a:t>91 </a:t>
            </a:r>
            <a:r>
              <a:rPr lang="en-US" altLang="zh-CN" sz="1400" dirty="0"/>
              <a:t>(4), 795–813.</a:t>
            </a:r>
          </a:p>
          <a:p>
            <a:r>
              <a:rPr lang="en-US" altLang="zh-CN" sz="1400" b="1" dirty="0"/>
              <a:t>Gardner, John</a:t>
            </a:r>
            <a:r>
              <a:rPr lang="en-US" altLang="zh-CN" sz="1400" dirty="0"/>
              <a:t>, “Two-stage differences in differences,” </a:t>
            </a:r>
            <a:r>
              <a:rPr lang="en-US" altLang="zh-CN" sz="1400" i="1" dirty="0"/>
              <a:t>Working paper</a:t>
            </a:r>
            <a:r>
              <a:rPr lang="en-US" altLang="zh-CN" sz="1400" dirty="0"/>
              <a:t>, 2021.</a:t>
            </a:r>
          </a:p>
          <a:p>
            <a:r>
              <a:rPr lang="en-US" altLang="zh-CN" sz="1400" b="1" dirty="0"/>
              <a:t>Goldsmith-Pinkham, Paul</a:t>
            </a:r>
            <a:r>
              <a:rPr lang="en-US" altLang="zh-CN" sz="1400" dirty="0"/>
              <a:t>, “Tracking the Credibility Revolution across Fields,” </a:t>
            </a:r>
            <a:r>
              <a:rPr lang="en-US" altLang="zh-CN" sz="1400" i="1" dirty="0" err="1"/>
              <a:t>arXiv</a:t>
            </a:r>
            <a:r>
              <a:rPr lang="en-US" altLang="zh-CN" sz="1400" i="1" dirty="0"/>
              <a:t> preprint arXiv:2405.20604</a:t>
            </a:r>
            <a:r>
              <a:rPr lang="en-US" altLang="zh-CN" sz="1400" dirty="0"/>
              <a:t>, 2024.</a:t>
            </a:r>
          </a:p>
          <a:p>
            <a:r>
              <a:rPr lang="en-US" altLang="zh-CN" sz="1400" b="1" dirty="0"/>
              <a:t>—, Peter Hull, and Michal Kolesár</a:t>
            </a:r>
            <a:r>
              <a:rPr lang="en-US" altLang="zh-CN" sz="1400" dirty="0"/>
              <a:t>, “Contamination Bias in Linear Regressions,” Technical Report, National Bureau of Economic Research 2022.</a:t>
            </a:r>
          </a:p>
          <a:p>
            <a:r>
              <a:rPr lang="en-US" altLang="zh-CN" sz="1400" b="1" dirty="0"/>
              <a:t>Goodman-Bacon, Andrew</a:t>
            </a:r>
            <a:r>
              <a:rPr lang="en-US" altLang="zh-CN" sz="1400" dirty="0"/>
              <a:t>, “Difference-in-differences with variation in treatment timing,” </a:t>
            </a:r>
            <a:r>
              <a:rPr lang="en-US" altLang="zh-CN" sz="1400" i="1" dirty="0"/>
              <a:t>Journal of Econometrics</a:t>
            </a:r>
            <a:r>
              <a:rPr lang="en-US" altLang="zh-CN" sz="1400" dirty="0"/>
              <a:t>, 2021, </a:t>
            </a:r>
            <a:r>
              <a:rPr lang="en-US" altLang="zh-CN" sz="1400" i="1" dirty="0"/>
              <a:t>225 </a:t>
            </a:r>
            <a:r>
              <a:rPr lang="en-US" altLang="zh-CN" sz="1400" dirty="0"/>
              <a:t>(2), 254–277.</a:t>
            </a:r>
          </a:p>
          <a:p>
            <a:endParaRPr lang="zh-CN" altLang="en-US" sz="1400" dirty="0"/>
          </a:p>
        </p:txBody>
      </p:sp>
      <p:sp>
        <p:nvSpPr>
          <p:cNvPr id="4" name="页脚占位符 3">
            <a:extLst>
              <a:ext uri="{FF2B5EF4-FFF2-40B4-BE49-F238E27FC236}">
                <a16:creationId xmlns:a16="http://schemas.microsoft.com/office/drawing/2014/main" id="{4C9C1E0F-49D6-E9DF-55C3-3F7445CC77F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1AA899C-4553-6A18-960C-D17C7F1D6472}"/>
              </a:ext>
            </a:extLst>
          </p:cNvPr>
          <p:cNvSpPr>
            <a:spLocks noGrp="1"/>
          </p:cNvSpPr>
          <p:nvPr>
            <p:ph type="sldNum" sz="quarter" idx="12"/>
          </p:nvPr>
        </p:nvSpPr>
        <p:spPr/>
        <p:txBody>
          <a:bodyPr/>
          <a:lstStyle/>
          <a:p>
            <a:fld id="{D41FC515-8169-4A29-AA56-DBE520D5741B}" type="slidenum">
              <a:rPr lang="zh-CN" altLang="en-US" smtClean="0"/>
              <a:t>113</a:t>
            </a:fld>
            <a:endParaRPr lang="zh-CN" altLang="en-US"/>
          </a:p>
        </p:txBody>
      </p:sp>
    </p:spTree>
    <p:extLst>
      <p:ext uri="{BB962C8B-B14F-4D97-AF65-F5344CB8AC3E}">
        <p14:creationId xmlns:p14="http://schemas.microsoft.com/office/powerpoint/2010/main" val="37833126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9B2E93-3B63-0484-294F-F5C101CBDAE4}"/>
              </a:ext>
            </a:extLst>
          </p:cNvPr>
          <p:cNvSpPr>
            <a:spLocks noGrp="1"/>
          </p:cNvSpPr>
          <p:nvPr>
            <p:ph idx="1"/>
          </p:nvPr>
        </p:nvSpPr>
        <p:spPr>
          <a:xfrm>
            <a:off x="628650" y="358815"/>
            <a:ext cx="7886700" cy="5818148"/>
          </a:xfrm>
        </p:spPr>
        <p:txBody>
          <a:bodyPr>
            <a:normAutofit lnSpcReduction="10000"/>
          </a:bodyPr>
          <a:lstStyle/>
          <a:p>
            <a:r>
              <a:rPr lang="en-US" altLang="zh-CN" sz="1400" b="1" dirty="0"/>
              <a:t>Gruber, Jonathan</a:t>
            </a:r>
            <a:r>
              <a:rPr lang="en-US" altLang="zh-CN" sz="1400" dirty="0"/>
              <a:t>, “The incidence of mandated maternity benefits,” </a:t>
            </a:r>
            <a:r>
              <a:rPr lang="en-US" altLang="zh-CN" sz="1400" i="1" dirty="0"/>
              <a:t>The American economic review</a:t>
            </a:r>
            <a:r>
              <a:rPr lang="en-US" altLang="zh-CN" sz="1400" dirty="0"/>
              <a:t>, 1994, pp. 622–641.</a:t>
            </a:r>
          </a:p>
          <a:p>
            <a:r>
              <a:rPr lang="en-US" altLang="zh-CN" sz="1400" b="1" dirty="0"/>
              <a:t>He, </a:t>
            </a:r>
            <a:r>
              <a:rPr lang="en-US" altLang="zh-CN" sz="1400" b="1" dirty="0" err="1"/>
              <a:t>Guojun</a:t>
            </a:r>
            <a:r>
              <a:rPr lang="en-US" altLang="zh-CN" sz="1400" b="1" dirty="0"/>
              <a:t> and </a:t>
            </a:r>
            <a:r>
              <a:rPr lang="en-US" altLang="zh-CN" sz="1400" b="1" dirty="0" err="1"/>
              <a:t>Shaoda</a:t>
            </a:r>
            <a:r>
              <a:rPr lang="en-US" altLang="zh-CN" sz="1400" b="1" dirty="0"/>
              <a:t> Wang</a:t>
            </a:r>
            <a:r>
              <a:rPr lang="en-US" altLang="zh-CN" sz="1400" dirty="0"/>
              <a:t>, “Do college graduates serving as village officials help rural China?,” </a:t>
            </a:r>
            <a:r>
              <a:rPr lang="en-US" altLang="zh-CN" sz="1400" i="1" dirty="0"/>
              <a:t>American Economic Journal: Applied Economics</a:t>
            </a:r>
            <a:r>
              <a:rPr lang="en-US" altLang="zh-CN" sz="1400" dirty="0"/>
              <a:t>, 2017, </a:t>
            </a:r>
            <a:r>
              <a:rPr lang="en-US" altLang="zh-CN" sz="1400" i="1" dirty="0"/>
              <a:t>9 </a:t>
            </a:r>
            <a:r>
              <a:rPr lang="en-US" altLang="zh-CN" sz="1400" dirty="0"/>
              <a:t>(4), 186–215.</a:t>
            </a:r>
          </a:p>
          <a:p>
            <a:r>
              <a:rPr lang="en-US" altLang="zh-CN" sz="1400" b="1" dirty="0"/>
              <a:t>Heckman, James J, Hidehiko Ichimura, and Petra E Todd</a:t>
            </a:r>
            <a:r>
              <a:rPr lang="en-US" altLang="zh-CN" sz="1400" dirty="0"/>
              <a:t>, “Matching as an econometric evaluation estimator: Evidence from evaluating a job training </a:t>
            </a:r>
            <a:r>
              <a:rPr lang="en-US" altLang="zh-CN" sz="1400" dirty="0" err="1"/>
              <a:t>programme</a:t>
            </a:r>
            <a:r>
              <a:rPr lang="en-US" altLang="zh-CN" sz="1400" dirty="0"/>
              <a:t>,” </a:t>
            </a:r>
            <a:r>
              <a:rPr lang="en-US" altLang="zh-CN" sz="1400" i="1" dirty="0"/>
              <a:t>The review of economic studies</a:t>
            </a:r>
            <a:r>
              <a:rPr lang="en-US" altLang="zh-CN" sz="1400" dirty="0"/>
              <a:t>, 1997, </a:t>
            </a:r>
            <a:r>
              <a:rPr lang="en-US" altLang="zh-CN" sz="1400" i="1" dirty="0"/>
              <a:t>64 </a:t>
            </a:r>
            <a:r>
              <a:rPr lang="en-US" altLang="zh-CN" sz="1400" dirty="0"/>
              <a:t>(4), 605–654.</a:t>
            </a:r>
          </a:p>
          <a:p>
            <a:r>
              <a:rPr lang="en-US" altLang="zh-CN" sz="1400" b="1" dirty="0"/>
              <a:t>—, —, and Petra Todd</a:t>
            </a:r>
            <a:r>
              <a:rPr lang="en-US" altLang="zh-CN" sz="1400" dirty="0"/>
              <a:t>, “Matching as an econometric evaluation estimator,” </a:t>
            </a:r>
            <a:r>
              <a:rPr lang="en-US" altLang="zh-CN" sz="1400" i="1" dirty="0"/>
              <a:t>The review of economic studies</a:t>
            </a:r>
            <a:r>
              <a:rPr lang="en-US" altLang="zh-CN" sz="1400" dirty="0"/>
              <a:t>, 1998, </a:t>
            </a:r>
            <a:r>
              <a:rPr lang="en-US" altLang="zh-CN" sz="1400" i="1" dirty="0"/>
              <a:t>65 </a:t>
            </a:r>
            <a:r>
              <a:rPr lang="en-US" altLang="zh-CN" sz="1400" dirty="0"/>
              <a:t>(2), 261–294.</a:t>
            </a:r>
          </a:p>
          <a:p>
            <a:r>
              <a:rPr lang="en-US" altLang="zh-CN" sz="1400" b="1" dirty="0"/>
              <a:t>Imai, Kosuke and In Song Kim</a:t>
            </a:r>
            <a:r>
              <a:rPr lang="en-US" altLang="zh-CN" sz="1400" dirty="0"/>
              <a:t>, “When should we use unit fixed effects regression models for causal inference with longitudinal data?,” </a:t>
            </a:r>
            <a:r>
              <a:rPr lang="en-US" altLang="zh-CN" sz="1400" i="1" dirty="0"/>
              <a:t>American Journal of Political Science</a:t>
            </a:r>
            <a:r>
              <a:rPr lang="en-US" altLang="zh-CN" sz="1400" dirty="0"/>
              <a:t>, 2019, </a:t>
            </a:r>
            <a:r>
              <a:rPr lang="en-US" altLang="zh-CN" sz="1400" i="1" dirty="0"/>
              <a:t>63 </a:t>
            </a:r>
            <a:r>
              <a:rPr lang="en-US" altLang="zh-CN" sz="1400" dirty="0"/>
              <a:t>(2), 467–490.</a:t>
            </a:r>
          </a:p>
          <a:p>
            <a:r>
              <a:rPr lang="en-US" altLang="zh-CN" sz="1400" b="1" dirty="0" err="1"/>
              <a:t>Imbens</a:t>
            </a:r>
            <a:r>
              <a:rPr lang="en-US" altLang="zh-CN" sz="1400" b="1" dirty="0"/>
              <a:t>, Guido and Yiqing Xu</a:t>
            </a:r>
            <a:r>
              <a:rPr lang="en-US" altLang="zh-CN" sz="1400" dirty="0"/>
              <a:t>, “LaLonde (1986) after Nearly Four Decades: Lessons Learned,” </a:t>
            </a:r>
            <a:r>
              <a:rPr lang="en-US" altLang="zh-CN" sz="1400" i="1" dirty="0" err="1"/>
              <a:t>arXiv</a:t>
            </a:r>
            <a:r>
              <a:rPr lang="en-US" altLang="zh-CN" sz="1400" i="1" dirty="0"/>
              <a:t> preprint arXiv:2406.00827</a:t>
            </a:r>
            <a:r>
              <a:rPr lang="en-US" altLang="zh-CN" sz="1400" dirty="0"/>
              <a:t>, 2024.</a:t>
            </a:r>
          </a:p>
          <a:p>
            <a:r>
              <a:rPr lang="en-US" altLang="zh-CN" sz="1400" b="1" dirty="0" err="1"/>
              <a:t>Imbens</a:t>
            </a:r>
            <a:r>
              <a:rPr lang="en-US" altLang="zh-CN" sz="1400" b="1" dirty="0"/>
              <a:t>, Guido W. and Donald B. Rubin</a:t>
            </a:r>
            <a:r>
              <a:rPr lang="en-US" altLang="zh-CN" sz="1400" dirty="0"/>
              <a:t>, </a:t>
            </a:r>
            <a:r>
              <a:rPr lang="en-US" altLang="zh-CN" sz="1400" i="1" dirty="0"/>
              <a:t>Causal Inference in Statistics, Social, and Biomedical Sciences: An Introduction</a:t>
            </a:r>
            <a:r>
              <a:rPr lang="en-US" altLang="zh-CN" sz="1400" dirty="0"/>
              <a:t>, Cambridge and New York: Cambridge University Press, 2015.</a:t>
            </a:r>
          </a:p>
          <a:p>
            <a:r>
              <a:rPr lang="en-US" altLang="zh-CN" sz="1400" b="1" dirty="0"/>
              <a:t>Nunn, Nathan and Nancy Qian</a:t>
            </a:r>
            <a:r>
              <a:rPr lang="en-US" altLang="zh-CN" sz="1400" dirty="0"/>
              <a:t>, “The potato’s contribution to population and urbanization: evidence from a historical experiment,” </a:t>
            </a:r>
            <a:r>
              <a:rPr lang="en-US" altLang="zh-CN" sz="1400" i="1" dirty="0"/>
              <a:t>The quarterly journal of </a:t>
            </a:r>
            <a:r>
              <a:rPr lang="it-IT" altLang="zh-CN" sz="1400" i="1" dirty="0"/>
              <a:t>economics</a:t>
            </a:r>
            <a:r>
              <a:rPr lang="it-IT" altLang="zh-CN" sz="1400" dirty="0"/>
              <a:t>, 2011, </a:t>
            </a:r>
            <a:r>
              <a:rPr lang="it-IT" altLang="zh-CN" sz="1400" i="1" dirty="0"/>
              <a:t>126 </a:t>
            </a:r>
            <a:r>
              <a:rPr lang="it-IT" altLang="zh-CN" sz="1400" dirty="0"/>
              <a:t>(2), 593–650.</a:t>
            </a:r>
          </a:p>
          <a:p>
            <a:r>
              <a:rPr lang="en-US" altLang="zh-CN" sz="1400" b="1" dirty="0"/>
              <a:t>Qian, Nancy</a:t>
            </a:r>
            <a:r>
              <a:rPr lang="en-US" altLang="zh-CN" sz="1400" dirty="0"/>
              <a:t>, “Missing women and the price of tea in China: The effect of sex-specific earnings on sex imbalance,” </a:t>
            </a:r>
            <a:r>
              <a:rPr lang="en-US" altLang="zh-CN" sz="1400" i="1" dirty="0"/>
              <a:t>The Quarterly Journal of Economics</a:t>
            </a:r>
            <a:r>
              <a:rPr lang="en-US" altLang="zh-CN" sz="1400" dirty="0"/>
              <a:t>, 2008, </a:t>
            </a:r>
            <a:r>
              <a:rPr lang="en-US" altLang="zh-CN" sz="1400" i="1" dirty="0"/>
              <a:t>123 </a:t>
            </a:r>
            <a:r>
              <a:rPr lang="en-US" altLang="zh-CN" sz="1400" dirty="0"/>
              <a:t>(3), 1251–1285.</a:t>
            </a:r>
          </a:p>
          <a:p>
            <a:r>
              <a:rPr lang="en-US" altLang="zh-CN" sz="1400" b="1" dirty="0"/>
              <a:t>Rambachan, Ashesh and Jonathan Roth</a:t>
            </a:r>
            <a:r>
              <a:rPr lang="en-US" altLang="zh-CN" sz="1400" dirty="0"/>
              <a:t>, “A more credible approach to parallel trends,” </a:t>
            </a:r>
            <a:r>
              <a:rPr lang="en-US" altLang="zh-CN" sz="1400" i="1" dirty="0"/>
              <a:t>Review of Economic Studies</a:t>
            </a:r>
            <a:r>
              <a:rPr lang="en-US" altLang="zh-CN" sz="1400" dirty="0"/>
              <a:t>, 2023, </a:t>
            </a:r>
            <a:r>
              <a:rPr lang="en-US" altLang="zh-CN" sz="1400" i="1" dirty="0"/>
              <a:t>90 </a:t>
            </a:r>
            <a:r>
              <a:rPr lang="en-US" altLang="zh-CN" sz="1400" dirty="0"/>
              <a:t>(5), 2555–2591.</a:t>
            </a:r>
          </a:p>
          <a:p>
            <a:r>
              <a:rPr lang="en-US" altLang="zh-CN" sz="1400" b="1" dirty="0"/>
              <a:t>Rosenbaum, Paul R</a:t>
            </a:r>
            <a:r>
              <a:rPr lang="en-US" altLang="zh-CN" sz="1400" dirty="0"/>
              <a:t>, “The role of a second control group in an observational study,” </a:t>
            </a:r>
            <a:r>
              <a:rPr lang="en-US" altLang="zh-CN" sz="1400" i="1" dirty="0"/>
              <a:t>Statistical Science</a:t>
            </a:r>
            <a:r>
              <a:rPr lang="en-US" altLang="zh-CN" sz="1400" dirty="0"/>
              <a:t>, 1987, </a:t>
            </a:r>
            <a:r>
              <a:rPr lang="en-US" altLang="zh-CN" sz="1400" i="1" dirty="0"/>
              <a:t>2 </a:t>
            </a:r>
            <a:r>
              <a:rPr lang="en-US" altLang="zh-CN" sz="1400" dirty="0"/>
              <a:t>(3), 292–306.</a:t>
            </a:r>
          </a:p>
          <a:p>
            <a:endParaRPr lang="zh-CN" altLang="en-US" sz="1400" dirty="0"/>
          </a:p>
        </p:txBody>
      </p:sp>
      <p:sp>
        <p:nvSpPr>
          <p:cNvPr id="4" name="页脚占位符 3">
            <a:extLst>
              <a:ext uri="{FF2B5EF4-FFF2-40B4-BE49-F238E27FC236}">
                <a16:creationId xmlns:a16="http://schemas.microsoft.com/office/drawing/2014/main" id="{E09F20BA-29B7-DAA4-18CF-A837BBF3A5A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8310D82-05CB-C514-48FE-0CAD91837A13}"/>
              </a:ext>
            </a:extLst>
          </p:cNvPr>
          <p:cNvSpPr>
            <a:spLocks noGrp="1"/>
          </p:cNvSpPr>
          <p:nvPr>
            <p:ph type="sldNum" sz="quarter" idx="12"/>
          </p:nvPr>
        </p:nvSpPr>
        <p:spPr/>
        <p:txBody>
          <a:bodyPr/>
          <a:lstStyle/>
          <a:p>
            <a:fld id="{D41FC515-8169-4A29-AA56-DBE520D5741B}" type="slidenum">
              <a:rPr lang="zh-CN" altLang="en-US" smtClean="0"/>
              <a:t>114</a:t>
            </a:fld>
            <a:endParaRPr lang="zh-CN" altLang="en-US"/>
          </a:p>
        </p:txBody>
      </p:sp>
    </p:spTree>
    <p:extLst>
      <p:ext uri="{BB962C8B-B14F-4D97-AF65-F5344CB8AC3E}">
        <p14:creationId xmlns:p14="http://schemas.microsoft.com/office/powerpoint/2010/main" val="7733916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977704C-3D11-389E-CDB8-962EEA82C6D3}"/>
              </a:ext>
            </a:extLst>
          </p:cNvPr>
          <p:cNvSpPr>
            <a:spLocks noGrp="1"/>
          </p:cNvSpPr>
          <p:nvPr>
            <p:ph idx="1"/>
          </p:nvPr>
        </p:nvSpPr>
        <p:spPr>
          <a:xfrm>
            <a:off x="628650" y="648182"/>
            <a:ext cx="7886700" cy="5528781"/>
          </a:xfrm>
        </p:spPr>
        <p:txBody>
          <a:bodyPr>
            <a:normAutofit fontScale="92500"/>
          </a:bodyPr>
          <a:lstStyle/>
          <a:p>
            <a:r>
              <a:rPr lang="en-US" altLang="zh-CN" sz="1400" b="1" dirty="0"/>
              <a:t>Roth, Jonathan</a:t>
            </a:r>
            <a:r>
              <a:rPr lang="en-US" altLang="zh-CN" sz="1400" dirty="0"/>
              <a:t>, “Pretest with caution: Event-study estimates after testing for parallel trends,” </a:t>
            </a:r>
            <a:r>
              <a:rPr lang="en-US" altLang="zh-CN" sz="1400" i="1" dirty="0"/>
              <a:t>American Economic Review: Insights</a:t>
            </a:r>
            <a:r>
              <a:rPr lang="en-US" altLang="zh-CN" sz="1400" dirty="0"/>
              <a:t>, 2022, </a:t>
            </a:r>
            <a:r>
              <a:rPr lang="en-US" altLang="zh-CN" sz="1400" i="1" dirty="0"/>
              <a:t>4 </a:t>
            </a:r>
            <a:r>
              <a:rPr lang="en-US" altLang="zh-CN" sz="1400" dirty="0"/>
              <a:t>(3), 305–322.</a:t>
            </a:r>
          </a:p>
          <a:p>
            <a:r>
              <a:rPr lang="en-US" altLang="zh-CN" sz="1400" b="1" dirty="0"/>
              <a:t>—, Pedro HC Sant’Anna, Alyssa Bilinski, and John Poe</a:t>
            </a:r>
            <a:r>
              <a:rPr lang="en-US" altLang="zh-CN" sz="1400" dirty="0"/>
              <a:t>, “What’s Trending in Difference-in-Differences? A Synthesis of the Recent Econometrics Literature,” </a:t>
            </a:r>
            <a:r>
              <a:rPr lang="en-US" altLang="zh-CN" sz="1400" i="1" dirty="0" err="1"/>
              <a:t>arXiv</a:t>
            </a:r>
            <a:r>
              <a:rPr lang="en-US" altLang="zh-CN" sz="1400" i="1" dirty="0"/>
              <a:t> preprint arXiv:2201.01194</a:t>
            </a:r>
            <a:r>
              <a:rPr lang="en-US" altLang="zh-CN" sz="1400" dirty="0"/>
              <a:t>, 2022.</a:t>
            </a:r>
          </a:p>
          <a:p>
            <a:r>
              <a:rPr lang="en-US" altLang="zh-CN" sz="1400" b="1" dirty="0"/>
              <a:t>—, Pedro HC Sant</a:t>
            </a:r>
            <a:r>
              <a:rPr lang="en-US" altLang="zh-CN" sz="1400" dirty="0"/>
              <a:t>’</a:t>
            </a:r>
            <a:r>
              <a:rPr lang="en-US" altLang="zh-CN" sz="1400" b="1" dirty="0"/>
              <a:t>Anna, Alyssa Bilinski, and John Poe</a:t>
            </a:r>
            <a:r>
              <a:rPr lang="en-US" altLang="zh-CN" sz="1400" dirty="0"/>
              <a:t>, “What’s trending in difference-in-differences? A synthesis of the recent econometrics literature,” </a:t>
            </a:r>
            <a:r>
              <a:rPr lang="en-US" altLang="zh-CN" sz="1400" i="1" dirty="0"/>
              <a:t>Journal of Econometrics</a:t>
            </a:r>
            <a:r>
              <a:rPr lang="en-US" altLang="zh-CN" sz="1400" dirty="0"/>
              <a:t>, 2023, </a:t>
            </a:r>
            <a:r>
              <a:rPr lang="en-US" altLang="zh-CN" sz="1400" i="1" dirty="0"/>
              <a:t>235 </a:t>
            </a:r>
            <a:r>
              <a:rPr lang="en-US" altLang="zh-CN" sz="1400" dirty="0"/>
              <a:t>(2), 2218–2244.</a:t>
            </a:r>
          </a:p>
          <a:p>
            <a:r>
              <a:rPr lang="en-US" altLang="zh-CN" sz="1400" b="1" dirty="0"/>
              <a:t>Sant’Anna, Pedro H. C.</a:t>
            </a:r>
            <a:r>
              <a:rPr lang="en-US" altLang="zh-CN" sz="1400" dirty="0"/>
              <a:t>, “Modern Difference-in-Differences: Better understanding some of the recent advances,” </a:t>
            </a:r>
            <a:r>
              <a:rPr lang="en-US" altLang="zh-CN" sz="1400" i="1" dirty="0"/>
              <a:t>NABE TEC2024 lecture note</a:t>
            </a:r>
            <a:r>
              <a:rPr lang="en-US" altLang="zh-CN" sz="1400" dirty="0"/>
              <a:t>, 2024.</a:t>
            </a:r>
          </a:p>
          <a:p>
            <a:r>
              <a:rPr lang="en-US" altLang="zh-CN" sz="1400" b="1" dirty="0"/>
              <a:t>— and Jun Zhao</a:t>
            </a:r>
            <a:r>
              <a:rPr lang="en-US" altLang="zh-CN" sz="1400" dirty="0"/>
              <a:t>, “Doubly robust difference-in-differences estimators,” </a:t>
            </a:r>
            <a:r>
              <a:rPr lang="en-US" altLang="zh-CN" sz="1400" i="1" dirty="0"/>
              <a:t>Journal of </a:t>
            </a:r>
            <a:r>
              <a:rPr lang="it-IT" altLang="zh-CN" sz="1400" i="1" dirty="0"/>
              <a:t>Econometrics</a:t>
            </a:r>
            <a:r>
              <a:rPr lang="it-IT" altLang="zh-CN" sz="1400" dirty="0"/>
              <a:t>, 2020, </a:t>
            </a:r>
            <a:r>
              <a:rPr lang="it-IT" altLang="zh-CN" sz="1400" i="1" dirty="0"/>
              <a:t>219 </a:t>
            </a:r>
            <a:r>
              <a:rPr lang="it-IT" altLang="zh-CN" sz="1400" dirty="0"/>
              <a:t>(1), 101–122.</a:t>
            </a:r>
          </a:p>
          <a:p>
            <a:r>
              <a:rPr lang="en-US" altLang="zh-CN" sz="1400" b="1" dirty="0"/>
              <a:t>Shahn, Zach, Oliver Dukes, David Richardson, Eric </a:t>
            </a:r>
            <a:r>
              <a:rPr lang="en-US" altLang="zh-CN" sz="1400" b="1" dirty="0" err="1"/>
              <a:t>Tchetgen</a:t>
            </a:r>
            <a:r>
              <a:rPr lang="en-US" altLang="zh-CN" sz="1400" b="1" dirty="0"/>
              <a:t> </a:t>
            </a:r>
            <a:r>
              <a:rPr lang="en-US" altLang="zh-CN" sz="1400" b="1" dirty="0" err="1"/>
              <a:t>Tchetgen</a:t>
            </a:r>
            <a:r>
              <a:rPr lang="en-US" altLang="zh-CN" sz="1400" b="1" dirty="0"/>
              <a:t>, and James Robins</a:t>
            </a:r>
            <a:r>
              <a:rPr lang="en-US" altLang="zh-CN" sz="1400" dirty="0"/>
              <a:t>, “Structural Nested Mean Models Under Parallel Trends </a:t>
            </a:r>
            <a:r>
              <a:rPr lang="fr-FR" altLang="zh-CN" sz="1400" dirty="0"/>
              <a:t>Assumptions,” </a:t>
            </a:r>
            <a:r>
              <a:rPr lang="fr-FR" altLang="zh-CN" sz="1400" i="1" dirty="0"/>
              <a:t>arXiv preprint arXiv:2204.10291</a:t>
            </a:r>
            <a:r>
              <a:rPr lang="fr-FR" altLang="zh-CN" sz="1400" dirty="0"/>
              <a:t>, 2022.</a:t>
            </a:r>
          </a:p>
          <a:p>
            <a:r>
              <a:rPr lang="en-US" altLang="zh-CN" sz="1400" b="1" dirty="0"/>
              <a:t>Sun, Liyang and Sarah Abraham</a:t>
            </a:r>
            <a:r>
              <a:rPr lang="en-US" altLang="zh-CN" sz="1400" dirty="0"/>
              <a:t>, “Estimating dynamic treatment effects in event studies with heterogeneous treatment effects,” </a:t>
            </a:r>
            <a:r>
              <a:rPr lang="en-US" altLang="zh-CN" sz="1400" i="1" dirty="0"/>
              <a:t>Journal of Econometrics</a:t>
            </a:r>
            <a:r>
              <a:rPr lang="en-US" altLang="zh-CN" sz="1400" dirty="0"/>
              <a:t>, 2021, </a:t>
            </a:r>
            <a:r>
              <a:rPr lang="en-US" altLang="zh-CN" sz="1400" i="1" dirty="0"/>
              <a:t>225 </a:t>
            </a:r>
            <a:r>
              <a:rPr lang="en-US" altLang="zh-CN" sz="1400" dirty="0"/>
              <a:t>(2), 175–199.</a:t>
            </a:r>
          </a:p>
          <a:p>
            <a:r>
              <a:rPr lang="en-US" altLang="zh-CN" sz="1400" b="1" dirty="0"/>
              <a:t>Wooldridge, Jeffrey</a:t>
            </a:r>
            <a:r>
              <a:rPr lang="en-US" altLang="zh-CN" sz="1400" dirty="0"/>
              <a:t>, “Two-way fixed effects, the two-way </a:t>
            </a:r>
            <a:r>
              <a:rPr lang="en-US" altLang="zh-CN" sz="1400" dirty="0" err="1"/>
              <a:t>mundlak</a:t>
            </a:r>
            <a:r>
              <a:rPr lang="en-US" altLang="zh-CN" sz="1400" dirty="0"/>
              <a:t> regression, and difference-in-differences estimators,” </a:t>
            </a:r>
            <a:r>
              <a:rPr lang="en-US" altLang="zh-CN" sz="1400" i="1" dirty="0"/>
              <a:t>Available at SSRN 3906345</a:t>
            </a:r>
            <a:r>
              <a:rPr lang="en-US" altLang="zh-CN" sz="1400" dirty="0"/>
              <a:t>, 2021.</a:t>
            </a:r>
          </a:p>
          <a:p>
            <a:r>
              <a:rPr lang="en-US" altLang="zh-CN" sz="1400" b="1" dirty="0"/>
              <a:t>Xu, Yiqing</a:t>
            </a:r>
            <a:r>
              <a:rPr lang="en-US" altLang="zh-CN" sz="1400" dirty="0"/>
              <a:t>, “Causal Inference with Time-Series Cross-Sectional Data: A Reflection,” 2022.</a:t>
            </a:r>
          </a:p>
          <a:p>
            <a:r>
              <a:rPr lang="zh-CN" altLang="en-US" sz="1400" dirty="0"/>
              <a:t>赵西亮</a:t>
            </a:r>
            <a:r>
              <a:rPr lang="en-US" altLang="zh-CN" sz="1400" dirty="0"/>
              <a:t>, “</a:t>
            </a:r>
            <a:r>
              <a:rPr lang="zh-CN" altLang="en-US" sz="1400" dirty="0"/>
              <a:t>双重差分法原理及其最新发展：一个不完全综述</a:t>
            </a:r>
            <a:r>
              <a:rPr lang="en-US" altLang="zh-CN" sz="1400" dirty="0"/>
              <a:t>,” </a:t>
            </a:r>
            <a:r>
              <a:rPr lang="en-US" altLang="zh-CN" sz="1400" i="1" dirty="0"/>
              <a:t>SSRN </a:t>
            </a:r>
            <a:r>
              <a:rPr lang="zh-CN" altLang="en-US" sz="1400" dirty="0"/>
              <a:t>工作论文</a:t>
            </a:r>
            <a:r>
              <a:rPr lang="en-US" altLang="zh-CN" sz="1400" dirty="0"/>
              <a:t>, 2024.</a:t>
            </a:r>
          </a:p>
          <a:p>
            <a:r>
              <a:rPr lang="zh-CN" altLang="en-US" sz="1400" dirty="0"/>
              <a:t>邢春冰和李实</a:t>
            </a:r>
            <a:r>
              <a:rPr lang="en-US" altLang="zh-CN" sz="1400" dirty="0"/>
              <a:t>, “</a:t>
            </a:r>
            <a:r>
              <a:rPr lang="zh-CN" altLang="en-US" sz="1400" dirty="0"/>
              <a:t>扩招“大跃进”、教育机会与大学毕业生就业</a:t>
            </a:r>
            <a:r>
              <a:rPr lang="en-US" altLang="zh-CN" sz="1400" dirty="0"/>
              <a:t>,” </a:t>
            </a:r>
            <a:r>
              <a:rPr lang="zh-CN" altLang="en-US" sz="1400" dirty="0"/>
              <a:t>经济学（季刊）</a:t>
            </a:r>
            <a:r>
              <a:rPr lang="en-US" altLang="zh-CN" sz="1400" dirty="0"/>
              <a:t>, 2011, </a:t>
            </a:r>
            <a:r>
              <a:rPr lang="en-US" altLang="zh-CN" sz="1400" i="1" dirty="0"/>
              <a:t>10 </a:t>
            </a:r>
            <a:r>
              <a:rPr lang="en-US" altLang="zh-CN" sz="1400" dirty="0"/>
              <a:t>(4), 1187—1208.</a:t>
            </a:r>
            <a:endParaRPr lang="zh-CN" altLang="en-US" sz="1400" dirty="0"/>
          </a:p>
          <a:p>
            <a:endParaRPr lang="zh-CN" altLang="en-US" sz="1400" dirty="0"/>
          </a:p>
        </p:txBody>
      </p:sp>
      <p:sp>
        <p:nvSpPr>
          <p:cNvPr id="4" name="页脚占位符 3">
            <a:extLst>
              <a:ext uri="{FF2B5EF4-FFF2-40B4-BE49-F238E27FC236}">
                <a16:creationId xmlns:a16="http://schemas.microsoft.com/office/drawing/2014/main" id="{DCC13220-19DE-2F6F-85C7-00049A6E901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7350523-9B91-D183-2656-B3A4BA3257B3}"/>
              </a:ext>
            </a:extLst>
          </p:cNvPr>
          <p:cNvSpPr>
            <a:spLocks noGrp="1"/>
          </p:cNvSpPr>
          <p:nvPr>
            <p:ph type="sldNum" sz="quarter" idx="12"/>
          </p:nvPr>
        </p:nvSpPr>
        <p:spPr/>
        <p:txBody>
          <a:bodyPr/>
          <a:lstStyle/>
          <a:p>
            <a:fld id="{D41FC515-8169-4A29-AA56-DBE520D5741B}" type="slidenum">
              <a:rPr lang="zh-CN" altLang="en-US" smtClean="0"/>
              <a:t>115</a:t>
            </a:fld>
            <a:endParaRPr lang="zh-CN" altLang="en-US"/>
          </a:p>
        </p:txBody>
      </p:sp>
    </p:spTree>
    <p:extLst>
      <p:ext uri="{BB962C8B-B14F-4D97-AF65-F5344CB8AC3E}">
        <p14:creationId xmlns:p14="http://schemas.microsoft.com/office/powerpoint/2010/main" val="73388102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思源宋体 Heavy"/>
        <a:cs typeface=""/>
      </a:majorFont>
      <a:minorFont>
        <a:latin typeface="Times New Roman"/>
        <a:ea typeface="思源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1330</TotalTime>
  <Words>14533</Words>
  <Application>Microsoft Office PowerPoint</Application>
  <PresentationFormat>全屏显示(4:3)</PresentationFormat>
  <Paragraphs>943</Paragraphs>
  <Slides>115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115</vt:i4>
      </vt:variant>
    </vt:vector>
  </HeadingPairs>
  <TitlesOfParts>
    <vt:vector size="122" baseType="lpstr">
      <vt:lpstr>LMRoman8-Regular-Identity-H</vt:lpstr>
      <vt:lpstr>等线</vt:lpstr>
      <vt:lpstr>宋体</vt:lpstr>
      <vt:lpstr>Arial</vt:lpstr>
      <vt:lpstr>Cambria Math</vt:lpstr>
      <vt:lpstr>Times New Roman</vt:lpstr>
      <vt:lpstr>Office 主题​​</vt:lpstr>
      <vt:lpstr>双重差分法</vt:lpstr>
      <vt:lpstr>目录</vt:lpstr>
      <vt:lpstr>双重差分法</vt:lpstr>
      <vt:lpstr>双重差分法 目标参数</vt:lpstr>
      <vt:lpstr>双重差分法 基本识别条件</vt:lpstr>
      <vt:lpstr>双重差分法 基本识别条件</vt:lpstr>
      <vt:lpstr>双重差分法 因果识别</vt:lpstr>
      <vt:lpstr>双重差分法 因果识别</vt:lpstr>
      <vt:lpstr>双重差分法 Card (1990) 外来移民对本地就业的影响</vt:lpstr>
      <vt:lpstr>双重差分法 Card (1990) 外来移民对本地就业的影响</vt:lpstr>
      <vt:lpstr>双重差分法 Card (1990) 外来移民对本地就业的影响</vt:lpstr>
      <vt:lpstr>双重差分法 Card and Krueger (1994) 最低工资调整对就业的影响</vt:lpstr>
      <vt:lpstr>双重差分法 回归实现</vt:lpstr>
      <vt:lpstr>双重差分法 回归实现</vt:lpstr>
      <vt:lpstr>双重差分法的回归实现 Abadie and Dermisi (2008)911 事件对美国办公楼市场的影响</vt:lpstr>
      <vt:lpstr>双重差分法的回归实现 Abadie and Dermisi (2008)911 事件对美国办公楼市场的影响</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Nunn and Qian (2011) 土豆对人口和城市化的影响</vt:lpstr>
      <vt:lpstr>引入协变量 Nunn and Qian (2011) 土豆对人口和城市化的影响</vt:lpstr>
      <vt:lpstr>引入协变量 Nunn and Qian (2011) 土豆对人口和城市化的影响</vt:lpstr>
      <vt:lpstr>引入协变量 Nunn and Qian (2011) 土豆对人口和城市化的影响</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不随时间变化的协变量𝑋𝑖</vt:lpstr>
      <vt:lpstr>引入协变量 随时间变化的协变量</vt:lpstr>
      <vt:lpstr>引入协变量 随时间变化的协变量</vt:lpstr>
      <vt:lpstr>引入协变量 随时间变化的协变量</vt:lpstr>
      <vt:lpstr>引入协变量 随时间变化的协变量</vt:lpstr>
      <vt:lpstr>引入协变量 随时间变化的协变量</vt:lpstr>
      <vt:lpstr>邢春冰和李实(2011) 大学扩招与大学生失业</vt:lpstr>
      <vt:lpstr>邢春冰和李实(2011) 大学扩招与大学生失业</vt:lpstr>
      <vt:lpstr>邢春冰和李实(2011) 大学扩招与大学生失业</vt:lpstr>
      <vt:lpstr>DID-IV 设计 Duflo (2001), Jackson, Johnson and Persico(2016)</vt:lpstr>
      <vt:lpstr>DID-IV 设计 Duflo (2001)</vt:lpstr>
      <vt:lpstr>DID-IV 设计 Duflo (2001)</vt:lpstr>
      <vt:lpstr>DID-IV 设计 Duflo (2001)</vt:lpstr>
      <vt:lpstr>DID-IV 设计 Duflo (2001)</vt:lpstr>
      <vt:lpstr>DID-IV 设计 Duflo (2001)</vt:lpstr>
      <vt:lpstr>DID-IV 设计 Duflo (2001)</vt:lpstr>
      <vt:lpstr>三重差分法</vt:lpstr>
      <vt:lpstr>三重差分法</vt:lpstr>
      <vt:lpstr>三重差分法</vt:lpstr>
      <vt:lpstr>三重差分法</vt:lpstr>
      <vt:lpstr>三重差分法</vt:lpstr>
      <vt:lpstr>三重差分法</vt:lpstr>
      <vt:lpstr>多期单一政策DID</vt:lpstr>
      <vt:lpstr>多期单一政策DID</vt:lpstr>
      <vt:lpstr>多期单一政策DID 事件研究法设定</vt:lpstr>
      <vt:lpstr>多期单一政策DID 事件研究法设定</vt:lpstr>
      <vt:lpstr>多期单一政策DID 引入不随时间变化的协变量𝑋𝑖</vt:lpstr>
      <vt:lpstr>多期DID Qian (2008)：茶叶价格和消失的女性</vt:lpstr>
      <vt:lpstr>多期DID Qian (2008)：茶叶价格和消失的女性</vt:lpstr>
      <vt:lpstr>交错DID</vt:lpstr>
      <vt:lpstr>交错DID 设计 He and Wang (2017)：大学生村官与农村发展</vt:lpstr>
      <vt:lpstr>交错时间出现的大问题</vt:lpstr>
      <vt:lpstr>TWFE 怎么了？</vt:lpstr>
      <vt:lpstr>de Chaisemartin and d’Haultfoeuille (2020)</vt:lpstr>
      <vt:lpstr>de Chaisemartin and d’Haultfoeuille (2020)</vt:lpstr>
      <vt:lpstr>de Chaisemartin and d’Haultfoeuille (2020)</vt:lpstr>
      <vt:lpstr>de Chaisemartin and d’Haultfoeuille (2020)</vt:lpstr>
      <vt:lpstr>de Chaisemartin and d’Haultfoeuille (2020) 负权重的来源</vt:lpstr>
      <vt:lpstr>de Chaisemartin and d’Haultfoeuille (2020)</vt:lpstr>
      <vt:lpstr>de Chaisemartin and d’Haultfoeuille (2020)</vt:lpstr>
      <vt:lpstr>TWFE 在估计什么 Goodman-Bacon(2021)</vt:lpstr>
      <vt:lpstr>TWFE 在估计什么 Goodman-Bacon(2021)</vt:lpstr>
      <vt:lpstr>TWFE 在估计什么 Goodman-Bacon(2021)</vt:lpstr>
      <vt:lpstr>TWFE 在估计什么 Goodman-Bacon(2021)</vt:lpstr>
      <vt:lpstr>TWFE 在估计什么 Goodman-Bacon(2021)</vt:lpstr>
      <vt:lpstr>事件研究法</vt:lpstr>
      <vt:lpstr>TWFE 在估计什么</vt:lpstr>
      <vt:lpstr>渐近政策下传统方法的问题</vt:lpstr>
      <vt:lpstr>Callaway and Sant’Anna (2021) 的非参数方法</vt:lpstr>
      <vt:lpstr>Callaway and Sant’Anna (2021) 的非参数方法</vt:lpstr>
      <vt:lpstr>Callaway and Sant’Anna (2021) 的非参数方法</vt:lpstr>
      <vt:lpstr>Callaway and Sant’Anna (2021) 的非参数方法</vt:lpstr>
      <vt:lpstr>Callaway and Sant’Anna (2021) 的非参数方法</vt:lpstr>
      <vt:lpstr>Callaway and Sant’Anna (2021) 的非参数方法</vt:lpstr>
      <vt:lpstr>Callaway and Sant’Anna (2021) 的非参数方法</vt:lpstr>
      <vt:lpstr>Callaway and Sant’Anna (2021) 的非参数方法</vt:lpstr>
      <vt:lpstr>Callaway and Sant’Anna (2021) 的非参数方法</vt:lpstr>
      <vt:lpstr>交错DID 的回归实现</vt:lpstr>
      <vt:lpstr>交错DID 的回归实现</vt:lpstr>
      <vt:lpstr>交错DID 的回归实现</vt:lpstr>
      <vt:lpstr>交错DID 的回归实现 引入协变量𝑋𝑖</vt:lpstr>
      <vt:lpstr>交错DID 的回归实现</vt:lpstr>
      <vt:lpstr>交错DID 的回归实现</vt:lpstr>
      <vt:lpstr>多期DID 估计方法 其他相关方法</vt:lpstr>
      <vt:lpstr>多期DID 估计方法 其他相关命令</vt:lpstr>
      <vt:lpstr>大而坏的银行：放松管制与收入分配</vt:lpstr>
      <vt:lpstr>平行趋势检验</vt:lpstr>
      <vt:lpstr>平行趋势检验 诊断工具</vt:lpstr>
      <vt:lpstr>平行趋势检验</vt:lpstr>
      <vt:lpstr>平行趋势检验</vt:lpstr>
      <vt:lpstr>平行趋势检验</vt:lpstr>
      <vt:lpstr>平行趋势检验</vt:lpstr>
      <vt:lpstr>平行趋势检验</vt:lpstr>
      <vt:lpstr>平行趋势检验</vt:lpstr>
      <vt:lpstr>安慰剂检验</vt:lpstr>
      <vt:lpstr>统计推断问题</vt:lpstr>
      <vt:lpstr>利用DID 方法的步骤</vt:lpstr>
      <vt:lpstr>利用DID 方法的步骤</vt:lpstr>
      <vt:lpstr>总结</vt:lpstr>
      <vt:lpstr>参考文献</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Xiliang ZHAO</dc:creator>
  <cp:lastModifiedBy>Xiliang ZHAO</cp:lastModifiedBy>
  <cp:revision>28</cp:revision>
  <dcterms:created xsi:type="dcterms:W3CDTF">2026-08-07T12:10:34Z</dcterms:created>
  <dcterms:modified xsi:type="dcterms:W3CDTF">2026-08-25T01:23:58Z</dcterms:modified>
</cp:coreProperties>
</file>
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3004A-1035-4AD2-BC4A-DB230EAABF41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5C349-FD8F-4A61-B7BE-408729C94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15A7-CEAA-43FE-A0C6-C344D2E1C420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9CB9-29D0-4350-825D-C0AA5096F718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CF1F-4D82-4E39-A2A2-35E2A1D1799F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3615-B586-42F4-9872-6C720AA0F56E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3562-2CF1-4137-BC7A-0E1D3AD82A62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9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C70-57B0-4FDE-A935-0B961BFE496D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AC03-C0A7-4889-9992-72A6D2628D14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2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4344-EBCE-46E1-8116-31474348F6BE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525-4771-468B-A8FB-DAB2047A4270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5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E2B5-2348-4A45-A5B7-02B2B64364E4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5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BAB9-886B-4640-A228-FB1A92425BDE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4183-C876-422B-881A-B6A8D40A16EE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58E5-B2B8-FEBB-8A41-24F534B6F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潜在结果框架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A12E75-A8A7-EF47-8BB0-5705F1BDB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40836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A87B5-ADD5-0E9B-47B3-ABE66DE8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64F06-464E-DE6F-9D6A-778E2D4C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潜在结果框架</a:t>
            </a:r>
            <a:endParaRPr lang="en-US" altLang="zh-CN" dirty="0"/>
          </a:p>
          <a:p>
            <a:pPr lvl="1"/>
            <a:r>
              <a:rPr lang="en-US" altLang="zh-CN" dirty="0"/>
              <a:t>Rubin</a:t>
            </a:r>
            <a:r>
              <a:rPr lang="zh-CN" altLang="en-US" dirty="0"/>
              <a:t>因果模型</a:t>
            </a:r>
            <a:endParaRPr lang="en-US" altLang="zh-CN" dirty="0"/>
          </a:p>
          <a:p>
            <a:pPr lvl="1"/>
            <a:r>
              <a:rPr lang="zh-CN" altLang="en-US" dirty="0"/>
              <a:t>稳定个体干预值假设 </a:t>
            </a:r>
            <a:r>
              <a:rPr lang="en-US" altLang="zh-CN" dirty="0"/>
              <a:t>(SUTVA)</a:t>
            </a:r>
          </a:p>
          <a:p>
            <a:pPr lvl="1"/>
            <a:r>
              <a:rPr lang="zh-CN" altLang="en-US" dirty="0"/>
              <a:t>因果效应参数</a:t>
            </a:r>
            <a:endParaRPr lang="en-US" altLang="zh-CN" dirty="0"/>
          </a:p>
          <a:p>
            <a:pPr lvl="1"/>
            <a:r>
              <a:rPr lang="zh-CN" altLang="en-US" dirty="0"/>
              <a:t>分配机制</a:t>
            </a:r>
            <a:endParaRPr lang="en-US" altLang="zh-CN" dirty="0"/>
          </a:p>
          <a:p>
            <a:pPr lvl="1"/>
            <a:r>
              <a:rPr lang="zh-CN" altLang="en-US" dirty="0"/>
              <a:t>选择偏差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B86CD6-B09C-F2C4-3CDA-90F8A93A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4F68B-43B6-8B82-68CC-3490A8EE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78766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B116E-B714-FFAE-AD34-6E4E49B0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如何定义因果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2F143-0C7F-875B-D263-345203662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zh-CN" dirty="0">
                <a:latin typeface="Palatino Linotype"/>
                <a:cs typeface="Palatino Linotype"/>
              </a:rPr>
              <a:t>Rubin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dirty="0">
                <a:latin typeface="Palatino Linotype"/>
                <a:cs typeface="Palatino Linotype"/>
              </a:rPr>
              <a:t>Causal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spc="-20" dirty="0">
                <a:latin typeface="Palatino Linotype"/>
                <a:cs typeface="Palatino Linotype"/>
              </a:rPr>
              <a:t>Model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dirty="0">
                <a:latin typeface="Palatino Linotype"/>
                <a:cs typeface="Palatino Linotype"/>
              </a:rPr>
              <a:t>(Rubin,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dirty="0">
                <a:latin typeface="Palatino Linotype"/>
                <a:cs typeface="Palatino Linotype"/>
              </a:rPr>
              <a:t>1974;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spc="-20" dirty="0">
                <a:latin typeface="Palatino Linotype"/>
                <a:cs typeface="Palatino Linotype"/>
              </a:rPr>
              <a:t>Holland,</a:t>
            </a:r>
            <a:r>
              <a:rPr lang="it-IT" altLang="zh-CN" spc="30" dirty="0">
                <a:latin typeface="Palatino Linotype"/>
                <a:cs typeface="Palatino Linotype"/>
              </a:rPr>
              <a:t> </a:t>
            </a:r>
            <a:r>
              <a:rPr lang="it-IT" altLang="zh-CN" spc="-10" dirty="0">
                <a:latin typeface="Palatino Linotype"/>
                <a:cs typeface="Palatino Linotype"/>
              </a:rPr>
              <a:t>1986)</a:t>
            </a:r>
            <a:endParaRPr lang="it-IT" altLang="zh-CN" dirty="0">
              <a:latin typeface="Palatino Linotype"/>
              <a:cs typeface="Palatino Linotype"/>
            </a:endParaRPr>
          </a:p>
          <a:p>
            <a:pPr lvl="1"/>
            <a:r>
              <a:rPr lang="zh-CN" altLang="en-US" spc="-10" dirty="0">
                <a:latin typeface="宋体"/>
                <a:cs typeface="宋体"/>
              </a:rPr>
              <a:t>潜在结果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(potential</a:t>
            </a:r>
            <a:r>
              <a:rPr lang="en-US" altLang="zh-CN" spc="4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outcome)</a:t>
            </a:r>
            <a:endParaRPr lang="en-US" altLang="zh-CN" dirty="0">
              <a:latin typeface="Palatino Linotype"/>
              <a:cs typeface="Palatino Linotype"/>
            </a:endParaRPr>
          </a:p>
          <a:p>
            <a:pPr lvl="1"/>
            <a:r>
              <a:rPr lang="zh-CN" altLang="en-US" spc="-10" dirty="0">
                <a:latin typeface="宋体"/>
                <a:cs typeface="宋体"/>
              </a:rPr>
              <a:t>分配机制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(assignment</a:t>
            </a:r>
            <a:r>
              <a:rPr lang="en-US" altLang="zh-CN" spc="-3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mechanism)</a:t>
            </a:r>
            <a:endParaRPr lang="en-US" altLang="zh-CN" dirty="0">
              <a:latin typeface="Palatino Linotype"/>
              <a:cs typeface="Palatino Linotype"/>
            </a:endParaRPr>
          </a:p>
          <a:p>
            <a:pPr lvl="1"/>
            <a:r>
              <a:rPr lang="zh-CN" altLang="en-US" spc="-10" dirty="0">
                <a:latin typeface="宋体"/>
                <a:cs typeface="宋体"/>
              </a:rPr>
              <a:t>稳定性假设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(stable</a:t>
            </a:r>
            <a:r>
              <a:rPr lang="en-US" altLang="zh-CN" spc="2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unit</a:t>
            </a:r>
            <a:r>
              <a:rPr lang="en-US" altLang="zh-CN" spc="5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treatment</a:t>
            </a:r>
            <a:r>
              <a:rPr lang="en-US" altLang="zh-CN" spc="50" dirty="0">
                <a:latin typeface="Palatino Linotype"/>
                <a:cs typeface="Palatino Linotype"/>
              </a:rPr>
              <a:t> </a:t>
            </a:r>
            <a:r>
              <a:rPr lang="en-US" altLang="zh-CN" spc="-25" dirty="0">
                <a:latin typeface="Palatino Linotype"/>
                <a:cs typeface="Palatino Linotype"/>
              </a:rPr>
              <a:t>value</a:t>
            </a:r>
            <a:r>
              <a:rPr lang="en-US" altLang="zh-CN" spc="5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assumption,</a:t>
            </a:r>
            <a:r>
              <a:rPr lang="en-US" altLang="zh-CN" spc="5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SUTVA,</a:t>
            </a:r>
            <a:r>
              <a:rPr lang="en-US" altLang="zh-CN" spc="5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Rubin, 1980)</a:t>
            </a:r>
            <a:endParaRPr lang="en-US" altLang="zh-CN" dirty="0">
              <a:latin typeface="Palatino Linotype"/>
              <a:cs typeface="Palatino Linotype"/>
            </a:endParaRPr>
          </a:p>
          <a:p>
            <a:pPr lvl="1"/>
            <a:endParaRPr lang="zh-CN" altLang="en-US" dirty="0"/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E3798EC3-80CE-9665-63FA-6F39447B83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162" y="4187886"/>
            <a:ext cx="7136188" cy="212401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718289-868E-40AD-2A3E-780BB96A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F4F9217-4799-C0A0-606D-34C28086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17388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E0F68-C196-E4E7-6A7B-A4F9C73C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如何定义因果</a:t>
            </a:r>
            <a:br>
              <a:rPr lang="en-US" altLang="zh-CN" dirty="0"/>
            </a:br>
            <a:r>
              <a:rPr lang="zh-CN" altLang="en-US" sz="2400" dirty="0"/>
              <a:t>潜在结果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39E40-512D-ACAB-40D1-1C3D582728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pc="130" dirty="0">
                    <a:latin typeface="Cambria"/>
                    <a:cs typeface="Cambria"/>
                  </a:rPr>
                  <a:t>𝐷</a:t>
                </a:r>
                <a:r>
                  <a:rPr lang="zh-CN" altLang="en-US" spc="17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表示相互排斥的干预状态或</a:t>
                </a:r>
                <a:r>
                  <a:rPr lang="zh-CN" altLang="en-US" spc="-10" dirty="0">
                    <a:latin typeface="黑体"/>
                    <a:cs typeface="黑体"/>
                  </a:rPr>
                  <a:t>干预分配</a:t>
                </a:r>
                <a:r>
                  <a:rPr lang="zh-CN" altLang="en-US" spc="55" dirty="0">
                    <a:latin typeface="宋体"/>
                    <a:cs typeface="宋体"/>
                  </a:rPr>
                  <a:t>，</a:t>
                </a:r>
                <a:r>
                  <a:rPr lang="zh-CN" altLang="en-US" spc="55" dirty="0">
                    <a:latin typeface="Cambria"/>
                    <a:cs typeface="Cambria"/>
                  </a:rPr>
                  <a:t>𝐷</a:t>
                </a:r>
                <a:r>
                  <a:rPr lang="zh-CN" altLang="en-US" spc="140" dirty="0">
                    <a:latin typeface="Cambria"/>
                    <a:cs typeface="Cambria"/>
                  </a:rPr>
                  <a:t> </a:t>
                </a:r>
                <a:r>
                  <a:rPr lang="en-US" altLang="zh-CN" spc="140" dirty="0">
                    <a:latin typeface="Cambria"/>
                    <a:cs typeface="Cambria"/>
                  </a:rPr>
                  <a:t>= </a:t>
                </a:r>
                <a:r>
                  <a:rPr lang="en-US" altLang="zh-CN" dirty="0">
                    <a:latin typeface="Cambria"/>
                    <a:cs typeface="Cambria"/>
                  </a:rPr>
                  <a:t>{0,</a:t>
                </a:r>
                <a:r>
                  <a:rPr lang="zh-CN" altLang="en-US" spc="-2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1}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2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对于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𝑑</a:t>
                </a:r>
                <a:r>
                  <a:rPr lang="zh-CN" altLang="en-US" spc="30" dirty="0">
                    <a:latin typeface="Cambria"/>
                    <a:cs typeface="Cambria"/>
                  </a:rPr>
                  <a:t> ∈ </a:t>
                </a:r>
                <a:r>
                  <a:rPr lang="zh-CN" altLang="en-US" spc="60" dirty="0">
                    <a:latin typeface="Cambria"/>
                    <a:cs typeface="Cambria"/>
                  </a:rPr>
                  <a:t>𝐷</a:t>
                </a:r>
                <a:r>
                  <a:rPr lang="zh-CN" altLang="en-US" spc="60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相应的</a:t>
                </a:r>
                <a:r>
                  <a:rPr lang="zh-CN" altLang="en-US" spc="-10" dirty="0">
                    <a:latin typeface="黑体"/>
                    <a:cs typeface="黑体"/>
                  </a:rPr>
                  <a:t>潜在结果</a:t>
                </a:r>
                <a:r>
                  <a:rPr lang="zh-CN" altLang="en-US" spc="-170" dirty="0">
                    <a:latin typeface="黑体"/>
                    <a:cs typeface="黑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0" dirty="0">
                    <a:latin typeface="Cambria"/>
                    <a:cs typeface="Cambria"/>
                  </a:rPr>
                  <a:t> </a:t>
                </a:r>
                <a:r>
                  <a:rPr lang="en-US" altLang="zh-CN" spc="-20" dirty="0">
                    <a:latin typeface="Cambria"/>
                    <a:cs typeface="Cambria"/>
                  </a:rPr>
                  <a:t>(</a:t>
                </a:r>
                <a:r>
                  <a:rPr lang="zh-CN" altLang="en-US" spc="-20" dirty="0">
                    <a:latin typeface="Cambria"/>
                    <a:cs typeface="Cambria"/>
                  </a:rPr>
                  <a:t>𝑑</a:t>
                </a:r>
                <a:r>
                  <a:rPr lang="en-US" altLang="zh-CN" spc="-20" dirty="0">
                    <a:latin typeface="Cambria"/>
                    <a:cs typeface="Cambria"/>
                  </a:rPr>
                  <a:t>)</a:t>
                </a:r>
                <a:r>
                  <a:rPr lang="zh-CN" altLang="en-US" spc="-20" dirty="0">
                    <a:latin typeface="宋体"/>
                    <a:cs typeface="宋体"/>
                  </a:rPr>
                  <a:t>（</a:t>
                </a:r>
                <a:r>
                  <a:rPr lang="zh-CN" altLang="en-US" spc="-10" dirty="0">
                    <a:latin typeface="宋体"/>
                    <a:cs typeface="宋体"/>
                  </a:rPr>
                  <a:t>或用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z="3200" baseline="-19841" dirty="0">
                    <a:latin typeface="Cambria"/>
                    <a:cs typeface="Cambria"/>
                  </a:rPr>
                  <a:t>𝑑</a:t>
                </a:r>
                <a:r>
                  <a:rPr lang="zh-CN" altLang="en-US" sz="3200" spc="330" baseline="-19841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表示</a:t>
                </a:r>
                <a:r>
                  <a:rPr lang="zh-CN" altLang="en-US" spc="-515" dirty="0">
                    <a:latin typeface="宋体"/>
                    <a:cs typeface="宋体"/>
                  </a:rPr>
                  <a:t>）</a:t>
                </a:r>
                <a:r>
                  <a:rPr lang="zh-CN" altLang="en-US" spc="-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仅关注二元干预</a:t>
                </a:r>
                <a:r>
                  <a:rPr lang="zh-CN" altLang="en-US" spc="-50" dirty="0">
                    <a:latin typeface="宋体"/>
                    <a:cs typeface="宋体"/>
                  </a:rPr>
                  <a:t>，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10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(1),</a:t>
                </a:r>
                <a:r>
                  <a:rPr lang="zh-CN" altLang="en-US" spc="-35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15" dirty="0">
                    <a:latin typeface="Cambria"/>
                    <a:cs typeface="Cambria"/>
                  </a:rPr>
                  <a:t> </a:t>
                </a:r>
                <a:r>
                  <a:rPr lang="en-US" altLang="zh-CN" spc="-20" dirty="0">
                    <a:latin typeface="Cambria"/>
                    <a:cs typeface="Cambria"/>
                  </a:rPr>
                  <a:t>(0))</a:t>
                </a:r>
                <a:r>
                  <a:rPr lang="zh-CN" altLang="en-US" spc="-20" dirty="0">
                    <a:latin typeface="宋体"/>
                    <a:cs typeface="宋体"/>
                  </a:rPr>
                  <a:t>（</a:t>
                </a:r>
                <a:r>
                  <a:rPr lang="zh-CN" altLang="en-US" spc="-10" dirty="0">
                    <a:latin typeface="宋体"/>
                    <a:cs typeface="宋体"/>
                  </a:rPr>
                  <a:t>或</a:t>
                </a:r>
                <a:r>
                  <a:rPr lang="zh-CN" altLang="en-US" spc="-12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en-US" altLang="zh-CN" sz="3200" baseline="-19841" dirty="0">
                    <a:latin typeface="Cambria"/>
                    <a:cs typeface="Cambria"/>
                  </a:rPr>
                  <a:t>1</a:t>
                </a:r>
                <a:r>
                  <a:rPr lang="en-US" altLang="zh-CN" spc="-20" dirty="0">
                    <a:latin typeface="Cambria"/>
                    <a:cs typeface="Cambria"/>
                  </a:rPr>
                  <a:t>, </a:t>
                </a:r>
                <a:r>
                  <a:rPr lang="zh-CN" altLang="en-US" spc="-10" dirty="0">
                    <a:latin typeface="Cambria"/>
                    <a:cs typeface="Cambria"/>
                  </a:rPr>
                  <a:t>𝑌</a:t>
                </a:r>
                <a:r>
                  <a:rPr lang="en-US" altLang="zh-CN" sz="3200" spc="52" baseline="-19841" dirty="0">
                    <a:latin typeface="Cambria"/>
                    <a:cs typeface="Cambria"/>
                  </a:rPr>
                  <a:t>0</a:t>
                </a:r>
                <a:r>
                  <a:rPr lang="en-US" altLang="zh-CN" spc="-10" dirty="0">
                    <a:latin typeface="Cambria"/>
                    <a:cs typeface="Cambria"/>
                  </a:rPr>
                  <a:t>)</a:t>
                </a:r>
                <a:r>
                  <a:rPr lang="zh-CN" altLang="en-US" spc="-520" dirty="0">
                    <a:latin typeface="宋体"/>
                    <a:cs typeface="宋体"/>
                  </a:rPr>
                  <a:t>）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295"/>
                  </a:spcBef>
                </a:pPr>
                <a:r>
                  <a:rPr lang="zh-CN" altLang="en-US" spc="130" dirty="0">
                    <a:latin typeface="Cambria"/>
                    <a:cs typeface="Cambria"/>
                  </a:rPr>
                  <a:t>𝐷</a:t>
                </a:r>
                <a:r>
                  <a:rPr lang="zh-CN" altLang="en-US" spc="90" dirty="0">
                    <a:latin typeface="Cambria"/>
                    <a:cs typeface="Cambria"/>
                  </a:rPr>
                  <a:t> </a:t>
                </a:r>
                <a:r>
                  <a:rPr lang="en-US" altLang="zh-CN" spc="90" dirty="0">
                    <a:latin typeface="Cambria"/>
                    <a:cs typeface="Cambria"/>
                  </a:rPr>
                  <a:t>= </a:t>
                </a:r>
                <a:r>
                  <a:rPr lang="zh-CN" altLang="en-US" dirty="0">
                    <a:latin typeface="Cambria"/>
                    <a:cs typeface="Cambria"/>
                  </a:rPr>
                  <a:t>𝑑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时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0" dirty="0">
                    <a:latin typeface="Cambria"/>
                    <a:cs typeface="Cambria"/>
                  </a:rPr>
                  <a:t> </a:t>
                </a:r>
                <a:r>
                  <a:rPr lang="en-US" altLang="zh-CN" spc="-20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𝑑</a:t>
                </a:r>
                <a:r>
                  <a:rPr lang="en-US" altLang="zh-CN" spc="40" dirty="0">
                    <a:latin typeface="Cambria"/>
                    <a:cs typeface="Cambria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是观测到的结果，大写表示随机变量，小写表示实现值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2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观测结果和潜在结果的关系</a:t>
                </a:r>
                <a:r>
                  <a:rPr lang="zh-CN" altLang="en-US" spc="-50" dirty="0">
                    <a:latin typeface="宋体"/>
                    <a:cs typeface="宋体"/>
                  </a:rPr>
                  <a:t>为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295"/>
                  </a:spcBef>
                  <a:buNone/>
                </a:pP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260" dirty="0">
                    <a:latin typeface="Cambria"/>
                    <a:cs typeface="Cambria"/>
                  </a:rPr>
                  <a:t> </a:t>
                </a:r>
                <a:r>
                  <a:rPr lang="en-US" altLang="zh-CN" spc="215" dirty="0">
                    <a:latin typeface="Cambria"/>
                    <a:cs typeface="Cambria"/>
                  </a:rPr>
                  <a:t>=</a:t>
                </a:r>
                <a:r>
                  <a:rPr lang="zh-CN" altLang="en-US" spc="55" dirty="0">
                    <a:latin typeface="Cambria"/>
                    <a:cs typeface="Cambria"/>
                  </a:rPr>
                  <a:t> </a:t>
                </a:r>
                <a:r>
                  <a:rPr lang="zh-CN" altLang="en-US" spc="50" dirty="0">
                    <a:latin typeface="Cambria"/>
                    <a:cs typeface="Cambria"/>
                  </a:rPr>
                  <a:t>𝐷𝑌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(1)</a:t>
                </a:r>
                <a:r>
                  <a:rPr lang="zh-CN" altLang="en-US" spc="5" dirty="0">
                    <a:latin typeface="Cambria"/>
                    <a:cs typeface="Cambria"/>
                  </a:rPr>
                  <a:t> </a:t>
                </a:r>
                <a:r>
                  <a:rPr lang="en-US" altLang="zh-CN" spc="215" dirty="0">
                    <a:latin typeface="Cambria"/>
                    <a:cs typeface="Cambria"/>
                  </a:rPr>
                  <a:t>+</a:t>
                </a:r>
                <a:r>
                  <a:rPr lang="zh-CN" altLang="en-US" dirty="0">
                    <a:latin typeface="Cambria"/>
                    <a:cs typeface="Cambria"/>
                  </a:rPr>
                  <a:t> </a:t>
                </a:r>
                <a:r>
                  <a:rPr lang="en-US" altLang="zh-CN" spc="-10" dirty="0">
                    <a:latin typeface="Cambria"/>
                    <a:cs typeface="Cambria"/>
                  </a:rPr>
                  <a:t>(1</a:t>
                </a:r>
                <a:r>
                  <a:rPr lang="zh-CN" altLang="en-US" dirty="0">
                    <a:latin typeface="Cambria"/>
                    <a:cs typeface="Cambria"/>
                  </a:rPr>
                  <a:t> </a:t>
                </a:r>
                <a:r>
                  <a:rPr lang="zh-CN" altLang="en-US" spc="215" dirty="0">
                    <a:latin typeface="Cambria"/>
                    <a:cs typeface="Cambria"/>
                  </a:rPr>
                  <a:t>−</a:t>
                </a:r>
                <a:r>
                  <a:rPr lang="zh-CN" altLang="en-US" dirty="0">
                    <a:latin typeface="Cambria"/>
                    <a:cs typeface="Cambria"/>
                  </a:rPr>
                  <a:t> 𝐷</a:t>
                </a:r>
                <a:r>
                  <a:rPr lang="en-US" altLang="zh-CN" dirty="0">
                    <a:latin typeface="Cambria"/>
                    <a:cs typeface="Cambria"/>
                  </a:rPr>
                  <a:t>)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spc="-25" dirty="0">
                    <a:latin typeface="Cambria"/>
                    <a:cs typeface="Cambria"/>
                  </a:rPr>
                  <a:t>(0)</a:t>
                </a:r>
                <a:r>
                  <a:rPr lang="zh-CN" altLang="en-US" dirty="0">
                    <a:latin typeface="Cambria"/>
                    <a:cs typeface="Cambria"/>
                  </a:rPr>
                  <a:t>	</a:t>
                </a:r>
                <a:r>
                  <a:rPr lang="en-US" altLang="zh-CN" spc="-25" dirty="0">
                    <a:latin typeface="Palatino Linotype"/>
                    <a:cs typeface="Palatino Linotype"/>
                  </a:rPr>
                  <a:t>(1)</a:t>
                </a:r>
                <a:endParaRPr lang="zh-CN" altLang="en-US" dirty="0">
                  <a:latin typeface="Palatino Linotype"/>
                  <a:cs typeface="Palatino Linotype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2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若有多个干预状态，</a:t>
                </a:r>
                <a:r>
                  <a:rPr lang="zh-CN" altLang="en-US" spc="-50" dirty="0">
                    <a:latin typeface="宋体"/>
                    <a:cs typeface="宋体"/>
                  </a:rPr>
                  <a:t>则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29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254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0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pc="725" dirty="0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naryPr>
                        <m:sub>
                          <m:r>
                            <a:rPr lang="en-US" altLang="zh-CN" b="0" i="1" spc="725" dirty="0" smtClean="0">
                              <a:latin typeface="Cambria Math" panose="02040503050406030204" pitchFamily="18" charset="0"/>
                              <a:cs typeface="Cambria"/>
                            </a:rPr>
                            <m:t>𝑑</m:t>
                          </m:r>
                          <m:r>
                            <a:rPr lang="en-US" altLang="zh-CN" i="1" spc="725" dirty="0">
                              <a:latin typeface="Cambria Math" panose="02040503050406030204" pitchFamily="18" charset="0"/>
                              <a:cs typeface="Cambria"/>
                            </a:rPr>
                            <m:t>∈</m:t>
                          </m:r>
                          <m:r>
                            <a:rPr lang="en-US" altLang="zh-CN" i="1" spc="725" dirty="0">
                              <a:latin typeface="Cambria Math" panose="02040503050406030204" pitchFamily="18" charset="0"/>
                              <a:cs typeface="Cambria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  <m:r>
                            <a:rPr lang="zh-CN" altLang="en-US" i="1" spc="-15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"/>
                            </a:rPr>
                            <m:t>(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"/>
                              <a:cs typeface="Cambria"/>
                            </a:rPr>
                            <m:t>𝟙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"/>
                            </a:rPr>
                            <m:t>[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𝐷</m:t>
                          </m:r>
                          <m:r>
                            <a:rPr lang="zh-CN" altLang="en-US" i="1" spc="55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  <m:r>
                            <a:rPr lang="en-US" altLang="zh-CN" i="1" spc="215" dirty="0">
                              <a:latin typeface="Cambria Math" panose="02040503050406030204" pitchFamily="18" charset="0"/>
                              <a:cs typeface="Cambria"/>
                            </a:rPr>
                            <m:t>=</m:t>
                          </m:r>
                          <m:r>
                            <a:rPr lang="zh-CN" altLang="en-US" i="1" spc="55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  <m:r>
                            <a:rPr lang="zh-CN" altLang="en-US" i="1" spc="-20" dirty="0">
                              <a:latin typeface="Cambria Math" panose="02040503050406030204" pitchFamily="18" charset="0"/>
                              <a:cs typeface="Cambria"/>
                            </a:rPr>
                            <m:t>𝑑</m:t>
                          </m:r>
                          <m:r>
                            <a:rPr lang="en-US" altLang="zh-CN" i="1" spc="-20" dirty="0">
                              <a:latin typeface="Cambria Math" panose="02040503050406030204" pitchFamily="18" charset="0"/>
                              <a:cs typeface="Cambria"/>
                            </a:rPr>
                            <m:t>]</m:t>
                          </m:r>
                        </m:e>
                      </m:nary>
                      <m:r>
                        <a:rPr lang="zh-CN" altLang="en-US" i="1" spc="-5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55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15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30" dirty="0" smtClean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spc="30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30" dirty="0" smtClean="0">
                          <a:latin typeface="Cambria Math" panose="02040503050406030204" pitchFamily="18" charset="0"/>
                          <a:cs typeface="Cambria"/>
                        </a:rPr>
                        <m:t>).</m:t>
                      </m:r>
                    </m:oMath>
                  </m:oMathPara>
                </a14:m>
                <a:endParaRPr lang="zh-CN" altLang="en-US" sz="800" dirty="0">
                  <a:latin typeface="Cambria"/>
                  <a:cs typeface="Cambria"/>
                </a:endParaRPr>
              </a:p>
              <a:p>
                <a:pPr marL="88900">
                  <a:lnSpc>
                    <a:spcPct val="100000"/>
                  </a:lnSpc>
                  <a:spcBef>
                    <a:spcPts val="2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因果推断基本问题：不能同时观察到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(1),</a:t>
                </a:r>
                <a:r>
                  <a:rPr lang="zh-CN" altLang="en-US" spc="-55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spc="-20" dirty="0">
                    <a:latin typeface="Cambria"/>
                    <a:cs typeface="Cambria"/>
                  </a:rPr>
                  <a:t>(0))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B39E40-512D-ACAB-40D1-1C3D58272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5F917-7BC4-13E5-638F-E85588CA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DA437-6846-A89E-BCEB-51AE9502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75314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656EB-1571-D6AE-9138-8EF1839C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Rubin </a:t>
            </a:r>
            <a:r>
              <a:rPr lang="zh-CN" altLang="en-US" dirty="0"/>
              <a:t>因果模型</a:t>
            </a:r>
            <a:br>
              <a:rPr lang="en-US" altLang="zh-CN" dirty="0"/>
            </a:br>
            <a:r>
              <a:rPr lang="zh-CN" altLang="en-US" sz="2400" dirty="0"/>
              <a:t>稳定个体干预值假设 </a:t>
            </a:r>
            <a:r>
              <a:rPr lang="en-US" altLang="zh-CN" sz="2400" dirty="0"/>
              <a:t>(SUTVA)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AEFD2A-AC20-1F26-B13C-FEE36CAA28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基本内容</a:t>
                </a:r>
                <a:endParaRPr lang="en-US" altLang="zh-CN" dirty="0"/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没有隐藏的干预变动：干预状态对所有的个体都是相同</a:t>
                </a:r>
                <a:r>
                  <a:rPr lang="zh-CN" altLang="en-US" spc="-50" dirty="0">
                    <a:latin typeface="宋体"/>
                    <a:cs typeface="宋体"/>
                  </a:rPr>
                  <a:t>的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没有交互影响</a:t>
                </a:r>
                <a:r>
                  <a:rPr lang="zh-CN" altLang="en-US" spc="-11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(Cox,</a:t>
                </a:r>
                <a:r>
                  <a:rPr lang="zh-CN" altLang="en-US" spc="114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1957)</a:t>
                </a:r>
                <a:r>
                  <a:rPr lang="zh-CN" altLang="en-US" dirty="0">
                    <a:latin typeface="宋体"/>
                    <a:cs typeface="宋体"/>
                  </a:rPr>
                  <a:t>：</a:t>
                </a:r>
                <a:r>
                  <a:rPr lang="zh-CN" altLang="en-US" spc="-10" dirty="0">
                    <a:latin typeface="宋体"/>
                    <a:cs typeface="宋体"/>
                  </a:rPr>
                  <a:t>意味着个体</a:t>
                </a:r>
                <a:r>
                  <a:rPr lang="zh-CN" altLang="en-US" spc="-11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𝑖</a:t>
                </a:r>
                <a:r>
                  <a:rPr lang="zh-CN" altLang="en-US" spc="10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的潜在结果不会受到个体</a:t>
                </a:r>
                <a:r>
                  <a:rPr lang="zh-CN" altLang="en-US" spc="-11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𝑗</a:t>
                </a:r>
                <a:r>
                  <a:rPr lang="zh-CN" altLang="en-US" spc="114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的干</a:t>
                </a:r>
                <a:r>
                  <a:rPr lang="zh-CN" altLang="en-US" spc="-50" dirty="0">
                    <a:latin typeface="宋体"/>
                    <a:cs typeface="宋体"/>
                  </a:rPr>
                  <a:t>预</a:t>
                </a:r>
                <a:r>
                  <a:rPr lang="zh-CN" altLang="en-US" spc="-10" dirty="0">
                    <a:latin typeface="宋体"/>
                    <a:cs typeface="宋体"/>
                  </a:rPr>
                  <a:t>的影</a:t>
                </a:r>
                <a:r>
                  <a:rPr lang="zh-CN" altLang="en-US" spc="-50" dirty="0">
                    <a:latin typeface="宋体"/>
                    <a:cs typeface="宋体"/>
                  </a:rPr>
                  <a:t>响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baseline="-18518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𝑑</m:t>
                      </m:r>
                      <m:r>
                        <a:rPr lang="en-US" altLang="zh-CN" i="1" baseline="-18518" dirty="0">
                          <a:latin typeface="Cambria Math" panose="02040503050406030204" pitchFamily="18" charset="0"/>
                          <a:cs typeface="Cambria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zh-CN" altLang="en-US" i="1" spc="-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𝑑</m:t>
                      </m:r>
                      <m:r>
                        <a:rPr lang="en-US" altLang="zh-CN" i="1" baseline="-18518" dirty="0">
                          <a:latin typeface="Cambria Math" panose="02040503050406030204" pitchFamily="18" charset="0"/>
                          <a:cs typeface="Cambria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zh-CN" altLang="en-US" i="1" spc="-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65" dirty="0">
                          <a:latin typeface="Cambria Math" panose="02040503050406030204" pitchFamily="18" charset="0"/>
                          <a:cs typeface="Cambria"/>
                        </a:rPr>
                        <m:t>…</m:t>
                      </m:r>
                      <m:r>
                        <a:rPr lang="zh-CN" altLang="en-US" i="1" spc="-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60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zh-CN" altLang="en-US" i="1" spc="-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𝑑</m:t>
                      </m:r>
                      <m:r>
                        <a:rPr lang="zh-CN" altLang="en-US" i="1" baseline="-18518" dirty="0">
                          <a:latin typeface="Cambria Math" panose="02040503050406030204" pitchFamily="18" charset="0"/>
                          <a:cs typeface="Cambria"/>
                        </a:rPr>
                        <m:t>𝑁</m:t>
                      </m:r>
                      <m:r>
                        <a:rPr lang="zh-CN" altLang="en-US" i="1" spc="-22" baseline="-18518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)</m:t>
                      </m:r>
                      <m:r>
                        <a:rPr lang="zh-CN" altLang="en-US" i="1" spc="10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0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15" baseline="-18518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𝑑</m:t>
                      </m:r>
                      <m:r>
                        <a:rPr lang="zh-CN" altLang="en-US" i="1" spc="-15" baseline="-18518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 lvl="1"/>
                <a:endParaRPr lang="en-US" altLang="zh-CN" dirty="0"/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这一假设排除个体间的交互影</a:t>
                </a:r>
                <a:r>
                  <a:rPr lang="zh-CN" altLang="en-US" spc="-50" dirty="0">
                    <a:latin typeface="宋体"/>
                    <a:cs typeface="宋体"/>
                  </a:rPr>
                  <a:t>响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例子：流感疫苗的影</a:t>
                </a:r>
                <a:r>
                  <a:rPr lang="zh-CN" altLang="en-US" spc="-50" dirty="0">
                    <a:latin typeface="宋体"/>
                    <a:cs typeface="宋体"/>
                  </a:rPr>
                  <a:t>响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这一假设排除了经济学中很多有意思的问题</a:t>
                </a:r>
                <a:r>
                  <a:rPr lang="zh-CN" altLang="en-US" spc="-3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比如同群效应</a:t>
                </a:r>
                <a:r>
                  <a:rPr lang="zh-CN" altLang="en-US" spc="-9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(Peer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effect)</a:t>
                </a:r>
                <a:r>
                  <a:rPr lang="zh-CN" altLang="en-US" spc="-35" dirty="0">
                    <a:latin typeface="宋体"/>
                    <a:cs typeface="宋体"/>
                  </a:rPr>
                  <a:t>、</a:t>
                </a:r>
                <a:r>
                  <a:rPr lang="zh-CN" altLang="en-US" spc="-50" dirty="0">
                    <a:latin typeface="宋体"/>
                    <a:cs typeface="宋体"/>
                  </a:rPr>
                  <a:t>邻</a:t>
                </a:r>
                <a:r>
                  <a:rPr lang="zh-CN" altLang="en-US" spc="-10" dirty="0">
                    <a:latin typeface="宋体"/>
                    <a:cs typeface="宋体"/>
                  </a:rPr>
                  <a:t>里效应</a:t>
                </a:r>
                <a:r>
                  <a:rPr lang="zh-CN" altLang="en-US" spc="-114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(neighborhood</a:t>
                </a:r>
                <a:r>
                  <a:rPr lang="en-US" altLang="zh-CN" spc="11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effects)</a:t>
                </a:r>
                <a:r>
                  <a:rPr lang="zh-CN" altLang="en-US" spc="-10" dirty="0">
                    <a:latin typeface="宋体"/>
                    <a:cs typeface="宋体"/>
                  </a:rPr>
                  <a:t>、一般均衡效应</a:t>
                </a:r>
                <a:r>
                  <a:rPr lang="zh-CN" altLang="en-US" spc="-50" dirty="0">
                    <a:latin typeface="宋体"/>
                    <a:cs typeface="宋体"/>
                  </a:rPr>
                  <a:t>等</a:t>
                </a:r>
                <a:endParaRPr lang="zh-CN" altLang="en-US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AEFD2A-AC20-1F26-B13C-FEE36CAA2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36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DD417-B0AD-0FA0-E386-3F2E6FA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1E481D-B00E-405A-A40F-A05B1765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3769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91C3D-9EE1-3A4B-5210-9B56085B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Rubin </a:t>
            </a:r>
            <a:r>
              <a:rPr lang="zh-CN" altLang="en-US" dirty="0"/>
              <a:t>因果模型</a:t>
            </a:r>
            <a:br>
              <a:rPr lang="en-US" altLang="zh-CN" dirty="0"/>
            </a:br>
            <a:r>
              <a:rPr lang="zh-CN" altLang="en-US" sz="2400" dirty="0"/>
              <a:t>稳定个体干预值假设 </a:t>
            </a:r>
            <a:r>
              <a:rPr lang="en-US" altLang="zh-CN" sz="2400" dirty="0"/>
              <a:t>(SUTVA)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0C076-FCAA-C147-DA8C-8543ECD28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pc="-10" dirty="0">
                    <a:latin typeface="宋体"/>
                    <a:cs typeface="宋体"/>
                  </a:rPr>
                  <a:t>但是，在很多情况下，这是一种合理的假设，可以简化分析。因为没有</a:t>
                </a:r>
                <a:r>
                  <a:rPr lang="zh-CN" altLang="en-US" spc="-50" dirty="0">
                    <a:latin typeface="宋体"/>
                    <a:cs typeface="宋体"/>
                  </a:rPr>
                  <a:t>交</a:t>
                </a:r>
                <a:r>
                  <a:rPr lang="zh-CN" altLang="en-US" spc="-10" dirty="0">
                    <a:latin typeface="宋体"/>
                    <a:cs typeface="宋体"/>
                  </a:rPr>
                  <a:t>互影响，从而每个个体的潜在结果仅依赖于他自己受到干预状</a:t>
                </a:r>
                <a:r>
                  <a:rPr lang="zh-CN" altLang="en-US" spc="-50" dirty="0">
                    <a:latin typeface="宋体"/>
                    <a:cs typeface="宋体"/>
                  </a:rPr>
                  <a:t>态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满足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SUTVA</a:t>
                </a:r>
                <a:r>
                  <a:rPr lang="zh-CN" altLang="en-US" spc="5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假设时，个体因果效应就是个体两个潜在结果的简单比较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𝜏</m:t>
                      </m:r>
                      <m:r>
                        <a:rPr lang="zh-CN" altLang="en-US" sz="3200" i="1" baseline="-19841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zh-CN" altLang="en-US" sz="3200" i="1" spc="270" baseline="-1984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3200" i="1" baseline="-19841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</m:t>
                      </m:r>
                      <m:r>
                        <a:rPr lang="zh-CN" altLang="en-US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3200" i="1" spc="-15" baseline="-19841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(0)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放松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SUTVA</a:t>
                </a:r>
                <a:r>
                  <a:rPr lang="zh-CN" altLang="en-US" spc="5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假设是目前因果推断领域最前沿的研究方向之</a:t>
                </a:r>
                <a:r>
                  <a:rPr lang="zh-CN" altLang="en-US" spc="-50" dirty="0">
                    <a:latin typeface="宋体"/>
                    <a:cs typeface="宋体"/>
                  </a:rPr>
                  <a:t>一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0C076-FCAA-C147-DA8C-8543ECD28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FE2B97-8786-3448-6A9D-707E725A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B4A5A-2648-9C21-1505-CED9A47B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73013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6DAD4-485F-93EB-A011-E815AA40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因果效应参数 </a:t>
            </a:r>
            <a:r>
              <a:rPr lang="en-US" altLang="zh-CN" dirty="0"/>
              <a:t>(causal </a:t>
            </a:r>
            <a:r>
              <a:rPr lang="en-US" altLang="zh-CN" dirty="0" err="1"/>
              <a:t>estimands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885C0-20A9-8B31-48B1-DFBF9F9FEE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spc="-90" dirty="0">
                    <a:latin typeface="宋体"/>
                    <a:cs typeface="宋体"/>
                  </a:rPr>
                  <a:t>在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SUTVA</a:t>
                </a:r>
                <a:r>
                  <a:rPr lang="zh-CN" altLang="en-US" spc="3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假设下，可以定义下列因果效应参</a:t>
                </a:r>
                <a:endParaRPr lang="en-US" altLang="zh-CN" spc="-10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个体因果效应</a:t>
                </a:r>
                <a:r>
                  <a:rPr lang="zh-CN" altLang="en-US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zh-CN" altLang="en-US" sz="2800" i="1" spc="270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40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zh-CN" altLang="en-US" i="1" spc="75" dirty="0">
                        <a:latin typeface="Cambria Math" panose="02040503050406030204" pitchFamily="18" charset="0"/>
                        <a:cs typeface="Cambria"/>
                      </a:rPr>
                      <m:t> − 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spc="-15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/>
                      </a:rPr>
                      <m:t>(0)</m:t>
                    </m:r>
                  </m:oMath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平均因果效应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spc="-30" dirty="0">
                    <a:latin typeface="Palatino Linotype"/>
                    <a:cs typeface="Palatino Linotype"/>
                  </a:rPr>
                  <a:t>(Average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treatment</a:t>
                </a:r>
                <a:r>
                  <a:rPr lang="en-US" altLang="zh-CN" spc="7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effect,</a:t>
                </a:r>
                <a:r>
                  <a:rPr lang="en-US" altLang="zh-CN" spc="8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ATE)</a:t>
                </a:r>
                <a:r>
                  <a:rPr lang="zh-CN" altLang="en-US" spc="55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spc="55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spc="82" baseline="-19841" dirty="0">
                        <a:latin typeface="Cambria Math" panose="02040503050406030204" pitchFamily="18" charset="0"/>
                        <a:cs typeface="Cambria"/>
                      </a:rPr>
                      <m:t>𝐴𝑇𝐸</m:t>
                    </m:r>
                    <m:r>
                      <a:rPr lang="en-US" altLang="zh-CN" sz="2800" i="1" spc="270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30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en-US" altLang="zh-CN" i="1" spc="70" dirty="0">
                        <a:latin typeface="Cambria Math" panose="02040503050406030204" pitchFamily="18" charset="0"/>
                        <a:cs typeface="Cambria"/>
                      </a:rPr>
                      <m:t> − 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spc="-15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/>
                      </a:rPr>
                      <m:t>(0)]</m:t>
                    </m:r>
                  </m:oMath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干预组平均因果效应</a:t>
                </a:r>
                <a:r>
                  <a:rPr lang="zh-CN" altLang="en-US" spc="-120" dirty="0">
                    <a:latin typeface="宋体"/>
                    <a:cs typeface="宋体"/>
                  </a:rPr>
                  <a:t> </a:t>
                </a:r>
                <a:r>
                  <a:rPr lang="en-US" altLang="zh-CN" spc="50" dirty="0">
                    <a:latin typeface="Palatino Linotype"/>
                    <a:cs typeface="Palatino Linotype"/>
                  </a:rPr>
                  <a:t>(ATT)</a:t>
                </a:r>
                <a:r>
                  <a:rPr lang="zh-CN" altLang="en-US" spc="50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spc="50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spc="75" baseline="-19841" dirty="0">
                        <a:latin typeface="Cambria Math" panose="02040503050406030204" pitchFamily="18" charset="0"/>
                        <a:cs typeface="Cambria"/>
                      </a:rPr>
                      <m:t>𝐴𝑇𝑇</m:t>
                    </m:r>
                    <m:r>
                      <a:rPr lang="en-US" altLang="zh-CN" sz="2800" i="1" spc="494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50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en-US" altLang="zh-CN" i="1" spc="95" dirty="0">
                        <a:latin typeface="Cambria Math" panose="02040503050406030204" pitchFamily="18" charset="0"/>
                        <a:cs typeface="Cambria"/>
                      </a:rPr>
                      <m:t> −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(0)|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sz="2800" i="1" spc="315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55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en-US" altLang="zh-CN" i="1" spc="-25" dirty="0">
                        <a:latin typeface="Cambria Math" panose="02040503050406030204" pitchFamily="18" charset="0"/>
                        <a:cs typeface="Cambria"/>
                      </a:rPr>
                      <m:t>1]</m:t>
                    </m:r>
                  </m:oMath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控制组平均因果效应</a:t>
                </a:r>
                <a:r>
                  <a:rPr lang="zh-CN" altLang="en-US" spc="-120" dirty="0">
                    <a:latin typeface="宋体"/>
                    <a:cs typeface="宋体"/>
                  </a:rPr>
                  <a:t> </a:t>
                </a:r>
                <a:r>
                  <a:rPr lang="en-US" altLang="zh-CN" spc="50" dirty="0">
                    <a:latin typeface="Palatino Linotype"/>
                    <a:cs typeface="Palatino Linotype"/>
                  </a:rPr>
                  <a:t>(ATC)</a:t>
                </a:r>
                <a:r>
                  <a:rPr lang="zh-CN" altLang="en-US" spc="50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spc="50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spc="75" baseline="-19841" dirty="0">
                        <a:latin typeface="Cambria Math" panose="02040503050406030204" pitchFamily="18" charset="0"/>
                        <a:cs typeface="Cambria"/>
                      </a:rPr>
                      <m:t>𝐴𝑇𝐶</m:t>
                    </m:r>
                    <m:r>
                      <a:rPr lang="zh-CN" altLang="en-US" sz="2800" i="1" spc="390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55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zh-CN" altLang="en-US" i="1" spc="95" dirty="0">
                        <a:latin typeface="Cambria Math" panose="02040503050406030204" pitchFamily="18" charset="0"/>
                        <a:cs typeface="Cambria"/>
                      </a:rPr>
                      <m:t> −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(0)|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zh-CN" altLang="en-US" sz="2800" i="1" spc="322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55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en-US" altLang="zh-CN" i="1" spc="-25" dirty="0">
                        <a:latin typeface="Cambria Math" panose="02040503050406030204" pitchFamily="18" charset="0"/>
                        <a:cs typeface="Cambria"/>
                      </a:rPr>
                      <m:t>0]</m:t>
                    </m:r>
                  </m:oMath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条件平均因果效应</a:t>
                </a:r>
                <a:r>
                  <a:rPr lang="zh-CN" altLang="en-US" spc="-105" dirty="0">
                    <a:latin typeface="宋体"/>
                    <a:cs typeface="宋体"/>
                  </a:rPr>
                  <a:t> 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(CATE)</a:t>
                </a:r>
                <a:r>
                  <a:rPr lang="zh-CN" altLang="en-US" spc="55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spc="55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spc="82" baseline="-19841" dirty="0">
                        <a:latin typeface="Cambria Math" panose="02040503050406030204" pitchFamily="18" charset="0"/>
                        <a:cs typeface="Cambria"/>
                      </a:rPr>
                      <m:t>𝐶𝐴𝑇𝐸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(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/>
                      </a:rPr>
                      <m:t>𝑥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)</m:t>
                    </m:r>
                    <m:r>
                      <a:rPr lang="en-US" altLang="zh-CN" i="1" spc="140" dirty="0">
                        <a:latin typeface="Cambria Math" panose="02040503050406030204" pitchFamily="18" charset="0"/>
                        <a:cs typeface="Cambria"/>
                      </a:rPr>
                      <m:t> =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𝐸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en-US" altLang="zh-CN" i="1" spc="100" dirty="0">
                        <a:latin typeface="Cambria Math" panose="02040503050406030204" pitchFamily="18" charset="0"/>
                        <a:cs typeface="Cambria"/>
                      </a:rPr>
                      <m:t> −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(0)|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𝑋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sz="2800" i="1" spc="337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60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spc="-25" dirty="0">
                        <a:latin typeface="Cambria Math" panose="02040503050406030204" pitchFamily="18" charset="0"/>
                        <a:cs typeface="Cambria"/>
                      </a:rPr>
                      <m:t>𝑥</m:t>
                    </m:r>
                    <m:r>
                      <a:rPr lang="en-US" altLang="zh-CN" i="1" spc="-25" dirty="0">
                        <a:latin typeface="Cambria Math" panose="02040503050406030204" pitchFamily="18" charset="0"/>
                        <a:cs typeface="Cambria"/>
                      </a:rPr>
                      <m:t>]</m:t>
                    </m:r>
                  </m:oMath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分位数因果效应</a:t>
                </a:r>
                <a:r>
                  <a:rPr lang="zh-CN" altLang="en-US" spc="-13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(QTE)</a:t>
                </a:r>
                <a:r>
                  <a:rPr lang="zh-CN" altLang="en-US" dirty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cs typeface="Cambria"/>
                      </a:rPr>
                      <m:t>𝜏</m:t>
                    </m:r>
                    <m:r>
                      <a:rPr lang="zh-CN" altLang="en-US" sz="2800" i="1" baseline="-19841" dirty="0">
                        <a:latin typeface="Cambria Math" panose="02040503050406030204" pitchFamily="18" charset="0"/>
                        <a:cs typeface="Cambria"/>
                      </a:rPr>
                      <m:t>𝑞</m:t>
                    </m:r>
                    <m:r>
                      <a:rPr lang="zh-CN" altLang="en-US" sz="2800" i="1" spc="330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150" dirty="0">
                        <a:latin typeface="Cambria Math" panose="02040503050406030204" pitchFamily="18" charset="0"/>
                        <a:cs typeface="Cambria"/>
                      </a:rPr>
                      <m:t>= </m:t>
                    </m:r>
                    <m:r>
                      <a:rPr lang="zh-CN" altLang="en-US" i="1" spc="75" dirty="0">
                        <a:latin typeface="Cambria Math" panose="02040503050406030204" pitchFamily="18" charset="0"/>
                        <a:cs typeface="Cambria"/>
                      </a:rPr>
                      <m:t>𝑄</m:t>
                    </m:r>
                    <m:r>
                      <a:rPr lang="zh-CN" altLang="en-US" sz="2800" i="1" spc="112" baseline="-1984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spc="15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sz="2800" i="1" baseline="-19841" dirty="0">
                        <a:latin typeface="Cambria Math" panose="02040503050406030204" pitchFamily="18" charset="0"/>
                        <a:cs typeface="Cambria"/>
                      </a:rPr>
                      <m:t>(1)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𝑞</m:t>
                    </m:r>
                    <m:r>
                      <a:rPr lang="en-US" altLang="zh-CN" i="1" spc="65" dirty="0">
                        <a:latin typeface="Cambria Math" panose="02040503050406030204" pitchFamily="18" charset="0"/>
                        <a:cs typeface="Cambria"/>
                      </a:rPr>
                      <m:t>) − </m:t>
                    </m:r>
                    <m:r>
                      <a:rPr lang="zh-CN" altLang="en-US" i="1" spc="75" dirty="0">
                        <a:latin typeface="Cambria Math" panose="02040503050406030204" pitchFamily="18" charset="0"/>
                        <a:cs typeface="Cambria"/>
                      </a:rPr>
                      <m:t>𝑄</m:t>
                    </m:r>
                    <m:r>
                      <a:rPr lang="zh-CN" altLang="en-US" sz="2800" i="1" spc="112" baseline="-1984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2800" i="1" spc="15" baseline="-19841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sz="2800" i="1" spc="-15" baseline="-19841" dirty="0">
                        <a:latin typeface="Cambria Math" panose="02040503050406030204" pitchFamily="18" charset="0"/>
                        <a:cs typeface="Cambria"/>
                      </a:rPr>
                      <m:t>(0)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Cambria"/>
                      </a:rPr>
                      <m:t>𝑞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/>
                      </a:rPr>
                      <m:t>)</m:t>
                    </m:r>
                  </m:oMath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这些因果效应参数依赖于个体的两个潜在结果，都是不可观测的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Cambria"/>
                  <a:cs typeface="Cambria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885C0-20A9-8B31-48B1-DFBF9F9FEE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081"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F4F23-42FF-C9B1-495A-37768596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029EF-FF8C-02AB-D358-A0E7A7F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02481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5869A-8DBE-6D05-2FF0-120020E0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因果效应测度：平均因果效</a:t>
            </a:r>
            <a:r>
              <a:rPr lang="zh-CN" altLang="en-US" spc="-50" dirty="0">
                <a:latin typeface="宋体"/>
                <a:cs typeface="宋体"/>
              </a:rPr>
              <a:t>应</a:t>
            </a:r>
            <a:endParaRPr lang="zh-CN" altLang="en-US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587F3604-00C6-455C-3A0D-8AA32221A5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1928280"/>
            <a:ext cx="7886700" cy="414602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69FF1-FAF7-7961-BA8D-BF63D486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0A188E55-77FD-A6C6-60A3-150C8511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67885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B4442-35D6-FBF7-7B88-7165A769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/>
                <a:cs typeface="宋体"/>
              </a:rPr>
              <a:t>因果效应测度：干预组平均因果效</a:t>
            </a:r>
            <a:r>
              <a:rPr lang="zh-CN" altLang="en-US" spc="-50" dirty="0">
                <a:latin typeface="宋体"/>
                <a:cs typeface="宋体"/>
              </a:rPr>
              <a:t>应</a:t>
            </a:r>
            <a:endParaRPr lang="zh-CN" altLang="en-US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7D79DAD-78AB-1391-281D-B647CEAC2A3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1888267"/>
            <a:ext cx="7886700" cy="422605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D1E4F-111C-661F-05CD-4D246DC2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29EDFBB-8A22-291C-C2F4-ABA12438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729242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04E3D-8928-D079-BF43-15DCF4EC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zh-CN" altLang="en-US" dirty="0"/>
              <a:t>如何定义因</a:t>
            </a:r>
            <a:r>
              <a:rPr lang="zh-CN" altLang="en-US" spc="-50" dirty="0"/>
              <a:t>果</a:t>
            </a:r>
            <a:br>
              <a:rPr lang="zh-CN" altLang="en-US" sz="8000" dirty="0"/>
            </a:br>
            <a:r>
              <a:rPr lang="zh-CN" altLang="en-US" sz="2700" spc="-10" dirty="0"/>
              <a:t>因果效应参数</a:t>
            </a:r>
            <a:r>
              <a:rPr lang="zh-CN" altLang="en-US" sz="2700" spc="-65" dirty="0"/>
              <a:t> </a:t>
            </a:r>
            <a:r>
              <a:rPr lang="en-US" altLang="zh-CN" sz="2700" dirty="0">
                <a:latin typeface="Palatino Linotype"/>
                <a:cs typeface="Palatino Linotype"/>
              </a:rPr>
              <a:t>(causal</a:t>
            </a:r>
            <a:r>
              <a:rPr lang="en-US" altLang="zh-CN" sz="2700" spc="135" dirty="0">
                <a:latin typeface="Palatino Linotype"/>
                <a:cs typeface="Palatino Linotype"/>
              </a:rPr>
              <a:t> </a:t>
            </a:r>
            <a:r>
              <a:rPr lang="en-US" altLang="zh-CN" sz="2700" spc="-10" dirty="0" err="1">
                <a:latin typeface="Palatino Linotype"/>
                <a:cs typeface="Palatino Linotype"/>
              </a:rPr>
              <a:t>estimands</a:t>
            </a:r>
            <a:r>
              <a:rPr lang="en-US" altLang="zh-CN" sz="2700" spc="-10" dirty="0">
                <a:latin typeface="Palatino Linotype"/>
                <a:cs typeface="Palatino Linotype"/>
              </a:rPr>
              <a:t>)</a:t>
            </a:r>
            <a:endParaRPr lang="zh-CN" altLang="en-US" sz="2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F722AC-3D10-978A-98A9-CF7FF71C04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spc="-10" dirty="0">
                    <a:latin typeface="宋体"/>
                    <a:cs typeface="宋体"/>
                  </a:rPr>
                  <a:t>感兴趣的参数是</a:t>
                </a:r>
                <a:r>
                  <a:rPr lang="zh-CN" altLang="en-US" spc="-4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{</a:t>
                </a:r>
                <a:r>
                  <a:rPr lang="zh-CN" altLang="en-US" dirty="0">
                    <a:latin typeface="Cambria"/>
                    <a:cs typeface="Cambria"/>
                  </a:rPr>
                  <a:t>𝑌 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𝑑</a:t>
                </a:r>
                <a:r>
                  <a:rPr lang="en-US" altLang="zh-CN" dirty="0">
                    <a:latin typeface="Cambria"/>
                    <a:cs typeface="Cambria"/>
                  </a:rPr>
                  <a:t>)}</a:t>
                </a:r>
                <a:r>
                  <a:rPr lang="zh-CN" altLang="en-US" sz="3200" baseline="-19841" dirty="0">
                    <a:latin typeface="Cambria"/>
                    <a:cs typeface="Cambria"/>
                  </a:rPr>
                  <a:t>𝑑∈𝐷</a:t>
                </a:r>
                <a:r>
                  <a:rPr lang="zh-CN" altLang="en-US" sz="3200" spc="330" baseline="-19841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的函数（部分是未观测变量</a:t>
                </a:r>
                <a:endParaRPr lang="en-US" altLang="zh-CN" spc="-10" dirty="0">
                  <a:latin typeface="宋体"/>
                  <a:cs typeface="宋体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利用观测变量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5" dirty="0">
                    <a:latin typeface="Cambria"/>
                    <a:cs typeface="Cambria"/>
                  </a:rPr>
                  <a:t> </a:t>
                </a:r>
                <a:r>
                  <a:rPr lang="en-US" altLang="zh-CN" spc="-5" dirty="0">
                    <a:latin typeface="Cambria"/>
                    <a:cs typeface="Cambria"/>
                  </a:rPr>
                  <a:t>, </a:t>
                </a:r>
                <a:r>
                  <a:rPr lang="zh-CN" altLang="en-US" spc="65" dirty="0">
                    <a:latin typeface="Cambria"/>
                    <a:cs typeface="Cambria"/>
                  </a:rPr>
                  <a:t>𝐷</a:t>
                </a:r>
                <a:r>
                  <a:rPr lang="en-US" altLang="zh-CN" spc="85" dirty="0">
                    <a:latin typeface="Cambria"/>
                    <a:cs typeface="Cambria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获得该函数的知识</a:t>
                </a:r>
                <a:r>
                  <a:rPr lang="zh-CN" altLang="en-US" spc="-50" dirty="0">
                    <a:latin typeface="宋体"/>
                    <a:cs typeface="宋体"/>
                  </a:rPr>
                  <a:t>？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考虑职业培训和收入的例子，假设我们想知道该项目对参与者的平均效应</a:t>
                </a:r>
                <a:endParaRPr lang="en-US" altLang="zh-CN" spc="-10" dirty="0">
                  <a:latin typeface="宋体"/>
                  <a:cs typeface="宋体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pc="55" dirty="0" smtClean="0">
                          <a:latin typeface="Cambria Math" panose="02040503050406030204" pitchFamily="18" charset="0"/>
                          <a:cs typeface="Cambria"/>
                        </a:rPr>
                        <m:t>𝜏</m:t>
                      </m:r>
                      <m:r>
                        <a:rPr lang="zh-CN" altLang="en-US" sz="3200" i="1" spc="82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𝐴𝑇</m:t>
                      </m:r>
                      <m:r>
                        <a:rPr lang="en-US" altLang="zh-CN" sz="3200" i="1" spc="-82" baseline="-1984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3200" i="1" spc="75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𝑇</m:t>
                      </m:r>
                      <m:r>
                        <a:rPr lang="en-US" altLang="zh-CN" sz="3200" i="1" spc="390" baseline="-1984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55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(1)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35" dirty="0" smtClean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(1)|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=1]−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b="0" i="1" spc="-35" dirty="0" smtClean="0">
                          <a:latin typeface="Cambria Math" panose="02040503050406030204" pitchFamily="18" charset="0"/>
                          <a:cs typeface="Cambria"/>
                        </a:rPr>
                        <m:t>=1].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spc="-80" dirty="0">
                    <a:latin typeface="宋体"/>
                    <a:cs typeface="宋体"/>
                  </a:rPr>
                  <a:t>第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1</a:t>
                </a:r>
                <a:r>
                  <a:rPr lang="zh-CN" altLang="en-US" spc="6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项是总体分布的函数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dirty="0">
                    <a:latin typeface="Cambria"/>
                    <a:cs typeface="Cambria"/>
                  </a:rPr>
                  <a:t>𝐸</a:t>
                </a:r>
                <a:r>
                  <a:rPr lang="en-US" altLang="zh-CN" dirty="0">
                    <a:latin typeface="Cambria"/>
                    <a:cs typeface="Cambria"/>
                  </a:rPr>
                  <a:t>[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(1)|</a:t>
                </a:r>
                <a:r>
                  <a:rPr lang="zh-CN" altLang="en-US" dirty="0">
                    <a:latin typeface="Cambria"/>
                    <a:cs typeface="Cambria"/>
                  </a:rPr>
                  <a:t>𝐷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= </a:t>
                </a:r>
                <a:r>
                  <a:rPr lang="en-US" altLang="zh-CN" spc="-25" dirty="0">
                    <a:latin typeface="Cambria"/>
                    <a:cs typeface="Cambria"/>
                  </a:rPr>
                  <a:t>1]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= </a:t>
                </a:r>
                <a:r>
                  <a:rPr lang="zh-CN" altLang="en-US" dirty="0">
                    <a:latin typeface="Cambria"/>
                    <a:cs typeface="Cambria"/>
                  </a:rPr>
                  <a:t>𝐸</a:t>
                </a:r>
                <a:r>
                  <a:rPr lang="en-US" altLang="zh-CN" dirty="0">
                    <a:latin typeface="Cambria"/>
                    <a:cs typeface="Cambria"/>
                  </a:rPr>
                  <a:t>[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|</a:t>
                </a:r>
                <a:r>
                  <a:rPr lang="zh-CN" altLang="en-US" dirty="0">
                    <a:latin typeface="Cambria"/>
                    <a:cs typeface="Cambria"/>
                  </a:rPr>
                  <a:t>𝐷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= </a:t>
                </a:r>
                <a:r>
                  <a:rPr lang="en-US" altLang="zh-CN" spc="-75" dirty="0">
                    <a:latin typeface="Cambria"/>
                    <a:cs typeface="Cambria"/>
                  </a:rPr>
                  <a:t>1]</a:t>
                </a:r>
                <a:r>
                  <a:rPr lang="zh-CN" altLang="en-US" spc="-7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可以利用样本来</a:t>
                </a:r>
                <a:r>
                  <a:rPr lang="zh-CN" altLang="en-US" spc="-50" dirty="0">
                    <a:latin typeface="宋体"/>
                    <a:cs typeface="宋体"/>
                  </a:rPr>
                  <a:t>获</a:t>
                </a:r>
                <a:r>
                  <a:rPr lang="zh-CN" altLang="en-US" spc="-10" dirty="0">
                    <a:latin typeface="宋体"/>
                    <a:cs typeface="宋体"/>
                  </a:rPr>
                  <a:t>得这一总体参数的估计（统计推断</a:t>
                </a:r>
                <a:r>
                  <a:rPr lang="zh-CN" altLang="en-US" spc="-459" dirty="0">
                    <a:latin typeface="宋体"/>
                    <a:cs typeface="宋体"/>
                  </a:rPr>
                  <a:t>）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75" dirty="0">
                    <a:latin typeface="宋体"/>
                    <a:cs typeface="宋体"/>
                  </a:rPr>
                  <a:t>第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2</a:t>
                </a:r>
                <a:r>
                  <a:rPr lang="zh-CN" altLang="en-US" spc="8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项是</a:t>
                </a:r>
                <a:r>
                  <a:rPr lang="zh-CN" altLang="en-US" spc="-10" dirty="0">
                    <a:latin typeface="黑体"/>
                    <a:cs typeface="黑体"/>
                  </a:rPr>
                  <a:t>识别问题，在什么样的假设下，才能获得</a:t>
                </a:r>
                <a:r>
                  <a:rPr lang="zh-CN" altLang="en-US" spc="-140" dirty="0">
                    <a:latin typeface="黑体"/>
                    <a:cs typeface="黑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𝐸</a:t>
                </a:r>
                <a:r>
                  <a:rPr lang="en-US" altLang="zh-CN" dirty="0">
                    <a:latin typeface="Cambria"/>
                    <a:cs typeface="Cambria"/>
                  </a:rPr>
                  <a:t>[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(0)|</a:t>
                </a:r>
                <a:r>
                  <a:rPr lang="zh-CN" altLang="en-US" dirty="0">
                    <a:latin typeface="Cambria"/>
                    <a:cs typeface="Cambria"/>
                  </a:rPr>
                  <a:t>𝐷</a:t>
                </a:r>
                <a:r>
                  <a:rPr lang="zh-CN" altLang="en-US" spc="75" dirty="0">
                    <a:latin typeface="Cambria"/>
                    <a:cs typeface="Cambria"/>
                  </a:rPr>
                  <a:t> </a:t>
                </a:r>
                <a:r>
                  <a:rPr lang="en-US" altLang="zh-CN" spc="75" dirty="0">
                    <a:latin typeface="Cambria"/>
                    <a:cs typeface="Cambria"/>
                  </a:rPr>
                  <a:t>= </a:t>
                </a:r>
                <a:r>
                  <a:rPr lang="en-US" altLang="zh-CN" spc="-10" dirty="0">
                    <a:latin typeface="Cambria"/>
                    <a:cs typeface="Cambria"/>
                  </a:rPr>
                  <a:t>1]</a:t>
                </a:r>
                <a:r>
                  <a:rPr lang="zh-CN" altLang="en-US" spc="10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黑体"/>
                    <a:cs typeface="黑体"/>
                  </a:rPr>
                  <a:t>的知识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r>
                  <a:rPr lang="zh-CN" altLang="en-US" spc="-10" dirty="0">
                    <a:latin typeface="宋体"/>
                    <a:cs typeface="宋体"/>
                  </a:rPr>
                  <a:t>对分配机制的假设和了解，对识别因果效应非常重要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F722AC-3D10-978A-98A9-CF7FF71C0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081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B7B3F9-A247-36FB-D4AD-18587BEE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1BDF9-91FA-E59C-854F-45D4A662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423431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889FA-DBCB-B620-F529-05332056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zh-CN" altLang="en-US" dirty="0"/>
              <a:t>如何定义因</a:t>
            </a:r>
            <a:r>
              <a:rPr lang="zh-CN" altLang="en-US" spc="-50" dirty="0"/>
              <a:t>果</a:t>
            </a:r>
            <a:br>
              <a:rPr lang="zh-CN" altLang="en-US" dirty="0"/>
            </a:br>
            <a:r>
              <a:rPr lang="zh-CN" altLang="en-US" sz="2400" spc="-10" dirty="0"/>
              <a:t>分配机</a:t>
            </a:r>
            <a:r>
              <a:rPr lang="zh-CN" altLang="en-US" sz="2400" spc="-50" dirty="0"/>
              <a:t>制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303914-4C87-394D-8ECF-9340D5827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分配机制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spc="55" dirty="0" smtClean="0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spc="55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spc="55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i="1" spc="-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-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(1),</m:t>
                      </m:r>
                      <m:r>
                        <a:rPr lang="en-US" altLang="zh-CN" i="1" spc="-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-20" dirty="0">
                          <a:latin typeface="Cambria Math" panose="02040503050406030204" pitchFamily="18" charset="0"/>
                          <a:cs typeface="Cambria"/>
                        </a:rPr>
                        <m:t> (0)]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	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Palatino Linotype"/>
                        </a:rPr>
                        <m:t>(2)</m:t>
                      </m:r>
                    </m:oMath>
                  </m:oMathPara>
                </a14:m>
                <a:endParaRPr lang="en-US" altLang="zh-CN" dirty="0">
                  <a:latin typeface="Palatino Linotype"/>
                  <a:cs typeface="Palatino Linotype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6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称为</a:t>
                </a:r>
                <a:r>
                  <a:rPr lang="zh-CN" altLang="en-US" spc="-10" dirty="0">
                    <a:latin typeface="黑体"/>
                    <a:cs typeface="黑体"/>
                  </a:rPr>
                  <a:t>协变量或控制变量，是不受干预影响的变量</a:t>
                </a:r>
                <a:r>
                  <a:rPr lang="zh-CN" altLang="en-US" spc="-10" dirty="0">
                    <a:latin typeface="宋体"/>
                    <a:cs typeface="宋体"/>
                  </a:rPr>
                  <a:t>，通常是干预之前的变量</a:t>
                </a:r>
                <a:r>
                  <a:rPr lang="zh-CN" altLang="en-US" spc="-50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因而，也称</a:t>
                </a:r>
                <a:r>
                  <a:rPr lang="zh-CN" altLang="en-US" spc="-15" dirty="0">
                    <a:latin typeface="宋体"/>
                    <a:cs typeface="宋体"/>
                  </a:rPr>
                  <a:t>为</a:t>
                </a:r>
                <a:r>
                  <a:rPr lang="zh-CN" altLang="en-US" spc="-10" dirty="0">
                    <a:latin typeface="黑体"/>
                    <a:cs typeface="黑体"/>
                  </a:rPr>
                  <a:t>干预前变量</a:t>
                </a:r>
                <a:r>
                  <a:rPr lang="zh-CN" altLang="en-US" spc="-150" dirty="0">
                    <a:latin typeface="黑体"/>
                    <a:cs typeface="黑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(pre-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treatment</a:t>
                </a:r>
                <a:r>
                  <a:rPr lang="zh-CN" altLang="en-US" spc="10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25" dirty="0">
                    <a:latin typeface="Palatino Linotype"/>
                    <a:cs typeface="Palatino Linotype"/>
                  </a:rPr>
                  <a:t>covariates)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非混杂分配机制</a:t>
                </a:r>
                <a:r>
                  <a:rPr lang="zh-CN" altLang="en-US" spc="-180" dirty="0">
                    <a:latin typeface="宋体"/>
                    <a:cs typeface="宋体"/>
                  </a:rPr>
                  <a:t> </a:t>
                </a:r>
                <a:r>
                  <a:rPr lang="en-US" altLang="zh-CN" spc="-30" dirty="0">
                    <a:latin typeface="Palatino Linotype"/>
                    <a:cs typeface="Palatino Linotype"/>
                  </a:rPr>
                  <a:t>(unconfounded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20" dirty="0">
                    <a:latin typeface="Palatino Linotype"/>
                    <a:cs typeface="Palatino Linotype"/>
                  </a:rPr>
                  <a:t>assignment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35" dirty="0">
                    <a:latin typeface="Palatino Linotype"/>
                    <a:cs typeface="Palatino Linotype"/>
                  </a:rPr>
                  <a:t>mechanism)</a:t>
                </a:r>
                <a:r>
                  <a:rPr lang="zh-CN" altLang="en-US" spc="-35" dirty="0">
                    <a:latin typeface="宋体"/>
                    <a:cs typeface="宋体"/>
                  </a:rPr>
                  <a:t>：</a:t>
                </a:r>
                <a:r>
                  <a:rPr lang="zh-CN" altLang="en-US" spc="-10" dirty="0">
                    <a:latin typeface="宋体"/>
                    <a:cs typeface="宋体"/>
                  </a:rPr>
                  <a:t>干预的分配独</a:t>
                </a:r>
                <a:r>
                  <a:rPr lang="zh-CN" altLang="en-US" spc="-50" dirty="0">
                    <a:latin typeface="宋体"/>
                    <a:cs typeface="宋体"/>
                  </a:rPr>
                  <a:t>立</a:t>
                </a:r>
                <a:r>
                  <a:rPr lang="zh-CN" altLang="en-US" spc="-10" dirty="0">
                    <a:latin typeface="宋体"/>
                    <a:cs typeface="宋体"/>
                  </a:rPr>
                  <a:t>于所有的潜在结果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spc="55" dirty="0" smtClean="0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spc="55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spc="55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i="1" spc="55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i="1" spc="-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-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(1),</m:t>
                      </m:r>
                      <m:r>
                        <a:rPr lang="en-US" altLang="zh-CN" i="1" spc="-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-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(0)]</m:t>
                      </m:r>
                      <m:r>
                        <a:rPr lang="en-US" altLang="zh-CN" i="1" spc="2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spc="-10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],</m:t>
                      </m:r>
                    </m:oMath>
                  </m:oMathPara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pc="-10" dirty="0">
                    <a:latin typeface="宋体"/>
                    <a:cs typeface="宋体"/>
                  </a:rPr>
                  <a:t>  或记</a:t>
                </a:r>
                <a:r>
                  <a:rPr lang="zh-CN" altLang="en-US" spc="-50" dirty="0">
                    <a:latin typeface="宋体"/>
                    <a:cs typeface="宋体"/>
                  </a:rPr>
                  <a:t>为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(0),</m:t>
                      </m:r>
                      <m:r>
                        <a:rPr lang="zh-CN" altLang="en-US" i="1" spc="-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(1))</m:t>
                      </m:r>
                      <m:r>
                        <a:rPr lang="zh-CN" altLang="en-US" i="1" spc="-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575" dirty="0">
                          <a:latin typeface="Cambria Math" panose="02040503050406030204" pitchFamily="18" charset="0"/>
                          <a:cs typeface="Cambria"/>
                        </a:rPr>
                        <m:t>⟂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⟂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75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75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spc="75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i="1" spc="75" dirty="0">
                          <a:latin typeface="Cambria Math" panose="02040503050406030204" pitchFamily="18" charset="0"/>
                          <a:cs typeface="Cambria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 marL="12700">
                  <a:lnSpc>
                    <a:spcPct val="120000"/>
                  </a:lnSpc>
                  <a:spcBef>
                    <a:spcPts val="5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计量中还称为条件独立性假设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(Conditional</a:t>
                </a:r>
                <a:r>
                  <a:rPr lang="en-US" altLang="zh-CN" spc="4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35" dirty="0" err="1">
                    <a:latin typeface="Palatino Linotype"/>
                    <a:cs typeface="Palatino Linotype"/>
                  </a:rPr>
                  <a:t>independece</a:t>
                </a:r>
                <a:r>
                  <a:rPr lang="en-US" altLang="zh-CN" spc="6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assumption,</a:t>
                </a:r>
                <a:endParaRPr lang="en-US" altLang="zh-CN" dirty="0">
                  <a:latin typeface="Palatino Linotype"/>
                  <a:cs typeface="Palatino Linotype"/>
                </a:endParaRPr>
              </a:p>
              <a:p>
                <a:pPr marL="0" marR="5080" indent="0">
                  <a:lnSpc>
                    <a:spcPct val="120000"/>
                  </a:lnSpc>
                  <a:spcBef>
                    <a:spcPts val="40"/>
                  </a:spcBef>
                  <a:buNone/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CIA)</a:t>
                </a:r>
                <a:r>
                  <a:rPr lang="zh-CN" altLang="en-US" spc="-10" dirty="0">
                    <a:latin typeface="宋体"/>
                    <a:cs typeface="宋体"/>
                  </a:rPr>
                  <a:t>、根据观测变量进行的选择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(Selection</a:t>
                </a:r>
                <a:r>
                  <a:rPr lang="en-US" altLang="zh-CN" spc="8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on</a:t>
                </a:r>
                <a:r>
                  <a:rPr lang="en-US" altLang="zh-CN" spc="8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30" dirty="0">
                    <a:latin typeface="Palatino Linotype"/>
                    <a:cs typeface="Palatino Linotype"/>
                  </a:rPr>
                  <a:t>observables)</a:t>
                </a:r>
                <a:r>
                  <a:rPr lang="zh-CN" altLang="en-US" spc="-30" dirty="0">
                    <a:latin typeface="宋体"/>
                    <a:cs typeface="宋体"/>
                  </a:rPr>
                  <a:t>；</a:t>
                </a:r>
                <a:r>
                  <a:rPr lang="zh-CN" altLang="en-US" spc="-10" dirty="0">
                    <a:latin typeface="宋体"/>
                    <a:cs typeface="宋体"/>
                  </a:rPr>
                  <a:t>统计中称</a:t>
                </a:r>
                <a:r>
                  <a:rPr lang="zh-CN" altLang="en-US" spc="-50" dirty="0">
                    <a:latin typeface="宋体"/>
                    <a:cs typeface="宋体"/>
                  </a:rPr>
                  <a:t>为</a:t>
                </a:r>
                <a:r>
                  <a:rPr lang="zh-CN" altLang="en-US" spc="-5" dirty="0">
                    <a:latin typeface="宋体"/>
                    <a:cs typeface="宋体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强可忽略性</a:t>
                </a:r>
                <a:r>
                  <a:rPr lang="zh-CN" altLang="en-US" spc="-8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(Strong</a:t>
                </a:r>
                <a:r>
                  <a:rPr lang="en-US" altLang="zh-CN" spc="1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20" dirty="0" err="1">
                    <a:latin typeface="Palatino Linotype"/>
                    <a:cs typeface="Palatino Linotype"/>
                  </a:rPr>
                  <a:t>ignorablity</a:t>
                </a:r>
                <a:r>
                  <a:rPr lang="en-US" altLang="zh-CN" spc="-20" dirty="0">
                    <a:latin typeface="Palatino Linotype"/>
                    <a:cs typeface="Palatino Linotype"/>
                  </a:rPr>
                  <a:t>)</a:t>
                </a:r>
                <a:r>
                  <a:rPr lang="zh-CN" altLang="en-US" spc="-20" dirty="0">
                    <a:latin typeface="宋体"/>
                    <a:cs typeface="宋体"/>
                  </a:rPr>
                  <a:t>；</a:t>
                </a:r>
                <a:r>
                  <a:rPr lang="zh-CN" altLang="en-US" spc="-10" dirty="0">
                    <a:latin typeface="宋体"/>
                    <a:cs typeface="宋体"/>
                  </a:rPr>
                  <a:t>医学中称为可交换性</a:t>
                </a:r>
                <a:r>
                  <a:rPr lang="zh-CN" altLang="en-US" spc="-80" dirty="0">
                    <a:latin typeface="宋体"/>
                    <a:cs typeface="宋体"/>
                  </a:rPr>
                  <a:t> </a:t>
                </a:r>
                <a:r>
                  <a:rPr lang="en-US" altLang="zh-CN" spc="-20" dirty="0">
                    <a:latin typeface="Palatino Linotype"/>
                    <a:cs typeface="Palatino Linotype"/>
                  </a:rPr>
                  <a:t>(exchangeability)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303914-4C87-394D-8ECF-9340D5827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560" r="-1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00A0B-5FA0-CA39-6E67-737E8D5E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595D1-ECF5-0401-A09E-DDB900D0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25804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910BD-9D06-F90D-164C-BCA577B3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如何定义因</a:t>
            </a:r>
            <a:r>
              <a:rPr lang="zh-CN" altLang="en-US" spc="-50" dirty="0"/>
              <a:t>果</a:t>
            </a:r>
            <a:br>
              <a:rPr lang="zh-CN" altLang="en-US" dirty="0"/>
            </a:br>
            <a:r>
              <a:rPr lang="zh-CN" altLang="en-US" sz="2400" spc="-10" dirty="0"/>
              <a:t>分配机</a:t>
            </a:r>
            <a:r>
              <a:rPr lang="zh-CN" altLang="en-US" sz="2400" spc="-50" dirty="0"/>
              <a:t>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29B95E-FC20-94FD-E3BC-038B64D52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zh-CN" altLang="en-US" spc="-10" dirty="0">
                    <a:latin typeface="宋体"/>
                    <a:cs typeface="宋体"/>
                  </a:rPr>
                  <a:t>对分配机制的限制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95300" lvl="1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个体性。个体受干预的概率只依赖于个人的特征和潜在结果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00000"/>
                  </a:lnSpc>
                  <a:spcBef>
                    <a:spcPts val="25"/>
                  </a:spcBef>
                </a:pPr>
                <a:endParaRPr lang="zh-CN" altLang="en-US" sz="800" dirty="0">
                  <a:latin typeface="宋体"/>
                  <a:cs typeface="宋体"/>
                </a:endParaRPr>
              </a:p>
              <a:p>
                <a:pPr marL="375920" indent="0">
                  <a:lnSpc>
                    <a:spcPct val="100000"/>
                  </a:lnSpc>
                  <a:spcBef>
                    <a:spcPts val="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Palatino Linotype"/>
                        </a:rPr>
                        <m:t>⁡[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sz="3200" i="1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zh-CN" altLang="en-US" sz="3200" i="1" spc="345" baseline="-1984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14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1|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zh-CN" altLang="en-US" i="1" spc="-2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3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(1),</m:t>
                      </m:r>
                      <m:r>
                        <a:rPr lang="zh-CN" altLang="en-US" i="1" spc="-2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25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10" dirty="0" smtClean="0">
                          <a:latin typeface="Cambria Math" panose="02040503050406030204" pitchFamily="18" charset="0"/>
                          <a:cs typeface="Cambria"/>
                        </a:rPr>
                        <m:t>(0)]</m:t>
                      </m:r>
                      <m:r>
                        <a:rPr lang="zh-CN" altLang="en-US" i="1" spc="114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14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𝑝</m:t>
                      </m:r>
                      <m:r>
                        <a:rPr lang="zh-CN" altLang="en-US" sz="3200" i="1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sz="3200" i="1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zh-CN" altLang="en-US" sz="3200" i="1" spc="345" baseline="-1984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14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50" dirty="0" smtClean="0">
                          <a:latin typeface="Cambria Math" panose="02040503050406030204" pitchFamily="18" charset="0"/>
                          <a:cs typeface="Cambria"/>
                        </a:rPr>
                        <m:t>1|</m:t>
                      </m:r>
                      <m:r>
                        <a:rPr lang="zh-CN" altLang="en-US" i="1" spc="50" dirty="0" smtClean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zh-CN" altLang="en-US" sz="3200" i="1" spc="75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spc="50" dirty="0" smtClean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zh-CN" altLang="en-US" i="1" spc="-2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3200" i="1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Cambria"/>
                        </a:rPr>
                        <m:t>(1),</m:t>
                      </m:r>
                      <m:r>
                        <a:rPr lang="zh-CN" altLang="en-US" i="1" spc="-20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10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3200" i="1" spc="-15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en-US" altLang="zh-CN" i="1" spc="-10" dirty="0" smtClean="0">
                          <a:latin typeface="Cambria Math" panose="02040503050406030204" pitchFamily="18" charset="0"/>
                          <a:cs typeface="Cambria"/>
                        </a:rPr>
                        <m:t>(0))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概率性。</a:t>
                </a:r>
                <a:r>
                  <a:rPr lang="en-US" altLang="zh-CN" dirty="0">
                    <a:latin typeface="Cambria"/>
                    <a:cs typeface="Cambria"/>
                  </a:rPr>
                  <a:t>0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&lt; </a:t>
                </a:r>
                <a:r>
                  <a:rPr lang="zh-CN" altLang="en-US" dirty="0">
                    <a:latin typeface="Cambria"/>
                    <a:cs typeface="Cambria"/>
                  </a:rPr>
                  <a:t>𝑝</a:t>
                </a:r>
                <a:r>
                  <a:rPr lang="zh-CN" altLang="en-US" sz="2800" baseline="-19841" dirty="0">
                    <a:latin typeface="Cambria"/>
                    <a:cs typeface="Cambria"/>
                  </a:rPr>
                  <a:t>𝑖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𝐷</a:t>
                </a:r>
                <a:r>
                  <a:rPr lang="zh-CN" altLang="en-US" sz="2800" baseline="-19841" dirty="0">
                    <a:latin typeface="Cambria"/>
                    <a:cs typeface="Cambria"/>
                  </a:rPr>
                  <a:t>𝑖</a:t>
                </a:r>
                <a:r>
                  <a:rPr lang="zh-CN" altLang="en-US" sz="2800" spc="315" baseline="-19841" dirty="0">
                    <a:latin typeface="Cambria"/>
                    <a:cs typeface="Cambria"/>
                  </a:rPr>
                  <a:t> </a:t>
                </a:r>
                <a:r>
                  <a:rPr lang="en-US" altLang="zh-CN" spc="155" dirty="0">
                    <a:latin typeface="Cambria"/>
                    <a:cs typeface="Cambria"/>
                  </a:rPr>
                  <a:t>= </a:t>
                </a:r>
                <a:r>
                  <a:rPr lang="en-US" altLang="zh-CN" spc="50" dirty="0">
                    <a:latin typeface="Cambria"/>
                    <a:cs typeface="Cambria"/>
                  </a:rPr>
                  <a:t>1|</a:t>
                </a:r>
                <a:r>
                  <a:rPr lang="zh-CN" altLang="en-US" spc="50" dirty="0">
                    <a:latin typeface="Cambria"/>
                    <a:cs typeface="Cambria"/>
                  </a:rPr>
                  <a:t>𝑋</a:t>
                </a:r>
                <a:r>
                  <a:rPr lang="zh-CN" altLang="en-US" sz="2800" spc="75" baseline="-19841" dirty="0">
                    <a:latin typeface="Cambria"/>
                    <a:cs typeface="Cambria"/>
                  </a:rPr>
                  <a:t>𝑖</a:t>
                </a:r>
                <a:r>
                  <a:rPr lang="en-US" altLang="zh-CN" spc="10" dirty="0">
                    <a:latin typeface="Cambria"/>
                    <a:cs typeface="Cambria"/>
                  </a:rPr>
                  <a:t>,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z="2800" baseline="-19841" dirty="0">
                    <a:latin typeface="Cambria"/>
                    <a:cs typeface="Cambria"/>
                  </a:rPr>
                  <a:t>𝑖</a:t>
                </a:r>
                <a:r>
                  <a:rPr lang="en-US" altLang="zh-CN" dirty="0">
                    <a:latin typeface="Cambria"/>
                    <a:cs typeface="Cambria"/>
                  </a:rPr>
                  <a:t>(1),</a:t>
                </a:r>
                <a:r>
                  <a:rPr lang="zh-CN" altLang="en-US" spc="-30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z="2800" baseline="-19841" dirty="0">
                    <a:latin typeface="Cambria"/>
                    <a:cs typeface="Cambria"/>
                  </a:rPr>
                  <a:t>𝑖</a:t>
                </a:r>
                <a:r>
                  <a:rPr lang="en-US" altLang="zh-CN" dirty="0">
                    <a:latin typeface="Cambria"/>
                    <a:cs typeface="Cambria"/>
                  </a:rPr>
                  <a:t>(0))</a:t>
                </a:r>
                <a:r>
                  <a:rPr lang="zh-CN" altLang="en-US" spc="100" dirty="0">
                    <a:latin typeface="Cambria"/>
                    <a:cs typeface="Cambria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&lt; </a:t>
                </a:r>
                <a:r>
                  <a:rPr lang="en-US" altLang="zh-CN" spc="-70" dirty="0">
                    <a:latin typeface="Cambria"/>
                    <a:cs typeface="Cambria"/>
                  </a:rPr>
                  <a:t>1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非混杂性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pc="55" dirty="0" smtClean="0">
                        <a:latin typeface="Cambria Math" panose="02040503050406030204" pitchFamily="18" charset="0"/>
                        <a:cs typeface="Palatino Linotype"/>
                      </a:rPr>
                      <m:t>Pr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Palatino Linotype"/>
                      </a:rPr>
                      <m:t>⁡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|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/>
                      </a:rPr>
                      <m:t>𝑋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,</m:t>
                    </m:r>
                    <m:r>
                      <a:rPr lang="en-US" altLang="zh-CN" i="1" spc="-60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en-US" altLang="zh-CN" i="1" spc="-5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(1),</m:t>
                    </m:r>
                    <m:r>
                      <a:rPr lang="en-US" altLang="zh-CN" i="1" spc="-5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en-US" altLang="zh-CN" i="1" spc="-3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/>
                      </a:rPr>
                      <m:t>(0)]</m:t>
                    </m:r>
                    <m:r>
                      <a:rPr lang="en-US" altLang="zh-CN" i="1" spc="3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215" dirty="0">
                        <a:latin typeface="Cambria Math" panose="02040503050406030204" pitchFamily="18" charset="0"/>
                        <a:cs typeface="Cambria"/>
                      </a:rPr>
                      <m:t>=</m:t>
                    </m:r>
                    <m:r>
                      <a:rPr lang="en-US" altLang="zh-CN" i="1" spc="40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spc="55" dirty="0" err="1">
                        <a:latin typeface="Cambria Math" panose="02040503050406030204" pitchFamily="18" charset="0"/>
                        <a:cs typeface="Palatino Linotype"/>
                      </a:rPr>
                      <m:t>Pr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Palatino Linotype"/>
                      </a:rPr>
                      <m:t>⁡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[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|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/>
                      </a:rPr>
                      <m:t>𝑋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/>
                      </a:rPr>
                      <m:t>,</m:t>
                    </m:r>
                    <m:r>
                      <a:rPr lang="en-US" altLang="zh-CN" i="1" spc="-5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en-US" altLang="zh-CN" i="1" spc="28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70" dirty="0">
                        <a:latin typeface="Cambria Math" panose="02040503050406030204" pitchFamily="18" charset="0"/>
                        <a:cs typeface="Cambria"/>
                      </a:rPr>
                      <m:t>,</m:t>
                    </m:r>
                    <m:r>
                      <a:rPr lang="en-US" altLang="zh-CN" i="1" spc="-5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en-US" altLang="zh-CN" i="1" spc="290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en-US" altLang="zh-CN" i="1" spc="-50" dirty="0">
                        <a:latin typeface="Cambria Math" panose="02040503050406030204" pitchFamily="18" charset="0"/>
                        <a:cs typeface="Cambria"/>
                      </a:rPr>
                      <m:t>]</m:t>
                    </m:r>
                  </m:oMath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marL="38100" marR="1036955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分析机制分类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经典随机化实验：满足个体性、概率性、非混杂性和分配机制函数形式</a:t>
                </a:r>
                <a:r>
                  <a:rPr lang="zh-CN" altLang="en-US" spc="-50" dirty="0">
                    <a:latin typeface="宋体"/>
                    <a:cs typeface="宋体"/>
                  </a:rPr>
                  <a:t>已</a:t>
                </a:r>
                <a:r>
                  <a:rPr lang="zh-CN" altLang="en-US" spc="-10" dirty="0">
                    <a:latin typeface="宋体"/>
                    <a:cs typeface="宋体"/>
                  </a:rPr>
                  <a:t>知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观测研究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(observational</a:t>
                </a:r>
                <a:r>
                  <a:rPr lang="en-US" altLang="zh-CN" spc="-2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study)</a:t>
                </a:r>
                <a:r>
                  <a:rPr lang="zh-CN" altLang="en-US" spc="-10" dirty="0">
                    <a:latin typeface="宋体"/>
                    <a:cs typeface="宋体"/>
                  </a:rPr>
                  <a:t>：分配机制未知的研究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一般分配机制</a:t>
                </a:r>
                <a:r>
                  <a:rPr lang="zh-CN" altLang="en-US" spc="-85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(Regular)</a:t>
                </a:r>
                <a:r>
                  <a:rPr lang="zh-CN" altLang="en-US" spc="-10" dirty="0">
                    <a:latin typeface="宋体"/>
                    <a:cs typeface="宋体"/>
                  </a:rPr>
                  <a:t>：满足个体性、概率性和非混杂性的分配机制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38100" marR="1036955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分析机制分类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经典随机化实验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(classical</a:t>
                </a:r>
                <a:r>
                  <a:rPr lang="en-US" altLang="zh-CN" spc="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35" dirty="0">
                    <a:latin typeface="Palatino Linotype"/>
                    <a:cs typeface="Palatino Linotype"/>
                  </a:rPr>
                  <a:t>randomized</a:t>
                </a:r>
                <a:r>
                  <a:rPr lang="en-US" altLang="zh-CN" spc="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experiment)</a:t>
                </a: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pt-BR" spc="-10" dirty="0">
                    <a:latin typeface="宋体"/>
                    <a:cs typeface="宋体"/>
                  </a:rPr>
                  <a:t>一般分配机制</a:t>
                </a:r>
                <a:r>
                  <a:rPr lang="pt-BR" altLang="zh-CN" spc="-170" dirty="0">
                    <a:latin typeface="宋体"/>
                    <a:cs typeface="宋体"/>
                  </a:rPr>
                  <a:t> </a:t>
                </a:r>
                <a:r>
                  <a:rPr lang="pt-BR" altLang="zh-CN" spc="-10" dirty="0">
                    <a:latin typeface="Palatino Linotype"/>
                    <a:cs typeface="Palatino Linotype"/>
                  </a:rPr>
                  <a:t>(regular)</a:t>
                </a:r>
                <a:endParaRPr lang="pt-BR" altLang="zh-CN" dirty="0">
                  <a:latin typeface="Palatino Linotype"/>
                  <a:cs typeface="Palatino Linotype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其他分配机制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(irregular)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95300" marR="1036955" lvl="1">
                  <a:lnSpc>
                    <a:spcPct val="121200"/>
                  </a:lnSpc>
                  <a:spcBef>
                    <a:spcPts val="670"/>
                  </a:spcBef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 marL="38100" marR="1036955">
                  <a:lnSpc>
                    <a:spcPct val="121200"/>
                  </a:lnSpc>
                  <a:spcBef>
                    <a:spcPts val="670"/>
                  </a:spcBef>
                </a:pPr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29B95E-FC20-94FD-E3BC-038B64D52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2381" b="-1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E6223-7065-3CB1-B05C-5F95BA13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6945E5-14EA-ECEB-B9D4-0B3FDE47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43026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E5046-AA5C-A6CF-625F-1A80F602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如何定义因</a:t>
            </a:r>
            <a:r>
              <a:rPr lang="zh-CN" altLang="en-US" spc="-50" dirty="0"/>
              <a:t>果</a:t>
            </a:r>
            <a:br>
              <a:rPr lang="zh-CN" altLang="en-US" dirty="0"/>
            </a:br>
            <a:r>
              <a:rPr lang="zh-CN" altLang="en-US" sz="2400" spc="-10" dirty="0"/>
              <a:t>分配机</a:t>
            </a:r>
            <a:r>
              <a:rPr lang="zh-CN" altLang="en-US" sz="2400" spc="-50" dirty="0"/>
              <a:t>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9A3AD-6707-0B49-F1B0-D391D2B3E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31115">
              <a:lnSpc>
                <a:spcPct val="100000"/>
              </a:lnSpc>
            </a:pPr>
            <a:r>
              <a:rPr lang="zh-CN" altLang="en-US" spc="-10" dirty="0">
                <a:latin typeface="宋体"/>
                <a:cs typeface="宋体"/>
              </a:rPr>
              <a:t>假设数据</a:t>
            </a:r>
            <a:r>
              <a:rPr lang="zh-CN" altLang="en-US" dirty="0">
                <a:latin typeface="宋体"/>
                <a:cs typeface="宋体"/>
              </a:rPr>
              <a:t>：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50" dirty="0">
                <a:latin typeface="Cambria"/>
                <a:cs typeface="Cambria"/>
              </a:rPr>
              <a:t> </a:t>
            </a:r>
            <a:r>
              <a:rPr lang="en-US" altLang="zh-CN" dirty="0">
                <a:latin typeface="Cambria"/>
                <a:cs typeface="Cambria"/>
              </a:rPr>
              <a:t>(0)</a:t>
            </a:r>
            <a:r>
              <a:rPr lang="zh-CN" altLang="en-US" spc="5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是保守治疗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50" dirty="0">
                <a:latin typeface="Cambria"/>
                <a:cs typeface="Cambria"/>
              </a:rPr>
              <a:t> </a:t>
            </a:r>
            <a:r>
              <a:rPr lang="en-US" altLang="zh-CN" dirty="0">
                <a:latin typeface="Cambria"/>
                <a:cs typeface="Cambria"/>
              </a:rPr>
              <a:t>(1)</a:t>
            </a:r>
            <a:r>
              <a:rPr lang="zh-CN" altLang="en-US" spc="6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是积极治</a:t>
            </a:r>
            <a:r>
              <a:rPr lang="zh-CN" altLang="en-US" spc="-50" dirty="0">
                <a:latin typeface="宋体"/>
                <a:cs typeface="宋体"/>
              </a:rPr>
              <a:t>疗</a:t>
            </a:r>
            <a:endParaRPr lang="en-US" altLang="zh-CN" spc="-50" dirty="0">
              <a:latin typeface="宋体"/>
              <a:cs typeface="宋体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3333B2"/>
                </a:solidFill>
                <a:latin typeface="Palatino Linotype"/>
                <a:cs typeface="Palatino Linotype"/>
              </a:rPr>
              <a:t>Table</a:t>
            </a:r>
            <a:r>
              <a:rPr lang="zh-CN" altLang="en-US" spc="105" dirty="0">
                <a:solidFill>
                  <a:srgbClr val="3333B2"/>
                </a:solidFill>
                <a:latin typeface="Palatino Linotype"/>
                <a:cs typeface="Palatino Linotype"/>
              </a:rPr>
              <a:t> </a:t>
            </a:r>
            <a:r>
              <a:rPr lang="en-US" altLang="zh-CN" dirty="0">
                <a:solidFill>
                  <a:srgbClr val="3333B2"/>
                </a:solidFill>
                <a:latin typeface="Palatino Linotype"/>
                <a:cs typeface="Palatino Linotype"/>
              </a:rPr>
              <a:t>1:</a:t>
            </a:r>
            <a:r>
              <a:rPr lang="zh-CN" altLang="en-US" spc="110" dirty="0">
                <a:solidFill>
                  <a:srgbClr val="3333B2"/>
                </a:solidFill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完美医</a:t>
            </a:r>
            <a:r>
              <a:rPr lang="zh-CN" altLang="en-US" spc="-50" dirty="0">
                <a:latin typeface="宋体"/>
                <a:cs typeface="宋体"/>
              </a:rPr>
              <a:t>生</a:t>
            </a: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marL="488315" lvl="1">
              <a:lnSpc>
                <a:spcPct val="100000"/>
              </a:lnSpc>
            </a:pPr>
            <a:r>
              <a:rPr lang="zh-CN" altLang="en-US" spc="-10" dirty="0">
                <a:latin typeface="宋体"/>
                <a:cs typeface="宋体"/>
              </a:rPr>
              <a:t>直接因果效应为</a:t>
            </a:r>
            <a:r>
              <a:rPr lang="zh-CN" altLang="en-US" spc="-180" dirty="0">
                <a:latin typeface="宋体"/>
                <a:cs typeface="宋体"/>
              </a:rPr>
              <a:t>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z="2800" spc="7" baseline="-19841" dirty="0">
                <a:latin typeface="Cambria"/>
                <a:cs typeface="Cambria"/>
              </a:rPr>
              <a:t>1</a:t>
            </a:r>
            <a:r>
              <a:rPr lang="zh-CN" altLang="en-US" sz="2800" spc="135" baseline="-19841" dirty="0">
                <a:latin typeface="Cambria"/>
                <a:cs typeface="Cambria"/>
              </a:rPr>
              <a:t> </a:t>
            </a:r>
            <a:r>
              <a:rPr lang="zh-CN" altLang="en-US" spc="95" dirty="0">
                <a:latin typeface="Cambria"/>
                <a:cs typeface="Cambria"/>
              </a:rPr>
              <a:t>−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z="2800" spc="7" baseline="-19841" dirty="0">
                <a:latin typeface="Cambria"/>
                <a:cs typeface="Cambria"/>
              </a:rPr>
              <a:t>0</a:t>
            </a:r>
            <a:r>
              <a:rPr lang="zh-CN" altLang="en-US" sz="2800" spc="247" baseline="-19841" dirty="0">
                <a:latin typeface="Cambria"/>
                <a:cs typeface="Cambria"/>
              </a:rPr>
              <a:t> </a:t>
            </a:r>
            <a:r>
              <a:rPr lang="en-US" altLang="zh-CN" spc="135" dirty="0">
                <a:latin typeface="Cambria"/>
                <a:cs typeface="Cambria"/>
              </a:rPr>
              <a:t>= </a:t>
            </a:r>
            <a:r>
              <a:rPr lang="zh-CN" altLang="en-US" spc="25" dirty="0">
                <a:latin typeface="Cambria"/>
                <a:cs typeface="Cambria"/>
              </a:rPr>
              <a:t>−</a:t>
            </a:r>
            <a:r>
              <a:rPr lang="en-US" altLang="zh-CN" spc="25" dirty="0">
                <a:latin typeface="Cambria"/>
                <a:cs typeface="Cambria"/>
              </a:rPr>
              <a:t>2</a:t>
            </a:r>
            <a:r>
              <a:rPr lang="zh-CN" altLang="en-US" spc="2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说明平均而言</a:t>
            </a:r>
            <a:r>
              <a:rPr lang="zh-CN" altLang="en-US" spc="-70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保守治疗会更好些</a:t>
            </a:r>
            <a:r>
              <a:rPr lang="zh-CN" altLang="en-US" spc="-60" dirty="0">
                <a:latin typeface="宋体"/>
                <a:cs typeface="宋体"/>
              </a:rPr>
              <a:t>。</a:t>
            </a:r>
            <a:r>
              <a:rPr lang="zh-CN" altLang="en-US" spc="-10" dirty="0">
                <a:latin typeface="宋体"/>
                <a:cs typeface="宋体"/>
              </a:rPr>
              <a:t>完美医生为病人选择对他来说最好的治疗，治疗方案由表中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30" dirty="0">
                <a:latin typeface="Cambria"/>
                <a:cs typeface="Cambria"/>
              </a:rPr>
              <a:t>𝐷</a:t>
            </a:r>
            <a:r>
              <a:rPr lang="zh-CN" altLang="en-US" spc="114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列表示，但是，根据观测结果，得到两种观测结果的平均值为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-20" dirty="0">
                <a:latin typeface="Cambria"/>
                <a:cs typeface="Cambria"/>
              </a:rPr>
              <a:t>𝑦</a:t>
            </a:r>
            <a:r>
              <a:rPr lang="en-US" altLang="zh-CN" sz="2800" spc="-30" baseline="-27777" dirty="0">
                <a:latin typeface="Cambria"/>
                <a:cs typeface="Cambria"/>
              </a:rPr>
              <a:t>1</a:t>
            </a:r>
            <a:r>
              <a:rPr lang="zh-CN" altLang="en-US" sz="2800" spc="165" baseline="-27777" dirty="0">
                <a:latin typeface="Cambria"/>
                <a:cs typeface="Cambria"/>
              </a:rPr>
              <a:t> </a:t>
            </a:r>
            <a:r>
              <a:rPr lang="zh-CN" altLang="en-US" spc="105" dirty="0">
                <a:latin typeface="Cambria"/>
                <a:cs typeface="Cambria"/>
              </a:rPr>
              <a:t>− </a:t>
            </a:r>
            <a:r>
              <a:rPr lang="zh-CN" altLang="en-US" spc="-20" dirty="0">
                <a:latin typeface="Cambria"/>
                <a:cs typeface="Cambria"/>
              </a:rPr>
              <a:t>𝑦</a:t>
            </a:r>
            <a:r>
              <a:rPr lang="en-US" altLang="zh-CN" sz="2800" spc="-30" baseline="-27777" dirty="0">
                <a:latin typeface="Cambria"/>
                <a:cs typeface="Cambria"/>
              </a:rPr>
              <a:t>0</a:t>
            </a:r>
            <a:r>
              <a:rPr lang="zh-CN" altLang="en-US" sz="2800" spc="247" baseline="-27777" dirty="0">
                <a:latin typeface="Cambria"/>
                <a:cs typeface="Cambria"/>
              </a:rPr>
              <a:t> </a:t>
            </a:r>
            <a:r>
              <a:rPr lang="en-US" altLang="zh-CN" spc="135" dirty="0">
                <a:latin typeface="Cambria"/>
                <a:cs typeface="Cambria"/>
              </a:rPr>
              <a:t>= </a:t>
            </a:r>
            <a:r>
              <a:rPr lang="en-US" altLang="zh-CN" spc="-15" dirty="0">
                <a:latin typeface="Cambria"/>
                <a:cs typeface="Cambria"/>
              </a:rPr>
              <a:t>5.6</a:t>
            </a:r>
            <a:r>
              <a:rPr lang="zh-CN" altLang="en-US" spc="-1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 marL="488315" lvl="1">
              <a:lnSpc>
                <a:spcPct val="100000"/>
              </a:lnSpc>
            </a:pPr>
            <a:r>
              <a:rPr lang="zh-CN" altLang="en-US" spc="-10" dirty="0">
                <a:latin typeface="宋体"/>
                <a:cs typeface="宋体"/>
              </a:rPr>
              <a:t>在完美医生例子中，干预的分配依赖于个体的潜在结果，因而分配机制</a:t>
            </a:r>
            <a:r>
              <a:rPr lang="zh-CN" altLang="en-US" spc="-50" dirty="0">
                <a:latin typeface="宋体"/>
                <a:cs typeface="宋体"/>
              </a:rPr>
              <a:t>不</a:t>
            </a:r>
            <a:r>
              <a:rPr lang="zh-CN" altLang="en-US" spc="-10" dirty="0">
                <a:latin typeface="宋体"/>
                <a:cs typeface="宋体"/>
              </a:rPr>
              <a:t>是可忽略</a:t>
            </a:r>
            <a:r>
              <a:rPr lang="zh-CN" altLang="en-US" spc="-35" dirty="0">
                <a:latin typeface="宋体"/>
                <a:cs typeface="宋体"/>
              </a:rPr>
              <a:t>的</a:t>
            </a:r>
            <a:r>
              <a:rPr lang="zh-CN" altLang="en-US" spc="-10" dirty="0">
                <a:latin typeface="宋体"/>
                <a:cs typeface="宋体"/>
              </a:rPr>
              <a:t>（是混杂机制</a:t>
            </a:r>
            <a:r>
              <a:rPr lang="zh-CN" altLang="en-US" spc="-515" dirty="0">
                <a:latin typeface="宋体"/>
                <a:cs typeface="宋体"/>
              </a:rPr>
              <a:t>）</a:t>
            </a:r>
            <a:r>
              <a:rPr lang="zh-CN" altLang="en-US" spc="-40" dirty="0">
                <a:latin typeface="宋体"/>
                <a:cs typeface="宋体"/>
              </a:rPr>
              <a:t>。</a:t>
            </a:r>
            <a:r>
              <a:rPr lang="zh-CN" altLang="en-US" spc="-10" dirty="0">
                <a:latin typeface="宋体"/>
                <a:cs typeface="宋体"/>
              </a:rPr>
              <a:t>分配机制是混杂的</a:t>
            </a:r>
            <a:r>
              <a:rPr lang="zh-CN" altLang="en-US" spc="-40" dirty="0">
                <a:latin typeface="宋体"/>
                <a:cs typeface="宋体"/>
              </a:rPr>
              <a:t>，</a:t>
            </a:r>
            <a:r>
              <a:rPr lang="zh-CN" altLang="en-US" dirty="0">
                <a:latin typeface="宋体"/>
                <a:cs typeface="宋体"/>
              </a:rPr>
              <a:t>观测平均值往往</a:t>
            </a:r>
            <a:r>
              <a:rPr lang="en-US" altLang="zh-CN" sz="800" baseline="-22222" dirty="0">
                <a:latin typeface="Bookman Old Style"/>
                <a:cs typeface="Bookman Old Style"/>
              </a:rPr>
              <a:t>©</a:t>
            </a:r>
            <a:r>
              <a:rPr lang="zh-CN" altLang="en-US" dirty="0">
                <a:latin typeface="宋体"/>
                <a:cs typeface="宋体"/>
              </a:rPr>
              <a:t>是有偏差。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D275B9-5DF5-CE49-0A8C-D2AA7024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85" y="2532322"/>
            <a:ext cx="5220429" cy="253400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D04C8-D1E9-888E-06D0-4699B665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52C3390-A8C4-43DF-1CA8-4F22FF61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10137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B6D92-C90A-41E7-BBC8-A876ACE7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选择偏差</a:t>
            </a:r>
            <a:r>
              <a:rPr lang="zh-CN" altLang="en-US" spc="-235" dirty="0"/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(selection</a:t>
            </a:r>
            <a:r>
              <a:rPr lang="en-US" altLang="zh-CN" spc="10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bias)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841BB0-F784-E4D0-49B8-B5CB48EA3B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322845" cy="4351338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Cambria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32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(1),</m:t>
                    </m:r>
                    <m:r>
                      <a:rPr lang="zh-CN" altLang="en-US" i="1" spc="-20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32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(0))</m:t>
                    </m:r>
                    <m:r>
                      <a:rPr lang="zh-CN" altLang="en-US" i="1" spc="110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</m:oMath>
                </a14:m>
                <a:r>
                  <a:rPr lang="zh-CN" altLang="en-US" spc="-10" dirty="0">
                    <a:latin typeface="宋体"/>
                    <a:cs typeface="宋体"/>
                  </a:rPr>
                  <a:t>不能全部观测到，观测到的数据为</a:t>
                </a:r>
                <a:r>
                  <a:rPr lang="zh-CN" altLang="en-US" spc="-100" dirty="0">
                    <a:latin typeface="宋体"/>
                    <a:cs typeface="宋体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pc="75" dirty="0" smtClean="0">
                        <a:latin typeface="Cambria Math" panose="02040503050406030204" pitchFamily="18" charset="0"/>
                        <a:cs typeface="Cambria"/>
                      </a:rPr>
                      <m:t>(</m:t>
                    </m:r>
                    <m:r>
                      <a:rPr lang="zh-CN" altLang="en-US" i="1" spc="75" dirty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zh-CN" altLang="en-US" sz="3200" i="1" spc="112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spc="25" dirty="0">
                        <a:latin typeface="Cambria Math" panose="02040503050406030204" pitchFamily="18" charset="0"/>
                        <a:cs typeface="Cambria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sz="3200" i="1" baseline="-19841" dirty="0">
                        <a:latin typeface="Cambria Math" panose="02040503050406030204" pitchFamily="18" charset="0"/>
                        <a:cs typeface="Cambria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/>
                      </a:rPr>
                      <m:t>)</m:t>
                    </m:r>
                  </m:oMath>
                </a14:m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利用观测数据，构造简单回归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3200" i="1" baseline="-19841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zh-CN" altLang="en-US" sz="3200" i="1" spc="270" baseline="-1984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𝛼</m:t>
                      </m:r>
                      <m:r>
                        <a:rPr lang="zh-CN" altLang="en-US" i="1" spc="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+</m:t>
                      </m:r>
                      <m:r>
                        <a:rPr lang="zh-CN" altLang="en-US" i="1" spc="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35" dirty="0">
                          <a:latin typeface="Cambria Math" panose="02040503050406030204" pitchFamily="18" charset="0"/>
                          <a:cs typeface="Cambria"/>
                        </a:rPr>
                        <m:t>𝜏</m:t>
                      </m:r>
                      <m:r>
                        <a:rPr lang="zh-CN" altLang="en-US" i="1" spc="-114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95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sz="3200" i="1" spc="142" baseline="-19841" dirty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  <m:r>
                        <a:rPr lang="zh-CN" altLang="en-US" sz="3200" i="1" spc="187" baseline="-1984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+</m:t>
                      </m:r>
                      <m:r>
                        <a:rPr lang="zh-CN" altLang="en-US" i="1" spc="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-25" dirty="0">
                          <a:latin typeface="Cambria Math" panose="02040503050406030204" pitchFamily="18" charset="0"/>
                          <a:cs typeface="Cambria"/>
                        </a:rPr>
                        <m:t>𝜖</m:t>
                      </m:r>
                      <m:r>
                        <a:rPr lang="zh-CN" altLang="en-US" sz="3200" i="1" spc="-37" baseline="-19841" dirty="0" smtClean="0">
                          <a:latin typeface="Cambria Math" panose="02040503050406030204" pitchFamily="18" charset="0"/>
                          <a:cs typeface="Cambria"/>
                        </a:rPr>
                        <m:t>𝑖</m:t>
                      </m:r>
                    </m:oMath>
                  </m:oMathPara>
                </a14:m>
                <a:endParaRPr lang="en-US" altLang="zh-CN" sz="3200" spc="-37" baseline="-19841" dirty="0">
                  <a:latin typeface="Cambria"/>
                  <a:cs typeface="Cambri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可以得到总体回归系</a:t>
                </a:r>
                <a:r>
                  <a:rPr lang="zh-CN" altLang="en-US" spc="-50" dirty="0">
                    <a:latin typeface="宋体"/>
                    <a:cs typeface="宋体"/>
                  </a:rPr>
                  <a:t>数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pc="-35" dirty="0" smtClean="0">
                          <a:latin typeface="Cambria Math" panose="02040503050406030204" pitchFamily="18" charset="0"/>
                          <a:cs typeface="Cambria"/>
                        </a:rPr>
                        <m:t>𝜏</m:t>
                      </m:r>
                      <m:r>
                        <a:rPr lang="zh-CN" altLang="en-US" i="1" spc="-1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3200" i="1" baseline="27777" dirty="0">
                          <a:latin typeface="Cambria Math" panose="02040503050406030204" pitchFamily="18" charset="0"/>
                          <a:cs typeface="Cambria"/>
                        </a:rPr>
                        <m:t>𝑜𝑙𝑠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1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4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zh-CN" altLang="en-US" i="1" spc="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1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47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0],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其</a:t>
                </a:r>
                <a:r>
                  <a:rPr lang="zh-CN" altLang="en-US" spc="-50" dirty="0">
                    <a:latin typeface="宋体"/>
                    <a:cs typeface="宋体"/>
                  </a:rPr>
                  <a:t>中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𝐶𝑜𝑣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𝐷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Cambria"/>
                            </a:rPr>
                            <m:t>,</m:t>
                          </m:r>
                          <m:r>
                            <a:rPr lang="en-US" altLang="zh-CN" i="1" spc="5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  <m:r>
                            <a:rPr lang="en-US" altLang="zh-CN" i="1" spc="65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</m:e>
                      </m:d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1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𝐷𝑌</m:t>
                          </m:r>
                          <m:r>
                            <a:rPr lang="en-US" altLang="zh-CN" i="1" spc="60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</m:e>
                      </m:d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en-US" altLang="zh-CN" i="1" spc="8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𝐷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  <m:r>
                            <a:rPr lang="en-US" altLang="zh-CN" i="1" spc="60" dirty="0">
                              <a:latin typeface="Cambria Math" panose="02040503050406030204" pitchFamily="18" charset="0"/>
                              <a:cs typeface="Cambria"/>
                            </a:rPr>
                            <m:t> </m:t>
                          </m:r>
                        </m:e>
                      </m:d>
                    </m:oMath>
                    <m:oMath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75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1</m:t>
                      </m:r>
                      <m:r>
                        <a:rPr lang="en-US" altLang="zh-CN" b="0" i="1" spc="215" dirty="0" smtClean="0">
                          <a:latin typeface="Cambria Math" panose="02040503050406030204" pitchFamily="18" charset="0"/>
                          <a:cs typeface="Cambria"/>
                        </a:rPr>
                        <m:t>]</m:t>
                      </m:r>
                    </m:oMath>
                    <m:oMath>
                      <m:r>
                        <a:rPr lang="en-US" altLang="zh-CN" b="0" i="1" spc="215" dirty="0" smtClean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1](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75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en-US" altLang="zh-CN" i="1" spc="-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+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75" dirty="0">
                          <a:latin typeface="Cambria Math" panose="02040503050406030204" pitchFamily="18" charset="0"/>
                          <a:cs typeface="Cambria"/>
                        </a:rPr>
                        <m:t>0]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0])</m:t>
                      </m:r>
                    </m:oMath>
                    <m:oMath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50" dirty="0">
                          <a:latin typeface="Cambria Math" panose="02040503050406030204" pitchFamily="18" charset="0"/>
                          <a:cs typeface="Cambria"/>
                        </a:rPr>
                        <m:t>1](1</m:t>
                      </m:r>
                      <m:r>
                        <a:rPr lang="en-US" altLang="zh-CN" i="1" spc="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en-US" altLang="zh-CN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1])(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spc="-10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en-US" altLang="zh-CN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en-US" altLang="zh-CN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0" dirty="0">
                          <a:latin typeface="Cambria Math" panose="02040503050406030204" pitchFamily="18" charset="0"/>
                          <a:cs typeface="Cambria"/>
                        </a:rPr>
                        <m:t>0]).</m:t>
                      </m:r>
                    </m:oMath>
                  </m:oMathPara>
                </a14:m>
                <a:endParaRPr lang="en-US" altLang="zh-CN" dirty="0">
                  <a:latin typeface="Cambria"/>
                  <a:cs typeface="Cambria"/>
                </a:endParaRPr>
              </a:p>
              <a:p>
                <a:pPr marL="12700">
                  <a:lnSpc>
                    <a:spcPct val="120000"/>
                  </a:lnSpc>
                  <a:spcBef>
                    <a:spcPts val="90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类似地</a:t>
                </a:r>
                <a:r>
                  <a:rPr lang="zh-CN" altLang="en-US" spc="-50" dirty="0">
                    <a:latin typeface="宋体"/>
                    <a:cs typeface="宋体"/>
                  </a:rPr>
                  <a:t>，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81534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pc="-60" dirty="0" smtClean="0">
                          <a:latin typeface="Cambria Math" panose="02040503050406030204" pitchFamily="18" charset="0"/>
                          <a:cs typeface="Cambria"/>
                        </a:rPr>
                        <m:t>𝑉</m:t>
                      </m:r>
                      <m:r>
                        <a:rPr lang="zh-CN" altLang="en-US" i="1" spc="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𝑎𝑟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)</m:t>
                      </m:r>
                      <m:r>
                        <a:rPr lang="zh-CN" altLang="en-US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10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50" dirty="0">
                          <a:latin typeface="Cambria Math" panose="02040503050406030204" pitchFamily="18" charset="0"/>
                          <a:cs typeface="Cambria"/>
                        </a:rPr>
                        <m:t>1](1</m:t>
                      </m:r>
                      <m:r>
                        <a:rPr lang="en-US" altLang="zh-CN" i="1" spc="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en-US" altLang="zh-CN" i="1" spc="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err="1">
                          <a:latin typeface="Cambria Math" panose="02040503050406030204" pitchFamily="18" charset="0"/>
                          <a:cs typeface="Palatino Linotype"/>
                        </a:rPr>
                        <m:t>Pr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Palatino Linotype"/>
                        </a:rPr>
                        <m:t>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en-US" altLang="zh-CN" i="1" spc="10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0" dirty="0">
                          <a:latin typeface="Cambria Math" panose="02040503050406030204" pitchFamily="18" charset="0"/>
                          <a:cs typeface="Cambria"/>
                        </a:rPr>
                        <m:t>1]).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841BB0-F784-E4D0-49B8-B5CB48EA3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322845" cy="4351338"/>
              </a:xfrm>
              <a:blipFill>
                <a:blip r:embed="rId2"/>
                <a:stretch>
                  <a:fillRect l="-440" t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C381D-1D8E-784D-2348-B30D9E7E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18323-72D5-CC69-A413-728CEE65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768847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ABA5E-3592-5A8D-9434-D58DD3F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选择偏差</a:t>
            </a:r>
            <a:r>
              <a:rPr lang="zh-CN" altLang="en-US" spc="-235" dirty="0"/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(selection</a:t>
            </a:r>
            <a:r>
              <a:rPr lang="en-US" altLang="zh-CN" spc="10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bias)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1168FF-05DA-9FE4-1C7E-39C9BCE966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63500" marR="133985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干预组和控制组观测结果平均值的差额，只是反映了干预分配和观测结</a:t>
                </a:r>
                <a:r>
                  <a:rPr lang="zh-CN" altLang="en-US" spc="-50" dirty="0">
                    <a:latin typeface="宋体"/>
                    <a:cs typeface="宋体"/>
                  </a:rPr>
                  <a:t>果</a:t>
                </a:r>
                <a:r>
                  <a:rPr lang="zh-CN" altLang="en-US" spc="-10" dirty="0">
                    <a:latin typeface="宋体"/>
                    <a:cs typeface="宋体"/>
                  </a:rPr>
                  <a:t>的相关性，通常不是因果效应，但是，因果效应可以和相关性有关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00000"/>
                  </a:lnSpc>
                  <a:spcBef>
                    <a:spcPts val="25"/>
                  </a:spcBef>
                </a:pPr>
                <a:endParaRPr lang="zh-CN" altLang="en-US" sz="800" dirty="0">
                  <a:latin typeface="宋体"/>
                  <a:cs typeface="宋体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=1]</m:t>
                              </m:r>
                            </m:e>
                          </m:groupChr>
                        </m:e>
                        <m:li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𝐴𝑇𝑇</m:t>
                          </m:r>
                        </m:lim>
                      </m:limLow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=1]−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=0]}</m:t>
                              </m:r>
                            </m:e>
                          </m:groupChr>
                        </m:e>
                        <m:li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选择</m:t>
                          </m:r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偏差</m:t>
                          </m:r>
                        </m:lim>
                      </m:limLow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例子：职业培训项</a:t>
                </a:r>
                <a:r>
                  <a:rPr lang="zh-CN" altLang="en-US" spc="-50" dirty="0">
                    <a:latin typeface="宋体"/>
                    <a:cs typeface="宋体"/>
                  </a:rPr>
                  <a:t>目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参与者可以自选</a:t>
                </a:r>
                <a:r>
                  <a:rPr lang="zh-CN" altLang="en-US" spc="-50" dirty="0">
                    <a:latin typeface="宋体"/>
                    <a:cs typeface="宋体"/>
                  </a:rPr>
                  <a:t>择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如果没有项目干预，参与者的收入会低于非参与者的收</a:t>
                </a:r>
                <a:r>
                  <a:rPr lang="zh-CN" altLang="en-US" spc="-50" dirty="0">
                    <a:latin typeface="宋体"/>
                    <a:cs typeface="宋体"/>
                  </a:rPr>
                  <a:t>入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zh-CN" altLang="en-US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190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 (0)|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0]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/>
                        </a:rPr>
                        <m:t>&lt;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0.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1168FF-05DA-9FE4-1C7E-39C9BCE96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261" r="-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8454C-AEEA-7E57-70B3-CE19D2A8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CAA62-9CA5-97E5-1E04-F040B841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23519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4B8F3-D2A2-D66D-E98A-78446D6D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选择偏差</a:t>
            </a:r>
            <a:r>
              <a:rPr lang="zh-CN" altLang="en-US" spc="-235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(selection</a:t>
            </a:r>
            <a:r>
              <a:rPr lang="en-US" altLang="zh-CN" spc="10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bias)</a:t>
            </a:r>
            <a:endParaRPr lang="zh-CN" altLang="en-US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2AE2B41-46C8-6139-A05C-F4E73D5CBFF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401721"/>
            <a:ext cx="7886700" cy="319914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329C16-6557-7639-009E-0171F796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AE937B9D-E16C-533B-03A8-CF63FCAA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947931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778B2-C23E-36E5-93B8-AF36DF37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选择偏差</a:t>
            </a:r>
            <a:r>
              <a:rPr lang="zh-CN" altLang="en-US" spc="-235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(selection</a:t>
            </a:r>
            <a:r>
              <a:rPr lang="en-US" altLang="zh-CN" spc="10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bias)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E4C242-D238-D899-9B6C-305324212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类似</a:t>
                </a:r>
                <a:r>
                  <a:rPr lang="zh-CN" altLang="en-US" spc="-50" dirty="0">
                    <a:latin typeface="宋体"/>
                    <a:cs typeface="宋体"/>
                  </a:rPr>
                  <a:t>地</a:t>
                </a:r>
                <a:endParaRPr lang="en-US" altLang="zh-CN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=0]</m:t>
                              </m:r>
                            </m:e>
                          </m:groupCh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lim>
                      </m:limLow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(1)|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=1]−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(1)|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=0]}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选择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偏差</m:t>
                          </m:r>
                        </m:lim>
                      </m:limLow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lim>
                      </m:limLow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=1]−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=0]}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选择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偏差</m:t>
                          </m:r>
                        </m:lim>
                      </m:limLow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=1]−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(1)−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(0)|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=0]}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因果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效应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异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质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性</m:t>
                          </m:r>
                        </m:lim>
                      </m:limLow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为了识别这些因果效应参数，我们需要关于选择偏差的假设，或者说需要</a:t>
                </a:r>
                <a:r>
                  <a:rPr lang="zh-CN" altLang="en-US" spc="-10" dirty="0">
                    <a:latin typeface="黑体"/>
                    <a:cs typeface="黑体"/>
                  </a:rPr>
                  <a:t>关</a:t>
                </a:r>
                <a:r>
                  <a:rPr lang="zh-CN" altLang="en-US" spc="-50" dirty="0">
                    <a:latin typeface="黑体"/>
                    <a:cs typeface="黑体"/>
                  </a:rPr>
                  <a:t>于</a:t>
                </a:r>
                <a:r>
                  <a:rPr lang="zh-CN" altLang="en-US" spc="-10" dirty="0">
                    <a:latin typeface="黑体"/>
                    <a:cs typeface="黑体"/>
                  </a:rPr>
                  <a:t>分配机制的假设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E4C242-D238-D899-9B6C-305324212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851E0-1CC7-471A-81E9-E2157F85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F91E9-EDD3-198E-F780-09F541F7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518170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BF1D9-5BCB-F297-9FCB-4642F20B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zh-CN" altLang="en-US" sz="4900" dirty="0">
                <a:latin typeface="宋体"/>
                <a:cs typeface="宋体"/>
              </a:rPr>
              <a:t>如何定义因</a:t>
            </a:r>
            <a:r>
              <a:rPr lang="zh-CN" altLang="en-US" sz="4900" spc="-50" dirty="0">
                <a:latin typeface="宋体"/>
                <a:cs typeface="宋体"/>
              </a:rPr>
              <a:t>果</a:t>
            </a:r>
            <a:br>
              <a:rPr lang="zh-CN" altLang="en-US" sz="4900" dirty="0">
                <a:latin typeface="宋体"/>
                <a:cs typeface="宋体"/>
              </a:rPr>
            </a:br>
            <a:r>
              <a:rPr lang="zh-CN" altLang="en-US" sz="2700" spc="-10" dirty="0">
                <a:latin typeface="宋体"/>
                <a:cs typeface="宋体"/>
              </a:rPr>
              <a:t>选择偏差</a:t>
            </a:r>
            <a:r>
              <a:rPr lang="zh-CN" altLang="en-US" sz="2700" spc="-70" dirty="0">
                <a:latin typeface="宋体"/>
                <a:cs typeface="宋体"/>
              </a:rPr>
              <a:t> </a:t>
            </a:r>
            <a:r>
              <a:rPr lang="en-US" altLang="zh-CN" sz="2700" dirty="0">
                <a:latin typeface="Palatino Linotype"/>
                <a:cs typeface="Palatino Linotype"/>
              </a:rPr>
              <a:t>(selection</a:t>
            </a:r>
            <a:r>
              <a:rPr lang="en-US" altLang="zh-CN" sz="2700" spc="135" dirty="0">
                <a:latin typeface="Palatino Linotype"/>
                <a:cs typeface="Palatino Linotype"/>
              </a:rPr>
              <a:t> </a:t>
            </a:r>
            <a:r>
              <a:rPr lang="en-US" altLang="zh-CN" sz="2700" spc="-10" dirty="0">
                <a:latin typeface="Palatino Linotype"/>
                <a:cs typeface="Palatino Linotype"/>
              </a:rPr>
              <a:t>bias)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8C9C8-780F-F2E1-B6EE-D09AF3E7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相关和因果的关</a:t>
            </a:r>
            <a:r>
              <a:rPr lang="zh-CN" altLang="en-US" spc="-50" dirty="0">
                <a:latin typeface="宋体"/>
                <a:cs typeface="宋体"/>
              </a:rPr>
              <a:t>系</a:t>
            </a: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相关性看得到，因果性看不到。相关性不代表因果性，因果性可能表现</a:t>
            </a:r>
            <a:r>
              <a:rPr lang="zh-CN" altLang="en-US" spc="-50" dirty="0">
                <a:latin typeface="宋体"/>
                <a:cs typeface="宋体"/>
              </a:rPr>
              <a:t>出</a:t>
            </a:r>
            <a:r>
              <a:rPr lang="zh-CN" altLang="en-US" spc="-10" dirty="0">
                <a:latin typeface="宋体"/>
                <a:cs typeface="宋体"/>
              </a:rPr>
              <a:t>相关性，因果推断就是考察如何用相关性去推断因果性的方法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A1DF9851-90EB-CF6E-A60D-B3D90E4F97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3918" y="2126414"/>
            <a:ext cx="4226746" cy="315544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CE811-484D-59C3-FAE9-2FCE0660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48AFCD2-01BE-B7D1-67EA-AE86A374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667300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AC0C0-17BA-59E8-F09C-04D83AFA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因果识</a:t>
            </a:r>
            <a:r>
              <a:rPr lang="zh-CN" altLang="en-US" spc="-50" dirty="0"/>
              <a:t>别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5BAD8A-6010-4FA3-C67A-2DB017F1A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0165" marR="3048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25" dirty="0">
                    <a:latin typeface="黑体"/>
                    <a:cs typeface="黑体"/>
                  </a:rPr>
                  <a:t>定义</a:t>
                </a:r>
                <a:r>
                  <a:rPr lang="zh-CN" altLang="en-US" spc="-10" dirty="0">
                    <a:latin typeface="黑体"/>
                    <a:cs typeface="黑体"/>
                  </a:rPr>
                  <a:t>（因果识别</a:t>
                </a:r>
                <a:r>
                  <a:rPr lang="zh-CN" altLang="en-US" spc="-275" dirty="0">
                    <a:latin typeface="黑体"/>
                    <a:cs typeface="黑体"/>
                  </a:rPr>
                  <a:t>）：</a:t>
                </a:r>
                <a:r>
                  <a:rPr lang="zh-CN" altLang="en-US" spc="-10" dirty="0">
                    <a:latin typeface="宋体"/>
                    <a:cs typeface="宋体"/>
                  </a:rPr>
                  <a:t>通过引入关于分配机制的合理假设</a:t>
                </a:r>
                <a:r>
                  <a:rPr lang="zh-CN" altLang="en-US" spc="-40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将因果效应参数</a:t>
                </a:r>
                <a:r>
                  <a:rPr lang="zh-CN" altLang="en-US" spc="-50" dirty="0">
                    <a:latin typeface="宋体"/>
                    <a:cs typeface="宋体"/>
                  </a:rPr>
                  <a:t>转</a:t>
                </a:r>
                <a:r>
                  <a:rPr lang="zh-CN" altLang="en-US" spc="-10" dirty="0">
                    <a:latin typeface="宋体"/>
                    <a:cs typeface="宋体"/>
                  </a:rPr>
                  <a:t>化为仅有观测变量表述的统计参数的过程。或者说，因果识别就是通过</a:t>
                </a:r>
                <a:r>
                  <a:rPr lang="zh-CN" altLang="en-US" spc="-50" dirty="0">
                    <a:latin typeface="宋体"/>
                    <a:cs typeface="宋体"/>
                  </a:rPr>
                  <a:t>引</a:t>
                </a:r>
                <a:r>
                  <a:rPr lang="zh-CN" altLang="en-US" spc="-10" dirty="0">
                    <a:latin typeface="宋体"/>
                    <a:cs typeface="宋体"/>
                  </a:rPr>
                  <a:t>入合理的识别假设，将因果关系表示成可观测的相关关系的过程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50165">
                  <a:lnSpc>
                    <a:spcPct val="120000"/>
                  </a:lnSpc>
                  <a:spcBef>
                    <a:spcPts val="28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比如引入独立生假设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0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(0),</a:t>
                </a:r>
                <a:r>
                  <a:rPr lang="zh-CN" altLang="en-US" spc="-50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5" dirty="0">
                    <a:latin typeface="Cambria"/>
                    <a:cs typeface="Cambria"/>
                  </a:rPr>
                  <a:t> </a:t>
                </a:r>
                <a:r>
                  <a:rPr lang="en-US" altLang="zh-CN" dirty="0">
                    <a:latin typeface="Cambria"/>
                    <a:cs typeface="Cambria"/>
                  </a:rPr>
                  <a:t>(1))</a:t>
                </a:r>
                <a:r>
                  <a:rPr lang="zh-CN" altLang="en-US" spc="-140" dirty="0">
                    <a:latin typeface="Cambria"/>
                    <a:cs typeface="Cambria"/>
                  </a:rPr>
                  <a:t> ⟂⟂ </a:t>
                </a:r>
                <a:r>
                  <a:rPr lang="zh-CN" altLang="en-US" dirty="0">
                    <a:latin typeface="Cambria"/>
                    <a:cs typeface="Cambria"/>
                  </a:rPr>
                  <a:t>𝐷</a:t>
                </a:r>
                <a:r>
                  <a:rPr lang="en-US" altLang="zh-CN" dirty="0">
                    <a:latin typeface="Cambria"/>
                    <a:cs typeface="Cambria"/>
                  </a:rPr>
                  <a:t>)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则因果效应参数可以识别</a:t>
                </a:r>
                <a:r>
                  <a:rPr lang="zh-CN" altLang="en-US" spc="-50" dirty="0">
                    <a:latin typeface="宋体"/>
                    <a:cs typeface="宋体"/>
                  </a:rPr>
                  <a:t>：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marL="76454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pc="55" dirty="0" smtClean="0">
                          <a:latin typeface="Cambria Math" panose="02040503050406030204" pitchFamily="18" charset="0"/>
                          <a:cs typeface="Cambria"/>
                        </a:rPr>
                        <m:t>𝜏</m:t>
                      </m:r>
                      <m:r>
                        <a:rPr lang="zh-CN" altLang="en-US" sz="3200" i="1" spc="82" baseline="-19841" dirty="0">
                          <a:latin typeface="Cambria Math" panose="02040503050406030204" pitchFamily="18" charset="0"/>
                          <a:cs typeface="Cambria"/>
                        </a:rPr>
                        <m:t>𝐴𝑇</m:t>
                      </m:r>
                      <m:r>
                        <a:rPr lang="zh-CN" altLang="en-US" sz="3200" i="1" spc="-97" baseline="-1984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3200" i="1" spc="75" baseline="-19841" dirty="0">
                          <a:latin typeface="Cambria Math" panose="02040503050406030204" pitchFamily="18" charset="0"/>
                          <a:cs typeface="Cambria"/>
                        </a:rPr>
                        <m:t>𝑇</m:t>
                      </m:r>
                      <m:r>
                        <a:rPr lang="zh-CN" altLang="en-US" sz="3200" i="1" spc="412" baseline="-19841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-1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35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</m:oMath>
                    <m:oMath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zh-CN" altLang="en-US" i="1" spc="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2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</m:oMath>
                    <m:oMath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(1)|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zh-CN" altLang="en-US" i="1" spc="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2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(0)|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8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0]</m:t>
                      </m:r>
                    </m:oMath>
                    <m:oMath>
                      <m:r>
                        <a:rPr lang="en-US" altLang="zh-CN" i="1" spc="215" dirty="0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9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/>
                        </a:rPr>
                        <m:t>1]</m:t>
                      </m:r>
                      <m:r>
                        <a:rPr lang="zh-CN" altLang="en-US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spc="215" dirty="0">
                          <a:latin typeface="Cambria Math" panose="02040503050406030204" pitchFamily="18" charset="0"/>
                          <a:cs typeface="Cambria"/>
                        </a:rPr>
                        <m:t>−</m:t>
                      </m:r>
                      <m:r>
                        <a:rPr lang="zh-CN" altLang="en-US" i="1" spc="3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i="1" spc="1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/>
                        </a:rPr>
                        <m:t>𝐷</m:t>
                      </m:r>
                      <m:r>
                        <a:rPr lang="zh-CN" altLang="en-US" i="1" spc="10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21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zh-CN" altLang="en-US" i="1" spc="9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/>
                        </a:rPr>
                        <m:t>0]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  <a:p>
                <a:pPr>
                  <a:lnSpc>
                    <a:spcPct val="120000"/>
                  </a:lnSpc>
                  <a:spcBef>
                    <a:spcPts val="50"/>
                  </a:spcBef>
                </a:pPr>
                <a:endParaRPr lang="zh-CN" altLang="en-US" sz="2000" dirty="0">
                  <a:latin typeface="Cambria"/>
                  <a:cs typeface="Cambria"/>
                </a:endParaRPr>
              </a:p>
              <a:p>
                <a:pPr marL="50165">
                  <a:lnSpc>
                    <a:spcPct val="120000"/>
                  </a:lnSpc>
                  <a:spcBef>
                    <a:spcPts val="285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目标参数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55" dirty="0">
                    <a:latin typeface="Cambria"/>
                    <a:cs typeface="Cambria"/>
                  </a:rPr>
                  <a:t>𝜏</a:t>
                </a:r>
                <a:r>
                  <a:rPr lang="zh-CN" altLang="en-US" sz="3200" spc="82" baseline="-19841" dirty="0">
                    <a:latin typeface="Cambria"/>
                    <a:cs typeface="Cambria"/>
                  </a:rPr>
                  <a:t>𝐴𝑇</a:t>
                </a:r>
                <a:r>
                  <a:rPr lang="zh-CN" altLang="en-US" sz="3200" spc="-89" baseline="-19841" dirty="0">
                    <a:latin typeface="Cambria"/>
                    <a:cs typeface="Cambria"/>
                  </a:rPr>
                  <a:t> </a:t>
                </a:r>
                <a:r>
                  <a:rPr lang="zh-CN" altLang="en-US" sz="3200" spc="75" baseline="-19841" dirty="0">
                    <a:latin typeface="Cambria"/>
                    <a:cs typeface="Cambria"/>
                  </a:rPr>
                  <a:t>𝑇</a:t>
                </a:r>
                <a:r>
                  <a:rPr lang="zh-CN" altLang="en-US" sz="3200" spc="480" baseline="-19841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是不可观测的，但最后一行全部是可观测数据。因而，</a:t>
                </a:r>
                <a:r>
                  <a:rPr lang="zh-CN" altLang="en-US" spc="-50" dirty="0">
                    <a:latin typeface="宋体"/>
                    <a:cs typeface="宋体"/>
                  </a:rPr>
                  <a:t>独</a:t>
                </a:r>
                <a:r>
                  <a:rPr lang="zh-CN" altLang="en-US" spc="-10" dirty="0">
                    <a:latin typeface="宋体"/>
                    <a:cs typeface="宋体"/>
                  </a:rPr>
                  <a:t>立性假设可以使识别</a:t>
                </a:r>
                <a:r>
                  <a:rPr lang="zh-CN" altLang="en-US" spc="-8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ATT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5BAD8A-6010-4FA3-C67A-2DB017F1A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700" r="-77" b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9BFC3-C2CA-5559-B187-EC5B20E4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2EE44-7AF5-02BF-2816-F8ACA911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81045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178E-A316-E78D-ABF3-F7A3254A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因果识</a:t>
            </a:r>
            <a:r>
              <a:rPr lang="zh-CN" altLang="en-US" spc="-50" dirty="0"/>
              <a:t>别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E24A2-E137-EB67-AEB2-903B8368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0041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因果效应参数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(causal</a:t>
            </a:r>
            <a:r>
              <a:rPr lang="zh-CN" altLang="en-US" spc="5" dirty="0">
                <a:latin typeface="Palatino Linotype"/>
                <a:cs typeface="Palatino Linotype"/>
              </a:rPr>
              <a:t> </a:t>
            </a:r>
            <a:r>
              <a:rPr lang="en-US" altLang="zh-CN" spc="-10" dirty="0" err="1">
                <a:latin typeface="Palatino Linotype"/>
                <a:cs typeface="Palatino Linotype"/>
              </a:rPr>
              <a:t>estimands</a:t>
            </a:r>
            <a:r>
              <a:rPr lang="en-US" altLang="zh-CN" spc="-10" dirty="0">
                <a:latin typeface="Palatino Linotype"/>
                <a:cs typeface="Palatino Linotype"/>
              </a:rPr>
              <a:t>)</a:t>
            </a:r>
            <a:r>
              <a:rPr lang="zh-CN" altLang="en-US" spc="4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定义清楚我们感兴趣的目标参数，也</a:t>
            </a:r>
            <a:r>
              <a:rPr lang="zh-CN" altLang="en-US" spc="-50" dirty="0">
                <a:latin typeface="宋体"/>
                <a:cs typeface="宋体"/>
              </a:rPr>
              <a:t>是</a:t>
            </a:r>
            <a:r>
              <a:rPr lang="zh-CN" altLang="en-US" spc="-10" dirty="0">
                <a:latin typeface="宋体"/>
                <a:cs typeface="宋体"/>
              </a:rPr>
              <a:t>经济学实证的第一步</a:t>
            </a:r>
            <a:endParaRPr lang="en-US" altLang="zh-CN" spc="-10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因果识别是通过引入关于分配机制的合理假设，从而将不可观测的目标</a:t>
            </a:r>
            <a:r>
              <a:rPr lang="zh-CN" altLang="en-US" spc="-50" dirty="0">
                <a:latin typeface="宋体"/>
                <a:cs typeface="宋体"/>
              </a:rPr>
              <a:t>参</a:t>
            </a:r>
            <a:r>
              <a:rPr lang="zh-CN" altLang="en-US" spc="-10" dirty="0">
                <a:latin typeface="宋体"/>
                <a:cs typeface="宋体"/>
              </a:rPr>
              <a:t>数转化为可观测的统计参数</a:t>
            </a:r>
            <a:r>
              <a:rPr lang="zh-CN" altLang="en-US" spc="-125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(Statistical</a:t>
            </a:r>
            <a:r>
              <a:rPr lang="zh-CN" altLang="en-US" spc="125" dirty="0">
                <a:latin typeface="Palatino Linotype"/>
                <a:cs typeface="Palatino Linotype"/>
              </a:rPr>
              <a:t> </a:t>
            </a:r>
            <a:r>
              <a:rPr lang="en-US" altLang="zh-CN" spc="-10" dirty="0" err="1">
                <a:latin typeface="Palatino Linotype"/>
                <a:cs typeface="Palatino Linotype"/>
              </a:rPr>
              <a:t>estimands</a:t>
            </a:r>
            <a:r>
              <a:rPr lang="en-US" altLang="zh-CN" spc="-10" dirty="0">
                <a:latin typeface="Palatino Linotype"/>
                <a:cs typeface="Palatino Linotype"/>
              </a:rPr>
              <a:t>)</a:t>
            </a:r>
            <a:r>
              <a:rPr lang="zh-CN" altLang="en-US" spc="125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的过程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因果识别不涉及样本，仅涉及总体信息。统计参数可以利用样本信息去</a:t>
            </a:r>
            <a:r>
              <a:rPr lang="zh-CN" altLang="en-US" spc="-50" dirty="0">
                <a:latin typeface="宋体"/>
                <a:cs typeface="宋体"/>
              </a:rPr>
              <a:t>估</a:t>
            </a:r>
            <a:r>
              <a:rPr lang="zh-CN" altLang="en-US" spc="-10" dirty="0">
                <a:latin typeface="宋体"/>
                <a:cs typeface="宋体"/>
              </a:rPr>
              <a:t>计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AE74B163-D6D5-FB6F-C417-633E5FF023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1618" y="3633537"/>
            <a:ext cx="6117192" cy="295976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A1916-850E-D01D-AD25-6C71FD92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917D142-5A2B-0F1F-2D9F-ABC59B59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73493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0A834-E3CD-CF52-D148-013D7414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714E1-8327-627D-C170-D437925B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pc="-10" dirty="0">
                <a:latin typeface="Palatino Linotype"/>
                <a:cs typeface="Palatino Linotype"/>
              </a:rPr>
              <a:t>RCM</a:t>
            </a:r>
            <a:r>
              <a:rPr lang="zh-CN" altLang="en-US" spc="-10" dirty="0"/>
              <a:t>：潜在结果、分配机制、稳定性假</a:t>
            </a:r>
            <a:r>
              <a:rPr lang="zh-CN" altLang="en-US" spc="-50" dirty="0"/>
              <a:t>设</a:t>
            </a:r>
            <a:endParaRPr lang="en-US" altLang="zh-CN" spc="-50" dirty="0"/>
          </a:p>
          <a:p>
            <a:r>
              <a:rPr lang="zh-CN" altLang="en-US" spc="-10" dirty="0"/>
              <a:t>非混杂分配机制</a:t>
            </a:r>
            <a:r>
              <a:rPr lang="zh-CN" altLang="en-US" spc="-170" dirty="0"/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</a:t>
            </a:r>
            <a:r>
              <a:rPr lang="en-US" altLang="zh-CN" spc="-10" dirty="0" err="1">
                <a:latin typeface="Palatino Linotype"/>
                <a:cs typeface="Palatino Linotype"/>
              </a:rPr>
              <a:t>unconfoundedness</a:t>
            </a:r>
            <a:r>
              <a:rPr lang="en-US" altLang="zh-CN" spc="-10" dirty="0">
                <a:latin typeface="Palatino Linotype"/>
                <a:cs typeface="Palatino Linotype"/>
              </a:rPr>
              <a:t>)</a:t>
            </a:r>
          </a:p>
          <a:p>
            <a:r>
              <a:rPr lang="zh-CN" altLang="en-US" spc="-10" dirty="0">
                <a:latin typeface="宋体"/>
                <a:cs typeface="宋体"/>
              </a:rPr>
              <a:t>因果效应参数</a:t>
            </a:r>
            <a:r>
              <a:rPr lang="zh-CN" altLang="en-US" spc="5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</a:t>
            </a:r>
            <a:r>
              <a:rPr lang="en-US" altLang="zh-CN" spc="-10" dirty="0" err="1">
                <a:latin typeface="Palatino Linotype"/>
                <a:cs typeface="Palatino Linotype"/>
              </a:rPr>
              <a:t>estimands</a:t>
            </a:r>
            <a:r>
              <a:rPr lang="en-US" altLang="zh-CN" spc="-10" dirty="0">
                <a:latin typeface="Palatino Linotype"/>
                <a:cs typeface="Palatino Linotype"/>
              </a:rPr>
              <a:t>)</a:t>
            </a:r>
            <a:r>
              <a:rPr lang="zh-CN" altLang="en-US" spc="-10" dirty="0">
                <a:latin typeface="宋体"/>
                <a:cs typeface="宋体"/>
              </a:rPr>
              <a:t>：</a:t>
            </a:r>
            <a:r>
              <a:rPr lang="en-US" altLang="zh-CN" spc="-10" dirty="0">
                <a:latin typeface="Palatino Linotype"/>
                <a:cs typeface="Palatino Linotype"/>
              </a:rPr>
              <a:t>ATE</a:t>
            </a:r>
            <a:r>
              <a:rPr lang="zh-CN" altLang="en-US" spc="-10" dirty="0">
                <a:latin typeface="宋体"/>
                <a:cs typeface="宋体"/>
              </a:rPr>
              <a:t>、</a:t>
            </a:r>
            <a:r>
              <a:rPr lang="en-US" altLang="zh-CN" dirty="0">
                <a:latin typeface="Palatino Linotype"/>
                <a:cs typeface="Palatino Linotype"/>
              </a:rPr>
              <a:t>ATT</a:t>
            </a:r>
            <a:r>
              <a:rPr lang="zh-CN" altLang="en-US" spc="-10" dirty="0">
                <a:latin typeface="宋体"/>
                <a:cs typeface="宋体"/>
              </a:rPr>
              <a:t>、</a:t>
            </a:r>
            <a:r>
              <a:rPr lang="en-US" altLang="zh-CN" spc="-25" dirty="0">
                <a:latin typeface="Palatino Linotype"/>
                <a:cs typeface="Palatino Linotype"/>
              </a:rPr>
              <a:t>ATC</a:t>
            </a:r>
          </a:p>
          <a:p>
            <a:r>
              <a:rPr lang="zh-CN" altLang="en-US" spc="-10" dirty="0">
                <a:latin typeface="宋体"/>
                <a:cs typeface="宋体"/>
              </a:rPr>
              <a:t>选择偏差：相关和因果的关</a:t>
            </a:r>
            <a:r>
              <a:rPr lang="zh-CN" altLang="en-US" spc="-50" dirty="0">
                <a:latin typeface="宋体"/>
                <a:cs typeface="宋体"/>
              </a:rPr>
              <a:t>系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因果识别：通过引入分配机制假设，将目标参数转化为可观测的统计参</a:t>
            </a:r>
            <a:r>
              <a:rPr lang="zh-CN" altLang="en-US" spc="-50" dirty="0">
                <a:latin typeface="宋体"/>
                <a:cs typeface="宋体"/>
              </a:rPr>
              <a:t>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BDFBA6-8B9F-92DB-C4CE-22AB3795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BD8EC-3A29-E53C-B1A2-2960CE7F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0447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宋体 Heavy"/>
        <a:cs typeface=""/>
      </a:majorFont>
      <a:minorFont>
        <a:latin typeface="Times New Roman"/>
        <a:ea typeface="思源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</TotalTime>
  <Words>3012</Words>
  <Application>Microsoft Office PowerPoint</Application>
  <PresentationFormat>全屏显示(4:3)</PresentationFormat>
  <Paragraphs>189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等线</vt:lpstr>
      <vt:lpstr>黑体</vt:lpstr>
      <vt:lpstr>宋体</vt:lpstr>
      <vt:lpstr>Arial</vt:lpstr>
      <vt:lpstr>Bookman Old Style</vt:lpstr>
      <vt:lpstr>Cambria</vt:lpstr>
      <vt:lpstr>Cambria Math</vt:lpstr>
      <vt:lpstr>Palatino Linotype</vt:lpstr>
      <vt:lpstr>Times New Roman</vt:lpstr>
      <vt:lpstr>Office 主题​​</vt:lpstr>
      <vt:lpstr>潜在结果框架</vt:lpstr>
      <vt:lpstr>目录</vt:lpstr>
      <vt:lpstr>如何定义因果</vt:lpstr>
      <vt:lpstr>如何定义因果 潜在结果</vt:lpstr>
      <vt:lpstr>Rubin 因果模型 稳定个体干预值假设 (SUTVA)</vt:lpstr>
      <vt:lpstr>Rubin 因果模型 稳定个体干预值假设 (SUTVA)</vt:lpstr>
      <vt:lpstr>因果效应参数 (causal estimands)</vt:lpstr>
      <vt:lpstr>因果效应测度：平均因果效应</vt:lpstr>
      <vt:lpstr>因果效应测度：干预组平均因果效应</vt:lpstr>
      <vt:lpstr>如何定义因果 因果效应参数 (causal estimands)</vt:lpstr>
      <vt:lpstr>如何定义因果 分配机制</vt:lpstr>
      <vt:lpstr>如何定义因果 分配机制</vt:lpstr>
      <vt:lpstr>如何定义因果 分配机制</vt:lpstr>
      <vt:lpstr>选择偏差 (selection bias)</vt:lpstr>
      <vt:lpstr>选择偏差 (selection bias)</vt:lpstr>
      <vt:lpstr>选择偏差 (selection bias)</vt:lpstr>
      <vt:lpstr>选择偏差 (selection bias)</vt:lpstr>
      <vt:lpstr>如何定义因果 选择偏差 (selection bias)</vt:lpstr>
      <vt:lpstr>因果识别</vt:lpstr>
      <vt:lpstr>因果识别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15</cp:revision>
  <dcterms:created xsi:type="dcterms:W3CDTF">2026-08-07T12:10:34Z</dcterms:created>
  <dcterms:modified xsi:type="dcterms:W3CDTF">2026-08-07T13:27:50Z</dcterms:modified>
</cp:coreProperties>
</file>
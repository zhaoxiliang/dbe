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7" r:id="rId20"/>
    <p:sldId id="274" r:id="rId21"/>
    <p:sldId id="275" r:id="rId22"/>
    <p:sldId id="276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7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7" r:id="rId52"/>
    <p:sldId id="306" r:id="rId53"/>
    <p:sldId id="308" r:id="rId54"/>
    <p:sldId id="309" r:id="rId55"/>
    <p:sldId id="310" r:id="rId56"/>
    <p:sldId id="311" r:id="rId57"/>
    <p:sldId id="315" r:id="rId58"/>
    <p:sldId id="312" r:id="rId59"/>
    <p:sldId id="313" r:id="rId60"/>
    <p:sldId id="314" r:id="rId61"/>
    <p:sldId id="316" r:id="rId62"/>
    <p:sldId id="317" r:id="rId63"/>
    <p:sldId id="318" r:id="rId64"/>
    <p:sldId id="320" r:id="rId65"/>
    <p:sldId id="321" r:id="rId66"/>
    <p:sldId id="322" r:id="rId67"/>
    <p:sldId id="324" r:id="rId68"/>
    <p:sldId id="319" r:id="rId69"/>
    <p:sldId id="323" r:id="rId70"/>
    <p:sldId id="325" r:id="rId71"/>
    <p:sldId id="326" r:id="rId72"/>
    <p:sldId id="327" r:id="rId73"/>
    <p:sldId id="328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29" r:id="rId82"/>
    <p:sldId id="330" r:id="rId8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7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942F0-4256-45E8-908A-098117AC0547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598564-95D5-4E86-B5A0-BB760BC0A9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437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思源宋体" panose="02020400000000000000" pitchFamily="18" charset="-122"/>
                <a:ea typeface="思源宋体" panose="02020400000000000000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思源宋体" panose="02020400000000000000" pitchFamily="18" charset="-122"/>
                <a:ea typeface="思源宋体" panose="02020400000000000000" pitchFamily="18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203C0-6587-46F0-B425-ED8B87987A57}" type="datetime1">
              <a:rPr lang="zh-CN" altLang="en-US" smtClean="0"/>
              <a:t>2026/8/7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011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C23E-2061-4A12-8E47-966F04EA7F68}" type="datetime1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913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A42E-1CF4-4BF4-9994-003470BDBBCB}" type="datetime1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8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386EF-F0CA-471D-8463-183576D31715}" type="datetime1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667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1A45E-76A9-4C3A-AEE5-C38787741805}" type="datetime1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149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AE70A-A0A4-4848-84DF-54766A78C666}" type="datetime1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272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AF36B-2B68-48F9-89BC-9B327B75BF68}" type="datetime1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679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A684-5A44-4F08-B1B9-6C0B56965B73}" type="datetime1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432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B8DDC-6DD0-4B9B-B471-FA16F986B43C}" type="datetime1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913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E00D2-D96F-47F7-940A-C6E3C04DEF6D}" type="datetime1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895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8ADC0-8145-4B56-9F4D-5AC4BEE3C078}" type="datetime1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935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0F85B-33CC-4FF2-BB1B-728E5ADD353C}" type="datetime1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C3EF3-984E-4995-B669-52CCD4060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82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宋体" panose="02020400000000000000" pitchFamily="18" charset="-122"/>
          <a:ea typeface="思源宋体" panose="02020400000000000000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宋体" panose="02020400000000000000" pitchFamily="18" charset="-122"/>
          <a:ea typeface="思源宋体" panose="02020400000000000000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宋体" panose="02020400000000000000" pitchFamily="18" charset="-122"/>
          <a:ea typeface="思源宋体" panose="02020400000000000000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宋体" panose="02020400000000000000" pitchFamily="18" charset="-122"/>
          <a:ea typeface="思源宋体" panose="02020400000000000000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" panose="02020400000000000000" pitchFamily="18" charset="-122"/>
          <a:ea typeface="思源宋体" panose="02020400000000000000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" panose="02020400000000000000" pitchFamily="18" charset="-122"/>
          <a:ea typeface="思源宋体" panose="02020400000000000000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1DDF08-B86E-4859-A87A-8284D55E4D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统计推断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F50784F-A7C5-0D87-1205-0EC8963A3C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赵西亮</a:t>
            </a:r>
            <a:endParaRPr lang="en-US" altLang="zh-CN" dirty="0"/>
          </a:p>
          <a:p>
            <a:r>
              <a:rPr lang="zh-CN" altLang="en-US" dirty="0"/>
              <a:t>厦门大学经济学院</a:t>
            </a:r>
            <a:endParaRPr lang="en-US" altLang="zh-CN" dirty="0"/>
          </a:p>
          <a:p>
            <a:r>
              <a:rPr lang="zh-CN" altLang="en-US" dirty="0"/>
              <a:t>王亚南经济研究院</a:t>
            </a:r>
          </a:p>
        </p:txBody>
      </p:sp>
    </p:spTree>
    <p:extLst>
      <p:ext uri="{BB962C8B-B14F-4D97-AF65-F5344CB8AC3E}">
        <p14:creationId xmlns:p14="http://schemas.microsoft.com/office/powerpoint/2010/main" val="102451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92B2F1-C682-1EB6-C8B9-B833A953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4732BA-D5C3-F180-8AB1-5D79A28C5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统计推断</a:t>
            </a:r>
            <a:endParaRPr lang="en-US" altLang="zh-CN" dirty="0"/>
          </a:p>
          <a:p>
            <a:r>
              <a:rPr lang="zh-CN" altLang="en-US" dirty="0"/>
              <a:t>条件期望</a:t>
            </a:r>
            <a:endParaRPr lang="en-US" altLang="zh-CN" dirty="0"/>
          </a:p>
          <a:p>
            <a:r>
              <a:rPr lang="zh-CN" altLang="en-US" dirty="0"/>
              <a:t>线性回归</a:t>
            </a:r>
            <a:endParaRPr lang="en-US" altLang="zh-CN" dirty="0"/>
          </a:p>
          <a:p>
            <a:r>
              <a:rPr lang="zh-CN" altLang="en-US" dirty="0"/>
              <a:t>机器学习</a:t>
            </a:r>
            <a:endParaRPr lang="en-US" altLang="zh-CN" dirty="0"/>
          </a:p>
          <a:p>
            <a:r>
              <a:rPr lang="zh-CN" altLang="en-US" dirty="0"/>
              <a:t>非参数方法 </a:t>
            </a:r>
            <a:endParaRPr lang="en-US" altLang="zh-CN" dirty="0"/>
          </a:p>
          <a:p>
            <a:r>
              <a:rPr lang="zh-CN" altLang="en-US" dirty="0"/>
              <a:t>自助法</a:t>
            </a:r>
            <a:endParaRPr lang="en-US" altLang="zh-CN" dirty="0"/>
          </a:p>
          <a:p>
            <a:r>
              <a:rPr lang="zh-CN" altLang="en-US" dirty="0"/>
              <a:t>面</a:t>
            </a:r>
            <a:r>
              <a:rPr lang="zh-CN" altLang="en-US"/>
              <a:t>板数据方法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C4F58C-FDFD-5056-4E1D-4AC8D2034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3349AD-136B-3A49-C80E-D2E82F768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903497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3337D-E233-35B5-EF1C-D65CA6F8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统计推断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75C2454-F8EF-2CAA-E273-0AB2F5CFFB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dirty="0"/>
                  <a:t>统计推断的主要工作是用样本信息去推断总体信息，主要内容包括</a:t>
                </a:r>
                <a:r>
                  <a:rPr lang="en-US" altLang="zh-CN" dirty="0"/>
                  <a:t>(1) </a:t>
                </a:r>
                <a:r>
                  <a:rPr lang="zh-CN" altLang="en-US" dirty="0"/>
                  <a:t>参数估计、</a:t>
                </a:r>
                <a:r>
                  <a:rPr lang="en-US" altLang="zh-CN" dirty="0"/>
                  <a:t>(2) </a:t>
                </a:r>
                <a:r>
                  <a:rPr lang="zh-CN" altLang="en-US" dirty="0"/>
                  <a:t>假设检验和</a:t>
                </a:r>
                <a:r>
                  <a:rPr lang="en-US" altLang="zh-CN" dirty="0"/>
                  <a:t>(3) </a:t>
                </a:r>
                <a:r>
                  <a:rPr lang="zh-CN" altLang="en-US" dirty="0"/>
                  <a:t>预测。</a:t>
                </a:r>
                <a:endParaRPr lang="en-US" altLang="zh-CN" dirty="0"/>
              </a:p>
              <a:p>
                <a:pPr>
                  <a:lnSpc>
                    <a:spcPts val="2400"/>
                  </a:lnSpc>
                </a:pPr>
                <a:r>
                  <a:rPr lang="zh-CN" altLang="en-US" dirty="0"/>
                  <a:t>随机抽样：独立同分布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𝑖</a:t>
                </a:r>
                <a:r>
                  <a:rPr lang="en-US" altLang="zh-CN" dirty="0"/>
                  <a:t>.</a:t>
                </a:r>
                <a:r>
                  <a:rPr lang="zh-CN" altLang="en-US" dirty="0"/>
                  <a:t>𝑖</a:t>
                </a:r>
                <a:r>
                  <a:rPr lang="en-US" altLang="zh-CN" dirty="0"/>
                  <a:t>.</a:t>
                </a:r>
                <a:r>
                  <a:rPr lang="zh-CN" altLang="en-US" dirty="0"/>
                  <a:t>𝑑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，保证大数定律</a:t>
                </a:r>
                <a:r>
                  <a:rPr lang="en-US" altLang="zh-CN" dirty="0"/>
                  <a:t>(LLN) </a:t>
                </a:r>
                <a:r>
                  <a:rPr lang="zh-CN" altLang="en-US" dirty="0"/>
                  <a:t>和中心极限定理</a:t>
                </a:r>
                <a:r>
                  <a:rPr lang="en-US" altLang="zh-CN" dirty="0"/>
                  <a:t>(CLT) </a:t>
                </a:r>
                <a:r>
                  <a:rPr lang="zh-CN" altLang="en-US" dirty="0"/>
                  <a:t>成立。</a:t>
                </a:r>
                <a:endParaRPr lang="en-US" altLang="zh-CN" dirty="0"/>
              </a:p>
              <a:p>
                <a:pPr lvl="1">
                  <a:lnSpc>
                    <a:spcPts val="2400"/>
                  </a:lnSpc>
                </a:pPr>
                <a:r>
                  <a:rPr lang="zh-CN" altLang="en-US" dirty="0"/>
                  <a:t>估计量：样本的函数。比如用样本均值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bar>
                  </m:oMath>
                </a14:m>
                <a:r>
                  <a:rPr lang="en-US" altLang="zh-CN" dirty="0"/>
                  <a:t>)</a:t>
                </a:r>
                <a:r>
                  <a:rPr lang="zh-CN" altLang="en-US" dirty="0"/>
                  <a:t>作为总体均值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dirty="0"/>
                  <a:t>)</a:t>
                </a:r>
                <a:r>
                  <a:rPr lang="zh-CN" altLang="en-US" dirty="0"/>
                  <a:t>的估计量，</a:t>
                </a:r>
                <a:r>
                  <a:rPr lang="en-US" altLang="zh-CN" dirty="0"/>
                  <a:t>LLN</a:t>
                </a:r>
                <a:r>
                  <a:rPr lang="zh-CN" altLang="en-US" dirty="0"/>
                  <a:t>保证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bar>
                    <m:groupChr>
                      <m:groupChrPr>
                        <m:chr m:val="→"/>
                        <m:pos m:val="bot"/>
                        <m:vertJc m:val="bot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/>
              </a:p>
              <a:p>
                <a:pPr lvl="1">
                  <a:lnSpc>
                    <a:spcPts val="2400"/>
                  </a:lnSpc>
                </a:pPr>
                <a:r>
                  <a:rPr lang="zh-CN" altLang="en-US" dirty="0"/>
                  <a:t>抽样方差：估计量依赖于样本，样本不同，估计量值也不同，受到抽样不确定性的影响，抽样方差反映了这种抽样不确定性。样本均值的抽样方差为：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ba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/>
              </a:p>
              <a:p>
                <a:pPr lvl="1">
                  <a:lnSpc>
                    <a:spcPts val="2400"/>
                  </a:lnSpc>
                </a:pPr>
                <a:r>
                  <a:rPr lang="zh-CN" altLang="en-US" dirty="0"/>
                  <a:t>总体方差和抽样方差的关系：总体方差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)</a:t>
                </a:r>
                <a:r>
                  <a:rPr lang="zh-CN" altLang="en-US" dirty="0"/>
                  <a:t>反映总体变量的变动性，而抽样方差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bar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反映</m:t>
                    </m:r>
                  </m:oMath>
                </a14:m>
                <a:r>
                  <a:rPr lang="zh-CN" altLang="en-US" dirty="0"/>
                  <a:t>抽样不确定性。抽样方差的估计量：</a:t>
                </a:r>
                <a:endParaRPr lang="en-US" altLang="zh-CN" dirty="0"/>
              </a:p>
              <a:p>
                <a:pPr marL="457200" lvl="1" indent="0" algn="ctr">
                  <a:lnSpc>
                    <a:spcPts val="24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bar>
                          </m:e>
                        </m:d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pPr marL="457200" lvl="1" indent="0">
                  <a:lnSpc>
                    <a:spcPts val="2400"/>
                  </a:lnSpc>
                  <a:buNone/>
                </a:pPr>
                <a:r>
                  <a:rPr lang="en-US" altLang="zh-CN" dirty="0"/>
                  <a:t>   </a:t>
                </a:r>
                <a:r>
                  <a:rPr lang="zh-CN" altLang="en-US" dirty="0"/>
                  <a:t>开方后得到估计量的标准误差：</a:t>
                </a:r>
                <a:endParaRPr lang="en-US" altLang="zh-CN" dirty="0"/>
              </a:p>
              <a:p>
                <a:pPr marL="457200" lvl="1" indent="0">
                  <a:lnSpc>
                    <a:spcPts val="24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ba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大样本情况下，</a:t>
                </a:r>
                <a:r>
                  <a:rPr lang="en-US" altLang="zh-CN" dirty="0"/>
                  <a:t>CLT</a:t>
                </a:r>
                <a:r>
                  <a:rPr lang="zh-CN" altLang="en-US" dirty="0"/>
                  <a:t>保证</a:t>
                </a:r>
                <a:endParaRPr lang="en-US" altLang="zh-CN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rad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ba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groupChr>
                        <m:groupChrPr>
                          <m:chr m:val="→"/>
                          <m:pos m:val="bot"/>
                          <m:vertJc m:val="bot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groupCh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0,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75C2454-F8EF-2CAA-E273-0AB2F5CFFB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2" r="-1855" b="-33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DDE2B7-05D9-B67E-1067-4408FA77A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353630-8879-77BF-0586-E9F499BB9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830273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D9A828-1BFE-C887-67F9-667FB8E9A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统计推断</a:t>
            </a:r>
            <a:br>
              <a:rPr lang="en-US" altLang="zh-CN" dirty="0"/>
            </a:br>
            <a:r>
              <a:rPr lang="zh-CN" altLang="en-US" sz="2800" dirty="0"/>
              <a:t>基于设计的方法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3CB9E26-5DED-FBFD-A27B-AAF4E0956D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ts val="2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表示个体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是否被抽到，简单随机抽样概率：</a:t>
                </a:r>
                <a:endParaRPr lang="en-US" altLang="zh-CN" dirty="0"/>
              </a:p>
              <a:p>
                <a:pPr marL="0" indent="0" algn="ctr">
                  <a:lnSpc>
                    <a:spcPts val="25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=1]=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US" altLang="zh-CN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=0]=1−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pPr marL="0" indent="0">
                  <a:lnSpc>
                    <a:spcPts val="2500"/>
                  </a:lnSpc>
                  <a:buNone/>
                </a:pPr>
                <a:r>
                  <a:rPr lang="zh-CN" altLang="en-US" dirty="0"/>
                  <a:t>  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表示总体个体数，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表示样本量。</a:t>
                </a:r>
                <a:endParaRPr lang="en-US" altLang="zh-CN" dirty="0"/>
              </a:p>
              <a:p>
                <a:pPr>
                  <a:lnSpc>
                    <a:spcPts val="2500"/>
                  </a:lnSpc>
                </a:pPr>
                <a:r>
                  <a:rPr lang="zh-CN" altLang="en-US" dirty="0"/>
                  <a:t>将总体中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看作确定值，抽样随机性完全来自于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dirty="0"/>
                  <a:t>随机性，从而样本均值为：</a:t>
                </a:r>
                <a:endParaRPr lang="en-US" altLang="zh-CN" dirty="0"/>
              </a:p>
              <a:p>
                <a:pPr marL="0" indent="0" algn="ctr">
                  <a:lnSpc>
                    <a:spcPts val="2500"/>
                  </a:lnSpc>
                  <a:buNone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ba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dirty="0"/>
                  <a:t>                                           (1)</a:t>
                </a:r>
              </a:p>
              <a:p>
                <a:pPr>
                  <a:lnSpc>
                    <a:spcPts val="2500"/>
                  </a:lnSpc>
                </a:pPr>
                <a:r>
                  <a:rPr lang="zh-CN" altLang="en-US" dirty="0"/>
                  <a:t>样本均值可写为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ba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lang="en-US" altLang="zh-CN" dirty="0"/>
                  <a:t>   (2)</a:t>
                </a:r>
              </a:p>
              <a:p>
                <a:pPr marL="0" indent="0" algn="ctr">
                  <a:lnSpc>
                    <a:spcPts val="2500"/>
                  </a:lnSpc>
                  <a:buNone/>
                </a:pPr>
                <a:r>
                  <a:rPr lang="zh-CN" altLang="en-US" dirty="0"/>
                  <a:t>这里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dirty="0"/>
                  <a:t>表示总体求平均，（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）式相当于抽到的个体乘以权重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可以得到总体均值的估计量，称为逆概率加权</a:t>
                </a:r>
                <a:r>
                  <a:rPr lang="en-US" altLang="zh-CN" dirty="0"/>
                  <a:t>(IPW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Horvitz and Thompson, 1952)</a:t>
                </a:r>
                <a:r>
                  <a:rPr lang="zh-CN" altLang="en-US" dirty="0"/>
                  <a:t>。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3CB9E26-5DED-FBFD-A27B-AAF4E0956D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840" r="-6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EBCECC-37F5-D408-D2A4-E042239DE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7248BF-EF84-852C-B262-6A14E8C6D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265813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8F2AFC-CD35-D737-CB42-9C9CD487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统计推断</a:t>
            </a:r>
            <a:br>
              <a:rPr lang="en-US" altLang="zh-CN" dirty="0"/>
            </a:br>
            <a:r>
              <a:rPr lang="zh-CN" altLang="en-US" sz="2800" dirty="0"/>
              <a:t>基于设计的方法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C85BBB-2210-CCCA-2B41-A2B8B58408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ts val="3120"/>
                  </a:lnSpc>
                </a:pPr>
                <a:r>
                  <a:rPr lang="en-US" altLang="zh-CN" dirty="0"/>
                  <a:t> </a:t>
                </a:r>
                <a:r>
                  <a:rPr lang="zh-CN" altLang="en-US" dirty="0"/>
                  <a:t>分层抽样：如右表所示</a:t>
                </a:r>
                <a:endParaRPr lang="en-US" altLang="zh-CN" dirty="0"/>
              </a:p>
              <a:p>
                <a:pPr>
                  <a:lnSpc>
                    <a:spcPts val="3120"/>
                  </a:lnSpc>
                </a:pPr>
                <a:r>
                  <a:rPr lang="zh-CN" altLang="en-US" dirty="0"/>
                  <a:t>假设老中青收分别为</a:t>
                </a:r>
                <a:r>
                  <a:rPr lang="en-US" altLang="zh-CN" dirty="0"/>
                  <a:t>100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200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50</a:t>
                </a:r>
                <a:r>
                  <a:rPr lang="zh-CN" altLang="en-US" dirty="0"/>
                  <a:t>，总体均值为</a:t>
                </a:r>
                <a:r>
                  <a:rPr lang="en-US" altLang="zh-CN" dirty="0"/>
                  <a:t>150</a:t>
                </a:r>
                <a:r>
                  <a:rPr lang="zh-CN" altLang="en-US" dirty="0"/>
                  <a:t>，而样本均值为</a:t>
                </a:r>
                <a:r>
                  <a:rPr lang="en-US" altLang="zh-CN" dirty="0"/>
                  <a:t>125</a:t>
                </a:r>
                <a:r>
                  <a:rPr lang="zh-CN" altLang="en-US" dirty="0"/>
                  <a:t>，样本均值不能代表总体均值，原因在于样本和总体的年龄结构不同。</a:t>
                </a:r>
                <a:endParaRPr lang="en-US" altLang="zh-CN" dirty="0"/>
              </a:p>
              <a:p>
                <a:pPr>
                  <a:lnSpc>
                    <a:spcPts val="312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表示协变量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这里是年龄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)=</m:t>
                    </m:r>
                    <m:func>
                      <m:funcPr>
                        <m:ctrlPr>
                          <a:rPr lang="en-US" altLang="zh-CN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=1|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func>
                    <m:r>
                      <a:rPr lang="zh-CN" altLang="en-US" i="1">
                        <a:latin typeface="Cambria Math" panose="02040503050406030204" pitchFamily="18" charset="0"/>
                      </a:rPr>
                      <m:t>表示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特征</m:t>
                    </m:r>
                  </m:oMath>
                </a14:m>
                <a:r>
                  <a:rPr lang="zh-CN" altLang="en-US" dirty="0"/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的个体被抽到的概率。则</a:t>
                </a:r>
                <a:r>
                  <a:rPr lang="en-US" altLang="zh-CN" dirty="0"/>
                  <a:t>IPW</a:t>
                </a:r>
                <a:r>
                  <a:rPr lang="zh-CN" altLang="en-US" dirty="0"/>
                  <a:t>估计量为</a:t>
                </a:r>
                <a:endParaRPr lang="en-US" altLang="zh-CN" dirty="0"/>
              </a:p>
              <a:p>
                <a:pPr marL="0" indent="0" algn="ctr">
                  <a:lnSpc>
                    <a:spcPts val="3120"/>
                  </a:lnSpc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ba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altLang="zh-CN" dirty="0"/>
              </a:p>
              <a:p>
                <a:pPr>
                  <a:lnSpc>
                    <a:spcPts val="3120"/>
                  </a:lnSpc>
                </a:pPr>
                <a:r>
                  <a:rPr lang="zh-CN" altLang="en-US" dirty="0"/>
                  <a:t>利用逆概率进行加权后，使样本协变量分布与总体分布相同</a:t>
                </a:r>
                <a:endParaRPr lang="en-US" altLang="zh-CN" dirty="0"/>
              </a:p>
              <a:p>
                <a:pPr marL="0" indent="0" algn="ctr">
                  <a:lnSpc>
                    <a:spcPts val="312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altLang="zh-CN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⁡[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=1]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⁡[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C85BBB-2210-CCCA-2B41-A2B8B58408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280" r="-6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438934D6-422A-F18D-09C9-872AAC9E5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744" y="1080655"/>
            <a:ext cx="4779772" cy="1256903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0B496D-AE9D-0FC0-92E7-1FCAB5A7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593F74-31DB-2570-2832-BB8DF594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940636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02D4DA-129A-034C-A94E-8CE659C7B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统计推断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D34314-7DE0-E38E-01C4-ECAE33712B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3943350" cy="4584411"/>
              </a:xfrm>
            </p:spPr>
            <p:txBody>
              <a:bodyPr>
                <a:normAutofit fontScale="62500" lnSpcReduction="20000"/>
              </a:bodyPr>
              <a:lstStyle/>
              <a:p>
                <a:pPr>
                  <a:lnSpc>
                    <a:spcPts val="2880"/>
                  </a:lnSpc>
                </a:pPr>
                <a:r>
                  <a:rPr lang="zh-CN" altLang="en-US" dirty="0"/>
                  <a:t>总体只有</a:t>
                </a:r>
                <a:r>
                  <a:rPr lang="en-US" altLang="zh-CN" dirty="0"/>
                  <a:t>8</a:t>
                </a:r>
                <a:r>
                  <a:rPr lang="zh-CN" altLang="en-US" dirty="0"/>
                  <a:t>个个体，取值</a:t>
                </a:r>
                <a:r>
                  <a:rPr lang="en-US" altLang="zh-CN" dirty="0"/>
                  <a:t>{1,2,4,4,7,7,7,8}</a:t>
                </a:r>
                <a:r>
                  <a:rPr lang="zh-CN" altLang="en-US" dirty="0"/>
                  <a:t>，总体均值为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=5，</m:t>
                    </m:r>
                  </m:oMath>
                </a14:m>
                <a:r>
                  <a:rPr lang="zh-CN" altLang="en-US" dirty="0"/>
                  <a:t>总体方差</a:t>
                </a:r>
                <a:r>
                  <a:rPr lang="en-US" altLang="zh-CN" dirty="0"/>
                  <a:t>6.86(</a:t>
                </a:r>
                <a:r>
                  <a:rPr lang="zh-CN" altLang="en-US" dirty="0"/>
                  <a:t>标准差</a:t>
                </a:r>
                <a:r>
                  <a:rPr lang="en-US" altLang="zh-CN" dirty="0"/>
                  <a:t>2.62)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ts val="2880"/>
                  </a:lnSpc>
                </a:pPr>
                <a:r>
                  <a:rPr lang="zh-CN" altLang="en-US" dirty="0"/>
                  <a:t>从总体中随机抽取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zh-CN" altLang="en-US" dirty="0"/>
                  <a:t>的样本，共有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=70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种</m:t>
                    </m:r>
                  </m:oMath>
                </a14:m>
                <a:r>
                  <a:rPr lang="zh-CN" altLang="en-US" dirty="0"/>
                  <a:t>可能的样本，总体中每个个体出现在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=35</m:t>
                    </m:r>
                  </m:oMath>
                </a14:m>
                <a:r>
                  <a:rPr lang="zh-CN" altLang="en-US" dirty="0"/>
                  <a:t>个样本中。</a:t>
                </a:r>
                <a:endParaRPr lang="en-US" altLang="zh-CN" dirty="0"/>
              </a:p>
              <a:p>
                <a:pPr>
                  <a:lnSpc>
                    <a:spcPts val="2880"/>
                  </a:lnSpc>
                </a:pPr>
                <a:r>
                  <a:rPr lang="zh-CN" altLang="en-US" dirty="0"/>
                  <a:t>这个简单例子中可以穷尽容量为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的样本，将所有样本均值计算出来，得到样本均值的精确分布</a:t>
                </a:r>
                <a:r>
                  <a:rPr lang="en-US" altLang="zh-CN" dirty="0"/>
                  <a:t>(exact distribution),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𝑠𝑒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=0.93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D34314-7DE0-E38E-01C4-ECAE33712B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3943350" cy="4584411"/>
              </a:xfrm>
              <a:blipFill>
                <a:blip r:embed="rId2"/>
                <a:stretch>
                  <a:fillRect l="-927" r="-46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6A17DAB1-D492-E184-39E7-9933CF10B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418143"/>
            <a:ext cx="4356832" cy="3166302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BF29CC-B134-A558-C2F9-21F82CAF4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9267BD8-EC78-2B58-A437-0EAB60FDA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53123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D755B6-D76A-CBFE-C47B-DAEC2132F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统计推断</a:t>
            </a:r>
            <a:br>
              <a:rPr lang="en-US" altLang="zh-CN" dirty="0"/>
            </a:br>
            <a:r>
              <a:rPr lang="zh-CN" altLang="en-US" sz="2400" dirty="0"/>
              <a:t>置信区间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479B99B-105A-89F4-6872-B92561E74F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242667"/>
              </a:xfrm>
            </p:spPr>
            <p:txBody>
              <a:bodyPr>
                <a:normAutofit fontScale="55000" lnSpcReduction="20000"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dirty="0"/>
                  <a:t>点估计：样本均值是总体均值的点估计 。</a:t>
                </a:r>
                <a:endParaRPr lang="en-US" altLang="zh-CN" dirty="0"/>
              </a:p>
              <a:p>
                <a:pPr>
                  <a:lnSpc>
                    <a:spcPts val="2400"/>
                  </a:lnSpc>
                </a:pPr>
                <a:r>
                  <a:rPr lang="zh-CN" altLang="en-US" dirty="0"/>
                  <a:t>区间估计：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dirty="0"/>
                  <a:t>在哪个区间里会有较大概率抽到手头样本？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bar>
                                        <m:barPr>
                                          <m:pos m:val="top"/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ba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num>
                                    <m:den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/√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=95%, </m:t>
                          </m:r>
                          <m:bar>
                            <m:barPr>
                              <m:pos m:val="top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ba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/√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ts val="2400"/>
                  </a:lnSpc>
                  <a:buNone/>
                </a:pPr>
                <a:r>
                  <a:rPr lang="zh-CN" altLang="en-US" dirty="0"/>
                  <a:t>即如果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如果</m:t>
                    </m:r>
                  </m:oMath>
                </a14:m>
                <a:r>
                  <a:rPr lang="zh-CN" altLang="en-US" dirty="0"/>
                  <a:t>在上述区间内，抽样手头样本的可能性为</a:t>
                </a:r>
                <a:r>
                  <a:rPr lang="en-US" altLang="zh-CN" dirty="0"/>
                  <a:t>95%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ts val="2400"/>
                  </a:lnSpc>
                </a:pPr>
                <a:r>
                  <a:rPr lang="zh-CN" altLang="en-US" dirty="0"/>
                  <a:t>如果抽到样本</a:t>
                </a:r>
                <a:r>
                  <a:rPr lang="en-US" altLang="zh-CN" dirty="0"/>
                  <a:t>20(</a:t>
                </a:r>
                <a:r>
                  <a:rPr lang="zh-CN" altLang="en-US" dirty="0"/>
                  <a:t>见教材表</a:t>
                </a:r>
                <a:r>
                  <a:rPr lang="en-US" altLang="zh-CN" dirty="0"/>
                  <a:t>A.1)</a:t>
                </a:r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ba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=.75</m:t>
                    </m:r>
                  </m:oMath>
                </a14:m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=2.87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zh-CN" altLang="en-US" dirty="0"/>
                  <a:t>则</a:t>
                </a:r>
                <a:r>
                  <a:rPr lang="en-US" altLang="zh-CN" dirty="0"/>
                  <a:t>95%</a:t>
                </a:r>
                <a:r>
                  <a:rPr lang="zh-CN" altLang="en-US" dirty="0"/>
                  <a:t>置信区间为</a:t>
                </a:r>
                <a:endParaRPr lang="en-US" altLang="zh-CN" dirty="0"/>
              </a:p>
              <a:p>
                <a:pPr marL="0" indent="0">
                  <a:lnSpc>
                    <a:spcPts val="24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4.75 − 2.78 ≤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 ≤ 4.75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+ 2.87,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., 1.88 ≤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 ≤ 7.62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ts val="2400"/>
                  </a:lnSpc>
                </a:pPr>
                <a:r>
                  <a:rPr lang="zh-CN" altLang="en-US" dirty="0"/>
                  <a:t>假设抽到样本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ba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 2.75</m:t>
                    </m:r>
                  </m:oMath>
                </a14:m>
                <a:r>
                  <a:rPr lang="zh-CN" altLang="en-US" dirty="0"/>
                  <a:t>，𝑠 </a:t>
                </a:r>
                <a:r>
                  <a:rPr lang="en-US" altLang="zh-CN" dirty="0"/>
                  <a:t>= 1.5</a:t>
                </a:r>
                <a:r>
                  <a:rPr lang="zh-CN" altLang="en-US" dirty="0"/>
                  <a:t>，𝑛 </a:t>
                </a:r>
                <a:r>
                  <a:rPr lang="en-US" altLang="zh-CN" dirty="0"/>
                  <a:t>= 4</a:t>
                </a:r>
                <a:r>
                  <a:rPr lang="zh-CN" altLang="en-US" dirty="0"/>
                  <a:t>，则</a:t>
                </a:r>
                <a:r>
                  <a:rPr lang="en-US" altLang="zh-CN" dirty="0"/>
                  <a:t>95% </a:t>
                </a:r>
                <a:r>
                  <a:rPr lang="zh-CN" altLang="en-US" dirty="0"/>
                  <a:t>置信区间为：</a:t>
                </a:r>
              </a:p>
              <a:p>
                <a:pPr marL="0" indent="0">
                  <a:lnSpc>
                    <a:spcPts val="24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1.25 ≤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 ≤ 4.25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ts val="2400"/>
                  </a:lnSpc>
                </a:pPr>
                <a:r>
                  <a:rPr lang="zh-CN" altLang="en-US" dirty="0"/>
                  <a:t>置信区间是随机的，依赖于样本，如果样本太偏，区间可能会不包括总体参数。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479B99B-105A-89F4-6872-B92561E74F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242667"/>
              </a:xfrm>
              <a:blipFill>
                <a:blip r:embed="rId2"/>
                <a:stretch>
                  <a:fillRect l="-3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6D698A-6C90-10EB-F7AA-9D7C913B7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B85918-F089-DD5A-1A5A-7BF7FF6F0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724486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42404-3123-B251-9BD5-1CFD853EA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统计推断</a:t>
            </a:r>
            <a:br>
              <a:rPr lang="en-US" altLang="zh-CN" dirty="0"/>
            </a:br>
            <a:r>
              <a:rPr lang="zh-CN" altLang="en-US" sz="2400" dirty="0"/>
              <a:t>置信区间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F6F8897-73F8-DB06-D43E-351D2CCF45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0068" y="1493190"/>
            <a:ext cx="5319568" cy="22330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7D8C59D-E4D6-3C1F-39AE-E5497B50C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227" y="3986539"/>
            <a:ext cx="5427409" cy="2181667"/>
          </a:xfrm>
          <a:prstGeom prst="rect">
            <a:avLst/>
          </a:prstGeom>
        </p:spPr>
      </p:pic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799A9AD1-8427-2200-C64E-BA3CC2614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D4EFE80-F66B-1FBE-4D64-F2842FEC6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4207204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E2AEE1-C375-04D4-8BD1-992EB0659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统计推断</a:t>
            </a:r>
            <a:br>
              <a:rPr lang="en-US" altLang="zh-CN" dirty="0"/>
            </a:br>
            <a:r>
              <a:rPr lang="zh-CN" altLang="en-US" sz="2400" dirty="0"/>
              <a:t>假设检验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25A431-1A63-3C9F-AD76-D8B47DBD96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dirty="0"/>
                  <a:t>有样本信息，要去推断总体参数。假设检验相当于概率上的反证法，不想要的放在原假设中，利用样本信息推出矛盾，从而推翻原假设，作为支持备选假设的依据。</a:t>
                </a:r>
              </a:p>
              <a:p>
                <a:pPr>
                  <a:lnSpc>
                    <a:spcPts val="2400"/>
                  </a:lnSpc>
                </a:pPr>
                <a:r>
                  <a:rPr lang="zh-CN" altLang="en-US" dirty="0"/>
                  <a:t>双边检验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≠ </m:t>
                    </m:r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，基本思想：在原假设下，得到手头样本的极端可能性</a:t>
                </a:r>
                <a:r>
                  <a:rPr lang="en-US" altLang="zh-CN" dirty="0"/>
                  <a:t>(p </a:t>
                </a:r>
                <a:r>
                  <a:rPr lang="zh-CN" altLang="en-US" dirty="0"/>
                  <a:t>值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，超过门槛（通常</a:t>
                </a:r>
                <a:r>
                  <a:rPr lang="en-US" altLang="zh-CN" dirty="0"/>
                  <a:t>5%</a:t>
                </a:r>
                <a:r>
                  <a:rPr lang="zh-CN" altLang="en-US" dirty="0"/>
                  <a:t>），则不能拒绝原假设。</a:t>
                </a:r>
              </a:p>
              <a:p>
                <a:pPr>
                  <a:lnSpc>
                    <a:spcPts val="2400"/>
                  </a:lnSpc>
                </a:pPr>
                <a:r>
                  <a:rPr lang="en-US" altLang="zh-CN" dirty="0"/>
                  <a:t>P </a:t>
                </a:r>
                <a:r>
                  <a:rPr lang="zh-CN" altLang="en-US" dirty="0"/>
                  <a:t>值是在原假设下统计量超过观测值的极端可能性，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bar>
                                    <m:barPr>
                                      <m:pos m:val="top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ba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/√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bar>
                                    <m:barPr>
                                      <m:pos m:val="top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ba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/√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ts val="2400"/>
                  </a:lnSpc>
                </a:pPr>
                <a:r>
                  <a:rPr lang="zh-CN" altLang="en-US" dirty="0"/>
                  <a:t>例子：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altLang="zh-CN" dirty="0"/>
              </a:p>
              <a:p>
                <a:pPr marL="0" indent="0">
                  <a:lnSpc>
                    <a:spcPts val="24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4.75−5</m:t>
                                      </m:r>
                                    </m:num>
                                    <m:den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2.87/2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≥0.1742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=.8617</m:t>
                          </m:r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b="0" dirty="0"/>
              </a:p>
              <a:p>
                <a:pPr>
                  <a:lnSpc>
                    <a:spcPts val="2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US" altLang="zh-CN" dirty="0"/>
              </a:p>
              <a:p>
                <a:pPr marL="0" indent="0">
                  <a:lnSpc>
                    <a:spcPts val="24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≥2.2648</m:t>
                              </m:r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=.0235.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25A431-1A63-3C9F-AD76-D8B47DBD96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BF7DB6-C5B7-0730-ACF6-3B1C12AE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B30237-1B27-AF6C-4AF5-90B18ACA7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607160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776AF3-2C6D-E447-EA0E-054B32E01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统计推断</a:t>
            </a:r>
            <a:br>
              <a:rPr lang="en-US" altLang="zh-CN" dirty="0"/>
            </a:br>
            <a:r>
              <a:rPr lang="zh-CN" altLang="en-US" sz="2400" dirty="0"/>
              <a:t>假设检验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197B3E1-8319-57A3-974F-8E5ED39AA9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4072659" cy="4351338"/>
              </a:xfrm>
            </p:spPr>
            <p:txBody>
              <a:bodyPr/>
              <a:lstStyle/>
              <a:p>
                <a:r>
                  <a:rPr lang="zh-CN" altLang="en-US" dirty="0"/>
                  <a:t>第一类错误：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第二类错误：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zh-CN" altLang="en-US" dirty="0"/>
                  <a:t>统计功效</a:t>
                </a:r>
                <a:r>
                  <a:rPr lang="en-US" altLang="zh-CN" dirty="0"/>
                  <a:t>(power):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上述定义是重复抽样意义上，单一样本，错误率为</a:t>
                </a:r>
                <a:r>
                  <a:rPr lang="en-US" altLang="zh-CN" dirty="0"/>
                  <a:t>100%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zh-CN" altLang="en-US" dirty="0"/>
                  <a:t>在因果效应估计中，统计证据是一种参考。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197B3E1-8319-57A3-974F-8E5ED39AA9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4072659" cy="4351338"/>
              </a:xfrm>
              <a:blipFill>
                <a:blip r:embed="rId2"/>
                <a:stretch>
                  <a:fillRect l="-2695" t="-2381" r="-2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E99846D5-62EB-CFE0-88DB-8112AED12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50498"/>
            <a:ext cx="4404575" cy="2672366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F7D139-9017-FC1F-B6D3-F6C81B592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68301A8-9C77-ABF7-54B0-6BA5B01FE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222746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089BF0-6196-FA3A-434D-3C2DABAA7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统计推断</a:t>
            </a:r>
            <a:br>
              <a:rPr lang="en-US" altLang="zh-CN" dirty="0"/>
            </a:br>
            <a:r>
              <a:rPr lang="zh-CN" altLang="en-US" sz="2400" dirty="0"/>
              <a:t>假设检验：两类错误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A76ED1B-71AE-1277-E766-B1E8DDED16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ts val="3120"/>
                  </a:lnSpc>
                </a:pPr>
                <a:r>
                  <a:rPr lang="zh-CN" altLang="en-US" dirty="0"/>
                  <a:t>弃真：假设抽到样本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，检验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=5，</m:t>
                    </m:r>
                  </m:oMath>
                </a14:m>
                <a:r>
                  <a:rPr lang="zh-CN" altLang="en-US" dirty="0"/>
                  <a:t>则</a:t>
                </a: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2.75−5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1.5/2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≥3.00</m:t>
                              </m:r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=.0027,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ts val="3120"/>
                  </a:lnSpc>
                </a:pPr>
                <a:r>
                  <a:rPr lang="zh-CN" altLang="en-US" dirty="0"/>
                  <a:t>纳伪：假设抽到样本</a:t>
                </a:r>
                <a:r>
                  <a:rPr lang="en-US" altLang="zh-CN" dirty="0"/>
                  <a:t>20</a:t>
                </a:r>
                <a:r>
                  <a:rPr lang="zh-CN" altLang="en-US" dirty="0"/>
                  <a:t>，检验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=.5，</m:t>
                    </m:r>
                  </m:oMath>
                </a14:m>
                <a:r>
                  <a:rPr lang="zh-CN" altLang="en-US" dirty="0"/>
                  <a:t>则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≥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.75−5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2.87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0.8711</m:t>
                              </m:r>
                            </m:e>
                          </m:d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=.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3837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ts val="3120"/>
                  </a:lnSpc>
                </a:pPr>
                <a:r>
                  <a:rPr lang="zh-CN" altLang="en-US" dirty="0"/>
                  <a:t>通常做法：保证弃真率不要太高，通常</a:t>
                </a:r>
                <a:r>
                  <a:rPr lang="en-US" altLang="zh-CN" dirty="0"/>
                  <a:t>5%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1%</a:t>
                </a:r>
                <a:r>
                  <a:rPr lang="zh-CN" altLang="en-US" dirty="0"/>
                  <a:t>或</a:t>
                </a:r>
                <a:r>
                  <a:rPr lang="en-US" altLang="zh-CN" dirty="0"/>
                  <a:t>10%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ts val="3120"/>
                  </a:lnSpc>
                </a:pPr>
                <a:r>
                  <a:rPr lang="zh-CN" altLang="en-US" dirty="0"/>
                  <a:t>统计证据不是</a:t>
                </a:r>
                <a:r>
                  <a:rPr lang="en-US" altLang="zh-CN" dirty="0"/>
                  <a:t>100%</a:t>
                </a:r>
                <a:r>
                  <a:rPr lang="zh-CN" altLang="en-US" dirty="0"/>
                  <a:t>，不要过度关注统计显著性，还要依赖于其他证据。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A76ED1B-71AE-1277-E766-B1E8DDED16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120" r="-23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F90BE9-283F-43BF-8633-2108BF56A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1D251A-A718-DC95-B9BC-4C19224B8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87226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5E7E7A-62A2-E095-84A4-8120E4267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统计推断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ECDC75-A83A-45C9-1408-43501B951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上文用样本均值作为例子</a:t>
            </a:r>
            <a:endParaRPr lang="en-US" altLang="zh-CN" dirty="0"/>
          </a:p>
          <a:p>
            <a:r>
              <a:rPr lang="zh-CN" altLang="en-US" dirty="0"/>
              <a:t>其他统计量，比如样本方差、样本协方差等</a:t>
            </a:r>
            <a:endParaRPr lang="en-US" altLang="zh-CN" dirty="0"/>
          </a:p>
          <a:p>
            <a:r>
              <a:rPr lang="zh-CN" altLang="en-US" dirty="0"/>
              <a:t>甚至样本协方差</a:t>
            </a:r>
            <a:r>
              <a:rPr lang="en-US" altLang="zh-CN" dirty="0"/>
              <a:t>/</a:t>
            </a:r>
            <a:r>
              <a:rPr lang="zh-CN" altLang="en-US" dirty="0"/>
              <a:t>样本方差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→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线性回归系数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统计推断的另一个重要内容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预测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BCB411-400D-1403-0913-6068859E2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A726F3-E5FC-E57C-872F-018C8BD3A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414510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68ADD2-AFB1-BFB3-06C6-8638D2026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条件期望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240A2E-6FCC-E69A-236E-BD8A461FF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A06C86-A9C6-E2F8-4688-4DEC3E3BF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F1B02F-BF09-EE3B-AD58-B9CCDAEF5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595608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A646A3-23D6-8903-7FBB-3FF1F678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条件期望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51C5A1E-704E-25AB-27AF-4D0D1BE2BB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表示结果变量，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表示协变量，条件期望：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zh-CN" altLang="en-US" dirty="0"/>
                  <a:t>  称为条件期望函数</a:t>
                </a:r>
                <a:r>
                  <a:rPr lang="en-US" altLang="zh-CN" dirty="0"/>
                  <a:t>(CEF)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en-US" altLang="zh-CN" dirty="0"/>
                  <a:t>CEF</a:t>
                </a:r>
                <a:r>
                  <a:rPr lang="zh-CN" altLang="en-US" dirty="0"/>
                  <a:t>本身是描述性的，不反映因果关系。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X</a:t>
                </a:r>
                <a:r>
                  <a:rPr lang="zh-CN" altLang="en-US" dirty="0"/>
                  <a:t>表示啤酒销量，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纸尿裤销量。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表示冰淇淋销量，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表示犯罪量。</a:t>
                </a:r>
                <a:endParaRPr lang="en-US" altLang="zh-CN" dirty="0"/>
              </a:p>
              <a:p>
                <a:r>
                  <a:rPr lang="zh-CN" altLang="en-US" dirty="0"/>
                  <a:t>基本性质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zh-CN" altLang="en-US" dirty="0"/>
                  <a:t>迭代期望公式：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</m: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dirty="0"/>
                  <a:t>               (3)</a:t>
                </a:r>
              </a:p>
              <a:p>
                <a:r>
                  <a:rPr lang="en-US" altLang="zh-CN" dirty="0"/>
                  <a:t>CEF</a:t>
                </a:r>
                <a:r>
                  <a:rPr lang="zh-CN" altLang="en-US" dirty="0"/>
                  <a:t>的三个性质</a:t>
                </a:r>
                <a:r>
                  <a:rPr lang="en-US" altLang="zh-CN" dirty="0"/>
                  <a:t>(Angrist and Pischke, 2009):</a:t>
                </a:r>
              </a:p>
              <a:p>
                <a:pPr lvl="1"/>
                <a:r>
                  <a:rPr lang="en-US" altLang="zh-CN" dirty="0"/>
                  <a:t>CEF</a:t>
                </a:r>
                <a:r>
                  <a:rPr lang="zh-CN" altLang="en-US" dirty="0"/>
                  <a:t>分解特征：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方差分解特征：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dirty="0"/>
                  <a:t>,</a:t>
                </a:r>
              </a:p>
              <a:p>
                <a:pPr lvl="1"/>
                <a:r>
                  <a:rPr lang="zh-CN" altLang="en-US" dirty="0"/>
                  <a:t>最优预测特征：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dirty="0"/>
                  <a:t>是用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的函数对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的最优预测（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最小）。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51C5A1E-704E-25AB-27AF-4D0D1BE2BB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8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E54C5B-713A-FB83-8046-EF5700710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95924A-CFE4-35B6-F39D-491DEBAD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677396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83D6BD-2612-970C-67B1-7F9829636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条件期望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7AE83F-7A62-F3CB-30CA-8DF644BF0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ts val="2800"/>
              </a:lnSpc>
            </a:pPr>
            <a:r>
              <a:rPr lang="zh-CN" altLang="en-US" dirty="0"/>
              <a:t>定理</a:t>
            </a:r>
            <a:r>
              <a:rPr lang="en-US" altLang="zh-CN" dirty="0"/>
              <a:t>1</a:t>
            </a:r>
            <a:r>
              <a:rPr lang="zh-CN" altLang="en-US" dirty="0"/>
              <a:t>：用</a:t>
            </a:r>
            <a:r>
              <a:rPr lang="en-US" altLang="zh-CN" dirty="0"/>
              <a:t>m(X)</a:t>
            </a:r>
            <a:r>
              <a:rPr lang="zh-CN" altLang="en-US" dirty="0"/>
              <a:t>去预测</a:t>
            </a:r>
            <a:r>
              <a:rPr lang="en-US" altLang="zh-CN" dirty="0"/>
              <a:t>Y</a:t>
            </a:r>
            <a:r>
              <a:rPr lang="zh-CN" altLang="en-US" dirty="0"/>
              <a:t>，使</a:t>
            </a:r>
            <a:r>
              <a:rPr lang="en-US" altLang="zh-CN" dirty="0"/>
              <a:t>MSE</a:t>
            </a:r>
            <a:r>
              <a:rPr lang="zh-CN" altLang="en-US" dirty="0"/>
              <a:t>最小的最优值为</a:t>
            </a:r>
            <a:r>
              <a:rPr lang="en-US" altLang="zh-CN" dirty="0"/>
              <a:t>CEF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ts val="2800"/>
              </a:lnSpc>
            </a:pPr>
            <a:endParaRPr lang="en-US" altLang="zh-CN" dirty="0"/>
          </a:p>
          <a:p>
            <a:pPr>
              <a:lnSpc>
                <a:spcPts val="2800"/>
              </a:lnSpc>
            </a:pPr>
            <a:endParaRPr lang="en-US" altLang="zh-CN" dirty="0"/>
          </a:p>
          <a:p>
            <a:pPr>
              <a:lnSpc>
                <a:spcPts val="2800"/>
              </a:lnSpc>
            </a:pPr>
            <a:endParaRPr lang="en-US" altLang="zh-CN" dirty="0"/>
          </a:p>
          <a:p>
            <a:pPr>
              <a:lnSpc>
                <a:spcPts val="2800"/>
              </a:lnSpc>
            </a:pPr>
            <a:endParaRPr lang="en-US" altLang="zh-CN" dirty="0"/>
          </a:p>
          <a:p>
            <a:pPr>
              <a:lnSpc>
                <a:spcPts val="2800"/>
              </a:lnSpc>
            </a:pPr>
            <a:endParaRPr lang="en-US" altLang="zh-CN" dirty="0"/>
          </a:p>
          <a:p>
            <a:pPr>
              <a:lnSpc>
                <a:spcPts val="2800"/>
              </a:lnSpc>
            </a:pPr>
            <a:r>
              <a:rPr lang="zh-CN" altLang="en-US" dirty="0"/>
              <a:t>预测问题：如何更好地估计出</a:t>
            </a:r>
            <a:r>
              <a:rPr lang="en-US" altLang="zh-CN" dirty="0"/>
              <a:t>E[Y|X]?</a:t>
            </a:r>
          </a:p>
          <a:p>
            <a:pPr lvl="1">
              <a:lnSpc>
                <a:spcPts val="2800"/>
              </a:lnSpc>
            </a:pPr>
            <a:r>
              <a:rPr lang="zh-CN" altLang="en-US" dirty="0"/>
              <a:t>两种方法：参数方法和非参数方法。</a:t>
            </a:r>
            <a:endParaRPr lang="en-US" altLang="zh-CN" dirty="0"/>
          </a:p>
          <a:p>
            <a:pPr lvl="1">
              <a:lnSpc>
                <a:spcPts val="2800"/>
              </a:lnSpc>
            </a:pPr>
            <a:r>
              <a:rPr lang="zh-CN" altLang="en-US" dirty="0"/>
              <a:t>线性回归是最常用的参数估计方法。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A93C38-8550-DF53-5249-D92775F22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E54DF6B-63DE-9398-3F21-EDF484B26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79" y="2310274"/>
            <a:ext cx="7289442" cy="2440546"/>
          </a:xfrm>
          <a:prstGeom prst="rect">
            <a:avLst/>
          </a:prstGeom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F741AF-5A82-43BB-AF8D-B31C0851F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510577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441F2-E6A0-3C61-5563-A3CC84E60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条件期望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EE899DC-66C0-C93B-055E-6BEA3CFEB3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1825624"/>
                <a:ext cx="3583132" cy="4667249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2400" dirty="0"/>
                  <a:t>CEF </a:t>
                </a:r>
                <a:r>
                  <a:rPr lang="zh-CN" altLang="en-US" sz="2400" dirty="0"/>
                  <a:t>可以是线性，也可以是非线性，也许更多的情况下是非线性，比如分性别的工资条件期望（相对于教育年限）。</a:t>
                </a:r>
                <a:endParaRPr lang="en-US" altLang="zh-CN" sz="2400" dirty="0"/>
              </a:p>
              <a:p>
                <a:r>
                  <a:rPr lang="en-US" altLang="zh-CN" sz="2400" dirty="0"/>
                  <a:t>CEF</a:t>
                </a:r>
                <a:r>
                  <a:rPr lang="zh-CN" altLang="en-US" sz="2400" dirty="0"/>
                  <a:t>是线性的，则</a:t>
                </a:r>
                <a:endParaRPr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en-US" altLang="zh-CN" sz="2400" dirty="0"/>
              </a:p>
              <a:p>
                <a:r>
                  <a:rPr lang="zh-CN" altLang="en-US" sz="2400" dirty="0"/>
                  <a:t>可以进一步限定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/>
                  <a:t>，即同方差线性</a:t>
                </a:r>
                <a:r>
                  <a:rPr lang="en-US" altLang="zh-CN" sz="2400" dirty="0"/>
                  <a:t>CEF </a:t>
                </a:r>
                <a:r>
                  <a:rPr lang="zh-CN" altLang="en-US" sz="2400" dirty="0"/>
                  <a:t>模型，是经典线性回归模型的基本设定。</a:t>
                </a:r>
              </a:p>
              <a:p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EE899DC-66C0-C93B-055E-6BEA3CFEB3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1825624"/>
                <a:ext cx="3583132" cy="4667249"/>
              </a:xfrm>
              <a:blipFill>
                <a:blip r:embed="rId2"/>
                <a:stretch>
                  <a:fillRect l="-2211" t="-1828" r="-78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2FDBC7-E31A-CDA1-8A9C-1A4DD5050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F0A39F5-F585-D275-3523-8BE3C1EDA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783" y="1856202"/>
            <a:ext cx="4713668" cy="338070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48B8BF9-D97C-D4E4-CE67-BCADF5C9F86C}"/>
              </a:ext>
            </a:extLst>
          </p:cNvPr>
          <p:cNvSpPr txBox="1"/>
          <p:nvPr/>
        </p:nvSpPr>
        <p:spPr>
          <a:xfrm>
            <a:off x="5052291" y="5392750"/>
            <a:ext cx="4341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思源宋体" panose="02020400000000000000" pitchFamily="18" charset="-122"/>
                <a:ea typeface="思源宋体" panose="02020400000000000000" pitchFamily="18" charset="-122"/>
              </a:rPr>
              <a:t>对数工资和教育年限：分性别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102B41-520F-84CC-3B0C-1A5A0B91F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597148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F07DCE-CC5C-FE98-C63D-0A5740FAD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条件期望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071D778-532E-001C-5592-A56ADF08AD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ts val="3000"/>
                  </a:lnSpc>
                </a:pPr>
                <a:r>
                  <a:rPr lang="en-US" altLang="zh-CN" dirty="0"/>
                  <a:t>CEF</a:t>
                </a:r>
                <a:r>
                  <a:rPr lang="zh-CN" altLang="en-US" dirty="0"/>
                  <a:t>是变量的非线性函数，但对参数线性：</a:t>
                </a:r>
                <a:endParaRPr lang="en-US" altLang="zh-CN" dirty="0"/>
              </a:p>
              <a:p>
                <a:pPr marL="0" indent="0">
                  <a:lnSpc>
                    <a:spcPts val="3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ts val="3000"/>
                  </a:lnSpc>
                  <a:buNone/>
                </a:pPr>
                <a:r>
                  <a:rPr lang="en-US" altLang="zh-CN" dirty="0"/>
                  <a:t>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仍</m:t>
                    </m:r>
                  </m:oMath>
                </a14:m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dirty="0"/>
                  <a:t>线性函数，边际效应不是常数。</a:t>
                </a:r>
                <a:endParaRPr lang="en-US" altLang="zh-CN" dirty="0"/>
              </a:p>
              <a:p>
                <a:pPr lvl="1">
                  <a:lnSpc>
                    <a:spcPts val="3000"/>
                  </a:lnSpc>
                </a:pPr>
                <a:r>
                  <a:rPr lang="zh-CN" altLang="en-US" dirty="0"/>
                  <a:t>通过引入协变量高阶项，可以更好地拟合</a:t>
                </a:r>
                <a:r>
                  <a:rPr lang="en-US" altLang="zh-CN" dirty="0"/>
                  <a:t>CEF</a:t>
                </a:r>
                <a:r>
                  <a:rPr lang="zh-CN" altLang="en-US" dirty="0"/>
                  <a:t>，从而使残差不再包含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的信息（理想情况）。</a:t>
                </a:r>
                <a:endParaRPr lang="en-US" altLang="zh-CN" dirty="0"/>
              </a:p>
              <a:p>
                <a:pPr lvl="1">
                  <a:lnSpc>
                    <a:spcPts val="3000"/>
                  </a:lnSpc>
                </a:pPr>
                <a:r>
                  <a:rPr lang="zh-CN" altLang="en-US" dirty="0"/>
                  <a:t>机器学习（</a:t>
                </a:r>
                <a:r>
                  <a:rPr lang="en-US" altLang="zh-CN" dirty="0"/>
                  <a:t>ML</a:t>
                </a:r>
                <a:r>
                  <a:rPr lang="zh-CN" altLang="en-US" dirty="0"/>
                  <a:t>）就是通过这种思想，使用复杂模型，达到更好地预测</a:t>
                </a:r>
                <a:r>
                  <a:rPr lang="en-US" altLang="zh-CN" dirty="0"/>
                  <a:t>CEF</a:t>
                </a:r>
                <a:r>
                  <a:rPr lang="zh-CN" altLang="en-US" dirty="0"/>
                  <a:t>的目的。</a:t>
                </a:r>
                <a:endParaRPr lang="en-US" altLang="zh-CN" dirty="0"/>
              </a:p>
              <a:p>
                <a:pPr>
                  <a:lnSpc>
                    <a:spcPts val="3000"/>
                  </a:lnSpc>
                </a:pPr>
                <a:r>
                  <a:rPr lang="zh-CN" altLang="en-US" dirty="0"/>
                  <a:t>也可以是参数和协变量的非线性模型，比如</a:t>
                </a:r>
                <a:r>
                  <a:rPr lang="en-US" altLang="zh-CN" dirty="0"/>
                  <a:t>Logit, Probit</a:t>
                </a:r>
                <a:r>
                  <a:rPr lang="zh-CN" altLang="en-US" dirty="0"/>
                  <a:t>模型。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071D778-532E-001C-5592-A56ADF08AD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1541" r="-773" b="-2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FF6E50-E9D2-BFF5-6B97-F34FA5783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65991E-30EC-CD9E-9DC3-475A1B180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889008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90AE4-16B0-A941-709F-2564EF449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饱和模型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29ADFCC-6242-1167-D8A9-00B3D4693B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ts val="2000"/>
                  </a:lnSpc>
                  <a:spcBef>
                    <a:spcPts val="300"/>
                  </a:spcBef>
                </a:pPr>
                <a:r>
                  <a:rPr lang="zh-CN" altLang="en-US" sz="1600" dirty="0"/>
                  <a:t>模型是对数据施加的先验限制。饱和模型没对数据进行限制，相当于对数据的一种描述</a:t>
                </a:r>
                <a:r>
                  <a:rPr lang="en-US" altLang="zh-CN" sz="1600" dirty="0"/>
                  <a:t>(Hernan and Robins, 2020)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pPr>
                  <a:lnSpc>
                    <a:spcPts val="2000"/>
                  </a:lnSpc>
                  <a:spcBef>
                    <a:spcPts val="300"/>
                  </a:spcBef>
                </a:pPr>
                <a:r>
                  <a:rPr lang="zh-CN" altLang="en-US" sz="1600" dirty="0"/>
                  <a:t>饱和模型</a:t>
                </a:r>
                <a:r>
                  <a:rPr lang="en-US" altLang="zh-CN" sz="1600" dirty="0"/>
                  <a:t>CEF</a:t>
                </a:r>
                <a:r>
                  <a:rPr lang="zh-CN" altLang="en-US" sz="1600" dirty="0"/>
                  <a:t>总是线性的，一般模型参数和分组数相同。</a:t>
                </a:r>
                <a:endParaRPr lang="en-US" altLang="zh-CN" sz="1600" dirty="0"/>
              </a:p>
              <a:p>
                <a:pPr>
                  <a:lnSpc>
                    <a:spcPts val="2000"/>
                  </a:lnSpc>
                  <a:spcBef>
                    <a:spcPts val="300"/>
                  </a:spcBef>
                </a:pPr>
                <a:r>
                  <a:rPr lang="zh-CN" altLang="en-US" sz="1600" dirty="0"/>
                  <a:t>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/>
                  <a:t>表示性别，</a:t>
                </a:r>
                <a:r>
                  <a:rPr lang="en-US" altLang="zh-CN" sz="1600" dirty="0"/>
                  <a:t>1</a:t>
                </a:r>
                <a:r>
                  <a:rPr lang="zh-CN" altLang="en-US" sz="1600" dirty="0"/>
                  <a:t>表示女性，</a:t>
                </a:r>
                <a:r>
                  <a:rPr lang="en-US" altLang="zh-CN" sz="1600" dirty="0"/>
                  <a:t>0</a:t>
                </a:r>
                <a:r>
                  <a:rPr lang="zh-CN" altLang="en-US" sz="1600" dirty="0"/>
                  <a:t>表示男性。</a:t>
                </a:r>
                <a:r>
                  <a:rPr lang="en-US" altLang="zh-CN" sz="1600" dirty="0"/>
                  <a:t>Y</a:t>
                </a:r>
                <a:r>
                  <a:rPr lang="zh-CN" altLang="en-US" sz="1600" dirty="0"/>
                  <a:t>表示收，则男性收入记为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=0]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1600" dirty="0"/>
                  <a:t>女性平均收为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=1]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sz="1600" dirty="0"/>
                  <a:t>则</a:t>
                </a:r>
                <a:endParaRPr lang="en-US" altLang="zh-CN" sz="1600" dirty="0"/>
              </a:p>
              <a:p>
                <a:pPr marL="0" indent="0" algn="ctr">
                  <a:lnSpc>
                    <a:spcPts val="2000"/>
                  </a:lnSpc>
                  <a:spcBef>
                    <a:spcPts val="3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/>
                  <a:t>,</a:t>
                </a:r>
              </a:p>
              <a:p>
                <a:pPr marL="0" indent="0">
                  <a:lnSpc>
                    <a:spcPts val="2000"/>
                  </a:lnSpc>
                  <a:spcBef>
                    <a:spcPts val="300"/>
                  </a:spcBef>
                  <a:buNone/>
                </a:pPr>
                <a:r>
                  <a:rPr lang="zh-CN" altLang="en-US" sz="1600" dirty="0"/>
                  <a:t>    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16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1600" dirty="0"/>
              </a:p>
              <a:p>
                <a:pPr>
                  <a:lnSpc>
                    <a:spcPts val="2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/>
                  <a:t>表示大学教育，</a:t>
                </a:r>
                <a:r>
                  <a:rPr lang="en-US" altLang="zh-CN" sz="1600" dirty="0"/>
                  <a:t>1</a:t>
                </a:r>
                <a:r>
                  <a:rPr lang="zh-CN" altLang="en-US" sz="1600" dirty="0"/>
                  <a:t>大学，</a:t>
                </a:r>
                <a:r>
                  <a:rPr lang="en-US" altLang="zh-CN" sz="1600" dirty="0"/>
                  <a:t>0</a:t>
                </a:r>
                <a:r>
                  <a:rPr lang="zh-CN" altLang="en-US" sz="1600" dirty="0"/>
                  <a:t>高中。则</a:t>
                </a:r>
                <a:r>
                  <a:rPr lang="en-US" altLang="zh-CN" sz="1600" dirty="0"/>
                  <a:t>X_1,X_2</a:t>
                </a:r>
                <a:r>
                  <a:rPr lang="zh-CN" altLang="en-US" sz="1600" dirty="0"/>
                  <a:t>可以将人群分成</a:t>
                </a:r>
                <a:r>
                  <a:rPr lang="en-US" altLang="zh-CN" sz="1600" dirty="0"/>
                  <a:t>4</a:t>
                </a:r>
                <a:r>
                  <a:rPr lang="zh-CN" altLang="en-US" sz="1600" dirty="0"/>
                  <a:t>类：高中男性、高中女性、大学男性、大学女性。</a:t>
                </a:r>
                <a:endParaRPr lang="en-US" altLang="zh-CN" sz="1600" dirty="0"/>
              </a:p>
              <a:p>
                <a:pPr marL="0" indent="0">
                  <a:lnSpc>
                    <a:spcPts val="2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1600" dirty="0"/>
              </a:p>
              <a:p>
                <a:pPr marL="0" indent="0">
                  <a:lnSpc>
                    <a:spcPts val="2000"/>
                  </a:lnSpc>
                  <a:spcBef>
                    <a:spcPts val="300"/>
                  </a:spcBef>
                  <a:buNone/>
                </a:pPr>
                <a:r>
                  <a:rPr lang="zh-CN" altLang="en-US" sz="1600" dirty="0"/>
                  <a:t>    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/>
                  <a:t>称为主效应，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CN" altLang="en-US" sz="1600" i="1">
                        <a:latin typeface="Cambria Math" panose="02040503050406030204" pitchFamily="18" charset="0"/>
                      </a:rPr>
                      <m:t>称</m:t>
                    </m:r>
                  </m:oMath>
                </a14:m>
                <a:r>
                  <a:rPr lang="zh-CN" altLang="en-US" sz="1600" dirty="0"/>
                  <a:t>为交互效应。饱和模型参数数量和变量分组相等。</a:t>
                </a:r>
                <a:endParaRPr lang="en-US" altLang="zh-CN" sz="1600" dirty="0"/>
              </a:p>
              <a:p>
                <a:pPr>
                  <a:lnSpc>
                    <a:spcPts val="2000"/>
                  </a:lnSpc>
                  <a:spcBef>
                    <a:spcPts val="300"/>
                  </a:spcBef>
                </a:pPr>
                <a:r>
                  <a:rPr lang="zh-CN" altLang="en-US" sz="1600" dirty="0"/>
                  <a:t>教育变量取</a:t>
                </a:r>
                <a:r>
                  <a:rPr lang="en-US" altLang="zh-CN" sz="1600" dirty="0"/>
                  <a:t>5</a:t>
                </a:r>
                <a:r>
                  <a:rPr lang="zh-CN" altLang="en-US" sz="1600" dirty="0"/>
                  <a:t>个值，</a:t>
                </a:r>
                <a:r>
                  <a:rPr lang="en-US" altLang="zh-CN" sz="1600" dirty="0"/>
                  <a:t>X_2=0,1,…,4</a:t>
                </a:r>
                <a:r>
                  <a:rPr lang="zh-CN" altLang="en-US" sz="1600" dirty="0"/>
                  <a:t>分别表示没有接受教育、小学、初中、高中、大学，则回归模型可以写为</a:t>
                </a:r>
                <a:endParaRPr lang="en-US" altLang="zh-CN" sz="1600" dirty="0"/>
              </a:p>
              <a:p>
                <a:pPr marL="0" indent="0" algn="ctr">
                  <a:lnSpc>
                    <a:spcPts val="2000"/>
                  </a:lnSpc>
                  <a:spcBef>
                    <a:spcPts val="3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=1(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600" dirty="0"/>
              </a:p>
              <a:p>
                <a:pPr>
                  <a:lnSpc>
                    <a:spcPts val="2000"/>
                  </a:lnSpc>
                  <a:spcBef>
                    <a:spcPts val="300"/>
                  </a:spcBef>
                </a:pPr>
                <a:r>
                  <a:rPr lang="zh-CN" altLang="en-US" sz="1600" dirty="0"/>
                  <a:t>饱和模型可以没有交互项，但一定要有主效应。不存在交互项的模型称为根据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/>
                  <a:t>分层的饱和模型</a:t>
                </a:r>
                <a:r>
                  <a:rPr lang="en-US" altLang="zh-CN" sz="1600" dirty="0"/>
                  <a:t>(Saturated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/>
                  <a:t>)</a:t>
                </a:r>
                <a:r>
                  <a:rPr lang="zh-CN" altLang="en-US" sz="1600" dirty="0"/>
                  <a:t>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29ADFCC-6242-1167-D8A9-00B3D4693B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560" r="-2318" b="-49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192833-9728-15F2-BEA0-626274835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E49E93-F432-7206-6334-817274618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34597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ED3458-6EA8-73CE-964B-648CC3530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线性回归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41A1FC-75B5-68F2-D886-BAF2A62A9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C79C9A-1480-5202-73D4-C01CA1246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E7E5DD-8BFD-5B27-50D5-FF18B8363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834932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F5FA41-B9BB-2B93-B3B3-44A802BA1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线性回归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CD5C3B0-B9D1-381C-7EF4-C6525F1514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ts val="2640"/>
                  </a:lnSpc>
                </a:pPr>
                <a:r>
                  <a:rPr lang="zh-CN" altLang="en-US" dirty="0"/>
                  <a:t>两个随机变量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，无论是否有因果关系，，用𝑋 的线性模型𝑋</a:t>
                </a:r>
                <a:r>
                  <a:rPr lang="en-US" altLang="zh-CN" dirty="0"/>
                  <a:t>′</a:t>
                </a:r>
                <a:r>
                  <a:rPr lang="zh-CN" altLang="en-US" dirty="0"/>
                  <a:t>𝛽 去预测𝑌 ，使预测误差最小，得到的模型，即为线性回归模型。用总体数据得到的为总体回归模型，用样本得到的就是样本回归模型。</a:t>
                </a:r>
                <a:endParaRPr lang="en-US" altLang="zh-CN" dirty="0"/>
              </a:p>
              <a:p>
                <a:r>
                  <a:rPr lang="zh-CN" altLang="en-US" dirty="0"/>
                  <a:t>用总体数据，得到的为总体回归系数：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上式为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的二次函数，一阶条件保证最优解：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zh-CN" altLang="en-US" dirty="0"/>
                  <a:t>   为正规方程组</a:t>
                </a:r>
                <a:r>
                  <a:rPr lang="en-US" altLang="zh-CN" dirty="0"/>
                  <a:t>(normal equations)</a:t>
                </a:r>
                <a:r>
                  <a:rPr lang="zh-CN" altLang="en-US" dirty="0"/>
                  <a:t>，总体回归系数为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dirty="0"/>
                  <a:t>                        (4)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   称为最优线性预测系数或线性投影系数。</a:t>
                </a:r>
                <a:endParaRPr lang="en-US" altLang="zh-CN" dirty="0"/>
              </a:p>
              <a:p>
                <a:r>
                  <a:rPr lang="zh-CN" altLang="en-US" dirty="0"/>
                  <a:t>如果用样本，上述期望改为样本均值，则得到样本回归系数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nary>
                          </m:e>
                        </m:d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dirty="0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altLang="zh-CN" b="1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zh-CN" b="1" dirty="0"/>
                  <a:t>.</a:t>
                </a:r>
                <a:endParaRPr lang="zh-CN" altLang="en-US" b="1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CD5C3B0-B9D1-381C-7EF4-C6525F1514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700" r="-464" b="-1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8A9FB2-303D-0BF1-4DE2-EA980B5A9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EA57C7-018A-058A-E306-55D82F10C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0067399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1DB895-B118-1AEB-62FE-927363275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线性回归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F661118-1F15-D04C-0857-E8F61F8252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62740"/>
              </a:xfrm>
            </p:spPr>
            <p:txBody>
              <a:bodyPr>
                <a:normAutofit fontScale="62500" lnSpcReduction="20000"/>
              </a:bodyPr>
              <a:lstStyle/>
              <a:p>
                <a:pPr>
                  <a:lnSpc>
                    <a:spcPts val="3000"/>
                  </a:lnSpc>
                  <a:spcBef>
                    <a:spcPts val="300"/>
                  </a:spcBef>
                </a:pPr>
                <a:r>
                  <a:rPr lang="zh-CN" altLang="en-US" dirty="0"/>
                  <a:t>最优线性预测</a:t>
                </a:r>
                <a:endParaRPr lang="en-US" altLang="zh-CN" dirty="0"/>
              </a:p>
              <a:p>
                <a:pPr marL="0" indent="0">
                  <a:lnSpc>
                    <a:spcPts val="3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ts val="3000"/>
                  </a:lnSpc>
                  <a:spcBef>
                    <a:spcPts val="300"/>
                  </a:spcBef>
                  <a:buNone/>
                </a:pPr>
                <a:r>
                  <a:rPr lang="en-US" altLang="zh-CN" dirty="0"/>
                  <a:t>   </a:t>
                </a:r>
                <a:r>
                  <a:rPr lang="zh-CN" altLang="en-US" dirty="0"/>
                  <a:t>预测误差或总体残差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则</a:t>
                </a:r>
                <a:endParaRPr lang="en-US" altLang="zh-CN" dirty="0"/>
              </a:p>
              <a:p>
                <a:pPr marL="0" indent="0">
                  <a:lnSpc>
                    <a:spcPts val="3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ts val="3000"/>
                  </a:lnSpc>
                  <a:spcBef>
                    <a:spcPts val="300"/>
                  </a:spcBef>
                  <a:buNone/>
                </a:pPr>
                <a:r>
                  <a:rPr lang="zh-CN" altLang="en-US" dirty="0"/>
                  <a:t>   由</a:t>
                </a:r>
                <a:r>
                  <a:rPr lang="en-US" altLang="zh-CN" dirty="0"/>
                  <a:t>OLS</a:t>
                </a:r>
                <a:r>
                  <a:rPr lang="zh-CN" altLang="en-US" dirty="0"/>
                  <a:t>一阶条件，得</a:t>
                </a:r>
                <a:endParaRPr lang="en-US" altLang="zh-CN" dirty="0"/>
              </a:p>
              <a:p>
                <a:pPr marL="0" indent="0" algn="ctr">
                  <a:lnSpc>
                    <a:spcPts val="3000"/>
                  </a:lnSpc>
                  <a:spcBef>
                    <a:spcPts val="3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           (5)</a:t>
                </a:r>
              </a:p>
              <a:p>
                <a:pPr>
                  <a:lnSpc>
                    <a:spcPts val="3000"/>
                  </a:lnSpc>
                  <a:spcBef>
                    <a:spcPts val="300"/>
                  </a:spcBef>
                </a:pPr>
                <a:r>
                  <a:rPr lang="zh-CN" altLang="en-US" dirty="0"/>
                  <a:t>需要强调的是，</a:t>
                </a:r>
                <a:r>
                  <a:rPr lang="en-US" altLang="zh-CN" dirty="0"/>
                  <a:t>(5)</a:t>
                </a:r>
                <a:r>
                  <a:rPr lang="zh-CN" altLang="en-US" dirty="0"/>
                  <a:t>式不是假设，是</a:t>
                </a:r>
                <a:r>
                  <a:rPr lang="en-US" altLang="zh-CN" dirty="0"/>
                  <a:t>OLS</a:t>
                </a:r>
                <a:r>
                  <a:rPr lang="zh-CN" altLang="en-US" dirty="0"/>
                  <a:t>的性质。</a:t>
                </a:r>
                <a:r>
                  <a:rPr lang="en-US" altLang="zh-CN" dirty="0"/>
                  <a:t>(5)</a:t>
                </a:r>
                <a:r>
                  <a:rPr lang="zh-CN" altLang="en-US" dirty="0"/>
                  <a:t>式包括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个方程：</a:t>
                </a:r>
                <a:endParaRPr lang="en-US" altLang="zh-CN" dirty="0"/>
              </a:p>
              <a:p>
                <a:pPr marL="0" indent="0">
                  <a:lnSpc>
                    <a:spcPts val="3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ts val="3000"/>
                  </a:lnSpc>
                  <a:spcBef>
                    <a:spcPts val="300"/>
                  </a:spcBef>
                  <a:buNone/>
                </a:pPr>
                <a:r>
                  <a:rPr lang="zh-CN" altLang="en-US" dirty="0"/>
                  <a:t>   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/>
                  <a:t>，则有</a:t>
                </a:r>
                <a:endParaRPr lang="en-US" altLang="zh-CN" dirty="0"/>
              </a:p>
              <a:p>
                <a:pPr marL="0" indent="0">
                  <a:lnSpc>
                    <a:spcPts val="3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F661118-1F15-D04C-0857-E8F61F8252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62740"/>
              </a:xfrm>
              <a:blipFill>
                <a:blip r:embed="rId2"/>
                <a:stretch>
                  <a:fillRect l="-6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3FEB63-6517-A1C7-1584-CC50C7AA5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3D604-11AF-A01B-1134-AA2C3947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590052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6EAEA3-29D5-D83C-352D-24126DE5C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线性回归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12E0AC-CC16-5574-BC4A-7210638F3E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线性投影</a:t>
                </a:r>
                <a:endParaRPr lang="en-US" altLang="zh-CN" dirty="0"/>
              </a:p>
              <a:p>
                <a:r>
                  <a:rPr lang="zh-CN" altLang="en-US" dirty="0"/>
                  <a:t>几何意义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注意：到目前为止，除需要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可</m:t>
                    </m:r>
                  </m:oMath>
                </a14:m>
                <a:r>
                  <a:rPr lang="zh-CN" altLang="en-US" dirty="0"/>
                  <a:t>逆外，没有引入任何假设。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12E0AC-CC16-5574-BC4A-7210638F3E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F0176E-9CA0-FEBC-3E42-5BA7D173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27FA6DC-CC9D-18BF-EB44-F1ED620EA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869" y="1126836"/>
            <a:ext cx="3694676" cy="2962117"/>
          </a:xfrm>
          <a:prstGeom prst="rect">
            <a:avLst/>
          </a:prstGeom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C9A8C5-AD14-FCB6-3556-1B94EC984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993155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F81963-630A-1328-DBE9-613B6D7DF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线性回归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BB65F8-FFBB-E181-FDF8-F83343CCFE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6"/>
                <a:ext cx="7886700" cy="2370324"/>
              </a:xfrm>
            </p:spPr>
            <p:txBody>
              <a:bodyPr>
                <a:normAutofit fontScale="62500" lnSpcReduction="20000"/>
              </a:bodyPr>
              <a:lstStyle/>
              <a:p>
                <a:pPr>
                  <a:lnSpc>
                    <a:spcPts val="2000"/>
                  </a:lnSpc>
                </a:pPr>
                <a:r>
                  <a:rPr lang="zh-CN" altLang="en-US" dirty="0"/>
                  <a:t>线性回归估计的是线性想着性</a:t>
                </a:r>
                <a:endParaRPr lang="en-US" altLang="zh-CN" dirty="0"/>
              </a:p>
              <a:p>
                <a:pPr lvl="1">
                  <a:lnSpc>
                    <a:spcPts val="2000"/>
                  </a:lnSpc>
                </a:pPr>
                <a:r>
                  <a:rPr lang="zh-CN" altLang="en-US" dirty="0"/>
                  <a:t>简单回归：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altLang="zh-CN" b="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dirty="0"/>
              </a:p>
              <a:p>
                <a:pPr lvl="1">
                  <a:lnSpc>
                    <a:spcPts val="2000"/>
                  </a:lnSpc>
                </a:pPr>
                <a:r>
                  <a:rPr lang="zh-CN" altLang="en-US" b="0" dirty="0"/>
                  <a:t>多元线性回归，系数可类似表示：</a:t>
                </a:r>
                <a:endParaRPr lang="en-US" altLang="zh-CN" b="0" dirty="0"/>
              </a:p>
              <a:p>
                <a:pPr marL="457200" lvl="1" indent="0" algn="ctr">
                  <a:lnSpc>
                    <a:spcPts val="2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𝐶𝑜𝑣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en-US" altLang="zh-CN" b="0" dirty="0"/>
                  <a:t>             (6)</a:t>
                </a:r>
                <a:endParaRPr lang="en-US" altLang="zh-CN" dirty="0"/>
              </a:p>
              <a:p>
                <a:pPr marL="457200" lvl="1" indent="0">
                  <a:lnSpc>
                    <a:spcPts val="2000"/>
                  </a:lnSpc>
                  <a:buNone/>
                </a:pPr>
                <a:r>
                  <a:rPr lang="zh-CN" altLang="en-US" b="0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b="0" dirty="0"/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b="0" dirty="0"/>
                  <a:t>对所有其他解释变量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进行</m:t>
                    </m:r>
                  </m:oMath>
                </a14:m>
                <a:r>
                  <a:rPr lang="zh-CN" altLang="en-US" b="0" dirty="0"/>
                  <a:t>回归得到的总体回归残差，即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𝑘𝑖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𝑘𝑖</m:t>
                        </m:r>
                      </m:sub>
                    </m:sSub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b="0" dirty="0"/>
                  <a:t>上述结果来自于</a:t>
                </a:r>
                <a:r>
                  <a:rPr lang="en-US" altLang="zh-CN" b="0" dirty="0"/>
                  <a:t>FWL</a:t>
                </a:r>
                <a:r>
                  <a:rPr lang="zh-CN" altLang="en-US" b="0" dirty="0"/>
                  <a:t>定理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457200" lvl="1" indent="0">
                  <a:lnSpc>
                    <a:spcPts val="2000"/>
                  </a:lnSpc>
                  <a:buNone/>
                </a:pPr>
                <a:endParaRPr lang="en-US" altLang="zh-CN" b="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BB65F8-FFBB-E181-FDF8-F83343CCFE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6"/>
                <a:ext cx="7886700" cy="2370324"/>
              </a:xfrm>
              <a:blipFill>
                <a:blip r:embed="rId2"/>
                <a:stretch>
                  <a:fillRect l="-464" t="-2057" b="-15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4750B6-283A-5EAA-7B3A-E733F30D3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94C050D-D2D4-C388-C6D7-DFBC9A252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473" y="4195950"/>
            <a:ext cx="7480877" cy="2160401"/>
          </a:xfrm>
          <a:prstGeom prst="rect">
            <a:avLst/>
          </a:prstGeom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144F81-52C1-10D0-02E4-0A1688B06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540603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6F223-8811-53BA-9CBC-CCBB0FAF9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线性回归</a:t>
            </a:r>
            <a:br>
              <a:rPr lang="en-US" altLang="zh-CN" dirty="0"/>
            </a:br>
            <a:r>
              <a:rPr lang="zh-CN" altLang="en-US" sz="2000" dirty="0"/>
              <a:t>遗漏变量偏差</a:t>
            </a:r>
            <a:r>
              <a:rPr lang="en-US" altLang="zh-CN" sz="2000" dirty="0"/>
              <a:t>(OVB)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D127AF-D8C7-20DF-7FF0-C171FDCF8C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zh-CN" altLang="en-US" dirty="0"/>
                  <a:t>考虑线性回归模型：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   和模型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   Goldberger(1991)</a:t>
                </a:r>
                <a:r>
                  <a:rPr lang="zh-CN" altLang="en-US" dirty="0"/>
                  <a:t>称之为长模型和短模型。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e>
                      </m:d>
                    </m:oMath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</a:t>
                </a:r>
                <a:r>
                  <a:rPr lang="zh-CN" altLang="en-US" dirty="0"/>
                  <a:t>通常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除非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或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en-US" altLang="zh-CN" dirty="0"/>
                  <a:t>OVB</a:t>
                </a:r>
                <a:r>
                  <a:rPr lang="zh-CN" altLang="en-US" dirty="0"/>
                  <a:t>公式可以用于判断遗漏变量对估计系数的影响。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D127AF-D8C7-20DF-7FF0-C171FDCF8C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2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963274-09CB-3BCC-E225-C443A2DFB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24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B7FF64-9591-D1F8-050B-8E5505E9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830831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D80272-D879-123E-0311-9ADC561D9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线性回归</a:t>
            </a:r>
            <a:br>
              <a:rPr lang="en-US" altLang="zh-CN" dirty="0"/>
            </a:br>
            <a:r>
              <a:rPr lang="zh-CN" altLang="en-US" sz="2000" dirty="0"/>
              <a:t>遗漏变量偏差</a:t>
            </a:r>
            <a:r>
              <a:rPr lang="en-US" altLang="zh-CN" sz="2000" dirty="0"/>
              <a:t>(OVB)</a:t>
            </a:r>
            <a:endParaRPr lang="zh-CN" altLang="en-US" sz="2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53E598-94D9-5364-1CE7-9562605A4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6"/>
            <a:ext cx="7886700" cy="446520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Angrist and Pischke (2009)</a:t>
            </a:r>
            <a:r>
              <a:rPr lang="zh-CN" altLang="en-US" dirty="0"/>
              <a:t>关于美国教育回归率的估计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1C0A17-AB00-18B2-89B7-1B7058E38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30558BA-FD20-641F-89E7-CFD4550EB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529" y="2218051"/>
            <a:ext cx="7083380" cy="4320862"/>
          </a:xfrm>
          <a:prstGeom prst="rect">
            <a:avLst/>
          </a:prstGeom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F859A3-CD96-39CA-2B1C-300B9F911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769544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245AA-912E-DDBC-D73F-7DA732F9C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线性回归和</a:t>
            </a:r>
            <a:r>
              <a:rPr lang="en-US" altLang="zh-CN" dirty="0"/>
              <a:t>CEF</a:t>
            </a:r>
            <a:r>
              <a:rPr lang="zh-CN" altLang="en-US" dirty="0"/>
              <a:t>的关系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41FDD44-0CD9-05EF-D9FB-9D3DEFC427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667249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zh-CN" altLang="en-US" dirty="0"/>
                  <a:t>定理</a:t>
                </a:r>
                <a:r>
                  <a:rPr lang="en-US" altLang="zh-CN" dirty="0"/>
                  <a:t>2 </a:t>
                </a:r>
                <a:r>
                  <a:rPr lang="zh-CN" altLang="en-US" dirty="0"/>
                  <a:t>线性回归函数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dirty="0"/>
                  <a:t>对</a:t>
                </a:r>
                <a:r>
                  <a:rPr lang="en-US" altLang="zh-CN" dirty="0"/>
                  <a:t>CEF</a:t>
                </a:r>
                <a:r>
                  <a:rPr lang="zh-CN" altLang="en-US" dirty="0"/>
                  <a:t>的最优线性近似，即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e>
                                          <m:r>
                                            <a:rPr lang="en-US" altLang="zh-CN" b="1" i="1" smtClean="0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</m:d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func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zh-CN" altLang="en-US" dirty="0"/>
                  <a:t>回归系数的另一种写法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</m:oMath>
                  </m:oMathPara>
                </a14:m>
                <a:br>
                  <a:rPr lang="en-US" altLang="zh-CN" b="0" i="1" dirty="0">
                    <a:latin typeface="Cambria Math" panose="02040503050406030204" pitchFamily="18" charset="0"/>
                  </a:rPr>
                </a:br>
                <a:r>
                  <a:rPr lang="en-US" altLang="zh-CN" b="0" i="1" dirty="0">
                    <a:latin typeface="Cambria Math" panose="02040503050406030204" pitchFamily="18" charset="0"/>
                  </a:rPr>
                  <a:t>             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dirty="0"/>
                  <a:t>           (6)</a:t>
                </a:r>
              </a:p>
              <a:p>
                <a:pPr>
                  <a:lnSpc>
                    <a:spcPts val="2160"/>
                  </a:lnSpc>
                </a:pPr>
                <a:r>
                  <a:rPr lang="zh-CN" altLang="en-US" dirty="0"/>
                  <a:t>内含：</a:t>
                </a:r>
                <a:r>
                  <a:rPr lang="en-US" altLang="zh-CN" dirty="0"/>
                  <a:t>CEF</a:t>
                </a:r>
                <a:r>
                  <a:rPr lang="zh-CN" altLang="en-US" dirty="0"/>
                  <a:t>线性，总体回归函数与</a:t>
                </a:r>
                <a:r>
                  <a:rPr lang="en-US" altLang="zh-CN" dirty="0"/>
                  <a:t>CEF</a:t>
                </a:r>
                <a:r>
                  <a:rPr lang="zh-CN" altLang="en-US" dirty="0"/>
                  <a:t>一致；</a:t>
                </a:r>
                <a:r>
                  <a:rPr lang="en-US" altLang="zh-CN" dirty="0"/>
                  <a:t>CEF</a:t>
                </a:r>
                <a:r>
                  <a:rPr lang="zh-CN" altLang="en-US" dirty="0"/>
                  <a:t>非线性，总体回归函数是对</a:t>
                </a:r>
                <a:r>
                  <a:rPr lang="en-US" altLang="zh-CN" dirty="0"/>
                  <a:t>CEF</a:t>
                </a:r>
                <a:r>
                  <a:rPr lang="zh-CN" altLang="en-US" dirty="0"/>
                  <a:t>的最优线性近似。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41FDD44-0CD9-05EF-D9FB-9D3DEFC427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667249"/>
              </a:xfrm>
              <a:blipFill>
                <a:blip r:embed="rId2"/>
                <a:stretch>
                  <a:fillRect l="-464" t="-2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DF5B8C-840B-4430-F45D-0146325B0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A199BAF-72F7-4FA5-A5DB-903A1DAC9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836" y="2409436"/>
            <a:ext cx="6788727" cy="2039127"/>
          </a:xfrm>
          <a:prstGeom prst="rect">
            <a:avLst/>
          </a:prstGeom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0A9796-8C65-8927-4BF6-108C859F2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3061797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4146A0-FA6F-2224-1DFA-DECAD2E84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线性回归和</a:t>
            </a:r>
            <a:r>
              <a:rPr lang="en-US" altLang="zh-CN" dirty="0"/>
              <a:t>CEF</a:t>
            </a:r>
            <a:r>
              <a:rPr lang="zh-CN" altLang="en-US" dirty="0"/>
              <a:t>的关系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6F2828E-70E3-C2F0-3430-ED5A6D162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7361" y="1825625"/>
            <a:ext cx="5269277" cy="4351338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FB5613-8A17-7F19-8917-DD8EDAF46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C97E2A6-1B80-9979-24B2-31E4F3613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6711477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B4BE7-59F8-B79D-A1CA-0360F208E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线性回归</a:t>
            </a:r>
            <a:br>
              <a:rPr lang="en-US" altLang="zh-CN" dirty="0"/>
            </a:br>
            <a:r>
              <a:rPr lang="zh-CN" altLang="en-US" sz="2000" dirty="0"/>
              <a:t>渐近特征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6A19C86-E726-21EE-3889-7FF4221F2D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r>
                  <a:rPr lang="zh-CN" altLang="en-US" dirty="0"/>
                  <a:t>样本回归系数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nary>
                          </m:e>
                        </m:d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1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dirty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altLang="zh-CN" b="1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zh-CN" b="1" dirty="0"/>
                  <a:t>.</a:t>
                </a:r>
                <a:endParaRPr lang="zh-CN" altLang="en-US" b="1" dirty="0"/>
              </a:p>
              <a:p>
                <a:pPr marL="0" indent="0">
                  <a:buNone/>
                </a:pPr>
                <a:r>
                  <a:rPr lang="zh-CN" altLang="en-US" dirty="0"/>
                  <a:t>   并且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参考洪永淼</a:t>
                </a:r>
                <a:r>
                  <a:rPr lang="en-US" altLang="zh-CN" dirty="0"/>
                  <a:t>(2011)</a:t>
                </a:r>
                <a:r>
                  <a:rPr lang="zh-CN" altLang="en-US" dirty="0"/>
                  <a:t>，记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nary>
                      <m:groupChr>
                        <m:groupChrPr>
                          <m:chr m:val="→"/>
                          <m:pos m:val="bot"/>
                          <m:vertJc m:val="bot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groupCh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b="1" dirty="0"/>
                  <a:t>一致性：</a:t>
                </a:r>
                <a:endParaRPr lang="en-US" altLang="zh-CN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zh-CN" altLang="en-US" dirty="0"/>
                  <a:t>   利用</a:t>
                </a:r>
                <a:r>
                  <a:rPr lang="en-US" altLang="zh-CN" dirty="0"/>
                  <a:t>WLLN</a:t>
                </a:r>
                <a:r>
                  <a:rPr lang="zh-CN" altLang="en-US" dirty="0"/>
                  <a:t>，得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groupChr>
                        <m:groupChrPr>
                          <m:chr m:val="→"/>
                          <m:pos m:val="bot"/>
                          <m:vertJc m:val="bot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groupCh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</a:t>
                </a:r>
                <a:r>
                  <a:rPr lang="zh-CN" altLang="en-US" dirty="0"/>
                  <a:t>所以，有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groupChr>
                        <m:groupChrPr>
                          <m:chr m:val="→"/>
                          <m:pos m:val="bot"/>
                          <m:vertJc m:val="bot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groupCh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6A19C86-E726-21EE-3889-7FF4221F2D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68" t="-2801" b="-4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CCCFFE-3B78-C36D-598A-E0C5DC3F9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D90FF4-ECC7-9059-8BF6-87E00AD2C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2759930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1FCD64-5EA9-4433-8E09-A15CA82B2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线性回归</a:t>
            </a:r>
            <a:br>
              <a:rPr lang="en-US" altLang="zh-CN" dirty="0"/>
            </a:br>
            <a:r>
              <a:rPr lang="zh-CN" altLang="en-US" sz="2000" dirty="0"/>
              <a:t>渐近特征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967E15-59B0-7426-0967-33C7DCA203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zh-CN" altLang="en-US" dirty="0"/>
                  <a:t>渐近分布：样本是</a:t>
                </a:r>
                <a:r>
                  <a:rPr lang="en-US" altLang="zh-CN" dirty="0" err="1"/>
                  <a:t>i.i.d.</a:t>
                </a:r>
                <a:r>
                  <a:rPr lang="zh-CN" altLang="en-US" dirty="0"/>
                  <a:t>，所以，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也</m:t>
                    </m:r>
                  </m:oMath>
                </a14:m>
                <a:r>
                  <a:rPr lang="zh-CN" altLang="en-US" dirty="0"/>
                  <a:t>是</a:t>
                </a:r>
                <a:r>
                  <a:rPr lang="en-US" altLang="zh-CN" dirty="0" err="1"/>
                  <a:t>i.i.d.</a:t>
                </a:r>
                <a:r>
                  <a:rPr lang="zh-CN" altLang="en-US" dirty="0"/>
                  <a:t>，利用</a:t>
                </a:r>
                <a:r>
                  <a:rPr lang="en-US" altLang="zh-CN" dirty="0"/>
                  <a:t>CLT</a:t>
                </a:r>
                <a:r>
                  <a:rPr lang="zh-CN" altLang="en-US" dirty="0"/>
                  <a:t>，有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rad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groupChr>
                        <m:groupChrPr>
                          <m:chr m:val="→"/>
                          <m:pos m:val="bot"/>
                          <m:vertJc m:val="bot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groupCh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  </a:t>
                </a: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𝑋𝑒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𝑋𝑒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则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groupChr>
                      <m:groupChrPr>
                        <m:chr m:val="→"/>
                        <m:pos m:val="bot"/>
                        <m:vertJc m:val="bot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groupCh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dirty="0"/>
                  <a:t>          (7)</a:t>
                </a:r>
              </a:p>
              <a:p>
                <a:r>
                  <a:rPr lang="zh-CN" altLang="en-US" dirty="0"/>
                  <a:t>上述推导只需要两个假设条件：</a:t>
                </a:r>
                <a:r>
                  <a:rPr lang="en-US" altLang="zh-CN" dirty="0" err="1"/>
                  <a:t>i.i.d.</a:t>
                </a:r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/>
                  <a:t>是可逆阵。</a:t>
                </a:r>
                <a:endParaRPr lang="en-US" altLang="zh-CN" dirty="0"/>
              </a:p>
              <a:p>
                <a:r>
                  <a:rPr lang="en-US" altLang="zh-CN" dirty="0"/>
                  <a:t>OLS</a:t>
                </a:r>
                <a:r>
                  <a:rPr lang="zh-CN" altLang="en-US" dirty="0"/>
                  <a:t>估计量渐近方差为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𝐴𝑣𝑎𝑟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</a:t>
                </a: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zh-CN" altLang="en-US" dirty="0"/>
                  <a:t>方差估计量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𝐴𝑣𝑎𝑟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</m:d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</a:t>
                </a: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nary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967E15-59B0-7426-0967-33C7DCA203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t="-2381" b="-149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D2480D-FFCB-944F-D46E-7F48CCB42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1D99E0-3C78-B7A9-7395-F8DD9C86A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2483385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B4968B-DEB0-E24D-EAF1-A915D0846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二元选择模型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E4BE779-5D1E-FF71-E3F4-9FC57E5D86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zh-CN" altLang="en-US" dirty="0"/>
                  <a:t>，条件期望为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].</m:t>
                          </m:r>
                        </m:e>
                      </m:func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由</a:t>
                </a:r>
                <a:r>
                  <a:rPr lang="en-US" altLang="zh-CN" dirty="0"/>
                  <a:t>CEF</a:t>
                </a:r>
                <a:r>
                  <a:rPr lang="zh-CN" altLang="en-US" dirty="0"/>
                  <a:t>的性质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误差项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.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.  1−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   异方差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线性概率模型</a:t>
                </a:r>
                <a:r>
                  <a:rPr lang="en-US" altLang="zh-CN" dirty="0"/>
                  <a:t>(LPM)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有</m:t>
                    </m:r>
                  </m:oMath>
                </a14:m>
                <a:r>
                  <a:rPr lang="zh-CN" altLang="en-US" dirty="0"/>
                  <a:t>两个缺陷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无法保证拟合值在</a:t>
                </a:r>
                <a:r>
                  <a:rPr lang="en-US" altLang="zh-CN" dirty="0"/>
                  <a:t>[0,1]</a:t>
                </a:r>
                <a:r>
                  <a:rPr lang="zh-CN" altLang="en-US" dirty="0"/>
                  <a:t>区间内，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边际效应是常数。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E4BE779-5D1E-FF71-E3F4-9FC57E5D86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33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014052-B104-8D37-806C-978982FAF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7F50E4-C676-8C54-A0F2-488722BEA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5608893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F95F69-9375-6D37-3992-63F6423F3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二元选择模型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642A153-DEC4-9518-1CEC-6C430B04D8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2099830"/>
              </a:xfrm>
            </p:spPr>
            <p:txBody>
              <a:bodyPr>
                <a:normAutofit fontScale="62500" lnSpcReduction="20000"/>
              </a:bodyPr>
              <a:lstStyle/>
              <a:p>
                <a:pPr>
                  <a:lnSpc>
                    <a:spcPts val="25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zh-CN" altLang="en-US" dirty="0"/>
                  <a:t>为链接函数</a:t>
                </a:r>
                <a:r>
                  <a:rPr lang="en-US" altLang="zh-CN" dirty="0"/>
                  <a:t>(link function)</a:t>
                </a:r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zh-CN" altLang="en-US" dirty="0"/>
                  <a:t>，并且对称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)。</m:t>
                    </m:r>
                  </m:oMath>
                </a14:m>
                <a:r>
                  <a:rPr lang="zh-CN" altLang="en-US" dirty="0"/>
                  <a:t>边际效应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dirty="0"/>
              </a:p>
              <a:p>
                <a:pPr lvl="1">
                  <a:lnSpc>
                    <a:spcPts val="2500"/>
                  </a:lnSpc>
                </a:pPr>
                <a:r>
                  <a:rPr lang="en-US" altLang="zh-CN" dirty="0"/>
                  <a:t>Probit</a:t>
                </a:r>
                <a:r>
                  <a:rPr lang="zh-CN" altLang="en-US" dirty="0"/>
                  <a:t>模型：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)，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为标准正态分布函数。</a:t>
                </a:r>
                <a:endParaRPr lang="en-US" altLang="zh-CN" dirty="0"/>
              </a:p>
              <a:p>
                <a:pPr lvl="1">
                  <a:lnSpc>
                    <a:spcPts val="2500"/>
                  </a:lnSpc>
                </a:pPr>
                <a:r>
                  <a:rPr lang="en-US" altLang="zh-CN" dirty="0"/>
                  <a:t>Logit</a:t>
                </a:r>
                <a:r>
                  <a:rPr lang="zh-CN" altLang="en-US" dirty="0"/>
                  <a:t>模型：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dirty="0"/>
                  <a:t>为逻辑分布函数。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642A153-DEC4-9518-1CEC-6C430B04D8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2099830"/>
              </a:xfrm>
              <a:blipFill>
                <a:blip r:embed="rId2"/>
                <a:stretch>
                  <a:fillRect l="-464" t="-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DC59EC-DDE7-C940-E55E-AFC7E6C0F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31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A3987DA-5B25-A067-BF7F-86A04FD07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073" y="3992344"/>
            <a:ext cx="6871854" cy="2546569"/>
          </a:xfrm>
          <a:prstGeom prst="rect">
            <a:avLst/>
          </a:prstGeom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D854ED-084E-3D7A-E0C0-A4FE1FD09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9154925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54947D-7733-9682-D683-89F9B868D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二元选择模型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990461-B7FE-5C04-0FF4-28DC645B51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altLang="zh-CN" dirty="0"/>
                  <a:t>Logit</a:t>
                </a:r>
                <a:r>
                  <a:rPr lang="zh-CN" altLang="en-US" dirty="0"/>
                  <a:t>模型可线性化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</a:t>
                </a:r>
                <a:r>
                  <a:rPr lang="zh-CN" altLang="en-US" dirty="0"/>
                  <a:t>则有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func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应用中，</a:t>
                </a:r>
                <a:r>
                  <a:rPr lang="en-US" altLang="zh-CN" dirty="0"/>
                  <a:t>Logit</a:t>
                </a:r>
                <a:r>
                  <a:rPr lang="zh-CN" altLang="en-US" dirty="0"/>
                  <a:t>模型可能更多一些，特别是</a:t>
                </a:r>
                <a:r>
                  <a:rPr lang="en-US" altLang="zh-CN" dirty="0"/>
                  <a:t>ML</a:t>
                </a:r>
                <a:r>
                  <a:rPr lang="zh-CN" altLang="en-US" dirty="0"/>
                  <a:t>领域。</a:t>
                </a:r>
                <a:endParaRPr lang="en-US" altLang="zh-CN" dirty="0"/>
              </a:p>
              <a:p>
                <a:r>
                  <a:rPr lang="zh-CN" altLang="en-US" dirty="0"/>
                  <a:t>经济学中，往往使用潜变量模型推导出上述模型。</a:t>
                </a:r>
                <a:endParaRPr lang="en-US" altLang="zh-CN" dirty="0"/>
              </a:p>
              <a:p>
                <a:r>
                  <a:rPr lang="zh-CN" altLang="en-US" dirty="0"/>
                  <a:t>拟合优度，伪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LL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LL</m:t>
                            </m:r>
                          </m:e>
                          <m:sub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zh-CN" altLang="en-US" dirty="0"/>
                  <a:t>表示拟合模型的似然值，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表示常数模型的似然值。</a:t>
                </a:r>
                <a:endParaRPr lang="en-US" altLang="zh-CN" dirty="0"/>
              </a:p>
              <a:p>
                <a:r>
                  <a:rPr lang="zh-CN" altLang="en-US" dirty="0"/>
                  <a:t>三种模型的系数关系：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𝐿𝑜𝑔𝑖𝑡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≈4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𝑜𝑙𝑠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𝑃𝑟𝑜𝑏𝑖𝑡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≈2.5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𝑜𝑙𝑠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𝐿𝑜𝑔𝑖𝑡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≈1.6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𝑃𝑟𝑜𝑏𝑖𝑡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990461-B7FE-5C04-0FF4-28DC645B5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906629-A195-3586-D3DF-E1528B80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41BF49-2AF3-4151-2988-D979CFB04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1510751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B08A1D-0F07-2DCD-1BCE-CDA5D3745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二元选择模型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620760-5A2E-0A30-E3F1-21E2130C8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45678"/>
            <a:ext cx="7886700" cy="764166"/>
          </a:xfrm>
        </p:spPr>
        <p:txBody>
          <a:bodyPr>
            <a:normAutofit fontScale="40000" lnSpcReduction="20000"/>
          </a:bodyPr>
          <a:lstStyle/>
          <a:p>
            <a:r>
              <a:rPr lang="en-US" altLang="zh-CN" dirty="0"/>
              <a:t>Stata: logit, probit</a:t>
            </a:r>
          </a:p>
          <a:p>
            <a:r>
              <a:rPr lang="zh-CN" altLang="en-US" dirty="0"/>
              <a:t>边际效应：</a:t>
            </a:r>
            <a:r>
              <a:rPr lang="en-US" altLang="zh-CN" dirty="0"/>
              <a:t>margins, </a:t>
            </a:r>
            <a:r>
              <a:rPr lang="en-US" altLang="zh-CN" dirty="0" err="1"/>
              <a:t>dydx</a:t>
            </a:r>
            <a:r>
              <a:rPr lang="en-US" altLang="zh-CN" dirty="0"/>
              <a:t>(x)</a:t>
            </a:r>
          </a:p>
          <a:p>
            <a:r>
              <a:rPr lang="zh-CN" altLang="en-US" dirty="0"/>
              <a:t>利用</a:t>
            </a:r>
            <a:r>
              <a:rPr lang="en-US" altLang="zh-CN" dirty="0"/>
              <a:t>2002</a:t>
            </a:r>
            <a:r>
              <a:rPr lang="zh-CN" altLang="en-US" dirty="0"/>
              <a:t>年</a:t>
            </a:r>
            <a:r>
              <a:rPr lang="en-US" altLang="zh-CN" dirty="0"/>
              <a:t>CHIP</a:t>
            </a:r>
            <a:r>
              <a:rPr lang="zh-CN" altLang="en-US" dirty="0"/>
              <a:t>城镇数据，考察年龄和完成大学的关系：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CA763B-D624-2C01-CD44-B499449A8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38D2397-5D0C-D260-DF3F-EAC836EB0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875" y="2175941"/>
            <a:ext cx="6697014" cy="222804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068865A-DCE7-4190-C18F-3E7176C8F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14" y="4411633"/>
            <a:ext cx="6523886" cy="1944718"/>
          </a:xfrm>
          <a:prstGeom prst="rect">
            <a:avLst/>
          </a:prstGeom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B6BBD5-7ADA-CBCF-3B37-56715E691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6251655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9699D-F70D-CF66-DCDB-70938DA84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线性回归：小结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525D831-66AF-159F-B239-481304D02B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线性回归是一种数据描述方法，是一种参数估计方法 。</a:t>
                </a:r>
                <a:endParaRPr lang="en-US" altLang="zh-CN" dirty="0"/>
              </a:p>
              <a:p>
                <a:r>
                  <a:rPr lang="zh-CN" altLang="en-US" dirty="0"/>
                  <a:t>线性回归是一种线性预测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/>
                  <a:t>是线性回归的性质，来自于</a:t>
                </a:r>
                <a:r>
                  <a:rPr lang="en-US" altLang="zh-CN" dirty="0"/>
                  <a:t>OLS</a:t>
                </a:r>
                <a:r>
                  <a:rPr lang="zh-CN" altLang="en-US" dirty="0"/>
                  <a:t>的一阶条件。</a:t>
                </a:r>
                <a:endParaRPr lang="en-US" altLang="zh-CN" dirty="0"/>
              </a:p>
              <a:p>
                <a:r>
                  <a:rPr lang="zh-CN" altLang="en-US" dirty="0"/>
                  <a:t>统计推断：由样本到总体的推断，只需要一个假设，随机样本。</a:t>
                </a:r>
                <a:endParaRPr lang="en-US" altLang="zh-CN" dirty="0"/>
              </a:p>
              <a:p>
                <a:r>
                  <a:rPr lang="zh-CN" altLang="en-US" dirty="0"/>
                  <a:t>回归是对</a:t>
                </a:r>
                <a:r>
                  <a:rPr lang="en-US" altLang="zh-CN" dirty="0"/>
                  <a:t>CEF</a:t>
                </a:r>
                <a:r>
                  <a:rPr lang="zh-CN" altLang="en-US" dirty="0"/>
                  <a:t>的最优线性近似，复杂模型可能会更好的预测，从而使回归模型更接近于</a:t>
                </a:r>
                <a:r>
                  <a:rPr lang="en-US" altLang="zh-CN" dirty="0"/>
                  <a:t>CEF</a:t>
                </a:r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525D831-66AF-159F-B239-481304D02B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381" r="-1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785B1C-5452-535E-FECC-0CCF4B5D9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A463F4-6F31-3DED-D690-B19025951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2945436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5C1FB3-127C-1D81-AC79-370FD06C4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D4C668-4564-6A3F-A616-82E937D14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CB9F40-A9C8-1598-C0EB-58FA4C1D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9F4E6F-6AB1-5784-08D0-39D3CD23F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8399045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F9972C-A890-1ADB-327D-23C3236FF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7E82936-C82A-F655-F70A-60855FC9BC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ts val="2000"/>
                  </a:lnSpc>
                  <a:spcBef>
                    <a:spcPts val="600"/>
                  </a:spcBef>
                </a:pPr>
                <a:r>
                  <a:rPr lang="zh-CN" altLang="en-US" dirty="0"/>
                  <a:t>机器学习关注如何更好地预测</a:t>
                </a:r>
                <a:endParaRPr lang="en-US" altLang="zh-CN" dirty="0"/>
              </a:p>
              <a:p>
                <a:pPr marL="0" indent="0">
                  <a:lnSpc>
                    <a:spcPts val="2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ts val="2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)是</m:t>
                    </m:r>
                  </m:oMath>
                </a14:m>
                <a:r>
                  <a:rPr lang="zh-CN" altLang="en-US" dirty="0"/>
                  <a:t>不可消除的误差</a:t>
                </a:r>
                <a:r>
                  <a:rPr lang="en-US" altLang="zh-CN" dirty="0"/>
                  <a:t>(irreducible error)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groupChr>
                        </m:e>
                        <m:li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可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消除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误差</m:t>
                          </m:r>
                        </m:lim>
                      </m:limLow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groupChr>
                        </m:e>
                        <m:li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不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可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消除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误差</m:t>
                          </m:r>
                        </m:lim>
                      </m:limLow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ts val="2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是模型预测误差的下界。</a:t>
                </a:r>
                <a:endParaRPr lang="en-US" altLang="zh-CN" dirty="0"/>
              </a:p>
              <a:p>
                <a:pPr>
                  <a:lnSpc>
                    <a:spcPts val="2000"/>
                  </a:lnSpc>
                  <a:spcBef>
                    <a:spcPts val="600"/>
                  </a:spcBef>
                </a:pPr>
                <a:r>
                  <a:rPr lang="zh-CN" altLang="en-US" dirty="0"/>
                  <a:t>评估模型优秀的标准是样本外预测效果，通常将数据分成训练集</a:t>
                </a:r>
                <a:r>
                  <a:rPr lang="en-US" altLang="zh-CN" dirty="0"/>
                  <a:t>(training set)</a:t>
                </a:r>
                <a:r>
                  <a:rPr lang="zh-CN" altLang="en-US" dirty="0"/>
                  <a:t>和检验集</a:t>
                </a:r>
                <a:r>
                  <a:rPr lang="en-US" altLang="zh-CN" dirty="0"/>
                  <a:t>(test set)</a:t>
                </a:r>
                <a:r>
                  <a:rPr lang="zh-CN" altLang="en-US" dirty="0"/>
                  <a:t>。主要关注模型在检验集上的表现。</a:t>
                </a:r>
                <a:endParaRPr lang="en-US" altLang="zh-CN" dirty="0"/>
              </a:p>
              <a:p>
                <a:pPr>
                  <a:lnSpc>
                    <a:spcPts val="2000"/>
                  </a:lnSpc>
                  <a:spcBef>
                    <a:spcPts val="600"/>
                  </a:spcBef>
                </a:pPr>
                <a:r>
                  <a:rPr lang="zh-CN" altLang="en-US" dirty="0"/>
                  <a:t>训练集上表现并不重要，低训练集预测误差并不能保证低检验集预测误差。</a:t>
                </a:r>
                <a:endParaRPr lang="en-US" altLang="zh-CN" dirty="0"/>
              </a:p>
              <a:p>
                <a:pPr>
                  <a:lnSpc>
                    <a:spcPts val="2000"/>
                  </a:lnSpc>
                  <a:spcBef>
                    <a:spcPts val="600"/>
                  </a:spcBef>
                </a:pPr>
                <a:r>
                  <a:rPr lang="zh-CN" altLang="en-US" dirty="0"/>
                  <a:t>过拟合</a:t>
                </a:r>
                <a:r>
                  <a:rPr lang="en-US" altLang="zh-CN" dirty="0"/>
                  <a:t>(overfitting)</a:t>
                </a:r>
                <a:r>
                  <a:rPr lang="zh-CN" altLang="en-US" dirty="0"/>
                  <a:t>：当一个模型训练集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小，但检验集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大，即模型拟合过度，将噪声也拟合了进去。</a:t>
                </a:r>
                <a:endParaRPr lang="en-US" altLang="zh-CN" dirty="0"/>
              </a:p>
              <a:p>
                <a:pPr>
                  <a:lnSpc>
                    <a:spcPts val="2000"/>
                  </a:lnSpc>
                  <a:spcBef>
                    <a:spcPts val="600"/>
                  </a:spcBef>
                </a:pPr>
                <a:r>
                  <a:rPr lang="zh-CN" altLang="en-US" dirty="0"/>
                  <a:t>欠拟合</a:t>
                </a:r>
                <a:r>
                  <a:rPr lang="en-US" altLang="zh-CN" dirty="0"/>
                  <a:t>(underfitting)</a:t>
                </a:r>
                <a:r>
                  <a:rPr lang="zh-CN" altLang="en-US" dirty="0"/>
                  <a:t>：模型过于简单，无法捕捉数据的基本模式</a:t>
                </a:r>
                <a:r>
                  <a:rPr lang="en-US" altLang="zh-CN" dirty="0"/>
                  <a:t>(pattern)</a:t>
                </a:r>
                <a:r>
                  <a:rPr lang="zh-CN" altLang="en-US" dirty="0"/>
                  <a:t>，使样本外预测误差较大。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7E82936-C82A-F655-F70A-60855FC9BC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t="-1120" r="-232" b="-63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25A0D2-C248-BC0C-1DD9-297F31F1A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8AAC37-267E-C615-7D9B-DC2422F01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7404089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446335-9F9B-6438-3EF7-EAA1E6881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  <a:br>
              <a:rPr lang="en-US" altLang="zh-CN" dirty="0"/>
            </a:br>
            <a:r>
              <a:rPr lang="zh-CN" altLang="en-US" sz="2000" dirty="0"/>
              <a:t>偏差</a:t>
            </a:r>
            <a:r>
              <a:rPr lang="en-US" altLang="zh-CN" sz="2000" dirty="0"/>
              <a:t>——</a:t>
            </a:r>
            <a:r>
              <a:rPr lang="zh-CN" altLang="en-US" sz="2000" dirty="0"/>
              <a:t>方差权衡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1CE5CE89-29D3-FF71-71D5-9194AA3940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6467" y="1825625"/>
            <a:ext cx="6071065" cy="4351338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659565-A27E-C822-8205-A4CC3ADD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91F1128-73C0-EB2A-E660-92E84354A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0278977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A8C34B-9FB2-58DD-E170-CE2FA3A09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  <a:br>
              <a:rPr lang="en-US" altLang="zh-CN" dirty="0"/>
            </a:br>
            <a:r>
              <a:rPr lang="zh-CN" altLang="en-US" sz="2000" dirty="0"/>
              <a:t>偏差</a:t>
            </a:r>
            <a:r>
              <a:rPr lang="en-US" altLang="zh-CN" sz="2000" dirty="0"/>
              <a:t>——</a:t>
            </a:r>
            <a:r>
              <a:rPr lang="zh-CN" altLang="en-US" sz="2000" dirty="0"/>
              <a:t>方差权衡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2BB50538-4DF0-0753-8EF8-E8A532A4EC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5312" y="1950333"/>
            <a:ext cx="6233375" cy="4101921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AB3B12-1F14-A16D-BDE9-E6343FBAB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6BB991-891A-6EA6-CFF9-65468191E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5937848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7D8C7F-2553-C822-5B50-294E534B2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  <a:br>
              <a:rPr lang="en-US" altLang="zh-CN" dirty="0"/>
            </a:br>
            <a:r>
              <a:rPr lang="zh-CN" altLang="en-US" sz="2000" dirty="0"/>
              <a:t>偏差</a:t>
            </a:r>
            <a:r>
              <a:rPr lang="en-US" altLang="zh-CN" sz="2000" dirty="0"/>
              <a:t>——</a:t>
            </a:r>
            <a:r>
              <a:rPr lang="zh-CN" altLang="en-US" sz="2000" dirty="0"/>
              <a:t>方差权衡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1F66BE8D-55F5-7A4A-4F44-859B7700DE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2586" y="2059804"/>
            <a:ext cx="6078828" cy="388298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2864AA-597E-16F2-55D0-2499B2615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C25179-BA58-6513-A2CC-F620043A3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0390423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8D1311-8AE2-02E7-3EFD-426734906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  <a:br>
              <a:rPr lang="en-US" altLang="zh-CN" dirty="0"/>
            </a:br>
            <a:r>
              <a:rPr lang="zh-CN" altLang="en-US" sz="2000" dirty="0"/>
              <a:t>偏差</a:t>
            </a:r>
            <a:r>
              <a:rPr lang="en-US" altLang="zh-CN" sz="2000" dirty="0"/>
              <a:t>——</a:t>
            </a:r>
            <a:r>
              <a:rPr lang="zh-CN" altLang="en-US" sz="2000" dirty="0"/>
              <a:t>方差权衡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EE1731-A9BF-0B35-C634-AA22AAE43E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750667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ts val="2640"/>
                  </a:lnSpc>
                </a:pPr>
                <a:r>
                  <a:rPr lang="zh-CN" altLang="en-US" sz="3000" dirty="0"/>
                  <a:t>检验集</a:t>
                </a:r>
                <a:r>
                  <a:rPr lang="en-US" altLang="zh-CN" sz="3000" dirty="0"/>
                  <a:t>MSE</a:t>
                </a:r>
                <a:r>
                  <a:rPr lang="zh-CN" altLang="en-US" sz="3000" dirty="0"/>
                  <a:t>呈</a:t>
                </a:r>
                <a:r>
                  <a:rPr lang="en-US" altLang="zh-CN" sz="3000" dirty="0"/>
                  <a:t>U</a:t>
                </a:r>
                <a:r>
                  <a:rPr lang="zh-CN" altLang="en-US" sz="3000" dirty="0"/>
                  <a:t>型，是偏差</a:t>
                </a:r>
                <a:r>
                  <a:rPr lang="en-US" altLang="zh-CN" sz="3000" dirty="0"/>
                  <a:t>——</a:t>
                </a:r>
                <a:r>
                  <a:rPr lang="zh-CN" altLang="en-US" sz="3000" dirty="0"/>
                  <a:t>方差权衡的结果</a:t>
                </a:r>
                <a:endParaRPr lang="en-US" altLang="zh-CN" sz="30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3000" b="0" i="1" smtClean="0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zh-CN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altLang="zh-CN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3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3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CN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zh-CN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3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</a:rPr>
                                <m:t>𝐵𝑖𝑎𝑠</m:t>
                              </m:r>
                              <m:d>
                                <m:dPr>
                                  <m:ctrlPr>
                                    <a:rPr lang="en-US" altLang="zh-CN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3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30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altLang="zh-CN" sz="3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3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30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3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3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3000" dirty="0"/>
              </a:p>
              <a:p>
                <a:pPr marL="0" indent="0">
                  <a:lnSpc>
                    <a:spcPts val="2640"/>
                  </a:lnSpc>
                  <a:buNone/>
                </a:pPr>
                <a:r>
                  <a:rPr lang="zh-CN" altLang="en-US" sz="3000" dirty="0"/>
                  <a:t>   其中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/>
                  <a:t>表示检验集数据。</a:t>
                </a:r>
                <a:endParaRPr lang="en-US" altLang="zh-CN" sz="3000" dirty="0"/>
              </a:p>
              <a:p>
                <a:pPr>
                  <a:lnSpc>
                    <a:spcPts val="2640"/>
                  </a:lnSpc>
                </a:pPr>
                <a:r>
                  <a:rPr lang="zh-CN" altLang="en-US" sz="3000" dirty="0"/>
                  <a:t>好的模型要同时最小化方差和偏差，但下限是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zh-CN" altLang="en-US" sz="3000" i="1" smtClean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3000" dirty="0"/>
              </a:p>
              <a:p>
                <a:pPr>
                  <a:lnSpc>
                    <a:spcPts val="2640"/>
                  </a:lnSpc>
                </a:pPr>
                <a:r>
                  <a:rPr lang="zh-CN" altLang="en-US" sz="3000" dirty="0"/>
                  <a:t>通常模型越复杂，偏差越小，但方差越大（前面图中绿色线）；想把，模型越简单，方差越小，但偏差越大。</a:t>
                </a:r>
                <a:endParaRPr lang="en-US" altLang="zh-CN" sz="3000" dirty="0"/>
              </a:p>
              <a:p>
                <a:pPr>
                  <a:lnSpc>
                    <a:spcPts val="2640"/>
                  </a:lnSpc>
                </a:pPr>
                <a:r>
                  <a:rPr lang="zh-CN" altLang="en-US" sz="3000" dirty="0"/>
                  <a:t>我们关心检验误差，而不是训练误差。</a:t>
                </a:r>
              </a:p>
              <a:p>
                <a:pPr lvl="1">
                  <a:lnSpc>
                    <a:spcPts val="2640"/>
                  </a:lnSpc>
                </a:pPr>
                <a:r>
                  <a:rPr lang="zh-CN" altLang="en-US" dirty="0"/>
                  <a:t>检验误差</a:t>
                </a:r>
                <a:r>
                  <a:rPr lang="en-US" altLang="zh-CN" dirty="0"/>
                  <a:t>(test error)</a:t>
                </a:r>
                <a:r>
                  <a:rPr lang="zh-CN" altLang="en-US" dirty="0"/>
                  <a:t>：模型在新数据上的平均误差。</a:t>
                </a:r>
                <a:endParaRPr lang="en-US" altLang="zh-CN" dirty="0"/>
              </a:p>
              <a:p>
                <a:pPr lvl="1">
                  <a:lnSpc>
                    <a:spcPts val="2640"/>
                  </a:lnSpc>
                </a:pPr>
                <a:r>
                  <a:rPr lang="zh-CN" altLang="en-US" dirty="0"/>
                  <a:t>训练误差</a:t>
                </a:r>
                <a:r>
                  <a:rPr lang="en-US" altLang="zh-CN" dirty="0"/>
                  <a:t>(training error)</a:t>
                </a:r>
                <a:r>
                  <a:rPr lang="zh-CN" altLang="en-US" dirty="0"/>
                  <a:t>：训练模型时得到的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ts val="2640"/>
                  </a:lnSpc>
                </a:pPr>
                <a:r>
                  <a:rPr lang="zh-CN" altLang="en-US" dirty="0"/>
                  <a:t>如何估计检验误差？验证集方法 和交叉验证法</a:t>
                </a:r>
                <a:r>
                  <a:rPr lang="en-US" altLang="zh-CN" dirty="0"/>
                  <a:t>(cross validation)</a:t>
                </a:r>
                <a:r>
                  <a:rPr lang="zh-CN" altLang="en-US" dirty="0"/>
                  <a:t>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EE1731-A9BF-0B35-C634-AA22AAE43E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750667"/>
              </a:xfrm>
              <a:blipFill>
                <a:blip r:embed="rId2"/>
                <a:stretch>
                  <a:fillRect l="-773" t="-897" r="-1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9B7CB5-AECB-8F1D-5D36-2C5E1A638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F53396-0B0C-B77D-257C-ADFF502F2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9525005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912B55-61EA-0753-706D-47A28002F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  <a:br>
              <a:rPr lang="en-US" altLang="zh-CN" dirty="0"/>
            </a:br>
            <a:r>
              <a:rPr lang="zh-CN" altLang="en-US" sz="2000" dirty="0"/>
              <a:t>偏差</a:t>
            </a:r>
            <a:r>
              <a:rPr lang="en-US" altLang="zh-CN" sz="2000" dirty="0"/>
              <a:t>——</a:t>
            </a:r>
            <a:r>
              <a:rPr lang="zh-CN" altLang="en-US" sz="2000" dirty="0"/>
              <a:t>方差权衡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0F157F-3A77-16EE-3F30-F12C670E4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9141D3F-C136-3C76-682D-206BA4F2F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3949" y="2075902"/>
            <a:ext cx="6156101" cy="3850783"/>
          </a:xfrm>
          <a:prstGeom prst="rect">
            <a:avLst/>
          </a:prstGeom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D2FF3B7-1155-F3E9-3F19-7FDD2277E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5953707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79CDA-8076-8A63-D8E7-F84EC0ECE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  <a:br>
              <a:rPr lang="en-US" altLang="zh-CN" dirty="0"/>
            </a:br>
            <a:r>
              <a:rPr lang="zh-CN" altLang="en-US" sz="2000" dirty="0"/>
              <a:t>验证集方法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79F32F-0192-4E33-9714-63690248C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将数据随机分成两部分：训练集和验证集</a:t>
            </a:r>
            <a:endParaRPr lang="en-US" altLang="zh-CN" dirty="0"/>
          </a:p>
          <a:p>
            <a:r>
              <a:rPr lang="zh-CN" altLang="en-US" dirty="0"/>
              <a:t>训练集用于估计</a:t>
            </a:r>
            <a:r>
              <a:rPr lang="en-US" altLang="zh-CN" dirty="0"/>
              <a:t>(</a:t>
            </a:r>
            <a:r>
              <a:rPr lang="zh-CN" altLang="en-US" dirty="0"/>
              <a:t>训练</a:t>
            </a:r>
            <a:r>
              <a:rPr lang="en-US" altLang="zh-CN" dirty="0"/>
              <a:t>)</a:t>
            </a:r>
            <a:r>
              <a:rPr lang="zh-CN" altLang="en-US" dirty="0"/>
              <a:t>模型</a:t>
            </a:r>
            <a:endParaRPr lang="en-US" altLang="zh-CN" dirty="0"/>
          </a:p>
          <a:p>
            <a:r>
              <a:rPr lang="zh-CN" altLang="en-US" dirty="0"/>
              <a:t>验证集用于估计检验误差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E4A22F-FEC6-3026-9E00-B9917FB15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42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E500D45-7F66-F997-4BE0-826EBBBBB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334" y="3429000"/>
            <a:ext cx="5460642" cy="1423115"/>
          </a:xfrm>
          <a:prstGeom prst="rect">
            <a:avLst/>
          </a:prstGeom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C594E6-C44C-0A58-99F5-57A3E367F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8161626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248E7D-C8C6-4081-AF53-571A20EB0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  <a:br>
              <a:rPr lang="en-US" altLang="zh-CN" dirty="0"/>
            </a:br>
            <a:r>
              <a:rPr lang="zh-CN" altLang="en-US" sz="2000" dirty="0"/>
              <a:t>验证集方法 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A984575-8E54-0D9C-D8FC-A674B39113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5312" y="1966432"/>
            <a:ext cx="6233375" cy="4069724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56D5D7-7E99-8658-98D6-CEF7127CE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CDE0EB-9531-18FC-2708-CE68CED19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361105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1F35B1-4E5D-ADB1-48F2-7AEE2BE86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  <a:br>
              <a:rPr lang="en-US" altLang="zh-CN" dirty="0"/>
            </a:br>
            <a:r>
              <a:rPr lang="zh-CN" altLang="en-US" sz="2000" dirty="0"/>
              <a:t>验证集方法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38C7EA-6BC5-44DB-4B1E-31C6E6EC7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对验证误差的估计有较大的变动性（上页右图），依赖进入训练集和验证集的样本。</a:t>
            </a:r>
            <a:endParaRPr lang="en-US" altLang="zh-CN" dirty="0"/>
          </a:p>
          <a:p>
            <a:r>
              <a:rPr lang="zh-CN" altLang="en-US" dirty="0"/>
              <a:t>因为只用一部分数据估计模型，与用全部数据估计模型，检验误差可能偏大。</a:t>
            </a:r>
            <a:endParaRPr lang="en-US" altLang="zh-CN" dirty="0"/>
          </a:p>
          <a:p>
            <a:r>
              <a:rPr lang="zh-CN" altLang="en-US" dirty="0"/>
              <a:t>一个改进方法是</a:t>
            </a:r>
            <a:r>
              <a:rPr lang="en-US" altLang="zh-CN" dirty="0"/>
              <a:t>k-</a:t>
            </a:r>
            <a:r>
              <a:rPr lang="zh-CN" altLang="en-US" dirty="0"/>
              <a:t>折交叉验证法</a:t>
            </a:r>
            <a:r>
              <a:rPr lang="en-US" altLang="zh-CN" dirty="0"/>
              <a:t>(k-folds cross-validation)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6007FC-40F8-9F08-E731-BD8B4908F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009D7E-2563-9655-544C-9B6DB1633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0486793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BF86D9-4624-7751-8F91-BAEC3F26F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  <a:br>
              <a:rPr lang="en-US" altLang="zh-CN" dirty="0"/>
            </a:br>
            <a:r>
              <a:rPr lang="en-US" altLang="zh-CN" sz="2000" dirty="0"/>
              <a:t>k-</a:t>
            </a:r>
            <a:r>
              <a:rPr lang="zh-CN" altLang="en-US" sz="2000" dirty="0"/>
              <a:t>折交叉验证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4FA31D8B-49B0-7DD4-7039-9A1000E939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5312" y="2127418"/>
            <a:ext cx="6233375" cy="3747752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0ECB02-D4E0-E455-9D0E-256FE2272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BF93C37-97CA-B7CD-5E1E-A84FBE75B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6246355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206C74-8BE5-B693-A364-44A92D871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  <a:br>
              <a:rPr lang="en-US" altLang="zh-CN" dirty="0"/>
            </a:br>
            <a:r>
              <a:rPr lang="en-US" altLang="zh-CN" sz="2000" dirty="0"/>
              <a:t>k-</a:t>
            </a:r>
            <a:r>
              <a:rPr lang="zh-CN" altLang="en-US" sz="2000" dirty="0"/>
              <a:t>折交叉验证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9FA636D-44F5-6CA9-A98E-58DF614A45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ts val="3000"/>
                  </a:lnSpc>
                </a:pPr>
                <a:r>
                  <a:rPr lang="zh-CN" altLang="en-US" dirty="0"/>
                  <a:t>将数据随机分成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等份，将其中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份作为验证集，其他</a:t>
                </a:r>
                <a:r>
                  <a:rPr lang="en-US" altLang="zh-CN" dirty="0"/>
                  <a:t>k-1</a:t>
                </a:r>
                <a:r>
                  <a:rPr lang="zh-CN" altLang="en-US" dirty="0"/>
                  <a:t>份作为训练集。</a:t>
                </a:r>
                <a:endParaRPr lang="en-US" altLang="zh-CN" dirty="0"/>
              </a:p>
              <a:p>
                <a:pPr>
                  <a:lnSpc>
                    <a:spcPts val="3000"/>
                  </a:lnSpc>
                </a:pPr>
                <a:r>
                  <a:rPr lang="zh-CN" altLang="en-US" dirty="0"/>
                  <a:t>其进行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次训练，得到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个验证集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，然后用其平均集作为检验误差的估计：</a:t>
                </a: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𝑀𝑆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ts val="3000"/>
                  </a:lnSpc>
                  <a:buNone/>
                </a:pPr>
                <a:r>
                  <a:rPr lang="en-US" altLang="zh-CN" dirty="0"/>
                  <a:t>   </a:t>
                </a: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dirty="0"/>
                  <a:t>是每次训练得到的验证集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ts val="3000"/>
                  </a:lnSpc>
                </a:pPr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，则为</a:t>
                </a:r>
                <a:r>
                  <a:rPr lang="en-US" altLang="zh-CN" dirty="0"/>
                  <a:t>n-</a:t>
                </a:r>
                <a:r>
                  <a:rPr lang="zh-CN" altLang="en-US" dirty="0"/>
                  <a:t>折或留一交叉验证法</a:t>
                </a:r>
                <a:r>
                  <a:rPr lang="en-US" altLang="zh-CN" dirty="0"/>
                  <a:t>(leave-one out cross-validation, LOOCV)</a:t>
                </a:r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9FA636D-44F5-6CA9-A98E-58DF614A45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420" r="-3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DC99BF-0A2C-8373-57E2-F51027E8D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96C5EE-387C-520A-9781-DFEF589F0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7701619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4279FE-A592-C920-3315-3685314FD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  <a:br>
              <a:rPr lang="en-US" altLang="zh-CN" dirty="0"/>
            </a:br>
            <a:r>
              <a:rPr lang="en-US" altLang="zh-CN" sz="2000" dirty="0"/>
              <a:t>k-</a:t>
            </a:r>
            <a:r>
              <a:rPr lang="zh-CN" altLang="en-US" sz="2000" dirty="0"/>
              <a:t>折交叉验证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0A08484-2FDA-438E-036F-BDC124C806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6676" y="2037266"/>
            <a:ext cx="6310648" cy="3928056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34AE71-F272-D249-AD12-F056DF92B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CEE29F-0825-9FC4-61F1-526DC7779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6146263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B5ECAB-AE24-77D2-209C-97DA40BCF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  <a:br>
              <a:rPr lang="en-US" altLang="zh-CN" dirty="0"/>
            </a:br>
            <a:r>
              <a:rPr lang="en-US" altLang="zh-CN" sz="2000" dirty="0"/>
              <a:t>k-</a:t>
            </a:r>
            <a:r>
              <a:rPr lang="zh-CN" altLang="en-US" sz="2000" dirty="0"/>
              <a:t>折交叉验证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DC8A98A-BF1A-CB52-8E23-161B0F126E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1070" y="2117759"/>
            <a:ext cx="6181859" cy="376707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C21C2F-4ECA-F4BD-A4DB-9C0979069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E7B540-453A-E909-E895-CF5CCEA0E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9391292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A03B42-414F-357A-2F32-554B4F64B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  <a:br>
              <a:rPr lang="en-US" altLang="zh-CN" dirty="0"/>
            </a:br>
            <a:r>
              <a:rPr lang="zh-CN" altLang="en-US" sz="2000" dirty="0"/>
              <a:t>岭回归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4DB66F1-EE58-D9A8-919E-C469B24542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ts val="3000"/>
                  </a:lnSpc>
                </a:pPr>
                <a:r>
                  <a:rPr lang="zh-CN" altLang="en-US" dirty="0"/>
                  <a:t>收缩方法以偏差增加抽取方差缩小，从而提高预测效果，降低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dirty="0"/>
                  <a:t>线性回归残差平方和</a:t>
                </a:r>
                <a:br>
                  <a:rPr lang="en-US" altLang="zh-CN" dirty="0"/>
                </a:b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𝑅𝑆𝑆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岭回归最小化下列目标函数：</a:t>
                </a:r>
                <a:br>
                  <a:rPr lang="en-US" altLang="zh-CN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nary>
                          <m:naryPr>
                            <m:chr m:val="∑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𝑅𝑆𝑆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𝜆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 (7)</m:t>
                    </m:r>
                  </m:oMath>
                </a14:m>
                <a:endParaRPr lang="en-US" altLang="zh-CN" dirty="0"/>
              </a:p>
              <a:p>
                <a:pPr>
                  <a:lnSpc>
                    <a:spcPts val="30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zh-CN" altLang="en-US" dirty="0"/>
                  <a:t>称为微调参数</a:t>
                </a:r>
                <a:r>
                  <a:rPr lang="en-US" altLang="zh-CN" dirty="0"/>
                  <a:t>(tunning parameter)</a:t>
                </a:r>
                <a:r>
                  <a:rPr lang="zh-CN" altLang="en-US" dirty="0"/>
                  <a:t>，是超参数，需单独选择。上式第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项为收缩惩罚项</a:t>
                </a:r>
                <a:r>
                  <a:rPr lang="en-US" altLang="zh-CN" dirty="0"/>
                  <a:t>(shrinkage penalty)</a:t>
                </a:r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dirty="0"/>
                  <a:t>控制惩罚力度。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4DB66F1-EE58-D9A8-919E-C469B24542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40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7D55E4-F383-5C14-E810-75A3A8D35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E13581-D2C3-0F27-8497-FAB580E5D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582331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973DEE-FE92-2C7F-D8A1-6F07B79D0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  <a:br>
              <a:rPr lang="en-US" altLang="zh-CN" dirty="0"/>
            </a:br>
            <a:r>
              <a:rPr lang="zh-CN" altLang="en-US" sz="2000" dirty="0"/>
              <a:t>岭回归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5D04E9-AFDC-7F5E-96B1-D77C594017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596120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dirty="0"/>
                  <a:t>(7)</a:t>
                </a:r>
                <a:r>
                  <a:rPr lang="zh-CN" altLang="en-US" dirty="0"/>
                  <a:t>式等价于下列优化问题：</a:t>
                </a:r>
                <a:br>
                  <a:rPr lang="en-US" altLang="zh-CN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nary>
                                          <m:naryPr>
                                            <m:chr m:val="∑"/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=1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  <m:t>𝑖𝑗</m:t>
                                                </m:r>
                                              </m:sub>
                                            </m:sSub>
                                          </m:e>
                                        </m:nary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  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zh-CN" b="0" dirty="0"/>
              </a:p>
              <a:p>
                <a:pPr marL="0" indent="0">
                  <a:lnSpc>
                    <a:spcPts val="3000"/>
                  </a:lnSpc>
                  <a:buNone/>
                </a:pPr>
                <a:r>
                  <a:rPr lang="zh-CN" altLang="en-US" dirty="0"/>
                  <a:t>  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dirty="0"/>
                  <a:t>是一个常数约束值。</a:t>
                </a:r>
                <a:endParaRPr lang="en-US" altLang="zh-CN" dirty="0"/>
              </a:p>
              <a:p>
                <a:pPr>
                  <a:lnSpc>
                    <a:spcPts val="3000"/>
                  </a:lnSpc>
                </a:pPr>
                <a:r>
                  <a:rPr lang="en-US" altLang="zh-CN" dirty="0"/>
                  <a:t>Hansen(2021, p.916)</a:t>
                </a:r>
                <a:r>
                  <a:rPr lang="zh-CN" altLang="en-US" dirty="0"/>
                  <a:t>证明，如果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&lt;2</m:t>
                    </m:r>
                    <m:sSup>
                      <m:sSupPr>
                        <m:ctrlPr>
                          <a:rPr lang="zh-CN" alt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bar>
                          <m:barPr>
                            <m:pos m:val="bot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ba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bar>
                          <m:barPr>
                            <m:pos m:val="bot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ba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则有</a:t>
                </a:r>
                <a:br>
                  <a:rPr lang="en-US" altLang="zh-CN" dirty="0"/>
                </a:b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𝑀𝑆𝐸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𝑟𝑖𝑑𝑔𝑒</m:t>
                            </m:r>
                          </m:sub>
                        </m:sSub>
                      </m: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𝑀𝑆𝐸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𝑜𝑙𝑠</m:t>
                            </m:r>
                          </m:sub>
                        </m:sSub>
                      </m: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5D04E9-AFDC-7F5E-96B1-D77C594017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596120"/>
              </a:xfrm>
              <a:blipFill>
                <a:blip r:embed="rId2"/>
                <a:stretch>
                  <a:fillRect l="-1005" t="-1356" b="-18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E2E02F-0323-2C6B-A59C-1BC4BAA4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3364EC-836F-DD3E-46D8-74AA8C3ED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3155726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858CA-7549-79A6-452D-F5DE1C4B2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  <a:br>
              <a:rPr lang="en-US" altLang="zh-CN" dirty="0"/>
            </a:br>
            <a:r>
              <a:rPr lang="en-US" altLang="zh-CN" sz="2000" dirty="0"/>
              <a:t>Lasso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C687A0C-1D38-945D-64CB-5BA7DF467D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725429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altLang="zh-CN" dirty="0"/>
                  <a:t>Tibshiriani(1996)</a:t>
                </a:r>
                <a:r>
                  <a:rPr lang="zh-CN" altLang="en-US" dirty="0"/>
                  <a:t>提出</a:t>
                </a:r>
                <a:r>
                  <a:rPr lang="en-US" altLang="zh-CN" dirty="0"/>
                  <a:t>Lasso(least absolute shrinkage and selection operator)</a:t>
                </a:r>
                <a:br>
                  <a:rPr lang="en-US" altLang="zh-CN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𝜆</m:t>
                        </m:r>
                        <m:nary>
                          <m:naryPr>
                            <m:chr m:val="∑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𝑅𝑆𝑆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𝜆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    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00000"/>
                  </a:lnSpc>
                </a:pPr>
                <a:r>
                  <a:rPr lang="en-US" altLang="zh-CN" dirty="0"/>
                  <a:t>Lasso</a:t>
                </a:r>
                <a:r>
                  <a:rPr lang="zh-CN" altLang="en-US" dirty="0"/>
                  <a:t>等价于下列优化：</a:t>
                </a: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br>
                  <a:rPr lang="en-US" altLang="zh-CN" dirty="0"/>
                </a:b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nary>
                                            <m:naryPr>
                                              <m:chr m:val="∑"/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  <m:t>𝑖𝑗</m:t>
                                                  </m:r>
                                                </m:sub>
                                              </m:sSub>
                                            </m:e>
                                          </m:nary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.  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ts val="3000"/>
                  </a:lnSpc>
                </a:pPr>
                <a:endParaRPr lang="en-US" altLang="zh-CN" dirty="0"/>
              </a:p>
              <a:p>
                <a:pPr>
                  <a:lnSpc>
                    <a:spcPts val="3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C687A0C-1D38-945D-64CB-5BA7DF467D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725429"/>
              </a:xfrm>
              <a:blipFill>
                <a:blip r:embed="rId2"/>
                <a:stretch>
                  <a:fillRect l="-850" t="-1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2BD57C-6D10-F7BB-9BB2-BBA045FDD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0343-EA39-94FC-0E8A-4E4930D4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423227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219218-344A-E78D-6A51-34B273622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  <a:br>
              <a:rPr lang="en-US" altLang="zh-CN" dirty="0"/>
            </a:br>
            <a:r>
              <a:rPr lang="en-US" altLang="zh-CN" sz="2000" dirty="0"/>
              <a:t>Lasso</a:t>
            </a:r>
            <a:r>
              <a:rPr lang="zh-CN" altLang="en-US" sz="2000" dirty="0"/>
              <a:t>和岭回归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82C0343-C6D4-58C5-0DA8-D26E5F6FFB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6296" y="1825625"/>
            <a:ext cx="6571407" cy="4351338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53CB14-B318-E0B5-049A-191BC1D11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49D247-68CB-F24B-2E4A-882123D3C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970816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7B7B56-BC29-5131-2079-1A4C00829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  <a:br>
              <a:rPr lang="en-US" altLang="zh-CN" dirty="0"/>
            </a:br>
            <a:r>
              <a:rPr lang="en-US" altLang="zh-CN" sz="2000" dirty="0"/>
              <a:t>Lasso</a:t>
            </a:r>
            <a:r>
              <a:rPr lang="zh-CN" altLang="en-US" sz="2000" dirty="0"/>
              <a:t>和岭回归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AC6936-AA99-7D21-8B05-42C98C7ABD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ts val="3000"/>
                  </a:lnSpc>
                </a:pPr>
                <a:r>
                  <a:rPr lang="zh-CN" altLang="en-US" dirty="0"/>
                  <a:t>和岭回归一样，</a:t>
                </a:r>
                <a:r>
                  <a:rPr lang="en-US" altLang="zh-CN" dirty="0"/>
                  <a:t>Lasso</a:t>
                </a:r>
                <a:r>
                  <a:rPr lang="zh-CN" altLang="en-US" dirty="0"/>
                  <a:t>会使系数向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收缩，当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足够</m:t>
                    </m:r>
                  </m:oMath>
                </a14:m>
                <a:r>
                  <a:rPr lang="zh-CN" altLang="en-US" dirty="0"/>
                  <a:t>大时，</a:t>
                </a:r>
                <a:r>
                  <a:rPr lang="en-US" altLang="zh-CN" dirty="0"/>
                  <a:t>Lasso</a:t>
                </a:r>
                <a:r>
                  <a:rPr lang="zh-CN" altLang="en-US" dirty="0"/>
                  <a:t>会使某些系数等于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，因而，</a:t>
                </a:r>
                <a:r>
                  <a:rPr lang="en-US" altLang="zh-CN" dirty="0"/>
                  <a:t>Lasso</a:t>
                </a:r>
                <a:r>
                  <a:rPr lang="zh-CN" altLang="en-US" dirty="0"/>
                  <a:t>会进行变量选择，使模型变稀疏</a:t>
                </a:r>
                <a:r>
                  <a:rPr lang="en-US" altLang="zh-CN" dirty="0"/>
                  <a:t>(sparse)</a:t>
                </a:r>
                <a:r>
                  <a:rPr lang="zh-CN" altLang="en-US" dirty="0"/>
                  <a:t>，适合高维数据分布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)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ts val="30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dirty="0"/>
                  <a:t>决定惩罚力度，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dirty="0"/>
                  <a:t>越大，模型越简单，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dirty="0"/>
                  <a:t>小，模型复杂，可能会出现过拟合。如何选择最优的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？</m:t>
                    </m:r>
                  </m:oMath>
                </a14:m>
                <a:endParaRPr lang="en-US" altLang="zh-CN" dirty="0"/>
              </a:p>
              <a:p>
                <a:pPr>
                  <a:lnSpc>
                    <a:spcPts val="3000"/>
                  </a:lnSpc>
                </a:pPr>
                <a:r>
                  <a:rPr lang="zh-CN" altLang="en-US" dirty="0"/>
                  <a:t>交叉验证法：</a:t>
                </a:r>
                <a:endParaRPr lang="en-US" altLang="zh-CN" dirty="0"/>
              </a:p>
              <a:p>
                <a:pPr lvl="1">
                  <a:lnSpc>
                    <a:spcPts val="3000"/>
                  </a:lnSpc>
                </a:pPr>
                <a:r>
                  <a:rPr lang="zh-CN" altLang="en-US" dirty="0"/>
                  <a:t>首先选择一系列的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dirty="0"/>
                  <a:t>网格值</a:t>
                </a:r>
                <a:r>
                  <a:rPr lang="en-US" altLang="zh-CN" dirty="0"/>
                  <a:t>(grid)</a:t>
                </a:r>
                <a:r>
                  <a:rPr lang="zh-CN" altLang="en-US" dirty="0"/>
                  <a:t>，</a:t>
                </a:r>
                <a:endParaRPr lang="en-US" altLang="zh-CN" dirty="0"/>
              </a:p>
              <a:p>
                <a:pPr lvl="1">
                  <a:lnSpc>
                    <a:spcPts val="3000"/>
                  </a:lnSpc>
                </a:pPr>
                <a:r>
                  <a:rPr lang="zh-CN" altLang="en-US" dirty="0"/>
                  <a:t>对于给定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dirty="0"/>
                  <a:t>，估计其交叉验证误差。</a:t>
                </a:r>
                <a:endParaRPr lang="en-US" altLang="zh-CN" dirty="0"/>
              </a:p>
              <a:p>
                <a:pPr lvl="1">
                  <a:lnSpc>
                    <a:spcPts val="3000"/>
                  </a:lnSpc>
                </a:pPr>
                <a:r>
                  <a:rPr lang="zh-CN" altLang="en-US" dirty="0"/>
                  <a:t>选择交叉验证误差最小的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dirty="0"/>
                  <a:t>值，并利用全部数据重新估计模型。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AC6936-AA99-7D21-8B05-42C98C7ABD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261" r="-5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908875-7546-C1EC-49E1-8D88B3B14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C9BAC4-4DBC-822C-0EAA-1D2F46A3D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5058602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6BA55B-633E-FF7E-4D82-431DAC2BF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  <a:br>
              <a:rPr lang="en-US" altLang="zh-CN" dirty="0"/>
            </a:br>
            <a:r>
              <a:rPr lang="en-US" altLang="zh-CN" sz="2000" dirty="0"/>
              <a:t>Lasso</a:t>
            </a:r>
            <a:r>
              <a:rPr lang="zh-CN" altLang="en-US" sz="2000" dirty="0"/>
              <a:t>和岭回归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1137CCD-44AF-DAAF-26F0-A5FCA83144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6"/>
                <a:ext cx="7886700" cy="1351905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zh-CN" altLang="en-US" sz="2400" dirty="0"/>
                  <a:t>模型：随机生成</a:t>
                </a:r>
                <a:r>
                  <a:rPr lang="en-US" altLang="zh-CN" sz="2400" dirty="0"/>
                  <a:t>10</a:t>
                </a:r>
                <a:r>
                  <a:rPr lang="zh-CN" altLang="en-US" sz="2400" dirty="0"/>
                  <a:t>个独立的标准正态随机变量，记为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zh-CN" altLang="en-US" sz="24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sz="2400" dirty="0"/>
                  <a:t>的生成过程如下：</a:t>
                </a:r>
                <a:br>
                  <a:rPr lang="en-US" altLang="zh-CN" sz="2400" dirty="0"/>
                </a:b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+0.25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400" b="0" dirty="0"/>
              </a:p>
              <a:p>
                <a:pPr marL="0" indent="0">
                  <a:buNone/>
                </a:pPr>
                <a:r>
                  <a:rPr lang="zh-CN" altLang="en-US" sz="2400" dirty="0"/>
                  <a:t>   生成容量为</a:t>
                </a:r>
                <a:r>
                  <a:rPr lang="en-US" altLang="zh-CN" sz="2400" dirty="0"/>
                  <a:t>100</a:t>
                </a:r>
                <a:r>
                  <a:rPr lang="zh-CN" altLang="en-US" sz="2400" dirty="0"/>
                  <a:t>的样本，用</a:t>
                </a:r>
                <a:r>
                  <a:rPr lang="en-US" altLang="zh-CN" sz="2400" dirty="0"/>
                  <a:t>Lasso</a:t>
                </a:r>
                <a:r>
                  <a:rPr lang="zh-CN" altLang="en-US" sz="2400" dirty="0"/>
                  <a:t>选择并估计模型。</a:t>
                </a:r>
                <a:endParaRPr lang="en-US" altLang="zh-CN" sz="2400" dirty="0"/>
              </a:p>
              <a:p>
                <a:r>
                  <a:rPr lang="en-US" altLang="zh-CN" sz="2400" dirty="0"/>
                  <a:t>10-</a:t>
                </a:r>
                <a:r>
                  <a:rPr lang="zh-CN" altLang="en-US" sz="2400" dirty="0"/>
                  <a:t>折交叉验证法选择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1137CCD-44AF-DAAF-26F0-A5FCA83144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6"/>
                <a:ext cx="7886700" cy="1351905"/>
              </a:xfrm>
              <a:blipFill>
                <a:blip r:embed="rId2"/>
                <a:stretch>
                  <a:fillRect l="-386" t="-67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EECEB3-6287-F00C-93F9-25AF0C5C0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54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E33B6E8-26EA-FB11-B450-88E4298F2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690" y="3092239"/>
            <a:ext cx="5301673" cy="3178819"/>
          </a:xfrm>
          <a:prstGeom prst="rect">
            <a:avLst/>
          </a:prstGeom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B4B5A0-AA83-C4C6-20CA-E8683AE68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0650884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50904A-9FEB-3DAA-253E-4E6AF649E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  <a:br>
              <a:rPr lang="en-US" altLang="zh-CN" dirty="0"/>
            </a:br>
            <a:r>
              <a:rPr lang="en-US" altLang="zh-CN" sz="2000" dirty="0"/>
              <a:t>Lasso</a:t>
            </a:r>
            <a:r>
              <a:rPr lang="zh-CN" altLang="en-US" sz="2000" dirty="0"/>
              <a:t>和岭回归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F22DD6B-2061-F86F-F4D5-428C98A3EB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sz="2000" dirty="0"/>
                  <a:t>Lasso</a:t>
                </a:r>
                <a:r>
                  <a:rPr lang="zh-CN" altLang="en-US" sz="2000" dirty="0"/>
                  <a:t>选择变量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zh-CN" altLang="en-US" sz="2000" i="1">
                        <a:latin typeface="Cambria Math" panose="02040503050406030204" pitchFamily="18" charset="0"/>
                      </a:rPr>
                      <m:t>进</m:t>
                    </m:r>
                  </m:oMath>
                </a14:m>
                <a:r>
                  <a:rPr lang="zh-CN" altLang="en-US" sz="2000" dirty="0"/>
                  <a:t>入模型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F22DD6B-2061-F86F-F4D5-428C98A3EB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4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C9D7D6-0A71-4768-395B-B12FA49B1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55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9D074A3-FEA6-1771-F68A-066B73027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1" y="2244975"/>
            <a:ext cx="6557818" cy="3931988"/>
          </a:xfrm>
          <a:prstGeom prst="rect">
            <a:avLst/>
          </a:prstGeom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3F620A-22FC-4F66-A323-3243749D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9568739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C224DE-7220-A12E-403E-D3828F18F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  <a:br>
              <a:rPr lang="en-US" altLang="zh-CN" dirty="0"/>
            </a:br>
            <a:r>
              <a:rPr lang="zh-CN" altLang="en-US" sz="2000" dirty="0"/>
              <a:t>弹性网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4F2B21F-D6D2-1EC6-0792-39B772965F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000" dirty="0"/>
                  <a:t>弹性网</a:t>
                </a:r>
                <a:r>
                  <a:rPr lang="en-US" altLang="zh-CN" sz="2000" dirty="0"/>
                  <a:t>(elastic net)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nary>
                                <m:naryPr>
                                  <m:chr m:val="∑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lang="en-US" altLang="zh-CN" sz="2000" dirty="0"/>
              </a:p>
              <a:p>
                <a:r>
                  <a:rPr lang="zh-CN" altLang="en-US" sz="2000" dirty="0"/>
                  <a:t>超参数：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sz="20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由</m:t>
                    </m:r>
                  </m:oMath>
                </a14:m>
                <a:r>
                  <a:rPr lang="zh-CN" altLang="en-US" sz="2000" dirty="0"/>
                  <a:t>交叉验证法选择。</a:t>
                </a:r>
                <a:endParaRPr lang="en-US" altLang="zh-CN" sz="2000" dirty="0"/>
              </a:p>
              <a:p>
                <a:r>
                  <a:rPr lang="zh-CN" altLang="en-US" sz="2000" dirty="0"/>
                  <a:t>关于机器学习的更多方法参考</a:t>
                </a:r>
                <a:r>
                  <a:rPr lang="en-US" altLang="zh-CN" sz="2000" dirty="0"/>
                  <a:t>James et al. (2013)</a:t>
                </a:r>
                <a:r>
                  <a:rPr lang="zh-CN" altLang="en-US" sz="2000" dirty="0"/>
                  <a:t>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4F2B21F-D6D2-1EC6-0792-39B772965F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4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005C78-6C34-7249-ECBB-DF91B4FF8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349915-1621-2893-02EC-EF0C6C47D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750314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27E6F7-A3A7-D09D-9024-9C847FB17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非参数方法 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C21492-A4B2-7D19-332F-38FAD91FD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30A0A9-9727-1947-0EEF-79F1DC060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5CA36A-C6EE-578C-7458-A64039FFD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181541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32F3C2-AB24-BDC6-54B6-7654FA0FE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单变量密度估计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91847C8-2114-3F49-6D82-C729A50F4B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24000"/>
                  </a:lnSpc>
                </a:pPr>
                <a:r>
                  <a:rPr lang="zh-CN" altLang="en-US" dirty="0"/>
                  <a:t>例子：投研币，下面概率</a:t>
                </a:r>
                <a:endParaRPr lang="en-US" altLang="zh-CN" dirty="0"/>
              </a:p>
              <a:p>
                <a:pPr marL="0" indent="0" algn="ctr">
                  <a:lnSpc>
                    <a:spcPct val="1240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正</m:t>
                    </m:r>
                  </m:oMath>
                </a14:m>
                <a:r>
                  <a:rPr lang="zh-CN" altLang="en-US" dirty="0"/>
                  <a:t>面次数</a:t>
                </a:r>
                <a:r>
                  <a:rPr lang="en-US" altLang="zh-CN" dirty="0"/>
                  <a:t>}</a:t>
                </a:r>
              </a:p>
              <a:p>
                <a:pPr>
                  <a:lnSpc>
                    <a:spcPct val="124000"/>
                  </a:lnSpc>
                </a:pPr>
                <a:r>
                  <a:rPr lang="zh-CN" altLang="en-US" dirty="0"/>
                  <a:t>考虑随机变量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的分布函数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i="1" dirty="0" err="1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≤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24000"/>
                  </a:lnSpc>
                </a:pPr>
                <a:r>
                  <a:rPr lang="zh-CN" altLang="en-US" dirty="0"/>
                  <a:t>利用</a:t>
                </a:r>
                <a:r>
                  <a:rPr lang="en-US" altLang="zh-CN" dirty="0" err="1"/>
                  <a:t>i.i.d.</a:t>
                </a:r>
                <a:r>
                  <a:rPr lang="zh-CN" altLang="en-US" dirty="0"/>
                  <a:t>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用下式估计：</a:t>
                </a:r>
                <a:endParaRPr lang="en-US" altLang="zh-CN" dirty="0"/>
              </a:p>
              <a:p>
                <a:pPr marL="0" indent="0">
                  <a:lnSpc>
                    <a:spcPct val="124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              (8)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4000"/>
                  </a:lnSpc>
                </a:pPr>
                <a:r>
                  <a:rPr lang="zh-CN" altLang="en-US" dirty="0"/>
                  <a:t>类似于投硬币计算正面概率，可以证明，当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→∞时</m:t>
                    </m:r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91847C8-2114-3F49-6D82-C729A50F4B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4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0FF5A3-E6E0-8DF1-A8B8-4EDA37BD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6841B6-4B65-1304-2346-4E188DA9E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5666018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21C626-0ABE-A18B-E8A5-41EFAF156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单变量密度估计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8C3127B-0F87-3690-240B-52330317EA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zh-CN" altLang="en-US" dirty="0"/>
                  <a:t>密度函数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由导数定义，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的一个估计量为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</m:d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i="0" dirty="0"/>
                            <m:t> 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   其中</a:t>
                </a:r>
                <a:r>
                  <a:rPr lang="en-US" altLang="zh-CN" dirty="0"/>
                  <a:t>h</a:t>
                </a:r>
                <a:r>
                  <a:rPr lang="zh-CN" altLang="en-US" dirty="0"/>
                  <a:t>是一个很小的正数。</a:t>
                </a:r>
                <a:endParaRPr lang="en-US" altLang="zh-CN" dirty="0"/>
              </a:p>
              <a:p>
                <a:r>
                  <a:rPr lang="zh-CN" altLang="en-US" dirty="0"/>
                  <a:t>将</a:t>
                </a:r>
                <a:r>
                  <a:rPr lang="en-US" altLang="zh-CN" dirty="0"/>
                  <a:t>(8)</a:t>
                </a:r>
                <a:r>
                  <a:rPr lang="zh-CN" altLang="en-US" dirty="0"/>
                  <a:t>式代入上式，得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𝑛ℎ</m:t>
                          </m:r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落在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]区间</m:t>
                      </m:r>
                      <m:r>
                        <m:rPr>
                          <m:nor/>
                        </m:rPr>
                        <a:rPr lang="zh-CN" altLang="en-US" i="0" dirty="0"/>
                        <m:t>内的数量</m:t>
                      </m:r>
                      <m:r>
                        <m:rPr>
                          <m:nor/>
                        </m:rPr>
                        <a:rPr lang="en-US" altLang="zh-CN" i="0" dirty="0"/>
                        <m:t>}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   可以写为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𝑛ℎ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ℎ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≤1</m:t>
                              </m:r>
                            </m:e>
                          </m:d>
                        </m:e>
                      </m:nary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.      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）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</a:t>
                </a: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[⋅]</m:t>
                    </m:r>
                  </m:oMath>
                </a14:m>
                <a:r>
                  <a:rPr lang="zh-CN" altLang="en-US" dirty="0"/>
                  <a:t>为示性函数，</a:t>
                </a:r>
                <a:r>
                  <a:rPr lang="en-US" altLang="zh-CN" dirty="0"/>
                  <a:t>(9)</a:t>
                </a:r>
                <a:r>
                  <a:rPr lang="zh-CN" altLang="en-US" dirty="0"/>
                  <a:t>式是矩形核估计量</a:t>
                </a:r>
                <a:r>
                  <a:rPr lang="en-US" altLang="zh-CN" dirty="0"/>
                  <a:t>(uniform kernel estimator)</a:t>
                </a:r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8C3127B-0F87-3690-240B-52330317EA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D414DA-881F-8ABD-6548-3FB1C0238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C57B95-5E20-EFB9-99BC-400FD0E28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4294015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1AC0D7-519C-145D-4286-CC5294013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单变量密度估计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7D22091-7CC2-54BA-8D1E-8103482730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zh-CN" altLang="en-US" dirty="0"/>
                  <a:t>核密度估计量：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ℎ𝑛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.      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dirty="0"/>
                  <a:t>  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称为核函数</a:t>
                </a:r>
                <a:r>
                  <a:rPr lang="en-US" altLang="zh-CN" dirty="0"/>
                  <a:t>(kernel function)</a:t>
                </a:r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dirty="0"/>
                  <a:t>称为带宽</a:t>
                </a:r>
                <a:r>
                  <a:rPr lang="en-US" altLang="zh-CN" dirty="0"/>
                  <a:t>(bandwidth)</a:t>
                </a:r>
                <a:r>
                  <a:rPr lang="zh-CN" altLang="en-US" dirty="0"/>
                  <a:t>。</a:t>
                </a:r>
                <a:r>
                  <a:rPr lang="en-US" altLang="zh-CN" dirty="0"/>
                  <a:t>(10)</a:t>
                </a:r>
                <a:r>
                  <a:rPr lang="zh-CN" altLang="en-US" dirty="0"/>
                  <a:t>最早由</a:t>
                </a:r>
                <a:r>
                  <a:rPr lang="en-US" altLang="zh-CN" dirty="0"/>
                  <a:t>Rosenblatt(1956)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Parzen(1962)</a:t>
                </a:r>
                <a:r>
                  <a:rPr lang="zh-CN" altLang="en-US" dirty="0"/>
                  <a:t>提出，通常称为</a:t>
                </a:r>
                <a:r>
                  <a:rPr lang="en-US" altLang="zh-CN" dirty="0"/>
                  <a:t>Rosenblatt</a:t>
                </a:r>
                <a:r>
                  <a:rPr lang="zh-CN" altLang="en-US" dirty="0"/>
                  <a:t>或</a:t>
                </a:r>
                <a:r>
                  <a:rPr lang="en-US" altLang="zh-CN" dirty="0"/>
                  <a:t>Rosenblatt-Parzen</a:t>
                </a:r>
                <a:r>
                  <a:rPr lang="zh-CN" altLang="en-US" dirty="0"/>
                  <a:t>核密度估计量。</a:t>
                </a:r>
                <a:endParaRPr lang="en-US" altLang="zh-CN" dirty="0"/>
              </a:p>
              <a:p>
                <a:pPr>
                  <a:lnSpc>
                    <a:spcPct val="110000"/>
                  </a:lnSpc>
                </a:pPr>
                <a:r>
                  <a:rPr lang="en-US" altLang="zh-CN" dirty="0"/>
                  <a:t>Stata</a:t>
                </a:r>
                <a:r>
                  <a:rPr lang="zh-CN" altLang="en-US" dirty="0"/>
                  <a:t>中，核密度估计量</a:t>
                </a:r>
                <a:r>
                  <a:rPr lang="en-US" altLang="zh-CN" dirty="0"/>
                  <a:t>(10)</a:t>
                </a:r>
                <a:r>
                  <a:rPr lang="zh-CN" altLang="en-US" dirty="0"/>
                  <a:t>可以用</a:t>
                </a:r>
                <a:r>
                  <a:rPr lang="en-US" altLang="zh-CN" dirty="0" err="1"/>
                  <a:t>kdensity</a:t>
                </a:r>
                <a:r>
                  <a:rPr lang="zh-CN" altLang="en-US" dirty="0"/>
                  <a:t>命令估计，默认</a:t>
                </a:r>
                <a:r>
                  <a:rPr lang="en-US" altLang="zh-CN" dirty="0" err="1"/>
                  <a:t>Epanechnikov</a:t>
                </a:r>
                <a:r>
                  <a:rPr lang="zh-CN" altLang="en-US" dirty="0"/>
                  <a:t>核，只有</a:t>
                </a:r>
                <a:r>
                  <a:rPr lang="en-US" altLang="zh-CN" dirty="0" err="1"/>
                  <a:t>Epanechnikov</a:t>
                </a:r>
                <a:r>
                  <a:rPr lang="zh-CN" altLang="en-US" dirty="0"/>
                  <a:t>或</a:t>
                </a:r>
                <a:r>
                  <a:rPr lang="en-US" altLang="zh-CN" dirty="0"/>
                  <a:t>Gaussian</a:t>
                </a:r>
                <a:r>
                  <a:rPr lang="zh-CN" altLang="en-US" dirty="0"/>
                  <a:t>核是正确的，其他核不正确</a:t>
                </a:r>
                <a:r>
                  <a:rPr lang="en-US" altLang="zh-CN" dirty="0"/>
                  <a:t>(Hansen, 2021)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7D22091-7CC2-54BA-8D1E-8103482730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961" r="-16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B2DB4-9C70-7885-8581-76E57B52D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2DEF84-8E3C-B53B-D2A9-7AD9D8CEC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5004856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D7AF34-5B81-5234-9B73-1DD9FC885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非参数回归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7C7C598-9C7D-2B20-68CF-17D61DA934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目的是估计</a:t>
                </a:r>
                <a:r>
                  <a:rPr lang="en-US" altLang="zh-CN" dirty="0"/>
                  <a:t>CEF</a:t>
                </a:r>
                <a:r>
                  <a:rPr lang="zh-CN" altLang="en-US" dirty="0"/>
                  <a:t>，但不引入函数形式假设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假设有</a:t>
                </a:r>
                <a:r>
                  <a:rPr lang="en-US" altLang="zh-CN" dirty="0" err="1"/>
                  <a:t>i.i.d.</a:t>
                </a:r>
                <a:r>
                  <a:rPr lang="zh-CN" altLang="en-US" dirty="0"/>
                  <a:t>样本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,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假设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的连续函数。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考虑一个特定点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，估计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处</m:t>
                    </m:r>
                  </m:oMath>
                </a14:m>
                <a:r>
                  <a:rPr lang="zh-CN" altLang="en-US" dirty="0"/>
                  <a:t>概率为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，可以用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附近</m:t>
                    </m:r>
                  </m:oMath>
                </a14:m>
                <a:r>
                  <a:rPr lang="zh-CN" altLang="en-US" dirty="0"/>
                  <a:t>的点估计均值，对于带宽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&gt;0，</m:t>
                    </m:r>
                  </m:oMath>
                </a14:m>
                <a:r>
                  <a:rPr lang="zh-CN" altLang="en-US" dirty="0"/>
                  <a:t>利用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zh-CN" altLang="en-US" dirty="0"/>
                  <a:t>的点求平均，区间平均值估计量</a:t>
                </a:r>
                <a:r>
                  <a:rPr lang="en-US" altLang="zh-CN" dirty="0"/>
                  <a:t>(binned means estimator)</a:t>
                </a:r>
                <a:r>
                  <a:rPr lang="zh-CN" altLang="en-US" dirty="0"/>
                  <a:t>为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𝕀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𝕀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</m:d>
                            </m:e>
                          </m:nary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这是对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的一个阶梯函数估计量，滚动窗口，可以得到各点的均值估计。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7C7C598-9C7D-2B20-68CF-17D61DA934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700" r="-4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E804F9-CD8C-E732-797E-39DE29FBA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36583C-FC2B-FD2F-E599-110BB47AF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9480807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936ED0-E7EC-7925-F3B4-BA693F588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非参数回归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6D6EDB8-C25B-AE03-98B0-B901198571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5584" y="1300451"/>
            <a:ext cx="3169758" cy="2301732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191BA3-7AB6-B2A1-1CAB-EFF620A6B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62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AD77A30-2742-F80B-9136-DF9EF7FC5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361" y="1300450"/>
            <a:ext cx="3169759" cy="230173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9C3D479-6FFD-88CD-7D5C-40483241F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752" y="3602182"/>
            <a:ext cx="6299200" cy="3012468"/>
          </a:xfrm>
          <a:prstGeom prst="rect">
            <a:avLst/>
          </a:prstGeom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1B4483-BE23-99F9-4A66-5516AE4F6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8748364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8385D9-DD6B-FA34-23BD-DBBAC0F5F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非参数回归</a:t>
            </a:r>
            <a:br>
              <a:rPr lang="en-US" altLang="zh-CN" dirty="0"/>
            </a:br>
            <a:r>
              <a:rPr lang="en-US" altLang="zh-CN" sz="2000" dirty="0"/>
              <a:t>NW</a:t>
            </a:r>
            <a:r>
              <a:rPr lang="zh-CN" altLang="en-US" sz="2000" dirty="0"/>
              <a:t>估计量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58F176C-6156-D662-1EBA-B61E7C9A52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更一般形式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𝑛𝑤</m:t>
                          </m:r>
                        </m:sub>
                      </m:sSub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ℎ</m:t>
                                      </m:r>
                                    </m:den>
                                  </m:f>
                                </m:e>
                              </m:d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ℎ</m:t>
                                      </m:r>
                                    </m:den>
                                  </m:f>
                                </m:e>
                              </m:d>
                            </m:e>
                          </m:nary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   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dirty="0"/>
                  <a:t>    (11)</a:t>
                </a:r>
                <a:r>
                  <a:rPr lang="zh-CN" altLang="en-US" dirty="0"/>
                  <a:t>称为</a:t>
                </a:r>
                <a:r>
                  <a:rPr lang="en-US" altLang="zh-CN" dirty="0" err="1"/>
                  <a:t>Nadaraya</a:t>
                </a:r>
                <a:r>
                  <a:rPr lang="en-US" altLang="zh-CN" dirty="0"/>
                  <a:t>-Watson (NW)</a:t>
                </a:r>
                <a:r>
                  <a:rPr lang="zh-CN" altLang="en-US" dirty="0"/>
                  <a:t>估计量、核回归估计量、或局部常数估计量，由    </a:t>
                </a:r>
                <a:r>
                  <a:rPr lang="en-US" altLang="zh-CN" dirty="0" err="1"/>
                  <a:t>Nadaraya</a:t>
                </a:r>
                <a:r>
                  <a:rPr lang="en-US" altLang="zh-CN" dirty="0"/>
                  <a:t>(1964)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Watson(1964)</a:t>
                </a:r>
                <a:r>
                  <a:rPr lang="zh-CN" altLang="en-US" dirty="0"/>
                  <a:t>独立提出。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核函数选择不重要，通常使用高斯核或</a:t>
                </a:r>
                <a:r>
                  <a:rPr lang="en-US" altLang="zh-CN" dirty="0" err="1"/>
                  <a:t>Epanechnikov</a:t>
                </a:r>
                <a:r>
                  <a:rPr lang="zh-CN" altLang="en-US" dirty="0"/>
                  <a:t>核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最优核）。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zh-CN" altLang="en-US" dirty="0"/>
                  <a:t>起的作用和密度估计中一样，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ℎ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越</m:t>
                    </m:r>
                  </m:oMath>
                </a14:m>
                <a:r>
                  <a:rPr lang="zh-CN" altLang="en-US" dirty="0"/>
                  <a:t>大，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𝑛𝑤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越平滑。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𝑛𝑤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𝑛𝑤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→</m:t>
                    </m:r>
                    <m:bar>
                      <m:barPr>
                        <m:pos m:val="top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ba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en-US" altLang="zh-CN" dirty="0"/>
                  <a:t>NW</a:t>
                </a:r>
                <a:r>
                  <a:rPr lang="zh-CN" altLang="en-US" dirty="0"/>
                  <a:t>估计量是局部常数，等于下列优化问题的解：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𝑛𝑤</m:t>
                          </m:r>
                        </m:sub>
                      </m:sSub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0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dirty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ℎ</m:t>
                                      </m:r>
                                    </m:den>
                                  </m:f>
                                </m:e>
                              </m:d>
                            </m:e>
                          </m:nary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func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58F176C-6156-D662-1EBA-B61E7C9A52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FBA007-AA22-BD37-B225-973396F59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2F2A70-4D46-DABF-15B8-156BBC4A8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4909397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6D7FB-5D5A-A756-E81B-61C975957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非参数回归</a:t>
            </a:r>
            <a:br>
              <a:rPr lang="en-US" altLang="zh-CN" dirty="0"/>
            </a:br>
            <a:r>
              <a:rPr lang="en-US" altLang="zh-CN" sz="2000" dirty="0"/>
              <a:t>LLR</a:t>
            </a:r>
            <a:endParaRPr lang="zh-CN" altLang="en-US" sz="2000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B582A2E-0775-2418-5F78-1B79EA0C3D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5845" y="1825625"/>
            <a:ext cx="5992309" cy="4351338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3A8C1E-3141-6A3A-354E-41FEFD90E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C350E0-FF3E-F267-0384-F3A751413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6423823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24A590-F9A4-E4F5-AF7E-26197EBAB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非参数回归</a:t>
            </a:r>
            <a:br>
              <a:rPr lang="en-US" altLang="zh-CN" dirty="0"/>
            </a:br>
            <a:r>
              <a:rPr lang="en-US" altLang="zh-CN" sz="2000" dirty="0"/>
              <a:t>LLR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D431D06-D2CE-61B1-6C3A-B76BA5756F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类似地，可以用一条线而不是常数进行近似，即局部线性近似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  即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𝐿𝐿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𝐿𝐿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0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dirty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ℎ</m:t>
                                      </m:r>
                                    </m:den>
                                  </m:f>
                                </m:e>
                              </m:d>
                            </m:e>
                          </m:nary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𝒁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𝜸</m:t>
                          </m:r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𝑲</m:t>
                          </m:r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𝜸</m:t>
                              </m:r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</m:oMath>
                  </m:oMathPara>
                </a14:m>
                <a:endParaRPr lang="en-US" altLang="zh-CN" b="1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ℎ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e/>
                              <m:e/>
                            </m:mr>
                            <m:mr>
                              <m:e/>
                              <m:e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ℎ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b="1" dirty="0"/>
              </a:p>
              <a:p>
                <a:pPr>
                  <a:lnSpc>
                    <a:spcPct val="120000"/>
                  </a:lnSpc>
                </a:pPr>
                <a:r>
                  <a:rPr lang="en-US" altLang="zh-CN" dirty="0"/>
                  <a:t>LL</a:t>
                </a:r>
                <a:r>
                  <a:rPr lang="zh-CN" altLang="en-US" dirty="0"/>
                  <a:t>估计量最早由</a:t>
                </a:r>
                <a:r>
                  <a:rPr lang="en-US" altLang="zh-CN" dirty="0"/>
                  <a:t>Stone(1977)</a:t>
                </a:r>
                <a:r>
                  <a:rPr lang="zh-CN" altLang="en-US" dirty="0"/>
                  <a:t>提出，后由</a:t>
                </a:r>
                <a:r>
                  <a:rPr lang="en-US" altLang="zh-CN" dirty="0"/>
                  <a:t>Fan(1992, 1993)</a:t>
                </a:r>
                <a:r>
                  <a:rPr lang="zh-CN" altLang="en-US" dirty="0"/>
                  <a:t>发展。一个自然的扩展，局部多项式估计量。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D431D06-D2CE-61B1-6C3A-B76BA5756F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2" t="-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59066B-45AB-DFA9-1531-6AC260EEA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74F913-FC75-EBB6-F5EE-9077CDC03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3570256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6C6307-1F8B-9047-CD2B-0FC57CA45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非参数回归</a:t>
            </a:r>
            <a:br>
              <a:rPr lang="en-US" altLang="zh-CN" dirty="0"/>
            </a:br>
            <a:r>
              <a:rPr lang="en-US" altLang="zh-CN" sz="2000" dirty="0"/>
              <a:t>LLR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B60BAD-4470-A1DA-2572-9903FD0B8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sz="2000" dirty="0"/>
              <a:t>LL</a:t>
            </a:r>
            <a:r>
              <a:rPr lang="zh-CN" altLang="en-US" sz="2000" dirty="0"/>
              <a:t>估计量在边界上偏差比</a:t>
            </a:r>
            <a:r>
              <a:rPr lang="en-US" altLang="zh-CN" sz="2000" dirty="0"/>
              <a:t>NW</a:t>
            </a:r>
            <a:r>
              <a:rPr lang="zh-CN" altLang="en-US" sz="2000" dirty="0"/>
              <a:t>估计量小，具有更好的渐近性质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Stata</a:t>
            </a:r>
            <a:r>
              <a:rPr lang="zh-CN" altLang="en-US" sz="2000" dirty="0"/>
              <a:t>命令：</a:t>
            </a:r>
            <a:r>
              <a:rPr lang="en-US" altLang="zh-CN" sz="2000" dirty="0" err="1"/>
              <a:t>lpoly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npregress</a:t>
            </a:r>
            <a:endParaRPr lang="en-US" altLang="zh-CN" sz="2000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FA896C-359B-FEA0-4E27-56361DADB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66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3DB202-F30E-F50B-7C1A-FBA3284E4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287" y="2180653"/>
            <a:ext cx="4417063" cy="3493824"/>
          </a:xfrm>
          <a:prstGeom prst="rect">
            <a:avLst/>
          </a:prstGeom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A9D315-DBB7-E96C-6B35-ACFC103B9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9974891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AD25C2-E3C8-C0DE-B5A5-522356C9E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自助法</a:t>
            </a:r>
            <a:r>
              <a:rPr lang="en-US" altLang="zh-CN" dirty="0"/>
              <a:t>(bootstrap)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E1126E-1402-5749-1D4E-E27BA44B8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577471-D1BD-557E-8FA1-FF807B63D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1BC99C-31E9-48D8-2E82-4C028E6A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83576918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F34AB6-D54B-73CD-9E38-B8DB73553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自助法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DBA5C93-1234-077A-7709-ECC12CEACC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假设有一笔钱投资于两种收益率分别为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的资产上，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是随机变量。</a:t>
                </a:r>
                <a:endParaRPr lang="en-US" altLang="zh-CN" dirty="0"/>
              </a:p>
              <a:p>
                <a:r>
                  <a:rPr lang="zh-CN" altLang="en-US" dirty="0"/>
                  <a:t>假设将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比例</m:t>
                    </m:r>
                  </m:oMath>
                </a14:m>
                <a:r>
                  <a:rPr lang="zh-CN" altLang="en-US" dirty="0"/>
                  <a:t>的钱投在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上，另外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b="0" dirty="0"/>
                  <a:t>投在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b="0" dirty="0"/>
                  <a:t>上。</a:t>
                </a:r>
                <a:endParaRPr lang="en-US" altLang="zh-CN" b="0" dirty="0"/>
              </a:p>
              <a:p>
                <a:r>
                  <a:rPr lang="zh-CN" altLang="en-US" b="0" dirty="0"/>
                  <a:t>选择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b="0" dirty="0"/>
                  <a:t>最小化总风险，即最小化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最优比例为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𝑋𝑌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𝑋𝑌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b="0" dirty="0"/>
              </a:p>
              <a:p>
                <a:endParaRPr lang="en-US" altLang="zh-CN" b="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DBA5C93-1234-077A-7709-ECC12CEACC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2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858E7F-029B-1275-DC0B-CD389C4F4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483B59-EED7-E8AD-EB8B-D425026F9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0683391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3C0C72-FAB0-C398-1DFB-F4DBDCE4D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自助法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487EF56-8CF7-9ADB-ACD1-26F5C6591F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5929" y="1825625"/>
            <a:ext cx="5012142" cy="4351338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069477-90D2-0A21-1E42-E88C41AE0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7ECCFF-26C7-6EE5-F566-D58C32A8A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26236068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A220D6-FC92-0509-398E-88CF441E0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自助法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5764A0E-2570-0D4B-CDCF-AA17B82427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为估计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</m:oMath>
                </a14:m>
                <a:r>
                  <a:rPr lang="zh-CN" altLang="en-US" dirty="0"/>
                  <a:t>的标准误差，可以从总体中不断的抽取样本，假设抽取</a:t>
                </a:r>
                <a:r>
                  <a:rPr lang="en-US" altLang="zh-CN" dirty="0"/>
                  <a:t>1000</a:t>
                </a:r>
                <a:r>
                  <a:rPr lang="zh-CN" altLang="en-US" dirty="0"/>
                  <a:t>个容量为</a:t>
                </a:r>
                <a:r>
                  <a:rPr lang="en-US" altLang="zh-CN" dirty="0"/>
                  <a:t>100</a:t>
                </a:r>
                <a:r>
                  <a:rPr lang="zh-CN" altLang="en-US" dirty="0"/>
                  <a:t>的样本，则可得到</a:t>
                </a:r>
                <a:r>
                  <a:rPr lang="en-US" altLang="zh-CN" dirty="0"/>
                  <a:t>1000</a:t>
                </a:r>
                <a:r>
                  <a:rPr lang="zh-CN" altLang="en-US" dirty="0"/>
                  <a:t>个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dirty="0"/>
                  <a:t>估计值，分别为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1000</m:t>
                        </m:r>
                      </m:sub>
                    </m:sSub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这里模型设定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=1, 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=1.25,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=0.5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=0.6。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en-US" altLang="zh-CN" dirty="0"/>
                  <a:t>1000</a:t>
                </a:r>
                <a:r>
                  <a:rPr lang="zh-CN" altLang="en-US" dirty="0"/>
                  <a:t>个样本的估计均值：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bar>
                        <m:barPr>
                          <m:pos m:val="top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ba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sup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acc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=.5996,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   标准误差：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1000−1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1000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𝛼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bar>
                                        <m:barPr>
                                          <m:pos m:val="top"/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</m:bar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=.083.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5764A0E-2570-0D4B-CDCF-AA17B82427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t="-7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3BE67D-D543-C23C-9CD7-1116A2262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10A3A0-C670-34EF-A0D4-490AB8804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42878339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988E88-2812-95BA-FB5A-57B17BB6E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自助法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F33409-009E-4ACB-8680-4E9A09687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074593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现实世界中，我们一般只有一个样本，不能从总体中抽取很多样本。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自助法是将手头样本作为一个伪总体，从中随机抽样样本容量与原样本相同的样本，采用重复抽样方式，抽得的样本称为自助样本</a:t>
            </a:r>
            <a:r>
              <a:rPr lang="en-US" altLang="zh-CN" dirty="0"/>
              <a:t>(bootstrap sample).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5EEAFD-FD02-B065-C8C0-0245707A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71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3569A2-96D2-4638-8434-CF9C44CEE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529" y="2748967"/>
            <a:ext cx="4430072" cy="3841535"/>
          </a:xfrm>
          <a:prstGeom prst="rect">
            <a:avLst/>
          </a:prstGeom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761DFF-3C5A-715D-DD5C-C188E6A02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48768222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53E373-9C08-923C-CE2B-0A30E612D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自助法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A96B08A-E06A-A788-23BC-0E2EB9EC9B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2400" dirty="0"/>
                  <a:t>假设抽取</a:t>
                </a:r>
                <a:r>
                  <a:rPr lang="en-US" altLang="zh-CN" sz="2400" dirty="0"/>
                  <a:t>B</a:t>
                </a:r>
                <a:r>
                  <a:rPr lang="zh-CN" altLang="en-US" sz="2400" dirty="0"/>
                  <a:t>个自助样本，利用每个自助样本可以得到一个估计，分别记为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∗1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400" dirty="0"/>
                  <a:t>自助样本估计量均值等于原样本估计量，标准误差估计量为</a:t>
                </a:r>
                <a:endParaRPr lang="en-US" altLang="zh-CN" sz="24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altLang="zh-CN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𝛼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sup>
                                      </m:s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bar>
                                            <m:barPr>
                                              <m:pos m:val="top"/>
                                              <m:ctrlPr>
                                                <a:rPr lang="en-US" altLang="zh-CN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bar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altLang="zh-CN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altLang="zh-CN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𝛼</m:t>
                                                  </m:r>
                                                </m:e>
                                              </m:acc>
                                            </m:e>
                                          </m:bar>
                                        </m:e>
                                        <m:sup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24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400" dirty="0"/>
                  <a:t>下页图中橙色图是从总体抽取</a:t>
                </a:r>
                <a:r>
                  <a:rPr lang="en-US" altLang="zh-CN" sz="2400" dirty="0"/>
                  <a:t>1000</a:t>
                </a:r>
                <a:r>
                  <a:rPr lang="zh-CN" altLang="en-US" sz="2400" dirty="0"/>
                  <a:t>次得到的估计量分布，蓝色图是用一个样本作为母体，</a:t>
                </a:r>
                <a:r>
                  <a:rPr lang="zh-CN" altLang="en-US" sz="1800" dirty="0"/>
                  <a:t>自抽样</a:t>
                </a:r>
                <a:r>
                  <a:rPr lang="en-US" altLang="zh-CN" sz="1800" dirty="0"/>
                  <a:t>1000</a:t>
                </a:r>
                <a:r>
                  <a:rPr lang="zh-CN" altLang="en-US" sz="1800" dirty="0"/>
                  <a:t>次得到的自助法估计量分布，两者非常相似。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A96B08A-E06A-A788-23BC-0E2EB9EC9B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120" r="-3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63C811-F565-7C98-BAC9-924A811BA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72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66F0AF-7B9D-8953-BD44-57DC43753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91782021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071DA-7A3D-5926-35B9-1183D92C6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自助法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F47800-2B37-3C5B-2DB5-39300E03B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73</a:t>
            </a:fld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FE5AEF5-47EB-6513-7734-150FD0E2AD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3064" y="1690689"/>
            <a:ext cx="6537872" cy="3994517"/>
          </a:xfrm>
          <a:prstGeom prst="rect">
            <a:avLst/>
          </a:prstGeom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A9CC58-EC2C-755A-721A-E729DF9F7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5471277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0C8B7F-A43F-368C-5C4E-00D7887B1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面板数据方法</a:t>
            </a:r>
            <a:br>
              <a:rPr lang="en-US" altLang="zh-CN" dirty="0"/>
            </a:br>
            <a:r>
              <a:rPr lang="zh-CN" altLang="en-US" sz="2000" dirty="0"/>
              <a:t>混合回归</a:t>
            </a:r>
            <a:r>
              <a:rPr lang="en-US" altLang="zh-CN" sz="2000" dirty="0"/>
              <a:t>(pooled regression)</a:t>
            </a:r>
            <a:r>
              <a:rPr lang="zh-CN" altLang="en-US" sz="20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84AE0D-9141-70B7-B703-E829ACDB5E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将面板数据当成截面，假设不存在个体间和时间上的相关性，满足</a:t>
                </a:r>
                <a:r>
                  <a:rPr lang="en-US" altLang="zh-CN" dirty="0" err="1"/>
                  <a:t>i.i.d.</a:t>
                </a:r>
                <a:r>
                  <a:rPr lang="zh-CN" altLang="en-US" dirty="0"/>
                  <a:t>，估计下列模型：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dirty="0"/>
                  <a:t>   </a:t>
                </a:r>
                <a:r>
                  <a:rPr lang="zh-CN" altLang="en-US" dirty="0"/>
                  <a:t>写成矩阵形式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b="1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回归系数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𝑝𝑜𝑜𝑙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方差估计量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𝑝𝑜𝑜𝑙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acc>
                                <m:accPr>
                                  <m:chr m:val="̂"/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zh-CN" b="1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dirty="0" smtClean="0">
                                          <a:latin typeface="Cambria Math" panose="02040503050406030204" pitchFamily="18" charset="0"/>
                                        </a:rPr>
                                        <m:t>𝒆</m:t>
                                      </m:r>
                                    </m:e>
                                    <m:sub>
                                      <m:r>
                                        <a:rPr lang="en-US" altLang="zh-CN" b="1" i="1" dirty="0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acc>
                              <m:sSup>
                                <m:sSup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b="1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dirty="0" smtClean="0">
                                              <a:latin typeface="Cambria Math" panose="02040503050406030204" pitchFamily="18" charset="0"/>
                                            </a:rPr>
                                            <m:t>𝒆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 i="1" dirty="0" smtClean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  <m:sup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sSup>
                        <m:sSup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en-US" altLang="zh-CN" dirty="0"/>
                  <a:t>Stata</a:t>
                </a:r>
                <a:r>
                  <a:rPr lang="zh-CN" altLang="en-US" dirty="0"/>
                  <a:t>中选项</a:t>
                </a:r>
                <a:r>
                  <a:rPr lang="en-US" altLang="zh-CN" dirty="0" err="1"/>
                  <a:t>vce</a:t>
                </a:r>
                <a:r>
                  <a:rPr lang="en-US" altLang="zh-CN" dirty="0"/>
                  <a:t>(cluster id)</a:t>
                </a:r>
                <a:r>
                  <a:rPr lang="zh-CN" altLang="en-US" dirty="0"/>
                  <a:t>获得聚类标准误。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84AE0D-9141-70B7-B703-E829ACDB5E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2" t="-280" r="-3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450B86-92C2-921E-B44C-13F689586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74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848B01-6A13-399D-0EDD-B24F018AB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41311554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BA336-F017-9509-316D-0F5844E56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面板数据方法</a:t>
            </a:r>
            <a:br>
              <a:rPr lang="en-US" altLang="zh-CN" dirty="0"/>
            </a:br>
            <a:r>
              <a:rPr lang="zh-CN" altLang="en-US" sz="2200" dirty="0"/>
              <a:t>随机效应模型</a:t>
            </a:r>
            <a:r>
              <a:rPr lang="en-US" altLang="zh-CN" sz="2200" dirty="0"/>
              <a:t>(random effect model)</a:t>
            </a:r>
            <a:endParaRPr lang="zh-CN" alt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FF6195B-39C3-2EA1-C424-99A3C06B9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zh-CN" altLang="en-US" sz="1800" dirty="0"/>
                  <a:t>假设误差项结构：</a:t>
                </a:r>
                <a:endParaRPr lang="en-US" altLang="zh-CN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1800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800" dirty="0"/>
                  <a:t>称为个体固定效应，反映不随时间变量化的个体特征，是不可观测的潜变量。</a:t>
                </a:r>
                <a:endParaRPr lang="en-US" altLang="zh-CN" sz="1800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sz="1800" dirty="0"/>
                  <a:t>随机效应模型假设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800" dirty="0"/>
                  <a:t>是随机的，与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zh-CN" altLang="en-US" sz="1800" dirty="0"/>
                  <a:t>不相关，因而，不影响回归系数的一致性，仅影响标准误差。</a:t>
                </a:r>
                <a:endParaRPr lang="en-US" altLang="zh-CN" sz="1800" dirty="0"/>
              </a:p>
              <a:p>
                <a:pPr>
                  <a:lnSpc>
                    <a:spcPct val="110000"/>
                  </a:lnSpc>
                </a:pPr>
                <a:endParaRPr lang="en-US" altLang="zh-CN" sz="1800" dirty="0"/>
              </a:p>
              <a:p>
                <a:pPr>
                  <a:lnSpc>
                    <a:spcPct val="110000"/>
                  </a:lnSpc>
                </a:pPr>
                <a:endParaRPr lang="en-US" altLang="zh-CN" sz="1800" dirty="0"/>
              </a:p>
              <a:p>
                <a:pPr>
                  <a:lnSpc>
                    <a:spcPct val="110000"/>
                  </a:lnSpc>
                </a:pPr>
                <a:endParaRPr lang="en-US" altLang="zh-CN" sz="1800" dirty="0"/>
              </a:p>
              <a:p>
                <a:pPr>
                  <a:lnSpc>
                    <a:spcPct val="110000"/>
                  </a:lnSpc>
                </a:pPr>
                <a:endParaRPr lang="en-US" altLang="zh-CN" sz="1800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sz="1800" dirty="0"/>
                  <a:t>在随机效应模型中，</a:t>
                </a:r>
                <a:r>
                  <a:rPr lang="en-US" altLang="zh-CN" sz="1800" dirty="0"/>
                  <a:t>OLS</a:t>
                </a:r>
                <a:r>
                  <a:rPr lang="zh-CN" altLang="en-US" sz="1800" dirty="0"/>
                  <a:t>和</a:t>
                </a:r>
                <a:r>
                  <a:rPr lang="en-US" altLang="zh-CN" sz="1800" dirty="0"/>
                  <a:t>GLS</a:t>
                </a:r>
                <a:r>
                  <a:rPr lang="zh-CN" altLang="en-US" sz="1800" dirty="0"/>
                  <a:t>都是一致估计，但</a:t>
                </a:r>
                <a:r>
                  <a:rPr lang="en-US" altLang="zh-CN" sz="1800" dirty="0"/>
                  <a:t>GLS</a:t>
                </a:r>
                <a:r>
                  <a:rPr lang="zh-CN" altLang="en-US" sz="1800" dirty="0"/>
                  <a:t>更有效率（方差更小）</a:t>
                </a:r>
                <a:endParaRPr lang="en-US" altLang="zh-CN" sz="1800" dirty="0"/>
              </a:p>
              <a:p>
                <a:pPr>
                  <a:lnSpc>
                    <a:spcPct val="110000"/>
                  </a:lnSpc>
                </a:pPr>
                <a:endParaRPr lang="en-US" altLang="zh-CN" sz="1800" dirty="0"/>
              </a:p>
              <a:p>
                <a:pPr>
                  <a:lnSpc>
                    <a:spcPct val="110000"/>
                  </a:lnSpc>
                </a:pPr>
                <a:endParaRPr lang="en-US" altLang="zh-CN" sz="1800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sz="1800" dirty="0"/>
                  <a:t>估计量方差</a:t>
                </a:r>
                <a:endParaRPr lang="en-US" altLang="zh-CN" sz="1800" dirty="0"/>
              </a:p>
              <a:p>
                <a:pPr>
                  <a:lnSpc>
                    <a:spcPct val="110000"/>
                  </a:lnSpc>
                </a:pPr>
                <a:endParaRPr lang="en-US" altLang="zh-CN" sz="1800" dirty="0"/>
              </a:p>
              <a:p>
                <a:pPr>
                  <a:lnSpc>
                    <a:spcPct val="110000"/>
                  </a:lnSpc>
                </a:pPr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FF6195B-39C3-2EA1-C424-99A3C06B9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8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4FD41B-E3E7-F712-4CEC-3DD2A725C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75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64ADE0C-D664-19AF-F47F-AD4BBBC40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45" y="3429000"/>
            <a:ext cx="4895273" cy="102428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E3C7409-C5B2-FBA6-B921-4DDCC59E8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250" y="5012630"/>
            <a:ext cx="3267531" cy="61921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FE658CB-92BA-AD7D-B3AB-45EED7677B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4364" y="5966425"/>
            <a:ext cx="4701309" cy="600464"/>
          </a:xfrm>
          <a:prstGeom prst="rect">
            <a:avLst/>
          </a:prstGeom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E60769-C847-99A1-85DF-603CE0AAA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152271397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B6BE5B-6AF6-D55C-E644-7ED3F3226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面板数据方法</a:t>
            </a:r>
            <a:br>
              <a:rPr lang="en-US" altLang="zh-CN" dirty="0"/>
            </a:br>
            <a:r>
              <a:rPr lang="zh-CN" altLang="en-US" sz="2200" dirty="0"/>
              <a:t>固定效应模型</a:t>
            </a:r>
            <a:r>
              <a:rPr lang="en-US" altLang="zh-CN" sz="2200" dirty="0"/>
              <a:t>(fixed effect model)</a:t>
            </a:r>
            <a:endParaRPr lang="zh-CN" alt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0E2522B-5C53-1645-2C6D-9029146499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dirty="0"/>
                  <a:t>固定效应模型假设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/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zh-CN" altLang="en-US" sz="1600" i="1" dirty="0">
                        <a:latin typeface="Cambria Math" panose="02040503050406030204" pitchFamily="18" charset="0"/>
                      </a:rPr>
                      <m:t>相关</m:t>
                    </m:r>
                  </m:oMath>
                </a14:m>
                <a:r>
                  <a:rPr lang="zh-CN" altLang="en-US" sz="1600" dirty="0"/>
                  <a:t>，即个体固定效应是混杂因素。</a:t>
                </a:r>
                <a:endParaRPr lang="en-US" altLang="zh-CN" sz="1600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sz="1600" dirty="0"/>
                  <a:t>组内变换：</a:t>
                </a:r>
                <a:endParaRPr lang="en-US" altLang="zh-CN" sz="16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ba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ba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sz="1600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sz="1600" dirty="0"/>
                  <a:t>组内模型</a:t>
                </a:r>
                <a:endParaRPr lang="en-US" altLang="zh-CN" sz="16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̇"/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acc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1600" b="0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sz="1600" dirty="0"/>
                  <a:t>组内估计量</a:t>
                </a:r>
                <a:r>
                  <a:rPr lang="en-US" altLang="zh-CN" sz="1600" dirty="0"/>
                  <a:t>(within estimator)</a:t>
                </a:r>
                <a:r>
                  <a:rPr lang="zh-CN" altLang="en-US" sz="1600" dirty="0"/>
                  <a:t>或固定效应估计量</a:t>
                </a:r>
                <a:r>
                  <a:rPr lang="en-US" altLang="zh-CN" sz="1600" dirty="0"/>
                  <a:t>(FE estimator)</a:t>
                </a:r>
                <a:r>
                  <a:rPr lang="zh-CN" altLang="en-US" sz="1600" dirty="0"/>
                  <a:t>为</a:t>
                </a:r>
                <a:endParaRPr lang="en-US" altLang="zh-CN" sz="16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𝑓𝑒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altLang="zh-CN" sz="16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sz="16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CN" sz="16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𝑖𝑡</m:t>
                                          </m:r>
                                        </m:sub>
                                      </m:sSub>
                                      <m:sSubSup>
                                        <m:sSubSupPr>
                                          <m:ctrlPr>
                                            <a:rPr lang="en-US" altLang="zh-CN" sz="1600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altLang="zh-CN" sz="16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sz="16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CN" sz="16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𝑖𝑡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nary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altLang="zh-CN" sz="1600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6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</a:rPr>
                                        <m:t>𝑖𝑡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altLang="zh-CN" sz="1600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6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</a:rPr>
                                        <m:t>𝑖𝑡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1600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sz="1600" dirty="0"/>
                  <a:t>估计量方差估计量为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0E2522B-5C53-1645-2C6D-9029146499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F0AA25-2343-8B97-D0A0-AFEFF3ECB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76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E568522-3BA6-452B-DED3-8B6D63B9A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210" y="5960227"/>
            <a:ext cx="4406794" cy="703344"/>
          </a:xfrm>
          <a:prstGeom prst="rect">
            <a:avLst/>
          </a:prstGeom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282379-D006-0C06-405B-8FEFB2B98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29632807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C7A98E-BD0A-96E1-A654-F34CA8B6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面板数据方法</a:t>
            </a:r>
            <a:br>
              <a:rPr lang="en-US" altLang="zh-CN" dirty="0"/>
            </a:br>
            <a:r>
              <a:rPr lang="zh-CN" altLang="en-US" sz="2200" dirty="0"/>
              <a:t>固定效应模型</a:t>
            </a:r>
            <a:r>
              <a:rPr lang="en-US" altLang="zh-CN" sz="2200" dirty="0"/>
              <a:t>(fixed effect model)</a:t>
            </a:r>
            <a:endParaRPr lang="zh-CN" altLang="en-US" sz="2200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E2127D3-114F-3802-C8E0-2EF5BA2CF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6272" y="1825625"/>
            <a:ext cx="5531456" cy="4351338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C8FC53-8F71-3AD8-BC9B-0F79BEAC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77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99086C7-7A0E-9D58-7998-E3D0D551B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48002616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1D0BA8-F52D-AF83-3062-BA30A416B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面板数据方法</a:t>
            </a:r>
            <a:br>
              <a:rPr lang="en-US" altLang="zh-CN" dirty="0"/>
            </a:br>
            <a:r>
              <a:rPr lang="zh-CN" altLang="en-US" sz="2200" dirty="0"/>
              <a:t>固定效应模型</a:t>
            </a:r>
            <a:r>
              <a:rPr lang="en-US" altLang="zh-CN" sz="2200" dirty="0"/>
              <a:t>(fixed effect model)</a:t>
            </a:r>
            <a:endParaRPr lang="zh-CN" alt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307FBFE-1D44-3980-0B08-59ECF6DA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固定效应也可以用虚拟变量控制个体固定效应，称为</a:t>
                </a:r>
                <a:r>
                  <a:rPr lang="en-US" altLang="zh-CN" dirty="0"/>
                  <a:t>LSDV(least squares dummy variable)</a:t>
                </a:r>
                <a:r>
                  <a:rPr lang="zh-CN" altLang="en-US" dirty="0"/>
                  <a:t>，用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表示是否为个体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的虚拟变量，模型可以重新表示为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</a:t>
                </a: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0,…,1,…,0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利用</a:t>
                </a:r>
                <a:r>
                  <a:rPr lang="en-US" altLang="zh-CN" dirty="0"/>
                  <a:t>FWL</a:t>
                </a:r>
                <a:r>
                  <a:rPr lang="zh-CN" altLang="en-US" dirty="0"/>
                  <a:t>定理，可以证明上述模型回归系数与固定效应估计量等价。</a:t>
                </a:r>
                <a:endParaRPr lang="en-US" altLang="zh-CN" dirty="0"/>
              </a:p>
              <a:p>
                <a:r>
                  <a:rPr lang="en-US" altLang="zh-CN" dirty="0"/>
                  <a:t>LSDV</a:t>
                </a:r>
                <a:r>
                  <a:rPr lang="zh-CN" altLang="en-US" dirty="0"/>
                  <a:t>中控制了固定效应虚拟变量，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会更大，拟合优度用组内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更合适。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307FBFE-1D44-3980-0B08-59ECF6DA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381" r="-1159" b="-30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9C5066-7D5A-D04F-5166-D59EE1C9C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78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015486-5C99-92EA-9F6B-15BE0E69F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77608977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BF13B-63C0-33CE-6753-F8D8FAAD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面板数据方法</a:t>
            </a:r>
            <a:br>
              <a:rPr lang="en-US" altLang="zh-CN" dirty="0"/>
            </a:br>
            <a:r>
              <a:rPr lang="zh-CN" altLang="en-US" sz="2200" dirty="0"/>
              <a:t>固定效应模型</a:t>
            </a:r>
            <a:r>
              <a:rPr lang="en-US" altLang="zh-CN" sz="2200" dirty="0"/>
              <a:t>(fixed effect model)</a:t>
            </a:r>
            <a:endParaRPr lang="zh-CN" alt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881E78D-E5E7-726D-FA96-3537AACFDD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双向固定效应模型：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组内变换，令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ba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ba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ba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组内模型：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̈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881E78D-E5E7-726D-FA96-3537AACFDD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6126F8-68A0-68DB-45F3-9FF1B8841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79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10790B-7927-8EB4-DD5A-927865AF0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53382441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4F811B-6F44-6BB9-9989-C12719B7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相关随机效应模型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F63CC92-F924-177D-8BC0-100D801B5F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dirty="0"/>
                  <a:t>Mundlak(1987)</a:t>
                </a:r>
                <a:r>
                  <a:rPr lang="zh-CN" altLang="en-US" dirty="0"/>
                  <a:t>指出</a:t>
                </a:r>
                <a:r>
                  <a:rPr lang="en-US" altLang="zh-CN" dirty="0"/>
                  <a:t>RE</a:t>
                </a:r>
                <a:r>
                  <a:rPr lang="zh-CN" altLang="en-US" dirty="0"/>
                  <a:t>模型和</a:t>
                </a:r>
                <a:r>
                  <a:rPr lang="en-US" altLang="zh-CN" dirty="0"/>
                  <a:t>FE</a:t>
                </a:r>
                <a:r>
                  <a:rPr lang="zh-CN" altLang="en-US" dirty="0"/>
                  <a:t>模型密切相关，并提出相关随机效应模型</a:t>
                </a:r>
                <a:r>
                  <a:rPr lang="en-US" altLang="zh-CN" dirty="0"/>
                  <a:t>(correlated random effect, CRE)</a:t>
                </a:r>
                <a:r>
                  <a:rPr lang="zh-CN" altLang="en-US" dirty="0"/>
                  <a:t>，也称为</a:t>
                </a:r>
                <a:r>
                  <a:rPr lang="en-US" altLang="zh-CN" dirty="0" err="1"/>
                  <a:t>Mundlak</a:t>
                </a:r>
                <a:r>
                  <a:rPr lang="zh-CN" altLang="en-US" dirty="0"/>
                  <a:t>回归。假设个体固定效应与解释变量相关，采用下列形式：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bar>
                            <m:barPr>
                              <m:pos m:val="top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ba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将上式代入原模型中，得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bar>
                            <m:barPr>
                              <m:pos m:val="top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ba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固定效应模型转变成了随机效应模型。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可以证明上述回归系数与固定效应估计量等价，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𝑐𝑟𝑒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𝑓𝑒</m:t>
                        </m:r>
                      </m:sub>
                    </m:sSub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en-US" altLang="zh-CN" dirty="0"/>
                  <a:t>FE</a:t>
                </a:r>
                <a:r>
                  <a:rPr lang="zh-CN" altLang="en-US" dirty="0"/>
                  <a:t>模型中不时变的协变量是无法控制的，但在</a:t>
                </a:r>
                <a:r>
                  <a:rPr lang="en-US" altLang="zh-CN" dirty="0"/>
                  <a:t>CRE</a:t>
                </a:r>
                <a:r>
                  <a:rPr lang="zh-CN" altLang="en-US" dirty="0"/>
                  <a:t>模型中，可以控制不时变的协变量，并且可以得到不时变变量的影响系数。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en-US" altLang="zh-CN" dirty="0"/>
                  <a:t>Stata</a:t>
                </a:r>
                <a:r>
                  <a:rPr lang="zh-CN" altLang="en-US" dirty="0"/>
                  <a:t>命令</a:t>
                </a:r>
                <a:r>
                  <a:rPr lang="en-US" altLang="zh-CN" dirty="0" err="1"/>
                  <a:t>xtreg</a:t>
                </a:r>
                <a:r>
                  <a:rPr lang="zh-CN" altLang="en-US" dirty="0"/>
                  <a:t>，选项</a:t>
                </a:r>
                <a:r>
                  <a:rPr lang="en-US" altLang="zh-CN" dirty="0" err="1"/>
                  <a:t>fe</a:t>
                </a:r>
                <a:r>
                  <a:rPr lang="zh-CN" altLang="en-US" dirty="0"/>
                  <a:t>是固定效应模型，</a:t>
                </a:r>
                <a:r>
                  <a:rPr lang="en-US" altLang="zh-CN" dirty="0"/>
                  <a:t>re</a:t>
                </a:r>
                <a:r>
                  <a:rPr lang="zh-CN" altLang="en-US" dirty="0"/>
                  <a:t>是随机效应模型</a:t>
                </a:r>
                <a:r>
                  <a:rPr lang="en-US" altLang="zh-CN" dirty="0"/>
                  <a:t>,</a:t>
                </a:r>
                <a:r>
                  <a:rPr lang="en-US" altLang="zh-CN" dirty="0" err="1"/>
                  <a:t>cre</a:t>
                </a:r>
                <a:r>
                  <a:rPr lang="zh-CN" altLang="en-US" dirty="0"/>
                  <a:t>是相关随机效应模型</a:t>
                </a:r>
                <a:r>
                  <a:rPr lang="en-US" altLang="zh-CN" dirty="0"/>
                  <a:t>(Stata19</a:t>
                </a:r>
                <a:r>
                  <a:rPr lang="zh-CN" altLang="en-US" dirty="0"/>
                  <a:t>提供）。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F63CC92-F924-177D-8BC0-100D801B5F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8" t="-700" r="-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A224DC-3EB9-F4C5-16B3-E772B2AEB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80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C8A609-DF11-225C-4833-E3F360769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77721614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E37B46-7169-CC07-F77A-E6DC2E971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190DD2-8503-E161-D28B-52B02D939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统计推断：参考估计、假设检验、预测，理论基础：</a:t>
            </a:r>
            <a:r>
              <a:rPr lang="en-US" altLang="zh-CN" dirty="0"/>
              <a:t>LLN</a:t>
            </a:r>
            <a:r>
              <a:rPr lang="zh-CN" altLang="en-US" dirty="0"/>
              <a:t>， </a:t>
            </a:r>
            <a:r>
              <a:rPr lang="en-US" altLang="zh-CN" dirty="0"/>
              <a:t>CLT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CEF</a:t>
            </a:r>
            <a:r>
              <a:rPr lang="zh-CN" altLang="en-US" dirty="0"/>
              <a:t>：最优预测。如何更好地预测</a:t>
            </a:r>
            <a:r>
              <a:rPr lang="en-US" altLang="zh-CN" dirty="0"/>
              <a:t>CEF</a:t>
            </a:r>
            <a:r>
              <a:rPr lang="zh-CN" altLang="en-US" dirty="0"/>
              <a:t>？线性回归、非参数回归、机器学习。</a:t>
            </a:r>
            <a:endParaRPr lang="en-US" altLang="zh-CN" dirty="0"/>
          </a:p>
          <a:p>
            <a:r>
              <a:rPr lang="zh-CN" altLang="en-US" dirty="0"/>
              <a:t>相关概念：过拟合，欠拟合，交叉验证。</a:t>
            </a:r>
            <a:endParaRPr lang="en-US" altLang="zh-CN" dirty="0"/>
          </a:p>
          <a:p>
            <a:r>
              <a:rPr lang="zh-CN" altLang="en-US" dirty="0"/>
              <a:t>自助法：估计抽样方差。</a:t>
            </a:r>
            <a:endParaRPr lang="en-US" altLang="zh-CN" dirty="0"/>
          </a:p>
          <a:p>
            <a:r>
              <a:rPr lang="zh-CN" altLang="en-US" dirty="0"/>
              <a:t>面板数据方法：随机效应模型、固定效应模型、相关随机效应模型。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FDFA89-A2E0-A991-2DD3-1C7AC08D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81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30F061-D28B-CE0F-F761-E400A7891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248985920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0B3FF8-F1F8-25F0-0AAE-E1C375CD2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参考文献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D3E831-B7B1-E8A4-9441-56BAAED09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300" dirty="0"/>
              <a:t>Angrist, J. D., &amp; Pischke, J. S. (2009). Mostly harmless econometrics: An empiricist’s companion. Princeton university press.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300" dirty="0"/>
              <a:t>Belloni, A., </a:t>
            </a:r>
            <a:r>
              <a:rPr lang="en-US" altLang="zh-CN" sz="1300" dirty="0" err="1"/>
              <a:t>Chernozhukov</a:t>
            </a:r>
            <a:r>
              <a:rPr lang="en-US" altLang="zh-CN" sz="1300" dirty="0"/>
              <a:t>, V., &amp; Hansen, C. (2014). Inference on treatment effects after selection among high-dimensional controls. The Review of Economic Studies, 81(2), 608-650.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300" dirty="0" err="1"/>
              <a:t>Chernozhukov</a:t>
            </a:r>
            <a:r>
              <a:rPr lang="en-US" altLang="zh-CN" sz="1300" dirty="0"/>
              <a:t>, V., Hansen, C., Kallus, N., Spindler, M., &amp; </a:t>
            </a:r>
            <a:r>
              <a:rPr lang="en-US" altLang="zh-CN" sz="1300" dirty="0" err="1"/>
              <a:t>Syrgkanis</a:t>
            </a:r>
            <a:r>
              <a:rPr lang="en-US" altLang="zh-CN" sz="1300" dirty="0"/>
              <a:t>, V. (2024). Applied causal inference powered by ML and AI. </a:t>
            </a:r>
            <a:r>
              <a:rPr lang="en-US" altLang="zh-CN" sz="1300" dirty="0" err="1"/>
              <a:t>arXiv</a:t>
            </a:r>
            <a:r>
              <a:rPr lang="en-US" altLang="zh-CN" sz="1300" dirty="0"/>
              <a:t> preprint arXiv:2403.02467.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300" dirty="0" err="1"/>
              <a:t>Chernozhukov</a:t>
            </a:r>
            <a:r>
              <a:rPr lang="en-US" altLang="zh-CN" sz="1300" dirty="0"/>
              <a:t>, V., Hansen, C., &amp; Spindler, M. (2015). Valid post-selection and post-regularization inference: An elementary, general approach. Annu. Rev. Econ., 7(1), 649-688.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300" dirty="0" err="1"/>
              <a:t>Chernozhukov</a:t>
            </a:r>
            <a:r>
              <a:rPr lang="en-US" altLang="zh-CN" sz="1300" dirty="0"/>
              <a:t>, V., </a:t>
            </a:r>
            <a:r>
              <a:rPr lang="en-US" altLang="zh-CN" sz="1300" dirty="0" err="1"/>
              <a:t>Chetverikov</a:t>
            </a:r>
            <a:r>
              <a:rPr lang="en-US" altLang="zh-CN" sz="1300" dirty="0"/>
              <a:t>, D., Demirer, M., Duflo, E., Hansen, C., Newey, W., &amp; Robins, J. (2018). Double/debiased machine learning for treatment and structural parameters.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300" dirty="0"/>
              <a:t>Hansen, Bruce. (2022). Econometrics. Princeton University Press.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300" dirty="0"/>
              <a:t>Li, Q., &amp; Racine, J. S. (2007). Nonparametric econometrics: theory and practice. Princeton University Press.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300" dirty="0"/>
              <a:t>Lohr, Sharon L. Sampling: design and analysis. CRC press, 2021.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300" dirty="0"/>
              <a:t>James, G., Witten, D., Hastie, T., &amp; </a:t>
            </a:r>
            <a:r>
              <a:rPr lang="en-US" altLang="zh-CN" sz="1300" dirty="0" err="1"/>
              <a:t>Tibshirani</a:t>
            </a:r>
            <a:r>
              <a:rPr lang="en-US" altLang="zh-CN" sz="1300" dirty="0"/>
              <a:t>, R. (2013). An introduction to statistical learning: With applications in R. New York: springer.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300" dirty="0" err="1"/>
              <a:t>Tibshirani</a:t>
            </a:r>
            <a:r>
              <a:rPr lang="en-US" altLang="zh-CN" sz="1300" dirty="0"/>
              <a:t>, R. (1996). Regression shrinkage and selection via the lasso. Journal of the Royal Statistical Society Series B: Statistical Methodology, 58(1), 267-288.</a:t>
            </a:r>
            <a:endParaRPr lang="zh-CN" altLang="en-US" sz="13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7272F5-8814-66DF-CCE7-7A3B3D15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C3EF3-984E-4995-B669-52CCD4060684}" type="slidenum">
              <a:rPr lang="zh-CN" altLang="en-US" smtClean="0"/>
              <a:t>82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9BC64F-C91B-E347-ED02-BB8626A9B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</p:spTree>
    <p:extLst>
      <p:ext uri="{BB962C8B-B14F-4D97-AF65-F5344CB8AC3E}">
        <p14:creationId xmlns:p14="http://schemas.microsoft.com/office/powerpoint/2010/main" val="3354616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1439</TotalTime>
  <Words>8498</Words>
  <Application>Microsoft Office PowerPoint</Application>
  <PresentationFormat>全屏显示(4:3)</PresentationFormat>
  <Paragraphs>653</Paragraphs>
  <Slides>82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82</vt:i4>
      </vt:variant>
    </vt:vector>
  </HeadingPairs>
  <TitlesOfParts>
    <vt:vector size="89" baseType="lpstr">
      <vt:lpstr>等线</vt:lpstr>
      <vt:lpstr>思源宋体</vt:lpstr>
      <vt:lpstr>Arial</vt:lpstr>
      <vt:lpstr>Calibri</vt:lpstr>
      <vt:lpstr>Cambria Math</vt:lpstr>
      <vt:lpstr>Times New Roman</vt:lpstr>
      <vt:lpstr>Office 主题​​</vt:lpstr>
      <vt:lpstr>统计推断</vt:lpstr>
      <vt:lpstr>目录</vt:lpstr>
      <vt:lpstr>统计推断</vt:lpstr>
      <vt:lpstr>统计推断 基于设计的方法</vt:lpstr>
      <vt:lpstr>统计推断 基于设计的方法</vt:lpstr>
      <vt:lpstr>统计推断</vt:lpstr>
      <vt:lpstr>统计推断 置信区间</vt:lpstr>
      <vt:lpstr>统计推断 置信区间</vt:lpstr>
      <vt:lpstr>统计推断 假设检验</vt:lpstr>
      <vt:lpstr>统计推断 假设检验</vt:lpstr>
      <vt:lpstr>统计推断 假设检验：两类错误</vt:lpstr>
      <vt:lpstr>统计推断</vt:lpstr>
      <vt:lpstr>条件期望</vt:lpstr>
      <vt:lpstr>条件期望</vt:lpstr>
      <vt:lpstr>条件期望</vt:lpstr>
      <vt:lpstr>条件期望</vt:lpstr>
      <vt:lpstr>条件期望</vt:lpstr>
      <vt:lpstr>饱和模型</vt:lpstr>
      <vt:lpstr>线性回归</vt:lpstr>
      <vt:lpstr>线性回归</vt:lpstr>
      <vt:lpstr>线性回归</vt:lpstr>
      <vt:lpstr>线性回归</vt:lpstr>
      <vt:lpstr>线性回归</vt:lpstr>
      <vt:lpstr>线性回归 遗漏变量偏差(OVB)</vt:lpstr>
      <vt:lpstr>线性回归 遗漏变量偏差(OVB)</vt:lpstr>
      <vt:lpstr>线性回归和CEF的关系</vt:lpstr>
      <vt:lpstr>线性回归和CEF的关系</vt:lpstr>
      <vt:lpstr>线性回归 渐近特征</vt:lpstr>
      <vt:lpstr>线性回归 渐近特征</vt:lpstr>
      <vt:lpstr>二元选择模型</vt:lpstr>
      <vt:lpstr>二元选择模型</vt:lpstr>
      <vt:lpstr>二元选择模型</vt:lpstr>
      <vt:lpstr>二元选择模型</vt:lpstr>
      <vt:lpstr>线性回归：小结</vt:lpstr>
      <vt:lpstr>机器学习</vt:lpstr>
      <vt:lpstr>机器学习</vt:lpstr>
      <vt:lpstr>机器学习 偏差——方差权衡</vt:lpstr>
      <vt:lpstr>机器学习 偏差——方差权衡</vt:lpstr>
      <vt:lpstr>机器学习 偏差——方差权衡</vt:lpstr>
      <vt:lpstr>机器学习 偏差——方差权衡</vt:lpstr>
      <vt:lpstr>机器学习 偏差——方差权衡</vt:lpstr>
      <vt:lpstr>机器学习 验证集方法 </vt:lpstr>
      <vt:lpstr>机器学习 验证集方法 </vt:lpstr>
      <vt:lpstr>机器学习 验证集方法 </vt:lpstr>
      <vt:lpstr>机器学习 k-折交叉验证</vt:lpstr>
      <vt:lpstr>机器学习 k-折交叉验证</vt:lpstr>
      <vt:lpstr>机器学习 k-折交叉验证</vt:lpstr>
      <vt:lpstr>机器学习 k-折交叉验证</vt:lpstr>
      <vt:lpstr>机器学习 岭回归</vt:lpstr>
      <vt:lpstr>机器学习 岭回归</vt:lpstr>
      <vt:lpstr>机器学习 Lasso</vt:lpstr>
      <vt:lpstr>机器学习 Lasso和岭回归</vt:lpstr>
      <vt:lpstr>机器学习 Lasso和岭回归</vt:lpstr>
      <vt:lpstr>机器学习 Lasso和岭回归</vt:lpstr>
      <vt:lpstr>机器学习 Lasso和岭回归</vt:lpstr>
      <vt:lpstr>机器学习 弹性网</vt:lpstr>
      <vt:lpstr>非参数方法 </vt:lpstr>
      <vt:lpstr>单变量密度估计</vt:lpstr>
      <vt:lpstr>单变量密度估计</vt:lpstr>
      <vt:lpstr>单变量密度估计</vt:lpstr>
      <vt:lpstr>非参数回归</vt:lpstr>
      <vt:lpstr>非参数回归</vt:lpstr>
      <vt:lpstr>非参数回归 NW估计量</vt:lpstr>
      <vt:lpstr>非参数回归 LLR</vt:lpstr>
      <vt:lpstr>非参数回归 LLR</vt:lpstr>
      <vt:lpstr>非参数回归 LLR</vt:lpstr>
      <vt:lpstr>自助法(bootstrap)</vt:lpstr>
      <vt:lpstr>自助法</vt:lpstr>
      <vt:lpstr>自助法</vt:lpstr>
      <vt:lpstr>自助法</vt:lpstr>
      <vt:lpstr>自助法</vt:lpstr>
      <vt:lpstr>自助法</vt:lpstr>
      <vt:lpstr>自助法</vt:lpstr>
      <vt:lpstr>面板数据方法 混合回归(pooled regression) </vt:lpstr>
      <vt:lpstr>面板数据方法 随机效应模型(random effect model)</vt:lpstr>
      <vt:lpstr>面板数据方法 固定效应模型(fixed effect model)</vt:lpstr>
      <vt:lpstr>面板数据方法 固定效应模型(fixed effect model)</vt:lpstr>
      <vt:lpstr>面板数据方法 固定效应模型(fixed effect model)</vt:lpstr>
      <vt:lpstr>面板数据方法 固定效应模型(fixed effect model)</vt:lpstr>
      <vt:lpstr>相关随机效应模型</vt:lpstr>
      <vt:lpstr>总结</vt:lpstr>
      <vt:lpstr>参考文献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Xiliang ZHAO</dc:creator>
  <cp:lastModifiedBy>Xiliang ZHAO</cp:lastModifiedBy>
  <cp:revision>58</cp:revision>
  <dcterms:created xsi:type="dcterms:W3CDTF">2026-06-18T13:15:37Z</dcterms:created>
  <dcterms:modified xsi:type="dcterms:W3CDTF">2026-08-07T12:07:42Z</dcterms:modified>
</cp:coreProperties>
</file>
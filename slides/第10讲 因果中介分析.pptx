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7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3004A-1035-4AD2-BC4A-DB230EAABF4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5C349-FD8F-4A61-B7BE-408729C94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4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15A7-CEAA-43FE-A0C6-C344D2E1C420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9CB9-29D0-4350-825D-C0AA5096F718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CF1F-4D82-4E39-A2A2-35E2A1D1799F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8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3615-B586-42F4-9872-6C720AA0F56E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3562-2CF1-4137-BC7A-0E1D3AD82A62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9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C70-57B0-4FDE-A935-0B961BFE496D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AC03-C0A7-4889-9992-72A6D2628D14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72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4344-EBCE-46E1-8116-31474348F6BE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E525-4771-468B-A8FB-DAB2047A4270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65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E2B5-2348-4A45-A5B7-02B2B64364E4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5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BAB9-886B-4640-A228-FB1A92425BDE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6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4183-C876-422B-881A-B6A8D40A16EE}" type="datetime1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ee.com/zhaoxiliang/mediateiv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58E5-B2B8-FEBB-8A41-24F534B6F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因果中介分析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A12E75-A8A7-EF47-8BB0-5705F1BDB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赵西亮</a:t>
            </a:r>
            <a:endParaRPr lang="en-US" altLang="zh-CN" dirty="0"/>
          </a:p>
          <a:p>
            <a:r>
              <a:rPr lang="zh-CN" altLang="en-US" dirty="0"/>
              <a:t>厦门大学经济学院</a:t>
            </a:r>
            <a:endParaRPr lang="en-US" altLang="zh-CN" dirty="0"/>
          </a:p>
          <a:p>
            <a:r>
              <a:rPr lang="zh-CN" altLang="en-US" dirty="0"/>
              <a:t>王亚南经济研究院</a:t>
            </a:r>
          </a:p>
        </p:txBody>
      </p:sp>
    </p:spTree>
    <p:extLst>
      <p:ext uri="{BB962C8B-B14F-4D97-AF65-F5344CB8AC3E}">
        <p14:creationId xmlns:p14="http://schemas.microsoft.com/office/powerpoint/2010/main" val="40836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E0263-3E9F-871C-6CBB-5FE9A142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AC5FA-0F8B-7133-FC7C-04A961AE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传统中介分析方法</a:t>
            </a:r>
            <a:endParaRPr lang="en-US" altLang="zh-CN" dirty="0"/>
          </a:p>
          <a:p>
            <a:r>
              <a:rPr lang="zh-CN" altLang="en-US" dirty="0"/>
              <a:t>目标参数</a:t>
            </a:r>
            <a:endParaRPr lang="en-US" altLang="zh-CN" dirty="0"/>
          </a:p>
          <a:p>
            <a:r>
              <a:rPr lang="zh-CN" altLang="en-US" dirty="0"/>
              <a:t>识别条件：序贯可忽略性</a:t>
            </a:r>
            <a:endParaRPr lang="en-US" altLang="zh-CN" dirty="0"/>
          </a:p>
          <a:p>
            <a:r>
              <a:rPr lang="zh-CN" altLang="en-US" dirty="0"/>
              <a:t>参数估计</a:t>
            </a:r>
            <a:endParaRPr lang="en-US" altLang="zh-CN" dirty="0"/>
          </a:p>
          <a:p>
            <a:r>
              <a:rPr lang="zh-CN" altLang="en-US" dirty="0"/>
              <a:t>存在中介变量内生性的处理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391952-40CE-EDEB-4F8D-80032F41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22D9F4-3CB9-BF29-8BB2-198B681A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35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9507A-B01A-D660-1948-D75F55B2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6063D9-044A-39FE-1F9D-DDD330128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/>
              <a:t>到目前为止，我们只关注如何识别因果效应，没有讨论因果产生的机制？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en-US" altLang="zh-CN" sz="1600" dirty="0"/>
              <a:t>Angrist and Lavy(1999) </a:t>
            </a:r>
            <a:r>
              <a:rPr lang="zh-CN" altLang="en-US" sz="1600" dirty="0"/>
              <a:t>利用利用迈蒙尼德规则要求人数超过</a:t>
            </a:r>
            <a:r>
              <a:rPr lang="en-US" altLang="zh-CN" sz="1600" dirty="0"/>
              <a:t>40 </a:t>
            </a:r>
            <a:r>
              <a:rPr lang="zh-CN" altLang="en-US" sz="1600" dirty="0"/>
              <a:t>时必须分成两个班级的自然实验，利用断点回归设计考察了班级规模对学习效果的影响，发现小的班级规模可以显著地提高四、五年级孩子的学习成绩。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1600" dirty="0"/>
              <a:t>但是具体机制是什么？是因为班级规模小，老师更能关注到所有学生吗；还是因为孩子之间更熟悉更容易相互交流，相互促进；还是因为班级规模小，孩子看黑板更清楚，更容易集中精力学习等。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1600" dirty="0"/>
              <a:t>关于中介分析，经济学中没有专门的方法，往往利用先验知识，找到重要的中介变量，尤其认为中介变量影响结果是大家公认，不需验证，而是直接验证干预对中介变量的影响去讨论机制。比如</a:t>
            </a:r>
            <a:r>
              <a:rPr lang="en-US" altLang="zh-CN" sz="1600" dirty="0"/>
              <a:t>Dell(2011) </a:t>
            </a:r>
            <a:r>
              <a:rPr lang="zh-CN" altLang="en-US" sz="1600" dirty="0"/>
              <a:t>讨论了</a:t>
            </a:r>
            <a:r>
              <a:rPr lang="en-US" altLang="zh-CN" sz="1600" dirty="0"/>
              <a:t>17 </a:t>
            </a:r>
            <a:r>
              <a:rPr lang="zh-CN" altLang="en-US" sz="1600" dirty="0"/>
              <a:t>世纪西班牙强制劳役对</a:t>
            </a:r>
            <a:r>
              <a:rPr lang="en-US" altLang="zh-CN" sz="1600" dirty="0"/>
              <a:t>2001 </a:t>
            </a:r>
            <a:r>
              <a:rPr lang="zh-CN" altLang="en-US" sz="1600" dirty="0"/>
              <a:t>年智利居民消费的影响，发现显著降低居民消费和孩子发育迟缓。后面机制，她找了三个：土地所有权、基础设施、市场参与。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1600" dirty="0"/>
              <a:t>在心理学领域发展出中介分析框架</a:t>
            </a:r>
            <a:r>
              <a:rPr lang="en-US" altLang="zh-CN" sz="1600" dirty="0"/>
              <a:t>(Baron and Kenny, 1986)</a:t>
            </a:r>
            <a:r>
              <a:rPr lang="zh-CN" altLang="en-US" sz="1600" dirty="0"/>
              <a:t>，建立在结构方程</a:t>
            </a:r>
            <a:r>
              <a:rPr lang="en-US" altLang="zh-CN" sz="1600" dirty="0"/>
              <a:t>(SEM) </a:t>
            </a:r>
            <a:r>
              <a:rPr lang="zh-CN" altLang="en-US" sz="1600" dirty="0"/>
              <a:t>的基础上。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16FD90-9563-C281-9038-03B90848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E3A462-85D6-CA87-487C-29770A1E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1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1D8CB-2579-E399-B074-AA3B694B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传统中介分析方法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D23459-5409-DF14-B275-04490E999D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271892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Baron and Kenny (1986) </a:t>
                </a:r>
                <a:r>
                  <a:rPr lang="zh-CN" altLang="en-US" dirty="0"/>
                  <a:t>构建了下列主要结构方程：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                       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(1)</m:t>
                          </m:r>
                        </m: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(2)</m:t>
                          </m:r>
                        </m: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(3)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𝐷 干预、𝑀 中介变量、𝑌 结果、𝑋 控制变量（干预前变量）。假设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zh-CN" altLang="en-US" dirty="0"/>
                  <a:t> 是相互独立，并且三误差项均满足条件均值独立性假设。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(1) </a:t>
                </a:r>
                <a:r>
                  <a:rPr lang="zh-CN" altLang="en-US" dirty="0"/>
                  <a:t>是多余的，将</a:t>
                </a:r>
                <a:r>
                  <a:rPr lang="en-US" altLang="zh-CN" dirty="0"/>
                  <a:t>(2) </a:t>
                </a:r>
                <a:r>
                  <a:rPr lang="zh-CN" altLang="en-US" dirty="0"/>
                  <a:t>代入</a:t>
                </a:r>
                <a:r>
                  <a:rPr lang="en-US" altLang="zh-CN" dirty="0"/>
                  <a:t>(3) </a:t>
                </a:r>
                <a:r>
                  <a:rPr lang="zh-CN" altLang="en-US" dirty="0"/>
                  <a:t>整理可以得到</a:t>
                </a:r>
                <a:r>
                  <a:rPr lang="en-US" altLang="zh-CN" dirty="0"/>
                  <a:t>(1) </a:t>
                </a:r>
                <a:r>
                  <a:rPr lang="zh-CN" altLang="en-US" dirty="0"/>
                  <a:t>式。在上述模型设定中：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总效应：𝑎</a:t>
                </a:r>
                <a:r>
                  <a:rPr lang="en-US" altLang="zh-CN" dirty="0"/>
                  <a:t>1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直接效应：𝑐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间接效应：𝑏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𝑐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，或𝑎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− 𝑐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。间接效应标准误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Sobel</a:t>
                </a:r>
                <a:r>
                  <a:rPr lang="zh-CN" altLang="en-US" dirty="0"/>
                  <a:t>检验</a:t>
                </a:r>
                <a:r>
                  <a:rPr lang="en-US" altLang="zh-CN" dirty="0"/>
                  <a:t>(Sobel,1982)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D23459-5409-DF14-B275-04490E999D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271892"/>
              </a:xfrm>
              <a:blipFill>
                <a:blip r:embed="rId2"/>
                <a:stretch>
                  <a:fillRect l="-232" t="-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BFF42F-83EE-4304-967D-97C8FAA2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B0422E-20E1-C085-59FD-346D93F9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BFE57D6-BAE5-6980-8169-B3CA181FF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050" y="4919730"/>
            <a:ext cx="2987899" cy="193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9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4677-A84C-90FB-201C-0C26B37C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传统中介分析方法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F6B81-B69C-CE66-4B7C-14E3D1B1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缺陷</a:t>
            </a:r>
            <a:endParaRPr lang="en-US" altLang="zh-CN" dirty="0"/>
          </a:p>
          <a:p>
            <a:pPr lvl="1"/>
            <a:r>
              <a:rPr lang="zh-CN" altLang="en-US" dirty="0"/>
              <a:t>不允许𝐷 和𝑀 的交互影响，</a:t>
            </a:r>
            <a:endParaRPr lang="en-US" altLang="zh-CN" dirty="0"/>
          </a:p>
          <a:p>
            <a:pPr lvl="1"/>
            <a:r>
              <a:rPr lang="zh-CN" altLang="en-US" dirty="0"/>
              <a:t>继承了</a:t>
            </a:r>
            <a:r>
              <a:rPr lang="en-US" altLang="zh-CN" dirty="0"/>
              <a:t>SEM </a:t>
            </a:r>
            <a:r>
              <a:rPr lang="zh-CN" altLang="en-US" dirty="0"/>
              <a:t>的缺点，模型误设。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5E9C84-1A1B-EBF7-612C-89191140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651C66-C116-FD61-B2BC-6EA9B5BB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99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020D1-4DA9-3AAF-6E07-A84461C2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目标参数：间接效应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BCB4A2-3AFF-7DE5-60C4-3375ACE0B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目标参数：间接效应潜在结果和潜在中介：𝑌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𝑚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，𝑀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), </a:t>
                </a:r>
                <a:r>
                  <a:rPr lang="zh-CN" altLang="en-US" dirty="0"/>
                  <a:t>𝑑 </a:t>
                </a:r>
                <a:r>
                  <a:rPr lang="en-US" altLang="zh-CN" dirty="0"/>
                  <a:t>= 0, 1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自然间接效应</a:t>
                </a:r>
                <a:r>
                  <a:rPr lang="en-US" altLang="zh-CN" dirty="0"/>
                  <a:t>(Natural indirect effect, NIE)(Robins and Greenland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1992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Pearl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2001)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𝑁𝐼𝐸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eqArr>
                  </m:oMath>
                </a14:m>
                <a:r>
                  <a:rPr lang="en-US" altLang="zh-CN" dirty="0"/>
                  <a:t>     (4)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自然直接效应</a:t>
                </a:r>
                <a:r>
                  <a:rPr lang="en-US" altLang="zh-CN" dirty="0"/>
                  <a:t>(Natural direct effect, NDE)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𝑁𝐷𝐸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eqArr>
                  </m:oMath>
                </a14:m>
                <a:r>
                  <a:rPr lang="en-US" altLang="zh-CN" dirty="0"/>
                  <a:t>     (5)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容易看出：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𝐴𝑇𝐸</m:t>
                              </m:r>
                            </m:sub>
                          </m:sSub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BCB4A2-3AFF-7DE5-60C4-3375ACE0B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7C4AC5-1C8C-2424-1546-46E0068C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D7DDC6-3A4D-1B9F-7E56-6C658D15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AF532-AE94-495B-729E-2B7A2D7B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目标参数：间接效应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F3960E-26E5-FABB-34F0-DBF1DB476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另外两个目标参数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自然间接效应：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𝑁𝐼𝐸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eqArr>
                  </m:oMath>
                </a14:m>
                <a:r>
                  <a:rPr lang="en-US" altLang="zh-CN" dirty="0"/>
                  <a:t>  (6)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也称为纯间接效应</a:t>
                </a:r>
                <a:r>
                  <a:rPr lang="en-US" altLang="zh-CN" dirty="0"/>
                  <a:t>(Pure indirect effect, PIE, Robins and Greenland, 1992)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自然直接效应</a:t>
                </a:r>
                <a:r>
                  <a:rPr lang="en-US" altLang="zh-CN" dirty="0"/>
                  <a:t>(Natural direct effect, NDE)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𝑁𝐷𝐸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eqArr>
                  </m:oMath>
                </a14:m>
                <a:r>
                  <a:rPr lang="en-US" altLang="zh-CN" dirty="0"/>
                  <a:t>  (7)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同样地：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𝐴𝑇𝐸</m:t>
                              </m:r>
                            </m:sub>
                          </m:sSub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总效应和间接效应及直接效应的关系可写为：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𝐴𝑇𝐸</m:t>
                            </m:r>
                          </m:sub>
                        </m:s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𝑁𝐼𝐸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𝑁𝐷𝐸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=0,1.</m:t>
                        </m:r>
                      </m:e>
                    </m:eqArr>
                  </m:oMath>
                </a14:m>
                <a:r>
                  <a:rPr lang="zh-CN" altLang="en-US" dirty="0"/>
                  <a:t>  </a:t>
                </a:r>
                <a:r>
                  <a:rPr lang="en-US" altLang="zh-CN" dirty="0"/>
                  <a:t>(8)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F3960E-26E5-FABB-34F0-DBF1DB476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AB2087-984C-B24F-A50B-CD97C264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094E2-8CA5-8021-9A34-913E0553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191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211E3-0E3E-1A53-073E-02DD2D05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目标参数：控制直接效应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F65B37-66E9-F071-6A38-D30F51DE48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控制直接效应</a:t>
                </a:r>
                <a:r>
                  <a:rPr lang="en-US" altLang="zh-CN" dirty="0"/>
                  <a:t>(Control direct effect, CDE, Pearl, 2001)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𝐶𝐷𝐸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F65B37-66E9-F071-6A38-D30F51DE4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851EF1-B919-CB18-6849-9F745727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5660F4-3E0D-61D1-1FB3-5CC24F8D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59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46EE2-DE4E-205E-7633-28F7967D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目标参数：回到传统方法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904D3C-2818-40C1-157D-568685517A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1800" dirty="0"/>
                  <a:t>根据</a:t>
                </a:r>
                <a:r>
                  <a:rPr lang="en-US" altLang="zh-CN" sz="1800" dirty="0"/>
                  <a:t>(2)(3)</a:t>
                </a:r>
                <a:r>
                  <a:rPr lang="zh-CN" altLang="en-US" sz="1800" dirty="0"/>
                  <a:t>，忽略𝑋，可以用潜在结果符号表述：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  <m:e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         (10)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′+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US" altLang="zh-CN" sz="1800" dirty="0"/>
              </a:p>
              <a:p>
                <a:r>
                  <a:rPr lang="zh-CN" altLang="en-US" sz="1800" dirty="0"/>
                  <a:t>易得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′.</m:t>
                      </m:r>
                    </m:oMath>
                  </m:oMathPara>
                </a14:m>
                <a:endParaRPr lang="en-US" altLang="zh-CN" sz="1800" dirty="0"/>
              </a:p>
              <a:p>
                <a:r>
                  <a:rPr lang="zh-CN" altLang="en-US" sz="1800" dirty="0"/>
                  <a:t>根据定义，则</a:t>
                </a:r>
                <a:r>
                  <a:rPr lang="en-US" altLang="zh-CN" sz="1800" dirty="0"/>
                  <a:t>NIE(1) </a:t>
                </a:r>
                <a:r>
                  <a:rPr lang="zh-CN" altLang="en-US" sz="1800" dirty="0"/>
                  <a:t>为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US" altLang="zh-CN" sz="1800" dirty="0"/>
              </a:p>
              <a:p>
                <a:r>
                  <a:rPr lang="zh-CN" altLang="en-US" sz="1800" dirty="0"/>
                  <a:t>同样地，</a:t>
                </a:r>
                <a:r>
                  <a:rPr lang="en-US" altLang="zh-CN" sz="1800" dirty="0"/>
                  <a:t>NDE(0) </a:t>
                </a:r>
                <a:r>
                  <a:rPr lang="zh-CN" altLang="en-US" sz="1800" dirty="0"/>
                  <a:t>为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  <m:t>1.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904D3C-2818-40C1-157D-568685517A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840" b="-8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80550B-8342-CF55-B9FE-307F4E1E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70AE8B-4A77-BF40-8D80-E8CFEE84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665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4B123-0D8E-C7C3-2AE5-30534C0E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目标参数：回到传统方法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E2641C-3DD8-B822-BB43-C5DAE24B56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模型修改模型</a:t>
                </a:r>
                <a:r>
                  <a:rPr lang="en-US" altLang="zh-CN" dirty="0"/>
                  <a:t>(3)</a:t>
                </a:r>
                <a:r>
                  <a:rPr lang="zh-CN" altLang="en-US" dirty="0"/>
                  <a:t>，允许𝐷 和𝑀 交互影响，即假设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𝐷𝑀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zh-CN" altLang="en-US" dirty="0"/>
                  <a:t>   </a:t>
                </a:r>
                <a:r>
                  <a:rPr lang="en-US" altLang="zh-CN" dirty="0"/>
                  <a:t>(3’)</a:t>
                </a:r>
              </a:p>
              <a:p>
                <a:r>
                  <a:rPr lang="zh-CN" altLang="en-US" dirty="0"/>
                  <a:t>利用</a:t>
                </a:r>
                <a:r>
                  <a:rPr lang="en-US" altLang="zh-CN" dirty="0"/>
                  <a:t>NIE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NDE </a:t>
                </a:r>
                <a:r>
                  <a:rPr lang="zh-CN" altLang="en-US" dirty="0"/>
                  <a:t>的定义，容易求得：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E2641C-3DD8-B822-BB43-C5DAE24B56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1581BB-FF39-BFA1-1AD8-38EF8A14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1A1E0-39CD-32C9-FAC2-D5BE6BC6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491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35944-D3A8-7083-51B1-0927E103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识别条件：序贯可忽略性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8AFD12-38CD-D52B-B227-30984E257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9585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假设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序贯可忽略性假设</a:t>
                </a:r>
                <a:r>
                  <a:rPr lang="en-US" altLang="zh-CN" dirty="0"/>
                  <a:t>(sequential </a:t>
                </a:r>
                <a:r>
                  <a:rPr lang="en-US" altLang="zh-CN" dirty="0" err="1"/>
                  <a:t>ignorability</a:t>
                </a:r>
                <a:r>
                  <a:rPr lang="en-US" altLang="zh-CN" dirty="0"/>
                  <a:t> assumption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SIA))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对于𝑑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′ = 0, 1</a:t>
                </a:r>
                <a:r>
                  <a:rPr lang="zh-CN" altLang="en-US" dirty="0"/>
                  <a:t>，并且</a:t>
                </a:r>
                <a:r>
                  <a:rPr lang="en-US" altLang="zh-CN" dirty="0"/>
                  <a:t>0 &lt; </a:t>
                </a:r>
                <a:r>
                  <a:rPr lang="en-US" altLang="zh-CN" dirty="0" err="1"/>
                  <a:t>Pr</a:t>
                </a:r>
                <a:r>
                  <a:rPr lang="en-US" altLang="zh-CN" dirty="0"/>
                  <a:t>[</a:t>
                </a:r>
                <a:r>
                  <a:rPr lang="zh-CN" altLang="en-US" dirty="0"/>
                  <a:t>𝐷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|</a:t>
                </a:r>
                <a:r>
                  <a:rPr lang="zh-CN" altLang="en-US" dirty="0"/>
                  <a:t>𝑋</a:t>
                </a:r>
                <a:r>
                  <a:rPr lang="en-US" altLang="zh-CN" dirty="0"/>
                  <a:t>]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0 &lt; </a:t>
                </a:r>
                <a:r>
                  <a:rPr lang="en-US" altLang="zh-CN" dirty="0" err="1"/>
                  <a:t>Pr</a:t>
                </a:r>
                <a:r>
                  <a:rPr lang="en-US" altLang="zh-CN" dirty="0"/>
                  <a:t>[</a:t>
                </a:r>
                <a:r>
                  <a:rPr lang="zh-CN" altLang="en-US" dirty="0"/>
                  <a:t>𝑀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) = </a:t>
                </a:r>
                <a:r>
                  <a:rPr lang="zh-CN" altLang="en-US" dirty="0"/>
                  <a:t>𝑚</a:t>
                </a:r>
                <a:r>
                  <a:rPr lang="en-US" altLang="zh-CN" dirty="0"/>
                  <a:t>|</a:t>
                </a:r>
                <a:r>
                  <a:rPr lang="zh-CN" altLang="en-US" dirty="0"/>
                  <a:t>𝐷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𝑋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，有：</a:t>
                </a:r>
                <a:endParaRPr lang="en-US" altLang="zh-CN" dirty="0"/>
              </a:p>
              <a:p>
                <a:pPr lvl="2">
                  <a:lnSpc>
                    <a:spcPct val="120000"/>
                  </a:lnSpc>
                </a:pPr>
                <a:r>
                  <a:rPr lang="en-US" altLang="zh-CN" dirty="0"/>
                  <a:t>(a)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dirty="0"/>
              </a:p>
              <a:p>
                <a:pPr lvl="2">
                  <a:lnSpc>
                    <a:spcPct val="120000"/>
                  </a:lnSpc>
                </a:pPr>
                <a:r>
                  <a:rPr lang="en-US" altLang="zh-CN" dirty="0"/>
                  <a:t>(b)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其中</a:t>
                </a:r>
                <a:r>
                  <a:rPr lang="en-US" altLang="zh-CN" dirty="0"/>
                  <a:t>0 &lt; </a:t>
                </a:r>
                <a:r>
                  <a:rPr lang="zh-CN" altLang="en-US" dirty="0"/>
                  <a:t>𝑃 </a:t>
                </a:r>
                <a:r>
                  <a:rPr lang="en-US" altLang="zh-CN" dirty="0"/>
                  <a:t>[</a:t>
                </a:r>
                <a:r>
                  <a:rPr lang="zh-CN" altLang="en-US" dirty="0"/>
                  <a:t>𝐷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𝑑│𝑋</a:t>
                </a:r>
                <a:r>
                  <a:rPr lang="en-US" altLang="zh-CN" dirty="0"/>
                  <a:t>]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0 &lt; </a:t>
                </a:r>
                <a:r>
                  <a:rPr lang="zh-CN" altLang="en-US" dirty="0"/>
                  <a:t>𝑃 </a:t>
                </a:r>
                <a:r>
                  <a:rPr lang="en-US" altLang="zh-CN" dirty="0"/>
                  <a:t>[</a:t>
                </a:r>
                <a:r>
                  <a:rPr lang="zh-CN" altLang="en-US" dirty="0"/>
                  <a:t>𝑀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) = </a:t>
                </a:r>
                <a:r>
                  <a:rPr lang="zh-CN" altLang="en-US" dirty="0"/>
                  <a:t>𝑚│𝐷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𝑑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𝑋</a:t>
                </a:r>
                <a:r>
                  <a:rPr lang="en-US" altLang="zh-CN" dirty="0"/>
                  <a:t>] </a:t>
                </a:r>
                <a:r>
                  <a:rPr lang="zh-CN" altLang="en-US" dirty="0"/>
                  <a:t>是共同区间假设，前者保证根据协变量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分层后，层内即有干预组又有控制组个体，从而可以进行比较以估计因果效应。后者保证给定个体干预状态，根据协变量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分层后，层内中介变量各种取值均存在，从而可以比较不同中介取值时的结果差别，以便于估计中介效应。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假设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和通常的非混杂性假设相同，要求在控制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后，干预状态类似于随机化分配的。假设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是新引入的假设，它要求控制协变量后，在给定干预状态时，中介变量的取值类似于随机化分配的，不存在未观测的影响中介变量和结果变量的混杂因素，中介变量在控制𝑋 和𝐷 后是外生的。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8AFD12-38CD-D52B-B227-30984E257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95851"/>
              </a:xfrm>
              <a:blipFill>
                <a:blip r:embed="rId2"/>
                <a:stretch>
                  <a:fillRect l="-773" t="-622" r="-1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FA843C-416A-CFAD-0D6F-387BE09B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2620DE-FBA0-BC2D-B285-47FE0789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749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719AA-1BD1-839F-85B0-7D1A18D4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442AFE-464B-8665-7B85-BE346FB1E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zh-CN" altLang="en-US" dirty="0"/>
                  <a:t>自然间接效应：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𝑁𝐼𝐸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第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项是不可观测的，在</a:t>
                </a:r>
                <a:r>
                  <a:rPr lang="en-US" altLang="zh-CN" dirty="0"/>
                  <a:t>SIA </a:t>
                </a:r>
                <a:r>
                  <a:rPr lang="zh-CN" altLang="en-US" dirty="0"/>
                  <a:t>假设下，可以因果识别：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 (利用假设a)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 (利用假设b)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 (利用假设a)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nor/>
                            </m:rPr>
                            <a:rPr lang="zh-CN" altLang="en-US" i="0" smtClean="0">
                              <a:latin typeface="Cambria Math" panose="02040503050406030204" pitchFamily="18" charset="0"/>
                            </a:rPr>
                            <m:t> (利用假设b)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442AFE-464B-8665-7B85-BE346FB1E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2BC885-CAF2-56A0-0F0F-4E446CE4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53A10-82F3-BFAF-9BC7-807EF486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16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2C3D3-D34D-F32E-1EBB-E8A07C17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8B1FCD-29CE-3E1C-8F43-30414B562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1400" dirty="0"/>
                  <a:t>在</a:t>
                </a:r>
                <a:r>
                  <a:rPr lang="en-US" altLang="zh-CN" sz="1400" dirty="0"/>
                  <a:t>SIA </a:t>
                </a:r>
                <a:r>
                  <a:rPr lang="zh-CN" altLang="en-US" sz="1400" dirty="0"/>
                  <a:t>下，我们证明𝐸</a:t>
                </a:r>
                <a:r>
                  <a:rPr lang="en-US" altLang="zh-CN" sz="1400" dirty="0"/>
                  <a:t>[</a:t>
                </a:r>
                <a:r>
                  <a:rPr lang="zh-CN" altLang="en-US" sz="1400" dirty="0"/>
                  <a:t>𝑌 </a:t>
                </a:r>
                <a:r>
                  <a:rPr lang="en-US" altLang="zh-CN" sz="1400" dirty="0"/>
                  <a:t>(1, </a:t>
                </a:r>
                <a:r>
                  <a:rPr lang="zh-CN" altLang="en-US" sz="1400" dirty="0"/>
                  <a:t>𝑀</a:t>
                </a:r>
                <a:r>
                  <a:rPr lang="en-US" altLang="zh-CN" sz="1400" dirty="0"/>
                  <a:t>(0))] </a:t>
                </a:r>
                <a:r>
                  <a:rPr lang="zh-CN" altLang="en-US" sz="1400" dirty="0"/>
                  <a:t>可以因果识别，</a:t>
                </a:r>
                <a:endParaRPr lang="en-US" altLang="zh-CN" sz="1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1400" b="1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zh-CN" altLang="en-US" sz="1400" b="1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zh-CN" alt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400" b="1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zh-CN" altLang="en-US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/>
                          <m:e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nary>
                        <m:d>
                          <m:dPr>
                            <m:begChr m:val="["/>
                            <m:endChr m:val="]"/>
                            <m:ctrlP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func>
                          <m:funcPr>
                            <m:ctrlP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1400" b="1" i="1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zh-CN" altLang="en-US" sz="1400" b="1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  <m:r>
                          <a:rPr lang="zh-CN" alt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eqArr>
                  </m:oMath>
                </a14:m>
                <a:r>
                  <a:rPr lang="en-US" altLang="zh-CN" sz="1400" b="1" dirty="0"/>
                  <a:t>       (11)</a:t>
                </a:r>
              </a:p>
              <a:p>
                <a:r>
                  <a:rPr lang="en-US" altLang="zh-CN" sz="1400" dirty="0"/>
                  <a:t>NIE </a:t>
                </a:r>
                <a:r>
                  <a:rPr lang="zh-CN" altLang="en-US" sz="1400" dirty="0"/>
                  <a:t>可以因果识别：</a:t>
                </a:r>
                <a:endParaRPr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US" altLang="zh-CN" sz="1400" b="1" dirty="0"/>
              </a:p>
              <a:p>
                <a:r>
                  <a:rPr lang="en-US" altLang="zh-CN" sz="1400" dirty="0"/>
                  <a:t>NDE </a:t>
                </a:r>
                <a:r>
                  <a:rPr lang="zh-CN" altLang="en-US" sz="1400" dirty="0"/>
                  <a:t>可以因果识别：</a:t>
                </a:r>
                <a:endParaRPr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sz="1400" b="1" i="1" smtClean="0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  <m:e>
                          <m:r>
                            <m:rPr>
                              <m:aln/>
                            </m:rP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1400" b="1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sz="1400" b="1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8B1FCD-29CE-3E1C-8F43-30414B562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6D5F1D-3027-D985-69CF-EB42E7D5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D8E75B-0C63-220B-E582-418CF298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18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46BB4-F553-3050-AF4B-10D00BD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因果识别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5F1FF5-C1DA-1D99-17E1-B70968704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在</a:t>
                </a:r>
                <a:r>
                  <a:rPr lang="en-US" altLang="zh-CN" dirty="0"/>
                  <a:t>SIA </a:t>
                </a:r>
                <a:r>
                  <a:rPr lang="zh-CN" altLang="en-US" dirty="0"/>
                  <a:t>假设下，</a:t>
                </a:r>
                <a:r>
                  <a:rPr lang="en-US" altLang="zh-CN" dirty="0"/>
                  <a:t>NIE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NDE </a:t>
                </a:r>
                <a:r>
                  <a:rPr lang="zh-CN" altLang="en-US" dirty="0"/>
                  <a:t>可以因果识别：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(12)</m:t>
                          </m:r>
                        </m:e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(13)</m:t>
                          </m: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5F1FF5-C1DA-1D99-17E1-B70968704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12BE86-2119-A9A3-0EE5-B0F12E0F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3DF50C-7261-F229-611E-27AF472F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2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F17E8-5973-271E-522F-2319C225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参数估计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CA685F-F97B-6721-0AE6-AA8548264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/>
                  <a:t>要估计</a:t>
                </a:r>
                <a:r>
                  <a:rPr lang="en-US" altLang="zh-CN" dirty="0"/>
                  <a:t>(12)(13)</a:t>
                </a:r>
                <a:r>
                  <a:rPr lang="zh-CN" altLang="en-US" dirty="0"/>
                  <a:t>，需要估计𝐸</a:t>
                </a:r>
                <a:r>
                  <a:rPr lang="en-US" altLang="zh-CN" dirty="0"/>
                  <a:t>[</a:t>
                </a:r>
                <a:r>
                  <a:rPr lang="zh-CN" altLang="en-US" dirty="0"/>
                  <a:t>𝑌 </a:t>
                </a:r>
                <a:r>
                  <a:rPr lang="en-US" altLang="zh-CN" dirty="0"/>
                  <a:t>|</a:t>
                </a:r>
                <a:r>
                  <a:rPr lang="zh-CN" altLang="en-US" dirty="0"/>
                  <a:t>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𝐷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𝑋</a:t>
                </a:r>
                <a:r>
                  <a:rPr lang="en-US" altLang="zh-CN" dirty="0"/>
                  <a:t>] </a:t>
                </a:r>
                <a:r>
                  <a:rPr lang="zh-CN" altLang="en-US" dirty="0"/>
                  <a:t>和</a:t>
                </a:r>
                <a:r>
                  <a:rPr lang="en-US" altLang="zh-CN" dirty="0" err="1"/>
                  <a:t>Pr</a:t>
                </a:r>
                <a:r>
                  <a:rPr lang="en-US" altLang="zh-CN" dirty="0"/>
                  <a:t>[</a:t>
                </a:r>
                <a:r>
                  <a:rPr lang="zh-CN" altLang="en-US" dirty="0"/>
                  <a:t>𝑀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𝑚</a:t>
                </a:r>
                <a:r>
                  <a:rPr lang="en-US" altLang="zh-CN" dirty="0"/>
                  <a:t>|</a:t>
                </a:r>
                <a:r>
                  <a:rPr lang="zh-CN" altLang="en-US" dirty="0"/>
                  <a:t>𝐷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𝑋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，令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=0,1.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NIE(1) </a:t>
                </a:r>
                <a:r>
                  <a:rPr lang="zh-CN" altLang="en-US" dirty="0"/>
                  <a:t>的估计量为：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𝑁𝐼𝐸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eqAr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(14)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NDE(0) </a:t>
                </a:r>
                <a:r>
                  <a:rPr lang="zh-CN" altLang="en-US" dirty="0"/>
                  <a:t>的估计量为：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𝑁𝐷𝐸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ˆ"/>
                                                  <m:ctrlP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zh-CN" altLang="en-US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ˆ"/>
                                                  <m:ctrlP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zh-CN" altLang="en-US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(15)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标准误可以利用自助法</a:t>
                </a:r>
                <a:r>
                  <a:rPr lang="en-US" altLang="zh-CN" dirty="0"/>
                  <a:t>(bootstrap) </a:t>
                </a:r>
                <a:r>
                  <a:rPr lang="zh-CN" altLang="en-US" dirty="0"/>
                  <a:t>得到</a:t>
                </a:r>
                <a:r>
                  <a:rPr lang="en-US" altLang="zh-CN" dirty="0"/>
                  <a:t>(Imai et al., 2010)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CA685F-F97B-6721-0AE6-AA8548264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521" r="-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E374A1-9B0F-5489-10D4-E61D06A1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980B9C-EFB4-3BF9-163C-EE701010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389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18CCC-07A6-6B2A-9242-E2AC35A2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参数估计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8E543-660F-9796-45D5-25C88E079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Stata18 </a:t>
            </a:r>
            <a:r>
              <a:rPr lang="zh-CN" altLang="en-US" dirty="0"/>
              <a:t>发布了新命令</a:t>
            </a:r>
            <a:r>
              <a:rPr lang="en-US" altLang="zh-CN" dirty="0"/>
              <a:t>mediate</a:t>
            </a:r>
            <a:r>
              <a:rPr lang="zh-CN" altLang="en-US" dirty="0"/>
              <a:t>，可以估计参数化的因果中介模型，包括线性和非线性模型。</a:t>
            </a:r>
            <a:endParaRPr lang="en-US" altLang="zh-CN" dirty="0"/>
          </a:p>
          <a:p>
            <a:r>
              <a:rPr lang="en-US" altLang="zh-CN" dirty="0"/>
              <a:t>Stata </a:t>
            </a:r>
            <a:r>
              <a:rPr lang="zh-CN" altLang="en-US" dirty="0"/>
              <a:t>用户写的命令</a:t>
            </a:r>
            <a:r>
              <a:rPr lang="en-US" altLang="zh-CN" dirty="0" err="1"/>
              <a:t>paramed</a:t>
            </a:r>
            <a:r>
              <a:rPr lang="zh-CN" altLang="en-US" dirty="0"/>
              <a:t>，可以实现</a:t>
            </a:r>
            <a:r>
              <a:rPr lang="en-US" altLang="zh-CN" dirty="0"/>
              <a:t>VanderWeele</a:t>
            </a:r>
            <a:r>
              <a:rPr lang="zh-CN" altLang="en-US" dirty="0"/>
              <a:t>（</a:t>
            </a:r>
            <a:r>
              <a:rPr lang="en-US" altLang="zh-CN" dirty="0"/>
              <a:t>2015</a:t>
            </a:r>
            <a:r>
              <a:rPr lang="zh-CN" altLang="en-US" dirty="0"/>
              <a:t>）介绍的各种线性和非线性参数模型估计。</a:t>
            </a:r>
            <a:endParaRPr lang="en-US" altLang="zh-CN" dirty="0"/>
          </a:p>
          <a:p>
            <a:r>
              <a:rPr lang="en-US" altLang="zh-CN" dirty="0" err="1"/>
              <a:t>medeff</a:t>
            </a:r>
            <a:r>
              <a:rPr lang="en-US" altLang="zh-CN" dirty="0"/>
              <a:t> </a:t>
            </a:r>
            <a:r>
              <a:rPr lang="zh-CN" altLang="en-US" dirty="0"/>
              <a:t>可以实施</a:t>
            </a:r>
            <a:r>
              <a:rPr lang="en-US" altLang="zh-CN" dirty="0"/>
              <a:t>Imai et al.</a:t>
            </a:r>
            <a:r>
              <a:rPr lang="zh-CN" altLang="en-US" dirty="0"/>
              <a:t>（</a:t>
            </a:r>
            <a:r>
              <a:rPr lang="en-US" altLang="zh-CN" dirty="0"/>
              <a:t>2010</a:t>
            </a:r>
            <a:r>
              <a:rPr lang="zh-CN" altLang="en-US" dirty="0"/>
              <a:t>）介绍的参数估计方法部分，同样包括非线性模型（</a:t>
            </a:r>
            <a:r>
              <a:rPr lang="en-US" altLang="zh-CN" dirty="0"/>
              <a:t>Hicks and Tingley</a:t>
            </a:r>
            <a:r>
              <a:rPr lang="zh-CN" altLang="en-US" dirty="0"/>
              <a:t>，</a:t>
            </a:r>
            <a:r>
              <a:rPr lang="en-US" altLang="zh-CN" dirty="0"/>
              <a:t>2011</a:t>
            </a:r>
            <a:r>
              <a:rPr lang="zh-CN" altLang="en-US" dirty="0"/>
              <a:t>）。</a:t>
            </a:r>
            <a:r>
              <a:rPr lang="en-US" altLang="zh-CN" dirty="0"/>
              <a:t>R </a:t>
            </a:r>
            <a:r>
              <a:rPr lang="zh-CN" altLang="en-US" dirty="0"/>
              <a:t>包</a:t>
            </a:r>
            <a:r>
              <a:rPr lang="en-US" altLang="zh-CN" dirty="0"/>
              <a:t>mediation </a:t>
            </a:r>
            <a:r>
              <a:rPr lang="zh-CN" altLang="en-US" dirty="0"/>
              <a:t>可以实施</a:t>
            </a:r>
            <a:r>
              <a:rPr lang="en-US" altLang="zh-CN" dirty="0"/>
              <a:t>Imai et al.</a:t>
            </a:r>
            <a:r>
              <a:rPr lang="zh-CN" altLang="en-US" dirty="0"/>
              <a:t>（</a:t>
            </a:r>
            <a:r>
              <a:rPr lang="en-US" altLang="zh-CN" dirty="0"/>
              <a:t>2010</a:t>
            </a:r>
            <a:r>
              <a:rPr lang="zh-CN" altLang="en-US" dirty="0"/>
              <a:t>）提出的参数和非参数估计方法，比</a:t>
            </a:r>
            <a:r>
              <a:rPr lang="en-US" altLang="zh-CN" dirty="0"/>
              <a:t>Stata </a:t>
            </a:r>
            <a:r>
              <a:rPr lang="zh-CN" altLang="en-US" dirty="0"/>
              <a:t>版命令</a:t>
            </a:r>
            <a:r>
              <a:rPr lang="en-US" altLang="zh-CN" dirty="0" err="1"/>
              <a:t>medeff</a:t>
            </a:r>
            <a:r>
              <a:rPr lang="en-US" altLang="zh-CN" dirty="0"/>
              <a:t> </a:t>
            </a:r>
            <a:r>
              <a:rPr lang="zh-CN" altLang="en-US" dirty="0"/>
              <a:t>功能更强（</a:t>
            </a:r>
            <a:r>
              <a:rPr lang="en-US" altLang="zh-CN" dirty="0"/>
              <a:t>Tingley et al.</a:t>
            </a:r>
            <a:r>
              <a:rPr lang="zh-CN" altLang="en-US" dirty="0"/>
              <a:t>，</a:t>
            </a:r>
            <a:r>
              <a:rPr lang="en-US" altLang="zh-CN" dirty="0"/>
              <a:t>2014</a:t>
            </a:r>
            <a:r>
              <a:rPr lang="zh-CN" altLang="en-US" dirty="0"/>
              <a:t>）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28994C-45E5-7325-F7FB-4614617E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3C1C05-D8E3-315C-6974-7757B9D5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28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143B0-8DF9-A93A-245A-78998093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中介内生性：工具变量法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FBD1BB1-E047-BF53-147B-A35F59B78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9585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900" dirty="0"/>
                  <a:t>假设𝐷 满足外生性假设，但𝑀 是内生的，如图</a:t>
                </a:r>
                <a:r>
                  <a:rPr lang="en-US" altLang="zh-CN" sz="1900" dirty="0"/>
                  <a:t>2</a:t>
                </a:r>
                <a:r>
                  <a:rPr lang="zh-CN" altLang="en-US" sz="1900" dirty="0"/>
                  <a:t>，我们只考虑参数识别。</a:t>
                </a:r>
                <a:endParaRPr lang="en-US" altLang="zh-CN" sz="1900" dirty="0"/>
              </a:p>
              <a:p>
                <a:pPr>
                  <a:lnSpc>
                    <a:spcPct val="120000"/>
                  </a:lnSpc>
                </a:pPr>
                <a:endParaRPr lang="en-US" altLang="zh-CN" sz="1900" dirty="0"/>
              </a:p>
              <a:p>
                <a:pPr>
                  <a:lnSpc>
                    <a:spcPct val="120000"/>
                  </a:lnSpc>
                </a:pPr>
                <a:endParaRPr lang="en-US" altLang="zh-CN" sz="1900" dirty="0"/>
              </a:p>
              <a:p>
                <a:pPr>
                  <a:lnSpc>
                    <a:spcPct val="120000"/>
                  </a:lnSpc>
                </a:pPr>
                <a:endParaRPr lang="en-US" altLang="zh-CN" sz="1900" dirty="0"/>
              </a:p>
              <a:p>
                <a:pPr>
                  <a:lnSpc>
                    <a:spcPct val="120000"/>
                  </a:lnSpc>
                </a:pPr>
                <a:endParaRPr lang="en-US" altLang="zh-CN" sz="19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900" dirty="0"/>
                  <a:t>我们从线性</a:t>
                </a:r>
                <a:r>
                  <a:rPr lang="en-US" altLang="zh-CN" sz="1900" dirty="0"/>
                  <a:t>SEM </a:t>
                </a:r>
                <a:r>
                  <a:rPr lang="zh-CN" altLang="en-US" sz="1900" dirty="0"/>
                  <a:t>出发：</a:t>
                </a:r>
                <a:endParaRPr lang="en-US" altLang="zh-CN" sz="19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m:rPr>
                              <m:aln/>
                            </m:rP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                 (16)</m:t>
                          </m:r>
                        </m:e>
                        <m:e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aln/>
                            </m:rP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19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sz="19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900" b="0" i="1" smtClean="0">
                              <a:latin typeface="Cambria Math" panose="02040503050406030204" pitchFamily="18" charset="0"/>
                            </a:rPr>
                            <m:t>                    (17)</m:t>
                          </m:r>
                        </m:e>
                      </m:eqArr>
                    </m:oMath>
                  </m:oMathPara>
                </a14:m>
                <a:endParaRPr lang="en-US" altLang="zh-CN" sz="19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900" dirty="0"/>
                  <a:t>因为𝜀𝑀 </a:t>
                </a:r>
                <a:r>
                  <a:rPr lang="en-US" altLang="zh-CN" sz="1900" dirty="0"/>
                  <a:t>, </a:t>
                </a:r>
                <a:r>
                  <a:rPr lang="zh-CN" altLang="en-US" sz="1900" dirty="0"/>
                  <a:t>𝜀𝑌 相关，从而𝑀 是内生的。但以𝑋 为条件后，𝐷 是外生的。根据上述结构方程，利用目标参数定义</a:t>
                </a:r>
                <a:r>
                  <a:rPr lang="en-US" altLang="zh-CN" sz="1900" dirty="0"/>
                  <a:t>(4)(5) </a:t>
                </a:r>
                <a:r>
                  <a:rPr lang="zh-CN" altLang="en-US" sz="1900" dirty="0"/>
                  <a:t>容易得到：</a:t>
                </a:r>
                <a:endParaRPr lang="en-US" altLang="zh-CN" sz="190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en-US" altLang="zh-CN" sz="1900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𝑁𝐼𝐸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sz="19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𝑁𝐼𝐸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19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9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𝑁𝐷𝐸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sz="19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𝑁𝐷𝐸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19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900" i="1" smtClean="0">
                                <a:latin typeface="Cambria Math" panose="02040503050406030204" pitchFamily="18" charset="0"/>
                              </a:rPr>
                              <m:t>1.</m:t>
                            </m:r>
                          </m:sub>
                        </m:sSub>
                      </m:e>
                    </m:eqArr>
                  </m:oMath>
                </a14:m>
                <a:r>
                  <a:rPr lang="en-US" altLang="zh-CN" sz="1900" dirty="0"/>
                  <a:t> (18)</a:t>
                </a:r>
              </a:p>
              <a:p>
                <a:pPr>
                  <a:lnSpc>
                    <a:spcPct val="120000"/>
                  </a:lnSpc>
                </a:pPr>
                <a:endParaRPr lang="zh-CN" altLang="en-US" sz="19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FBD1BB1-E047-BF53-147B-A35F59B78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95851"/>
              </a:xfrm>
              <a:blipFill>
                <a:blip r:embed="rId2"/>
                <a:stretch>
                  <a:fillRect l="-541" t="-124" b="-6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93D25F-D459-AC59-866D-89807C4B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7B8B37-A819-5984-5D57-9B00E596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0A6D76-3151-C4ED-1071-5F3D044A6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625" y="2357891"/>
            <a:ext cx="3322749" cy="188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12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A1F36-DCBD-AC88-5013-403F0856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中介内生性：工具变量法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F15C50-51D9-B3B7-51AF-69B2108B4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(16) </a:t>
                </a:r>
                <a:r>
                  <a:rPr lang="zh-CN" altLang="en-US" dirty="0"/>
                  <a:t>没有内生性问题，可以用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的一致估计，</a:t>
                </a:r>
                <a:r>
                  <a:rPr lang="en-US" altLang="zh-CN" dirty="0"/>
                  <a:t>(17) </a:t>
                </a:r>
                <a:r>
                  <a:rPr lang="zh-CN" altLang="en-US" dirty="0"/>
                  <a:t>中𝑀 存在内生性（因两误差项相关），但可以用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作为𝑀 的工具识别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，实际上</a:t>
                </a:r>
                <a:r>
                  <a:rPr lang="en-US" altLang="zh-CN" dirty="0"/>
                  <a:t>(16) 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(17) </a:t>
                </a:r>
                <a:r>
                  <a:rPr lang="zh-CN" altLang="en-US" dirty="0"/>
                  <a:t>的第一阶段回归，将</a:t>
                </a:r>
                <a:r>
                  <a:rPr lang="en-US" altLang="zh-CN" dirty="0"/>
                  <a:t>(16) </a:t>
                </a:r>
                <a:r>
                  <a:rPr lang="zh-CN" altLang="en-US" dirty="0"/>
                  <a:t>代入</a:t>
                </a:r>
                <a:r>
                  <a:rPr lang="en-US" altLang="zh-CN" dirty="0"/>
                  <a:t>(17)</a:t>
                </a:r>
                <a:r>
                  <a:rPr lang="zh-CN" altLang="en-US" dirty="0"/>
                  <a:t>，易得：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</m:oMath>
                </a14:m>
                <a:r>
                  <a:rPr lang="zh-CN" altLang="en-US" dirty="0"/>
                  <a:t> 是不相关的，从而用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可以一致的估计出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因而，</a:t>
                </a:r>
                <a:r>
                  <a:rPr lang="en-US" altLang="zh-CN" dirty="0"/>
                  <a:t>NIE 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NDE </a:t>
                </a:r>
                <a:r>
                  <a:rPr lang="zh-CN" altLang="en-US" dirty="0"/>
                  <a:t>也可以识别：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𝑁𝐼𝐸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𝑁𝐼𝐸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𝑁𝐷𝐸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𝑁𝐷𝐸</m:t>
                          </m:r>
                        </m:sub>
                      </m:sSub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1.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软件实现：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pl-PL" altLang="zh-CN" dirty="0"/>
                  <a:t>reg Y 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CN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l-PL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altLang="zh-CN" dirty="0"/>
                  <a:t> X </a:t>
                </a:r>
                <a:r>
                  <a:rPr lang="zh-CN" altLang="pl-PL" dirty="0"/>
                  <a:t>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pl-P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pl-PL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pl-PL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pl-PL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 err="1"/>
                  <a:t>ivregress</a:t>
                </a:r>
                <a:r>
                  <a:rPr lang="en-US" altLang="zh-CN" dirty="0"/>
                  <a:t> 2sls Y D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400" dirty="0"/>
                  <a:t>2</a:t>
                </a:r>
                <a:r>
                  <a:rPr lang="en-US" altLang="zh-CN" dirty="0"/>
                  <a:t>) X </a:t>
                </a:r>
                <a:r>
                  <a:rPr lang="zh-CN" altLang="en-US" dirty="0"/>
                  <a:t>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𝑁𝐼𝐸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𝑁𝐷𝐸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̂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，可以用自助法得到标准误差。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F15C50-51D9-B3B7-51AF-69B2108B4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840" r="-3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F2F88D-4CBC-F8BC-C070-17442E51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456646-EF69-C012-47DA-17095B03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38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26385-8606-E982-598B-0D89C062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干预和中介均内生时的工具变量法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F34D55-8D9A-E25B-F505-81AD9B2481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考虑𝐷 和𝑀 均内生的情形，如果有𝑍</a:t>
                </a:r>
                <a:r>
                  <a:rPr lang="en-US" altLang="zh-CN" sz="1400" dirty="0"/>
                  <a:t>1</a:t>
                </a:r>
                <a:r>
                  <a:rPr lang="zh-CN" altLang="en-US" sz="1400" dirty="0"/>
                  <a:t>、𝑍</a:t>
                </a:r>
                <a:r>
                  <a:rPr lang="en-US" altLang="zh-CN" sz="1400" dirty="0"/>
                  <a:t>2 </a:t>
                </a:r>
                <a:r>
                  <a:rPr lang="zh-CN" altLang="en-US" sz="1400" dirty="0"/>
                  <a:t>分别作两者的工具，可以实现参数识别，见图</a:t>
                </a:r>
                <a:r>
                  <a:rPr lang="en-US" altLang="zh-CN" sz="1400" dirty="0"/>
                  <a:t>3</a:t>
                </a:r>
                <a:r>
                  <a:rPr lang="zh-CN" altLang="en-US" sz="1400" dirty="0"/>
                  <a:t>。</a:t>
                </a:r>
                <a:endParaRPr lang="en-US" altLang="zh-CN" sz="1400" dirty="0"/>
              </a:p>
              <a:p>
                <a:pPr>
                  <a:lnSpc>
                    <a:spcPct val="120000"/>
                  </a:lnSpc>
                </a:pPr>
                <a:endParaRPr lang="en-US" altLang="zh-CN" sz="1400" dirty="0"/>
              </a:p>
              <a:p>
                <a:pPr>
                  <a:lnSpc>
                    <a:spcPct val="120000"/>
                  </a:lnSpc>
                </a:pPr>
                <a:endParaRPr lang="en-US" altLang="zh-CN" sz="1400" dirty="0"/>
              </a:p>
              <a:p>
                <a:pPr>
                  <a:lnSpc>
                    <a:spcPct val="120000"/>
                  </a:lnSpc>
                </a:pPr>
                <a:endParaRPr lang="en-US" altLang="zh-CN" sz="1400" dirty="0"/>
              </a:p>
              <a:p>
                <a:pPr>
                  <a:lnSpc>
                    <a:spcPct val="120000"/>
                  </a:lnSpc>
                </a:pPr>
                <a:endParaRPr lang="en-US" altLang="zh-CN" sz="1400" dirty="0"/>
              </a:p>
              <a:p>
                <a:pPr>
                  <a:lnSpc>
                    <a:spcPct val="120000"/>
                  </a:lnSpc>
                </a:pPr>
                <a:endParaRPr lang="en-US" altLang="zh-CN" sz="14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根据图</a:t>
                </a:r>
                <a:r>
                  <a:rPr lang="en-US" altLang="zh-CN" sz="1400" dirty="0"/>
                  <a:t>3 </a:t>
                </a:r>
                <a:r>
                  <a:rPr lang="zh-CN" altLang="en-US" sz="1400" dirty="0"/>
                  <a:t>写出线性结构方程组：</a:t>
                </a:r>
                <a:endParaRPr lang="en-US" altLang="zh-CN" sz="1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aln/>
                            </m:r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(19)</m:t>
                          </m:r>
                        </m:e>
                        <m:e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m:rPr>
                              <m:aln/>
                            </m:r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(20)</m:t>
                          </m:r>
                        </m:e>
                        <m:e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aln/>
                            </m:r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(21)</m:t>
                          </m:r>
                        </m:e>
                      </m:eqArr>
                    </m:oMath>
                  </m:oMathPara>
                </a14:m>
                <a:endParaRPr lang="en-US" altLang="zh-CN" sz="1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400" dirty="0"/>
                  <a:t>其中𝜀𝐷、𝜀𝑀、𝜀𝑌 是相关的，𝑍</a:t>
                </a:r>
                <a:r>
                  <a:rPr lang="en-US" altLang="zh-CN" sz="1400" dirty="0"/>
                  <a:t>1</a:t>
                </a:r>
                <a:r>
                  <a:rPr lang="zh-CN" altLang="en-US" sz="1400" dirty="0"/>
                  <a:t>、𝑍</a:t>
                </a:r>
                <a:r>
                  <a:rPr lang="en-US" altLang="zh-CN" sz="1400" dirty="0"/>
                  <a:t>2 </a:t>
                </a:r>
                <a:r>
                  <a:rPr lang="zh-CN" altLang="en-US" sz="1400" dirty="0"/>
                  <a:t>是相互独立的外生工具。根据定义</a:t>
                </a:r>
                <a:r>
                  <a:rPr lang="en-US" altLang="zh-CN" sz="1400" dirty="0"/>
                  <a:t>(4)(5) </a:t>
                </a:r>
                <a:r>
                  <a:rPr lang="zh-CN" altLang="en-US" sz="1400" dirty="0"/>
                  <a:t>容易得间接效应仍然为𝑏</a:t>
                </a:r>
                <a:r>
                  <a:rPr lang="en-US" altLang="zh-CN" sz="1400" dirty="0"/>
                  <a:t>1</a:t>
                </a:r>
                <a:r>
                  <a:rPr lang="zh-CN" altLang="en-US" sz="1400" dirty="0"/>
                  <a:t>𝑐</a:t>
                </a:r>
                <a:r>
                  <a:rPr lang="en-US" altLang="zh-CN" sz="1400" dirty="0"/>
                  <a:t>2</a:t>
                </a:r>
                <a:r>
                  <a:rPr lang="zh-CN" altLang="en-US" sz="1400" dirty="0"/>
                  <a:t>，现在𝐷 和𝑀 都是内生的，不能用</a:t>
                </a:r>
                <a:r>
                  <a:rPr lang="en-US" altLang="zh-CN" sz="1400" dirty="0"/>
                  <a:t>(20)(21) </a:t>
                </a:r>
                <a:r>
                  <a:rPr lang="zh-CN" altLang="en-US" sz="1400" dirty="0"/>
                  <a:t>一致的估计出𝑏</a:t>
                </a:r>
                <a:r>
                  <a:rPr lang="en-US" altLang="zh-CN" sz="1400" dirty="0"/>
                  <a:t>1</a:t>
                </a:r>
                <a:r>
                  <a:rPr lang="zh-CN" altLang="en-US" sz="1400" dirty="0"/>
                  <a:t>、𝑐</a:t>
                </a:r>
                <a:r>
                  <a:rPr lang="en-US" altLang="zh-CN" sz="1400" dirty="0"/>
                  <a:t>2</a:t>
                </a:r>
                <a:r>
                  <a:rPr lang="zh-CN" altLang="en-US" sz="1400" dirty="0"/>
                  <a:t>，即不能一致估计出</a:t>
                </a:r>
                <a:r>
                  <a:rPr lang="en-US" altLang="zh-CN" sz="1400" dirty="0"/>
                  <a:t>NIE</a:t>
                </a:r>
                <a:r>
                  <a:rPr lang="zh-CN" altLang="en-US" sz="140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F34D55-8D9A-E25B-F505-81AD9B248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B90A9C-0FF3-A44A-B724-D9CD68CB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CBD9CD-695E-32FC-754D-E739ABA9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AC6919-5A17-216B-C67D-1D93F525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574" y="2365677"/>
            <a:ext cx="3245476" cy="16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2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8E9B0-1C17-AE32-5DE1-4D49E21B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干预和中介均内生时的工具变量法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F8A668-0012-3E3E-69D9-A52B6E360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干预和中介均内生时的工具变量法</a:t>
                </a:r>
                <a:r>
                  <a:rPr lang="en-US" altLang="zh-CN" dirty="0"/>
                  <a:t>(19) </a:t>
                </a:r>
                <a:r>
                  <a:rPr lang="zh-CN" altLang="en-US" dirty="0"/>
                  <a:t>没有内生变量，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可以一致估计，其实是工具变量的第一阶段，将其代入</a:t>
                </a:r>
                <a:r>
                  <a:rPr lang="en-US" altLang="zh-CN" dirty="0"/>
                  <a:t>(21)</a:t>
                </a:r>
                <a:r>
                  <a:rPr lang="zh-CN" altLang="en-US" dirty="0"/>
                  <a:t>，得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可以看到，复合误差项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与解释变量不相关，可以用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一致估计系数𝑏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 </m:t>
                    </m:r>
                    <m:sSubSup>
                      <m:sSubSup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，将</a:t>
                </a:r>
                <a:r>
                  <a:rPr lang="en-US" altLang="zh-CN" dirty="0"/>
                  <a:t>(22) </a:t>
                </a:r>
                <a:r>
                  <a:rPr lang="zh-CN" altLang="en-US" dirty="0"/>
                  <a:t>代入</a:t>
                </a:r>
                <a:r>
                  <a:rPr lang="en-US" altLang="zh-CN" dirty="0"/>
                  <a:t>(21)</a:t>
                </a:r>
                <a:r>
                  <a:rPr lang="zh-CN" altLang="en-US" dirty="0"/>
                  <a:t>，得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</m:e>
                        <m:e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可以看到，复合误差项𝜀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与解释变量不相关，可以用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一致估计系数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。从而估计出自然间接效应：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𝑁𝐼𝐸</m:t>
                          </m:r>
                        </m:sub>
                      </m:sSub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2.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F8A668-0012-3E3E-69D9-A52B6E360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700" r="-3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90DEE4-E18F-B7B6-9A22-CF0B3071C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901B20-D459-7B7F-6D33-2347B199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155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D705E-FF6E-6176-96B8-14D86E8B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干预和中介均内生时的工具变量法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AD5EF0D-ED83-54AB-F2B4-47E1D222B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前述步骤相当于三阶段的工具变量法。</a:t>
                </a:r>
                <a:endParaRPr lang="en-US" altLang="zh-CN" dirty="0"/>
              </a:p>
              <a:p>
                <a:r>
                  <a:rPr lang="zh-CN" altLang="en-US" dirty="0"/>
                  <a:t>软件实现：</a:t>
                </a:r>
                <a:endParaRPr lang="en-US" altLang="zh-CN" dirty="0"/>
              </a:p>
              <a:p>
                <a:pPr lvl="1"/>
                <a:r>
                  <a:rPr lang="pl-PL" altLang="zh-CN" dirty="0"/>
                  <a:t>reg D Z1 X </a:t>
                </a:r>
                <a:r>
                  <a:rPr lang="zh-CN" altLang="pl-PL" dirty="0"/>
                  <a:t>得到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pl-PL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pl-PL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zh-CN" altLang="pl-PL" dirty="0"/>
              </a:p>
              <a:p>
                <a:pPr lvl="1"/>
                <a:r>
                  <a:rPr lang="en-US" altLang="zh-CN" dirty="0"/>
                  <a:t>reg 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pl-PL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pl-PL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dirty="0"/>
                  <a:t> Z2 X </a:t>
                </a:r>
                <a:r>
                  <a:rPr lang="zh-CN" altLang="en-US" dirty="0"/>
                  <a:t>得到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reg 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pl-PL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pl-PL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altLang="zh-CN" dirty="0"/>
                  <a:t> X </a:t>
                </a:r>
                <a:r>
                  <a:rPr lang="zh-CN" altLang="en-US" dirty="0"/>
                  <a:t>得到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pPr lvl="1"/>
                <a:r>
                  <a:rPr lang="zh-CN" altLang="en-US" dirty="0"/>
                  <a:t>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𝑁𝐼𝐸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，并用自助法得到标准误差。</a:t>
                </a:r>
                <a:endParaRPr lang="en-US" altLang="zh-CN" dirty="0"/>
              </a:p>
              <a:p>
                <a:r>
                  <a:rPr lang="zh-CN" altLang="en-US" dirty="0"/>
                  <a:t>封装命令：</a:t>
                </a:r>
                <a:r>
                  <a:rPr lang="en-US" altLang="zh-CN" dirty="0" err="1"/>
                  <a:t>mediateiv</a:t>
                </a:r>
                <a:r>
                  <a:rPr lang="en-US" altLang="zh-CN" dirty="0"/>
                  <a:t> (</a:t>
                </a:r>
                <a:r>
                  <a:rPr lang="en-US" altLang="zh-CN" dirty="0">
                    <a:hlinkClick r:id="rId2"/>
                  </a:rPr>
                  <a:t>https://gitee.com/zhaoxiliang/mediateiv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en-US" altLang="zh-CN" dirty="0" err="1"/>
                  <a:t>mediateiv</a:t>
                </a:r>
                <a:r>
                  <a:rPr lang="en-US" altLang="zh-CN" dirty="0"/>
                  <a:t>  Y (D = Z1) (M = Z2) X, reps(500) seed(1234)</a:t>
                </a:r>
              </a:p>
              <a:p>
                <a:r>
                  <a:rPr lang="zh-CN" altLang="en-US" dirty="0"/>
                  <a:t>例子：教育通过职业渠道对收入的影响，见</a:t>
                </a:r>
                <a:r>
                  <a:rPr lang="en-US" altLang="zh-CN" dirty="0"/>
                  <a:t>anoccup.do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AD5EF0D-ED83-54AB-F2B4-47E1D222B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59" t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BC4DD5-B465-8B29-3DFF-32125DC9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5A4A5F-F96F-4AE4-6663-ED37CFB7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930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87E14-6B8C-6D8D-048D-F66F8E69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91B8B-D870-9216-DEB8-3F04CA4EC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目标参数：</a:t>
            </a:r>
            <a:r>
              <a:rPr lang="en-US" altLang="zh-CN" dirty="0"/>
              <a:t>NIE, NDE</a:t>
            </a:r>
          </a:p>
          <a:p>
            <a:r>
              <a:rPr lang="zh-CN" altLang="en-US" dirty="0"/>
              <a:t>识别条件：序贯可忽略性假设</a:t>
            </a:r>
            <a:endParaRPr lang="en-US" altLang="zh-CN" dirty="0"/>
          </a:p>
          <a:p>
            <a:r>
              <a:rPr lang="zh-CN" altLang="en-US" dirty="0"/>
              <a:t>参数估计</a:t>
            </a:r>
            <a:endParaRPr lang="en-US" altLang="zh-CN" dirty="0"/>
          </a:p>
          <a:p>
            <a:r>
              <a:rPr lang="zh-CN" altLang="en-US" dirty="0"/>
              <a:t>（干预）中介内生时的处理方法：工具变量法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CAFDD1-897D-F38A-5657-857D93CB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A35735-7848-1CC9-192A-5164346E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136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36667-B8A7-A976-B80C-8D6D3F03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C6449-AB3C-42BA-A4F1-52135BA00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Baron, Reuben M and David A Kenny. 1986. “The Moderator–Mediator Variable Distinction in Social Psychological Research: Conceptual, Strategic, and Statistical Considerations.” Journal of personality and social psychology, 51(6), 1173.</a:t>
            </a:r>
          </a:p>
          <a:p>
            <a:r>
              <a:rPr lang="en-US" altLang="zh-CN" sz="1500" dirty="0"/>
              <a:t>Imai, Kosuke; Luke Keele and Teppei Yamamoto. 2010a.“Identification, Inference and Sensitivity Analysis for Causal Mediation Effects.” Statistical Science, 25(1), 51-71.</a:t>
            </a:r>
          </a:p>
          <a:p>
            <a:r>
              <a:rPr lang="en-US" altLang="zh-CN" sz="1500" dirty="0"/>
              <a:t>Pearl, Judea. 2001. “Direct and Indirect Effects,” Proceedings of the Seventeenth Conference on Uncertainty in Artificial Intelligence. Burlington, MA: Morgan </a:t>
            </a:r>
            <a:r>
              <a:rPr lang="en-US" altLang="zh-CN" sz="1500" dirty="0" err="1"/>
              <a:t>aufmann</a:t>
            </a:r>
            <a:r>
              <a:rPr lang="en-US" altLang="zh-CN" sz="1500" dirty="0"/>
              <a:t> Publishers Inc., 411–20.</a:t>
            </a:r>
          </a:p>
          <a:p>
            <a:r>
              <a:rPr lang="en-US" altLang="zh-CN" sz="1500" dirty="0"/>
              <a:t>Robins, James M and Sander Greenland. 1992. “Identifiability and Exchangeability for Direct and Indirect Effects.” Epidemiology, 3(2), 143-55.</a:t>
            </a:r>
          </a:p>
          <a:p>
            <a:r>
              <a:rPr lang="en-US" altLang="zh-CN" sz="1500" dirty="0"/>
              <a:t>Sobel, Michael E. 1982. “Asymptotic Confidence Intervals for Indirect Effects in Structural Equation Models.” Sociological methodology, 13, 290-312.</a:t>
            </a:r>
          </a:p>
          <a:p>
            <a:r>
              <a:rPr lang="en-US" altLang="zh-CN" sz="1500" dirty="0"/>
              <a:t>Tingley, Dustin; Teppei Yamamoto; Kentaro Hirose; Luke Keele and Kosuke Imai. 2014. “Mediation: R Package for Causal Mediation Analysis.” Journal of Statistical Software, 59(5), 1-38.</a:t>
            </a:r>
          </a:p>
          <a:p>
            <a:r>
              <a:rPr lang="en-US" altLang="zh-CN" sz="1500" dirty="0"/>
              <a:t>VanderWeele, Tyler. 2015. Explanation in Causal Inference: Methods for Mediation and Interaction. Oxford University Press.</a:t>
            </a:r>
            <a:endParaRPr lang="zh-CN" altLang="en-US" sz="15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9906EE-0B64-B7FB-0013-1C033E39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A83815-477F-675E-7626-B07C4895C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14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宋体 Heavy"/>
        <a:cs typeface=""/>
      </a:majorFont>
      <a:minorFont>
        <a:latin typeface="Times New Roman"/>
        <a:ea typeface="思源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1357</TotalTime>
  <Words>3012</Words>
  <Application>Microsoft Office PowerPoint</Application>
  <PresentationFormat>全屏显示(4:3)</PresentationFormat>
  <Paragraphs>203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Arial</vt:lpstr>
      <vt:lpstr>Cambria Math</vt:lpstr>
      <vt:lpstr>Times New Roman</vt:lpstr>
      <vt:lpstr>Office 主题​​</vt:lpstr>
      <vt:lpstr>因果中介分析</vt:lpstr>
      <vt:lpstr>目录</vt:lpstr>
      <vt:lpstr>引言</vt:lpstr>
      <vt:lpstr>传统中介分析方法</vt:lpstr>
      <vt:lpstr>传统中介分析方法</vt:lpstr>
      <vt:lpstr>目标参数：间接效应</vt:lpstr>
      <vt:lpstr>目标参数：间接效应</vt:lpstr>
      <vt:lpstr>目标参数：控制直接效应</vt:lpstr>
      <vt:lpstr>目标参数：回到传统方法</vt:lpstr>
      <vt:lpstr>目标参数：回到传统方法</vt:lpstr>
      <vt:lpstr>识别条件：序贯可忽略性</vt:lpstr>
      <vt:lpstr>因果识别</vt:lpstr>
      <vt:lpstr>因果识别</vt:lpstr>
      <vt:lpstr>因果识别</vt:lpstr>
      <vt:lpstr>参数估计</vt:lpstr>
      <vt:lpstr>参数估计</vt:lpstr>
      <vt:lpstr>中介内生性：工具变量法</vt:lpstr>
      <vt:lpstr>中介内生性：工具变量法</vt:lpstr>
      <vt:lpstr>干预和中介均内生时的工具变量法</vt:lpstr>
      <vt:lpstr>干预和中介均内生时的工具变量法</vt:lpstr>
      <vt:lpstr>干预和中介均内生时的工具变量法</vt:lpstr>
      <vt:lpstr>总结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Xiliang ZHAO</dc:creator>
  <cp:lastModifiedBy>Xiliang ZHAO</cp:lastModifiedBy>
  <cp:revision>31</cp:revision>
  <dcterms:created xsi:type="dcterms:W3CDTF">2026-08-07T12:10:34Z</dcterms:created>
  <dcterms:modified xsi:type="dcterms:W3CDTF">2026-08-25T01:49:20Z</dcterms:modified>
</cp:coreProperties>
</file>
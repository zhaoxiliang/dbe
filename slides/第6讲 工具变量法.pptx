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0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7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F3004A-1035-4AD2-BC4A-DB230EAABF41}" type="datetimeFigureOut">
              <a:rPr lang="zh-CN" altLang="en-US" smtClean="0"/>
              <a:t>2026/8/15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55C349-FD8F-4A61-B7BE-408729C94B71}" type="slidenum">
              <a:rPr lang="zh-CN" altLang="en-US" smtClean="0"/>
              <a:t>‹#›</a:t>
            </a:fld>
            <a:endParaRPr lang="zh-CN" altLang="en-US"/>
          </a:p>
        </p:txBody>
      </p:sp>
    </p:spTree>
    <p:extLst>
      <p:ext uri="{BB962C8B-B14F-4D97-AF65-F5344CB8AC3E}">
        <p14:creationId xmlns:p14="http://schemas.microsoft.com/office/powerpoint/2010/main" val="56546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9A4515A7-CEAA-43FE-A0C6-C344D2E1C420}" type="datetime1">
              <a:rPr lang="zh-CN" altLang="en-US" smtClean="0"/>
              <a:t>2026/8/15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409680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F1CD9CB9-29D0-4350-825D-C0AA5096F718}" type="datetime1">
              <a:rPr lang="zh-CN" altLang="en-US" smtClean="0"/>
              <a:t>2026/8/15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112358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CDDCF1F-4D82-4E39-A2A2-35E2A1D1799F}" type="datetime1">
              <a:rPr lang="zh-CN" altLang="en-US" smtClean="0"/>
              <a:t>2026/8/15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423829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8DD3615-B586-42F4-9872-6C720AA0F56E}" type="datetime1">
              <a:rPr lang="zh-CN" altLang="en-US" smtClean="0"/>
              <a:t>2026/8/15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311557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C0A3562-2CF1-4137-BC7A-0E1D3AD82A62}" type="datetime1">
              <a:rPr lang="zh-CN" altLang="en-US" smtClean="0"/>
              <a:t>2026/8/15</a:t>
            </a:fld>
            <a:endParaRPr lang="zh-CN" altLang="en-US"/>
          </a:p>
        </p:txBody>
      </p:sp>
      <p:sp>
        <p:nvSpPr>
          <p:cNvPr id="8" name="Footer Placeholder 7"/>
          <p:cNvSpPr>
            <a:spLocks noGrp="1"/>
          </p:cNvSpPr>
          <p:nvPr>
            <p:ph type="ftr" sz="quarter" idx="11"/>
          </p:nvPr>
        </p:nvSpPr>
        <p:spPr/>
        <p:txBody>
          <a:bodyPr/>
          <a:lstStyle/>
          <a:p>
            <a:r>
              <a:rPr lang="zh-CN" altLang="en-US"/>
              <a:t>ⓒ 赵西亮</a:t>
            </a:r>
          </a:p>
        </p:txBody>
      </p:sp>
      <p:sp>
        <p:nvSpPr>
          <p:cNvPr id="9" name="Slide Number Placeholder 8"/>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584099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3246C70-57B0-4FDE-A935-0B961BFE496D}" type="datetime1">
              <a:rPr lang="zh-CN" altLang="en-US" smtClean="0"/>
              <a:t>2026/8/15</a:t>
            </a:fld>
            <a:endParaRPr lang="zh-CN" altLang="en-US"/>
          </a:p>
        </p:txBody>
      </p:sp>
      <p:sp>
        <p:nvSpPr>
          <p:cNvPr id="4" name="Footer Placeholder 3"/>
          <p:cNvSpPr>
            <a:spLocks noGrp="1"/>
          </p:cNvSpPr>
          <p:nvPr>
            <p:ph type="ftr" sz="quarter" idx="11"/>
          </p:nvPr>
        </p:nvSpPr>
        <p:spPr/>
        <p:txBody>
          <a:bodyPr/>
          <a:lstStyle/>
          <a:p>
            <a:r>
              <a:rPr lang="zh-CN" altLang="en-US"/>
              <a:t>ⓒ 赵西亮</a:t>
            </a:r>
          </a:p>
        </p:txBody>
      </p:sp>
      <p:sp>
        <p:nvSpPr>
          <p:cNvPr id="5" name="Slide Number Placeholder 4"/>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67662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4AC03-C0A7-4889-9992-72A6D2628D14}" type="datetime1">
              <a:rPr lang="zh-CN" altLang="en-US" smtClean="0"/>
              <a:t>2026/8/15</a:t>
            </a:fld>
            <a:endParaRPr lang="zh-CN" altLang="en-US"/>
          </a:p>
        </p:txBody>
      </p:sp>
      <p:sp>
        <p:nvSpPr>
          <p:cNvPr id="3" name="Footer Placeholder 2"/>
          <p:cNvSpPr>
            <a:spLocks noGrp="1"/>
          </p:cNvSpPr>
          <p:nvPr>
            <p:ph type="ftr" sz="quarter" idx="11"/>
          </p:nvPr>
        </p:nvSpPr>
        <p:spPr/>
        <p:txBody>
          <a:bodyPr/>
          <a:lstStyle/>
          <a:p>
            <a:r>
              <a:rPr lang="zh-CN" altLang="en-US"/>
              <a:t>ⓒ 赵西亮</a:t>
            </a:r>
          </a:p>
        </p:txBody>
      </p:sp>
      <p:sp>
        <p:nvSpPr>
          <p:cNvPr id="4" name="Slide Number Placeholder 3"/>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4096729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F954344-EBCE-46E1-8116-31474348F6BE}" type="datetime1">
              <a:rPr lang="zh-CN" altLang="en-US" smtClean="0"/>
              <a:t>2026/8/15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100183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E4BE525-4771-468B-A8FB-DAB2047A4270}" type="datetime1">
              <a:rPr lang="zh-CN" altLang="en-US" smtClean="0"/>
              <a:t>2026/8/15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398654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188E2B5-2348-4A45-A5B7-02B2B64364E4}" type="datetime1">
              <a:rPr lang="zh-CN" altLang="en-US" smtClean="0"/>
              <a:t>2026/8/15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3404451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705BAB9-886B-4640-A228-FB1A92425BDE}" type="datetime1">
              <a:rPr lang="zh-CN" altLang="en-US" smtClean="0"/>
              <a:t>2026/8/15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509966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D44183-C876-422B-881A-B6A8D40A16EE}" type="datetime1">
              <a:rPr lang="zh-CN" altLang="en-US" smtClean="0"/>
              <a:t>2026/8/15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 赵西亮</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5104984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F58E5-B2B8-FEBB-8A41-24F534B6F746}"/>
              </a:ext>
            </a:extLst>
          </p:cNvPr>
          <p:cNvSpPr>
            <a:spLocks noGrp="1"/>
          </p:cNvSpPr>
          <p:nvPr>
            <p:ph type="ctrTitle"/>
          </p:nvPr>
        </p:nvSpPr>
        <p:spPr/>
        <p:txBody>
          <a:bodyPr/>
          <a:lstStyle/>
          <a:p>
            <a:r>
              <a:rPr lang="zh-CN" altLang="en-US" dirty="0"/>
              <a:t>工具变量法</a:t>
            </a:r>
          </a:p>
        </p:txBody>
      </p:sp>
      <p:sp>
        <p:nvSpPr>
          <p:cNvPr id="3" name="副标题 2">
            <a:extLst>
              <a:ext uri="{FF2B5EF4-FFF2-40B4-BE49-F238E27FC236}">
                <a16:creationId xmlns:a16="http://schemas.microsoft.com/office/drawing/2014/main" id="{D2A12E75-A8A7-EF47-8BB0-5705F1BDB078}"/>
              </a:ext>
            </a:extLst>
          </p:cNvPr>
          <p:cNvSpPr>
            <a:spLocks noGrp="1"/>
          </p:cNvSpPr>
          <p:nvPr>
            <p:ph type="subTitle" idx="1"/>
          </p:nvPr>
        </p:nvSpPr>
        <p:spPr/>
        <p:txBody>
          <a:bodyPr/>
          <a:lstStyle/>
          <a:p>
            <a:r>
              <a:rPr lang="zh-CN" altLang="en-US" dirty="0"/>
              <a:t>赵西亮</a:t>
            </a:r>
            <a:endParaRPr lang="en-US" altLang="zh-CN" dirty="0"/>
          </a:p>
          <a:p>
            <a:r>
              <a:rPr lang="zh-CN" altLang="en-US" dirty="0"/>
              <a:t>厦门大学经济学院</a:t>
            </a:r>
            <a:endParaRPr lang="en-US" altLang="zh-CN" dirty="0"/>
          </a:p>
          <a:p>
            <a:r>
              <a:rPr lang="zh-CN" altLang="en-US" dirty="0"/>
              <a:t>王亚南经济研究院</a:t>
            </a:r>
          </a:p>
        </p:txBody>
      </p:sp>
    </p:spTree>
    <p:extLst>
      <p:ext uri="{BB962C8B-B14F-4D97-AF65-F5344CB8AC3E}">
        <p14:creationId xmlns:p14="http://schemas.microsoft.com/office/powerpoint/2010/main" val="4083691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FE0263-3E9F-871C-6CBB-5FE9A14268BD}"/>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7E4AC5FA-0F8B-7133-FC7C-04A961AE1A13}"/>
              </a:ext>
            </a:extLst>
          </p:cNvPr>
          <p:cNvSpPr>
            <a:spLocks noGrp="1"/>
          </p:cNvSpPr>
          <p:nvPr>
            <p:ph idx="1"/>
          </p:nvPr>
        </p:nvSpPr>
        <p:spPr/>
        <p:txBody>
          <a:bodyPr>
            <a:normAutofit fontScale="77500" lnSpcReduction="20000"/>
          </a:bodyPr>
          <a:lstStyle/>
          <a:p>
            <a:r>
              <a:rPr lang="zh-CN" altLang="en-US" dirty="0"/>
              <a:t>经典工具法</a:t>
            </a:r>
            <a:endParaRPr lang="en-US" altLang="zh-CN" dirty="0"/>
          </a:p>
          <a:p>
            <a:pPr lvl="1"/>
            <a:r>
              <a:rPr lang="zh-CN" altLang="en-US" dirty="0"/>
              <a:t>识别条件</a:t>
            </a:r>
            <a:endParaRPr lang="en-US" altLang="zh-CN" dirty="0"/>
          </a:p>
          <a:p>
            <a:pPr lvl="1"/>
            <a:r>
              <a:rPr lang="zh-CN" altLang="en-US" dirty="0"/>
              <a:t>估计方法</a:t>
            </a:r>
            <a:endParaRPr lang="en-US" altLang="zh-CN" dirty="0"/>
          </a:p>
          <a:p>
            <a:pPr lvl="1"/>
            <a:r>
              <a:rPr lang="zh-CN" altLang="en-US" dirty="0"/>
              <a:t>大样本性质</a:t>
            </a:r>
            <a:endParaRPr lang="en-US" altLang="zh-CN" dirty="0"/>
          </a:p>
          <a:p>
            <a:pPr lvl="1"/>
            <a:r>
              <a:rPr lang="zh-CN" altLang="en-US" dirty="0"/>
              <a:t>常用检验方法</a:t>
            </a:r>
            <a:endParaRPr lang="en-US" altLang="zh-CN" dirty="0"/>
          </a:p>
          <a:p>
            <a:r>
              <a:rPr lang="en-US" altLang="zh-CN" dirty="0"/>
              <a:t>LATE</a:t>
            </a:r>
            <a:r>
              <a:rPr lang="zh-CN" altLang="en-US" dirty="0"/>
              <a:t>框架</a:t>
            </a:r>
            <a:endParaRPr lang="en-US" altLang="zh-CN" dirty="0"/>
          </a:p>
          <a:p>
            <a:r>
              <a:rPr lang="en-US" altLang="zh-CN" dirty="0"/>
              <a:t>MTE</a:t>
            </a:r>
            <a:r>
              <a:rPr lang="zh-CN" altLang="en-US" dirty="0"/>
              <a:t>框架</a:t>
            </a:r>
            <a:endParaRPr lang="en-US" altLang="zh-CN" dirty="0"/>
          </a:p>
          <a:p>
            <a:pPr lvl="1"/>
            <a:r>
              <a:rPr lang="en-US" altLang="zh-CN" dirty="0"/>
              <a:t>MTE</a:t>
            </a:r>
            <a:r>
              <a:rPr lang="zh-CN" altLang="en-US" dirty="0"/>
              <a:t>和因果效应参数</a:t>
            </a:r>
            <a:endParaRPr lang="en-US" altLang="zh-CN" dirty="0"/>
          </a:p>
          <a:p>
            <a:pPr lvl="1"/>
            <a:r>
              <a:rPr lang="zh-CN" altLang="en-US" dirty="0"/>
              <a:t>政策相关参数</a:t>
            </a:r>
            <a:endParaRPr lang="en-US" altLang="zh-CN" dirty="0"/>
          </a:p>
          <a:p>
            <a:pPr lvl="1"/>
            <a:r>
              <a:rPr lang="zh-CN" altLang="en-US" dirty="0"/>
              <a:t>工具变量估计什么</a:t>
            </a:r>
            <a:endParaRPr lang="en-US" altLang="zh-CN" dirty="0"/>
          </a:p>
          <a:p>
            <a:pPr lvl="1"/>
            <a:r>
              <a:rPr lang="en-US" altLang="zh-CN" dirty="0"/>
              <a:t>MTE</a:t>
            </a:r>
            <a:r>
              <a:rPr lang="zh-CN" altLang="en-US" dirty="0"/>
              <a:t>估计</a:t>
            </a:r>
            <a:endParaRPr lang="en-US" altLang="zh-CN" dirty="0"/>
          </a:p>
          <a:p>
            <a:r>
              <a:rPr lang="en-US" altLang="zh-CN" dirty="0"/>
              <a:t>Shift-Share IV</a:t>
            </a:r>
          </a:p>
          <a:p>
            <a:pPr lvl="1"/>
            <a:r>
              <a:rPr lang="en-US" altLang="zh-CN" dirty="0"/>
              <a:t>SSIV </a:t>
            </a:r>
            <a:r>
              <a:rPr lang="zh-CN" altLang="en-US" dirty="0"/>
              <a:t>构造</a:t>
            </a:r>
            <a:endParaRPr lang="en-US" altLang="zh-CN" dirty="0"/>
          </a:p>
          <a:p>
            <a:pPr lvl="1"/>
            <a:r>
              <a:rPr lang="en-US" altLang="zh-CN" dirty="0"/>
              <a:t>SSIV</a:t>
            </a:r>
            <a:r>
              <a:rPr lang="zh-CN" altLang="en-US" dirty="0"/>
              <a:t>：冲击外生性</a:t>
            </a:r>
            <a:endParaRPr lang="en-US" altLang="zh-CN" dirty="0"/>
          </a:p>
          <a:p>
            <a:pPr lvl="1"/>
            <a:r>
              <a:rPr lang="en-US" altLang="zh-CN" dirty="0"/>
              <a:t>SSIV</a:t>
            </a:r>
            <a:r>
              <a:rPr lang="zh-CN" altLang="en-US" dirty="0"/>
              <a:t>：份额外生性</a:t>
            </a:r>
            <a:endParaRPr lang="en-US" altLang="zh-CN" dirty="0"/>
          </a:p>
          <a:p>
            <a:endParaRPr lang="zh-CN" altLang="en-US" dirty="0"/>
          </a:p>
        </p:txBody>
      </p:sp>
      <p:sp>
        <p:nvSpPr>
          <p:cNvPr id="4" name="页脚占位符 3">
            <a:extLst>
              <a:ext uri="{FF2B5EF4-FFF2-40B4-BE49-F238E27FC236}">
                <a16:creationId xmlns:a16="http://schemas.microsoft.com/office/drawing/2014/main" id="{1D391952-40CE-EDEB-4F8D-80032F41252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A22D9F4-3CB9-BF29-8BB2-198B681A9FF0}"/>
              </a:ext>
            </a:extLst>
          </p:cNvPr>
          <p:cNvSpPr>
            <a:spLocks noGrp="1"/>
          </p:cNvSpPr>
          <p:nvPr>
            <p:ph type="sldNum" sz="quarter" idx="12"/>
          </p:nvPr>
        </p:nvSpPr>
        <p:spPr/>
        <p:txBody>
          <a:bodyPr/>
          <a:lstStyle/>
          <a:p>
            <a:fld id="{D41FC515-8169-4A29-AA56-DBE520D5741B}" type="slidenum">
              <a:rPr lang="zh-CN" altLang="en-US" smtClean="0"/>
              <a:t>2</a:t>
            </a:fld>
            <a:endParaRPr lang="zh-CN" altLang="en-US"/>
          </a:p>
        </p:txBody>
      </p:sp>
    </p:spTree>
    <p:extLst>
      <p:ext uri="{BB962C8B-B14F-4D97-AF65-F5344CB8AC3E}">
        <p14:creationId xmlns:p14="http://schemas.microsoft.com/office/powerpoint/2010/main" val="3441352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D81A2-358D-6CB1-545E-12B2A3A56902}"/>
              </a:ext>
            </a:extLst>
          </p:cNvPr>
          <p:cNvSpPr>
            <a:spLocks noGrp="1"/>
          </p:cNvSpPr>
          <p:nvPr>
            <p:ph type="title"/>
          </p:nvPr>
        </p:nvSpPr>
        <p:spPr/>
        <p:txBody>
          <a:bodyPr/>
          <a:lstStyle/>
          <a:p>
            <a:r>
              <a:rPr lang="zh-CN" altLang="en-US" dirty="0"/>
              <a:t>工具变量法</a:t>
            </a:r>
          </a:p>
        </p:txBody>
      </p:sp>
      <p:sp>
        <p:nvSpPr>
          <p:cNvPr id="3" name="内容占位符 2">
            <a:extLst>
              <a:ext uri="{FF2B5EF4-FFF2-40B4-BE49-F238E27FC236}">
                <a16:creationId xmlns:a16="http://schemas.microsoft.com/office/drawing/2014/main" id="{DDE61F38-3F8B-BE50-2030-AE050B3675CF}"/>
              </a:ext>
            </a:extLst>
          </p:cNvPr>
          <p:cNvSpPr>
            <a:spLocks noGrp="1"/>
          </p:cNvSpPr>
          <p:nvPr>
            <p:ph idx="1"/>
          </p:nvPr>
        </p:nvSpPr>
        <p:spPr/>
        <p:txBody>
          <a:bodyPr/>
          <a:lstStyle/>
          <a:p>
            <a:r>
              <a:rPr lang="en-US" altLang="zh-CN" dirty="0"/>
              <a:t>Philip Wright (1928), Sewell Wright</a:t>
            </a:r>
          </a:p>
          <a:p>
            <a:r>
              <a:rPr lang="en-US" altLang="zh-CN" dirty="0" err="1"/>
              <a:t>Reiersøl</a:t>
            </a:r>
            <a:r>
              <a:rPr lang="en-US" altLang="zh-CN" dirty="0"/>
              <a:t>(1945) </a:t>
            </a:r>
            <a:r>
              <a:rPr lang="zh-CN" altLang="en-US" dirty="0"/>
              <a:t>引入“</a:t>
            </a:r>
            <a:r>
              <a:rPr lang="en-US" altLang="zh-CN" dirty="0"/>
              <a:t>instrumental variables</a:t>
            </a:r>
            <a:r>
              <a:rPr lang="zh-CN" altLang="en-US" dirty="0"/>
              <a:t>”</a:t>
            </a:r>
            <a:r>
              <a:rPr lang="en-US" altLang="zh-CN" dirty="0"/>
              <a:t> (Hansen, 2021)</a:t>
            </a:r>
          </a:p>
          <a:p>
            <a:r>
              <a:rPr lang="zh-CN" altLang="en-US" dirty="0"/>
              <a:t>特点：基于结构计量框架，同质性因果效应</a:t>
            </a:r>
          </a:p>
        </p:txBody>
      </p:sp>
      <p:sp>
        <p:nvSpPr>
          <p:cNvPr id="4" name="页脚占位符 3">
            <a:extLst>
              <a:ext uri="{FF2B5EF4-FFF2-40B4-BE49-F238E27FC236}">
                <a16:creationId xmlns:a16="http://schemas.microsoft.com/office/drawing/2014/main" id="{1C4D69FA-16D8-B9E4-9704-48D16CF2444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5F0E822-7633-1022-915A-6F3241C131C0}"/>
              </a:ext>
            </a:extLst>
          </p:cNvPr>
          <p:cNvSpPr>
            <a:spLocks noGrp="1"/>
          </p:cNvSpPr>
          <p:nvPr>
            <p:ph type="sldNum" sz="quarter" idx="12"/>
          </p:nvPr>
        </p:nvSpPr>
        <p:spPr/>
        <p:txBody>
          <a:bodyPr/>
          <a:lstStyle/>
          <a:p>
            <a:fld id="{D41FC515-8169-4A29-AA56-DBE520D5741B}" type="slidenum">
              <a:rPr lang="zh-CN" altLang="en-US" smtClean="0"/>
              <a:t>3</a:t>
            </a:fld>
            <a:endParaRPr lang="zh-CN" altLang="en-US"/>
          </a:p>
        </p:txBody>
      </p:sp>
    </p:spTree>
    <p:extLst>
      <p:ext uri="{BB962C8B-B14F-4D97-AF65-F5344CB8AC3E}">
        <p14:creationId xmlns:p14="http://schemas.microsoft.com/office/powerpoint/2010/main" val="79256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39F4E9-C494-352E-BFD5-488878C1B431}"/>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2D21C56-36D3-2A14-A1FD-221209FA6619}"/>
                  </a:ext>
                </a:extLst>
              </p:cNvPr>
              <p:cNvSpPr>
                <a:spLocks noGrp="1"/>
              </p:cNvSpPr>
              <p:nvPr>
                <p:ph idx="1"/>
              </p:nvPr>
            </p:nvSpPr>
            <p:spPr>
              <a:xfrm>
                <a:off x="628650" y="1825625"/>
                <a:ext cx="7886700" cy="3143417"/>
              </a:xfrm>
            </p:spPr>
            <p:txBody>
              <a:bodyPr>
                <a:normAutofit fontScale="92500" lnSpcReduction="10000"/>
              </a:bodyPr>
              <a:lstStyle/>
              <a:p>
                <a:pPr>
                  <a:lnSpc>
                    <a:spcPct val="100000"/>
                  </a:lnSpc>
                </a:pPr>
                <a:r>
                  <a:rPr lang="zh-CN" altLang="en-US" dirty="0"/>
                  <a:t>以教育对收入的影响为例，假设因果效应模型为：</a:t>
                </a:r>
                <a:endParaRPr lang="en-US" altLang="zh-CN" dirty="0"/>
              </a:p>
              <a:p>
                <a:pPr>
                  <a:lnSpc>
                    <a:spcPct val="100000"/>
                  </a:lnSpc>
                </a:pP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𝛼</m:t>
                    </m:r>
                    <m:r>
                      <a:rPr lang="zh-CN" altLang="en-US" i="1" dirty="0">
                        <a:latin typeface="Cambria Math" panose="02040503050406030204" pitchFamily="18" charset="0"/>
                      </a:rPr>
                      <m:t> + </m:t>
                    </m:r>
                    <m:r>
                      <a:rPr lang="zh-CN" altLang="en-US" i="1" dirty="0">
                        <a:latin typeface="Cambria Math" panose="02040503050406030204" pitchFamily="18" charset="0"/>
                      </a:rPr>
                      <m:t>𝜏</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𝐴</m:t>
                        </m:r>
                      </m:e>
                      <m:sub>
                        <m:r>
                          <a:rPr lang="zh-CN" altLang="en-US" i="1" dirty="0" smtClean="0">
                            <a:latin typeface="Cambria Math" panose="02040503050406030204" pitchFamily="18" charset="0"/>
                          </a:rPr>
                          <m:t>𝑖</m:t>
                        </m:r>
                      </m:sub>
                      <m:sup>
                        <m:r>
                          <a:rPr lang="en-US" altLang="zh-CN" i="1" dirty="0" smtClean="0">
                            <a:latin typeface="Cambria Math" panose="02040503050406030204" pitchFamily="18" charset="0"/>
                          </a:rPr>
                          <m:t>′</m:t>
                        </m:r>
                      </m:sup>
                    </m:sSubSup>
                    <m:r>
                      <a:rPr lang="zh-CN" altLang="en-US" i="1" dirty="0" smtClean="0">
                        <a:latin typeface="Cambria Math" panose="02040503050406030204" pitchFamily="18" charset="0"/>
                      </a:rPr>
                      <m:t>𝛾</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(1)</m:t>
                    </m:r>
                  </m:oMath>
                </a14:m>
                <a:endParaRPr lang="en-US" altLang="zh-CN" dirty="0"/>
              </a:p>
              <a:p>
                <a:pPr>
                  <a:lnSpc>
                    <a:spcPct val="100000"/>
                  </a:lnSpc>
                </a:pPr>
                <a:r>
                  <a:rPr lang="zh-CN" altLang="en-US" dirty="0"/>
                  <a:t>工具变量</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𝑍</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oMath>
                </a14:m>
                <a:r>
                  <a:rPr lang="zh-CN" altLang="en-US" dirty="0"/>
                  <a:t>的基本条件：</a:t>
                </a:r>
                <a:endParaRPr lang="en-US" altLang="zh-CN" dirty="0"/>
              </a:p>
              <a:p>
                <a:pPr lvl="1">
                  <a:lnSpc>
                    <a:spcPct val="100000"/>
                  </a:lnSpc>
                </a:pPr>
                <a:r>
                  <a:rPr lang="zh-CN" altLang="en-US" dirty="0"/>
                  <a:t>相关性。工具变量必须与原因变量相关，</a:t>
                </a:r>
                <a14:m>
                  <m:oMath xmlns:m="http://schemas.openxmlformats.org/officeDocument/2006/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oMath>
                </a14:m>
                <a:endParaRPr lang="en-US" altLang="zh-CN" dirty="0"/>
              </a:p>
              <a:p>
                <a:pPr lvl="1">
                  <a:lnSpc>
                    <a:spcPct val="100000"/>
                  </a:lnSpc>
                </a:pPr>
                <a:r>
                  <a:rPr lang="zh-CN" altLang="en-US" dirty="0"/>
                  <a:t>外生性。工具变量外生于经济系统，令 </a:t>
                </a:r>
                <a14:m>
                  <m:oMath xmlns:m="http://schemas.openxmlformats.org/officeDocument/2006/math">
                    <m:r>
                      <a:rPr lang="zh-CN" altLang="en-US" i="1" dirty="0" smtClean="0">
                        <a:latin typeface="Cambria Math" panose="02040503050406030204" pitchFamily="18" charset="0"/>
                      </a:rPr>
                      <m:t>𝜂</m:t>
                    </m:r>
                    <m:r>
                      <a:rPr lang="zh-CN" altLang="en-US" sz="400" i="1" dirty="0">
                        <a:latin typeface="Cambria Math" panose="02040503050406030204" pitchFamily="18" charset="0"/>
                      </a:rPr>
                      <m:t>𝑖</m:t>
                    </m:r>
                    <m:r>
                      <a:rPr lang="zh-CN" altLang="en-US" sz="400" i="1" dirty="0">
                        <a:latin typeface="Cambria Math" panose="02040503050406030204" pitchFamily="18" charset="0"/>
                      </a:rPr>
                      <m:t> = </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𝐴</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m:t>
                        </m:r>
                      </m:sup>
                    </m:sSubSup>
                    <m:r>
                      <a:rPr lang="en-US" altLang="zh-CN" sz="400" i="1" dirty="0" smtClean="0">
                        <a:latin typeface="Cambria Math" panose="02040503050406030204" pitchFamily="18" charset="0"/>
                      </a:rPr>
                      <m:t>′</m:t>
                    </m:r>
                    <m:r>
                      <a:rPr lang="zh-CN" altLang="en-US" i="1" dirty="0" smtClean="0">
                        <a:latin typeface="Cambria Math" panose="02040503050406030204" pitchFamily="18" charset="0"/>
                      </a:rPr>
                      <m:t>𝛾</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en-US" altLang="zh-CN" b="0" i="1" dirty="0" smtClean="0">
                            <a:latin typeface="Cambria Math" panose="02040503050406030204" pitchFamily="18" charset="0"/>
                          </a:rPr>
                          <m:t>𝑖</m:t>
                        </m:r>
                      </m:sub>
                    </m:sSub>
                  </m:oMath>
                </a14:m>
                <a:r>
                  <a:rPr lang="zh-CN" altLang="en-US" dirty="0"/>
                  <a:t>，即</a:t>
                </a:r>
                <a14:m>
                  <m:oMath xmlns:m="http://schemas.openxmlformats.org/officeDocument/2006/math">
                    <m:r>
                      <a:rPr lang="en-US" altLang="zh-CN" b="0" i="0" dirty="0" smtClean="0">
                        <a:latin typeface="Cambria Math" panose="02040503050406030204" pitchFamily="18" charset="0"/>
                      </a:rPr>
                      <m:t> </m:t>
                    </m:r>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𝜂</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oMath>
                </a14:m>
                <a:endParaRPr lang="en-US" altLang="zh-CN" dirty="0"/>
              </a:p>
              <a:p>
                <a:pPr>
                  <a:lnSpc>
                    <a:spcPct val="100000"/>
                  </a:lnSpc>
                </a:pPr>
                <a:r>
                  <a:rPr lang="zh-CN" altLang="en-US" dirty="0"/>
                  <a:t>因果图表示</a:t>
                </a:r>
                <a:endParaRPr lang="en-US" altLang="zh-CN" dirty="0"/>
              </a:p>
              <a:p>
                <a:pPr>
                  <a:lnSpc>
                    <a:spcPct val="100000"/>
                  </a:lnSpc>
                </a:pPr>
                <a:endParaRPr lang="en-US" altLang="zh-CN" dirty="0"/>
              </a:p>
              <a:p>
                <a:pPr>
                  <a:lnSpc>
                    <a:spcPct val="100000"/>
                  </a:lnSpc>
                </a:pPr>
                <a:endParaRPr lang="zh-CN" altLang="en-US" dirty="0"/>
              </a:p>
            </p:txBody>
          </p:sp>
        </mc:Choice>
        <mc:Fallback xmlns="">
          <p:sp>
            <p:nvSpPr>
              <p:cNvPr id="3" name="内容占位符 2">
                <a:extLst>
                  <a:ext uri="{FF2B5EF4-FFF2-40B4-BE49-F238E27FC236}">
                    <a16:creationId xmlns:a16="http://schemas.microsoft.com/office/drawing/2014/main" id="{82D21C56-36D3-2A14-A1FD-221209FA6619}"/>
                  </a:ext>
                </a:extLst>
              </p:cNvPr>
              <p:cNvSpPr>
                <a:spLocks noGrp="1" noRot="1" noChangeAspect="1" noMove="1" noResize="1" noEditPoints="1" noAdjustHandles="1" noChangeArrowheads="1" noChangeShapeType="1" noTextEdit="1"/>
              </p:cNvSpPr>
              <p:nvPr>
                <p:ph idx="1"/>
              </p:nvPr>
            </p:nvSpPr>
            <p:spPr>
              <a:xfrm>
                <a:off x="628650" y="1825625"/>
                <a:ext cx="7886700" cy="3143417"/>
              </a:xfrm>
              <a:blipFill>
                <a:blip r:embed="rId2"/>
                <a:stretch>
                  <a:fillRect l="-1159" t="-2907"/>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6756D41-BB1E-AD34-0E36-E5958E9D95A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40290EE-A565-6B03-92CD-3193C199FD91}"/>
              </a:ext>
            </a:extLst>
          </p:cNvPr>
          <p:cNvSpPr>
            <a:spLocks noGrp="1"/>
          </p:cNvSpPr>
          <p:nvPr>
            <p:ph type="sldNum" sz="quarter" idx="12"/>
          </p:nvPr>
        </p:nvSpPr>
        <p:spPr/>
        <p:txBody>
          <a:bodyPr/>
          <a:lstStyle/>
          <a:p>
            <a:fld id="{D41FC515-8169-4A29-AA56-DBE520D5741B}" type="slidenum">
              <a:rPr lang="zh-CN" altLang="en-US" smtClean="0"/>
              <a:t>4</a:t>
            </a:fld>
            <a:endParaRPr lang="zh-CN" altLang="en-US"/>
          </a:p>
        </p:txBody>
      </p:sp>
      <p:pic>
        <p:nvPicPr>
          <p:cNvPr id="7" name="图片 6">
            <a:extLst>
              <a:ext uri="{FF2B5EF4-FFF2-40B4-BE49-F238E27FC236}">
                <a16:creationId xmlns:a16="http://schemas.microsoft.com/office/drawing/2014/main" id="{03E59A1D-2918-7AFC-E61C-85727BCFD4B4}"/>
              </a:ext>
            </a:extLst>
          </p:cNvPr>
          <p:cNvPicPr>
            <a:picLocks noChangeAspect="1"/>
          </p:cNvPicPr>
          <p:nvPr/>
        </p:nvPicPr>
        <p:blipFill>
          <a:blip r:embed="rId3"/>
          <a:stretch>
            <a:fillRect/>
          </a:stretch>
        </p:blipFill>
        <p:spPr>
          <a:xfrm>
            <a:off x="1846533" y="4809465"/>
            <a:ext cx="5450933" cy="1546886"/>
          </a:xfrm>
          <a:prstGeom prst="rect">
            <a:avLst/>
          </a:prstGeom>
        </p:spPr>
      </p:pic>
    </p:spTree>
    <p:extLst>
      <p:ext uri="{BB962C8B-B14F-4D97-AF65-F5344CB8AC3E}">
        <p14:creationId xmlns:p14="http://schemas.microsoft.com/office/powerpoint/2010/main" val="3852408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21A21B-1E76-E56A-5D22-34B16E7B899C}"/>
              </a:ext>
            </a:extLst>
          </p:cNvPr>
          <p:cNvSpPr>
            <a:spLocks noGrp="1"/>
          </p:cNvSpPr>
          <p:nvPr>
            <p:ph type="title"/>
          </p:nvPr>
        </p:nvSpPr>
        <p:spPr/>
        <p:txBody>
          <a:bodyPr/>
          <a:lstStyle/>
          <a:p>
            <a:r>
              <a:rPr lang="zh-CN" altLang="en-US" dirty="0"/>
              <a:t>经典工具变量法</a:t>
            </a:r>
          </a:p>
        </p:txBody>
      </p:sp>
      <p:sp>
        <p:nvSpPr>
          <p:cNvPr id="3" name="内容占位符 2">
            <a:extLst>
              <a:ext uri="{FF2B5EF4-FFF2-40B4-BE49-F238E27FC236}">
                <a16:creationId xmlns:a16="http://schemas.microsoft.com/office/drawing/2014/main" id="{EE1DA79F-D0CE-8F8E-C529-CC9F379989EB}"/>
              </a:ext>
            </a:extLst>
          </p:cNvPr>
          <p:cNvSpPr>
            <a:spLocks noGrp="1"/>
          </p:cNvSpPr>
          <p:nvPr>
            <p:ph idx="1"/>
          </p:nvPr>
        </p:nvSpPr>
        <p:spPr/>
        <p:txBody>
          <a:bodyPr/>
          <a:lstStyle/>
          <a:p>
            <a:r>
              <a:rPr lang="zh-CN" altLang="en-US" dirty="0"/>
              <a:t>违反外生性假设的情形：</a:t>
            </a:r>
            <a:endParaRPr lang="en-US" altLang="zh-CN" dirty="0"/>
          </a:p>
          <a:p>
            <a:endParaRPr lang="zh-CN" altLang="en-US" dirty="0"/>
          </a:p>
        </p:txBody>
      </p:sp>
      <p:sp>
        <p:nvSpPr>
          <p:cNvPr id="4" name="页脚占位符 3">
            <a:extLst>
              <a:ext uri="{FF2B5EF4-FFF2-40B4-BE49-F238E27FC236}">
                <a16:creationId xmlns:a16="http://schemas.microsoft.com/office/drawing/2014/main" id="{8411B894-7486-01EA-E1C2-761E2A8E47F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41EB5F8-37CA-918C-A4D3-593670EC5F3C}"/>
              </a:ext>
            </a:extLst>
          </p:cNvPr>
          <p:cNvSpPr>
            <a:spLocks noGrp="1"/>
          </p:cNvSpPr>
          <p:nvPr>
            <p:ph type="sldNum" sz="quarter" idx="12"/>
          </p:nvPr>
        </p:nvSpPr>
        <p:spPr/>
        <p:txBody>
          <a:bodyPr/>
          <a:lstStyle/>
          <a:p>
            <a:fld id="{D41FC515-8169-4A29-AA56-DBE520D5741B}" type="slidenum">
              <a:rPr lang="zh-CN" altLang="en-US" smtClean="0"/>
              <a:t>5</a:t>
            </a:fld>
            <a:endParaRPr lang="zh-CN" altLang="en-US"/>
          </a:p>
        </p:txBody>
      </p:sp>
      <p:pic>
        <p:nvPicPr>
          <p:cNvPr id="7" name="图片 6">
            <a:extLst>
              <a:ext uri="{FF2B5EF4-FFF2-40B4-BE49-F238E27FC236}">
                <a16:creationId xmlns:a16="http://schemas.microsoft.com/office/drawing/2014/main" id="{90C4008C-2944-D2FA-1194-91FED2A062FC}"/>
              </a:ext>
            </a:extLst>
          </p:cNvPr>
          <p:cNvPicPr>
            <a:picLocks noChangeAspect="1"/>
          </p:cNvPicPr>
          <p:nvPr/>
        </p:nvPicPr>
        <p:blipFill>
          <a:blip r:embed="rId2"/>
          <a:stretch>
            <a:fillRect/>
          </a:stretch>
        </p:blipFill>
        <p:spPr>
          <a:xfrm>
            <a:off x="211019" y="2812338"/>
            <a:ext cx="8721962" cy="2397335"/>
          </a:xfrm>
          <a:prstGeom prst="rect">
            <a:avLst/>
          </a:prstGeom>
        </p:spPr>
      </p:pic>
    </p:spTree>
    <p:extLst>
      <p:ext uri="{BB962C8B-B14F-4D97-AF65-F5344CB8AC3E}">
        <p14:creationId xmlns:p14="http://schemas.microsoft.com/office/powerpoint/2010/main" val="402840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42ED34-3807-A627-5372-65A12EAB9B2D}"/>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BF6832B-612C-8DC5-273D-171E970B4CC7}"/>
                  </a:ext>
                </a:extLst>
              </p:cNvPr>
              <p:cNvSpPr>
                <a:spLocks noGrp="1"/>
              </p:cNvSpPr>
              <p:nvPr>
                <p:ph idx="1"/>
              </p:nvPr>
            </p:nvSpPr>
            <p:spPr/>
            <p:txBody>
              <a:bodyPr/>
              <a:lstStyle/>
              <a:p>
                <a:pPr>
                  <a:lnSpc>
                    <a:spcPct val="100000"/>
                  </a:lnSpc>
                </a:pPr>
                <a:r>
                  <a:rPr lang="zh-CN" altLang="en-US" dirty="0"/>
                  <a:t>如果存在𝐷 的工具变量𝑍，则</a:t>
                </a:r>
                <a:endParaRPr lang="en-US" altLang="zh-CN" dirty="0"/>
              </a:p>
              <a:p>
                <a:pPr marL="0" indent="0">
                  <a:lnSpc>
                    <a:spcPct val="100000"/>
                  </a:lnSpc>
                  <a:buNone/>
                </a:pPr>
                <a14:m>
                  <m:oMathPara xmlns:m="http://schemas.openxmlformats.org/officeDocument/2006/math">
                    <m:o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r>
                        <a:rPr lang="zh-CN" altLang="en-US" i="1" dirty="0">
                          <a:latin typeface="Cambria Math" panose="02040503050406030204" pitchFamily="18" charset="0"/>
                        </a:rPr>
                        <m:t>𝐶𝑜𝑣</m:t>
                      </m:r>
                      <m:r>
                        <a:rPr lang="en-US" altLang="zh-CN" i="1" dirty="0">
                          <a:latin typeface="Cambria Math" panose="02040503050406030204" pitchFamily="18" charset="0"/>
                        </a:rPr>
                        <m:t>(</m:t>
                      </m:r>
                      <m:r>
                        <a:rPr lang="zh-CN" altLang="en-US" i="1" dirty="0">
                          <a:latin typeface="Cambria Math" panose="02040503050406030204" pitchFamily="18" charset="0"/>
                        </a:rPr>
                        <m:t>𝛼</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r>
                        <a:rPr lang="zh-CN" altLang="en-US" i="1" dirty="0">
                          <a:latin typeface="Cambria Math" panose="02040503050406030204" pitchFamily="18" charset="0"/>
                        </a:rPr>
                        <m:t>𝜏</m:t>
                      </m:r>
                      <m:r>
                        <a:rPr lang="zh-CN" altLang="en-US" i="1" dirty="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r>
                        <a:rPr lang="zh-CN" altLang="en-US" i="1" dirty="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𝜂</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smtClean="0">
                          <a:latin typeface="Cambria Math" panose="02040503050406030204" pitchFamily="18" charset="0"/>
                        </a:rPr>
                        <m:t>)</m:t>
                      </m:r>
                    </m:oMath>
                  </m:oMathPara>
                </a14:m>
                <a:endParaRPr lang="en-US" altLang="zh-CN" dirty="0"/>
              </a:p>
              <a:p>
                <a:pPr>
                  <a:lnSpc>
                    <a:spcPct val="100000"/>
                  </a:lnSpc>
                </a:pPr>
                <a:r>
                  <a:rPr lang="zh-CN" altLang="en-US" dirty="0"/>
                  <a:t>从而，可以估计出𝐷 的对𝑌 的因果影响：</a:t>
                </a:r>
                <a:endParaRPr lang="en-US" altLang="zh-CN" dirty="0"/>
              </a:p>
              <a:p>
                <a:pPr marL="0" indent="0">
                  <a:lnSpc>
                    <a:spcPct val="100000"/>
                  </a:lnSpc>
                  <a:buNone/>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𝜏</m:t>
                          </m:r>
                        </m:e>
                        <m:sub>
                          <m:r>
                            <a:rPr lang="en-US" altLang="zh-CN" b="0" i="1" smtClean="0">
                              <a:latin typeface="Cambria Math" panose="02040503050406030204" pitchFamily="18" charset="0"/>
                            </a:rPr>
                            <m:t>𝐼𝑉</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m:t>
                              </m:r>
                              <m:r>
                                <a:rPr lang="en-US" altLang="zh-CN" b="0" i="1" smtClean="0">
                                  <a:latin typeface="Cambria Math" panose="02040503050406030204" pitchFamily="18" charset="0"/>
                                </a:rPr>
                                <m:t>𝑍</m:t>
                              </m:r>
                            </m:e>
                          </m:d>
                        </m:num>
                        <m:den>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𝑍</m:t>
                              </m:r>
                            </m:e>
                          </m:d>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𝐶𝑜𝑣</m:t>
                          </m:r>
                          <m:d>
                            <m:dPr>
                              <m:ctrlPr>
                                <a:rPr lang="en-US" altLang="zh-CN" i="1">
                                  <a:latin typeface="Cambria Math" panose="02040503050406030204" pitchFamily="18" charset="0"/>
                                </a:rPr>
                              </m:ctrlPr>
                            </m:dPr>
                            <m:e>
                              <m:r>
                                <a:rPr lang="en-US" altLang="zh-CN" i="1">
                                  <a:latin typeface="Cambria Math" panose="02040503050406030204" pitchFamily="18" charset="0"/>
                                </a:rPr>
                                <m:t>𝑌</m:t>
                              </m:r>
                              <m:r>
                                <a:rPr lang="en-US" altLang="zh-CN" i="1">
                                  <a:latin typeface="Cambria Math" panose="02040503050406030204" pitchFamily="18" charset="0"/>
                                </a:rPr>
                                <m:t>,</m:t>
                              </m:r>
                              <m:r>
                                <a:rPr lang="en-US" altLang="zh-CN" i="1">
                                  <a:latin typeface="Cambria Math" panose="02040503050406030204" pitchFamily="18" charset="0"/>
                                </a:rPr>
                                <m:t>𝑍</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𝑉𝑎𝑟</m:t>
                          </m:r>
                          <m:r>
                            <a:rPr lang="en-US" altLang="zh-CN" b="0" i="1" smtClean="0">
                              <a:latin typeface="Cambria Math" panose="02040503050406030204" pitchFamily="18" charset="0"/>
                            </a:rPr>
                            <m:t>(</m:t>
                          </m:r>
                          <m:r>
                            <a:rPr lang="en-US" altLang="zh-CN" b="0" i="1" smtClean="0">
                              <a:latin typeface="Cambria Math" panose="02040503050406030204" pitchFamily="18" charset="0"/>
                            </a:rPr>
                            <m:t>𝑍</m:t>
                          </m:r>
                          <m:r>
                            <a:rPr lang="en-US" altLang="zh-CN" b="0" i="1" smtClean="0">
                              <a:latin typeface="Cambria Math" panose="02040503050406030204" pitchFamily="18" charset="0"/>
                            </a:rPr>
                            <m:t>)</m:t>
                          </m:r>
                        </m:num>
                        <m:den>
                          <m:r>
                            <a:rPr lang="en-US" altLang="zh-CN" i="1">
                              <a:latin typeface="Cambria Math" panose="02040503050406030204" pitchFamily="18" charset="0"/>
                            </a:rPr>
                            <m:t>𝐶𝑜𝑣</m:t>
                          </m:r>
                          <m:d>
                            <m:dPr>
                              <m:ctrlPr>
                                <a:rPr lang="en-US" altLang="zh-CN" i="1">
                                  <a:latin typeface="Cambria Math" panose="02040503050406030204" pitchFamily="18" charset="0"/>
                                </a:rPr>
                              </m:ctrlPr>
                            </m:dPr>
                            <m:e>
                              <m:r>
                                <a:rPr lang="en-US" altLang="zh-CN" i="1">
                                  <a:latin typeface="Cambria Math" panose="02040503050406030204" pitchFamily="18" charset="0"/>
                                </a:rPr>
                                <m:t>𝐷</m:t>
                              </m:r>
                              <m:r>
                                <a:rPr lang="en-US" altLang="zh-CN" i="1">
                                  <a:latin typeface="Cambria Math" panose="02040503050406030204" pitchFamily="18" charset="0"/>
                                </a:rPr>
                                <m:t>,</m:t>
                              </m:r>
                              <m:r>
                                <a:rPr lang="en-US" altLang="zh-CN" i="1">
                                  <a:latin typeface="Cambria Math" panose="02040503050406030204" pitchFamily="18" charset="0"/>
                                </a:rPr>
                                <m:t>𝑍</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𝑉𝑎𝑟</m:t>
                          </m:r>
                          <m:r>
                            <a:rPr lang="en-US" altLang="zh-CN" b="0" i="1" smtClean="0">
                              <a:latin typeface="Cambria Math" panose="02040503050406030204" pitchFamily="18" charset="0"/>
                            </a:rPr>
                            <m:t>(</m:t>
                          </m:r>
                          <m:r>
                            <a:rPr lang="en-US" altLang="zh-CN" b="0" i="1" smtClean="0">
                              <a:latin typeface="Cambria Math" panose="02040503050406030204" pitchFamily="18" charset="0"/>
                            </a:rPr>
                            <m:t>𝑍</m:t>
                          </m:r>
                          <m:r>
                            <a:rPr lang="en-US" altLang="zh-CN" b="0" i="1" smtClean="0">
                              <a:latin typeface="Cambria Math" panose="02040503050406030204" pitchFamily="18" charset="0"/>
                            </a:rPr>
                            <m:t>)</m:t>
                          </m:r>
                        </m:den>
                      </m:f>
                    </m:oMath>
                  </m:oMathPara>
                </a14:m>
                <a:endParaRPr lang="en-US" altLang="zh-CN" dirty="0"/>
              </a:p>
              <a:p>
                <a:pPr>
                  <a:lnSpc>
                    <a:spcPct val="100000"/>
                  </a:lnSpc>
                </a:pPr>
                <a:r>
                  <a:rPr lang="zh-CN" altLang="en-US" dirty="0"/>
                  <a:t>相应的工具变量估计量为：</a:t>
                </a:r>
                <a:endParaRPr lang="en-US" altLang="zh-CN" dirty="0"/>
              </a:p>
              <a:p>
                <a:pPr marL="0" indent="0">
                  <a:lnSpc>
                    <a:spcPct val="100000"/>
                  </a:lnSpc>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dirty="0" smtClean="0">
                              <a:latin typeface="Cambria Math" panose="02040503050406030204" pitchFamily="18" charset="0"/>
                            </a:rPr>
                            <m:t>𝐼𝑉</m:t>
                          </m:r>
                        </m:sub>
                      </m:sSub>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𝑛</m:t>
                              </m:r>
                            </m:sup>
                            <m:e>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𝑍</m:t>
                                  </m:r>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𝑍</m:t>
                                      </m:r>
                                    </m:e>
                                  </m:acc>
                                </m:e>
                              </m:d>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𝑌</m:t>
                                  </m:r>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d>
                            </m:e>
                          </m:nary>
                        </m:num>
                        <m:den>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b="0" i="1" dirty="0" smtClean="0">
                                  <a:latin typeface="Cambria Math" panose="02040503050406030204" pitchFamily="18" charset="0"/>
                                </a:rPr>
                                <m:t>=1</m:t>
                              </m:r>
                            </m:sub>
                            <m:sup>
                              <m:r>
                                <a:rPr lang="en-US" altLang="zh-CN" i="1" dirty="0">
                                  <a:latin typeface="Cambria Math" panose="02040503050406030204" pitchFamily="18" charset="0"/>
                                </a:rPr>
                                <m:t>𝑛</m:t>
                              </m:r>
                            </m:sup>
                            <m:e>
                              <m:d>
                                <m:dPr>
                                  <m:ctrlPr>
                                    <a:rPr lang="en-US" altLang="zh-CN" i="1" dirty="0">
                                      <a:latin typeface="Cambria Math" panose="02040503050406030204" pitchFamily="18" charset="0"/>
                                    </a:rPr>
                                  </m:ctrlPr>
                                </m:dPr>
                                <m:e>
                                  <m:r>
                                    <a:rPr lang="en-US" altLang="zh-CN" i="1" dirty="0">
                                      <a:latin typeface="Cambria Math" panose="02040503050406030204" pitchFamily="18" charset="0"/>
                                    </a:rPr>
                                    <m:t>𝑍</m:t>
                                  </m:r>
                                  <m:r>
                                    <a:rPr lang="en-US" altLang="zh-CN" i="1" dirty="0">
                                      <a:latin typeface="Cambria Math" panose="02040503050406030204" pitchFamily="18" charset="0"/>
                                    </a:rPr>
                                    <m:t>−</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𝑍</m:t>
                                      </m:r>
                                    </m:e>
                                  </m:acc>
                                </m:e>
                              </m:d>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𝐷</m:t>
                                  </m:r>
                                  <m:r>
                                    <a:rPr lang="en-US" altLang="zh-CN" i="1" dirty="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e>
                              </m:d>
                            </m:e>
                          </m:nary>
                        </m:den>
                      </m:f>
                      <m:r>
                        <a:rPr lang="en-US" altLang="zh-CN" b="0" i="1" dirty="0"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7BF6832B-612C-8DC5-273D-171E970B4CC7}"/>
                  </a:ext>
                </a:extLst>
              </p:cNvPr>
              <p:cNvSpPr>
                <a:spLocks noGrp="1" noRot="1" noChangeAspect="1" noMove="1" noResize="1" noEditPoints="1" noAdjustHandles="1" noChangeArrowheads="1" noChangeShapeType="1" noTextEdit="1"/>
              </p:cNvSpPr>
              <p:nvPr>
                <p:ph idx="1"/>
              </p:nvPr>
            </p:nvSpPr>
            <p:spPr>
              <a:blipFill>
                <a:blip r:embed="rId2"/>
                <a:stretch>
                  <a:fillRect l="-1391" t="-154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E9075AE-0528-5730-FB3A-5DF1199AC05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BE2F0D1-23E6-38AF-99B3-F9A96A44D271}"/>
              </a:ext>
            </a:extLst>
          </p:cNvPr>
          <p:cNvSpPr>
            <a:spLocks noGrp="1"/>
          </p:cNvSpPr>
          <p:nvPr>
            <p:ph type="sldNum" sz="quarter" idx="12"/>
          </p:nvPr>
        </p:nvSpPr>
        <p:spPr/>
        <p:txBody>
          <a:bodyPr/>
          <a:lstStyle/>
          <a:p>
            <a:fld id="{D41FC515-8169-4A29-AA56-DBE520D5741B}" type="slidenum">
              <a:rPr lang="zh-CN" altLang="en-US" smtClean="0"/>
              <a:t>6</a:t>
            </a:fld>
            <a:endParaRPr lang="zh-CN" altLang="en-US"/>
          </a:p>
        </p:txBody>
      </p:sp>
    </p:spTree>
    <p:extLst>
      <p:ext uri="{BB962C8B-B14F-4D97-AF65-F5344CB8AC3E}">
        <p14:creationId xmlns:p14="http://schemas.microsoft.com/office/powerpoint/2010/main" val="15612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45126F-6587-45A6-C27D-9EA92E805140}"/>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9C4500E-0FB0-1A51-D1A6-E7D709EF4901}"/>
                  </a:ext>
                </a:extLst>
              </p:cNvPr>
              <p:cNvSpPr>
                <a:spLocks noGrp="1"/>
              </p:cNvSpPr>
              <p:nvPr>
                <p:ph idx="1"/>
              </p:nvPr>
            </p:nvSpPr>
            <p:spPr>
              <a:xfrm>
                <a:off x="628650" y="1825624"/>
                <a:ext cx="7886700" cy="4895851"/>
              </a:xfrm>
            </p:spPr>
            <p:txBody>
              <a:bodyPr>
                <a:normAutofit fontScale="70000" lnSpcReduction="20000"/>
              </a:bodyPr>
              <a:lstStyle/>
              <a:p>
                <a:pPr>
                  <a:lnSpc>
                    <a:spcPct val="120000"/>
                  </a:lnSpc>
                </a:pPr>
                <a:r>
                  <a:rPr lang="zh-CN" altLang="en-US" dirty="0"/>
                  <a:t>选择工具变量时，需要思考内生性产生的原因：</a:t>
                </a:r>
                <a:endParaRPr lang="en-US" altLang="zh-CN" dirty="0"/>
              </a:p>
              <a:p>
                <a:pPr lvl="1">
                  <a:lnSpc>
                    <a:spcPct val="120000"/>
                  </a:lnSpc>
                </a:pPr>
                <a:r>
                  <a:rPr lang="zh-CN" altLang="en-US" dirty="0"/>
                  <a:t>遗漏变量（混杂因素）偏差</a:t>
                </a:r>
                <a:r>
                  <a:rPr lang="en-US" altLang="zh-CN" dirty="0"/>
                  <a:t>(Omitted variables bias, OVB)</a:t>
                </a:r>
                <a:r>
                  <a:rPr lang="zh-CN" altLang="en-US" dirty="0"/>
                  <a:t>：遗漏混杂因素是内生性产生的主要原因，考虑“长回归”模型：</a:t>
                </a:r>
                <a:endParaRPr lang="en-US" altLang="zh-CN" dirty="0"/>
              </a:p>
              <a:p>
                <a:pPr marL="457200" lvl="1"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𝛼</m:t>
                      </m:r>
                      <m:r>
                        <a:rPr lang="zh-CN" altLang="en-US" i="1" dirty="0">
                          <a:latin typeface="Cambria Math" panose="02040503050406030204" pitchFamily="18" charset="0"/>
                        </a:rPr>
                        <m:t> + </m:t>
                      </m:r>
                      <m:r>
                        <a:rPr lang="zh-CN" altLang="en-US" i="1" dirty="0">
                          <a:latin typeface="Cambria Math" panose="02040503050406030204" pitchFamily="18" charset="0"/>
                        </a:rPr>
                        <m:t>𝜏</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𝛾</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a:latin typeface="Cambria Math" panose="02040503050406030204" pitchFamily="18" charset="0"/>
                            </a:rPr>
                            <m:t>𝑖</m:t>
                          </m:r>
                        </m:sub>
                      </m:sSub>
                      <m:r>
                        <a:rPr lang="en-US" altLang="zh-CN" i="1" dirty="0" smtClean="0">
                          <a:latin typeface="Cambria Math" panose="02040503050406030204" pitchFamily="18" charset="0"/>
                        </a:rPr>
                        <m:t>,</m:t>
                      </m:r>
                    </m:oMath>
                  </m:oMathPara>
                </a14:m>
                <a:endParaRPr lang="en-US" altLang="zh-CN" dirty="0"/>
              </a:p>
              <a:p>
                <a:pPr lvl="1">
                  <a:lnSpc>
                    <a:spcPct val="120000"/>
                  </a:lnSpc>
                </a:pPr>
                <a:r>
                  <a:rPr lang="zh-CN" altLang="en-US" dirty="0"/>
                  <a:t>其中𝐶𝑜𝑣</a:t>
                </a:r>
                <a:r>
                  <a:rPr lang="en-US" altLang="zh-CN" dirty="0"/>
                  <a:t>(</a:t>
                </a:r>
                <a:r>
                  <a:rPr lang="zh-CN" altLang="en-US" dirty="0"/>
                  <a:t>𝐷</a:t>
                </a:r>
                <a:r>
                  <a:rPr lang="zh-CN" altLang="en-US" sz="400" dirty="0"/>
                  <a:t>𝑖</a:t>
                </a:r>
                <a:r>
                  <a:rPr lang="en-US" altLang="zh-CN" dirty="0"/>
                  <a:t>, </a:t>
                </a:r>
                <a:r>
                  <a:rPr lang="zh-CN" altLang="en-US" dirty="0"/>
                  <a:t>𝑣</a:t>
                </a:r>
                <a:r>
                  <a:rPr lang="zh-CN" altLang="en-US" sz="400" dirty="0"/>
                  <a:t>𝑖</a:t>
                </a:r>
                <a:r>
                  <a:rPr lang="en-US" altLang="zh-CN" dirty="0"/>
                  <a:t>) = </a:t>
                </a:r>
                <a:r>
                  <a:rPr lang="zh-CN" altLang="en-US" dirty="0"/>
                  <a:t>𝐶𝑜𝑣</a:t>
                </a:r>
                <a:r>
                  <a:rPr lang="en-US" altLang="zh-CN" dirty="0"/>
                  <a:t>(</a:t>
                </a:r>
                <a:r>
                  <a:rPr lang="zh-CN" altLang="en-US" dirty="0"/>
                  <a:t>𝑋</a:t>
                </a:r>
                <a:r>
                  <a:rPr lang="zh-CN" altLang="en-US" sz="400" dirty="0"/>
                  <a:t>𝑖</a:t>
                </a:r>
                <a:r>
                  <a:rPr lang="en-US" altLang="zh-CN" dirty="0"/>
                  <a:t>, </a:t>
                </a:r>
                <a:r>
                  <a:rPr lang="zh-CN" altLang="en-US" dirty="0"/>
                  <a:t>𝑣</a:t>
                </a:r>
                <a:r>
                  <a:rPr lang="zh-CN" altLang="en-US" sz="400" dirty="0"/>
                  <a:t>𝑖</a:t>
                </a:r>
                <a:r>
                  <a:rPr lang="en-US" altLang="zh-CN" dirty="0"/>
                  <a:t>) = 0</a:t>
                </a:r>
                <a:r>
                  <a:rPr lang="zh-CN" altLang="en-US" dirty="0"/>
                  <a:t>。𝑋</a:t>
                </a:r>
                <a:r>
                  <a:rPr lang="zh-CN" altLang="en-US" sz="400" dirty="0"/>
                  <a:t>𝑖 </a:t>
                </a:r>
                <a:r>
                  <a:rPr lang="zh-CN" altLang="en-US" dirty="0"/>
                  <a:t>是一些混杂因素，并且不可观测，遗漏该混杂因素会产生</a:t>
                </a:r>
                <a:r>
                  <a:rPr lang="en-US" altLang="zh-CN" dirty="0"/>
                  <a:t>OVB</a:t>
                </a:r>
                <a:r>
                  <a:rPr lang="zh-CN" altLang="en-US" dirty="0"/>
                  <a:t>：</a:t>
                </a:r>
                <a:endParaRPr lang="en-US" altLang="zh-CN" dirty="0"/>
              </a:p>
              <a:p>
                <a:pPr marL="457200" lvl="1" indent="0">
                  <a:lnSpc>
                    <a:spcPct val="120000"/>
                  </a:lnSpc>
                  <a:buNone/>
                </a:pPr>
                <a14:m>
                  <m:oMathPara xmlns:m="http://schemas.openxmlformats.org/officeDocument/2006/math">
                    <m:o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e>
                          </m:d>
                        </m:num>
                        <m:den>
                          <m:r>
                            <a:rPr lang="en-US" altLang="zh-CN" b="0" i="1" smtClean="0">
                              <a:latin typeface="Cambria Math" panose="02040503050406030204" pitchFamily="18" charset="0"/>
                            </a:rPr>
                            <m:t>𝑉𝑎𝑟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e>
                          </m:d>
                        </m:den>
                      </m:f>
                      <m:r>
                        <a:rPr lang="en-US" altLang="zh-CN" i="1">
                          <a:latin typeface="Cambria Math" panose="02040503050406030204" pitchFamily="18" charset="0"/>
                        </a:rPr>
                        <m:t>=</m:t>
                      </m:r>
                      <m:r>
                        <a:rPr lang="en-US" altLang="zh-CN" i="1">
                          <a:latin typeface="Cambria Math" panose="02040503050406030204" pitchFamily="18" charset="0"/>
                        </a:rPr>
                        <m:t>𝜏</m:t>
                      </m:r>
                      <m:r>
                        <a:rPr lang="en-US" altLang="zh-CN" i="1">
                          <a:latin typeface="Cambria Math" panose="02040503050406030204" pitchFamily="18" charset="0"/>
                        </a:rPr>
                        <m:t>+</m:t>
                      </m:r>
                      <m:r>
                        <a:rPr lang="en-US" altLang="zh-CN" i="1">
                          <a:latin typeface="Cambria Math" panose="02040503050406030204" pitchFamily="18" charset="0"/>
                        </a:rPr>
                        <m:t>𝛾</m:t>
                      </m:r>
                      <m:limLow>
                        <m:limLowPr>
                          <m:ctrlPr>
                            <a:rPr lang="en-US" altLang="zh-CN" i="1">
                              <a:latin typeface="Cambria Math" panose="02040503050406030204" pitchFamily="18" charset="0"/>
                            </a:rPr>
                          </m:ctrlPr>
                        </m:limLowPr>
                        <m:e>
                          <m:groupChr>
                            <m:groupChrPr>
                              <m:chr m:val="⏟"/>
                              <m:pos m:val="bot"/>
                              <m:vertJc m:val="top"/>
                              <m:ctrlPr>
                                <a:rPr lang="en-US" altLang="zh-CN" i="1">
                                  <a:latin typeface="Cambria Math" panose="02040503050406030204" pitchFamily="18" charset="0"/>
                                </a:rPr>
                              </m:ctrlPr>
                            </m:groupChrPr>
                            <m:e>
                              <m:f>
                                <m:fPr>
                                  <m:ctrlPr>
                                    <a:rPr lang="en-US" altLang="zh-CN" i="1">
                                      <a:latin typeface="Cambria Math" panose="02040503050406030204" pitchFamily="18" charset="0"/>
                                    </a:rPr>
                                  </m:ctrlPr>
                                </m:fPr>
                                <m:num>
                                  <m:r>
                                    <a:rPr lang="en-US" altLang="zh-CN" i="1">
                                      <a:latin typeface="Cambria Math" panose="02040503050406030204" pitchFamily="18" charset="0"/>
                                    </a:rPr>
                                    <m:t>𝐶𝑜𝑣</m:t>
                                  </m:r>
                                  <m:d>
                                    <m:dPr>
                                      <m:ctrlPr>
                                        <a:rPr lang="en-US" altLang="zh-CN" i="1">
                                          <a:latin typeface="Cambria Math" panose="02040503050406030204" pitchFamily="18" charset="0"/>
                                        </a:rPr>
                                      </m:ctrlPr>
                                    </m:dPr>
                                    <m:e>
                                      <m:r>
                                        <a:rPr lang="en-US" altLang="zh-CN" i="1">
                                          <a:latin typeface="Cambria Math" panose="02040503050406030204" pitchFamily="18" charset="0"/>
                                        </a:rPr>
                                        <m:t>𝐷</m:t>
                                      </m:r>
                                      <m:r>
                                        <a:rPr lang="en-US" altLang="zh-CN" i="1">
                                          <a:latin typeface="Cambria Math" panose="02040503050406030204" pitchFamily="18" charset="0"/>
                                        </a:rPr>
                                        <m:t>,</m:t>
                                      </m:r>
                                      <m:r>
                                        <a:rPr lang="en-US" altLang="zh-CN" i="1">
                                          <a:latin typeface="Cambria Math" panose="02040503050406030204" pitchFamily="18" charset="0"/>
                                        </a:rPr>
                                        <m:t>𝑋</m:t>
                                      </m:r>
                                    </m:e>
                                  </m:d>
                                </m:num>
                                <m:den>
                                  <m:r>
                                    <a:rPr lang="en-US" altLang="zh-CN" i="1">
                                      <a:latin typeface="Cambria Math" panose="02040503050406030204" pitchFamily="18" charset="0"/>
                                    </a:rPr>
                                    <m:t>𝑉𝑎𝑟</m:t>
                                  </m:r>
                                  <m:d>
                                    <m:dPr>
                                      <m:ctrlPr>
                                        <a:rPr lang="en-US" altLang="zh-CN" i="1">
                                          <a:latin typeface="Cambria Math" panose="02040503050406030204" pitchFamily="18" charset="0"/>
                                        </a:rPr>
                                      </m:ctrlPr>
                                    </m:dPr>
                                    <m:e>
                                      <m:r>
                                        <a:rPr lang="en-US" altLang="zh-CN" i="1">
                                          <a:latin typeface="Cambria Math" panose="02040503050406030204" pitchFamily="18" charset="0"/>
                                        </a:rPr>
                                        <m:t>𝐷</m:t>
                                      </m:r>
                                    </m:e>
                                  </m:d>
                                </m:den>
                              </m:f>
                            </m:e>
                          </m:groupChr>
                        </m:e>
                        <m:lim>
                          <m:r>
                            <a:rPr lang="en-US" altLang="zh-CN" b="0" i="1" smtClean="0">
                              <a:latin typeface="Cambria Math" panose="02040503050406030204" pitchFamily="18" charset="0"/>
                            </a:rPr>
                            <m:t>𝛿</m:t>
                          </m:r>
                        </m:lim>
                      </m:limLow>
                      <m:r>
                        <a:rPr lang="en-US" altLang="zh-CN" b="0" i="1" smtClean="0">
                          <a:latin typeface="Cambria Math" panose="02040503050406030204" pitchFamily="18" charset="0"/>
                        </a:rPr>
                        <m:t>.</m:t>
                      </m:r>
                    </m:oMath>
                  </m:oMathPara>
                </a14:m>
                <a:endParaRPr lang="en-US" altLang="zh-CN" dirty="0"/>
              </a:p>
              <a:p>
                <a:pPr lvl="1">
                  <a:lnSpc>
                    <a:spcPct val="120000"/>
                  </a:lnSpc>
                </a:pPr>
                <a:r>
                  <a:rPr lang="zh-CN" altLang="en-US" dirty="0"/>
                  <a:t>在</a:t>
                </a:r>
                <a:r>
                  <a:rPr lang="en-US" altLang="zh-CN" dirty="0"/>
                  <a:t>OVB </a:t>
                </a:r>
                <a:r>
                  <a:rPr lang="zh-CN" altLang="en-US" dirty="0"/>
                  <a:t>情况下，一个有效的工具应该与</a:t>
                </a:r>
                <a:r>
                  <a:rPr lang="en-US" altLang="zh-CN" dirty="0"/>
                  <a:t>OV </a:t>
                </a:r>
                <a:r>
                  <a:rPr lang="zh-CN" altLang="en-US" dirty="0"/>
                  <a:t>无关，但与干预𝐷𝑖 相关的变量，即</a:t>
                </a:r>
                <a14:m>
                  <m:oMath xmlns:m="http://schemas.openxmlformats.org/officeDocument/2006/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oMath>
                </a14:m>
                <a:r>
                  <a:rPr lang="zh-CN" altLang="en-US" dirty="0"/>
                  <a:t>，</a:t>
                </a:r>
                <a14:m>
                  <m:oMath xmlns:m="http://schemas.openxmlformats.org/officeDocument/2006/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oMath>
                </a14:m>
                <a:r>
                  <a:rPr lang="zh-CN" altLang="en-US" dirty="0"/>
                  <a:t>，且</a:t>
                </a:r>
                <a14:m>
                  <m:oMath xmlns:m="http://schemas.openxmlformats.org/officeDocument/2006/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oMath>
                </a14:m>
                <a:r>
                  <a:rPr lang="zh-CN" altLang="en-US" dirty="0"/>
                  <a:t>，则</a:t>
                </a:r>
                <a:endParaRPr lang="en-US" altLang="zh-CN" dirty="0"/>
              </a:p>
              <a:p>
                <a:pPr marL="457200" lvl="1" indent="0">
                  <a:lnSpc>
                    <a:spcPct val="120000"/>
                  </a:lnSpc>
                  <a:buNone/>
                </a:pPr>
                <a14:m>
                  <m:oMathPara xmlns:m="http://schemas.openxmlformats.org/officeDocument/2006/math">
                    <m:oMath>
                      <m:r>
                        <a:rPr lang="zh-CN" altLang="en-US" i="1" dirty="0" smtClean="0">
                          <a:latin typeface="Cambria Math" panose="02040503050406030204" pitchFamily="18" charset="0"/>
                        </a:rPr>
                        <m:t>𝜏</m:t>
                      </m:r>
                      <m:r>
                        <a:rPr lang="zh-CN" altLang="en-US" i="1" dirty="0" smtClean="0">
                          <a:latin typeface="Cambria Math" panose="02040503050406030204" pitchFamily="18" charset="0"/>
                        </a:rPr>
                        <m:t> = </m:t>
                      </m:r>
                      <m:r>
                        <a:rPr lang="zh-CN" altLang="en-US" i="1" dirty="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r>
                        <a:rPr lang="zh-CN" altLang="en-US" i="1" dirty="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smtClean="0">
                          <a:latin typeface="Cambria Math" panose="02040503050406030204" pitchFamily="18" charset="0"/>
                        </a:rPr>
                        <m:t>).</m:t>
                      </m:r>
                    </m:oMath>
                  </m:oMathPara>
                </a14:m>
                <a:endParaRPr lang="en-US" altLang="zh-CN" dirty="0"/>
              </a:p>
              <a:p>
                <a:pPr lvl="1">
                  <a:lnSpc>
                    <a:spcPct val="120000"/>
                  </a:lnSpc>
                </a:pPr>
                <a:r>
                  <a:rPr lang="zh-CN" altLang="en-US" dirty="0"/>
                  <a:t>上文教育对收入影响中，遗漏能力变量。因而要寻找一个与能力不相关，但与教育</a:t>
                </a:r>
              </a:p>
              <a:p>
                <a:pPr lvl="1">
                  <a:lnSpc>
                    <a:spcPct val="120000"/>
                  </a:lnSpc>
                </a:pPr>
                <a:r>
                  <a:rPr lang="zh-CN" altLang="en-US" dirty="0"/>
                  <a:t>相关的变量作为工具。</a:t>
                </a:r>
              </a:p>
            </p:txBody>
          </p:sp>
        </mc:Choice>
        <mc:Fallback xmlns="">
          <p:sp>
            <p:nvSpPr>
              <p:cNvPr id="3" name="内容占位符 2">
                <a:extLst>
                  <a:ext uri="{FF2B5EF4-FFF2-40B4-BE49-F238E27FC236}">
                    <a16:creationId xmlns:a16="http://schemas.microsoft.com/office/drawing/2014/main" id="{D9C4500E-0FB0-1A51-D1A6-E7D709EF4901}"/>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696" t="-622" r="-27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7E48F01-B3A7-D528-E9DA-65DB439D40B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E823A02-2C00-24F6-1172-A1AC9890953A}"/>
              </a:ext>
            </a:extLst>
          </p:cNvPr>
          <p:cNvSpPr>
            <a:spLocks noGrp="1"/>
          </p:cNvSpPr>
          <p:nvPr>
            <p:ph type="sldNum" sz="quarter" idx="12"/>
          </p:nvPr>
        </p:nvSpPr>
        <p:spPr/>
        <p:txBody>
          <a:bodyPr/>
          <a:lstStyle/>
          <a:p>
            <a:fld id="{D41FC515-8169-4A29-AA56-DBE520D5741B}" type="slidenum">
              <a:rPr lang="zh-CN" altLang="en-US" smtClean="0"/>
              <a:t>7</a:t>
            </a:fld>
            <a:endParaRPr lang="zh-CN" altLang="en-US"/>
          </a:p>
        </p:txBody>
      </p:sp>
    </p:spTree>
    <p:extLst>
      <p:ext uri="{BB962C8B-B14F-4D97-AF65-F5344CB8AC3E}">
        <p14:creationId xmlns:p14="http://schemas.microsoft.com/office/powerpoint/2010/main" val="3630705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9CDEF-7328-A459-C234-D43EBB365E45}"/>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36F4FFE-8BED-7783-EB5D-2E268FC44CEB}"/>
                  </a:ext>
                </a:extLst>
              </p:cNvPr>
              <p:cNvSpPr>
                <a:spLocks noGrp="1"/>
              </p:cNvSpPr>
              <p:nvPr>
                <p:ph idx="1"/>
              </p:nvPr>
            </p:nvSpPr>
            <p:spPr>
              <a:xfrm>
                <a:off x="628650" y="1825624"/>
                <a:ext cx="7886700" cy="4667249"/>
              </a:xfrm>
            </p:spPr>
            <p:txBody>
              <a:bodyPr>
                <a:normAutofit fontScale="55000" lnSpcReduction="20000"/>
              </a:bodyPr>
              <a:lstStyle/>
              <a:p>
                <a:pPr>
                  <a:lnSpc>
                    <a:spcPct val="120000"/>
                  </a:lnSpc>
                </a:pPr>
                <a:r>
                  <a:rPr lang="zh-CN" altLang="en-US" dirty="0"/>
                  <a:t>测量误差：假设我们关心的关系为</a:t>
                </a:r>
                <a:endParaRPr lang="en-US" altLang="zh-CN" dirty="0"/>
              </a:p>
              <a:p>
                <a:pPr marL="0"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𝛼</m:t>
                      </m:r>
                      <m:r>
                        <a:rPr lang="zh-CN" altLang="en-US" i="1" dirty="0">
                          <a:latin typeface="Cambria Math" panose="02040503050406030204" pitchFamily="18" charset="0"/>
                        </a:rPr>
                        <m:t> + </m:t>
                      </m:r>
                      <m:r>
                        <a:rPr lang="zh-CN" altLang="en-US" i="1" dirty="0">
                          <a:latin typeface="Cambria Math" panose="02040503050406030204" pitchFamily="18" charset="0"/>
                        </a:rPr>
                        <m:t>𝜏</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smtClean="0">
                              <a:latin typeface="Cambria Math" panose="02040503050406030204" pitchFamily="18" charset="0"/>
                            </a:rPr>
                            <m:t>𝑖</m:t>
                          </m:r>
                        </m:sub>
                        <m:sup>
                          <m:r>
                            <a:rPr lang="zh-CN" altLang="en-US" i="1" dirty="0" smtClean="0">
                              <a:latin typeface="Cambria Math" panose="02040503050406030204" pitchFamily="18" charset="0"/>
                            </a:rPr>
                            <m:t>∗</m:t>
                          </m:r>
                        </m:sup>
                      </m:sSubSup>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smtClean="0">
                              <a:latin typeface="Cambria Math" panose="02040503050406030204" pitchFamily="18" charset="0"/>
                            </a:rPr>
                            <m:t>𝑖</m:t>
                          </m:r>
                        </m:sub>
                      </m:sSub>
                    </m:oMath>
                  </m:oMathPara>
                </a14:m>
                <a:endParaRPr lang="en-US" altLang="zh-CN" dirty="0"/>
              </a:p>
              <a:p>
                <a:pPr>
                  <a:lnSpc>
                    <a:spcPct val="120000"/>
                  </a:lnSpc>
                </a:pPr>
                <a:r>
                  <a:rPr lang="zh-CN" altLang="en-US" dirty="0"/>
                  <a:t>假设不存在遗漏混杂因素，即</a:t>
                </a:r>
                <a14:m>
                  <m:oMath xmlns:m="http://schemas.openxmlformats.org/officeDocument/2006/math">
                    <m:r>
                      <a:rPr lang="en-US" altLang="zh-CN" b="0" i="0" dirty="0" smtClean="0">
                        <a:latin typeface="Cambria Math" panose="02040503050406030204" pitchFamily="18" charset="0"/>
                      </a:rPr>
                      <m:t> </m:t>
                    </m:r>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smtClean="0">
                            <a:latin typeface="Cambria Math" panose="02040503050406030204" pitchFamily="18" charset="0"/>
                          </a:rPr>
                          <m:t>𝑖</m:t>
                        </m:r>
                      </m:sub>
                      <m:sup>
                        <m:r>
                          <a:rPr lang="zh-CN" altLang="en-US" i="1" dirty="0" smtClean="0">
                            <a:latin typeface="Cambria Math" panose="02040503050406030204" pitchFamily="18" charset="0"/>
                          </a:rPr>
                          <m:t>∗</m:t>
                        </m:r>
                      </m:sup>
                    </m:sSubSup>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oMath>
                </a14:m>
                <a:r>
                  <a:rPr lang="zh-CN" altLang="en-US" dirty="0"/>
                  <a:t>。</a:t>
                </a:r>
                <a:endParaRPr lang="en-US" altLang="zh-CN" dirty="0"/>
              </a:p>
              <a:p>
                <a:pPr>
                  <a:lnSpc>
                    <a:spcPct val="120000"/>
                  </a:lnSpc>
                </a:pPr>
                <a:r>
                  <a:rPr lang="zh-CN" altLang="en-US" dirty="0"/>
                  <a:t>但是我们只能得到</a:t>
                </a:r>
                <a14:m>
                  <m:oMath xmlns:m="http://schemas.openxmlformats.org/officeDocument/2006/math">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oMath>
                </a14:m>
                <a:r>
                  <a:rPr lang="zh-CN" altLang="en-US" dirty="0"/>
                  <a:t>的一个不精确度量</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r>
                      <a:rPr lang="zh-CN" altLang="en-US" i="1" dirty="0">
                        <a:latin typeface="Cambria Math" panose="02040503050406030204" pitchFamily="18" charset="0"/>
                      </a:rPr>
                      <m:t> </m:t>
                    </m:r>
                    <m:r>
                      <a:rPr lang="en-US" altLang="zh-CN" i="1" dirty="0" smtClean="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𝑖</m:t>
                        </m:r>
                      </m:sub>
                    </m:sSub>
                  </m:oMath>
                </a14:m>
                <a:r>
                  <a:rPr lang="zh-CN" altLang="en-US" dirty="0"/>
                  <a:t>，</a:t>
                </a:r>
                <a14:m>
                  <m:oMath xmlns:m="http://schemas.openxmlformats.org/officeDocument/2006/math">
                    <m:r>
                      <a:rPr lang="zh-CN" altLang="en-US" i="1" dirty="0" smtClean="0">
                        <a:latin typeface="Cambria Math" panose="02040503050406030204" pitchFamily="18" charset="0"/>
                      </a:rPr>
                      <m:t>𝜀</m:t>
                    </m:r>
                    <m:r>
                      <a:rPr lang="en-US" altLang="zh-CN" b="0" i="1" dirty="0" smtClean="0">
                        <a:latin typeface="Cambria Math" panose="02040503050406030204" pitchFamily="18" charset="0"/>
                      </a:rPr>
                      <m:t>_</m:t>
                    </m:r>
                    <m:r>
                      <a:rPr lang="zh-CN" altLang="en-US" i="1" dirty="0" smtClean="0">
                        <a:latin typeface="Cambria Math" panose="02040503050406030204" pitchFamily="18" charset="0"/>
                      </a:rPr>
                      <m:t>𝑖</m:t>
                    </m:r>
                    <m:r>
                      <a:rPr lang="en-US" altLang="zh-CN" b="0" i="1" dirty="0" smtClean="0">
                        <a:latin typeface="Cambria Math" panose="02040503050406030204" pitchFamily="18" charset="0"/>
                      </a:rPr>
                      <m:t> </m:t>
                    </m:r>
                  </m:oMath>
                </a14:m>
                <a:r>
                  <a:rPr lang="zh-CN" altLang="en-US" dirty="0"/>
                  <a:t> 是测量误差，并假设这一测量误差是随机的，</a:t>
                </a:r>
                <a14:m>
                  <m:oMath xmlns:m="http://schemas.openxmlformats.org/officeDocument/2006/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r>
                      <a:rPr lang="zh-CN" altLang="en-US" i="1" dirty="0">
                        <a:latin typeface="Cambria Math" panose="02040503050406030204" pitchFamily="18" charset="0"/>
                      </a:rPr>
                      <m:t> </m:t>
                    </m:r>
                    <m:r>
                      <a:rPr lang="en-US" altLang="zh-CN" i="1" dirty="0" smtClean="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r>
                      <a:rPr lang="zh-CN" altLang="en-US" i="1" dirty="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oMath>
                </a14:m>
                <a:r>
                  <a:rPr lang="zh-CN" altLang="en-US" dirty="0"/>
                  <a:t>。我们只能用观测数据</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oMath>
                </a14:m>
                <a:r>
                  <a:rPr lang="zh-CN" altLang="en-US" dirty="0"/>
                  <a:t> 对</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a:latin typeface="Cambria Math" panose="02040503050406030204" pitchFamily="18" charset="0"/>
                          </a:rPr>
                          <m:t>𝑖</m:t>
                        </m:r>
                      </m:sub>
                    </m:sSub>
                  </m:oMath>
                </a14:m>
                <a:r>
                  <a:rPr lang="zh-CN" altLang="en-US" dirty="0"/>
                  <a:t> 进行回归，</a:t>
                </a:r>
                <a:endParaRPr lang="en-US" altLang="zh-CN" dirty="0"/>
              </a:p>
              <a:p>
                <a:pPr marL="0"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𝛼</m:t>
                      </m:r>
                      <m:r>
                        <a:rPr lang="zh-CN" altLang="en-US" i="1" dirty="0">
                          <a:latin typeface="Cambria Math" panose="02040503050406030204" pitchFamily="18" charset="0"/>
                        </a:rPr>
                        <m:t> + </m:t>
                      </m:r>
                      <m:r>
                        <a:rPr lang="zh-CN" altLang="en-US" i="1" dirty="0">
                          <a:latin typeface="Cambria Math" panose="02040503050406030204" pitchFamily="18" charset="0"/>
                        </a:rPr>
                        <m:t>𝜏</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𝛼</m:t>
                      </m:r>
                      <m:r>
                        <a:rPr lang="zh-CN" altLang="en-US" i="1" dirty="0">
                          <a:latin typeface="Cambria Math" panose="02040503050406030204" pitchFamily="18" charset="0"/>
                        </a:rPr>
                        <m:t> + </m:t>
                      </m:r>
                      <m:r>
                        <a:rPr lang="zh-CN" altLang="en-US" i="1" dirty="0">
                          <a:latin typeface="Cambria Math" panose="02040503050406030204" pitchFamily="18" charset="0"/>
                        </a:rPr>
                        <m:t>𝜏</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 </m:t>
                      </m:r>
                      <m:r>
                        <a:rPr lang="zh-CN" altLang="en-US" i="1" dirty="0">
                          <a:latin typeface="Cambria Math" panose="02040503050406030204" pitchFamily="18" charset="0"/>
                        </a:rPr>
                        <m:t>𝜏</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𝑖</m:t>
                          </m:r>
                        </m:sub>
                      </m:sSub>
                      <m:r>
                        <a:rPr lang="en-US" altLang="zh-CN" i="1" dirty="0" smtClean="0">
                          <a:latin typeface="Cambria Math" panose="02040503050406030204" pitchFamily="18" charset="0"/>
                        </a:rPr>
                        <m:t>,</m:t>
                      </m:r>
                    </m:oMath>
                  </m:oMathPara>
                </a14:m>
                <a:endParaRPr lang="en-US" altLang="zh-CN" dirty="0"/>
              </a:p>
              <a:p>
                <a:pPr>
                  <a:lnSpc>
                    <a:spcPct val="120000"/>
                  </a:lnSpc>
                </a:pPr>
                <a:r>
                  <a:rPr lang="zh-CN" altLang="en-US" dirty="0"/>
                  <a:t>得到的参数估计：</a:t>
                </a:r>
                <a:endParaRPr lang="en-US" altLang="zh-CN" dirty="0"/>
              </a:p>
              <a:p>
                <a:pPr marL="0" indent="0">
                  <a:lnSpc>
                    <a:spcPct val="120000"/>
                  </a:lnSpc>
                  <a:buNone/>
                </a:pPr>
                <a14:m>
                  <m:oMathPara xmlns:m="http://schemas.openxmlformats.org/officeDocument/2006/math">
                    <m:o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e>
                          </m:d>
                        </m:num>
                        <m:den>
                          <m:r>
                            <a:rPr lang="en-US" altLang="zh-CN" b="0" i="1" smtClean="0">
                              <a:latin typeface="Cambria Math" panose="02040503050406030204" pitchFamily="18" charset="0"/>
                            </a:rPr>
                            <m:t>𝑉𝑎𝑟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𝐶𝑜𝑣</m:t>
                          </m:r>
                          <m:d>
                            <m:dPr>
                              <m:ctrlPr>
                                <a:rPr lang="zh-CN" altLang="en-US" i="1" dirty="0">
                                  <a:latin typeface="Cambria Math" panose="02040503050406030204" pitchFamily="18" charset="0"/>
                                </a:rPr>
                              </m:ctrlPr>
                            </m:dPr>
                            <m:e>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𝜀</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𝛼</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𝜏</m:t>
                              </m:r>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m:t>
                                  </m:r>
                                </m:sup>
                              </m:sSubSup>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𝑖</m:t>
                                  </m:r>
                                </m:sub>
                              </m:sSub>
                            </m:e>
                          </m:d>
                        </m:num>
                        <m:den>
                          <m:r>
                            <a:rPr lang="en-US" altLang="zh-CN" b="0" i="1" dirty="0" smtClean="0">
                              <a:latin typeface="Cambria Math" panose="02040503050406030204" pitchFamily="18" charset="0"/>
                            </a:rPr>
                            <m:t>𝑉𝑎𝑟</m:t>
                          </m:r>
                          <m:d>
                            <m:dPr>
                              <m:ctrlPr>
                                <a:rPr lang="zh-CN" altLang="en-US" i="1" dirty="0">
                                  <a:latin typeface="Cambria Math" panose="02040503050406030204" pitchFamily="18" charset="0"/>
                                </a:rPr>
                              </m:ctrlPr>
                            </m:dPr>
                            <m:e>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𝜀</m:t>
                                  </m:r>
                                </m:e>
                                <m:sub>
                                  <m:r>
                                    <a:rPr lang="en-US" altLang="zh-CN" b="0" i="1" dirty="0" smtClean="0">
                                      <a:latin typeface="Cambria Math" panose="02040503050406030204" pitchFamily="18" charset="0"/>
                                    </a:rPr>
                                    <m:t>𝑖</m:t>
                                  </m:r>
                                </m:sub>
                              </m:sSub>
                            </m:e>
                          </m:d>
                        </m:den>
                      </m:f>
                      <m:r>
                        <a:rPr lang="en-US" altLang="zh-CN" b="0" i="1" dirty="0" smtClean="0">
                          <a:latin typeface="Cambria Math" panose="02040503050406030204" pitchFamily="18" charset="0"/>
                        </a:rPr>
                        <m:t>=</m:t>
                      </m:r>
                      <m:limLow>
                        <m:limLowPr>
                          <m:ctrlPr>
                            <a:rPr lang="en-US" altLang="zh-CN" i="1" dirty="0">
                              <a:latin typeface="Cambria Math" panose="02040503050406030204" pitchFamily="18" charset="0"/>
                            </a:rPr>
                          </m:ctrlPr>
                        </m:limLowPr>
                        <m:e>
                          <m:r>
                            <a:rPr lang="en-US" altLang="zh-CN" i="1" dirty="0">
                              <a:latin typeface="Cambria Math" panose="02040503050406030204" pitchFamily="18" charset="0"/>
                            </a:rPr>
                            <m:t>𝜏</m:t>
                          </m:r>
                          <m:groupChr>
                            <m:groupChrPr>
                              <m:chr m:val="⏟"/>
                              <m:pos m:val="bot"/>
                              <m:vertJc m:val="top"/>
                              <m:ctrlPr>
                                <a:rPr lang="en-US" altLang="zh-CN" i="1" dirty="0">
                                  <a:latin typeface="Cambria Math" panose="02040503050406030204" pitchFamily="18" charset="0"/>
                                </a:rPr>
                              </m:ctrlPr>
                            </m:groupChr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𝑉𝑎𝑟</m:t>
                                  </m:r>
                                  <m:d>
                                    <m:dPr>
                                      <m:ctrlPr>
                                        <a:rPr lang="zh-CN" altLang="en-US" i="1" dirty="0">
                                          <a:latin typeface="Cambria Math" panose="02040503050406030204" pitchFamily="18" charset="0"/>
                                        </a:rPr>
                                      </m:ctrlPr>
                                    </m:dPr>
                                    <m:e>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e>
                                  </m:d>
                                </m:num>
                                <m:den>
                                  <m:r>
                                    <a:rPr lang="en-US" altLang="zh-CN" i="1" dirty="0">
                                      <a:latin typeface="Cambria Math" panose="02040503050406030204" pitchFamily="18" charset="0"/>
                                    </a:rPr>
                                    <m:t>𝑉𝑎𝑟</m:t>
                                  </m:r>
                                  <m:d>
                                    <m:dPr>
                                      <m:ctrlPr>
                                        <a:rPr lang="zh-CN" altLang="en-US" i="1" dirty="0">
                                          <a:latin typeface="Cambria Math" panose="02040503050406030204" pitchFamily="18" charset="0"/>
                                        </a:rPr>
                                      </m:ctrlPr>
                                    </m:dPr>
                                    <m:e>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e>
                                  </m:d>
                                  <m:r>
                                    <a:rPr lang="en-US" altLang="zh-CN" i="1" dirty="0">
                                      <a:latin typeface="Cambria Math" panose="02040503050406030204" pitchFamily="18" charset="0"/>
                                    </a:rPr>
                                    <m:t>+</m:t>
                                  </m:r>
                                  <m:r>
                                    <a:rPr lang="en-US" altLang="zh-CN" i="1" dirty="0">
                                      <a:latin typeface="Cambria Math" panose="02040503050406030204" pitchFamily="18" charset="0"/>
                                    </a:rPr>
                                    <m:t>𝑉𝑎𝑟</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𝜀</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den>
                              </m:f>
                            </m:e>
                          </m:groupChr>
                        </m:e>
                        <m:lim>
                          <m:r>
                            <a:rPr lang="en-US" altLang="zh-CN" b="0" i="1" dirty="0" smtClean="0">
                              <a:latin typeface="Cambria Math" panose="02040503050406030204" pitchFamily="18" charset="0"/>
                            </a:rPr>
                            <m:t>𝜆</m:t>
                          </m:r>
                        </m:lim>
                      </m:limLow>
                      <m:r>
                        <a:rPr lang="en-US" altLang="zh-CN" b="0" i="1" dirty="0" smtClean="0">
                          <a:latin typeface="Cambria Math" panose="02040503050406030204" pitchFamily="18" charset="0"/>
                        </a:rPr>
                        <m:t>.</m:t>
                      </m:r>
                    </m:oMath>
                  </m:oMathPara>
                </a14:m>
                <a:endParaRPr lang="en-US" altLang="zh-CN" dirty="0"/>
              </a:p>
              <a:p>
                <a:pPr marL="0" indent="0">
                  <a:lnSpc>
                    <a:spcPct val="120000"/>
                  </a:lnSpc>
                  <a:buNone/>
                </a:pPr>
                <a:r>
                  <a:rPr lang="zh-CN" altLang="en-US" dirty="0"/>
                  <a:t> 产生缩小偏差</a:t>
                </a:r>
                <a:r>
                  <a:rPr lang="en-US" altLang="zh-CN" dirty="0"/>
                  <a:t> (attenuation bias)</a:t>
                </a:r>
                <a:r>
                  <a:rPr lang="zh-CN" altLang="en-US" dirty="0"/>
                  <a:t>。</a:t>
                </a:r>
                <a:endParaRPr lang="en-US" altLang="zh-CN" dirty="0"/>
              </a:p>
              <a:p>
                <a:pPr>
                  <a:lnSpc>
                    <a:spcPct val="120000"/>
                  </a:lnSpc>
                </a:pPr>
                <a:r>
                  <a:rPr lang="zh-CN" altLang="en-US" dirty="0"/>
                  <a:t>一个有效的工具是另一个具有测量误差的度量</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𝑍</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r>
                      <a:rPr lang="zh-CN" altLang="en-US" i="1" dirty="0">
                        <a:latin typeface="Cambria Math" panose="02040503050406030204" pitchFamily="18" charset="0"/>
                      </a:rPr>
                      <m:t> </m:t>
                    </m:r>
                    <m:r>
                      <a:rPr lang="en-US" altLang="zh-CN" i="1" dirty="0" smtClean="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𝜉</m:t>
                        </m:r>
                      </m:e>
                      <m:sub>
                        <m:r>
                          <a:rPr lang="zh-CN" altLang="en-US" i="1" dirty="0">
                            <a:latin typeface="Cambria Math" panose="02040503050406030204" pitchFamily="18" charset="0"/>
                          </a:rPr>
                          <m:t>𝑖</m:t>
                        </m:r>
                      </m:sub>
                    </m:sSub>
                  </m:oMath>
                </a14:m>
                <a:r>
                  <a:rPr lang="zh-CN" altLang="en-US" dirty="0"/>
                  <a:t>，满足 </a:t>
                </a:r>
                <a14:m>
                  <m:oMath xmlns:m="http://schemas.openxmlformats.org/officeDocument/2006/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r>
                      <a:rPr lang="en-US" altLang="zh-CN" i="1" dirty="0" smtClean="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𝜉</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𝜉</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r>
                      <a:rPr lang="zh-CN" altLang="en-US" i="1" dirty="0">
                        <a:latin typeface="Cambria Math" panose="02040503050406030204" pitchFamily="18" charset="0"/>
                      </a:rPr>
                      <m:t>，</m:t>
                    </m:r>
                  </m:oMath>
                </a14:m>
                <a:r>
                  <a:rPr lang="zh-CN" altLang="en-US" dirty="0"/>
                  <a:t>即测量误差相互独立，但都是对</a:t>
                </a:r>
                <a14:m>
                  <m:oMath xmlns:m="http://schemas.openxmlformats.org/officeDocument/2006/math">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oMath>
                </a14:m>
                <a:r>
                  <a:rPr lang="zh-CN" altLang="en-US" dirty="0"/>
                  <a:t>度量，满足相关性，是有效的工具变量：</a:t>
                </a:r>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r>
                        <a:rPr lang="zh-CN" altLang="en-US" i="1" dirty="0">
                          <a:latin typeface="Cambria Math" panose="02040503050406030204" pitchFamily="18" charset="0"/>
                        </a:rPr>
                        <m:t>𝑉</m:t>
                      </m:r>
                      <m:r>
                        <a:rPr lang="zh-CN" altLang="en-US" i="1" dirty="0">
                          <a:latin typeface="Cambria Math" panose="02040503050406030204" pitchFamily="18" charset="0"/>
                        </a:rPr>
                        <m:t> </m:t>
                      </m:r>
                      <m:r>
                        <a:rPr lang="zh-CN" altLang="en-US" i="1" dirty="0">
                          <a:latin typeface="Cambria Math" panose="02040503050406030204" pitchFamily="18" charset="0"/>
                        </a:rPr>
                        <m:t>𝑎𝑟</m:t>
                      </m:r>
                      <m:r>
                        <a:rPr lang="en-US" altLang="zh-CN"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up>
                          <m:r>
                            <a:rPr lang="zh-CN" altLang="en-US" i="1" dirty="0">
                              <a:latin typeface="Cambria Math" panose="02040503050406030204" pitchFamily="18" charset="0"/>
                            </a:rPr>
                            <m:t>∗</m:t>
                          </m:r>
                        </m:sup>
                      </m:sSubSup>
                      <m:r>
                        <a:rPr lang="en-US" altLang="zh-CN" i="1" dirty="0" smtClean="0">
                          <a:latin typeface="Cambria Math" panose="02040503050406030204" pitchFamily="18" charset="0"/>
                        </a:rPr>
                        <m:t>) &gt; 0, </m:t>
                      </m:r>
                      <m:r>
                        <a:rPr lang="zh-CN" altLang="en-US" i="1" dirty="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 </m:t>
                      </m:r>
                      <m:r>
                        <a:rPr lang="zh-CN" altLang="en-US" i="1" dirty="0">
                          <a:latin typeface="Cambria Math" panose="02040503050406030204" pitchFamily="18" charset="0"/>
                        </a:rPr>
                        <m:t>𝜏</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oMath>
                  </m:oMathPara>
                </a14:m>
                <a:endParaRPr lang="zh-CN" altLang="en-US" dirty="0"/>
              </a:p>
            </p:txBody>
          </p:sp>
        </mc:Choice>
        <mc:Fallback xmlns="">
          <p:sp>
            <p:nvSpPr>
              <p:cNvPr id="3" name="内容占位符 2">
                <a:extLst>
                  <a:ext uri="{FF2B5EF4-FFF2-40B4-BE49-F238E27FC236}">
                    <a16:creationId xmlns:a16="http://schemas.microsoft.com/office/drawing/2014/main" id="{336F4FFE-8BED-7783-EB5D-2E268FC44CEB}"/>
                  </a:ext>
                </a:extLst>
              </p:cNvPr>
              <p:cNvSpPr>
                <a:spLocks noGrp="1" noRot="1" noChangeAspect="1" noMove="1" noResize="1" noEditPoints="1" noAdjustHandles="1" noChangeArrowheads="1" noChangeShapeType="1" noTextEdit="1"/>
              </p:cNvSpPr>
              <p:nvPr>
                <p:ph idx="1"/>
              </p:nvPr>
            </p:nvSpPr>
            <p:spPr>
              <a:xfrm>
                <a:off x="628650" y="1825624"/>
                <a:ext cx="7886700" cy="4667249"/>
              </a:xfrm>
              <a:blipFill>
                <a:blip r:embed="rId2"/>
                <a:stretch>
                  <a:fillRect l="-232" t="-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E0FA07E-D992-CECE-3C76-30B6A96F533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C08418B-2FA1-ADFE-5B4F-DB1860783D11}"/>
              </a:ext>
            </a:extLst>
          </p:cNvPr>
          <p:cNvSpPr>
            <a:spLocks noGrp="1"/>
          </p:cNvSpPr>
          <p:nvPr>
            <p:ph type="sldNum" sz="quarter" idx="12"/>
          </p:nvPr>
        </p:nvSpPr>
        <p:spPr/>
        <p:txBody>
          <a:bodyPr/>
          <a:lstStyle/>
          <a:p>
            <a:fld id="{D41FC515-8169-4A29-AA56-DBE520D5741B}" type="slidenum">
              <a:rPr lang="zh-CN" altLang="en-US" smtClean="0"/>
              <a:t>8</a:t>
            </a:fld>
            <a:endParaRPr lang="zh-CN" altLang="en-US"/>
          </a:p>
        </p:txBody>
      </p:sp>
    </p:spTree>
    <p:extLst>
      <p:ext uri="{BB962C8B-B14F-4D97-AF65-F5344CB8AC3E}">
        <p14:creationId xmlns:p14="http://schemas.microsoft.com/office/powerpoint/2010/main" val="4019336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05EE8-0499-0EB9-F6FC-D00100869BD7}"/>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6908E30-2A24-41C5-B95A-4AD4805D8BB0}"/>
                  </a:ext>
                </a:extLst>
              </p:cNvPr>
              <p:cNvSpPr>
                <a:spLocks noGrp="1"/>
              </p:cNvSpPr>
              <p:nvPr>
                <p:ph idx="1"/>
              </p:nvPr>
            </p:nvSpPr>
            <p:spPr>
              <a:xfrm>
                <a:off x="628650" y="1825624"/>
                <a:ext cx="7886700" cy="4667249"/>
              </a:xfrm>
            </p:spPr>
            <p:txBody>
              <a:bodyPr>
                <a:normAutofit fontScale="62500" lnSpcReduction="20000"/>
              </a:bodyPr>
              <a:lstStyle/>
              <a:p>
                <a:pPr>
                  <a:lnSpc>
                    <a:spcPct val="120000"/>
                  </a:lnSpc>
                </a:pPr>
                <a:r>
                  <a:rPr lang="zh-CN" altLang="en-US" dirty="0"/>
                  <a:t>同时性偏差</a:t>
                </a:r>
                <a:r>
                  <a:rPr lang="en-US" altLang="zh-CN" dirty="0"/>
                  <a:t>(simultaneity)</a:t>
                </a:r>
                <a:r>
                  <a:rPr lang="zh-CN" altLang="en-US" dirty="0"/>
                  <a:t>：联立方程组</a:t>
                </a:r>
                <a:endParaRPr lang="en-US" altLang="zh-CN" dirty="0"/>
              </a:p>
              <a:p>
                <a:pPr marL="0"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𝑄</m:t>
                          </m:r>
                        </m:e>
                        <m:sub>
                          <m:r>
                            <a:rPr lang="zh-CN" altLang="en-US" i="1" dirty="0" smtClean="0">
                              <a:latin typeface="Cambria Math" panose="02040503050406030204" pitchFamily="18" charset="0"/>
                            </a:rPr>
                            <m:t>𝑑</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𝑎</m:t>
                      </m:r>
                      <m:r>
                        <a:rPr lang="zh-CN" altLang="en-US" i="1" dirty="0">
                          <a:latin typeface="Cambria Math" panose="02040503050406030204" pitchFamily="18" charset="0"/>
                        </a:rPr>
                        <m:t> + </m:t>
                      </m:r>
                      <m:r>
                        <a:rPr lang="zh-CN" altLang="en-US" i="1" dirty="0">
                          <a:latin typeface="Cambria Math" panose="02040503050406030204" pitchFamily="18" charset="0"/>
                        </a:rPr>
                        <m:t>𝑏𝑃</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1</m:t>
                          </m:r>
                        </m:sub>
                      </m:sSub>
                      <m:r>
                        <a:rPr lang="en-US" altLang="zh-CN" i="1" dirty="0" smtClean="0">
                          <a:latin typeface="Cambria Math" panose="02040503050406030204" pitchFamily="18" charset="0"/>
                        </a:rPr>
                        <m:t>,</m:t>
                      </m:r>
                    </m:oMath>
                  </m:oMathPara>
                </a14:m>
                <a:endParaRPr lang="en-US" altLang="zh-CN" dirty="0"/>
              </a:p>
              <a:p>
                <a:pPr marL="0"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𝑄</m:t>
                          </m:r>
                        </m:e>
                        <m:sub>
                          <m:r>
                            <a:rPr lang="zh-CN" altLang="en-US" i="1" dirty="0" smtClean="0">
                              <a:latin typeface="Cambria Math" panose="02040503050406030204" pitchFamily="18" charset="0"/>
                            </a:rPr>
                            <m:t>𝑠</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𝑐</m:t>
                      </m:r>
                      <m:r>
                        <a:rPr lang="zh-CN" altLang="en-US" i="1" dirty="0">
                          <a:latin typeface="Cambria Math" panose="02040503050406030204" pitchFamily="18" charset="0"/>
                        </a:rPr>
                        <m:t> + </m:t>
                      </m:r>
                      <m:r>
                        <a:rPr lang="zh-CN" altLang="en-US" i="1" dirty="0">
                          <a:latin typeface="Cambria Math" panose="02040503050406030204" pitchFamily="18" charset="0"/>
                        </a:rPr>
                        <m:t>𝑑𝑃</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2</m:t>
                          </m:r>
                        </m:sub>
                      </m:sSub>
                      <m:r>
                        <a:rPr lang="en-US" altLang="zh-CN" i="1" dirty="0" smtClean="0">
                          <a:latin typeface="Cambria Math" panose="02040503050406030204" pitchFamily="18" charset="0"/>
                        </a:rPr>
                        <m:t>.</m:t>
                      </m:r>
                    </m:oMath>
                  </m:oMathPara>
                </a14:m>
                <a:endParaRPr lang="en-US" altLang="zh-CN" dirty="0"/>
              </a:p>
              <a:p>
                <a:pPr>
                  <a:lnSpc>
                    <a:spcPct val="120000"/>
                  </a:lnSpc>
                </a:pPr>
                <a:r>
                  <a:rPr lang="zh-CN" altLang="en-US" dirty="0"/>
                  <a:t>求解出均衡价格和均衡数量：</a:t>
                </a:r>
                <a:endParaRPr lang="en-US" altLang="zh-CN" dirty="0"/>
              </a:p>
              <a:p>
                <a:pPr marL="0" indent="0">
                  <a:lnSpc>
                    <a:spcPct val="120000"/>
                  </a:lnSpc>
                  <a:buNone/>
                </a:pPr>
                <a14:m>
                  <m:oMathPara xmlns:m="http://schemas.openxmlformats.org/officeDocument/2006/math">
                    <m:o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𝜀</m:t>
                              </m:r>
                            </m:e>
                            <m:sub>
                              <m:r>
                                <a:rPr lang="en-US" altLang="zh-CN" b="0" i="1" smtClean="0">
                                  <a:latin typeface="Cambria Math" panose="02040503050406030204" pitchFamily="18" charset="0"/>
                                </a:rPr>
                                <m:t>2</m:t>
                              </m:r>
                            </m:sub>
                          </m:sSub>
                        </m:num>
                        <m:den>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den>
                      </m:f>
                      <m:r>
                        <a:rPr lang="en-US" altLang="zh-CN" b="0" i="1" smtClean="0">
                          <a:latin typeface="Cambria Math" panose="02040503050406030204" pitchFamily="18" charset="0"/>
                        </a:rPr>
                        <m:t>,</m:t>
                      </m:r>
                    </m:oMath>
                  </m:oMathPara>
                </a14:m>
                <a:endParaRPr lang="en-US" altLang="zh-CN" dirty="0"/>
              </a:p>
              <a:p>
                <a:pPr marL="0" indent="0">
                  <a:lnSpc>
                    <a:spcPct val="120000"/>
                  </a:lnSpc>
                  <a:buNone/>
                </a:pPr>
                <a14:m>
                  <m:oMathPara xmlns:m="http://schemas.openxmlformats.org/officeDocument/2006/math">
                    <m:o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𝑎𝑑</m:t>
                          </m:r>
                          <m:r>
                            <a:rPr lang="en-US" altLang="zh-CN" b="0" i="1" smtClean="0">
                              <a:latin typeface="Cambria Math" panose="02040503050406030204" pitchFamily="18" charset="0"/>
                            </a:rPr>
                            <m:t>−</m:t>
                          </m:r>
                          <m:r>
                            <a:rPr lang="en-US" altLang="zh-CN" b="0" i="1" smtClean="0">
                              <a:latin typeface="Cambria Math" panose="02040503050406030204" pitchFamily="18" charset="0"/>
                            </a:rPr>
                            <m:t>𝑏𝑐</m:t>
                          </m:r>
                          <m:r>
                            <a:rPr lang="en-US" altLang="zh-CN" b="0" i="1" smtClean="0">
                              <a:latin typeface="Cambria Math" panose="02040503050406030204" pitchFamily="18" charset="0"/>
                            </a:rPr>
                            <m:t>+</m:t>
                          </m:r>
                          <m:r>
                            <a:rPr lang="en-US" altLang="zh-CN" b="0" i="1" smtClean="0">
                              <a:latin typeface="Cambria Math" panose="02040503050406030204" pitchFamily="18" charset="0"/>
                            </a:rPr>
                            <m:t>𝑑</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𝑏</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𝜀</m:t>
                              </m:r>
                            </m:e>
                            <m:sub>
                              <m:r>
                                <a:rPr lang="en-US" altLang="zh-CN" b="0" i="1" smtClean="0">
                                  <a:latin typeface="Cambria Math" panose="02040503050406030204" pitchFamily="18" charset="0"/>
                                </a:rPr>
                                <m:t>2</m:t>
                              </m:r>
                            </m:sub>
                          </m:sSub>
                        </m:num>
                        <m:den>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den>
                      </m:f>
                      <m:r>
                        <a:rPr lang="en-US" altLang="zh-CN" b="0" i="1" smtClean="0">
                          <a:latin typeface="Cambria Math" panose="02040503050406030204" pitchFamily="18" charset="0"/>
                        </a:rPr>
                        <m:t>.</m:t>
                      </m:r>
                    </m:oMath>
                  </m:oMathPara>
                </a14:m>
                <a:endParaRPr lang="en-US" altLang="zh-CN" dirty="0"/>
              </a:p>
              <a:p>
                <a:pPr>
                  <a:lnSpc>
                    <a:spcPct val="120000"/>
                  </a:lnSpc>
                </a:pPr>
                <a:r>
                  <a:rPr lang="zh-CN" altLang="en-US" dirty="0"/>
                  <a:t>估计需求，需要</a:t>
                </a:r>
                <a:r>
                  <a:rPr lang="en-US" altLang="zh-CN" dirty="0"/>
                  <a:t>supply shifter</a:t>
                </a:r>
                <a:r>
                  <a:rPr lang="zh-CN" altLang="en-US" dirty="0"/>
                  <a:t>，估计供给，需要</a:t>
                </a:r>
                <a:r>
                  <a:rPr lang="en-US" altLang="zh-CN" dirty="0"/>
                  <a:t>demand shifter</a:t>
                </a:r>
                <a:r>
                  <a:rPr lang="zh-CN" altLang="en-US" dirty="0"/>
                  <a:t>。比如供给冲击</a:t>
                </a:r>
                <a:r>
                  <a:rPr lang="en-US" altLang="zh-CN" dirty="0"/>
                  <a:t>——</a:t>
                </a:r>
                <a:r>
                  <a:rPr lang="zh-CN" altLang="en-US" dirty="0"/>
                  <a:t>天气作为价格的工具，满足</a:t>
                </a:r>
                <a14:m>
                  <m:oMath xmlns:m="http://schemas.openxmlformats.org/officeDocument/2006/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2</m:t>
                        </m:r>
                      </m:sub>
                    </m:sSub>
                    <m:r>
                      <a:rPr lang="en-US" altLang="zh-CN" i="1" dirty="0">
                        <a:latin typeface="Cambria Math" panose="02040503050406030204" pitchFamily="18" charset="0"/>
                      </a:rPr>
                      <m:t>) ≠ 0</m:t>
                    </m:r>
                  </m:oMath>
                </a14:m>
                <a:r>
                  <a:rPr lang="zh-CN" altLang="en-US" dirty="0"/>
                  <a:t>，</a:t>
                </a:r>
                <a14:m>
                  <m:oMath xmlns:m="http://schemas.openxmlformats.org/officeDocument/2006/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 0</m:t>
                    </m:r>
                  </m:oMath>
                </a14:m>
                <a:r>
                  <a:rPr lang="zh-CN" altLang="en-US" dirty="0"/>
                  <a:t>，</a:t>
                </a:r>
                <a:endParaRPr lang="en-US" altLang="zh-CN" dirty="0"/>
              </a:p>
              <a:p>
                <a:pPr>
                  <a:lnSpc>
                    <a:spcPct val="120000"/>
                  </a:lnSpc>
                </a:pPr>
                <a14:m>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𝑍</m:t>
                            </m:r>
                            <m:r>
                              <a:rPr lang="en-US" altLang="zh-CN" b="0" i="1" smtClean="0">
                                <a:latin typeface="Cambria Math" panose="02040503050406030204" pitchFamily="18" charset="0"/>
                              </a:rPr>
                              <m:t>,</m:t>
                            </m:r>
                            <m:r>
                              <a:rPr lang="en-US" altLang="zh-CN" b="0" i="1" smtClean="0">
                                <a:latin typeface="Cambria Math" panose="02040503050406030204" pitchFamily="18" charset="0"/>
                              </a:rPr>
                              <m:t>𝑄</m:t>
                            </m:r>
                          </m:e>
                        </m:d>
                      </m:num>
                      <m:den>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𝑍</m:t>
                            </m:r>
                            <m:r>
                              <a:rPr lang="en-US" altLang="zh-CN" b="0" i="1" smtClean="0">
                                <a:latin typeface="Cambria Math" panose="02040503050406030204" pitchFamily="18" charset="0"/>
                              </a:rPr>
                              <m:t>,</m:t>
                            </m:r>
                            <m:r>
                              <a:rPr lang="en-US" altLang="zh-CN" b="0" i="1" smtClean="0">
                                <a:latin typeface="Cambria Math" panose="02040503050406030204" pitchFamily="18" charset="0"/>
                              </a:rPr>
                              <m:t>𝑃</m:t>
                            </m:r>
                          </m:e>
                        </m:d>
                      </m:den>
                    </m:f>
                    <m:r>
                      <a:rPr lang="en-US" altLang="zh-CN" b="0" i="1" smtClean="0">
                        <a:latin typeface="Cambria Math" panose="02040503050406030204" pitchFamily="18" charset="0"/>
                      </a:rPr>
                      <m:t>=</m:t>
                    </m:r>
                    <m:f>
                      <m:fPr>
                        <m:ctrlPr>
                          <a:rPr lang="zh-CN" altLang="en-US" i="0"/>
                        </m:ctrlPr>
                      </m:fPr>
                      <m:num>
                        <m:r>
                          <m:rPr>
                            <m:nor/>
                          </m:rPr>
                          <a:rPr lang="zh-CN" altLang="en-US" i="0"/>
                          <m:t>𝐶𝑜𝑣</m:t>
                        </m:r>
                        <m:r>
                          <m:rPr>
                            <m:nor/>
                          </m:rPr>
                          <a:rPr lang="en-US" altLang="zh-CN" i="0"/>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m:rPr>
                            <m:nor/>
                          </m:rPr>
                          <a:rPr lang="en-US" altLang="zh-CN" i="0"/>
                          <m:t>, </m:t>
                        </m:r>
                        <m:r>
                          <m:rPr>
                            <m:nor/>
                          </m:rPr>
                          <a:rPr lang="zh-CN" altLang="en-US" i="0"/>
                          <m:t>𝑎𝑑 − ���𝑐 </m:t>
                        </m:r>
                        <m:r>
                          <m:rPr>
                            <m:nor/>
                          </m:rPr>
                          <a:rPr lang="en-US" altLang="zh-CN" i="0"/>
                          <m:t>+ </m:t>
                        </m:r>
                        <m:r>
                          <m:rPr>
                            <m:nor/>
                          </m:rPr>
                          <a:rPr lang="zh-CN" altLang="en-US" i="0"/>
                          <m:t>𝑑</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1</m:t>
                            </m:r>
                          </m:sub>
                        </m:sSub>
                        <m:r>
                          <m:rPr>
                            <m:nor/>
                          </m:rPr>
                          <a:rPr lang="zh-CN" altLang="en-US" i="0"/>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b="0" i="1" dirty="0" smtClean="0">
                                <a:latin typeface="Cambria Math" panose="02040503050406030204" pitchFamily="18" charset="0"/>
                              </a:rPr>
                              <m:t>2</m:t>
                            </m:r>
                          </m:sub>
                        </m:sSub>
                        <m:r>
                          <m:rPr>
                            <m:nor/>
                          </m:rPr>
                          <a:rPr lang="en-US" altLang="zh-CN" i="0"/>
                          <m:t>)</m:t>
                        </m:r>
                      </m:num>
                      <m:den>
                        <m:r>
                          <m:rPr>
                            <m:nor/>
                          </m:rPr>
                          <a:rPr lang="zh-CN" altLang="en-US" i="0"/>
                          <m:t>𝐶𝑜𝑣</m:t>
                        </m:r>
                        <m:r>
                          <m:rPr>
                            <m:nor/>
                          </m:rPr>
                          <a:rPr lang="en-US" altLang="zh-CN" i="0"/>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m:rPr>
                            <m:nor/>
                          </m:rPr>
                          <a:rPr lang="en-US" altLang="zh-CN" i="0"/>
                          <m:t>, </m:t>
                        </m:r>
                        <m:r>
                          <m:rPr>
                            <m:nor/>
                          </m:rPr>
                          <a:rPr lang="zh-CN" altLang="en-US" i="0"/>
                          <m:t>𝑎 − ��� </m:t>
                        </m:r>
                        <m:r>
                          <m:rPr>
                            <m:nor/>
                          </m:rPr>
                          <a:rPr lang="en-US" altLang="zh-CN" i="0"/>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1</m:t>
                            </m:r>
                          </m:sub>
                        </m:sSub>
                        <m:r>
                          <m:rPr>
                            <m:nor/>
                          </m:rPr>
                          <a:rPr lang="zh-CN" altLang="en-US" i="0"/>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b="0" i="1" dirty="0" smtClean="0">
                                <a:latin typeface="Cambria Math" panose="02040503050406030204" pitchFamily="18" charset="0"/>
                              </a:rPr>
                              <m:t>2</m:t>
                            </m:r>
                          </m:sub>
                        </m:sSub>
                        <m:r>
                          <m:rPr>
                            <m:nor/>
                          </m:rPr>
                          <a:rPr lang="en-US" altLang="zh-CN" i="0"/>
                          <m:t>)</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endParaRPr lang="en-US" altLang="zh-CN" dirty="0"/>
              </a:p>
              <a:p>
                <a:pPr>
                  <a:lnSpc>
                    <a:spcPct val="120000"/>
                  </a:lnSpc>
                </a:pPr>
                <a:endParaRPr lang="zh-CN" altLang="en-US" dirty="0"/>
              </a:p>
            </p:txBody>
          </p:sp>
        </mc:Choice>
        <mc:Fallback xmlns="">
          <p:sp>
            <p:nvSpPr>
              <p:cNvPr id="3" name="内容占位符 2">
                <a:extLst>
                  <a:ext uri="{FF2B5EF4-FFF2-40B4-BE49-F238E27FC236}">
                    <a16:creationId xmlns:a16="http://schemas.microsoft.com/office/drawing/2014/main" id="{66908E30-2A24-41C5-B95A-4AD4805D8BB0}"/>
                  </a:ext>
                </a:extLst>
              </p:cNvPr>
              <p:cNvSpPr>
                <a:spLocks noGrp="1" noRot="1" noChangeAspect="1" noMove="1" noResize="1" noEditPoints="1" noAdjustHandles="1" noChangeArrowheads="1" noChangeShapeType="1" noTextEdit="1"/>
              </p:cNvSpPr>
              <p:nvPr>
                <p:ph idx="1"/>
              </p:nvPr>
            </p:nvSpPr>
            <p:spPr>
              <a:xfrm>
                <a:off x="628650" y="1825624"/>
                <a:ext cx="7886700" cy="4667249"/>
              </a:xfrm>
              <a:blipFill>
                <a:blip r:embed="rId2"/>
                <a:stretch>
                  <a:fillRect l="-464" t="-653" r="-2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95DC497-184B-8829-EA61-8985B95EC0B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328B300-DD9E-0407-F201-BAF40D2F87E9}"/>
              </a:ext>
            </a:extLst>
          </p:cNvPr>
          <p:cNvSpPr>
            <a:spLocks noGrp="1"/>
          </p:cNvSpPr>
          <p:nvPr>
            <p:ph type="sldNum" sz="quarter" idx="12"/>
          </p:nvPr>
        </p:nvSpPr>
        <p:spPr/>
        <p:txBody>
          <a:bodyPr/>
          <a:lstStyle/>
          <a:p>
            <a:fld id="{D41FC515-8169-4A29-AA56-DBE520D5741B}" type="slidenum">
              <a:rPr lang="zh-CN" altLang="en-US" smtClean="0"/>
              <a:t>9</a:t>
            </a:fld>
            <a:endParaRPr lang="zh-CN" altLang="en-US"/>
          </a:p>
        </p:txBody>
      </p:sp>
    </p:spTree>
    <p:extLst>
      <p:ext uri="{BB962C8B-B14F-4D97-AF65-F5344CB8AC3E}">
        <p14:creationId xmlns:p14="http://schemas.microsoft.com/office/powerpoint/2010/main" val="2164689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600F4D-DC9E-6B84-0E34-3BE6EF526EC6}"/>
              </a:ext>
            </a:extLst>
          </p:cNvPr>
          <p:cNvSpPr>
            <a:spLocks noGrp="1"/>
          </p:cNvSpPr>
          <p:nvPr>
            <p:ph type="title"/>
          </p:nvPr>
        </p:nvSpPr>
        <p:spPr/>
        <p:txBody>
          <a:bodyPr/>
          <a:lstStyle/>
          <a:p>
            <a:r>
              <a:rPr lang="zh-CN" altLang="en-US" dirty="0"/>
              <a:t>经典工具变量法</a:t>
            </a:r>
          </a:p>
        </p:txBody>
      </p:sp>
      <p:sp>
        <p:nvSpPr>
          <p:cNvPr id="3" name="内容占位符 2">
            <a:extLst>
              <a:ext uri="{FF2B5EF4-FFF2-40B4-BE49-F238E27FC236}">
                <a16:creationId xmlns:a16="http://schemas.microsoft.com/office/drawing/2014/main" id="{98EEDAEC-E919-9037-B33A-0289BF1BD092}"/>
              </a:ext>
            </a:extLst>
          </p:cNvPr>
          <p:cNvSpPr>
            <a:spLocks noGrp="1"/>
          </p:cNvSpPr>
          <p:nvPr>
            <p:ph idx="1"/>
          </p:nvPr>
        </p:nvSpPr>
        <p:spPr/>
        <p:txBody>
          <a:bodyPr/>
          <a:lstStyle/>
          <a:p>
            <a:r>
              <a:rPr lang="zh-CN" altLang="en-US" dirty="0"/>
              <a:t>经典例子：</a:t>
            </a:r>
            <a:r>
              <a:rPr lang="en-US" altLang="zh-CN" dirty="0"/>
              <a:t>Angrist and Krueger (1991) </a:t>
            </a:r>
            <a:r>
              <a:rPr lang="zh-CN" altLang="en-US" dirty="0"/>
              <a:t>估计美国的教育收益率。</a:t>
            </a:r>
          </a:p>
        </p:txBody>
      </p:sp>
      <p:sp>
        <p:nvSpPr>
          <p:cNvPr id="4" name="页脚占位符 3">
            <a:extLst>
              <a:ext uri="{FF2B5EF4-FFF2-40B4-BE49-F238E27FC236}">
                <a16:creationId xmlns:a16="http://schemas.microsoft.com/office/drawing/2014/main" id="{D4B78772-CE98-758B-8D3B-3D4BEBC045D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A6CFEB5-C6C8-F630-E142-74AE411B6A0A}"/>
              </a:ext>
            </a:extLst>
          </p:cNvPr>
          <p:cNvSpPr>
            <a:spLocks noGrp="1"/>
          </p:cNvSpPr>
          <p:nvPr>
            <p:ph type="sldNum" sz="quarter" idx="12"/>
          </p:nvPr>
        </p:nvSpPr>
        <p:spPr/>
        <p:txBody>
          <a:bodyPr/>
          <a:lstStyle/>
          <a:p>
            <a:fld id="{D41FC515-8169-4A29-AA56-DBE520D5741B}" type="slidenum">
              <a:rPr lang="zh-CN" altLang="en-US" smtClean="0"/>
              <a:t>10</a:t>
            </a:fld>
            <a:endParaRPr lang="zh-CN" altLang="en-US"/>
          </a:p>
        </p:txBody>
      </p:sp>
      <p:pic>
        <p:nvPicPr>
          <p:cNvPr id="7" name="图片 6">
            <a:extLst>
              <a:ext uri="{FF2B5EF4-FFF2-40B4-BE49-F238E27FC236}">
                <a16:creationId xmlns:a16="http://schemas.microsoft.com/office/drawing/2014/main" id="{9BA0F951-0982-5632-A0F1-28E44F90AC1A}"/>
              </a:ext>
            </a:extLst>
          </p:cNvPr>
          <p:cNvPicPr>
            <a:picLocks noChangeAspect="1"/>
          </p:cNvPicPr>
          <p:nvPr/>
        </p:nvPicPr>
        <p:blipFill>
          <a:blip r:embed="rId2"/>
          <a:stretch>
            <a:fillRect/>
          </a:stretch>
        </p:blipFill>
        <p:spPr>
          <a:xfrm>
            <a:off x="302573" y="2780815"/>
            <a:ext cx="4327302" cy="3145665"/>
          </a:xfrm>
          <a:prstGeom prst="rect">
            <a:avLst/>
          </a:prstGeom>
        </p:spPr>
      </p:pic>
      <p:pic>
        <p:nvPicPr>
          <p:cNvPr id="9" name="图片 8">
            <a:extLst>
              <a:ext uri="{FF2B5EF4-FFF2-40B4-BE49-F238E27FC236}">
                <a16:creationId xmlns:a16="http://schemas.microsoft.com/office/drawing/2014/main" id="{C8144695-A4FE-FBEB-1297-1C09E0957034}"/>
              </a:ext>
            </a:extLst>
          </p:cNvPr>
          <p:cNvPicPr>
            <a:picLocks noChangeAspect="1"/>
          </p:cNvPicPr>
          <p:nvPr/>
        </p:nvPicPr>
        <p:blipFill>
          <a:blip r:embed="rId3"/>
          <a:stretch>
            <a:fillRect/>
          </a:stretch>
        </p:blipFill>
        <p:spPr>
          <a:xfrm>
            <a:off x="4629875" y="2780815"/>
            <a:ext cx="4327302" cy="3145665"/>
          </a:xfrm>
          <a:prstGeom prst="rect">
            <a:avLst/>
          </a:prstGeom>
        </p:spPr>
      </p:pic>
    </p:spTree>
    <p:extLst>
      <p:ext uri="{BB962C8B-B14F-4D97-AF65-F5344CB8AC3E}">
        <p14:creationId xmlns:p14="http://schemas.microsoft.com/office/powerpoint/2010/main" val="202991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4FDC94-89F3-A8A6-7B59-8D7A1640C7ED}"/>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DC8962B-1DD2-4E90-0FE9-579D345B3D9A}"/>
                  </a:ext>
                </a:extLst>
              </p:cNvPr>
              <p:cNvSpPr>
                <a:spLocks noGrp="1"/>
              </p:cNvSpPr>
              <p:nvPr>
                <p:ph idx="1"/>
              </p:nvPr>
            </p:nvSpPr>
            <p:spPr>
              <a:xfrm>
                <a:off x="628650" y="1825625"/>
                <a:ext cx="7886700" cy="4795094"/>
              </a:xfrm>
            </p:spPr>
            <p:txBody>
              <a:bodyPr>
                <a:normAutofit fontScale="77500" lnSpcReduction="20000"/>
              </a:bodyPr>
              <a:lstStyle/>
              <a:p>
                <a:pPr>
                  <a:lnSpc>
                    <a:spcPct val="120000"/>
                  </a:lnSpc>
                </a:pPr>
                <a:r>
                  <a:rPr lang="zh-CN" altLang="en-US" dirty="0"/>
                  <a:t>经典例子：</a:t>
                </a:r>
                <a:r>
                  <a:rPr lang="en-US" altLang="zh-CN" dirty="0"/>
                  <a:t>Angrist and Krueger (1991) </a:t>
                </a:r>
                <a:r>
                  <a:rPr lang="zh-CN" altLang="en-US" dirty="0"/>
                  <a:t>估计美国的教育收益率。</a:t>
                </a:r>
                <a:endParaRPr lang="en-US" altLang="zh-CN" dirty="0"/>
              </a:p>
              <a:p>
                <a:pPr marL="0"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𝑋</m:t>
                          </m:r>
                        </m:e>
                        <m:sub>
                          <m:r>
                            <a:rPr lang="zh-CN" altLang="en-US" i="1" dirty="0" smtClean="0">
                              <a:latin typeface="Cambria Math" panose="02040503050406030204" pitchFamily="18" charset="0"/>
                            </a:rPr>
                            <m:t>𝑖</m:t>
                          </m:r>
                        </m:sub>
                        <m:sup>
                          <m:r>
                            <a:rPr lang="en-US" altLang="zh-CN" i="1" dirty="0" smtClean="0">
                              <a:latin typeface="Cambria Math" panose="02040503050406030204" pitchFamily="18" charset="0"/>
                            </a:rPr>
                            <m:t>′</m:t>
                          </m:r>
                        </m:sup>
                      </m:sSubSup>
                      <m:r>
                        <a:rPr lang="zh-CN" altLang="en-US" i="1" dirty="0" smtClean="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𝜋</m:t>
                          </m:r>
                        </m:e>
                        <m:sub>
                          <m:r>
                            <a:rPr lang="en-US" altLang="zh-CN" i="1" dirty="0">
                              <a:latin typeface="Cambria Math" panose="02040503050406030204" pitchFamily="18" charset="0"/>
                            </a:rPr>
                            <m:t>10</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𝜋</m:t>
                          </m:r>
                        </m:e>
                        <m:sub>
                          <m:r>
                            <a:rPr lang="en-US" altLang="zh-CN" i="1" dirty="0">
                              <a:latin typeface="Cambria Math" panose="02040503050406030204" pitchFamily="18" charset="0"/>
                            </a:rPr>
                            <m:t>11</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1</m:t>
                          </m:r>
                          <m:r>
                            <a:rPr lang="zh-CN" altLang="en-US" i="1" dirty="0">
                              <a:latin typeface="Cambria Math" panose="02040503050406030204" pitchFamily="18" charset="0"/>
                            </a:rPr>
                            <m:t>𝑖</m:t>
                          </m:r>
                        </m:sub>
                      </m:sSub>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(2)</m:t>
                      </m:r>
                    </m:oMath>
                  </m:oMathPara>
                </a14:m>
                <a:endParaRPr lang="en-US" altLang="zh-CN" dirty="0"/>
              </a:p>
              <a:p>
                <a:pPr marL="0"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𝑋</m:t>
                          </m:r>
                        </m:e>
                        <m:sub>
                          <m:r>
                            <a:rPr lang="zh-CN" altLang="en-US" i="1" dirty="0" smtClean="0">
                              <a:latin typeface="Cambria Math" panose="02040503050406030204" pitchFamily="18" charset="0"/>
                            </a:rPr>
                            <m:t>𝑖</m:t>
                          </m:r>
                        </m:sub>
                        <m:sup>
                          <m:r>
                            <a:rPr lang="en-US" altLang="zh-CN" i="1" dirty="0" smtClean="0">
                              <a:latin typeface="Cambria Math" panose="02040503050406030204" pitchFamily="18" charset="0"/>
                            </a:rPr>
                            <m:t>′</m:t>
                          </m:r>
                        </m:sup>
                      </m:sSubSup>
                      <m:r>
                        <a:rPr lang="zh-CN" altLang="en-US" i="1" dirty="0" smtClean="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𝜋</m:t>
                          </m:r>
                        </m:e>
                        <m:sub>
                          <m:r>
                            <a:rPr lang="en-US" altLang="zh-CN" i="1" dirty="0">
                              <a:latin typeface="Cambria Math" panose="02040503050406030204" pitchFamily="18" charset="0"/>
                            </a:rPr>
                            <m:t>20</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𝜋</m:t>
                          </m:r>
                        </m:e>
                        <m:sub>
                          <m:r>
                            <a:rPr lang="en-US" altLang="zh-CN" i="1" dirty="0">
                              <a:latin typeface="Cambria Math" panose="02040503050406030204" pitchFamily="18" charset="0"/>
                            </a:rPr>
                            <m:t>21</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2</m:t>
                          </m:r>
                          <m:r>
                            <a:rPr lang="zh-CN" altLang="en-US" i="1" dirty="0">
                              <a:latin typeface="Cambria Math" panose="02040503050406030204" pitchFamily="18" charset="0"/>
                            </a:rPr>
                            <m:t>𝑖</m:t>
                          </m:r>
                        </m:sub>
                      </m:sSub>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(3</m:t>
                      </m:r>
                      <m:r>
                        <a:rPr lang="en-US" altLang="zh-CN" i="1" dirty="0" smtClean="0">
                          <a:latin typeface="Cambria Math" panose="02040503050406030204" pitchFamily="18" charset="0"/>
                        </a:rPr>
                        <m:t>)</m:t>
                      </m:r>
                    </m:oMath>
                  </m:oMathPara>
                </a14:m>
                <a:endParaRPr lang="en-US" altLang="zh-CN" dirty="0"/>
              </a:p>
              <a:p>
                <a:pPr>
                  <a:lnSpc>
                    <a:spcPct val="120000"/>
                  </a:lnSpc>
                </a:pPr>
                <a:r>
                  <a:rPr lang="zh-CN" altLang="en-US" dirty="0"/>
                  <a:t>间接最小二乘法，</a:t>
                </a:r>
                <a:endParaRPr lang="en-US" altLang="zh-CN" dirty="0"/>
              </a:p>
              <a:p>
                <a:pPr marL="0" indent="0">
                  <a:lnSpc>
                    <a:spcPct val="120000"/>
                  </a:lnSpc>
                  <a:buNone/>
                </a:pPr>
                <a14:m>
                  <m:oMathPara xmlns:m="http://schemas.openxmlformats.org/officeDocument/2006/math">
                    <m:oMath>
                      <m:r>
                        <a:rPr lang="en-US" altLang="zh-CN" b="0" i="1" smtClean="0">
                          <a:latin typeface="Cambria Math" panose="02040503050406030204" pitchFamily="18" charset="0"/>
                        </a:rPr>
                        <m:t>𝜏</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21</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11</m:t>
                              </m:r>
                            </m:sub>
                          </m:sSub>
                        </m:den>
                      </m:f>
                    </m:oMath>
                  </m:oMathPara>
                </a14:m>
                <a:endParaRPr lang="en-US" altLang="zh-CN" dirty="0"/>
              </a:p>
              <a:p>
                <a:pPr>
                  <a:lnSpc>
                    <a:spcPct val="120000"/>
                  </a:lnSpc>
                </a:pPr>
                <a:r>
                  <a:rPr lang="zh-CN" altLang="en-US" dirty="0"/>
                  <a:t>两阶段最小二乘法：</a:t>
                </a:r>
                <a:endParaRPr lang="en-US" altLang="zh-CN" dirty="0"/>
              </a:p>
              <a:p>
                <a:pPr lvl="1">
                  <a:lnSpc>
                    <a:spcPct val="120000"/>
                  </a:lnSpc>
                </a:pPr>
                <a:r>
                  <a:rPr lang="zh-CN" altLang="en-US" dirty="0"/>
                  <a:t>估计模型</a:t>
                </a:r>
                <a:r>
                  <a:rPr lang="en-US" altLang="zh-CN" dirty="0"/>
                  <a:t>(2)</a:t>
                </a:r>
                <a:r>
                  <a:rPr lang="zh-CN" altLang="en-US" dirty="0"/>
                  <a:t>，用𝐷 对𝑍 和𝑋 做回归，称为第一阶段，得到拟合值</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𝐷</m:t>
                        </m:r>
                      </m:e>
                    </m:acc>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m:t>
                        </m:r>
                      </m:sup>
                    </m:sSubSup>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𝜋</m:t>
                            </m:r>
                          </m:e>
                        </m:acc>
                      </m:e>
                      <m:sub>
                        <m:r>
                          <a:rPr lang="en-US" altLang="zh-CN" b="0" i="1" dirty="0" smtClean="0">
                            <a:latin typeface="Cambria Math" panose="02040503050406030204" pitchFamily="18" charset="0"/>
                          </a:rPr>
                          <m:t>10</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𝜋</m:t>
                            </m:r>
                          </m:e>
                        </m:acc>
                      </m:e>
                      <m:sub>
                        <m:r>
                          <a:rPr lang="en-US" altLang="zh-CN" b="0" i="1" dirty="0" smtClean="0">
                            <a:latin typeface="Cambria Math" panose="02040503050406030204" pitchFamily="18" charset="0"/>
                          </a:rPr>
                          <m:t>11</m:t>
                        </m:r>
                      </m:sub>
                    </m:s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𝑍</m:t>
                        </m:r>
                      </m:e>
                      <m:sub>
                        <m:r>
                          <a:rPr lang="en-US" altLang="zh-CN" b="0" i="1" dirty="0" smtClean="0">
                            <a:latin typeface="Cambria Math" panose="02040503050406030204" pitchFamily="18" charset="0"/>
                          </a:rPr>
                          <m:t>𝑖</m:t>
                        </m:r>
                      </m:sub>
                    </m:sSub>
                  </m:oMath>
                </a14:m>
                <a:r>
                  <a:rPr lang="zh-CN" altLang="en-US" dirty="0"/>
                  <a:t>，记回归残差为 𝐷̃，即 </a:t>
                </a:r>
                <a14:m>
                  <m:oMath xmlns:m="http://schemas.openxmlformats.org/officeDocument/2006/math">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r>
                      <a:rPr lang="zh-CN" altLang="en-US" i="1" dirty="0">
                        <a:latin typeface="Cambria Math" panose="02040503050406030204" pitchFamily="18" charset="0"/>
                      </a:rPr>
                      <m:t> </m:t>
                    </m:r>
                    <m:r>
                      <a:rPr lang="en-US" altLang="zh-CN" i="1" dirty="0">
                        <a:latin typeface="Cambria Math" panose="02040503050406030204" pitchFamily="18" charset="0"/>
                      </a:rPr>
                      <m:t>+ </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oMath>
                </a14:m>
                <a:r>
                  <a:rPr lang="zh-CN" altLang="en-US" dirty="0"/>
                  <a:t>，</a:t>
                </a:r>
                <a:endParaRPr lang="en-US" altLang="zh-CN" dirty="0"/>
              </a:p>
              <a:p>
                <a:pPr lvl="1">
                  <a:lnSpc>
                    <a:spcPct val="120000"/>
                  </a:lnSpc>
                </a:pPr>
                <a:r>
                  <a:rPr lang="zh-CN" altLang="en-US" dirty="0"/>
                  <a:t>将 </a:t>
                </a:r>
                <a14:m>
                  <m:oMath xmlns:m="http://schemas.openxmlformats.org/officeDocument/2006/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𝐷</m:t>
                        </m:r>
                      </m:e>
                    </m:acc>
                    <m:r>
                      <a:rPr lang="zh-CN" altLang="en-US" i="1" dirty="0" smtClean="0">
                        <a:latin typeface="Cambria Math" panose="02040503050406030204" pitchFamily="18" charset="0"/>
                      </a:rPr>
                      <m:t> </m:t>
                    </m:r>
                  </m:oMath>
                </a14:m>
                <a:r>
                  <a:rPr lang="zh-CN" altLang="en-US" dirty="0"/>
                  <a:t>代入结构方程 </a:t>
                </a:r>
                <a:r>
                  <a:rPr lang="en-US" altLang="zh-CN" dirty="0"/>
                  <a:t>(1)</a:t>
                </a:r>
                <a:r>
                  <a:rPr lang="zh-CN" altLang="en-US" dirty="0"/>
                  <a:t>，用 𝑌 对 </a:t>
                </a:r>
                <a14:m>
                  <m:oMath xmlns:m="http://schemas.openxmlformats.org/officeDocument/2006/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𝐷</m:t>
                        </m:r>
                      </m:e>
                    </m:acc>
                  </m:oMath>
                </a14:m>
                <a:r>
                  <a:rPr lang="zh-CN" altLang="en-US" dirty="0"/>
                  <a:t>、𝑋 做回归，</a:t>
                </a:r>
                <a14:m>
                  <m:oMath xmlns:m="http://schemas.openxmlformats.org/officeDocument/2006/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𝐷</m:t>
                        </m:r>
                      </m:e>
                    </m:acc>
                  </m:oMath>
                </a14:m>
                <a:r>
                  <a:rPr lang="zh-CN" altLang="en-US" dirty="0"/>
                  <a:t> 的系数即为 </a:t>
                </a:r>
                <a:r>
                  <a:rPr lang="en-US" altLang="zh-CN" dirty="0"/>
                  <a:t>TSLS </a:t>
                </a:r>
                <a:r>
                  <a:rPr lang="zh-CN" altLang="en-US" dirty="0"/>
                  <a:t>估计量。</a:t>
                </a:r>
              </a:p>
            </p:txBody>
          </p:sp>
        </mc:Choice>
        <mc:Fallback xmlns="">
          <p:sp>
            <p:nvSpPr>
              <p:cNvPr id="3" name="内容占位符 2">
                <a:extLst>
                  <a:ext uri="{FF2B5EF4-FFF2-40B4-BE49-F238E27FC236}">
                    <a16:creationId xmlns:a16="http://schemas.microsoft.com/office/drawing/2014/main" id="{DDC8962B-1DD2-4E90-0FE9-579D345B3D9A}"/>
                  </a:ext>
                </a:extLst>
              </p:cNvPr>
              <p:cNvSpPr>
                <a:spLocks noGrp="1" noRot="1" noChangeAspect="1" noMove="1" noResize="1" noEditPoints="1" noAdjustHandles="1" noChangeArrowheads="1" noChangeShapeType="1" noTextEdit="1"/>
              </p:cNvSpPr>
              <p:nvPr>
                <p:ph idx="1"/>
              </p:nvPr>
            </p:nvSpPr>
            <p:spPr>
              <a:xfrm>
                <a:off x="628650" y="1825625"/>
                <a:ext cx="7886700" cy="4795094"/>
              </a:xfrm>
              <a:blipFill>
                <a:blip r:embed="rId2"/>
                <a:stretch>
                  <a:fillRect l="-850" t="-76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6521627-83F0-BACD-AC81-2BD5E8D6C9A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32963AC-D52C-3849-8694-B46D68140A0A}"/>
              </a:ext>
            </a:extLst>
          </p:cNvPr>
          <p:cNvSpPr>
            <a:spLocks noGrp="1"/>
          </p:cNvSpPr>
          <p:nvPr>
            <p:ph type="sldNum" sz="quarter" idx="12"/>
          </p:nvPr>
        </p:nvSpPr>
        <p:spPr/>
        <p:txBody>
          <a:bodyPr/>
          <a:lstStyle/>
          <a:p>
            <a:fld id="{D41FC515-8169-4A29-AA56-DBE520D5741B}" type="slidenum">
              <a:rPr lang="zh-CN" altLang="en-US" smtClean="0"/>
              <a:t>11</a:t>
            </a:fld>
            <a:endParaRPr lang="zh-CN" altLang="en-US"/>
          </a:p>
        </p:txBody>
      </p:sp>
    </p:spTree>
    <p:extLst>
      <p:ext uri="{BB962C8B-B14F-4D97-AF65-F5344CB8AC3E}">
        <p14:creationId xmlns:p14="http://schemas.microsoft.com/office/powerpoint/2010/main" val="2458298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3D1B30-75F8-8244-8779-0BA432FFD117}"/>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39C7393-F6CE-B4AF-473B-1D0DE90DCE23}"/>
                  </a:ext>
                </a:extLst>
              </p:cNvPr>
              <p:cNvSpPr>
                <a:spLocks noGrp="1"/>
              </p:cNvSpPr>
              <p:nvPr>
                <p:ph idx="1"/>
              </p:nvPr>
            </p:nvSpPr>
            <p:spPr/>
            <p:txBody>
              <a:bodyPr>
                <a:normAutofit fontScale="70000" lnSpcReduction="20000"/>
              </a:bodyPr>
              <a:lstStyle/>
              <a:p>
                <a:pPr>
                  <a:lnSpc>
                    <a:spcPct val="110000"/>
                  </a:lnSpc>
                </a:pPr>
                <a:r>
                  <a:rPr lang="zh-CN" altLang="en-US" dirty="0"/>
                  <a:t>不考虑协变量𝑋，</a:t>
                </a:r>
                <a:r>
                  <a:rPr lang="en-US" altLang="zh-CN" dirty="0"/>
                  <a:t>TSLS </a:t>
                </a:r>
                <a:r>
                  <a:rPr lang="zh-CN" altLang="en-US" dirty="0"/>
                  <a:t>估计量可以写为：</a:t>
                </a:r>
                <a:endParaRPr lang="en-US" altLang="zh-CN" dirty="0"/>
              </a:p>
              <a:p>
                <a:pPr marL="0" indent="0">
                  <a:lnSpc>
                    <a:spcPct val="110000"/>
                  </a:lnSpc>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dirty="0" smtClean="0">
                              <a:latin typeface="Cambria Math" panose="02040503050406030204" pitchFamily="18" charset="0"/>
                            </a:rPr>
                            <m:t>2</m:t>
                          </m:r>
                          <m:r>
                            <a:rPr lang="en-US" altLang="zh-CN" b="0" i="1" dirty="0" smtClean="0">
                              <a:latin typeface="Cambria Math" panose="02040503050406030204" pitchFamily="18" charset="0"/>
                            </a:rPr>
                            <m:t>𝑆𝐿𝑆</m:t>
                          </m:r>
                        </m:sub>
                      </m:sSub>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𝐶𝑜𝑣</m:t>
                          </m:r>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𝑌</m:t>
                              </m:r>
                            </m:e>
                          </m:d>
                        </m:num>
                        <m:den>
                          <m:r>
                            <a:rPr lang="en-US" altLang="zh-CN" b="0" i="1" dirty="0" smtClean="0">
                              <a:latin typeface="Cambria Math" panose="02040503050406030204" pitchFamily="18" charset="0"/>
                            </a:rPr>
                            <m:t>𝑉𝑎𝑟</m:t>
                          </m:r>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e>
                          </m:d>
                        </m:den>
                      </m:f>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𝐶𝑜𝑣</m:t>
                          </m:r>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𝑌</m:t>
                              </m:r>
                            </m:e>
                          </m:d>
                        </m:num>
                        <m:den>
                          <m:r>
                            <a:rPr lang="en-US" altLang="zh-CN" b="0" i="1" dirty="0" smtClean="0">
                              <a:latin typeface="Cambria Math" panose="02040503050406030204" pitchFamily="18" charset="0"/>
                            </a:rPr>
                            <m:t>𝐶𝑜𝑣</m:t>
                          </m:r>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𝐷</m:t>
                              </m:r>
                            </m:e>
                          </m:d>
                        </m:den>
                      </m:f>
                      <m:r>
                        <a:rPr lang="en-US" altLang="zh-CN" b="0" i="1" dirty="0" smtClean="0">
                          <a:latin typeface="Cambria Math" panose="02040503050406030204" pitchFamily="18" charset="0"/>
                        </a:rPr>
                        <m:t>,                  </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4</m:t>
                          </m:r>
                        </m:e>
                      </m:d>
                    </m:oMath>
                  </m:oMathPara>
                </a14:m>
                <a:endParaRPr lang="en-US" altLang="zh-CN" b="0" dirty="0"/>
              </a:p>
              <a:p>
                <a:pPr>
                  <a:lnSpc>
                    <a:spcPct val="110000"/>
                  </a:lnSpc>
                </a:pPr>
                <a:r>
                  <a:rPr lang="zh-CN" altLang="en-US" dirty="0"/>
                  <a:t>利用回归性质，</a:t>
                </a:r>
                <a14:m>
                  <m:oMath xmlns:m="http://schemas.openxmlformats.org/officeDocument/2006/math">
                    <m:r>
                      <a:rPr lang="zh-CN" altLang="en-US" i="1" dirty="0" smtClean="0">
                        <a:latin typeface="Cambria Math" panose="02040503050406030204" pitchFamily="18" charset="0"/>
                      </a:rPr>
                      <m:t>𝐸</m:t>
                    </m:r>
                    <m:r>
                      <a:rPr lang="en-US" altLang="zh-CN" i="1" dirty="0">
                        <a:latin typeface="Cambria Math" panose="02040503050406030204" pitchFamily="18" charset="0"/>
                      </a:rPr>
                      <m:t>[</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r>
                      <a:rPr lang="zh-CN" altLang="en-US" i="1" dirty="0">
                        <a:latin typeface="Cambria Math" panose="02040503050406030204" pitchFamily="18" charset="0"/>
                      </a:rPr>
                      <m:t> </m:t>
                    </m:r>
                    <m:r>
                      <a:rPr lang="en-US" altLang="zh-CN" i="1" dirty="0">
                        <a:latin typeface="Cambria Math" panose="02040503050406030204" pitchFamily="18" charset="0"/>
                      </a:rPr>
                      <m:t>] = 0</m:t>
                    </m:r>
                  </m:oMath>
                </a14:m>
                <a:r>
                  <a:rPr lang="zh-CN" altLang="en-US" dirty="0"/>
                  <a:t>，</a:t>
                </a:r>
                <a:endParaRPr lang="en-US" altLang="zh-CN" dirty="0"/>
              </a:p>
              <a:p>
                <a:pPr marL="0" indent="0">
                  <a:lnSpc>
                    <a:spcPct val="110000"/>
                  </a:lnSpc>
                  <a:buNone/>
                </a:pPr>
                <a14:m>
                  <m:oMathPara xmlns:m="http://schemas.openxmlformats.org/officeDocument/2006/math">
                    <m:o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r>
                        <a:rPr lang="zh-CN" altLang="en-US" i="1" dirty="0">
                          <a:latin typeface="Cambria Math" panose="02040503050406030204" pitchFamily="18" charset="0"/>
                        </a:rPr>
                        <m:t> </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en-US" altLang="zh-CN" i="1" dirty="0">
                          <a:latin typeface="Cambria Math" panose="02040503050406030204" pitchFamily="18" charset="0"/>
                        </a:rPr>
                        <m:t>) = </m:t>
                      </m:r>
                      <m:r>
                        <a:rPr lang="zh-CN" altLang="en-US" i="1" dirty="0">
                          <a:latin typeface="Cambria Math" panose="02040503050406030204" pitchFamily="18" charset="0"/>
                        </a:rPr>
                        <m:t>𝐶𝑜𝑣</m:t>
                      </m:r>
                      <m:r>
                        <a:rPr lang="en-US" altLang="zh-CN" i="1" dirty="0">
                          <a:latin typeface="Cambria Math" panose="02040503050406030204" pitchFamily="18" charset="0"/>
                        </a:rPr>
                        <m:t>(</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r>
                        <a:rPr lang="zh-CN" altLang="en-US" i="1" dirty="0">
                          <a:latin typeface="Cambria Math" panose="02040503050406030204" pitchFamily="18" charset="0"/>
                        </a:rPr>
                        <m:t> </m:t>
                      </m:r>
                      <m:r>
                        <a:rPr lang="en-US" altLang="zh-CN" i="1" dirty="0">
                          <a:latin typeface="Cambria Math" panose="02040503050406030204" pitchFamily="18" charset="0"/>
                        </a:rPr>
                        <m:t>,</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r>
                        <a:rPr lang="zh-CN" altLang="en-US" i="1" dirty="0">
                          <a:latin typeface="Cambria Math" panose="02040503050406030204" pitchFamily="18" charset="0"/>
                        </a:rPr>
                        <m:t> </m:t>
                      </m:r>
                      <m:r>
                        <a:rPr lang="en-US" altLang="zh-CN" i="1" dirty="0">
                          <a:latin typeface="Cambria Math" panose="02040503050406030204" pitchFamily="18" charset="0"/>
                        </a:rPr>
                        <m:t>+ </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r>
                        <a:rPr lang="zh-CN" altLang="en-US" i="1" dirty="0">
                          <a:latin typeface="Cambria Math" panose="02040503050406030204" pitchFamily="18" charset="0"/>
                        </a:rPr>
                        <m:t> </m:t>
                      </m:r>
                      <m:r>
                        <a:rPr lang="en-US" altLang="zh-CN" i="1" dirty="0">
                          <a:latin typeface="Cambria Math" panose="02040503050406030204" pitchFamily="18" charset="0"/>
                        </a:rPr>
                        <m:t>) = </m:t>
                      </m:r>
                      <m:r>
                        <a:rPr lang="zh-CN" altLang="en-US" i="1" dirty="0">
                          <a:latin typeface="Cambria Math" panose="02040503050406030204" pitchFamily="18" charset="0"/>
                        </a:rPr>
                        <m:t>𝑉</m:t>
                      </m:r>
                      <m:r>
                        <a:rPr lang="zh-CN" altLang="en-US" i="1" dirty="0">
                          <a:latin typeface="Cambria Math" panose="02040503050406030204" pitchFamily="18" charset="0"/>
                        </a:rPr>
                        <m:t> </m:t>
                      </m:r>
                      <m:r>
                        <a:rPr lang="zh-CN" altLang="en-US" i="1" dirty="0">
                          <a:latin typeface="Cambria Math" panose="02040503050406030204" pitchFamily="18" charset="0"/>
                        </a:rPr>
                        <m:t>𝑎𝑟</m:t>
                      </m:r>
                      <m:r>
                        <a:rPr lang="en-US" altLang="zh-CN" i="1" dirty="0">
                          <a:latin typeface="Cambria Math" panose="02040503050406030204" pitchFamily="18" charset="0"/>
                        </a:rPr>
                        <m:t>(</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r>
                        <a:rPr lang="zh-CN" altLang="en-US" i="1" dirty="0">
                          <a:latin typeface="Cambria Math" panose="02040503050406030204" pitchFamily="18" charset="0"/>
                        </a:rPr>
                        <m:t> </m:t>
                      </m:r>
                      <m:r>
                        <a:rPr lang="en-US" altLang="zh-CN" i="1" dirty="0">
                          <a:latin typeface="Cambria Math" panose="02040503050406030204" pitchFamily="18" charset="0"/>
                        </a:rPr>
                        <m:t>),</m:t>
                      </m:r>
                    </m:oMath>
                  </m:oMathPara>
                </a14:m>
                <a:endParaRPr lang="en-US" altLang="zh-CN" dirty="0"/>
              </a:p>
              <a:p>
                <a:pPr>
                  <a:lnSpc>
                    <a:spcPct val="110000"/>
                  </a:lnSpc>
                </a:pPr>
                <a:r>
                  <a:rPr lang="en-US" altLang="zh-CN" dirty="0"/>
                  <a:t>TSLS </a:t>
                </a:r>
                <a:r>
                  <a:rPr lang="zh-CN" altLang="en-US" dirty="0"/>
                  <a:t>估计量等价于用 𝐷̂ 作为工具的工具变量估计量。</a:t>
                </a:r>
                <a:endParaRPr lang="en-US" altLang="zh-CN" dirty="0"/>
              </a:p>
              <a:p>
                <a:pPr>
                  <a:lnSpc>
                    <a:spcPct val="110000"/>
                  </a:lnSpc>
                </a:pPr>
                <a:r>
                  <a:rPr lang="zh-CN" altLang="en-US" dirty="0"/>
                  <a:t>引入协变量，可以利用</a:t>
                </a:r>
                <a:r>
                  <a:rPr lang="en-US" altLang="zh-CN" dirty="0"/>
                  <a:t>Frisch-Waugh-Lovell </a:t>
                </a:r>
                <a:r>
                  <a:rPr lang="zh-CN" altLang="en-US" dirty="0"/>
                  <a:t>定理，得到类似结果</a:t>
                </a:r>
                <a:endParaRPr lang="en-US" altLang="zh-CN" dirty="0"/>
              </a:p>
              <a:p>
                <a:pPr marL="0" indent="0">
                  <a:lnSpc>
                    <a:spcPct val="110000"/>
                  </a:lnSpc>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dirty="0" smtClean="0">
                              <a:latin typeface="Cambria Math" panose="02040503050406030204" pitchFamily="18" charset="0"/>
                            </a:rPr>
                            <m:t>2</m:t>
                          </m:r>
                          <m:r>
                            <a:rPr lang="en-US" altLang="zh-CN" b="0" i="1" dirty="0" smtClean="0">
                              <a:latin typeface="Cambria Math" panose="02040503050406030204" pitchFamily="18" charset="0"/>
                            </a:rPr>
                            <m:t>𝑠𝑙𝑠</m:t>
                          </m:r>
                        </m:sub>
                      </m:sSub>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𝐶𝑜𝑣</m:t>
                          </m:r>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𝑌</m:t>
                              </m:r>
                            </m:e>
                          </m:d>
                        </m:num>
                        <m:den>
                          <m:r>
                            <a:rPr lang="en-US" altLang="zh-CN" b="0" i="1" dirty="0" smtClean="0">
                              <a:latin typeface="Cambria Math" panose="02040503050406030204" pitchFamily="18" charset="0"/>
                            </a:rPr>
                            <m:t>𝑉𝑎𝑟</m:t>
                          </m:r>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e>
                          </m:d>
                        </m:den>
                      </m:f>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𝐶𝑜𝑣</m:t>
                          </m:r>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𝑌</m:t>
                              </m:r>
                            </m:e>
                          </m:d>
                        </m:num>
                        <m:den>
                          <m:r>
                            <a:rPr lang="en-US" altLang="zh-CN" b="0" i="1" dirty="0" smtClean="0">
                              <a:latin typeface="Cambria Math" panose="02040503050406030204" pitchFamily="18" charset="0"/>
                            </a:rPr>
                            <m:t>𝐶𝑜𝑣</m:t>
                          </m:r>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𝐷</m:t>
                              </m:r>
                            </m:e>
                          </m:d>
                        </m:den>
                      </m:f>
                      <m:r>
                        <a:rPr lang="en-US" altLang="zh-CN" b="0" i="1" dirty="0" smtClean="0">
                          <a:latin typeface="Cambria Math" panose="02040503050406030204" pitchFamily="18" charset="0"/>
                        </a:rPr>
                        <m:t>,</m:t>
                      </m:r>
                    </m:oMath>
                  </m:oMathPara>
                </a14:m>
                <a:endParaRPr lang="en-US" altLang="zh-CN" b="0" dirty="0"/>
              </a:p>
              <a:p>
                <a:pPr>
                  <a:lnSpc>
                    <a:spcPct val="110000"/>
                  </a:lnSpc>
                </a:pPr>
                <a:r>
                  <a:rPr lang="zh-CN" altLang="en-US" dirty="0"/>
                  <a:t>其中 </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𝐷</m:t>
                        </m:r>
                      </m:e>
                    </m:acc>
                  </m:oMath>
                </a14:m>
                <a:r>
                  <a:rPr lang="zh-CN" altLang="en-US" dirty="0"/>
                  <a:t>是</a:t>
                </a:r>
                <a14:m>
                  <m:oMath xmlns:m="http://schemas.openxmlformats.org/officeDocument/2006/math">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oMath>
                </a14:m>
                <a:r>
                  <a:rPr lang="zh-CN" altLang="en-US" dirty="0"/>
                  <a:t> 对</a:t>
                </a:r>
                <a14:m>
                  <m:oMath xmlns:m="http://schemas.openxmlformats.org/officeDocument/2006/math">
                    <m:r>
                      <a:rPr lang="en-US" altLang="zh-CN" b="0" i="0" dirty="0" smtClean="0">
                        <a:latin typeface="Cambria Math" panose="02040503050406030204" pitchFamily="18" charset="0"/>
                      </a:rPr>
                      <m:t>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𝑋</m:t>
                        </m:r>
                      </m:e>
                      <m:sub>
                        <m:r>
                          <a:rPr lang="zh-CN" altLang="en-US" i="1" dirty="0" smtClean="0">
                            <a:latin typeface="Cambria Math" panose="02040503050406030204" pitchFamily="18" charset="0"/>
                          </a:rPr>
                          <m:t>𝑖</m:t>
                        </m:r>
                      </m:sub>
                    </m:sSub>
                  </m:oMath>
                </a14:m>
                <a:r>
                  <a:rPr lang="zh-CN" altLang="en-US" dirty="0"/>
                  <a:t> 的回归残差。</a:t>
                </a:r>
              </a:p>
            </p:txBody>
          </p:sp>
        </mc:Choice>
        <mc:Fallback xmlns="">
          <p:sp>
            <p:nvSpPr>
              <p:cNvPr id="3" name="内容占位符 2">
                <a:extLst>
                  <a:ext uri="{FF2B5EF4-FFF2-40B4-BE49-F238E27FC236}">
                    <a16:creationId xmlns:a16="http://schemas.microsoft.com/office/drawing/2014/main" id="{339C7393-F6CE-B4AF-473B-1D0DE90DCE23}"/>
                  </a:ext>
                </a:extLst>
              </p:cNvPr>
              <p:cNvSpPr>
                <a:spLocks noGrp="1" noRot="1" noChangeAspect="1" noMove="1" noResize="1" noEditPoints="1" noAdjustHandles="1" noChangeArrowheads="1" noChangeShapeType="1" noTextEdit="1"/>
              </p:cNvSpPr>
              <p:nvPr>
                <p:ph idx="1"/>
              </p:nvPr>
            </p:nvSpPr>
            <p:spPr>
              <a:blipFill>
                <a:blip r:embed="rId2"/>
                <a:stretch>
                  <a:fillRect l="-696" t="-154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3909BC4-AD28-D83D-256E-53940320820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487A45C-8FA5-9A39-D034-BCD1E268F505}"/>
              </a:ext>
            </a:extLst>
          </p:cNvPr>
          <p:cNvSpPr>
            <a:spLocks noGrp="1"/>
          </p:cNvSpPr>
          <p:nvPr>
            <p:ph type="sldNum" sz="quarter" idx="12"/>
          </p:nvPr>
        </p:nvSpPr>
        <p:spPr/>
        <p:txBody>
          <a:bodyPr/>
          <a:lstStyle/>
          <a:p>
            <a:fld id="{D41FC515-8169-4A29-AA56-DBE520D5741B}" type="slidenum">
              <a:rPr lang="zh-CN" altLang="en-US" smtClean="0"/>
              <a:t>12</a:t>
            </a:fld>
            <a:endParaRPr lang="zh-CN" altLang="en-US"/>
          </a:p>
        </p:txBody>
      </p:sp>
    </p:spTree>
    <p:extLst>
      <p:ext uri="{BB962C8B-B14F-4D97-AF65-F5344CB8AC3E}">
        <p14:creationId xmlns:p14="http://schemas.microsoft.com/office/powerpoint/2010/main" val="2851694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439C0B-AE93-F492-2737-915ECA693034}"/>
              </a:ext>
            </a:extLst>
          </p:cNvPr>
          <p:cNvSpPr>
            <a:spLocks noGrp="1"/>
          </p:cNvSpPr>
          <p:nvPr>
            <p:ph type="title"/>
          </p:nvPr>
        </p:nvSpPr>
        <p:spPr/>
        <p:txBody>
          <a:bodyPr/>
          <a:lstStyle/>
          <a:p>
            <a:r>
              <a:rPr lang="zh-CN" altLang="en-US" dirty="0"/>
              <a:t>经典工具变量法</a:t>
            </a:r>
          </a:p>
        </p:txBody>
      </p:sp>
      <p:sp>
        <p:nvSpPr>
          <p:cNvPr id="3" name="内容占位符 2">
            <a:extLst>
              <a:ext uri="{FF2B5EF4-FFF2-40B4-BE49-F238E27FC236}">
                <a16:creationId xmlns:a16="http://schemas.microsoft.com/office/drawing/2014/main" id="{BDA5406A-9861-20B7-14ED-08E774504CBF}"/>
              </a:ext>
            </a:extLst>
          </p:cNvPr>
          <p:cNvSpPr>
            <a:spLocks noGrp="1"/>
          </p:cNvSpPr>
          <p:nvPr>
            <p:ph idx="1"/>
          </p:nvPr>
        </p:nvSpPr>
        <p:spPr/>
        <p:txBody>
          <a:bodyPr/>
          <a:lstStyle/>
          <a:p>
            <a:r>
              <a:rPr lang="en-US" altLang="zh-CN" dirty="0"/>
              <a:t>Angrist and Krueger (1991)</a:t>
            </a:r>
            <a:endParaRPr lang="zh-CN" altLang="en-US" dirty="0"/>
          </a:p>
        </p:txBody>
      </p:sp>
      <p:sp>
        <p:nvSpPr>
          <p:cNvPr id="4" name="页脚占位符 3">
            <a:extLst>
              <a:ext uri="{FF2B5EF4-FFF2-40B4-BE49-F238E27FC236}">
                <a16:creationId xmlns:a16="http://schemas.microsoft.com/office/drawing/2014/main" id="{EF24BA39-B843-F149-D2E0-3A85429660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571CD59-D6ED-A37F-2F05-BC053B5433AD}"/>
              </a:ext>
            </a:extLst>
          </p:cNvPr>
          <p:cNvSpPr>
            <a:spLocks noGrp="1"/>
          </p:cNvSpPr>
          <p:nvPr>
            <p:ph type="sldNum" sz="quarter" idx="12"/>
          </p:nvPr>
        </p:nvSpPr>
        <p:spPr/>
        <p:txBody>
          <a:bodyPr/>
          <a:lstStyle/>
          <a:p>
            <a:fld id="{D41FC515-8169-4A29-AA56-DBE520D5741B}" type="slidenum">
              <a:rPr lang="zh-CN" altLang="en-US" smtClean="0"/>
              <a:t>13</a:t>
            </a:fld>
            <a:endParaRPr lang="zh-CN" altLang="en-US"/>
          </a:p>
        </p:txBody>
      </p:sp>
      <p:pic>
        <p:nvPicPr>
          <p:cNvPr id="7" name="图片 6">
            <a:extLst>
              <a:ext uri="{FF2B5EF4-FFF2-40B4-BE49-F238E27FC236}">
                <a16:creationId xmlns:a16="http://schemas.microsoft.com/office/drawing/2014/main" id="{06EAD243-83FF-92F4-E116-FB44C925CB15}"/>
              </a:ext>
            </a:extLst>
          </p:cNvPr>
          <p:cNvPicPr>
            <a:picLocks noChangeAspect="1"/>
          </p:cNvPicPr>
          <p:nvPr/>
        </p:nvPicPr>
        <p:blipFill>
          <a:blip r:embed="rId2"/>
          <a:stretch>
            <a:fillRect/>
          </a:stretch>
        </p:blipFill>
        <p:spPr>
          <a:xfrm>
            <a:off x="1311200" y="2210270"/>
            <a:ext cx="6336406" cy="3966693"/>
          </a:xfrm>
          <a:prstGeom prst="rect">
            <a:avLst/>
          </a:prstGeom>
        </p:spPr>
      </p:pic>
    </p:spTree>
    <p:extLst>
      <p:ext uri="{BB962C8B-B14F-4D97-AF65-F5344CB8AC3E}">
        <p14:creationId xmlns:p14="http://schemas.microsoft.com/office/powerpoint/2010/main" val="3444411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385829-6ED3-4D57-CF50-081591377223}"/>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3D9AC68-A2A2-30F5-5980-0EC18D1E6066}"/>
                  </a:ext>
                </a:extLst>
              </p:cNvPr>
              <p:cNvSpPr>
                <a:spLocks noGrp="1"/>
              </p:cNvSpPr>
              <p:nvPr>
                <p:ph idx="1"/>
              </p:nvPr>
            </p:nvSpPr>
            <p:spPr/>
            <p:txBody>
              <a:bodyPr>
                <a:normAutofit fontScale="70000" lnSpcReduction="20000"/>
              </a:bodyPr>
              <a:lstStyle/>
              <a:p>
                <a:pPr>
                  <a:lnSpc>
                    <a:spcPct val="120000"/>
                  </a:lnSpc>
                </a:pPr>
                <a:r>
                  <a:rPr lang="en-US" altLang="zh-CN" dirty="0"/>
                  <a:t>Wald </a:t>
                </a:r>
                <a:r>
                  <a:rPr lang="zh-CN" altLang="en-US" dirty="0"/>
                  <a:t>估计量</a:t>
                </a:r>
                <a:endParaRPr lang="en-US" altLang="zh-CN" dirty="0"/>
              </a:p>
              <a:p>
                <a:pPr>
                  <a:lnSpc>
                    <a:spcPct val="120000"/>
                  </a:lnSpc>
                </a:pPr>
                <a:r>
                  <a:rPr lang="zh-CN" altLang="en-US" dirty="0"/>
                  <a:t>如果工具变量𝑍 是二值变量，工具变量估计量具有更简单的形式，假设𝑍 </a:t>
                </a:r>
                <a:r>
                  <a:rPr lang="en-US" altLang="zh-CN" dirty="0"/>
                  <a:t>= 1 </a:t>
                </a:r>
                <a:r>
                  <a:rPr lang="zh-CN" altLang="en-US" dirty="0"/>
                  <a:t>的概率为𝑝，则</a:t>
                </a:r>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𝐶𝑜𝑣</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𝑌</m:t>
                          </m:r>
                          <m:r>
                            <a:rPr lang="en-US" altLang="zh-CN" i="1" dirty="0">
                              <a:latin typeface="Cambria Math" panose="02040503050406030204" pitchFamily="18" charset="0"/>
                            </a:rPr>
                            <m:t>, </m:t>
                          </m:r>
                          <m:r>
                            <a:rPr lang="zh-CN" altLang="en-US" i="1" dirty="0">
                              <a:latin typeface="Cambria Math" panose="02040503050406030204" pitchFamily="18" charset="0"/>
                            </a:rPr>
                            <m:t>𝑍</m:t>
                          </m:r>
                        </m:e>
                      </m:d>
                      <m:r>
                        <a:rPr lang="en-US" altLang="zh-CN" i="1" dirty="0">
                          <a:latin typeface="Cambria Math" panose="02040503050406030204" pitchFamily="18" charset="0"/>
                        </a:rPr>
                        <m:t>= </m:t>
                      </m:r>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𝑌𝑍</m:t>
                          </m:r>
                        </m:e>
                      </m:d>
                      <m:r>
                        <a:rPr lang="en-US" altLang="zh-CN" i="1" dirty="0">
                          <a:latin typeface="Cambria Math" panose="02040503050406030204" pitchFamily="18" charset="0"/>
                        </a:rPr>
                        <m:t>− </m:t>
                      </m:r>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𝑌</m:t>
                          </m:r>
                        </m:e>
                      </m:d>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𝑍</m:t>
                          </m:r>
                        </m:e>
                      </m:d>
                      <m:r>
                        <a:rPr lang="en-US" altLang="zh-CN" i="1" dirty="0" smtClean="0">
                          <a:latin typeface="Cambria Math" panose="02040503050406030204" pitchFamily="18" charset="0"/>
                        </a:rPr>
                        <m:t>= </m:t>
                      </m:r>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𝑍𝐸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𝑌</m:t>
                              </m:r>
                            </m:e>
                            <m:e>
                              <m:r>
                                <a:rPr lang="zh-CN" altLang="en-US" i="1" dirty="0">
                                  <a:latin typeface="Cambria Math" panose="02040503050406030204" pitchFamily="18" charset="0"/>
                                </a:rPr>
                                <m:t>𝑍</m:t>
                              </m:r>
                            </m:e>
                          </m:d>
                        </m:e>
                      </m:d>
                      <m:r>
                        <a:rPr lang="en-US" altLang="zh-CN" i="1" dirty="0">
                          <a:latin typeface="Cambria Math" panose="02040503050406030204" pitchFamily="18" charset="0"/>
                        </a:rPr>
                        <m:t>− </m:t>
                      </m:r>
                      <m:r>
                        <a:rPr lang="zh-CN" altLang="en-US" i="1" dirty="0">
                          <a:latin typeface="Cambria Math" panose="02040503050406030204" pitchFamily="18" charset="0"/>
                        </a:rPr>
                        <m:t>𝑝𝐸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𝑌</m:t>
                              </m:r>
                            </m:e>
                            <m:e>
                              <m:r>
                                <a:rPr lang="zh-CN" altLang="en-US" i="1" dirty="0">
                                  <a:latin typeface="Cambria Math" panose="02040503050406030204" pitchFamily="18" charset="0"/>
                                </a:rPr>
                                <m:t>𝑍</m:t>
                              </m:r>
                            </m:e>
                          </m:d>
                        </m:e>
                      </m:d>
                    </m:oMath>
                    <m:oMath>
                      <m:r>
                        <a:rPr lang="en-US" altLang="zh-CN" i="1" dirty="0" smtClean="0">
                          <a:latin typeface="Cambria Math" panose="02040503050406030204" pitchFamily="18" charset="0"/>
                        </a:rPr>
                        <m:t>= </m:t>
                      </m:r>
                      <m:r>
                        <a:rPr lang="zh-CN" altLang="en-US" i="1" dirty="0">
                          <a:latin typeface="Cambria Math" panose="02040503050406030204" pitchFamily="18" charset="0"/>
                        </a:rPr>
                        <m:t>𝑝𝐸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𝑌</m:t>
                          </m:r>
                        </m:e>
                        <m:e>
                          <m:r>
                            <a:rPr lang="zh-CN" altLang="en-US" i="1" dirty="0">
                              <a:latin typeface="Cambria Math" panose="02040503050406030204" pitchFamily="18" charset="0"/>
                            </a:rPr>
                            <m:t>𝑍</m:t>
                          </m:r>
                          <m:r>
                            <a:rPr lang="zh-CN" altLang="en-US" i="1" dirty="0">
                              <a:latin typeface="Cambria Math" panose="02040503050406030204" pitchFamily="18" charset="0"/>
                            </a:rPr>
                            <m:t> = 1</m:t>
                          </m:r>
                        </m:e>
                      </m:d>
                      <m:r>
                        <a:rPr lang="en-US" altLang="zh-CN" i="1" dirty="0">
                          <a:latin typeface="Cambria Math" panose="02040503050406030204" pitchFamily="18" charset="0"/>
                        </a:rPr>
                        <m:t>− </m:t>
                      </m:r>
                      <m:r>
                        <a:rPr lang="zh-CN" altLang="en-US" i="1" dirty="0">
                          <a:latin typeface="Cambria Math" panose="02040503050406030204" pitchFamily="18" charset="0"/>
                        </a:rPr>
                        <m:t>𝑝</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𝑝𝐸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𝑌</m:t>
                              </m:r>
                            </m:e>
                            <m:e>
                              <m:r>
                                <a:rPr lang="zh-CN" altLang="en-US" i="1" dirty="0">
                                  <a:latin typeface="Cambria Math" panose="02040503050406030204" pitchFamily="18" charset="0"/>
                                </a:rPr>
                                <m:t>𝑍</m:t>
                              </m:r>
                              <m:r>
                                <a:rPr lang="zh-CN" altLang="en-US" i="1" dirty="0">
                                  <a:latin typeface="Cambria Math" panose="02040503050406030204" pitchFamily="18" charset="0"/>
                                </a:rPr>
                                <m:t> = 1</m:t>
                              </m:r>
                            </m:e>
                          </m:d>
                          <m:r>
                            <a:rPr lang="en-US" altLang="zh-CN" i="1" dirty="0">
                              <a:latin typeface="Cambria Math" panose="02040503050406030204" pitchFamily="18" charset="0"/>
                            </a:rPr>
                            <m:t>+ </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1 − </m:t>
                              </m:r>
                              <m:r>
                                <a:rPr lang="zh-CN" altLang="en-US" i="1" dirty="0">
                                  <a:latin typeface="Cambria Math" panose="02040503050406030204" pitchFamily="18" charset="0"/>
                                </a:rPr>
                                <m:t>𝑝</m:t>
                              </m:r>
                            </m:e>
                          </m:d>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𝑌</m:t>
                              </m:r>
                            </m:e>
                            <m:e>
                              <m:r>
                                <a:rPr lang="zh-CN" altLang="en-US" i="1" dirty="0">
                                  <a:latin typeface="Cambria Math" panose="02040503050406030204" pitchFamily="18" charset="0"/>
                                </a:rPr>
                                <m:t>𝑍</m:t>
                              </m:r>
                              <m:r>
                                <a:rPr lang="zh-CN" altLang="en-US" i="1" dirty="0">
                                  <a:latin typeface="Cambria Math" panose="02040503050406030204" pitchFamily="18" charset="0"/>
                                </a:rPr>
                                <m:t> = 0</m:t>
                              </m:r>
                            </m:e>
                          </m:d>
                        </m:e>
                      </m:d>
                    </m:oMath>
                    <m:oMath>
                      <m:r>
                        <a:rPr lang="en-US" altLang="zh-CN" i="1" dirty="0" smtClean="0">
                          <a:latin typeface="Cambria Math" panose="02040503050406030204" pitchFamily="18" charset="0"/>
                        </a:rPr>
                        <m:t>= </m:t>
                      </m:r>
                      <m:r>
                        <a:rPr lang="zh-CN" altLang="en-US" i="1" dirty="0">
                          <a:latin typeface="Cambria Math" panose="02040503050406030204" pitchFamily="18" charset="0"/>
                        </a:rPr>
                        <m:t>𝑝</m:t>
                      </m:r>
                      <m:r>
                        <a:rPr lang="en-US" altLang="zh-CN" i="1" dirty="0">
                          <a:latin typeface="Cambria Math" panose="02040503050406030204" pitchFamily="18" charset="0"/>
                        </a:rPr>
                        <m:t>(1 − </m:t>
                      </m:r>
                      <m:r>
                        <a:rPr lang="zh-CN" altLang="en-US" i="1" dirty="0">
                          <a:latin typeface="Cambria Math" panose="02040503050406030204" pitchFamily="18" charset="0"/>
                        </a:rPr>
                        <m:t>𝑝</m:t>
                      </m:r>
                      <m:r>
                        <a:rPr lang="en-US" altLang="zh-CN" i="1" dirty="0">
                          <a:latin typeface="Cambria Math" panose="02040503050406030204" pitchFamily="18" charset="0"/>
                        </a:rPr>
                        <m:t>){</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𝑌</m:t>
                      </m:r>
                      <m:r>
                        <a:rPr lang="en-US" altLang="zh-CN" i="1" dirty="0">
                          <a:latin typeface="Cambria Math" panose="02040503050406030204" pitchFamily="18" charset="0"/>
                        </a:rPr>
                        <m:t>|</m:t>
                      </m:r>
                      <m:r>
                        <a:rPr lang="zh-CN" altLang="en-US" i="1" dirty="0">
                          <a:latin typeface="Cambria Math" panose="02040503050406030204" pitchFamily="18" charset="0"/>
                        </a:rPr>
                        <m:t>𝑍</m:t>
                      </m:r>
                      <m:r>
                        <a:rPr lang="zh-CN" altLang="en-US" i="1" dirty="0">
                          <a:latin typeface="Cambria Math" panose="02040503050406030204" pitchFamily="18" charset="0"/>
                        </a:rPr>
                        <m:t> = 1] −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𝑌</m:t>
                      </m:r>
                      <m:r>
                        <a:rPr lang="en-US" altLang="zh-CN" i="1" dirty="0">
                          <a:latin typeface="Cambria Math" panose="02040503050406030204" pitchFamily="18" charset="0"/>
                        </a:rPr>
                        <m:t>|</m:t>
                      </m:r>
                      <m:r>
                        <a:rPr lang="zh-CN" altLang="en-US" i="1" dirty="0">
                          <a:latin typeface="Cambria Math" panose="02040503050406030204" pitchFamily="18" charset="0"/>
                        </a:rPr>
                        <m:t>𝑍</m:t>
                      </m:r>
                      <m:r>
                        <a:rPr lang="zh-CN" altLang="en-US" i="1" dirty="0">
                          <a:latin typeface="Cambria Math" panose="02040503050406030204" pitchFamily="18" charset="0"/>
                        </a:rPr>
                        <m:t> = 0]}.</m:t>
                      </m:r>
                    </m:oMath>
                  </m:oMathPara>
                </a14:m>
                <a:endParaRPr lang="en-US" altLang="zh-CN" dirty="0"/>
              </a:p>
              <a:p>
                <a:pPr marL="0" indent="0">
                  <a:lnSpc>
                    <a:spcPct val="120000"/>
                  </a:lnSpc>
                  <a:buNone/>
                </a:pPr>
                <a:r>
                  <a:rPr lang="zh-CN" altLang="en-US" dirty="0"/>
                  <a:t>类似地，</a:t>
                </a:r>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𝐶𝑜𝑣</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en-US" altLang="zh-CN" i="1" dirty="0">
                          <a:latin typeface="Cambria Math" panose="02040503050406030204" pitchFamily="18" charset="0"/>
                        </a:rPr>
                        <m:t>, </m:t>
                      </m:r>
                      <m:r>
                        <a:rPr lang="zh-CN" altLang="en-US" i="1" dirty="0">
                          <a:latin typeface="Cambria Math" panose="02040503050406030204" pitchFamily="18" charset="0"/>
                        </a:rPr>
                        <m:t>𝑍</m:t>
                      </m:r>
                      <m:r>
                        <a:rPr lang="en-US" altLang="zh-CN" i="1" dirty="0">
                          <a:latin typeface="Cambria Math" panose="02040503050406030204" pitchFamily="18" charset="0"/>
                        </a:rPr>
                        <m:t>) = </m:t>
                      </m:r>
                      <m:r>
                        <a:rPr lang="zh-CN" altLang="en-US" i="1" dirty="0">
                          <a:latin typeface="Cambria Math" panose="02040503050406030204" pitchFamily="18" charset="0"/>
                        </a:rPr>
                        <m:t>𝑝</m:t>
                      </m:r>
                      <m:r>
                        <a:rPr lang="en-US" altLang="zh-CN" i="1" dirty="0">
                          <a:latin typeface="Cambria Math" panose="02040503050406030204" pitchFamily="18" charset="0"/>
                        </a:rPr>
                        <m:t>(1 − </m:t>
                      </m:r>
                      <m:r>
                        <a:rPr lang="zh-CN" altLang="en-US" i="1" dirty="0">
                          <a:latin typeface="Cambria Math" panose="02040503050406030204" pitchFamily="18" charset="0"/>
                        </a:rPr>
                        <m:t>𝑝</m:t>
                      </m:r>
                      <m:r>
                        <a:rPr lang="en-US" altLang="zh-CN" i="1" dirty="0">
                          <a:latin typeface="Cambria Math" panose="02040503050406030204" pitchFamily="18" charset="0"/>
                        </a:rPr>
                        <m:t>){</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en-US" altLang="zh-CN" i="1" dirty="0">
                          <a:latin typeface="Cambria Math" panose="02040503050406030204" pitchFamily="18" charset="0"/>
                        </a:rPr>
                        <m:t>|</m:t>
                      </m:r>
                      <m:r>
                        <a:rPr lang="zh-CN" altLang="en-US" i="1" dirty="0">
                          <a:latin typeface="Cambria Math" panose="02040503050406030204" pitchFamily="18" charset="0"/>
                        </a:rPr>
                        <m:t>𝑍</m:t>
                      </m:r>
                      <m:r>
                        <a:rPr lang="zh-CN" altLang="en-US" i="1" dirty="0">
                          <a:latin typeface="Cambria Math" panose="02040503050406030204" pitchFamily="18" charset="0"/>
                        </a:rPr>
                        <m:t> = 1] −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en-US" altLang="zh-CN" i="1" dirty="0">
                          <a:latin typeface="Cambria Math" panose="02040503050406030204" pitchFamily="18" charset="0"/>
                        </a:rPr>
                        <m:t>|</m:t>
                      </m:r>
                      <m:r>
                        <a:rPr lang="zh-CN" altLang="en-US" i="1" dirty="0">
                          <a:latin typeface="Cambria Math" panose="02040503050406030204" pitchFamily="18" charset="0"/>
                        </a:rPr>
                        <m:t>𝑍</m:t>
                      </m:r>
                      <m:r>
                        <a:rPr lang="zh-CN" altLang="en-US" i="1" dirty="0">
                          <a:latin typeface="Cambria Math" panose="02040503050406030204" pitchFamily="18" charset="0"/>
                        </a:rPr>
                        <m:t> = 0]}.</m:t>
                      </m:r>
                    </m:oMath>
                  </m:oMathPara>
                </a14:m>
                <a:endParaRPr lang="en-US" altLang="zh-CN" dirty="0"/>
              </a:p>
              <a:p>
                <a:pPr>
                  <a:lnSpc>
                    <a:spcPct val="120000"/>
                  </a:lnSpc>
                </a:pPr>
                <a:r>
                  <a:rPr lang="zh-CN" altLang="en-US" dirty="0"/>
                  <a:t>工具变量估计测度可以写为：</a:t>
                </a:r>
                <a:endParaRPr lang="en-US" altLang="zh-CN" dirty="0"/>
              </a:p>
              <a:p>
                <a:pPr marL="0" indent="0">
                  <a:lnSpc>
                    <a:spcPct val="120000"/>
                  </a:lnSpc>
                  <a:buNone/>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𝜏</m:t>
                          </m:r>
                        </m:e>
                        <m:sub>
                          <m:r>
                            <a:rPr lang="en-US" altLang="zh-CN" b="0" i="1" smtClean="0">
                              <a:latin typeface="Cambria Math" panose="02040503050406030204" pitchFamily="18" charset="0"/>
                            </a:rPr>
                            <m:t>𝐼𝑉</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m:t>
                              </m:r>
                              <m:r>
                                <a:rPr lang="en-US" altLang="zh-CN" b="0" i="1" smtClean="0">
                                  <a:latin typeface="Cambria Math" panose="02040503050406030204" pitchFamily="18" charset="0"/>
                                </a:rPr>
                                <m:t>𝑍</m:t>
                              </m:r>
                            </m:e>
                          </m:d>
                        </m:num>
                        <m:den>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𝑍</m:t>
                              </m:r>
                            </m:e>
                          </m:d>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𝑍</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r>
                            <a:rPr lang="en-US" altLang="zh-CN" b="0" i="1" smtClean="0">
                              <a:latin typeface="Cambria Math" panose="02040503050406030204" pitchFamily="18" charset="0"/>
                            </a:rPr>
                            <m:t>|</m:t>
                          </m:r>
                          <m:r>
                            <a:rPr lang="en-US" altLang="zh-CN" b="0" i="1" smtClean="0">
                              <a:latin typeface="Cambria Math" panose="02040503050406030204" pitchFamily="18" charset="0"/>
                            </a:rPr>
                            <m:t>𝑍</m:t>
                          </m:r>
                          <m:r>
                            <a:rPr lang="en-US" altLang="zh-CN" b="0" i="1" smtClean="0">
                              <a:latin typeface="Cambria Math" panose="02040503050406030204" pitchFamily="18" charset="0"/>
                            </a:rPr>
                            <m:t>=0]</m:t>
                          </m:r>
                        </m:num>
                        <m:den>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e>
                            <m:e>
                              <m:r>
                                <a:rPr lang="en-US" altLang="zh-CN" b="0" i="1" smtClean="0">
                                  <a:latin typeface="Cambria Math" panose="02040503050406030204" pitchFamily="18" charset="0"/>
                                </a:rPr>
                                <m:t>𝑍</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𝑍</m:t>
                          </m:r>
                          <m:r>
                            <a:rPr lang="en-US" altLang="zh-CN" b="0" i="1" smtClean="0">
                              <a:latin typeface="Cambria Math" panose="02040503050406030204" pitchFamily="18" charset="0"/>
                            </a:rPr>
                            <m:t>=0]</m:t>
                          </m:r>
                        </m:den>
                      </m:f>
                      <m:r>
                        <a:rPr lang="en-US" altLang="zh-CN" b="0" i="1"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63D9AC68-A2A2-30F5-5980-0EC18D1E6066}"/>
                  </a:ext>
                </a:extLst>
              </p:cNvPr>
              <p:cNvSpPr>
                <a:spLocks noGrp="1" noRot="1" noChangeAspect="1" noMove="1" noResize="1" noEditPoints="1" noAdjustHandles="1" noChangeArrowheads="1" noChangeShapeType="1" noTextEdit="1"/>
              </p:cNvSpPr>
              <p:nvPr>
                <p:ph idx="1"/>
              </p:nvPr>
            </p:nvSpPr>
            <p:spPr>
              <a:blipFill>
                <a:blip r:embed="rId2"/>
                <a:stretch>
                  <a:fillRect l="-773"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7890E14-562D-BDA4-DDBF-B18BE73D977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027D82D-31B5-1B55-828C-0491E249E730}"/>
              </a:ext>
            </a:extLst>
          </p:cNvPr>
          <p:cNvSpPr>
            <a:spLocks noGrp="1"/>
          </p:cNvSpPr>
          <p:nvPr>
            <p:ph type="sldNum" sz="quarter" idx="12"/>
          </p:nvPr>
        </p:nvSpPr>
        <p:spPr/>
        <p:txBody>
          <a:bodyPr/>
          <a:lstStyle/>
          <a:p>
            <a:fld id="{D41FC515-8169-4A29-AA56-DBE520D5741B}" type="slidenum">
              <a:rPr lang="zh-CN" altLang="en-US" smtClean="0"/>
              <a:t>14</a:t>
            </a:fld>
            <a:endParaRPr lang="zh-CN" altLang="en-US"/>
          </a:p>
        </p:txBody>
      </p:sp>
    </p:spTree>
    <p:extLst>
      <p:ext uri="{BB962C8B-B14F-4D97-AF65-F5344CB8AC3E}">
        <p14:creationId xmlns:p14="http://schemas.microsoft.com/office/powerpoint/2010/main" val="3457040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613FD-4072-1D39-5378-2DFE5E0000B7}"/>
              </a:ext>
            </a:extLst>
          </p:cNvPr>
          <p:cNvSpPr>
            <a:spLocks noGrp="1"/>
          </p:cNvSpPr>
          <p:nvPr>
            <p:ph type="title"/>
          </p:nvPr>
        </p:nvSpPr>
        <p:spPr/>
        <p:txBody>
          <a:bodyPr/>
          <a:lstStyle/>
          <a:p>
            <a:r>
              <a:rPr lang="zh-CN" altLang="en-US" dirty="0"/>
              <a:t>经典工具变量法</a:t>
            </a:r>
          </a:p>
        </p:txBody>
      </p:sp>
      <p:sp>
        <p:nvSpPr>
          <p:cNvPr id="3" name="内容占位符 2">
            <a:extLst>
              <a:ext uri="{FF2B5EF4-FFF2-40B4-BE49-F238E27FC236}">
                <a16:creationId xmlns:a16="http://schemas.microsoft.com/office/drawing/2014/main" id="{41560F45-CEBA-E12E-394E-767B6E37DB26}"/>
              </a:ext>
            </a:extLst>
          </p:cNvPr>
          <p:cNvSpPr>
            <a:spLocks noGrp="1"/>
          </p:cNvSpPr>
          <p:nvPr>
            <p:ph idx="1"/>
          </p:nvPr>
        </p:nvSpPr>
        <p:spPr/>
        <p:txBody>
          <a:bodyPr/>
          <a:lstStyle/>
          <a:p>
            <a:r>
              <a:rPr lang="en-US" altLang="zh-CN" dirty="0"/>
              <a:t>Angrist and Kreuger(1991) </a:t>
            </a:r>
            <a:r>
              <a:rPr lang="zh-CN" altLang="en-US" dirty="0"/>
              <a:t>的</a:t>
            </a:r>
            <a:r>
              <a:rPr lang="en-US" altLang="zh-CN" dirty="0"/>
              <a:t>Wald </a:t>
            </a:r>
            <a:r>
              <a:rPr lang="zh-CN" altLang="en-US" dirty="0"/>
              <a:t>估计量</a:t>
            </a:r>
          </a:p>
        </p:txBody>
      </p:sp>
      <p:sp>
        <p:nvSpPr>
          <p:cNvPr id="4" name="页脚占位符 3">
            <a:extLst>
              <a:ext uri="{FF2B5EF4-FFF2-40B4-BE49-F238E27FC236}">
                <a16:creationId xmlns:a16="http://schemas.microsoft.com/office/drawing/2014/main" id="{04B101F0-F4FE-BEE4-4DF9-509CC69F51F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AB987D-FF09-AEC1-BE9D-9EC2418A9EE5}"/>
              </a:ext>
            </a:extLst>
          </p:cNvPr>
          <p:cNvSpPr>
            <a:spLocks noGrp="1"/>
          </p:cNvSpPr>
          <p:nvPr>
            <p:ph type="sldNum" sz="quarter" idx="12"/>
          </p:nvPr>
        </p:nvSpPr>
        <p:spPr/>
        <p:txBody>
          <a:bodyPr/>
          <a:lstStyle/>
          <a:p>
            <a:fld id="{D41FC515-8169-4A29-AA56-DBE520D5741B}" type="slidenum">
              <a:rPr lang="zh-CN" altLang="en-US" smtClean="0"/>
              <a:t>15</a:t>
            </a:fld>
            <a:endParaRPr lang="zh-CN" altLang="en-US"/>
          </a:p>
        </p:txBody>
      </p:sp>
      <p:pic>
        <p:nvPicPr>
          <p:cNvPr id="7" name="图片 6">
            <a:extLst>
              <a:ext uri="{FF2B5EF4-FFF2-40B4-BE49-F238E27FC236}">
                <a16:creationId xmlns:a16="http://schemas.microsoft.com/office/drawing/2014/main" id="{6B5F0AB2-7602-785B-C3B4-701DDF5FBEC6}"/>
              </a:ext>
            </a:extLst>
          </p:cNvPr>
          <p:cNvPicPr>
            <a:picLocks noChangeAspect="1"/>
          </p:cNvPicPr>
          <p:nvPr/>
        </p:nvPicPr>
        <p:blipFill>
          <a:blip r:embed="rId2"/>
          <a:srcRect t="1588"/>
          <a:stretch>
            <a:fillRect/>
          </a:stretch>
        </p:blipFill>
        <p:spPr>
          <a:xfrm>
            <a:off x="850389" y="2488557"/>
            <a:ext cx="7698962" cy="3449255"/>
          </a:xfrm>
          <a:prstGeom prst="rect">
            <a:avLst/>
          </a:prstGeom>
        </p:spPr>
      </p:pic>
    </p:spTree>
    <p:extLst>
      <p:ext uri="{BB962C8B-B14F-4D97-AF65-F5344CB8AC3E}">
        <p14:creationId xmlns:p14="http://schemas.microsoft.com/office/powerpoint/2010/main" val="67226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89121D-9524-BD05-0D1C-3F427AD89933}"/>
              </a:ext>
            </a:extLst>
          </p:cNvPr>
          <p:cNvSpPr>
            <a:spLocks noGrp="1"/>
          </p:cNvSpPr>
          <p:nvPr>
            <p:ph type="title"/>
          </p:nvPr>
        </p:nvSpPr>
        <p:spPr/>
        <p:txBody>
          <a:bodyPr/>
          <a:lstStyle/>
          <a:p>
            <a:r>
              <a:rPr lang="zh-CN" altLang="en-US" dirty="0"/>
              <a:t>经典工具变量法</a:t>
            </a:r>
          </a:p>
        </p:txBody>
      </p:sp>
      <p:sp>
        <p:nvSpPr>
          <p:cNvPr id="3" name="内容占位符 2">
            <a:extLst>
              <a:ext uri="{FF2B5EF4-FFF2-40B4-BE49-F238E27FC236}">
                <a16:creationId xmlns:a16="http://schemas.microsoft.com/office/drawing/2014/main" id="{D30526EB-A815-5DF5-9B8B-B48D79CF8DE3}"/>
              </a:ext>
            </a:extLst>
          </p:cNvPr>
          <p:cNvSpPr>
            <a:spLocks noGrp="1"/>
          </p:cNvSpPr>
          <p:nvPr>
            <p:ph idx="1"/>
          </p:nvPr>
        </p:nvSpPr>
        <p:spPr/>
        <p:txBody>
          <a:bodyPr/>
          <a:lstStyle/>
          <a:p>
            <a:r>
              <a:rPr lang="en-US" altLang="zh-CN" dirty="0"/>
              <a:t>Angrist(1990) </a:t>
            </a:r>
            <a:r>
              <a:rPr lang="zh-CN" altLang="en-US" dirty="0"/>
              <a:t>服兵役对个人收入的影响。</a:t>
            </a:r>
          </a:p>
        </p:txBody>
      </p:sp>
      <p:sp>
        <p:nvSpPr>
          <p:cNvPr id="4" name="页脚占位符 3">
            <a:extLst>
              <a:ext uri="{FF2B5EF4-FFF2-40B4-BE49-F238E27FC236}">
                <a16:creationId xmlns:a16="http://schemas.microsoft.com/office/drawing/2014/main" id="{D4AD105D-05B3-C6B0-9B1F-7821173E6D7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CFFA84-A66A-C057-A6D8-A15EFA077299}"/>
              </a:ext>
            </a:extLst>
          </p:cNvPr>
          <p:cNvSpPr>
            <a:spLocks noGrp="1"/>
          </p:cNvSpPr>
          <p:nvPr>
            <p:ph type="sldNum" sz="quarter" idx="12"/>
          </p:nvPr>
        </p:nvSpPr>
        <p:spPr/>
        <p:txBody>
          <a:bodyPr/>
          <a:lstStyle/>
          <a:p>
            <a:fld id="{D41FC515-8169-4A29-AA56-DBE520D5741B}" type="slidenum">
              <a:rPr lang="zh-CN" altLang="en-US" smtClean="0"/>
              <a:t>16</a:t>
            </a:fld>
            <a:endParaRPr lang="zh-CN" altLang="en-US"/>
          </a:p>
        </p:txBody>
      </p:sp>
      <p:pic>
        <p:nvPicPr>
          <p:cNvPr id="7" name="图片 6">
            <a:extLst>
              <a:ext uri="{FF2B5EF4-FFF2-40B4-BE49-F238E27FC236}">
                <a16:creationId xmlns:a16="http://schemas.microsoft.com/office/drawing/2014/main" id="{C7735405-E861-E7DA-B5CE-6519266466D8}"/>
              </a:ext>
            </a:extLst>
          </p:cNvPr>
          <p:cNvPicPr>
            <a:picLocks noChangeAspect="1"/>
          </p:cNvPicPr>
          <p:nvPr/>
        </p:nvPicPr>
        <p:blipFill>
          <a:blip r:embed="rId2"/>
          <a:srcRect t="-62"/>
          <a:stretch>
            <a:fillRect/>
          </a:stretch>
        </p:blipFill>
        <p:spPr>
          <a:xfrm>
            <a:off x="941298" y="2361235"/>
            <a:ext cx="7433233" cy="2939970"/>
          </a:xfrm>
          <a:prstGeom prst="rect">
            <a:avLst/>
          </a:prstGeom>
        </p:spPr>
      </p:pic>
    </p:spTree>
    <p:extLst>
      <p:ext uri="{BB962C8B-B14F-4D97-AF65-F5344CB8AC3E}">
        <p14:creationId xmlns:p14="http://schemas.microsoft.com/office/powerpoint/2010/main" val="2176012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A4836A-0E76-B023-4B03-AD111D44724F}"/>
              </a:ext>
            </a:extLst>
          </p:cNvPr>
          <p:cNvSpPr>
            <a:spLocks noGrp="1"/>
          </p:cNvSpPr>
          <p:nvPr>
            <p:ph type="title"/>
          </p:nvPr>
        </p:nvSpPr>
        <p:spPr/>
        <p:txBody>
          <a:bodyPr/>
          <a:lstStyle/>
          <a:p>
            <a:r>
              <a:rPr lang="zh-CN" altLang="en-US" dirty="0"/>
              <a:t>经典工具变量法</a:t>
            </a:r>
            <a:br>
              <a:rPr lang="zh-CN" altLang="en-US" dirty="0"/>
            </a:br>
            <a:r>
              <a:rPr lang="zh-CN" altLang="en-US" sz="2400" dirty="0"/>
              <a:t>有效工具变量的条件检验</a:t>
            </a:r>
          </a:p>
        </p:txBody>
      </p:sp>
      <p:sp>
        <p:nvSpPr>
          <p:cNvPr id="3" name="内容占位符 2">
            <a:extLst>
              <a:ext uri="{FF2B5EF4-FFF2-40B4-BE49-F238E27FC236}">
                <a16:creationId xmlns:a16="http://schemas.microsoft.com/office/drawing/2014/main" id="{2BD2F24A-AE5F-5739-9730-2EBF95DE8688}"/>
              </a:ext>
            </a:extLst>
          </p:cNvPr>
          <p:cNvSpPr>
            <a:spLocks noGrp="1"/>
          </p:cNvSpPr>
          <p:nvPr>
            <p:ph idx="1"/>
          </p:nvPr>
        </p:nvSpPr>
        <p:spPr>
          <a:xfrm>
            <a:off x="628650" y="1825625"/>
            <a:ext cx="7886700" cy="1325563"/>
          </a:xfrm>
        </p:spPr>
        <p:txBody>
          <a:bodyPr>
            <a:normAutofit fontScale="62500" lnSpcReduction="20000"/>
          </a:bodyPr>
          <a:lstStyle/>
          <a:p>
            <a:pPr>
              <a:lnSpc>
                <a:spcPct val="120000"/>
              </a:lnSpc>
            </a:pPr>
            <a:r>
              <a:rPr lang="zh-CN" altLang="en-US" dirty="0"/>
              <a:t>有效工具变量的两个条件，相关性容易检验，第一阶段回归系数的𝑡 检验或𝐹 检验。</a:t>
            </a:r>
            <a:endParaRPr lang="en-US" altLang="zh-CN" dirty="0"/>
          </a:p>
          <a:p>
            <a:pPr>
              <a:lnSpc>
                <a:spcPct val="120000"/>
              </a:lnSpc>
            </a:pPr>
            <a:r>
              <a:rPr lang="zh-CN" altLang="en-US" dirty="0"/>
              <a:t>外生性，𝐸</a:t>
            </a:r>
            <a:r>
              <a:rPr lang="en-US" altLang="zh-CN" dirty="0"/>
              <a:t>[</a:t>
            </a:r>
            <a:r>
              <a:rPr lang="zh-CN" altLang="en-US" dirty="0"/>
              <a:t>𝑌</a:t>
            </a:r>
            <a:r>
              <a:rPr lang="en-US" altLang="zh-CN" dirty="0"/>
              <a:t>|</a:t>
            </a:r>
            <a:r>
              <a:rPr lang="zh-CN" altLang="en-US" dirty="0"/>
              <a:t>𝑍</a:t>
            </a:r>
            <a:r>
              <a:rPr lang="en-US" altLang="zh-CN" dirty="0"/>
              <a:t>] </a:t>
            </a:r>
            <a:r>
              <a:rPr lang="zh-CN" altLang="en-US" dirty="0"/>
              <a:t>随𝑍 变化的唯一原因是𝐸</a:t>
            </a:r>
            <a:r>
              <a:rPr lang="en-US" altLang="zh-CN" dirty="0"/>
              <a:t>[</a:t>
            </a:r>
            <a:r>
              <a:rPr lang="zh-CN" altLang="en-US" dirty="0"/>
              <a:t>𝐷</a:t>
            </a:r>
            <a:r>
              <a:rPr lang="en-US" altLang="zh-CN" dirty="0"/>
              <a:t>|</a:t>
            </a:r>
            <a:r>
              <a:rPr lang="zh-CN" altLang="en-US" dirty="0"/>
              <a:t>𝑍</a:t>
            </a:r>
            <a:r>
              <a:rPr lang="en-US" altLang="zh-CN" dirty="0"/>
              <a:t>] </a:t>
            </a:r>
            <a:r>
              <a:rPr lang="zh-CN" altLang="en-US" dirty="0"/>
              <a:t>随𝑍变化，或𝑍 仅通过影响𝐷 影响到𝑌。</a:t>
            </a:r>
          </a:p>
        </p:txBody>
      </p:sp>
      <p:sp>
        <p:nvSpPr>
          <p:cNvPr id="4" name="页脚占位符 3">
            <a:extLst>
              <a:ext uri="{FF2B5EF4-FFF2-40B4-BE49-F238E27FC236}">
                <a16:creationId xmlns:a16="http://schemas.microsoft.com/office/drawing/2014/main" id="{4963822E-0C26-3129-D9F3-42D5583DF65B}"/>
              </a:ext>
            </a:extLst>
          </p:cNvPr>
          <p:cNvSpPr>
            <a:spLocks noGrp="1"/>
          </p:cNvSpPr>
          <p:nvPr>
            <p:ph type="ftr" sz="quarter" idx="11"/>
          </p:nvPr>
        </p:nvSpPr>
        <p:spPr/>
        <p:txBody>
          <a:bodyPr/>
          <a:lstStyle/>
          <a:p>
            <a:r>
              <a:rPr lang="zh-CN" altLang="en-US" dirty="0"/>
              <a:t>ⓒ 赵西亮</a:t>
            </a:r>
          </a:p>
        </p:txBody>
      </p:sp>
      <p:sp>
        <p:nvSpPr>
          <p:cNvPr id="5" name="灯片编号占位符 4">
            <a:extLst>
              <a:ext uri="{FF2B5EF4-FFF2-40B4-BE49-F238E27FC236}">
                <a16:creationId xmlns:a16="http://schemas.microsoft.com/office/drawing/2014/main" id="{A761AF8B-FD19-A063-9B21-2457A6C086BB}"/>
              </a:ext>
            </a:extLst>
          </p:cNvPr>
          <p:cNvSpPr>
            <a:spLocks noGrp="1"/>
          </p:cNvSpPr>
          <p:nvPr>
            <p:ph type="sldNum" sz="quarter" idx="12"/>
          </p:nvPr>
        </p:nvSpPr>
        <p:spPr/>
        <p:txBody>
          <a:bodyPr/>
          <a:lstStyle/>
          <a:p>
            <a:fld id="{D41FC515-8169-4A29-AA56-DBE520D5741B}" type="slidenum">
              <a:rPr lang="zh-CN" altLang="en-US" smtClean="0"/>
              <a:t>17</a:t>
            </a:fld>
            <a:endParaRPr lang="zh-CN" altLang="en-US"/>
          </a:p>
        </p:txBody>
      </p:sp>
      <p:pic>
        <p:nvPicPr>
          <p:cNvPr id="7" name="图片 6">
            <a:extLst>
              <a:ext uri="{FF2B5EF4-FFF2-40B4-BE49-F238E27FC236}">
                <a16:creationId xmlns:a16="http://schemas.microsoft.com/office/drawing/2014/main" id="{6FA6F323-7BDB-FAFA-A793-050AC6E99F0C}"/>
              </a:ext>
            </a:extLst>
          </p:cNvPr>
          <p:cNvPicPr>
            <a:picLocks noChangeAspect="1"/>
          </p:cNvPicPr>
          <p:nvPr/>
        </p:nvPicPr>
        <p:blipFill>
          <a:blip r:embed="rId2"/>
          <a:stretch>
            <a:fillRect/>
          </a:stretch>
        </p:blipFill>
        <p:spPr>
          <a:xfrm>
            <a:off x="880149" y="3268542"/>
            <a:ext cx="7383701" cy="2970454"/>
          </a:xfrm>
          <a:prstGeom prst="rect">
            <a:avLst/>
          </a:prstGeom>
        </p:spPr>
      </p:pic>
    </p:spTree>
    <p:extLst>
      <p:ext uri="{BB962C8B-B14F-4D97-AF65-F5344CB8AC3E}">
        <p14:creationId xmlns:p14="http://schemas.microsoft.com/office/powerpoint/2010/main" val="362236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35383-07AC-B564-EE04-CC66BD0E265D}"/>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3C400C2-070F-F50D-BB60-D4C9CD3EC4AA}"/>
                  </a:ext>
                </a:extLst>
              </p:cNvPr>
              <p:cNvSpPr>
                <a:spLocks noGrp="1"/>
              </p:cNvSpPr>
              <p:nvPr>
                <p:ph idx="1"/>
              </p:nvPr>
            </p:nvSpPr>
            <p:spPr/>
            <p:txBody>
              <a:bodyPr>
                <a:noAutofit/>
              </a:bodyPr>
              <a:lstStyle/>
              <a:p>
                <a:pPr>
                  <a:lnSpc>
                    <a:spcPct val="120000"/>
                  </a:lnSpc>
                </a:pPr>
                <a:r>
                  <a:rPr lang="zh-CN" altLang="en-US" sz="1600" dirty="0"/>
                  <a:t>更一般地，结构方程：</a:t>
                </a:r>
                <a:endParaRPr lang="en-US" altLang="zh-CN" sz="1600" dirty="0"/>
              </a:p>
              <a:p>
                <a:pPr marL="0" indent="0">
                  <a:lnSpc>
                    <a:spcPct val="120000"/>
                  </a:lnSpc>
                  <a:buNone/>
                </a:pPr>
                <a14:m>
                  <m:oMathPara xmlns:m="http://schemas.openxmlformats.org/officeDocument/2006/math">
                    <m:o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𝑌</m:t>
                          </m:r>
                        </m:e>
                        <m:sub>
                          <m:r>
                            <a:rPr lang="zh-CN" altLang="en-US" sz="1600" i="1" dirty="0" smtClean="0">
                              <a:latin typeface="Cambria Math" panose="02040503050406030204" pitchFamily="18" charset="0"/>
                            </a:rPr>
                            <m:t>𝑖</m:t>
                          </m:r>
                        </m:sub>
                      </m:sSub>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𝑋</m:t>
                          </m:r>
                        </m:e>
                        <m:sub>
                          <m:r>
                            <a:rPr lang="en-US" altLang="zh-CN" sz="1600" i="1" dirty="0" smtClean="0">
                              <a:latin typeface="Cambria Math" panose="02040503050406030204" pitchFamily="18" charset="0"/>
                            </a:rPr>
                            <m:t>1</m:t>
                          </m:r>
                          <m:r>
                            <a:rPr lang="zh-CN" altLang="en-US" sz="1600" i="1" dirty="0">
                              <a:latin typeface="Cambria Math" panose="02040503050406030204" pitchFamily="18" charset="0"/>
                            </a:rPr>
                            <m:t>𝑖</m:t>
                          </m:r>
                        </m:sub>
                        <m:sup>
                          <m:r>
                            <a:rPr lang="en-US" altLang="zh-CN" sz="1600" i="1" dirty="0" smtClean="0">
                              <a:latin typeface="Cambria Math" panose="02040503050406030204" pitchFamily="18" charset="0"/>
                            </a:rPr>
                            <m:t>′</m:t>
                          </m:r>
                        </m:sup>
                      </m:sSubSup>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𝛽</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 +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𝑋</m:t>
                          </m:r>
                        </m:e>
                        <m:sub>
                          <m:r>
                            <a:rPr lang="en-US" altLang="zh-CN" sz="1600" i="1" dirty="0" smtClean="0">
                              <a:latin typeface="Cambria Math" panose="02040503050406030204" pitchFamily="18" charset="0"/>
                            </a:rPr>
                            <m:t>2</m:t>
                          </m:r>
                          <m:r>
                            <a:rPr lang="zh-CN" altLang="en-US" sz="1600" i="1" dirty="0">
                              <a:latin typeface="Cambria Math" panose="02040503050406030204" pitchFamily="18" charset="0"/>
                            </a:rPr>
                            <m:t>𝑖</m:t>
                          </m:r>
                        </m:sub>
                        <m:sup>
                          <m:r>
                            <a:rPr lang="en-US" altLang="zh-CN" sz="1600" i="1" dirty="0" smtClean="0">
                              <a:latin typeface="Cambria Math" panose="02040503050406030204" pitchFamily="18" charset="0"/>
                            </a:rPr>
                            <m:t>′</m:t>
                          </m:r>
                        </m:sup>
                      </m:sSubSup>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𝛽</m:t>
                          </m:r>
                        </m:e>
                        <m:sub>
                          <m:r>
                            <a:rPr lang="en-US" altLang="zh-CN" sz="1600" i="1" dirty="0">
                              <a:latin typeface="Cambria Math" panose="02040503050406030204" pitchFamily="18" charset="0"/>
                            </a:rPr>
                            <m:t>2</m:t>
                          </m:r>
                        </m:sub>
                      </m:sSub>
                      <m:r>
                        <a:rPr lang="en-US" altLang="zh-CN"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r>
                        <a:rPr lang="en-US" altLang="zh-CN" sz="1600" i="1" dirty="0" smtClean="0">
                          <a:latin typeface="Cambria Math" panose="02040503050406030204" pitchFamily="18" charset="0"/>
                        </a:rPr>
                        <m:t>,</m:t>
                      </m:r>
                    </m:oMath>
                  </m:oMathPara>
                </a14:m>
                <a:endParaRPr lang="en-US" altLang="zh-CN" sz="1600" dirty="0"/>
              </a:p>
              <a:p>
                <a:pPr marL="0" indent="0">
                  <a:lnSpc>
                    <a:spcPct val="120000"/>
                  </a:lnSpc>
                  <a:buNone/>
                </a:pPr>
                <a14:m>
                  <m:oMathPara xmlns:m="http://schemas.openxmlformats.org/officeDocument/2006/math">
                    <m:oMath>
                      <m:sSubSup>
                        <m:sSubSupPr>
                          <m:ctrlPr>
                            <a:rPr lang="zh-CN" altLang="en-US" sz="1600" i="1" dirty="0" smtClean="0">
                              <a:latin typeface="Cambria Math" panose="02040503050406030204" pitchFamily="18" charset="0"/>
                            </a:rPr>
                          </m:ctrlPr>
                        </m:sSubSupPr>
                        <m:e>
                          <m:r>
                            <a:rPr lang="zh-CN" altLang="en-US" sz="1600" i="1" dirty="0" smtClean="0">
                              <a:latin typeface="Cambria Math" panose="02040503050406030204" pitchFamily="18" charset="0"/>
                            </a:rPr>
                            <m:t>𝑋</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𝑋</m:t>
                          </m:r>
                        </m:e>
                        <m:sub>
                          <m:r>
                            <a:rPr lang="en-US" altLang="zh-CN" sz="1600" i="1" dirty="0" smtClean="0">
                              <a:latin typeface="Cambria Math" panose="02040503050406030204" pitchFamily="18" charset="0"/>
                            </a:rPr>
                            <m:t>1</m:t>
                          </m:r>
                          <m:r>
                            <a:rPr lang="zh-CN" altLang="en-US" sz="1600" i="1" dirty="0">
                              <a:latin typeface="Cambria Math" panose="02040503050406030204" pitchFamily="18" charset="0"/>
                            </a:rPr>
                            <m:t>𝑖</m:t>
                          </m:r>
                        </m:sub>
                        <m:sup>
                          <m:r>
                            <a:rPr lang="en-US" altLang="zh-CN" sz="1600" i="1" dirty="0" smtClean="0">
                              <a:latin typeface="Cambria Math" panose="02040503050406030204" pitchFamily="18" charset="0"/>
                            </a:rPr>
                            <m:t>′</m:t>
                          </m:r>
                        </m:sup>
                      </m:sSubSup>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𝜋</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 +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𝑍</m:t>
                          </m:r>
                        </m:e>
                        <m:sub>
                          <m:r>
                            <a:rPr lang="en-US" altLang="zh-CN" sz="1600" i="1" dirty="0" smtClean="0">
                              <a:latin typeface="Cambria Math" panose="02040503050406030204" pitchFamily="18" charset="0"/>
                            </a:rPr>
                            <m:t>2</m:t>
                          </m:r>
                          <m:r>
                            <a:rPr lang="zh-CN" altLang="en-US" sz="1600" i="1" dirty="0">
                              <a:latin typeface="Cambria Math" panose="02040503050406030204" pitchFamily="18" charset="0"/>
                            </a:rPr>
                            <m:t>𝑖</m:t>
                          </m:r>
                        </m:sub>
                        <m:sup>
                          <m:r>
                            <a:rPr lang="en-US" altLang="zh-CN" sz="1600" i="1" dirty="0" smtClean="0">
                              <a:latin typeface="Cambria Math" panose="02040503050406030204" pitchFamily="18" charset="0"/>
                            </a:rPr>
                            <m:t>′</m:t>
                          </m:r>
                        </m:sup>
                      </m:sSubSup>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𝜋</m:t>
                          </m:r>
                        </m:e>
                        <m:sub>
                          <m:r>
                            <a:rPr lang="en-US" altLang="zh-CN" sz="1600" i="1" dirty="0">
                              <a:latin typeface="Cambria Math" panose="02040503050406030204" pitchFamily="18" charset="0"/>
                            </a:rPr>
                            <m:t>2</m:t>
                          </m:r>
                        </m:sub>
                      </m:sSub>
                      <m:r>
                        <a:rPr lang="en-US" altLang="zh-CN" sz="1600" i="1" dirty="0">
                          <a:latin typeface="Cambria Math" panose="02040503050406030204" pitchFamily="18" charset="0"/>
                        </a:rPr>
                        <m:t> +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𝑣</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en-US" altLang="zh-CN" sz="1600" i="1" dirty="0" smtClean="0">
                          <a:latin typeface="Cambria Math" panose="02040503050406030204" pitchFamily="18" charset="0"/>
                        </a:rPr>
                        <m:t>,</m:t>
                      </m:r>
                    </m:oMath>
                  </m:oMathPara>
                </a14:m>
                <a:endParaRPr lang="en-US" altLang="zh-CN" sz="1600" dirty="0"/>
              </a:p>
              <a:p>
                <a:pPr>
                  <a:lnSpc>
                    <a:spcPct val="120000"/>
                  </a:lnSpc>
                </a:pPr>
                <a:r>
                  <a:rPr lang="zh-CN" altLang="en-US" sz="1600" dirty="0"/>
                  <a:t>其中</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𝑋</m:t>
                        </m:r>
                      </m:e>
                      <m:sub>
                        <m:r>
                          <a:rPr lang="en-US" altLang="zh-CN" sz="1600" i="1" dirty="0">
                            <a:latin typeface="Cambria Math" panose="02040503050406030204" pitchFamily="18" charset="0"/>
                          </a:rPr>
                          <m:t>2</m:t>
                        </m:r>
                      </m:sub>
                    </m:sSub>
                  </m:oMath>
                </a14:m>
                <a:r>
                  <a:rPr lang="en-US" altLang="zh-CN" sz="1600" dirty="0"/>
                  <a:t> </a:t>
                </a:r>
                <a:r>
                  <a:rPr lang="zh-CN" altLang="en-US" sz="1600" dirty="0"/>
                  <a:t>内生，</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𝑋</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𝑍</m:t>
                        </m:r>
                      </m:e>
                      <m:sub>
                        <m:r>
                          <a:rPr lang="en-US" altLang="zh-CN" sz="1600" i="1" dirty="0">
                            <a:latin typeface="Cambria Math" panose="02040503050406030204" pitchFamily="18" charset="0"/>
                          </a:rPr>
                          <m:t>2</m:t>
                        </m:r>
                      </m:sub>
                    </m:sSub>
                  </m:oMath>
                </a14:m>
                <a:r>
                  <a:rPr lang="en-US" altLang="zh-CN" sz="1600" dirty="0"/>
                  <a:t> </a:t>
                </a:r>
                <a:r>
                  <a:rPr lang="zh-CN" altLang="en-US" sz="1600" dirty="0"/>
                  <a:t>外生，</a:t>
                </a:r>
                <a14:m>
                  <m:oMath xmlns:m="http://schemas.openxmlformats.org/officeDocument/2006/math">
                    <m:r>
                      <a:rPr lang="zh-CN" altLang="en-US" sz="1600" i="1" dirty="0" smtClean="0">
                        <a:latin typeface="Cambria Math" panose="02040503050406030204" pitchFamily="18" charset="0"/>
                      </a:rPr>
                      <m:t>𝐸</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en-US" altLang="zh-CN" sz="1600" i="1" dirty="0">
                            <a:latin typeface="Cambria Math" panose="02040503050406030204" pitchFamily="18" charset="0"/>
                          </a:rPr>
                          <m:t>2</m:t>
                        </m:r>
                        <m:r>
                          <a:rPr lang="zh-CN" altLang="en-US" sz="1600" i="1" dirty="0">
                            <a:latin typeface="Cambria Math" panose="02040503050406030204" pitchFamily="18" charset="0"/>
                          </a:rPr>
                          <m:t>𝑖</m:t>
                        </m:r>
                      </m:sub>
                    </m:s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 0</m:t>
                    </m:r>
                    <m:r>
                      <a:rPr lang="zh-CN" altLang="en-US" sz="1600" i="1" dirty="0">
                        <a:latin typeface="Cambria Math" panose="02040503050406030204" pitchFamily="18" charset="0"/>
                      </a:rPr>
                      <m:t>，</m:t>
                    </m:r>
                    <m:r>
                      <a:rPr lang="zh-CN" altLang="en-US" sz="1600" i="1" dirty="0">
                        <a:latin typeface="Cambria Math" panose="02040503050406030204" pitchFamily="18" charset="0"/>
                      </a:rPr>
                      <m:t>𝐸</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en-US" altLang="zh-CN" sz="1600" i="1" dirty="0">
                            <a:latin typeface="Cambria Math" panose="02040503050406030204" pitchFamily="18" charset="0"/>
                          </a:rPr>
                          <m:t>1</m:t>
                        </m:r>
                        <m:r>
                          <a:rPr lang="zh-CN" altLang="en-US" sz="1600" i="1" dirty="0">
                            <a:latin typeface="Cambria Math" panose="02040503050406030204" pitchFamily="18" charset="0"/>
                          </a:rPr>
                          <m:t>𝑖</m:t>
                        </m:r>
                      </m:sub>
                    </m:s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 0</m:t>
                    </m:r>
                    <m:r>
                      <a:rPr lang="zh-CN" altLang="en-US" sz="1600" i="1" dirty="0">
                        <a:latin typeface="Cambria Math" panose="02040503050406030204" pitchFamily="18" charset="0"/>
                      </a:rPr>
                      <m:t>，</m:t>
                    </m:r>
                    <m:r>
                      <a:rPr lang="zh-CN" altLang="en-US" sz="1600" i="1" dirty="0">
                        <a:latin typeface="Cambria Math" panose="02040503050406030204" pitchFamily="18" charset="0"/>
                      </a:rPr>
                      <m:t>𝐸</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𝑍</m:t>
                        </m:r>
                      </m:e>
                      <m:sub>
                        <m:r>
                          <a:rPr lang="en-US" altLang="zh-CN" sz="1600" i="1" dirty="0">
                            <a:latin typeface="Cambria Math" panose="02040503050406030204" pitchFamily="18" charset="0"/>
                          </a:rPr>
                          <m:t>2</m:t>
                        </m:r>
                        <m:r>
                          <a:rPr lang="zh-CN" altLang="en-US" sz="1600" i="1" dirty="0">
                            <a:latin typeface="Cambria Math" panose="02040503050406030204" pitchFamily="18" charset="0"/>
                          </a:rPr>
                          <m:t>𝑖</m:t>
                        </m:r>
                      </m:sub>
                    </m:s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 0</m:t>
                    </m:r>
                    <m:r>
                      <a:rPr lang="zh-CN" altLang="en-US" sz="1600" i="1" dirty="0" smtClean="0">
                        <a:latin typeface="Cambria Math" panose="02040503050406030204" pitchFamily="18" charset="0"/>
                      </a:rPr>
                      <m:t>，</m:t>
                    </m:r>
                    <m:r>
                      <a:rPr lang="zh-CN" altLang="en-US" sz="1600" i="1" dirty="0" smtClean="0">
                        <a:latin typeface="Cambria Math" panose="02040503050406030204" pitchFamily="18" charset="0"/>
                      </a:rPr>
                      <m:t>𝐸</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en-US" altLang="zh-CN" sz="1600" i="1" dirty="0">
                            <a:latin typeface="Cambria Math" panose="02040503050406030204" pitchFamily="18" charset="0"/>
                          </a:rPr>
                          <m:t>1</m:t>
                        </m:r>
                        <m:r>
                          <a:rPr lang="zh-CN" altLang="en-US" sz="1600" i="1" dirty="0">
                            <a:latin typeface="Cambria Math" panose="02040503050406030204" pitchFamily="18" charset="0"/>
                          </a:rPr>
                          <m:t>𝑖</m:t>
                        </m:r>
                      </m:sub>
                    </m:s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𝑣</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 0</m:t>
                    </m:r>
                    <m:r>
                      <a:rPr lang="zh-CN" altLang="en-US" sz="1600" i="1" dirty="0">
                        <a:latin typeface="Cambria Math" panose="02040503050406030204" pitchFamily="18" charset="0"/>
                      </a:rPr>
                      <m:t>，</m:t>
                    </m:r>
                    <m:r>
                      <a:rPr lang="zh-CN" altLang="en-US" sz="1600" i="1" dirty="0">
                        <a:latin typeface="Cambria Math" panose="02040503050406030204" pitchFamily="18" charset="0"/>
                      </a:rPr>
                      <m:t>𝐸</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𝑍</m:t>
                        </m:r>
                      </m:e>
                      <m:sub>
                        <m:r>
                          <a:rPr lang="en-US" altLang="zh-CN" sz="1600" i="1" dirty="0">
                            <a:latin typeface="Cambria Math" panose="02040503050406030204" pitchFamily="18" charset="0"/>
                          </a:rPr>
                          <m:t>2</m:t>
                        </m:r>
                        <m:r>
                          <a:rPr lang="zh-CN" altLang="en-US" sz="1600" i="1" dirty="0">
                            <a:latin typeface="Cambria Math" panose="02040503050406030204" pitchFamily="18" charset="0"/>
                          </a:rPr>
                          <m:t>𝑖</m:t>
                        </m:r>
                      </m:sub>
                    </m:s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𝑣</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 0</m:t>
                    </m:r>
                  </m:oMath>
                </a14:m>
                <a:r>
                  <a:rPr lang="zh-CN" altLang="en-US" sz="1600" dirty="0"/>
                  <a:t>。</a:t>
                </a:r>
                <a:endParaRPr lang="en-US" altLang="zh-CN" sz="1600" dirty="0"/>
              </a:p>
              <a:p>
                <a:pPr>
                  <a:lnSpc>
                    <a:spcPct val="120000"/>
                  </a:lnSpc>
                </a:pPr>
                <a:r>
                  <a:rPr lang="zh-CN" altLang="en-US" sz="1600" dirty="0"/>
                  <a:t>上式可写成更简洁的形式：</a:t>
                </a:r>
                <a:endParaRPr lang="en-US" altLang="zh-CN" sz="1600" dirty="0"/>
              </a:p>
              <a:p>
                <a:pPr marL="0" indent="0">
                  <a:lnSpc>
                    <a:spcPct val="120000"/>
                  </a:lnSpc>
                  <a:buNone/>
                </a:pPr>
                <a14:m>
                  <m:oMathPara xmlns:m="http://schemas.openxmlformats.org/officeDocument/2006/math">
                    <m:o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𝑌</m:t>
                          </m:r>
                        </m:e>
                        <m:sub>
                          <m:r>
                            <a:rPr lang="zh-CN" altLang="en-US" sz="1600" i="1" dirty="0" smtClean="0">
                              <a:latin typeface="Cambria Math" panose="02040503050406030204" pitchFamily="18" charset="0"/>
                            </a:rPr>
                            <m:t>𝑖</m:t>
                          </m:r>
                        </m:sub>
                      </m:sSub>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𝑋</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smtClean="0">
                          <a:latin typeface="Cambria Math" panose="02040503050406030204" pitchFamily="18" charset="0"/>
                        </a:rPr>
                        <m:t> </m:t>
                      </m:r>
                      <m:r>
                        <a:rPr lang="zh-CN" altLang="en-US" sz="1600" i="1" dirty="0">
                          <a:latin typeface="Cambria Math" panose="02040503050406030204" pitchFamily="18" charset="0"/>
                        </a:rPr>
                        <m:t>𝛽</m:t>
                      </m:r>
                      <m:r>
                        <a:rPr lang="zh-CN" altLang="en-US"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(5</m:t>
                      </m:r>
                      <m:r>
                        <a:rPr lang="en-US" altLang="zh-CN" sz="1600" i="1" dirty="0" smtClean="0">
                          <a:latin typeface="Cambria Math" panose="02040503050406030204" pitchFamily="18" charset="0"/>
                        </a:rPr>
                        <m:t>)</m:t>
                      </m:r>
                    </m:oMath>
                  </m:oMathPara>
                </a14:m>
                <a:endParaRPr lang="en-US" altLang="zh-CN" sz="1600" dirty="0"/>
              </a:p>
              <a:p>
                <a:pPr marL="0" indent="0">
                  <a:lnSpc>
                    <a:spcPct val="120000"/>
                  </a:lnSpc>
                  <a:buNone/>
                </a:pPr>
                <a14:m>
                  <m:oMathPara xmlns:m="http://schemas.openxmlformats.org/officeDocument/2006/math">
                    <m:oMath>
                      <m:sSubSup>
                        <m:sSubSupPr>
                          <m:ctrlPr>
                            <a:rPr lang="zh-CN" altLang="en-US" sz="1600" i="1" dirty="0" smtClean="0">
                              <a:latin typeface="Cambria Math" panose="02040503050406030204" pitchFamily="18" charset="0"/>
                            </a:rPr>
                          </m:ctrlPr>
                        </m:sSubSupPr>
                        <m:e>
                          <m:r>
                            <a:rPr lang="zh-CN" altLang="en-US" sz="1600" i="1" dirty="0" smtClean="0">
                              <a:latin typeface="Cambria Math" panose="02040503050406030204" pitchFamily="18" charset="0"/>
                            </a:rPr>
                            <m:t>𝑋</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𝑍</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smtClean="0">
                          <a:latin typeface="Cambria Math" panose="02040503050406030204" pitchFamily="18" charset="0"/>
                        </a:rPr>
                        <m:t> </m:t>
                      </m:r>
                      <m:r>
                        <a:rPr lang="zh-CN" altLang="en-US" sz="1600" i="1" dirty="0">
                          <a:latin typeface="Cambria Math" panose="02040503050406030204" pitchFamily="18" charset="0"/>
                        </a:rPr>
                        <m:t>𝜋</m:t>
                      </m:r>
                      <m:r>
                        <a:rPr lang="zh-CN" altLang="en-US" sz="1600" i="1" dirty="0">
                          <a:latin typeface="Cambria Math" panose="02040503050406030204" pitchFamily="18" charset="0"/>
                        </a:rPr>
                        <m:t> +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𝑣</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(6</m:t>
                      </m:r>
                      <m:r>
                        <a:rPr lang="en-US" altLang="zh-CN" sz="1600" i="1" dirty="0" smtClean="0">
                          <a:latin typeface="Cambria Math" panose="02040503050406030204" pitchFamily="18" charset="0"/>
                        </a:rPr>
                        <m:t>)</m:t>
                      </m:r>
                    </m:oMath>
                  </m:oMathPara>
                </a14:m>
                <a:endParaRPr lang="en-US" altLang="zh-CN" sz="1600" dirty="0"/>
              </a:p>
              <a:p>
                <a:pPr>
                  <a:lnSpc>
                    <a:spcPct val="120000"/>
                  </a:lnSpc>
                </a:pPr>
                <a:r>
                  <a:rPr lang="zh-CN" altLang="en-US" sz="1600" dirty="0"/>
                  <a:t>其中</a:t>
                </a:r>
                <a14:m>
                  <m:oMath xmlns:m="http://schemas.openxmlformats.org/officeDocument/2006/math">
                    <m:sSubSup>
                      <m:sSubSupPr>
                        <m:ctrlPr>
                          <a:rPr lang="zh-CN" altLang="en-US" sz="1600" i="1" dirty="0" smtClean="0">
                            <a:latin typeface="Cambria Math" panose="02040503050406030204" pitchFamily="18" charset="0"/>
                          </a:rPr>
                        </m:ctrlPr>
                      </m:sSubSupPr>
                      <m:e>
                        <m:r>
                          <a:rPr lang="zh-CN" altLang="en-US" sz="1600" i="1" dirty="0" smtClean="0">
                            <a:latin typeface="Cambria Math" panose="02040503050406030204" pitchFamily="18" charset="0"/>
                          </a:rPr>
                          <m:t>𝑋</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d>
                      <m:dPr>
                        <m:ctrlPr>
                          <a:rPr lang="zh-CN" altLang="en-US" sz="1600" i="1" dirty="0">
                            <a:latin typeface="Cambria Math" panose="02040503050406030204" pitchFamily="18" charset="0"/>
                          </a:rPr>
                        </m:ctrlPr>
                      </m:dPr>
                      <m:e>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𝑋</m:t>
                            </m:r>
                          </m:e>
                          <m:sub>
                            <m:r>
                              <a:rPr lang="en-US" altLang="zh-CN" sz="1600" i="1" dirty="0" smtClean="0">
                                <a:latin typeface="Cambria Math" panose="02040503050406030204" pitchFamily="18" charset="0"/>
                              </a:rPr>
                              <m:t>1</m:t>
                            </m:r>
                            <m:r>
                              <a:rPr lang="zh-CN" altLang="en-US" sz="1600" i="1" dirty="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en-US" altLang="zh-CN" sz="1600" i="1" dirty="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𝑋</m:t>
                            </m:r>
                          </m:e>
                          <m:sub>
                            <m:r>
                              <a:rPr lang="en-US" altLang="zh-CN" sz="1600" i="1" dirty="0" smtClean="0">
                                <a:latin typeface="Cambria Math" panose="02040503050406030204" pitchFamily="18" charset="0"/>
                              </a:rPr>
                              <m:t>2</m:t>
                            </m:r>
                            <m:r>
                              <a:rPr lang="zh-CN" altLang="en-US" sz="1600" i="1" dirty="0">
                                <a:latin typeface="Cambria Math" panose="02040503050406030204" pitchFamily="18" charset="0"/>
                              </a:rPr>
                              <m:t>𝑖</m:t>
                            </m:r>
                          </m:sub>
                          <m:sup>
                            <m:r>
                              <a:rPr lang="en-US" altLang="zh-CN" sz="1600" i="1" dirty="0" smtClean="0">
                                <a:latin typeface="Cambria Math" panose="02040503050406030204" pitchFamily="18" charset="0"/>
                              </a:rPr>
                              <m:t>′</m:t>
                            </m:r>
                          </m:sup>
                        </m:sSubSup>
                      </m:e>
                    </m:d>
                    <m:r>
                      <a:rPr lang="en-US" altLang="zh-CN" sz="1600" b="0" i="1" dirty="0" smtClean="0">
                        <a:latin typeface="Cambria Math" panose="02040503050406030204" pitchFamily="18" charset="0"/>
                      </a:rPr>
                      <m:t> </m:t>
                    </m:r>
                    <m:r>
                      <a:rPr lang="zh-CN" altLang="en-US" sz="1600" i="1" dirty="0">
                        <a:latin typeface="Cambria Math" panose="02040503050406030204" pitchFamily="18" charset="0"/>
                      </a:rPr>
                      <m:t>𝐾</m:t>
                    </m:r>
                    <m:r>
                      <a:rPr lang="en-US" altLang="zh-CN" sz="1600" i="1" dirty="0">
                        <a:latin typeface="Cambria Math" panose="02040503050406030204" pitchFamily="18" charset="0"/>
                      </a:rPr>
                      <m:t>×1</m:t>
                    </m:r>
                    <m:r>
                      <a:rPr lang="zh-CN" altLang="en-US" sz="1600" i="1" dirty="0">
                        <a:latin typeface="Cambria Math" panose="02040503050406030204" pitchFamily="18" charset="0"/>
                      </a:rPr>
                      <m:t>，</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𝑍</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d>
                      <m:dPr>
                        <m:ctrlPr>
                          <a:rPr lang="zh-CN" altLang="en-US" sz="1600" i="1" dirty="0">
                            <a:latin typeface="Cambria Math" panose="02040503050406030204" pitchFamily="18" charset="0"/>
                          </a:rPr>
                        </m:ctrlPr>
                      </m:dPr>
                      <m:e>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en-US" altLang="zh-CN" sz="1600" i="1" dirty="0">
                                <a:latin typeface="Cambria Math" panose="02040503050406030204" pitchFamily="18" charset="0"/>
                              </a:rPr>
                              <m:t>1</m:t>
                            </m:r>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𝑍</m:t>
                            </m:r>
                          </m:e>
                          <m:sub>
                            <m:r>
                              <a:rPr lang="en-US" altLang="zh-CN" sz="1600" i="1" dirty="0">
                                <a:latin typeface="Cambria Math" panose="02040503050406030204" pitchFamily="18" charset="0"/>
                              </a:rPr>
                              <m:t>2</m:t>
                            </m:r>
                            <m:r>
                              <a:rPr lang="zh-CN" altLang="en-US" sz="1600" i="1" dirty="0">
                                <a:latin typeface="Cambria Math" panose="02040503050406030204" pitchFamily="18" charset="0"/>
                              </a:rPr>
                              <m:t>𝑖</m:t>
                            </m:r>
                          </m:sub>
                        </m:sSub>
                      </m:e>
                    </m:d>
                    <m:r>
                      <a:rPr lang="en-US" altLang="zh-CN" sz="1600" b="0" i="1" dirty="0" smtClean="0">
                        <a:latin typeface="Cambria Math" panose="02040503050406030204" pitchFamily="18" charset="0"/>
                      </a:rPr>
                      <m:t> </m:t>
                    </m:r>
                    <m:r>
                      <a:rPr lang="zh-CN" altLang="en-US" sz="1600" i="1" dirty="0">
                        <a:latin typeface="Cambria Math" panose="02040503050406030204" pitchFamily="18" charset="0"/>
                      </a:rPr>
                      <m:t>𝐿</m:t>
                    </m:r>
                    <m:r>
                      <a:rPr lang="en-US" altLang="zh-CN" sz="1600" i="1" dirty="0">
                        <a:latin typeface="Cambria Math" panose="02040503050406030204" pitchFamily="18" charset="0"/>
                      </a:rPr>
                      <m:t>×1</m:t>
                    </m:r>
                    <m:r>
                      <a:rPr lang="zh-CN" altLang="en-US" sz="1600" i="1" dirty="0">
                        <a:latin typeface="Cambria Math" panose="02040503050406030204" pitchFamily="18" charset="0"/>
                      </a:rPr>
                      <m:t>。</m:t>
                    </m:r>
                    <m:r>
                      <a:rPr lang="zh-CN" altLang="en-US" sz="1600" i="1" dirty="0">
                        <a:latin typeface="Cambria Math" panose="02040503050406030204" pitchFamily="18" charset="0"/>
                      </a:rPr>
                      <m:t>𝐸</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𝑖</m:t>
                        </m:r>
                      </m:sub>
                    </m:s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 0</m:t>
                    </m:r>
                    <m:r>
                      <a:rPr lang="zh-CN" altLang="en-US" sz="1600" i="1" dirty="0">
                        <a:latin typeface="Cambria Math" panose="02040503050406030204" pitchFamily="18" charset="0"/>
                      </a:rPr>
                      <m:t>，</m:t>
                    </m:r>
                    <m:r>
                      <a:rPr lang="zh-CN" altLang="en-US" sz="1600" i="1" dirty="0">
                        <a:latin typeface="Cambria Math" panose="02040503050406030204" pitchFamily="18" charset="0"/>
                      </a:rPr>
                      <m:t>𝐸</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𝑣</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 0</m:t>
                    </m:r>
                    <m:r>
                      <a:rPr lang="zh-CN" altLang="en-US" sz="1600" i="1" dirty="0" smtClean="0">
                        <a:latin typeface="Cambria Math" panose="02040503050406030204" pitchFamily="18" charset="0"/>
                      </a:rPr>
                      <m:t>，</m:t>
                    </m:r>
                    <m:r>
                      <a:rPr lang="zh-CN" altLang="en-US" sz="1600" i="1" dirty="0" smtClean="0">
                        <a:latin typeface="Cambria Math" panose="02040503050406030204" pitchFamily="18" charset="0"/>
                      </a:rPr>
                      <m:t>𝐸</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𝑍</m:t>
                        </m:r>
                      </m:e>
                      <m:sub>
                        <m:r>
                          <a:rPr lang="zh-CN" altLang="en-US" sz="1600" i="1" dirty="0">
                            <a:latin typeface="Cambria Math" panose="02040503050406030204" pitchFamily="18" charset="0"/>
                          </a:rPr>
                          <m:t>𝑖</m:t>
                        </m:r>
                      </m:sub>
                    </m:s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 0</m:t>
                    </m:r>
                    <m:r>
                      <a:rPr lang="zh-CN" altLang="en-US" sz="1600" i="1" dirty="0">
                        <a:latin typeface="Cambria Math" panose="02040503050406030204" pitchFamily="18" charset="0"/>
                      </a:rPr>
                      <m:t>，</m:t>
                    </m:r>
                  </m:oMath>
                </a14:m>
                <a:r>
                  <a:rPr lang="zh-CN" altLang="en-US" sz="1600" dirty="0"/>
                  <a:t>把第</a:t>
                </a:r>
                <a:r>
                  <a:rPr lang="en-US" altLang="zh-CN" sz="1600" dirty="0"/>
                  <a:t>2 </a:t>
                </a:r>
                <a:r>
                  <a:rPr lang="zh-CN" altLang="en-US" sz="1600" dirty="0"/>
                  <a:t>式代入第</a:t>
                </a:r>
                <a:r>
                  <a:rPr lang="en-US" altLang="zh-CN" sz="1600" dirty="0"/>
                  <a:t>1 </a:t>
                </a:r>
                <a:r>
                  <a:rPr lang="zh-CN" altLang="en-US" sz="1600" dirty="0"/>
                  <a:t>式，得简化式：</a:t>
                </a:r>
                <a:endParaRPr lang="en-US" altLang="zh-CN" sz="1600" dirty="0"/>
              </a:p>
              <a:p>
                <a:pPr marL="0" indent="0">
                  <a:lnSpc>
                    <a:spcPct val="120000"/>
                  </a:lnSpc>
                  <a:buNone/>
                </a:pPr>
                <a14:m>
                  <m:oMathPara xmlns:m="http://schemas.openxmlformats.org/officeDocument/2006/math">
                    <m:o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𝑌</m:t>
                          </m:r>
                        </m:e>
                        <m:sub>
                          <m:r>
                            <a:rPr lang="zh-CN" altLang="en-US" sz="1600" i="1" dirty="0" smtClean="0">
                              <a:latin typeface="Cambria Math" panose="02040503050406030204" pitchFamily="18" charset="0"/>
                            </a:rPr>
                            <m:t>𝑖</m:t>
                          </m:r>
                        </m:sub>
                      </m:sSub>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𝑍</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smtClean="0">
                          <a:latin typeface="Cambria Math" panose="02040503050406030204" pitchFamily="18" charset="0"/>
                        </a:rPr>
                        <m:t> </m:t>
                      </m:r>
                      <m:r>
                        <a:rPr lang="zh-CN" altLang="en-US" sz="1600" i="1" dirty="0">
                          <a:latin typeface="Cambria Math" panose="02040503050406030204" pitchFamily="18" charset="0"/>
                        </a:rPr>
                        <m:t>𝜋</m:t>
                      </m:r>
                      <m:r>
                        <a:rPr lang="zh-CN" altLang="en-US" sz="1600" i="1" dirty="0">
                          <a:latin typeface="Cambria Math" panose="02040503050406030204" pitchFamily="18" charset="0"/>
                        </a:rPr>
                        <m:t> +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𝑣</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en-US" altLang="zh-CN" sz="1600" i="1" dirty="0">
                          <a:latin typeface="Cambria Math" panose="02040503050406030204" pitchFamily="18" charset="0"/>
                        </a:rPr>
                        <m:t>)</m:t>
                      </m:r>
                      <m:r>
                        <a:rPr lang="zh-CN" altLang="en-US" sz="1600" i="1" dirty="0">
                          <a:latin typeface="Cambria Math" panose="02040503050406030204" pitchFamily="18" charset="0"/>
                        </a:rPr>
                        <m:t>𝛽</m:t>
                      </m:r>
                      <m:r>
                        <a:rPr lang="zh-CN" altLang="en-US"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oMath>
                  </m:oMathPara>
                </a14:m>
                <a:endParaRPr lang="zh-CN" altLang="en-US" sz="1600" dirty="0"/>
              </a:p>
              <a:p>
                <a:pPr marL="0" indent="0">
                  <a:lnSpc>
                    <a:spcPct val="120000"/>
                  </a:lnSpc>
                  <a:buNone/>
                </a:pPr>
                <a14:m>
                  <m:oMathPara xmlns:m="http://schemas.openxmlformats.org/officeDocument/2006/math">
                    <m:oMath>
                      <m:r>
                        <a:rPr lang="en-US" altLang="zh-CN" sz="1600" i="1" dirty="0" smtClean="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𝑍</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smtClean="0">
                          <a:latin typeface="Cambria Math" panose="02040503050406030204" pitchFamily="18" charset="0"/>
                        </a:rPr>
                        <m:t> </m:t>
                      </m:r>
                      <m:r>
                        <a:rPr lang="zh-CN" altLang="en-US" sz="1600" i="1" dirty="0">
                          <a:latin typeface="Cambria Math" panose="02040503050406030204" pitchFamily="18" charset="0"/>
                        </a:rPr>
                        <m:t>𝜋𝛽</m:t>
                      </m:r>
                      <m:r>
                        <a:rPr lang="zh-CN" altLang="en-US"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r>
                        <a:rPr lang="zh-CN" altLang="en-US" sz="1600" i="1" dirty="0">
                          <a:latin typeface="Cambria Math" panose="02040503050406030204" pitchFamily="18" charset="0"/>
                        </a:rPr>
                        <m:t> </m:t>
                      </m:r>
                      <m:r>
                        <a:rPr lang="en-US" altLang="zh-CN" sz="1600" i="1" dirty="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𝑣</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a:latin typeface="Cambria Math" panose="02040503050406030204" pitchFamily="18" charset="0"/>
                        </a:rPr>
                        <m:t>𝛽</m:t>
                      </m:r>
                    </m:oMath>
                  </m:oMathPara>
                </a14:m>
                <a:endParaRPr lang="zh-CN" altLang="en-US" sz="1600" dirty="0"/>
              </a:p>
              <a:p>
                <a:pPr marL="0" indent="0">
                  <a:lnSpc>
                    <a:spcPct val="120000"/>
                  </a:lnSpc>
                  <a:buNone/>
                </a:pPr>
                <a14:m>
                  <m:oMathPara xmlns:m="http://schemas.openxmlformats.org/officeDocument/2006/math">
                    <m:oMath>
                      <m:r>
                        <a:rPr lang="en-US" altLang="zh-CN" sz="1600" i="1" dirty="0" smtClean="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𝑍</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smtClean="0">
                          <a:latin typeface="Cambria Math" panose="02040503050406030204" pitchFamily="18" charset="0"/>
                        </a:rPr>
                        <m:t> </m:t>
                      </m:r>
                      <m:r>
                        <a:rPr lang="zh-CN" altLang="en-US" sz="1600" i="1" dirty="0">
                          <a:latin typeface="Cambria Math" panose="02040503050406030204" pitchFamily="18" charset="0"/>
                        </a:rPr>
                        <m:t>𝛿</m:t>
                      </m:r>
                      <m:r>
                        <a:rPr lang="zh-CN" altLang="en-US"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𝑢</m:t>
                          </m:r>
                        </m:e>
                        <m:sub>
                          <m:r>
                            <a:rPr lang="zh-CN" altLang="en-US" sz="1600" i="1" dirty="0">
                              <a:latin typeface="Cambria Math" panose="02040503050406030204" pitchFamily="18" charset="0"/>
                            </a:rPr>
                            <m:t>𝑖</m:t>
                          </m:r>
                        </m:sub>
                      </m:sSub>
                      <m:r>
                        <a:rPr lang="zh-CN" altLang="en-US" sz="1600" i="1" dirty="0">
                          <a:latin typeface="Cambria Math" panose="02040503050406030204" pitchFamily="18" charset="0"/>
                        </a:rPr>
                        <m:t> </m:t>
                      </m:r>
                      <m:r>
                        <a:rPr lang="en-US" altLang="zh-CN" sz="1600" i="1" dirty="0">
                          <a:latin typeface="Cambria Math" panose="02040503050406030204" pitchFamily="18" charset="0"/>
                        </a:rPr>
                        <m:t>(7</m:t>
                      </m:r>
                      <m:r>
                        <a:rPr lang="en-US" altLang="zh-CN" sz="1600" i="1" dirty="0" smtClean="0">
                          <a:latin typeface="Cambria Math" panose="02040503050406030204" pitchFamily="18" charset="0"/>
                        </a:rPr>
                        <m:t>)</m:t>
                      </m:r>
                    </m:oMath>
                  </m:oMathPara>
                </a14:m>
                <a:endParaRPr lang="en-US" altLang="zh-CN" sz="1600" dirty="0"/>
              </a:p>
              <a:p>
                <a:pPr marL="0" indent="0">
                  <a:lnSpc>
                    <a:spcPct val="120000"/>
                  </a:lnSpc>
                  <a:buNone/>
                </a:pPr>
                <a:r>
                  <a:rPr lang="zh-CN" altLang="en-US" sz="1600" dirty="0"/>
                  <a:t>    其中 </a:t>
                </a:r>
                <a14:m>
                  <m:oMath xmlns:m="http://schemas.openxmlformats.org/officeDocument/2006/math">
                    <m:r>
                      <a:rPr lang="zh-CN" altLang="en-US" sz="1600" i="1" dirty="0" smtClean="0">
                        <a:latin typeface="Cambria Math" panose="02040503050406030204" pitchFamily="18" charset="0"/>
                      </a:rPr>
                      <m:t>𝛿</m:t>
                    </m:r>
                    <m:r>
                      <a:rPr lang="zh-CN" altLang="en-US" sz="1600" i="1" dirty="0" smtClean="0">
                        <a:latin typeface="Cambria Math" panose="02040503050406030204" pitchFamily="18" charset="0"/>
                      </a:rPr>
                      <m:t> = </m:t>
                    </m:r>
                    <m:r>
                      <a:rPr lang="zh-CN" altLang="en-US" sz="1600" i="1" dirty="0">
                        <a:latin typeface="Cambria Math" panose="02040503050406030204" pitchFamily="18" charset="0"/>
                      </a:rPr>
                      <m:t>𝜋𝛽</m:t>
                    </m:r>
                  </m:oMath>
                </a14:m>
                <a:r>
                  <a:rPr lang="zh-CN" altLang="en-US" sz="1600" dirty="0"/>
                  <a:t>，</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𝑢</m:t>
                        </m:r>
                      </m:e>
                      <m:sub>
                        <m:r>
                          <a:rPr lang="zh-CN" altLang="en-US" sz="1600" i="1" dirty="0" smtClean="0">
                            <a:latin typeface="Cambria Math" panose="02040503050406030204" pitchFamily="18" charset="0"/>
                          </a:rPr>
                          <m:t>𝑖</m:t>
                        </m:r>
                      </m:sub>
                    </m:sSub>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𝑖</m:t>
                        </m:r>
                      </m:sub>
                    </m:sSub>
                    <m:r>
                      <a:rPr lang="zh-CN" altLang="en-US" sz="1600" i="1" dirty="0">
                        <a:latin typeface="Cambria Math" panose="02040503050406030204" pitchFamily="18" charset="0"/>
                      </a:rPr>
                      <m:t> </m:t>
                    </m:r>
                    <m:r>
                      <a:rPr lang="en-US" altLang="zh-CN" sz="1600" i="1" dirty="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𝑣</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m:t>
                        </m:r>
                      </m:sup>
                    </m:sSubSup>
                    <m:r>
                      <a:rPr lang="zh-CN" altLang="en-US" sz="1600" i="1" dirty="0">
                        <a:latin typeface="Cambria Math" panose="02040503050406030204" pitchFamily="18" charset="0"/>
                      </a:rPr>
                      <m:t>𝛽</m:t>
                    </m:r>
                  </m:oMath>
                </a14:m>
                <a:endParaRPr lang="en-US" altLang="zh-CN" sz="1600" dirty="0"/>
              </a:p>
              <a:p>
                <a:pPr>
                  <a:lnSpc>
                    <a:spcPct val="120000"/>
                  </a:lnSpc>
                </a:pPr>
                <a:endParaRPr lang="zh-CN" altLang="en-US" sz="1600" dirty="0"/>
              </a:p>
            </p:txBody>
          </p:sp>
        </mc:Choice>
        <mc:Fallback xmlns="">
          <p:sp>
            <p:nvSpPr>
              <p:cNvPr id="3" name="内容占位符 2">
                <a:extLst>
                  <a:ext uri="{FF2B5EF4-FFF2-40B4-BE49-F238E27FC236}">
                    <a16:creationId xmlns:a16="http://schemas.microsoft.com/office/drawing/2014/main" id="{D3C400C2-070F-F50D-BB60-D4C9CD3EC4AA}"/>
                  </a:ext>
                </a:extLst>
              </p:cNvPr>
              <p:cNvSpPr>
                <a:spLocks noGrp="1" noRot="1" noChangeAspect="1" noMove="1" noResize="1" noEditPoints="1" noAdjustHandles="1" noChangeArrowheads="1" noChangeShapeType="1" noTextEdit="1"/>
              </p:cNvSpPr>
              <p:nvPr>
                <p:ph idx="1"/>
              </p:nvPr>
            </p:nvSpPr>
            <p:spPr>
              <a:blipFill>
                <a:blip r:embed="rId2"/>
                <a:stretch>
                  <a:fillRect l="-309" b="-9244"/>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1CA302C-F726-9F93-F486-67796AA4E81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D17E5A3-BF46-7B86-5A90-0B2E4D4A1CA2}"/>
              </a:ext>
            </a:extLst>
          </p:cNvPr>
          <p:cNvSpPr>
            <a:spLocks noGrp="1"/>
          </p:cNvSpPr>
          <p:nvPr>
            <p:ph type="sldNum" sz="quarter" idx="12"/>
          </p:nvPr>
        </p:nvSpPr>
        <p:spPr/>
        <p:txBody>
          <a:bodyPr/>
          <a:lstStyle/>
          <a:p>
            <a:fld id="{D41FC515-8169-4A29-AA56-DBE520D5741B}" type="slidenum">
              <a:rPr lang="zh-CN" altLang="en-US" smtClean="0"/>
              <a:t>18</a:t>
            </a:fld>
            <a:endParaRPr lang="zh-CN" altLang="en-US"/>
          </a:p>
        </p:txBody>
      </p:sp>
    </p:spTree>
    <p:extLst>
      <p:ext uri="{BB962C8B-B14F-4D97-AF65-F5344CB8AC3E}">
        <p14:creationId xmlns:p14="http://schemas.microsoft.com/office/powerpoint/2010/main" val="2674000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7AA74-A20E-9091-1A01-71A7ED3CD5E4}"/>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7E47972-BDFA-C988-BDF0-695C5B62DF07}"/>
                  </a:ext>
                </a:extLst>
              </p:cNvPr>
              <p:cNvSpPr>
                <a:spLocks noGrp="1"/>
              </p:cNvSpPr>
              <p:nvPr>
                <p:ph idx="1"/>
              </p:nvPr>
            </p:nvSpPr>
            <p:spPr/>
            <p:txBody>
              <a:bodyPr>
                <a:normAutofit fontScale="47500" lnSpcReduction="20000"/>
              </a:bodyPr>
              <a:lstStyle/>
              <a:p>
                <a:pPr>
                  <a:lnSpc>
                    <a:spcPct val="120000"/>
                  </a:lnSpc>
                </a:pPr>
                <a:r>
                  <a:rPr lang="zh-CN" altLang="en-US" dirty="0"/>
                  <a:t>利用矩条件</a:t>
                </a:r>
                <a14:m>
                  <m:oMath xmlns:m="http://schemas.openxmlformats.org/officeDocument/2006/math">
                    <m:r>
                      <a:rPr lang="zh-CN" altLang="en-US" i="1" dirty="0" smtClean="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𝑒</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0</m:t>
                    </m:r>
                  </m:oMath>
                </a14:m>
                <a:r>
                  <a:rPr lang="zh-CN" altLang="en-US" dirty="0"/>
                  <a:t>，可得</a:t>
                </a:r>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 </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𝑋</m:t>
                          </m:r>
                        </m:e>
                        <m:sub>
                          <m:r>
                            <a:rPr lang="zh-CN" altLang="en-US" i="1" dirty="0" smtClean="0">
                              <a:latin typeface="Cambria Math" panose="02040503050406030204" pitchFamily="18" charset="0"/>
                            </a:rPr>
                            <m:t>𝑖</m:t>
                          </m:r>
                        </m:sub>
                        <m:sup>
                          <m:r>
                            <a:rPr lang="en-US" altLang="zh-CN" i="1" dirty="0" smtClean="0">
                              <a:latin typeface="Cambria Math" panose="02040503050406030204" pitchFamily="18" charset="0"/>
                            </a:rPr>
                            <m:t>′</m:t>
                          </m:r>
                        </m:sup>
                      </m:sSubSup>
                      <m:r>
                        <a:rPr lang="zh-CN" altLang="en-US" i="1" dirty="0" smtClean="0">
                          <a:latin typeface="Cambria Math" panose="02040503050406030204" pitchFamily="18" charset="0"/>
                        </a:rPr>
                        <m:t> </m:t>
                      </m:r>
                      <m:r>
                        <a:rPr lang="zh-CN" altLang="en-US" i="1" dirty="0">
                          <a:latin typeface="Cambria Math" panose="02040503050406030204" pitchFamily="18" charset="0"/>
                        </a:rPr>
                        <m:t>𝛽</m:t>
                      </m:r>
                      <m:r>
                        <a:rPr lang="en-US" altLang="zh-CN" i="1" dirty="0">
                          <a:latin typeface="Cambria Math" panose="02040503050406030204" pitchFamily="18" charset="0"/>
                        </a:rPr>
                        <m:t>)] = 0</m:t>
                      </m:r>
                      <m:r>
                        <a:rPr lang="en-US" altLang="zh-CN" i="1" dirty="0" smtClean="0">
                          <a:latin typeface="Cambria Math" panose="02040503050406030204" pitchFamily="18" charset="0"/>
                        </a:rPr>
                        <m:t>,</m:t>
                      </m:r>
                    </m:oMath>
                  </m:oMathPara>
                </a14:m>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𝐸</m:t>
                      </m:r>
                      <m:d>
                        <m:dPr>
                          <m:begChr m:val="["/>
                          <m:endChr m:val="]"/>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e>
                      </m:d>
                      <m:r>
                        <a:rPr lang="en-US" altLang="zh-CN" i="1" dirty="0">
                          <a:latin typeface="Cambria Math" panose="02040503050406030204" pitchFamily="18" charset="0"/>
                        </a:rPr>
                        <m:t>= </m:t>
                      </m:r>
                      <m:r>
                        <a:rPr lang="zh-CN" altLang="en-US" i="1" dirty="0">
                          <a:latin typeface="Cambria Math" panose="02040503050406030204" pitchFamily="18" charset="0"/>
                        </a:rPr>
                        <m:t>𝐸</m:t>
                      </m:r>
                      <m:sSub>
                        <m:sSubPr>
                          <m:ctrlPr>
                            <a:rPr lang="en-US" altLang="zh-CN" b="0" i="1" dirty="0" smtClean="0">
                              <a:latin typeface="Cambria Math" panose="02040503050406030204" pitchFamily="18" charset="0"/>
                            </a:rPr>
                          </m:ctrlPr>
                        </m:sSubPr>
                        <m:e>
                          <m:d>
                            <m:dPr>
                              <m:begChr m:val="["/>
                              <m:endChr m:val="]"/>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𝑋</m:t>
                                  </m:r>
                                </m:e>
                                <m:sub>
                                  <m:r>
                                    <a:rPr lang="zh-CN" altLang="en-US" i="1" dirty="0" smtClean="0">
                                      <a:latin typeface="Cambria Math" panose="02040503050406030204" pitchFamily="18" charset="0"/>
                                    </a:rPr>
                                    <m:t>𝑖</m:t>
                                  </m:r>
                                </m:sub>
                                <m:sup>
                                  <m:r>
                                    <a:rPr lang="en-US" altLang="zh-CN" i="1" dirty="0" smtClean="0">
                                      <a:latin typeface="Cambria Math" panose="02040503050406030204" pitchFamily="18" charset="0"/>
                                    </a:rPr>
                                    <m:t>′</m:t>
                                  </m:r>
                                </m:sup>
                              </m:sSubSup>
                              <m:r>
                                <a:rPr lang="zh-CN" altLang="en-US" i="1" dirty="0" smtClean="0">
                                  <a:latin typeface="Cambria Math" panose="02040503050406030204" pitchFamily="18" charset="0"/>
                                </a:rPr>
                                <m:t> </m:t>
                              </m:r>
                            </m:e>
                          </m:d>
                        </m:e>
                        <m:sub>
                          <m:r>
                            <a:rPr lang="zh-CN" altLang="en-US" i="1" dirty="0">
                              <a:latin typeface="Cambria Math" panose="02040503050406030204" pitchFamily="18" charset="0"/>
                            </a:rPr>
                            <m:t>𝐿</m:t>
                          </m:r>
                          <m:r>
                            <a:rPr lang="en-US" altLang="zh-CN" i="1" dirty="0">
                              <a:latin typeface="Cambria Math" panose="02040503050406030204" pitchFamily="18" charset="0"/>
                            </a:rPr>
                            <m:t>×</m:t>
                          </m:r>
                          <m:r>
                            <a:rPr lang="zh-CN" altLang="en-US" i="1" dirty="0">
                              <a:latin typeface="Cambria Math" panose="02040503050406030204" pitchFamily="18" charset="0"/>
                            </a:rPr>
                            <m:t>𝐾</m:t>
                          </m:r>
                        </m:sub>
                      </m:sSub>
                      <m:r>
                        <a:rPr lang="zh-CN" altLang="en-US" i="1" dirty="0">
                          <a:latin typeface="Cambria Math" panose="02040503050406030204" pitchFamily="18" charset="0"/>
                        </a:rPr>
                        <m:t> </m:t>
                      </m:r>
                      <m:r>
                        <a:rPr lang="zh-CN" altLang="en-US" i="1" dirty="0">
                          <a:latin typeface="Cambria Math" panose="02040503050406030204" pitchFamily="18" charset="0"/>
                        </a:rPr>
                        <m:t>𝛽</m:t>
                      </m:r>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(8</m:t>
                      </m:r>
                      <m:r>
                        <a:rPr lang="en-US" altLang="zh-CN" i="1" dirty="0" smtClean="0">
                          <a:latin typeface="Cambria Math" panose="02040503050406030204" pitchFamily="18" charset="0"/>
                        </a:rPr>
                        <m:t>)</m:t>
                      </m:r>
                    </m:oMath>
                  </m:oMathPara>
                </a14:m>
                <a:endParaRPr lang="en-US" altLang="zh-CN" dirty="0"/>
              </a:p>
              <a:p>
                <a:pPr>
                  <a:lnSpc>
                    <a:spcPct val="120000"/>
                  </a:lnSpc>
                </a:pPr>
                <a:r>
                  <a:rPr lang="zh-CN" altLang="en-US" dirty="0"/>
                  <a:t>如果𝐿 </a:t>
                </a:r>
                <a:r>
                  <a:rPr lang="en-US" altLang="zh-CN" dirty="0"/>
                  <a:t>= </a:t>
                </a:r>
                <a:r>
                  <a:rPr lang="zh-CN" altLang="en-US" dirty="0"/>
                  <a:t>𝐾（恰好识别），则</a:t>
                </a:r>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𝛽</m:t>
                      </m:r>
                      <m:r>
                        <a:rPr lang="zh-CN" altLang="en-US" i="1" dirty="0" smtClean="0">
                          <a:latin typeface="Cambria Math" panose="02040503050406030204" pitchFamily="18" charset="0"/>
                        </a:rPr>
                        <m:t> = </m:t>
                      </m:r>
                      <m:sSup>
                        <m:sSupPr>
                          <m:ctrlPr>
                            <a:rPr lang="zh-CN" altLang="en-US" i="1" dirty="0">
                              <a:latin typeface="Cambria Math" panose="02040503050406030204" pitchFamily="18" charset="0"/>
                            </a:rPr>
                          </m:ctrlPr>
                        </m:sSupPr>
                        <m:e>
                          <m:d>
                            <m:dPr>
                              <m:ctrlPr>
                                <a:rPr lang="zh-CN" altLang="en-US" i="1" dirty="0">
                                  <a:latin typeface="Cambria Math" panose="02040503050406030204" pitchFamily="18" charset="0"/>
                                </a:rPr>
                              </m:ctrlPr>
                            </m:dPr>
                            <m:e>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𝑋</m:t>
                                      </m:r>
                                    </m:e>
                                    <m:sub>
                                      <m:r>
                                        <a:rPr lang="zh-CN" altLang="en-US" i="1" dirty="0" smtClean="0">
                                          <a:latin typeface="Cambria Math" panose="02040503050406030204" pitchFamily="18" charset="0"/>
                                        </a:rPr>
                                        <m:t>𝑖</m:t>
                                      </m:r>
                                    </m:sub>
                                    <m:sup>
                                      <m:r>
                                        <a:rPr lang="en-US" altLang="zh-CN" i="1" dirty="0" smtClean="0">
                                          <a:latin typeface="Cambria Math" panose="02040503050406030204" pitchFamily="18" charset="0"/>
                                        </a:rPr>
                                        <m:t>′</m:t>
                                      </m:r>
                                    </m:sup>
                                  </m:sSubSup>
                                  <m:r>
                                    <a:rPr lang="zh-CN" altLang="en-US" i="1" dirty="0" smtClean="0">
                                      <a:latin typeface="Cambria Math" panose="02040503050406030204" pitchFamily="18" charset="0"/>
                                    </a:rPr>
                                    <m:t> </m:t>
                                  </m:r>
                                </m:e>
                              </m:d>
                            </m:e>
                          </m:d>
                        </m:e>
                        <m:sup>
                          <m:r>
                            <a:rPr lang="zh-CN" altLang="en-US" i="1" dirty="0">
                              <a:latin typeface="Cambria Math" panose="02040503050406030204" pitchFamily="18" charset="0"/>
                            </a:rPr>
                            <m:t>−</m:t>
                          </m:r>
                          <m:r>
                            <a:rPr lang="en-US" altLang="zh-CN" i="1" dirty="0">
                              <a:latin typeface="Cambria Math" panose="02040503050406030204" pitchFamily="18" charset="0"/>
                            </a:rPr>
                            <m:t>1</m:t>
                          </m:r>
                        </m:sup>
                      </m:sSup>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(9</m:t>
                      </m:r>
                      <m:r>
                        <a:rPr lang="en-US" altLang="zh-CN" i="1" dirty="0" smtClean="0">
                          <a:latin typeface="Cambria Math" panose="02040503050406030204" pitchFamily="18" charset="0"/>
                        </a:rPr>
                        <m:t>)</m:t>
                      </m:r>
                    </m:oMath>
                  </m:oMathPara>
                </a14:m>
                <a:endParaRPr lang="en-US" altLang="zh-CN" dirty="0"/>
              </a:p>
              <a:p>
                <a:pPr>
                  <a:lnSpc>
                    <a:spcPct val="120000"/>
                  </a:lnSpc>
                </a:pPr>
                <a:r>
                  <a:rPr lang="zh-CN" altLang="en-US" dirty="0"/>
                  <a:t>相应估计量为</a:t>
                </a:r>
                <a:endParaRPr lang="en-US" altLang="zh-CN" dirty="0"/>
              </a:p>
              <a:p>
                <a:pPr marL="0" indent="0">
                  <a:lnSpc>
                    <a:spcPct val="120000"/>
                  </a:lnSpc>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𝛽</m:t>
                              </m:r>
                            </m:e>
                          </m:acc>
                        </m:e>
                        <m:sub>
                          <m:r>
                            <a:rPr lang="en-US" altLang="zh-CN" b="0" i="1" dirty="0" smtClean="0">
                              <a:latin typeface="Cambria Math" panose="02040503050406030204" pitchFamily="18" charset="0"/>
                            </a:rPr>
                            <m:t>𝑖𝑣</m:t>
                          </m:r>
                        </m:sub>
                      </m:sSub>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d>
                            <m:dPr>
                              <m:ctrlPr>
                                <a:rPr lang="en-US" altLang="zh-CN" b="0" i="1" dirty="0" smtClean="0">
                                  <a:latin typeface="Cambria Math" panose="02040503050406030204" pitchFamily="18" charset="0"/>
                                </a:rPr>
                              </m:ctrlPr>
                            </m:dPr>
                            <m:e>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𝑛</m:t>
                                  </m:r>
                                </m:den>
                              </m:f>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𝑍</m:t>
                                      </m:r>
                                    </m:e>
                                    <m:sub>
                                      <m:r>
                                        <a:rPr lang="en-US" altLang="zh-CN" b="0" i="1" dirty="0" smtClean="0">
                                          <a:latin typeface="Cambria Math" panose="02040503050406030204" pitchFamily="18" charset="0"/>
                                        </a:rPr>
                                        <m:t>𝑖</m:t>
                                      </m:r>
                                    </m:sub>
                                  </m:sSub>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m:t>
                                      </m:r>
                                    </m:sup>
                                  </m:sSubSup>
                                </m:e>
                              </m:nary>
                            </m:e>
                          </m:d>
                        </m:e>
                        <m:sup>
                          <m:r>
                            <a:rPr lang="en-US" altLang="zh-CN" b="0" i="1" dirty="0" smtClean="0">
                              <a:latin typeface="Cambria Math" panose="02040503050406030204" pitchFamily="18" charset="0"/>
                            </a:rPr>
                            <m:t>−1</m:t>
                          </m:r>
                        </m:sup>
                      </m:sSup>
                      <m:d>
                        <m:dPr>
                          <m:ctrlPr>
                            <a:rPr lang="en-US" altLang="zh-CN" b="0" i="1" dirty="0" smtClean="0">
                              <a:latin typeface="Cambria Math" panose="02040503050406030204" pitchFamily="18" charset="0"/>
                            </a:rPr>
                          </m:ctrlPr>
                        </m:dPr>
                        <m:e>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𝑛</m:t>
                              </m:r>
                            </m:den>
                          </m:f>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𝑍</m:t>
                                  </m:r>
                                </m:e>
                                <m:sub>
                                  <m:r>
                                    <a:rPr lang="en-US" altLang="zh-CN" b="0" i="1" dirty="0" smtClean="0">
                                      <a:latin typeface="Cambria Math" panose="02040503050406030204" pitchFamily="18" charset="0"/>
                                    </a:rPr>
                                    <m:t>𝑖</m:t>
                                  </m:r>
                                </m:sub>
                              </m:s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Sub>
                            </m:e>
                          </m:nary>
                        </m:e>
                      </m:d>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d>
                            <m:dPr>
                              <m:ctrlPr>
                                <a:rPr lang="en-US" altLang="zh-CN" b="0" i="1" dirty="0" smtClean="0">
                                  <a:latin typeface="Cambria Math" panose="02040503050406030204" pitchFamily="18" charset="0"/>
                                </a:rPr>
                              </m:ctrlPr>
                            </m:dPr>
                            <m:e>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𝑍</m:t>
                                  </m:r>
                                </m:e>
                                <m:sup>
                                  <m:r>
                                    <a:rPr lang="en-US" altLang="zh-CN" b="0" i="1" dirty="0" smtClean="0">
                                      <a:latin typeface="Cambria Math" panose="02040503050406030204" pitchFamily="18" charset="0"/>
                                    </a:rPr>
                                    <m:t>′</m:t>
                                  </m:r>
                                </m:sup>
                              </m:sSup>
                              <m:r>
                                <a:rPr lang="en-US" altLang="zh-CN" b="0" i="1" dirty="0" smtClean="0">
                                  <a:latin typeface="Cambria Math" panose="02040503050406030204" pitchFamily="18" charset="0"/>
                                </a:rPr>
                                <m:t>𝑋</m:t>
                              </m:r>
                            </m:e>
                          </m:d>
                        </m:e>
                        <m:sup>
                          <m:r>
                            <a:rPr lang="en-US" altLang="zh-CN" b="0" i="1" dirty="0" smtClean="0">
                              <a:latin typeface="Cambria Math" panose="02040503050406030204" pitchFamily="18" charset="0"/>
                            </a:rPr>
                            <m:t>−1</m:t>
                          </m:r>
                        </m:sup>
                      </m:sSup>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𝑍𝑌</m:t>
                          </m:r>
                        </m:e>
                      </m:d>
                      <m:r>
                        <a:rPr lang="en-US" altLang="zh-CN" b="0" i="1" dirty="0" smtClean="0">
                          <a:latin typeface="Cambria Math" panose="02040503050406030204" pitchFamily="18" charset="0"/>
                        </a:rPr>
                        <m:t>     </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10</m:t>
                          </m:r>
                        </m:e>
                      </m:d>
                    </m:oMath>
                  </m:oMathPara>
                </a14:m>
                <a:endParaRPr lang="en-US" altLang="zh-CN" b="0" dirty="0"/>
              </a:p>
              <a:p>
                <a:pPr>
                  <a:lnSpc>
                    <a:spcPct val="120000"/>
                  </a:lnSpc>
                </a:pPr>
                <a:r>
                  <a:rPr lang="zh-CN" altLang="en-US" dirty="0"/>
                  <a:t>如果𝐿 </a:t>
                </a:r>
                <a:r>
                  <a:rPr lang="en-US" altLang="zh-CN" dirty="0"/>
                  <a:t>&gt; </a:t>
                </a:r>
                <a:r>
                  <a:rPr lang="zh-CN" altLang="en-US" dirty="0"/>
                  <a:t>𝐾（过度识别），即</a:t>
                </a:r>
                <a:r>
                  <a:rPr lang="en-US" altLang="zh-CN" dirty="0"/>
                  <a:t>(8) </a:t>
                </a:r>
                <a:r>
                  <a:rPr lang="zh-CN" altLang="en-US" dirty="0"/>
                  <a:t>式相当于有𝐿 个方程，𝐾 个未知数，无法得到唯一解，工具数量多于内生变量数量，做法是利用工具变量利用第一阶段合成出 𝐾 个新的工具 </a:t>
                </a:r>
                <a14:m>
                  <m:oMath xmlns:m="http://schemas.openxmlformats.org/officeDocument/2006/math">
                    <m:sSub>
                      <m:sSubPr>
                        <m:ctrlPr>
                          <a:rPr lang="zh-CN" altLang="en-US" i="1" dirty="0" smtClean="0">
                            <a:latin typeface="Cambria Math" panose="02040503050406030204" pitchFamily="18" charset="0"/>
                          </a:rPr>
                        </m:ctrlPr>
                      </m:sSubPr>
                      <m:e>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𝑋</m:t>
                            </m:r>
                          </m:e>
                        </m:acc>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p>
                      <m:sSupPr>
                        <m:ctrlPr>
                          <a:rPr lang="zh-CN" altLang="en-US" i="1" dirty="0">
                            <a:latin typeface="Cambria Math" panose="02040503050406030204" pitchFamily="18" charset="0"/>
                          </a:rPr>
                        </m:ctrlPr>
                      </m:sSupPr>
                      <m:e>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𝜋</m:t>
                            </m:r>
                          </m:e>
                        </m:acc>
                      </m:e>
                      <m:sup>
                        <m:r>
                          <a:rPr lang="en-US" altLang="zh-CN" i="1" dirty="0">
                            <a:latin typeface="Cambria Math" panose="02040503050406030204" pitchFamily="18" charset="0"/>
                          </a:rPr>
                          <m:t>′</m:t>
                        </m:r>
                      </m:sup>
                    </m:sSup>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oMath>
                </a14:m>
                <a:r>
                  <a:rPr lang="zh-CN" altLang="en-US" dirty="0"/>
                  <a:t>，</a:t>
                </a:r>
                <a:r>
                  <a:rPr lang="zh-CN" altLang="pl-PL" dirty="0"/>
                  <a:t>或 </a:t>
                </a:r>
                <a14:m>
                  <m:oMath xmlns:m="http://schemas.openxmlformats.org/officeDocument/2006/math">
                    <m:r>
                      <a:rPr lang="pl-PL" altLang="zh-CN" b="1" i="1" dirty="0" smtClean="0">
                        <a:latin typeface="Cambria Math" panose="02040503050406030204" pitchFamily="18" charset="0"/>
                      </a:rPr>
                      <m:t>𝑿</m:t>
                    </m:r>
                    <m:r>
                      <a:rPr lang="pl-PL" altLang="zh-CN" b="1" i="1" dirty="0" smtClean="0">
                        <a:latin typeface="Cambria Math" panose="02040503050406030204" pitchFamily="18" charset="0"/>
                      </a:rPr>
                      <m:t> ̂ = </m:t>
                    </m:r>
                    <m:r>
                      <a:rPr lang="pl-PL" altLang="zh-CN" b="1" i="1" dirty="0">
                        <a:latin typeface="Cambria Math" panose="02040503050406030204" pitchFamily="18" charset="0"/>
                      </a:rPr>
                      <m:t>𝒁</m:t>
                    </m:r>
                    <m:r>
                      <a:rPr lang="zh-CN" altLang="pl-PL" i="1" dirty="0">
                        <a:latin typeface="Cambria Math" panose="02040503050406030204" pitchFamily="18" charset="0"/>
                      </a:rPr>
                      <m:t>𝜋</m:t>
                    </m:r>
                    <m:r>
                      <a:rPr lang="zh-CN" altLang="pl-PL" i="1" dirty="0">
                        <a:latin typeface="Cambria Math" panose="02040503050406030204" pitchFamily="18" charset="0"/>
                      </a:rPr>
                      <m:t> ̂ = </m:t>
                    </m:r>
                    <m:r>
                      <a:rPr lang="pl-PL" altLang="zh-CN" b="1" i="1" dirty="0">
                        <a:latin typeface="Cambria Math" panose="02040503050406030204" pitchFamily="18" charset="0"/>
                      </a:rPr>
                      <m:t>𝒁</m:t>
                    </m:r>
                    <m:sSup>
                      <m:sSupPr>
                        <m:ctrlPr>
                          <a:rPr lang="pl-PL" altLang="zh-CN" b="1" i="1" dirty="0">
                            <a:latin typeface="Cambria Math" panose="02040503050406030204" pitchFamily="18" charset="0"/>
                          </a:rPr>
                        </m:ctrlPr>
                      </m:sSupPr>
                      <m:e>
                        <m:d>
                          <m:dPr>
                            <m:ctrlPr>
                              <a:rPr lang="pl-PL" altLang="zh-CN" b="1" i="1" dirty="0">
                                <a:latin typeface="Cambria Math" panose="02040503050406030204" pitchFamily="18" charset="0"/>
                              </a:rPr>
                            </m:ctrlPr>
                          </m:dPr>
                          <m:e>
                            <m:sSup>
                              <m:sSupPr>
                                <m:ctrlPr>
                                  <a:rPr lang="pl-PL" altLang="zh-CN" b="1" i="1" dirty="0">
                                    <a:latin typeface="Cambria Math" panose="02040503050406030204" pitchFamily="18" charset="0"/>
                                  </a:rPr>
                                </m:ctrlPr>
                              </m:sSupPr>
                              <m:e>
                                <m:r>
                                  <a:rPr lang="pl-PL" altLang="zh-CN" b="1" i="1" dirty="0">
                                    <a:latin typeface="Cambria Math" panose="02040503050406030204" pitchFamily="18" charset="0"/>
                                  </a:rPr>
                                  <m:t>𝒁</m:t>
                                </m:r>
                              </m:e>
                              <m:sup>
                                <m:r>
                                  <a:rPr lang="pl-PL" altLang="zh-CN" b="1" i="1" dirty="0">
                                    <a:latin typeface="Cambria Math" panose="02040503050406030204" pitchFamily="18" charset="0"/>
                                  </a:rPr>
                                  <m:t>′</m:t>
                                </m:r>
                              </m:sup>
                            </m:sSup>
                            <m:r>
                              <a:rPr lang="pl-PL" altLang="zh-CN" b="1" i="1" dirty="0">
                                <a:latin typeface="Cambria Math" panose="02040503050406030204" pitchFamily="18" charset="0"/>
                              </a:rPr>
                              <m:t>𝒁</m:t>
                            </m:r>
                          </m:e>
                        </m:d>
                      </m:e>
                      <m:sup>
                        <m:r>
                          <a:rPr lang="pl-PL" altLang="zh-CN" i="1" dirty="0">
                            <a:latin typeface="Cambria Math" panose="02040503050406030204" pitchFamily="18" charset="0"/>
                          </a:rPr>
                          <m:t>−1</m:t>
                        </m:r>
                      </m:sup>
                    </m:sSup>
                    <m:r>
                      <a:rPr lang="pl-PL" altLang="zh-CN" b="1" i="1" dirty="0">
                        <a:latin typeface="Cambria Math" panose="02040503050406030204" pitchFamily="18" charset="0"/>
                      </a:rPr>
                      <m:t>𝒁</m:t>
                    </m:r>
                    <m:r>
                      <a:rPr lang="pl-PL" altLang="zh-CN" i="1" dirty="0">
                        <a:latin typeface="Cambria Math" panose="02040503050406030204" pitchFamily="18" charset="0"/>
                      </a:rPr>
                      <m:t>′</m:t>
                    </m:r>
                    <m:r>
                      <a:rPr lang="pl-PL" altLang="zh-CN" b="1" i="1" dirty="0">
                        <a:latin typeface="Cambria Math" panose="02040503050406030204" pitchFamily="18" charset="0"/>
                      </a:rPr>
                      <m:t>𝑿</m:t>
                    </m:r>
                    <m:r>
                      <a:rPr lang="pl-PL" altLang="zh-CN" b="1" i="1" dirty="0">
                        <a:latin typeface="Cambria Math" panose="02040503050406030204" pitchFamily="18" charset="0"/>
                      </a:rPr>
                      <m:t> = </m:t>
                    </m:r>
                    <m:sSub>
                      <m:sSubPr>
                        <m:ctrlPr>
                          <a:rPr lang="zh-CN" altLang="pl-PL" b="1" i="1" dirty="0">
                            <a:latin typeface="Cambria Math" panose="02040503050406030204" pitchFamily="18" charset="0"/>
                          </a:rPr>
                        </m:ctrlPr>
                      </m:sSubPr>
                      <m:e>
                        <m:r>
                          <a:rPr lang="zh-CN" altLang="pl-PL" b="1" i="1" dirty="0">
                            <a:latin typeface="Cambria Math" panose="02040503050406030204" pitchFamily="18" charset="0"/>
                          </a:rPr>
                          <m:t>𝑷</m:t>
                        </m:r>
                      </m:e>
                      <m:sub>
                        <m:r>
                          <a:rPr lang="zh-CN" altLang="pl-PL" b="1" i="1" dirty="0">
                            <a:latin typeface="Cambria Math" panose="02040503050406030204" pitchFamily="18" charset="0"/>
                          </a:rPr>
                          <m:t>𝒁</m:t>
                        </m:r>
                      </m:sub>
                    </m:sSub>
                    <m:r>
                      <a:rPr lang="pl-PL" altLang="zh-CN" b="1" i="1" dirty="0">
                        <a:latin typeface="Cambria Math" panose="02040503050406030204" pitchFamily="18" charset="0"/>
                      </a:rPr>
                      <m:t>𝑿</m:t>
                    </m:r>
                  </m:oMath>
                </a14:m>
                <a:r>
                  <a:rPr lang="zh-CN" altLang="pl-PL" dirty="0"/>
                  <a:t>。</a:t>
                </a:r>
                <a:endParaRPr lang="en-US" altLang="zh-CN" dirty="0"/>
              </a:p>
              <a:p>
                <a:pPr marL="0"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𝛽</m:t>
                              </m:r>
                            </m:e>
                          </m:acc>
                        </m:e>
                        <m:sub>
                          <m:r>
                            <a:rPr lang="en-US" altLang="zh-CN" i="1" dirty="0" smtClean="0">
                              <a:latin typeface="Cambria Math" panose="02040503050406030204" pitchFamily="18" charset="0"/>
                            </a:rPr>
                            <m:t>2</m:t>
                          </m:r>
                          <m:r>
                            <a:rPr lang="zh-CN" altLang="en-US" i="1" dirty="0">
                              <a:latin typeface="Cambria Math" panose="02040503050406030204" pitchFamily="18" charset="0"/>
                            </a:rPr>
                            <m:t>𝑠𝑙𝑠</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p>
                        <m:sSupPr>
                          <m:ctrlPr>
                            <a:rPr lang="en-US" altLang="zh-CN" b="1" i="1" dirty="0">
                              <a:latin typeface="Cambria Math" panose="02040503050406030204" pitchFamily="18" charset="0"/>
                            </a:rPr>
                          </m:ctrlPr>
                        </m:sSupPr>
                        <m:e>
                          <m:d>
                            <m:dPr>
                              <m:ctrlPr>
                                <a:rPr lang="en-US" altLang="zh-CN" b="1" i="1" dirty="0">
                                  <a:latin typeface="Cambria Math" panose="02040503050406030204" pitchFamily="18" charset="0"/>
                                </a:rPr>
                              </m:ctrlPr>
                            </m:dPr>
                            <m:e>
                              <m:sSup>
                                <m:sSupPr>
                                  <m:ctrlPr>
                                    <a:rPr lang="en-US" altLang="zh-CN" b="1" i="1" dirty="0">
                                      <a:latin typeface="Cambria Math" panose="02040503050406030204" pitchFamily="18" charset="0"/>
                                    </a:rPr>
                                  </m:ctrlPr>
                                </m:sSupPr>
                                <m:e>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𝑿</m:t>
                                      </m:r>
                                    </m:e>
                                  </m:acc>
                                </m:e>
                                <m:sup>
                                  <m:r>
                                    <a:rPr lang="en-US" altLang="zh-CN" b="1" i="1" dirty="0">
                                      <a:latin typeface="Cambria Math" panose="02040503050406030204" pitchFamily="18" charset="0"/>
                                    </a:rPr>
                                    <m:t>′</m:t>
                                  </m:r>
                                </m:sup>
                              </m:sSup>
                              <m:r>
                                <a:rPr lang="en-US" altLang="zh-CN" b="1" i="1" dirty="0">
                                  <a:latin typeface="Cambria Math" panose="02040503050406030204" pitchFamily="18" charset="0"/>
                                </a:rPr>
                                <m:t>𝑿</m:t>
                              </m:r>
                            </m:e>
                          </m:d>
                        </m:e>
                        <m:sup>
                          <m:r>
                            <a:rPr lang="en-US" altLang="zh-CN" i="1" dirty="0">
                              <a:latin typeface="Cambria Math" panose="02040503050406030204" pitchFamily="18" charset="0"/>
                            </a:rPr>
                            <m:t>−1</m:t>
                          </m:r>
                        </m:sup>
                      </m:sSup>
                      <m:r>
                        <a:rPr lang="en-US" altLang="zh-CN" i="1" dirty="0">
                          <a:latin typeface="Cambria Math" panose="02040503050406030204" pitchFamily="18" charset="0"/>
                        </a:rPr>
                        <m:t>(</m:t>
                      </m:r>
                      <m:r>
                        <a:rPr lang="en-US" altLang="zh-CN" b="1" i="1" dirty="0">
                          <a:latin typeface="Cambria Math" panose="02040503050406030204" pitchFamily="18" charset="0"/>
                        </a:rPr>
                        <m:t>𝑿</m:t>
                      </m:r>
                      <m:r>
                        <a:rPr lang="en-US" altLang="zh-CN" b="1" i="1" dirty="0">
                          <a:latin typeface="Cambria Math" panose="02040503050406030204" pitchFamily="18" charset="0"/>
                        </a:rPr>
                        <m:t> ̂′</m:t>
                      </m:r>
                      <m:r>
                        <a:rPr lang="en-US" altLang="zh-CN" b="1" i="1" dirty="0">
                          <a:latin typeface="Cambria Math" panose="02040503050406030204" pitchFamily="18" charset="0"/>
                        </a:rPr>
                        <m:t>𝒀</m:t>
                      </m:r>
                      <m:r>
                        <a:rPr lang="en-US" altLang="zh-CN" i="1" dirty="0">
                          <a:latin typeface="Cambria Math" panose="02040503050406030204" pitchFamily="18" charset="0"/>
                        </a:rPr>
                        <m:t>) (</m:t>
                      </m:r>
                      <m:r>
                        <a:rPr lang="zh-CN" altLang="en-US" i="1" dirty="0">
                          <a:latin typeface="Cambria Math" panose="02040503050406030204" pitchFamily="18" charset="0"/>
                        </a:rPr>
                        <m:t>相当于用 </m:t>
                      </m:r>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𝑿</m:t>
                          </m:r>
                        </m:e>
                      </m:acc>
                      <m:r>
                        <a:rPr lang="en-US" altLang="zh-CN" i="1" dirty="0">
                          <a:latin typeface="Cambria Math" panose="02040503050406030204" pitchFamily="18" charset="0"/>
                        </a:rPr>
                        <m:t> </m:t>
                      </m:r>
                      <m:r>
                        <a:rPr lang="zh-CN" altLang="en-US" i="1" dirty="0">
                          <a:latin typeface="Cambria Math" panose="02040503050406030204" pitchFamily="18" charset="0"/>
                        </a:rPr>
                        <m:t>作为工具</m:t>
                      </m:r>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(11</m:t>
                      </m:r>
                      <m:r>
                        <a:rPr lang="en-US" altLang="zh-CN" i="1" dirty="0" smtClean="0">
                          <a:latin typeface="Cambria Math" panose="02040503050406030204" pitchFamily="18" charset="0"/>
                        </a:rPr>
                        <m:t>)</m:t>
                      </m:r>
                    </m:oMath>
                  </m:oMathPara>
                </a14:m>
                <a:endParaRPr lang="en-US" altLang="zh-CN" dirty="0"/>
              </a:p>
              <a:p>
                <a:pPr marL="0" indent="0">
                  <a:lnSpc>
                    <a:spcPct val="120000"/>
                  </a:lnSpc>
                  <a:buNone/>
                </a:pPr>
                <a14:m>
                  <m:oMathPara xmlns:m="http://schemas.openxmlformats.org/officeDocument/2006/math">
                    <m:oMath>
                      <m:r>
                        <a:rPr lang="en-US" altLang="zh-CN" i="1" dirty="0" smtClean="0">
                          <a:latin typeface="Cambria Math" panose="02040503050406030204" pitchFamily="18" charset="0"/>
                        </a:rPr>
                        <m:t>= </m:t>
                      </m:r>
                      <m:sSup>
                        <m:sSupPr>
                          <m:ctrlPr>
                            <a:rPr lang="en-US" altLang="zh-CN" i="1" dirty="0">
                              <a:latin typeface="Cambria Math" panose="02040503050406030204" pitchFamily="18" charset="0"/>
                            </a:rPr>
                          </m:ctrlPr>
                        </m:sSupPr>
                        <m:e>
                          <m:d>
                            <m:dPr>
                              <m:ctrlPr>
                                <a:rPr lang="en-US" altLang="zh-CN" i="1" dirty="0">
                                  <a:latin typeface="Cambria Math" panose="02040503050406030204" pitchFamily="18" charset="0"/>
                                </a:rPr>
                              </m:ctrlPr>
                            </m:dPr>
                            <m:e>
                              <m:acc>
                                <m:accPr>
                                  <m:chr m:val="̂"/>
                                  <m:ctrlPr>
                                    <a:rPr lang="en-US" altLang="zh-CN" b="1" i="1" dirty="0">
                                      <a:latin typeface="Cambria Math" panose="02040503050406030204" pitchFamily="18" charset="0"/>
                                    </a:rPr>
                                  </m:ctrlPr>
                                </m:accPr>
                                <m:e>
                                  <m:sSup>
                                    <m:sSupPr>
                                      <m:ctrlPr>
                                        <a:rPr lang="en-US" altLang="zh-CN" b="1" i="1" dirty="0">
                                          <a:latin typeface="Cambria Math" panose="02040503050406030204" pitchFamily="18" charset="0"/>
                                        </a:rPr>
                                      </m:ctrlPr>
                                    </m:sSupPr>
                                    <m:e>
                                      <m:r>
                                        <a:rPr lang="en-US" altLang="zh-CN" b="1" i="1" dirty="0">
                                          <a:latin typeface="Cambria Math" panose="02040503050406030204" pitchFamily="18" charset="0"/>
                                        </a:rPr>
                                        <m:t>𝑿</m:t>
                                      </m:r>
                                    </m:e>
                                    <m:sup>
                                      <m:r>
                                        <a:rPr lang="en-US" altLang="zh-CN" b="1" i="1" dirty="0">
                                          <a:latin typeface="Cambria Math" panose="02040503050406030204" pitchFamily="18" charset="0"/>
                                        </a:rPr>
                                        <m:t>′</m:t>
                                      </m:r>
                                    </m:sup>
                                  </m:sSup>
                                </m:e>
                              </m:acc>
                              <m:r>
                                <a:rPr lang="en-US" altLang="zh-CN" b="1" i="1" dirty="0">
                                  <a:latin typeface="Cambria Math" panose="02040503050406030204" pitchFamily="18" charset="0"/>
                                </a:rPr>
                                <m:t>𝑿</m:t>
                              </m:r>
                            </m:e>
                          </m:d>
                        </m:e>
                        <m:sup>
                          <m:r>
                            <a:rPr lang="en-US" altLang="zh-CN" i="1" dirty="0">
                              <a:latin typeface="Cambria Math" panose="02040503050406030204" pitchFamily="18" charset="0"/>
                            </a:rPr>
                            <m:t>−1</m:t>
                          </m:r>
                        </m:sup>
                      </m:sSup>
                      <m:d>
                        <m:dPr>
                          <m:ctrlPr>
                            <a:rPr lang="en-US" altLang="zh-CN" b="0" i="1" dirty="0">
                              <a:latin typeface="Cambria Math" panose="02040503050406030204" pitchFamily="18" charset="0"/>
                            </a:rPr>
                          </m:ctrlPr>
                        </m:dPr>
                        <m:e>
                          <m:sSup>
                            <m:sSupPr>
                              <m:ctrlPr>
                                <a:rPr lang="en-US" altLang="zh-CN" b="1" i="1" dirty="0">
                                  <a:latin typeface="Cambria Math" panose="02040503050406030204" pitchFamily="18" charset="0"/>
                                </a:rPr>
                              </m:ctrlPr>
                            </m:sSupPr>
                            <m:e>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𝑿</m:t>
                                  </m:r>
                                </m:e>
                              </m:acc>
                            </m:e>
                            <m:sup>
                              <m:r>
                                <a:rPr lang="en-US" altLang="zh-CN" b="0" i="1" dirty="0">
                                  <a:latin typeface="Cambria Math" panose="02040503050406030204" pitchFamily="18" charset="0"/>
                                </a:rPr>
                                <m:t>′</m:t>
                              </m:r>
                            </m:sup>
                          </m:sSup>
                          <m:r>
                            <a:rPr lang="en-US" altLang="zh-CN" b="1" i="1" dirty="0">
                              <a:latin typeface="Cambria Math" panose="02040503050406030204" pitchFamily="18" charset="0"/>
                            </a:rPr>
                            <m:t>𝒀</m:t>
                          </m:r>
                        </m:e>
                      </m:d>
                      <m:r>
                        <a:rPr lang="en-US" altLang="zh-CN" i="1" dirty="0">
                          <a:latin typeface="Cambria Math" panose="02040503050406030204" pitchFamily="18" charset="0"/>
                        </a:rPr>
                        <m:t> (</m:t>
                      </m:r>
                      <m:r>
                        <a:rPr lang="zh-CN" altLang="en-US" i="1" dirty="0">
                          <a:latin typeface="Cambria Math" panose="02040503050406030204" pitchFamily="18" charset="0"/>
                        </a:rPr>
                        <m:t>利用</m:t>
                      </m:r>
                      <m:r>
                        <a:rPr lang="en-US" altLang="zh-CN" b="1" i="1" dirty="0">
                          <a:latin typeface="Cambria Math" panose="02040503050406030204" pitchFamily="18" charset="0"/>
                        </a:rPr>
                        <m:t>𝑿</m:t>
                      </m:r>
                      <m:r>
                        <a:rPr lang="en-US" altLang="zh-CN" b="1" i="1" dirty="0">
                          <a:latin typeface="Cambria Math" panose="02040503050406030204" pitchFamily="18" charset="0"/>
                        </a:rPr>
                        <m:t> = </m:t>
                      </m:r>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𝑿</m:t>
                          </m:r>
                        </m:e>
                      </m:acc>
                      <m:r>
                        <a:rPr lang="en-US" altLang="zh-CN" b="1" i="1" dirty="0">
                          <a:latin typeface="Cambria Math" panose="02040503050406030204" pitchFamily="18" charset="0"/>
                        </a:rPr>
                        <m:t> </m:t>
                      </m:r>
                      <m:r>
                        <a:rPr lang="en-US" altLang="zh-CN" i="1" dirty="0">
                          <a:latin typeface="Cambria Math" panose="02040503050406030204" pitchFamily="18" charset="0"/>
                        </a:rPr>
                        <m:t>+ </m:t>
                      </m:r>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𝑽</m:t>
                          </m:r>
                        </m:e>
                      </m:acc>
                      <m:r>
                        <a:rPr lang="en-US" altLang="zh-CN" i="1" dirty="0">
                          <a:latin typeface="Cambria Math" panose="02040503050406030204" pitchFamily="18" charset="0"/>
                        </a:rPr>
                        <m:t>, </m:t>
                      </m:r>
                      <m:sSup>
                        <m:sSupPr>
                          <m:ctrlPr>
                            <a:rPr lang="en-US" altLang="zh-CN" b="1" i="1" dirty="0">
                              <a:latin typeface="Cambria Math" panose="02040503050406030204" pitchFamily="18" charset="0"/>
                            </a:rPr>
                          </m:ctrlPr>
                        </m:sSupPr>
                        <m:e>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𝑿</m:t>
                              </m:r>
                            </m:e>
                          </m:acc>
                        </m:e>
                        <m:sup>
                          <m:r>
                            <a:rPr lang="en-US" altLang="zh-CN" i="1" dirty="0">
                              <a:latin typeface="Cambria Math" panose="02040503050406030204" pitchFamily="18" charset="0"/>
                            </a:rPr>
                            <m:t>′</m:t>
                          </m:r>
                        </m:sup>
                      </m:sSup>
                      <m:r>
                        <a:rPr lang="en-US" altLang="zh-CN" i="1" dirty="0">
                          <a:latin typeface="Cambria Math" panose="02040503050406030204" pitchFamily="18" charset="0"/>
                        </a:rPr>
                        <m:t> </m:t>
                      </m:r>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𝑽</m:t>
                          </m:r>
                        </m:e>
                      </m:acc>
                      <m:r>
                        <a:rPr lang="en-US" altLang="zh-CN" b="1" i="1" dirty="0">
                          <a:latin typeface="Cambria Math" panose="02040503050406030204" pitchFamily="18" charset="0"/>
                        </a:rPr>
                        <m:t> </m:t>
                      </m:r>
                      <m:r>
                        <a:rPr lang="en-US" altLang="zh-CN" i="1" dirty="0">
                          <a:latin typeface="Cambria Math" panose="02040503050406030204" pitchFamily="18" charset="0"/>
                        </a:rPr>
                        <m:t>= 0) </m:t>
                      </m:r>
                      <m:r>
                        <a:rPr lang="en-US" altLang="zh-CN" b="0" i="1" dirty="0" smtClean="0">
                          <a:latin typeface="Cambria Math" panose="02040503050406030204" pitchFamily="18" charset="0"/>
                        </a:rPr>
                        <m:t>    </m:t>
                      </m:r>
                      <m:r>
                        <a:rPr lang="en-US" altLang="zh-CN" i="1" dirty="0">
                          <a:latin typeface="Cambria Math" panose="02040503050406030204" pitchFamily="18" charset="0"/>
                        </a:rPr>
                        <m:t>(12</m:t>
                      </m:r>
                      <m:r>
                        <a:rPr lang="en-US" altLang="zh-CN" i="1" dirty="0" smtClean="0">
                          <a:latin typeface="Cambria Math" panose="02040503050406030204" pitchFamily="18" charset="0"/>
                        </a:rPr>
                        <m:t>)</m:t>
                      </m:r>
                    </m:oMath>
                  </m:oMathPara>
                </a14:m>
                <a:endParaRPr lang="en-US" altLang="zh-CN" dirty="0"/>
              </a:p>
              <a:p>
                <a:pPr marL="0" indent="0">
                  <a:lnSpc>
                    <a:spcPct val="120000"/>
                  </a:lnSpc>
                  <a:buNone/>
                </a:pPr>
                <a14:m>
                  <m:oMathPara xmlns:m="http://schemas.openxmlformats.org/officeDocument/2006/math">
                    <m:oMath>
                      <m:r>
                        <a:rPr lang="en-US" altLang="zh-CN" i="1" dirty="0" smtClean="0">
                          <a:latin typeface="Cambria Math" panose="02040503050406030204" pitchFamily="18" charset="0"/>
                        </a:rPr>
                        <m:t>= </m:t>
                      </m:r>
                      <m:sSup>
                        <m:sSupPr>
                          <m:ctrlPr>
                            <a:rPr lang="en-US" altLang="zh-CN" b="1" i="1" dirty="0">
                              <a:latin typeface="Cambria Math" panose="02040503050406030204" pitchFamily="18" charset="0"/>
                            </a:rPr>
                          </m:ctrlPr>
                        </m:sSupPr>
                        <m:e>
                          <m:d>
                            <m:dPr>
                              <m:ctrlPr>
                                <a:rPr lang="en-US" altLang="zh-CN" b="1" i="1" dirty="0">
                                  <a:latin typeface="Cambria Math" panose="02040503050406030204" pitchFamily="18" charset="0"/>
                                </a:rPr>
                              </m:ctrlPr>
                            </m:dPr>
                            <m:e>
                              <m:sSup>
                                <m:sSupPr>
                                  <m:ctrlPr>
                                    <a:rPr lang="en-US" altLang="zh-CN" b="1" i="1" dirty="0">
                                      <a:latin typeface="Cambria Math" panose="02040503050406030204" pitchFamily="18" charset="0"/>
                                    </a:rPr>
                                  </m:ctrlPr>
                                </m:sSupPr>
                                <m:e>
                                  <m:r>
                                    <a:rPr lang="en-US" altLang="zh-CN" b="1" i="1" dirty="0">
                                      <a:latin typeface="Cambria Math" panose="02040503050406030204" pitchFamily="18" charset="0"/>
                                    </a:rPr>
                                    <m:t>𝑿</m:t>
                                  </m:r>
                                </m:e>
                                <m:sup>
                                  <m:r>
                                    <a:rPr lang="en-US" altLang="zh-CN" b="1" i="1" dirty="0">
                                      <a:latin typeface="Cambria Math" panose="02040503050406030204" pitchFamily="18" charset="0"/>
                                    </a:rPr>
                                    <m:t>′</m:t>
                                  </m:r>
                                </m:sup>
                              </m:sSup>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𝑷</m:t>
                                  </m:r>
                                </m:e>
                                <m:sub>
                                  <m:r>
                                    <a:rPr lang="zh-CN" altLang="en-US" b="1" i="1" dirty="0">
                                      <a:latin typeface="Cambria Math" panose="02040503050406030204" pitchFamily="18" charset="0"/>
                                    </a:rPr>
                                    <m:t>𝒁</m:t>
                                  </m:r>
                                </m:sub>
                              </m:sSub>
                              <m:r>
                                <a:rPr lang="en-US" altLang="zh-CN" b="1" i="1" dirty="0">
                                  <a:latin typeface="Cambria Math" panose="02040503050406030204" pitchFamily="18" charset="0"/>
                                </a:rPr>
                                <m:t>𝑿</m:t>
                              </m:r>
                            </m:e>
                          </m:d>
                        </m:e>
                        <m:sup>
                          <m:r>
                            <a:rPr lang="en-US" altLang="zh-CN" b="1" i="1" dirty="0">
                              <a:latin typeface="Cambria Math" panose="02040503050406030204" pitchFamily="18" charset="0"/>
                            </a:rPr>
                            <m:t>−</m:t>
                          </m:r>
                          <m:r>
                            <a:rPr lang="en-US" altLang="zh-CN" b="1" i="1" dirty="0">
                              <a:latin typeface="Cambria Math" panose="02040503050406030204" pitchFamily="18" charset="0"/>
                            </a:rPr>
                            <m:t>𝟏</m:t>
                          </m:r>
                        </m:sup>
                      </m:sSup>
                      <m:r>
                        <a:rPr lang="en-US" altLang="zh-CN" b="1" i="1" dirty="0">
                          <a:latin typeface="Cambria Math" panose="02040503050406030204" pitchFamily="18" charset="0"/>
                        </a:rPr>
                        <m:t>(</m:t>
                      </m:r>
                      <m:sSup>
                        <m:sSupPr>
                          <m:ctrlPr>
                            <a:rPr lang="en-US" altLang="zh-CN" b="1" i="1" dirty="0">
                              <a:latin typeface="Cambria Math" panose="02040503050406030204" pitchFamily="18" charset="0"/>
                            </a:rPr>
                          </m:ctrlPr>
                        </m:sSupPr>
                        <m:e>
                          <m:r>
                            <a:rPr lang="en-US" altLang="zh-CN" b="1" i="1" dirty="0">
                              <a:latin typeface="Cambria Math" panose="02040503050406030204" pitchFamily="18" charset="0"/>
                            </a:rPr>
                            <m:t>𝑿</m:t>
                          </m:r>
                        </m:e>
                        <m:sup>
                          <m:r>
                            <a:rPr lang="en-US" altLang="zh-CN" b="1" i="1" dirty="0">
                              <a:latin typeface="Cambria Math" panose="02040503050406030204" pitchFamily="18" charset="0"/>
                            </a:rPr>
                            <m:t>′</m:t>
                          </m:r>
                        </m:sup>
                      </m:sSup>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𝑷</m:t>
                          </m:r>
                        </m:e>
                        <m:sub>
                          <m:r>
                            <a:rPr lang="zh-CN" altLang="en-US" b="1" i="1" dirty="0">
                              <a:latin typeface="Cambria Math" panose="02040503050406030204" pitchFamily="18" charset="0"/>
                            </a:rPr>
                            <m:t>𝒁</m:t>
                          </m:r>
                        </m:sub>
                      </m:sSub>
                      <m:r>
                        <a:rPr lang="en-US" altLang="zh-CN" b="1" i="1" dirty="0">
                          <a:latin typeface="Cambria Math" panose="02040503050406030204" pitchFamily="18" charset="0"/>
                        </a:rPr>
                        <m:t>𝒀</m:t>
                      </m:r>
                      <m:r>
                        <a:rPr lang="en-US" altLang="zh-CN" b="1" i="1" dirty="0">
                          <a:latin typeface="Cambria Math" panose="02040503050406030204" pitchFamily="18" charset="0"/>
                        </a:rPr>
                        <m:t>).       </m:t>
                      </m:r>
                      <m:r>
                        <a:rPr lang="en-US" altLang="zh-CN" b="0" i="1" dirty="0" smtClean="0">
                          <a:latin typeface="Cambria Math" panose="02040503050406030204" pitchFamily="18" charset="0"/>
                        </a:rPr>
                        <m:t>                                              (13)</m:t>
                      </m:r>
                    </m:oMath>
                  </m:oMathPara>
                </a14:m>
                <a:endParaRPr lang="zh-CN" altLang="en-US" dirty="0"/>
              </a:p>
            </p:txBody>
          </p:sp>
        </mc:Choice>
        <mc:Fallback xmlns="">
          <p:sp>
            <p:nvSpPr>
              <p:cNvPr id="3" name="内容占位符 2">
                <a:extLst>
                  <a:ext uri="{FF2B5EF4-FFF2-40B4-BE49-F238E27FC236}">
                    <a16:creationId xmlns:a16="http://schemas.microsoft.com/office/drawing/2014/main" id="{47E47972-BDFA-C988-BDF0-695C5B62DF07}"/>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9203B05-08BB-CC48-2B4B-7B1BA8DADF1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9D91E00-5E85-9FD2-4EAB-B0F107DC287C}"/>
              </a:ext>
            </a:extLst>
          </p:cNvPr>
          <p:cNvSpPr>
            <a:spLocks noGrp="1"/>
          </p:cNvSpPr>
          <p:nvPr>
            <p:ph type="sldNum" sz="quarter" idx="12"/>
          </p:nvPr>
        </p:nvSpPr>
        <p:spPr/>
        <p:txBody>
          <a:bodyPr/>
          <a:lstStyle/>
          <a:p>
            <a:fld id="{D41FC515-8169-4A29-AA56-DBE520D5741B}" type="slidenum">
              <a:rPr lang="zh-CN" altLang="en-US" smtClean="0"/>
              <a:t>19</a:t>
            </a:fld>
            <a:endParaRPr lang="zh-CN" altLang="en-US" dirty="0"/>
          </a:p>
        </p:txBody>
      </p:sp>
    </p:spTree>
    <p:extLst>
      <p:ext uri="{BB962C8B-B14F-4D97-AF65-F5344CB8AC3E}">
        <p14:creationId xmlns:p14="http://schemas.microsoft.com/office/powerpoint/2010/main" val="3728196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09A8C-83CC-6E68-6A7B-924A1738CD52}"/>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0654A9-A495-248A-54F6-7FDCDBC2F83C}"/>
                  </a:ext>
                </a:extLst>
              </p:cNvPr>
              <p:cNvSpPr>
                <a:spLocks noGrp="1"/>
              </p:cNvSpPr>
              <p:nvPr>
                <p:ph idx="1"/>
              </p:nvPr>
            </p:nvSpPr>
            <p:spPr/>
            <p:txBody>
              <a:bodyPr>
                <a:normAutofit fontScale="47500" lnSpcReduction="20000"/>
              </a:bodyPr>
              <a:lstStyle/>
              <a:p>
                <a:pPr>
                  <a:lnSpc>
                    <a:spcPct val="110000"/>
                  </a:lnSpc>
                </a:pPr>
                <a:r>
                  <a:rPr lang="zh-CN" altLang="en-US" dirty="0"/>
                  <a:t>根据 </a:t>
                </a:r>
                <a:r>
                  <a:rPr lang="en-US" altLang="zh-CN" dirty="0"/>
                  <a:t>(12)</a:t>
                </a:r>
                <a:r>
                  <a:rPr lang="zh-CN" altLang="en-US" dirty="0"/>
                  <a:t>，可得</a:t>
                </a:r>
                <a:endParaRPr lang="en-US" altLang="zh-CN" dirty="0"/>
              </a:p>
              <a:p>
                <a:pPr marL="0" indent="0">
                  <a:lnSpc>
                    <a:spcPct val="11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e>
                            <m:sub>
                              <m:r>
                                <a:rPr lang="zh-CN" altLang="en-US" i="1" smtClean="0">
                                  <a:latin typeface="Cambria Math" panose="02040503050406030204" pitchFamily="18" charset="0"/>
                                </a:rPr>
                                <m:t>2</m:t>
                              </m:r>
                              <m:r>
                                <a:rPr lang="zh-CN" altLang="en-US" i="1" smtClean="0">
                                  <a:latin typeface="Cambria Math" panose="02040503050406030204" pitchFamily="18" charset="0"/>
                                </a:rPr>
                                <m:t>𝑠𝑙𝑠</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r>
                                    <a:rPr lang="zh-CN" altLang="en-US" i="1" smtClean="0">
                                      <a:latin typeface="Cambria Math" panose="02040503050406030204" pitchFamily="18" charset="0"/>
                                    </a:rPr>
                                    <m:t>′</m:t>
                                  </m:r>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d>
                            </m:e>
                            <m:sup>
                              <m:r>
                                <a:rPr lang="zh-CN" altLang="en-US" i="1" smtClean="0">
                                  <a:latin typeface="Cambria Math" panose="02040503050406030204" pitchFamily="18" charset="0"/>
                                </a:rPr>
                                <m:t>−1</m:t>
                              </m:r>
                            </m:sup>
                          </m:sSup>
                          <m:d>
                            <m:dPr>
                              <m:ctrlPr>
                                <a:rPr lang="zh-CN" altLang="en-US" i="1" smtClean="0">
                                  <a:latin typeface="Cambria Math" panose="02040503050406030204" pitchFamily="18" charset="0"/>
                                </a:rPr>
                              </m:ctrlPr>
                            </m:d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r>
                                <a:rPr lang="zh-CN" altLang="en-US" i="1" smtClean="0">
                                  <a:latin typeface="Cambria Math" panose="02040503050406030204" pitchFamily="18" charset="0"/>
                                </a:rPr>
                                <m:t>′</m:t>
                              </m:r>
                              <m:r>
                                <a:rPr lang="zh-CN" altLang="en-US" i="1" smtClean="0">
                                  <a:latin typeface="Cambria Math" panose="02040503050406030204" pitchFamily="18" charset="0"/>
                                </a:rPr>
                                <m:t>𝑌</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𝑛</m:t>
                                      </m:r>
                                    </m:sup>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e>
                                  </m:nary>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e>
                              </m:d>
                            </m:e>
                            <m:sup>
                              <m:r>
                                <a:rPr lang="zh-CN" altLang="en-US" i="1" smtClean="0">
                                  <a:latin typeface="Cambria Math" panose="02040503050406030204" pitchFamily="18" charset="0"/>
                                </a:rPr>
                                <m:t>−1</m:t>
                              </m:r>
                            </m:sup>
                          </m:sSup>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𝑛</m:t>
                              </m:r>
                            </m:sup>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𝑒</m:t>
                                  </m:r>
                                </m:e>
                                <m:sub>
                                  <m:r>
                                    <a:rPr lang="zh-CN" altLang="en-US" i="1" smtClean="0">
                                      <a:latin typeface="Cambria Math" panose="02040503050406030204" pitchFamily="18" charset="0"/>
                                    </a:rPr>
                                    <m:t>𝑖</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𝑛</m:t>
                                      </m:r>
                                    </m:sup>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e>
                                  </m:nary>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e>
                              </m:d>
                            </m:e>
                            <m:sup>
                              <m:r>
                                <a:rPr lang="zh-CN" altLang="en-US" i="1" smtClean="0">
                                  <a:latin typeface="Cambria Math" panose="02040503050406030204" pitchFamily="18" charset="0"/>
                                </a:rPr>
                                <m:t>−1</m:t>
                              </m:r>
                            </m:sup>
                          </m:sSup>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𝑛</m:t>
                              </m:r>
                            </m:sup>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𝑛</m:t>
                                      </m:r>
                                    </m:sup>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e>
                                  </m:nary>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e>
                              </m:d>
                            </m:e>
                            <m:sup>
                              <m:r>
                                <a:rPr lang="zh-CN" altLang="en-US" i="1" smtClean="0">
                                  <a:latin typeface="Cambria Math" panose="02040503050406030204" pitchFamily="18" charset="0"/>
                                </a:rPr>
                                <m:t>−1</m:t>
                              </m:r>
                            </m:sup>
                          </m:sSup>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𝑛</m:t>
                              </m:r>
                            </m:sup>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𝑒</m:t>
                              </m:r>
                            </m:e>
                            <m:sub>
                              <m:r>
                                <a:rPr lang="zh-CN" altLang="en-US" i="1" smtClean="0">
                                  <a:latin typeface="Cambria Math" panose="02040503050406030204" pitchFamily="18" charset="0"/>
                                </a:rPr>
                                <m:t>𝑖</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𝑛</m:t>
                                      </m:r>
                                    </m:sup>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e>
                                  </m:nary>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e>
                              </m:d>
                            </m:e>
                            <m:sup>
                              <m:r>
                                <a:rPr lang="zh-CN" altLang="en-US" i="1" smtClean="0">
                                  <a:latin typeface="Cambria Math" panose="02040503050406030204" pitchFamily="18" charset="0"/>
                                </a:rPr>
                                <m:t>−1</m:t>
                              </m:r>
                            </m:sup>
                          </m:sSup>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𝑛</m:t>
                              </m:r>
                            </m:sup>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e>
                                <m:sub>
                                  <m:r>
                                    <a:rPr lang="zh-CN" altLang="en-US" i="1" smtClean="0">
                                      <a:latin typeface="Cambria Math" panose="02040503050406030204" pitchFamily="18" charset="0"/>
                                    </a:rPr>
                                    <m:t>𝑖</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𝑒</m:t>
                              </m:r>
                            </m:e>
                            <m:sub>
                              <m:r>
                                <a:rPr lang="zh-CN" altLang="en-US" i="1" smtClean="0">
                                  <a:latin typeface="Cambria Math" panose="02040503050406030204" pitchFamily="18" charset="0"/>
                                </a:rPr>
                                <m:t>𝑖</m:t>
                              </m:r>
                            </m:sub>
                          </m:sSub>
                        </m:e>
                      </m:eqArr>
                    </m:oMath>
                  </m:oMathPara>
                </a14:m>
                <a:endParaRPr lang="en-US" altLang="zh-CN" dirty="0"/>
              </a:p>
              <a:p>
                <a:pPr marL="0" indent="0">
                  <a:buNone/>
                </a:pPr>
                <a:r>
                  <a:rPr lang="zh-CN" altLang="en-US" dirty="0"/>
                  <a:t>      因为，根据回归性质，</a:t>
                </a:r>
                <a14:m>
                  <m:oMath xmlns:m="http://schemas.openxmlformats.org/officeDocument/2006/math">
                    <m:sSubSup>
                      <m:sSubSupPr>
                        <m:ctrlPr>
                          <a:rPr lang="en-US" altLang="zh-CN" i="0" dirty="0" smtClean="0">
                            <a:latin typeface="Cambria Math" panose="02040503050406030204" pitchFamily="18" charset="0"/>
                          </a:rPr>
                        </m:ctrlPr>
                      </m:sSubSupPr>
                      <m:e>
                        <m:r>
                          <m:rPr>
                            <m:sty m:val="p"/>
                          </m:rPr>
                          <a:rPr lang="en-US" altLang="zh-CN" i="0" dirty="0" smtClean="0">
                            <a:latin typeface="Cambria Math" panose="02040503050406030204" pitchFamily="18" charset="0"/>
                          </a:rPr>
                          <m:t>Σ</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𝑛</m:t>
                        </m:r>
                      </m:sup>
                    </m:sSubSup>
                    <m:sSub>
                      <m:sSubPr>
                        <m:ctrlPr>
                          <a:rPr lang="zh-CN" altLang="en-US" i="1" dirty="0" smtClean="0">
                            <a:latin typeface="Cambria Math" panose="02040503050406030204" pitchFamily="18" charset="0"/>
                          </a:rPr>
                        </m:ctrlPr>
                      </m:sSubPr>
                      <m:e>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𝑋</m:t>
                            </m:r>
                          </m:e>
                        </m:acc>
                      </m:e>
                      <m:sub>
                        <m:r>
                          <a:rPr lang="zh-CN" altLang="en-US" i="1" dirty="0">
                            <a:latin typeface="Cambria Math" panose="02040503050406030204" pitchFamily="18" charset="0"/>
                          </a:rPr>
                          <m:t>𝑖</m:t>
                        </m:r>
                      </m:sub>
                    </m:sSub>
                    <m:sSubSup>
                      <m:sSubSupPr>
                        <m:ctrlPr>
                          <a:rPr lang="en-US" altLang="zh-CN" b="0" i="1" dirty="0" smtClean="0">
                            <a:latin typeface="Cambria Math" panose="02040503050406030204" pitchFamily="18" charset="0"/>
                          </a:rPr>
                        </m:ctrlPr>
                      </m:sSubSup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𝑣</m:t>
                            </m:r>
                          </m:e>
                        </m:acc>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m:t>
                        </m:r>
                      </m:sup>
                    </m:sSubSup>
                    <m:r>
                      <a:rPr lang="zh-CN" altLang="en-US" i="1" dirty="0" smtClean="0">
                        <a:latin typeface="Cambria Math" panose="02040503050406030204" pitchFamily="18" charset="0"/>
                      </a:rPr>
                      <m:t> </m:t>
                    </m:r>
                    <m:r>
                      <a:rPr lang="en-US" altLang="zh-CN" i="1" dirty="0">
                        <a:latin typeface="Cambria Math" panose="02040503050406030204" pitchFamily="18" charset="0"/>
                      </a:rPr>
                      <m:t>= 0</m:t>
                    </m:r>
                  </m:oMath>
                </a14:m>
                <a:r>
                  <a:rPr lang="zh-CN" altLang="en-US" dirty="0"/>
                  <a:t>。</a:t>
                </a:r>
                <a:endParaRPr lang="en-US" altLang="zh-CN" dirty="0"/>
              </a:p>
              <a:p>
                <a:r>
                  <a:rPr lang="zh-CN" altLang="en-US" dirty="0"/>
                  <a:t>相应方差估计量</a:t>
                </a:r>
                <a:endParaRPr lang="en-US" altLang="zh-CN"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𝑉</m:t>
                              </m:r>
                            </m:e>
                          </m:acc>
                        </m:e>
                        <m:sub>
                          <m:r>
                            <a:rPr lang="en-US" altLang="zh-CN" b="0" i="1" dirty="0" smtClean="0">
                              <a:latin typeface="Cambria Math" panose="02040503050406030204" pitchFamily="18" charset="0"/>
                            </a:rPr>
                            <m:t>2</m:t>
                          </m:r>
                          <m:r>
                            <a:rPr lang="en-US" altLang="zh-CN" b="0" i="1" dirty="0" smtClean="0">
                              <a:latin typeface="Cambria Math" panose="02040503050406030204" pitchFamily="18" charset="0"/>
                            </a:rPr>
                            <m:t>𝑠𝑙𝑠</m:t>
                          </m:r>
                        </m:sub>
                      </m:sSub>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d>
                            <m:dPr>
                              <m:ctrlPr>
                                <a:rPr lang="en-US" altLang="zh-CN" b="0" i="1" dirty="0" smtClean="0">
                                  <a:latin typeface="Cambria Math" panose="02040503050406030204" pitchFamily="18" charset="0"/>
                                </a:rPr>
                              </m:ctrlPr>
                            </m:dPr>
                            <m:e>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𝑏</m:t>
                                  </m:r>
                                </m:sup>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𝑋</m:t>
                                          </m:r>
                                        </m:e>
                                      </m:acc>
                                    </m:e>
                                    <m:sub>
                                      <m:r>
                                        <a:rPr lang="en-US" altLang="zh-CN" b="0" i="1" dirty="0" smtClean="0">
                                          <a:latin typeface="Cambria Math" panose="02040503050406030204" pitchFamily="18" charset="0"/>
                                        </a:rPr>
                                        <m:t>𝑖</m:t>
                                      </m:r>
                                    </m:sub>
                                  </m:sSub>
                                  <m:sSubSup>
                                    <m:sSubSupPr>
                                      <m:ctrlPr>
                                        <a:rPr lang="en-US" altLang="zh-CN" b="0" i="1" dirty="0" smtClean="0">
                                          <a:latin typeface="Cambria Math" panose="02040503050406030204" pitchFamily="18" charset="0"/>
                                        </a:rPr>
                                      </m:ctrlPr>
                                    </m:sSubSup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𝑋</m:t>
                                          </m:r>
                                        </m:e>
                                      </m:acc>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m:t>
                                      </m:r>
                                    </m:sup>
                                  </m:sSubSup>
                                </m:e>
                              </m:nary>
                            </m:e>
                          </m:d>
                        </m:e>
                        <m:sup>
                          <m:r>
                            <a:rPr lang="en-US" altLang="zh-CN" b="0" i="1" dirty="0" smtClean="0">
                              <a:latin typeface="Cambria Math" panose="02040503050406030204" pitchFamily="18" charset="0"/>
                            </a:rPr>
                            <m:t>−1</m:t>
                          </m:r>
                        </m:sup>
                      </m:sSup>
                      <m:d>
                        <m:dPr>
                          <m:ctrlPr>
                            <a:rPr lang="en-US" altLang="zh-CN" b="0" i="1" dirty="0" smtClean="0">
                              <a:latin typeface="Cambria Math" panose="02040503050406030204" pitchFamily="18" charset="0"/>
                            </a:rPr>
                          </m:ctrlPr>
                        </m:dPr>
                        <m:e>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𝑛</m:t>
                              </m:r>
                            </m:sup>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e>
                                <m:sub>
                                  <m:r>
                                    <a:rPr lang="en-US" altLang="zh-CN" b="0" i="1" dirty="0" smtClean="0">
                                      <a:latin typeface="Cambria Math" panose="02040503050406030204" pitchFamily="18" charset="0"/>
                                    </a:rPr>
                                    <m:t>𝑖</m:t>
                                  </m:r>
                                </m:sub>
                              </m:sSub>
                              <m:sSubSup>
                                <m:sSubSupPr>
                                  <m:ctrlPr>
                                    <a:rPr lang="en-US" altLang="zh-CN" b="0" i="1" dirty="0" smtClean="0">
                                      <a:latin typeface="Cambria Math" panose="02040503050406030204" pitchFamily="18" charset="0"/>
                                    </a:rPr>
                                  </m:ctrlPr>
                                </m:sSubSup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𝐷</m:t>
                                      </m:r>
                                    </m:e>
                                  </m:acc>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m:t>
                                  </m:r>
                                </m:sup>
                              </m:sSubSup>
                              <m:sSubSup>
                                <m:sSubSupPr>
                                  <m:ctrlPr>
                                    <a:rPr lang="en-US" altLang="zh-CN" b="0" i="1" dirty="0" smtClean="0">
                                      <a:latin typeface="Cambria Math" panose="02040503050406030204" pitchFamily="18" charset="0"/>
                                    </a:rPr>
                                  </m:ctrlPr>
                                </m:sSubSup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𝑒</m:t>
                                      </m:r>
                                    </m:e>
                                  </m:acc>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2</m:t>
                                  </m:r>
                                </m:sup>
                              </m:sSubSup>
                            </m:e>
                          </m:nary>
                        </m:e>
                      </m:d>
                      <m:sSup>
                        <m:sSupPr>
                          <m:ctrlPr>
                            <a:rPr lang="en-US" altLang="zh-CN" i="1" dirty="0">
                              <a:latin typeface="Cambria Math" panose="02040503050406030204" pitchFamily="18" charset="0"/>
                            </a:rPr>
                          </m:ctrlPr>
                        </m:sSupPr>
                        <m:e>
                          <m:d>
                            <m:dPr>
                              <m:ctrlPr>
                                <a:rPr lang="en-US" altLang="zh-CN" i="1" dirty="0">
                                  <a:latin typeface="Cambria Math" panose="02040503050406030204" pitchFamily="18" charset="0"/>
                                </a:rPr>
                              </m:ctrlPr>
                            </m:dPr>
                            <m:e>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sub>
                                <m:sup>
                                  <m:r>
                                    <a:rPr lang="en-US" altLang="zh-CN" i="1" dirty="0">
                                      <a:latin typeface="Cambria Math" panose="02040503050406030204" pitchFamily="18" charset="0"/>
                                    </a:rPr>
                                    <m:t>𝑏</m:t>
                                  </m:r>
                                </m:sup>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𝑋</m:t>
                                          </m:r>
                                        </m:e>
                                      </m:acc>
                                    </m:e>
                                    <m:sub>
                                      <m:r>
                                        <a:rPr lang="en-US" altLang="zh-CN" i="1" dirty="0">
                                          <a:latin typeface="Cambria Math" panose="02040503050406030204" pitchFamily="18" charset="0"/>
                                        </a:rPr>
                                        <m:t>𝑖</m:t>
                                      </m:r>
                                    </m:sub>
                                  </m:sSub>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𝑋</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m:t>
                                      </m:r>
                                    </m:sup>
                                  </m:sSubSup>
                                </m:e>
                              </m:nary>
                            </m:e>
                          </m:d>
                        </m:e>
                        <m:sup>
                          <m:r>
                            <a:rPr lang="en-US" altLang="zh-CN" i="1" dirty="0">
                              <a:latin typeface="Cambria Math" panose="02040503050406030204" pitchFamily="18" charset="0"/>
                            </a:rPr>
                            <m:t>−1</m:t>
                          </m:r>
                        </m:sup>
                      </m:sSup>
                      <m:r>
                        <a:rPr lang="en-US" altLang="zh-CN" b="0" i="1" dirty="0" smtClean="0">
                          <a:latin typeface="Cambria Math" panose="02040503050406030204" pitchFamily="18" charset="0"/>
                        </a:rPr>
                        <m:t>.</m:t>
                      </m:r>
                    </m:oMath>
                  </m:oMathPara>
                </a14:m>
                <a:endParaRPr lang="en-US" altLang="zh-CN" b="0" dirty="0"/>
              </a:p>
              <a:p>
                <a:r>
                  <a:rPr lang="zh-CN" altLang="en-US" dirty="0"/>
                  <a:t>其中 </a:t>
                </a:r>
                <a14:m>
                  <m:oMath xmlns:m="http://schemas.openxmlformats.org/officeDocument/2006/math">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𝑒</m:t>
                            </m:r>
                          </m:e>
                        </m:acc>
                      </m:e>
                      <m:sub>
                        <m:r>
                          <a:rPr lang="en-US" altLang="zh-CN" b="0"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 </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𝑋</m:t>
                        </m:r>
                      </m:e>
                      <m:sub>
                        <m:r>
                          <a:rPr lang="zh-CN" altLang="en-US" i="1" dirty="0" smtClean="0">
                            <a:latin typeface="Cambria Math" panose="02040503050406030204" pitchFamily="18" charset="0"/>
                          </a:rPr>
                          <m:t>𝑖</m:t>
                        </m:r>
                      </m:sub>
                      <m:sup>
                        <m:r>
                          <a:rPr lang="en-US" altLang="zh-CN" i="1" dirty="0" smtClean="0">
                            <a:latin typeface="Cambria Math" panose="02040503050406030204" pitchFamily="18" charset="0"/>
                          </a:rPr>
                          <m:t>′</m:t>
                        </m:r>
                      </m:sup>
                    </m:sSubSup>
                    <m:sSub>
                      <m:sSubPr>
                        <m:ctrlPr>
                          <a:rPr lang="zh-CN" altLang="en-US" i="1" dirty="0" smtClean="0">
                            <a:latin typeface="Cambria Math" panose="02040503050406030204" pitchFamily="18" charset="0"/>
                          </a:rPr>
                        </m:ctrlPr>
                      </m:sSubPr>
                      <m:e>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𝛽</m:t>
                            </m:r>
                          </m:e>
                        </m:acc>
                      </m:e>
                      <m:sub>
                        <m:r>
                          <a:rPr lang="en-US" altLang="zh-CN" i="1" dirty="0">
                            <a:latin typeface="Cambria Math" panose="02040503050406030204" pitchFamily="18" charset="0"/>
                          </a:rPr>
                          <m:t>2</m:t>
                        </m:r>
                        <m:r>
                          <a:rPr lang="zh-CN" altLang="en-US" i="1" dirty="0">
                            <a:latin typeface="Cambria Math" panose="02040503050406030204" pitchFamily="18" charset="0"/>
                          </a:rPr>
                          <m:t>𝑠𝑙𝑠</m:t>
                        </m:r>
                      </m:sub>
                    </m:sSub>
                  </m:oMath>
                </a14:m>
                <a:r>
                  <a:rPr lang="zh-CN" altLang="en-US" dirty="0"/>
                  <a:t>，</a:t>
                </a:r>
                <a:r>
                  <a:rPr lang="zh-CN" altLang="en-US" b="1" dirty="0"/>
                  <a:t>不是第 </a:t>
                </a:r>
                <a:r>
                  <a:rPr lang="en-US" altLang="zh-CN" b="1" dirty="0"/>
                  <a:t>2 </a:t>
                </a:r>
                <a:r>
                  <a:rPr lang="zh-CN" altLang="en-US" b="1" dirty="0"/>
                  <a:t>阶段的残差！</a:t>
                </a:r>
                <a:endParaRPr lang="en-US" altLang="zh-CN" b="1" dirty="0"/>
              </a:p>
              <a:p>
                <a:endParaRPr lang="zh-CN" altLang="en-US" dirty="0"/>
              </a:p>
            </p:txBody>
          </p:sp>
        </mc:Choice>
        <mc:Fallback xmlns="">
          <p:sp>
            <p:nvSpPr>
              <p:cNvPr id="3" name="内容占位符 2">
                <a:extLst>
                  <a:ext uri="{FF2B5EF4-FFF2-40B4-BE49-F238E27FC236}">
                    <a16:creationId xmlns:a16="http://schemas.microsoft.com/office/drawing/2014/main" id="{640654A9-A495-248A-54F6-7FDCDBC2F83C}"/>
                  </a:ext>
                </a:extLst>
              </p:cNvPr>
              <p:cNvSpPr>
                <a:spLocks noGrp="1" noRot="1" noChangeAspect="1" noMove="1" noResize="1" noEditPoints="1" noAdjustHandles="1" noChangeArrowheads="1" noChangeShapeType="1" noTextEdit="1"/>
              </p:cNvSpPr>
              <p:nvPr>
                <p:ph idx="1"/>
              </p:nvPr>
            </p:nvSpPr>
            <p:spPr>
              <a:blipFill>
                <a:blip r:embed="rId2"/>
                <a:stretch>
                  <a:fillRect l="-77" t="-56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8F3ED73-41B3-1038-9CCC-1E7499D3BDF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97B78B4-C5C1-0789-9136-3AB12E72B0AD}"/>
              </a:ext>
            </a:extLst>
          </p:cNvPr>
          <p:cNvSpPr>
            <a:spLocks noGrp="1"/>
          </p:cNvSpPr>
          <p:nvPr>
            <p:ph type="sldNum" sz="quarter" idx="12"/>
          </p:nvPr>
        </p:nvSpPr>
        <p:spPr/>
        <p:txBody>
          <a:bodyPr/>
          <a:lstStyle/>
          <a:p>
            <a:fld id="{D41FC515-8169-4A29-AA56-DBE520D5741B}" type="slidenum">
              <a:rPr lang="zh-CN" altLang="en-US" smtClean="0"/>
              <a:t>20</a:t>
            </a:fld>
            <a:endParaRPr lang="zh-CN" altLang="en-US"/>
          </a:p>
        </p:txBody>
      </p:sp>
    </p:spTree>
    <p:extLst>
      <p:ext uri="{BB962C8B-B14F-4D97-AF65-F5344CB8AC3E}">
        <p14:creationId xmlns:p14="http://schemas.microsoft.com/office/powerpoint/2010/main" val="265841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FE411-F09B-15A6-4D82-3D0A5FCC1893}"/>
              </a:ext>
            </a:extLst>
          </p:cNvPr>
          <p:cNvSpPr>
            <a:spLocks noGrp="1"/>
          </p:cNvSpPr>
          <p:nvPr>
            <p:ph type="title"/>
          </p:nvPr>
        </p:nvSpPr>
        <p:spPr/>
        <p:txBody>
          <a:bodyPr/>
          <a:lstStyle/>
          <a:p>
            <a:r>
              <a:rPr lang="zh-CN" altLang="en-US" dirty="0"/>
              <a:t>经典工具变量法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2D58A73-2BE7-D94C-0777-76F44E8C7006}"/>
                  </a:ext>
                </a:extLst>
              </p:cNvPr>
              <p:cNvSpPr>
                <a:spLocks noGrp="1"/>
              </p:cNvSpPr>
              <p:nvPr>
                <p:ph idx="1"/>
              </p:nvPr>
            </p:nvSpPr>
            <p:spPr/>
            <p:txBody>
              <a:bodyPr>
                <a:noAutofit/>
              </a:bodyPr>
              <a:lstStyle/>
              <a:p>
                <a:pPr>
                  <a:lnSpc>
                    <a:spcPct val="120000"/>
                  </a:lnSpc>
                </a:pPr>
                <a:r>
                  <a:rPr lang="zh-CN" altLang="en-US" sz="1200" dirty="0"/>
                  <a:t>也可以根据</a:t>
                </a:r>
                <a:r>
                  <a:rPr lang="en-US" altLang="zh-CN" sz="1200" dirty="0"/>
                  <a:t>(13)</a:t>
                </a:r>
                <a:r>
                  <a:rPr lang="zh-CN" altLang="en-US" sz="1200" dirty="0"/>
                  <a:t>，将估计量写为</a:t>
                </a:r>
                <a:endParaRPr lang="en-US" altLang="zh-CN" sz="1200" dirty="0"/>
              </a:p>
              <a:p>
                <a:pPr marL="0" indent="0">
                  <a:lnSpc>
                    <a:spcPct val="120000"/>
                  </a:lnSpc>
                  <a:buNone/>
                </a:pPr>
                <a14:m>
                  <m:oMathPara xmlns:m="http://schemas.openxmlformats.org/officeDocument/2006/math">
                    <m:oMath>
                      <m:eqArr>
                        <m:eqArrPr>
                          <m:ctrlPr>
                            <a:rPr lang="zh-CN" altLang="en-US" sz="1200" i="1" smtClean="0">
                              <a:latin typeface="Cambria Math" panose="02040503050406030204" pitchFamily="18" charset="0"/>
                            </a:rPr>
                          </m:ctrlPr>
                        </m:eqArrPr>
                        <m:e>
                          <m:sSub>
                            <m:sSubPr>
                              <m:ctrlPr>
                                <a:rPr lang="zh-CN" altLang="en-US" sz="1200" i="1" smtClean="0">
                                  <a:latin typeface="Cambria Math" panose="02040503050406030204" pitchFamily="18" charset="0"/>
                                </a:rPr>
                              </m:ctrlPr>
                            </m:sSubPr>
                            <m:e>
                              <m:acc>
                                <m:accPr>
                                  <m:chr m:val="̂"/>
                                  <m:ctrlPr>
                                    <a:rPr lang="zh-CN" altLang="en-US" sz="1200" i="1" smtClean="0">
                                      <a:latin typeface="Cambria Math" panose="02040503050406030204" pitchFamily="18" charset="0"/>
                                    </a:rPr>
                                  </m:ctrlPr>
                                </m:accPr>
                                <m:e>
                                  <m:r>
                                    <a:rPr lang="zh-CN" altLang="en-US" sz="1200" i="1" smtClean="0">
                                      <a:latin typeface="Cambria Math" panose="02040503050406030204" pitchFamily="18" charset="0"/>
                                    </a:rPr>
                                    <m:t>𝛽</m:t>
                                  </m:r>
                                </m:e>
                              </m:acc>
                            </m:e>
                            <m:sub>
                              <m:r>
                                <a:rPr lang="zh-CN" altLang="en-US" sz="1200" i="1" smtClean="0">
                                  <a:latin typeface="Cambria Math" panose="02040503050406030204" pitchFamily="18" charset="0"/>
                                </a:rPr>
                                <m:t>2</m:t>
                              </m:r>
                              <m:r>
                                <a:rPr lang="zh-CN" altLang="en-US" sz="1200" i="1" smtClean="0">
                                  <a:latin typeface="Cambria Math" panose="02040503050406030204" pitchFamily="18" charset="0"/>
                                </a:rPr>
                                <m:t>𝑠𝑙𝑠</m:t>
                              </m:r>
                            </m:sub>
                          </m:sSub>
                          <m:r>
                            <m:rPr>
                              <m:aln/>
                            </m:rPr>
                            <a:rPr lang="zh-CN" altLang="en-US" sz="1200" i="1" smtClean="0">
                              <a:latin typeface="Cambria Math" panose="02040503050406030204" pitchFamily="18" charset="0"/>
                            </a:rPr>
                            <m:t>&amp;</m:t>
                          </m:r>
                          <m:r>
                            <a:rPr lang="zh-CN" altLang="en-US" sz="1200" i="1" smtClean="0">
                              <a:latin typeface="Cambria Math" panose="02040503050406030204" pitchFamily="18" charset="0"/>
                            </a:rPr>
                            <m:t>=</m:t>
                          </m:r>
                          <m:sSup>
                            <m:sSupPr>
                              <m:ctrlPr>
                                <a:rPr lang="zh-CN" altLang="en-US" sz="1200" i="1" smtClean="0">
                                  <a:latin typeface="Cambria Math" panose="02040503050406030204" pitchFamily="18" charset="0"/>
                                </a:rPr>
                              </m:ctrlPr>
                            </m:sSupPr>
                            <m:e>
                              <m:d>
                                <m:dPr>
                                  <m:ctrlPr>
                                    <a:rPr lang="zh-CN" altLang="en-US" sz="1200" i="1" smtClean="0">
                                      <a:latin typeface="Cambria Math" panose="02040503050406030204" pitchFamily="18" charset="0"/>
                                    </a:rPr>
                                  </m:ctrlPr>
                                </m:dPr>
                                <m:e>
                                  <m:d>
                                    <m:dPr>
                                      <m:ctrlPr>
                                        <a:rPr lang="zh-CN" altLang="en-US" sz="1200" i="1" smtClean="0">
                                          <a:latin typeface="Cambria Math" panose="02040503050406030204" pitchFamily="18" charset="0"/>
                                        </a:rPr>
                                      </m:ctrlPr>
                                    </m:dPr>
                                    <m:e>
                                      <m:f>
                                        <m:fPr>
                                          <m:ctrlPr>
                                            <a:rPr lang="zh-CN" altLang="en-US" sz="1200" i="1" smtClean="0">
                                              <a:latin typeface="Cambria Math" panose="02040503050406030204" pitchFamily="18" charset="0"/>
                                            </a:rPr>
                                          </m:ctrlPr>
                                        </m:fPr>
                                        <m:num>
                                          <m:r>
                                            <a:rPr lang="zh-CN" altLang="en-US" sz="1200" i="1" smtClean="0">
                                              <a:latin typeface="Cambria Math" panose="02040503050406030204" pitchFamily="18" charset="0"/>
                                            </a:rPr>
                                            <m:t>1</m:t>
                                          </m:r>
                                        </m:num>
                                        <m:den>
                                          <m:r>
                                            <a:rPr lang="zh-CN" altLang="en-US" sz="1200" i="1" smtClean="0">
                                              <a:latin typeface="Cambria Math" panose="02040503050406030204" pitchFamily="18" charset="0"/>
                                            </a:rPr>
                                            <m:t>𝑛</m:t>
                                          </m:r>
                                        </m:den>
                                      </m:f>
                                      <m:r>
                                        <a:rPr lang="zh-CN" altLang="en-US" sz="1200" b="1" i="1" smtClean="0">
                                          <a:latin typeface="Cambria Math" panose="02040503050406030204" pitchFamily="18" charset="0"/>
                                        </a:rPr>
                                        <m:t>𝐗</m:t>
                                      </m:r>
                                      <m:r>
                                        <a:rPr lang="zh-CN" altLang="en-US" sz="1200" b="0" i="1" smtClean="0">
                                          <a:latin typeface="Cambria Math" panose="02040503050406030204" pitchFamily="18" charset="0"/>
                                        </a:rPr>
                                        <m:t>′</m:t>
                                      </m:r>
                                      <m:r>
                                        <a:rPr lang="zh-CN" altLang="en-US" sz="1200" b="1" i="1" smtClean="0">
                                          <a:latin typeface="Cambria Math" panose="02040503050406030204" pitchFamily="18" charset="0"/>
                                        </a:rPr>
                                        <m:t>𝐙</m:t>
                                      </m:r>
                                    </m:e>
                                  </m:d>
                                  <m:sSup>
                                    <m:sSupPr>
                                      <m:ctrlPr>
                                        <a:rPr lang="zh-CN" altLang="en-US" sz="1200" b="1" i="1" smtClean="0">
                                          <a:latin typeface="Cambria Math" panose="02040503050406030204" pitchFamily="18" charset="0"/>
                                        </a:rPr>
                                      </m:ctrlPr>
                                    </m:sSupPr>
                                    <m:e>
                                      <m:d>
                                        <m:dPr>
                                          <m:ctrlPr>
                                            <a:rPr lang="zh-CN" altLang="en-US" sz="1200" b="0" i="1" smtClean="0">
                                              <a:latin typeface="Cambria Math" panose="02040503050406030204" pitchFamily="18" charset="0"/>
                                            </a:rPr>
                                          </m:ctrlPr>
                                        </m:dPr>
                                        <m:e>
                                          <m:f>
                                            <m:fPr>
                                              <m:ctrlPr>
                                                <a:rPr lang="zh-CN" altLang="en-US" sz="1200" b="0" i="1" smtClean="0">
                                                  <a:latin typeface="Cambria Math" panose="02040503050406030204" pitchFamily="18" charset="0"/>
                                                </a:rPr>
                                              </m:ctrlPr>
                                            </m:fPr>
                                            <m:num>
                                              <m:r>
                                                <a:rPr lang="zh-CN" altLang="en-US" sz="1200" b="0" i="1" smtClean="0">
                                                  <a:latin typeface="Cambria Math" panose="02040503050406030204" pitchFamily="18" charset="0"/>
                                                </a:rPr>
                                                <m:t>1</m:t>
                                              </m:r>
                                            </m:num>
                                            <m:den>
                                              <m:r>
                                                <a:rPr lang="zh-CN" altLang="en-US" sz="1200" b="0" i="1" smtClean="0">
                                                  <a:latin typeface="Cambria Math" panose="02040503050406030204" pitchFamily="18" charset="0"/>
                                                </a:rPr>
                                                <m:t>𝑛</m:t>
                                              </m:r>
                                            </m:den>
                                          </m:f>
                                          <m:r>
                                            <a:rPr lang="zh-CN" altLang="en-US" sz="1200" b="1" i="1" smtClean="0">
                                              <a:latin typeface="Cambria Math" panose="02040503050406030204" pitchFamily="18" charset="0"/>
                                            </a:rPr>
                                            <m:t>𝐙</m:t>
                                          </m:r>
                                          <m:r>
                                            <a:rPr lang="zh-CN" altLang="en-US" sz="1200" b="0" i="1" smtClean="0">
                                              <a:latin typeface="Cambria Math" panose="02040503050406030204" pitchFamily="18" charset="0"/>
                                            </a:rPr>
                                            <m:t>′</m:t>
                                          </m:r>
                                          <m:r>
                                            <a:rPr lang="zh-CN" altLang="en-US" sz="1200" b="1" i="1" smtClean="0">
                                              <a:latin typeface="Cambria Math" panose="02040503050406030204" pitchFamily="18" charset="0"/>
                                            </a:rPr>
                                            <m:t>𝐙</m:t>
                                          </m:r>
                                        </m:e>
                                      </m:d>
                                    </m:e>
                                    <m:sup>
                                      <m:r>
                                        <a:rPr lang="zh-CN" altLang="en-US" sz="1200" b="0" i="1" smtClean="0">
                                          <a:latin typeface="Cambria Math" panose="02040503050406030204" pitchFamily="18" charset="0"/>
                                        </a:rPr>
                                        <m:t>−1</m:t>
                                      </m:r>
                                    </m:sup>
                                  </m:sSup>
                                  <m:d>
                                    <m:dPr>
                                      <m:ctrlPr>
                                        <a:rPr lang="zh-CN" altLang="en-US" sz="1200" b="0" i="1" smtClean="0">
                                          <a:latin typeface="Cambria Math" panose="02040503050406030204" pitchFamily="18" charset="0"/>
                                        </a:rPr>
                                      </m:ctrlPr>
                                    </m:dPr>
                                    <m:e>
                                      <m:f>
                                        <m:fPr>
                                          <m:ctrlPr>
                                            <a:rPr lang="zh-CN" altLang="en-US" sz="1200" b="0" i="1" smtClean="0">
                                              <a:latin typeface="Cambria Math" panose="02040503050406030204" pitchFamily="18" charset="0"/>
                                            </a:rPr>
                                          </m:ctrlPr>
                                        </m:fPr>
                                        <m:num>
                                          <m:r>
                                            <a:rPr lang="zh-CN" altLang="en-US" sz="1200" b="0" i="1" smtClean="0">
                                              <a:latin typeface="Cambria Math" panose="02040503050406030204" pitchFamily="18" charset="0"/>
                                            </a:rPr>
                                            <m:t>1</m:t>
                                          </m:r>
                                        </m:num>
                                        <m:den>
                                          <m:r>
                                            <a:rPr lang="zh-CN" altLang="en-US" sz="1200" b="0" i="1" smtClean="0">
                                              <a:latin typeface="Cambria Math" panose="02040503050406030204" pitchFamily="18" charset="0"/>
                                            </a:rPr>
                                            <m:t>𝑛</m:t>
                                          </m:r>
                                        </m:den>
                                      </m:f>
                                      <m:r>
                                        <a:rPr lang="zh-CN" altLang="en-US" sz="1200" b="1" i="1" smtClean="0">
                                          <a:latin typeface="Cambria Math" panose="02040503050406030204" pitchFamily="18" charset="0"/>
                                        </a:rPr>
                                        <m:t>𝐙</m:t>
                                      </m:r>
                                      <m:r>
                                        <a:rPr lang="zh-CN" altLang="en-US" sz="1200" b="0" i="1" smtClean="0">
                                          <a:latin typeface="Cambria Math" panose="02040503050406030204" pitchFamily="18" charset="0"/>
                                        </a:rPr>
                                        <m:t>′</m:t>
                                      </m:r>
                                      <m:r>
                                        <a:rPr lang="zh-CN" altLang="en-US" sz="1200" b="1" i="1" smtClean="0">
                                          <a:latin typeface="Cambria Math" panose="02040503050406030204" pitchFamily="18" charset="0"/>
                                        </a:rPr>
                                        <m:t>𝐗</m:t>
                                      </m:r>
                                    </m:e>
                                  </m:d>
                                </m:e>
                              </m:d>
                            </m:e>
                            <m:sup>
                              <m:r>
                                <a:rPr lang="zh-CN" altLang="en-US" sz="1200" b="0" i="1" smtClean="0">
                                  <a:latin typeface="Cambria Math" panose="02040503050406030204" pitchFamily="18" charset="0"/>
                                </a:rPr>
                                <m:t>−1</m:t>
                              </m:r>
                            </m:sup>
                          </m:sSup>
                          <m:d>
                            <m:dPr>
                              <m:ctrlPr>
                                <a:rPr lang="zh-CN" altLang="en-US" sz="1200" b="0" i="1" smtClean="0">
                                  <a:latin typeface="Cambria Math" panose="02040503050406030204" pitchFamily="18" charset="0"/>
                                </a:rPr>
                              </m:ctrlPr>
                            </m:dPr>
                            <m:e>
                              <m:d>
                                <m:dPr>
                                  <m:ctrlPr>
                                    <a:rPr lang="zh-CN" altLang="en-US" sz="1200" b="0" i="1" smtClean="0">
                                      <a:latin typeface="Cambria Math" panose="02040503050406030204" pitchFamily="18" charset="0"/>
                                    </a:rPr>
                                  </m:ctrlPr>
                                </m:dPr>
                                <m:e>
                                  <m:f>
                                    <m:fPr>
                                      <m:ctrlPr>
                                        <a:rPr lang="zh-CN" altLang="en-US" sz="1200" b="0" i="1" smtClean="0">
                                          <a:latin typeface="Cambria Math" panose="02040503050406030204" pitchFamily="18" charset="0"/>
                                        </a:rPr>
                                      </m:ctrlPr>
                                    </m:fPr>
                                    <m:num>
                                      <m:r>
                                        <a:rPr lang="zh-CN" altLang="en-US" sz="1200" b="0" i="1" smtClean="0">
                                          <a:latin typeface="Cambria Math" panose="02040503050406030204" pitchFamily="18" charset="0"/>
                                        </a:rPr>
                                        <m:t>1</m:t>
                                      </m:r>
                                    </m:num>
                                    <m:den>
                                      <m:r>
                                        <a:rPr lang="zh-CN" altLang="en-US" sz="1200" b="0" i="1" smtClean="0">
                                          <a:latin typeface="Cambria Math" panose="02040503050406030204" pitchFamily="18" charset="0"/>
                                        </a:rPr>
                                        <m:t>𝑛</m:t>
                                      </m:r>
                                    </m:den>
                                  </m:f>
                                  <m:r>
                                    <a:rPr lang="zh-CN" altLang="en-US" sz="1200" b="1" i="1" smtClean="0">
                                      <a:latin typeface="Cambria Math" panose="02040503050406030204" pitchFamily="18" charset="0"/>
                                    </a:rPr>
                                    <m:t>𝐗</m:t>
                                  </m:r>
                                  <m:r>
                                    <a:rPr lang="zh-CN" altLang="en-US" sz="1200" b="0" i="1" smtClean="0">
                                      <a:latin typeface="Cambria Math" panose="02040503050406030204" pitchFamily="18" charset="0"/>
                                    </a:rPr>
                                    <m:t>′</m:t>
                                  </m:r>
                                  <m:r>
                                    <a:rPr lang="zh-CN" altLang="en-US" sz="1200" b="1" i="1" smtClean="0">
                                      <a:latin typeface="Cambria Math" panose="02040503050406030204" pitchFamily="18" charset="0"/>
                                    </a:rPr>
                                    <m:t>𝐙</m:t>
                                  </m:r>
                                </m:e>
                              </m:d>
                              <m:sSup>
                                <m:sSupPr>
                                  <m:ctrlPr>
                                    <a:rPr lang="zh-CN" altLang="en-US" sz="1200" b="1" i="1" smtClean="0">
                                      <a:latin typeface="Cambria Math" panose="02040503050406030204" pitchFamily="18" charset="0"/>
                                    </a:rPr>
                                  </m:ctrlPr>
                                </m:sSupPr>
                                <m:e>
                                  <m:d>
                                    <m:dPr>
                                      <m:ctrlPr>
                                        <a:rPr lang="zh-CN" altLang="en-US" sz="1200" b="0" i="1" smtClean="0">
                                          <a:latin typeface="Cambria Math" panose="02040503050406030204" pitchFamily="18" charset="0"/>
                                        </a:rPr>
                                      </m:ctrlPr>
                                    </m:dPr>
                                    <m:e>
                                      <m:f>
                                        <m:fPr>
                                          <m:ctrlPr>
                                            <a:rPr lang="zh-CN" altLang="en-US" sz="1200" b="0" i="1" smtClean="0">
                                              <a:latin typeface="Cambria Math" panose="02040503050406030204" pitchFamily="18" charset="0"/>
                                            </a:rPr>
                                          </m:ctrlPr>
                                        </m:fPr>
                                        <m:num>
                                          <m:r>
                                            <a:rPr lang="zh-CN" altLang="en-US" sz="1200" b="0" i="1" smtClean="0">
                                              <a:latin typeface="Cambria Math" panose="02040503050406030204" pitchFamily="18" charset="0"/>
                                            </a:rPr>
                                            <m:t>1</m:t>
                                          </m:r>
                                        </m:num>
                                        <m:den>
                                          <m:r>
                                            <a:rPr lang="zh-CN" altLang="en-US" sz="1200" b="0" i="1" smtClean="0">
                                              <a:latin typeface="Cambria Math" panose="02040503050406030204" pitchFamily="18" charset="0"/>
                                            </a:rPr>
                                            <m:t>𝑛</m:t>
                                          </m:r>
                                        </m:den>
                                      </m:f>
                                      <m:r>
                                        <a:rPr lang="zh-CN" altLang="en-US" sz="1200" b="1" i="1" smtClean="0">
                                          <a:latin typeface="Cambria Math" panose="02040503050406030204" pitchFamily="18" charset="0"/>
                                        </a:rPr>
                                        <m:t>𝐙</m:t>
                                      </m:r>
                                      <m:r>
                                        <a:rPr lang="zh-CN" altLang="en-US" sz="1200" b="0" i="1" smtClean="0">
                                          <a:latin typeface="Cambria Math" panose="02040503050406030204" pitchFamily="18" charset="0"/>
                                        </a:rPr>
                                        <m:t>′</m:t>
                                      </m:r>
                                      <m:r>
                                        <a:rPr lang="zh-CN" altLang="en-US" sz="1200" b="1" i="1" smtClean="0">
                                          <a:latin typeface="Cambria Math" panose="02040503050406030204" pitchFamily="18" charset="0"/>
                                        </a:rPr>
                                        <m:t>𝐙</m:t>
                                      </m:r>
                                    </m:e>
                                  </m:d>
                                </m:e>
                                <m:sup>
                                  <m:r>
                                    <a:rPr lang="zh-CN" altLang="en-US" sz="1200" b="0" i="1" smtClean="0">
                                      <a:latin typeface="Cambria Math" panose="02040503050406030204" pitchFamily="18" charset="0"/>
                                    </a:rPr>
                                    <m:t>−1</m:t>
                                  </m:r>
                                </m:sup>
                              </m:sSup>
                              <m:d>
                                <m:dPr>
                                  <m:ctrlPr>
                                    <a:rPr lang="zh-CN" altLang="en-US" sz="1200" b="0" i="1" smtClean="0">
                                      <a:latin typeface="Cambria Math" panose="02040503050406030204" pitchFamily="18" charset="0"/>
                                    </a:rPr>
                                  </m:ctrlPr>
                                </m:dPr>
                                <m:e>
                                  <m:f>
                                    <m:fPr>
                                      <m:ctrlPr>
                                        <a:rPr lang="zh-CN" altLang="en-US" sz="1200" b="0" i="1" smtClean="0">
                                          <a:latin typeface="Cambria Math" panose="02040503050406030204" pitchFamily="18" charset="0"/>
                                        </a:rPr>
                                      </m:ctrlPr>
                                    </m:fPr>
                                    <m:num>
                                      <m:r>
                                        <a:rPr lang="zh-CN" altLang="en-US" sz="1200" b="0" i="1" smtClean="0">
                                          <a:latin typeface="Cambria Math" panose="02040503050406030204" pitchFamily="18" charset="0"/>
                                        </a:rPr>
                                        <m:t>1</m:t>
                                      </m:r>
                                    </m:num>
                                    <m:den>
                                      <m:r>
                                        <a:rPr lang="zh-CN" altLang="en-US" sz="1200" b="0" i="1" smtClean="0">
                                          <a:latin typeface="Cambria Math" panose="02040503050406030204" pitchFamily="18" charset="0"/>
                                        </a:rPr>
                                        <m:t>𝑛</m:t>
                                      </m:r>
                                    </m:den>
                                  </m:f>
                                  <m:r>
                                    <a:rPr lang="zh-CN" altLang="en-US" sz="1200" b="1" i="1" smtClean="0">
                                      <a:latin typeface="Cambria Math" panose="02040503050406030204" pitchFamily="18" charset="0"/>
                                    </a:rPr>
                                    <m:t>𝐙</m:t>
                                  </m:r>
                                  <m:r>
                                    <a:rPr lang="zh-CN" altLang="en-US" sz="1200" b="0" i="1" smtClean="0">
                                      <a:latin typeface="Cambria Math" panose="02040503050406030204" pitchFamily="18" charset="0"/>
                                    </a:rPr>
                                    <m:t>′</m:t>
                                  </m:r>
                                  <m:r>
                                    <a:rPr lang="zh-CN" altLang="en-US" sz="1200" b="1" i="1" smtClean="0">
                                      <a:latin typeface="Cambria Math" panose="02040503050406030204" pitchFamily="18" charset="0"/>
                                    </a:rPr>
                                    <m:t>𝐘</m:t>
                                  </m:r>
                                </m:e>
                              </m:d>
                            </m:e>
                          </m:d>
                        </m:e>
                        <m:e>
                          <m:r>
                            <m:rPr>
                              <m:aln/>
                            </m:rPr>
                            <a:rPr lang="zh-CN" altLang="en-US" sz="1200" b="0" i="1" smtClean="0">
                              <a:latin typeface="Cambria Math" panose="02040503050406030204" pitchFamily="18" charset="0"/>
                            </a:rPr>
                            <m:t>&amp;</m:t>
                          </m:r>
                          <m:r>
                            <a:rPr lang="zh-CN" altLang="en-US" sz="1200" b="0" i="1" smtClean="0">
                              <a:latin typeface="Cambria Math" panose="02040503050406030204" pitchFamily="18" charset="0"/>
                            </a:rPr>
                            <m:t>=</m:t>
                          </m:r>
                          <m:sSup>
                            <m:sSupPr>
                              <m:ctrlPr>
                                <a:rPr lang="zh-CN" altLang="en-US" sz="1200" b="0" i="1" smtClean="0">
                                  <a:latin typeface="Cambria Math" panose="02040503050406030204" pitchFamily="18" charset="0"/>
                                </a:rPr>
                              </m:ctrlPr>
                            </m:sSupPr>
                            <m:e>
                              <m:d>
                                <m:dPr>
                                  <m:ctrlPr>
                                    <a:rPr lang="zh-CN" altLang="en-US" sz="1200" b="0" i="1" smtClean="0">
                                      <a:latin typeface="Cambria Math" panose="02040503050406030204" pitchFamily="18" charset="0"/>
                                    </a:rPr>
                                  </m:ctrlPr>
                                </m:dPr>
                                <m:e>
                                  <m:sSub>
                                    <m:sSubPr>
                                      <m:ctrlPr>
                                        <a:rPr lang="zh-CN" altLang="en-US" sz="1200" b="0" i="1" smtClean="0">
                                          <a:latin typeface="Cambria Math" panose="02040503050406030204" pitchFamily="18" charset="0"/>
                                        </a:rPr>
                                      </m:ctrlPr>
                                    </m:sSubPr>
                                    <m:e>
                                      <m:acc>
                                        <m:accPr>
                                          <m:chr m:val="̂"/>
                                          <m:ctrlPr>
                                            <a:rPr lang="zh-CN" altLang="en-US" sz="1200" b="0" i="1" smtClean="0">
                                              <a:latin typeface="Cambria Math" panose="02040503050406030204" pitchFamily="18" charset="0"/>
                                            </a:rPr>
                                          </m:ctrlPr>
                                        </m:accPr>
                                        <m:e>
                                          <m:r>
                                            <a:rPr lang="zh-CN" altLang="en-US" sz="1200" b="0" i="1" smtClean="0">
                                              <a:latin typeface="Cambria Math" panose="02040503050406030204" pitchFamily="18" charset="0"/>
                                            </a:rPr>
                                            <m:t>𝑄</m:t>
                                          </m:r>
                                        </m:e>
                                      </m:acc>
                                    </m:e>
                                    <m:sub>
                                      <m:r>
                                        <a:rPr lang="zh-CN" altLang="en-US" sz="1200" b="0" i="1" smtClean="0">
                                          <a:latin typeface="Cambria Math" panose="02040503050406030204" pitchFamily="18" charset="0"/>
                                        </a:rPr>
                                        <m:t>𝑥𝑧</m:t>
                                      </m:r>
                                    </m:sub>
                                  </m:sSub>
                                  <m:sSubSup>
                                    <m:sSubSupPr>
                                      <m:ctrlPr>
                                        <a:rPr lang="zh-CN" altLang="en-US" sz="1200" b="0" i="1" smtClean="0">
                                          <a:latin typeface="Cambria Math" panose="02040503050406030204" pitchFamily="18" charset="0"/>
                                        </a:rPr>
                                      </m:ctrlPr>
                                    </m:sSubSupPr>
                                    <m:e>
                                      <m:acc>
                                        <m:accPr>
                                          <m:chr m:val="̂"/>
                                          <m:ctrlPr>
                                            <a:rPr lang="zh-CN" altLang="en-US" sz="1200" b="0" i="1" smtClean="0">
                                              <a:latin typeface="Cambria Math" panose="02040503050406030204" pitchFamily="18" charset="0"/>
                                            </a:rPr>
                                          </m:ctrlPr>
                                        </m:accPr>
                                        <m:e>
                                          <m:r>
                                            <a:rPr lang="zh-CN" altLang="en-US" sz="1200" b="0" i="1" smtClean="0">
                                              <a:latin typeface="Cambria Math" panose="02040503050406030204" pitchFamily="18" charset="0"/>
                                            </a:rPr>
                                            <m:t>𝑄</m:t>
                                          </m:r>
                                        </m:e>
                                      </m:acc>
                                    </m:e>
                                    <m:sub>
                                      <m:r>
                                        <a:rPr lang="zh-CN" altLang="en-US" sz="1200" b="0" i="1" smtClean="0">
                                          <a:latin typeface="Cambria Math" panose="02040503050406030204" pitchFamily="18" charset="0"/>
                                        </a:rPr>
                                        <m:t>𝑧𝑧</m:t>
                                      </m:r>
                                    </m:sub>
                                    <m:sup>
                                      <m:r>
                                        <a:rPr lang="zh-CN" altLang="en-US" sz="1200" b="0" i="1" smtClean="0">
                                          <a:latin typeface="Cambria Math" panose="02040503050406030204" pitchFamily="18" charset="0"/>
                                        </a:rPr>
                                        <m:t>−1</m:t>
                                      </m:r>
                                    </m:sup>
                                  </m:sSubSup>
                                  <m:sSub>
                                    <m:sSubPr>
                                      <m:ctrlPr>
                                        <a:rPr lang="zh-CN" altLang="en-US" sz="1200" b="0" i="1" smtClean="0">
                                          <a:latin typeface="Cambria Math" panose="02040503050406030204" pitchFamily="18" charset="0"/>
                                        </a:rPr>
                                      </m:ctrlPr>
                                    </m:sSubPr>
                                    <m:e>
                                      <m:acc>
                                        <m:accPr>
                                          <m:chr m:val="̂"/>
                                          <m:ctrlPr>
                                            <a:rPr lang="zh-CN" altLang="en-US" sz="1200" b="0" i="1" smtClean="0">
                                              <a:latin typeface="Cambria Math" panose="02040503050406030204" pitchFamily="18" charset="0"/>
                                            </a:rPr>
                                          </m:ctrlPr>
                                        </m:accPr>
                                        <m:e>
                                          <m:r>
                                            <a:rPr lang="zh-CN" altLang="en-US" sz="1200" b="0" i="1" smtClean="0">
                                              <a:latin typeface="Cambria Math" panose="02040503050406030204" pitchFamily="18" charset="0"/>
                                            </a:rPr>
                                            <m:t>𝑄</m:t>
                                          </m:r>
                                        </m:e>
                                      </m:acc>
                                    </m:e>
                                    <m:sub>
                                      <m:r>
                                        <a:rPr lang="zh-CN" altLang="en-US" sz="1200" b="0" i="1" smtClean="0">
                                          <a:latin typeface="Cambria Math" panose="02040503050406030204" pitchFamily="18" charset="0"/>
                                        </a:rPr>
                                        <m:t>𝑧𝑥</m:t>
                                      </m:r>
                                    </m:sub>
                                  </m:sSub>
                                </m:e>
                              </m:d>
                            </m:e>
                            <m:sup>
                              <m:r>
                                <a:rPr lang="zh-CN" altLang="en-US" sz="1200" b="0" i="1" smtClean="0">
                                  <a:latin typeface="Cambria Math" panose="02040503050406030204" pitchFamily="18" charset="0"/>
                                </a:rPr>
                                <m:t>−1</m:t>
                              </m:r>
                            </m:sup>
                          </m:sSup>
                          <m:sSub>
                            <m:sSubPr>
                              <m:ctrlPr>
                                <a:rPr lang="zh-CN" altLang="en-US" sz="1200" b="0" i="1" smtClean="0">
                                  <a:latin typeface="Cambria Math" panose="02040503050406030204" pitchFamily="18" charset="0"/>
                                </a:rPr>
                              </m:ctrlPr>
                            </m:sSubPr>
                            <m:e>
                              <m:acc>
                                <m:accPr>
                                  <m:chr m:val="̂"/>
                                  <m:ctrlPr>
                                    <a:rPr lang="zh-CN" altLang="en-US" sz="1200" b="0" i="1" smtClean="0">
                                      <a:latin typeface="Cambria Math" panose="02040503050406030204" pitchFamily="18" charset="0"/>
                                    </a:rPr>
                                  </m:ctrlPr>
                                </m:accPr>
                                <m:e>
                                  <m:r>
                                    <a:rPr lang="zh-CN" altLang="en-US" sz="1200" b="0" i="1" smtClean="0">
                                      <a:latin typeface="Cambria Math" panose="02040503050406030204" pitchFamily="18" charset="0"/>
                                    </a:rPr>
                                    <m:t>𝑄</m:t>
                                  </m:r>
                                </m:e>
                              </m:acc>
                            </m:e>
                            <m:sub>
                              <m:r>
                                <a:rPr lang="zh-CN" altLang="en-US" sz="1200" b="0" i="1" smtClean="0">
                                  <a:latin typeface="Cambria Math" panose="02040503050406030204" pitchFamily="18" charset="0"/>
                                </a:rPr>
                                <m:t>𝑥𝑧</m:t>
                              </m:r>
                            </m:sub>
                          </m:sSub>
                          <m:sSubSup>
                            <m:sSubSupPr>
                              <m:ctrlPr>
                                <a:rPr lang="zh-CN" altLang="en-US" sz="1200" b="0" i="1" smtClean="0">
                                  <a:latin typeface="Cambria Math" panose="02040503050406030204" pitchFamily="18" charset="0"/>
                                </a:rPr>
                              </m:ctrlPr>
                            </m:sSubSupPr>
                            <m:e>
                              <m:acc>
                                <m:accPr>
                                  <m:chr m:val="̂"/>
                                  <m:ctrlPr>
                                    <a:rPr lang="zh-CN" altLang="en-US" sz="1200" b="0" i="1" smtClean="0">
                                      <a:latin typeface="Cambria Math" panose="02040503050406030204" pitchFamily="18" charset="0"/>
                                    </a:rPr>
                                  </m:ctrlPr>
                                </m:accPr>
                                <m:e>
                                  <m:r>
                                    <a:rPr lang="zh-CN" altLang="en-US" sz="1200" b="0" i="1" smtClean="0">
                                      <a:latin typeface="Cambria Math" panose="02040503050406030204" pitchFamily="18" charset="0"/>
                                    </a:rPr>
                                    <m:t>𝑄</m:t>
                                  </m:r>
                                </m:e>
                              </m:acc>
                            </m:e>
                            <m:sub>
                              <m:r>
                                <a:rPr lang="zh-CN" altLang="en-US" sz="1200" b="0" i="1" smtClean="0">
                                  <a:latin typeface="Cambria Math" panose="02040503050406030204" pitchFamily="18" charset="0"/>
                                </a:rPr>
                                <m:t>𝑧𝑧</m:t>
                              </m:r>
                            </m:sub>
                            <m:sup>
                              <m:r>
                                <a:rPr lang="zh-CN" altLang="en-US" sz="1200" b="0" i="1" smtClean="0">
                                  <a:latin typeface="Cambria Math" panose="02040503050406030204" pitchFamily="18" charset="0"/>
                                </a:rPr>
                                <m:t>−1</m:t>
                              </m:r>
                            </m:sup>
                          </m:sSubSup>
                          <m:sSub>
                            <m:sSubPr>
                              <m:ctrlPr>
                                <a:rPr lang="zh-CN" altLang="en-US" sz="1200" b="0" i="1" smtClean="0">
                                  <a:latin typeface="Cambria Math" panose="02040503050406030204" pitchFamily="18" charset="0"/>
                                </a:rPr>
                              </m:ctrlPr>
                            </m:sSubPr>
                            <m:e>
                              <m:acc>
                                <m:accPr>
                                  <m:chr m:val="̂"/>
                                  <m:ctrlPr>
                                    <a:rPr lang="zh-CN" altLang="en-US" sz="1200" b="0" i="1" smtClean="0">
                                      <a:latin typeface="Cambria Math" panose="02040503050406030204" pitchFamily="18" charset="0"/>
                                    </a:rPr>
                                  </m:ctrlPr>
                                </m:accPr>
                                <m:e>
                                  <m:r>
                                    <a:rPr lang="zh-CN" altLang="en-US" sz="1200" b="0" i="1" smtClean="0">
                                      <a:latin typeface="Cambria Math" panose="02040503050406030204" pitchFamily="18" charset="0"/>
                                    </a:rPr>
                                    <m:t>𝑄</m:t>
                                  </m:r>
                                </m:e>
                              </m:acc>
                            </m:e>
                            <m:sub>
                              <m:r>
                                <a:rPr lang="zh-CN" altLang="en-US" sz="1200" b="0" i="1" smtClean="0">
                                  <a:latin typeface="Cambria Math" panose="02040503050406030204" pitchFamily="18" charset="0"/>
                                </a:rPr>
                                <m:t>𝑧𝑦</m:t>
                              </m:r>
                            </m:sub>
                          </m:sSub>
                          <m:r>
                            <a:rPr lang="en-US" altLang="zh-CN" sz="1200" b="0" i="1" smtClean="0">
                              <a:latin typeface="Cambria Math" panose="02040503050406030204" pitchFamily="18" charset="0"/>
                            </a:rPr>
                            <m:t>                                                   (14)</m:t>
                          </m:r>
                        </m:e>
                      </m:eqArr>
                    </m:oMath>
                  </m:oMathPara>
                </a14:m>
                <a:endParaRPr lang="en-US" altLang="zh-CN" sz="1200" b="0" dirty="0"/>
              </a:p>
              <a:p>
                <a:pPr>
                  <a:lnSpc>
                    <a:spcPct val="120000"/>
                  </a:lnSpc>
                </a:pPr>
                <a:r>
                  <a:rPr lang="zh-CN" altLang="en-US" sz="1200" dirty="0"/>
                  <a:t>一致性</a:t>
                </a:r>
                <a:endParaRPr lang="en-US" altLang="zh-CN" sz="1200" dirty="0"/>
              </a:p>
              <a:p>
                <a:pPr marL="0" indent="0">
                  <a:lnSpc>
                    <a:spcPct val="120000"/>
                  </a:lnSpc>
                  <a:buNone/>
                </a:pPr>
                <a14:m>
                  <m:oMathPara xmlns:m="http://schemas.openxmlformats.org/officeDocument/2006/math">
                    <m:oMath>
                      <m:eqArr>
                        <m:eqArrPr>
                          <m:ctrlPr>
                            <a:rPr lang="zh-CN" altLang="en-US" sz="1200" i="1" smtClean="0">
                              <a:latin typeface="Cambria Math" panose="02040503050406030204" pitchFamily="18" charset="0"/>
                            </a:rPr>
                          </m:ctrlPr>
                        </m:eqArrPr>
                        <m:e>
                          <m:sSub>
                            <m:sSubPr>
                              <m:ctrlPr>
                                <a:rPr lang="zh-CN" altLang="en-US" sz="1200" i="1" smtClean="0">
                                  <a:latin typeface="Cambria Math" panose="02040503050406030204" pitchFamily="18" charset="0"/>
                                </a:rPr>
                              </m:ctrlPr>
                            </m:sSubPr>
                            <m:e>
                              <m:acc>
                                <m:accPr>
                                  <m:chr m:val="̂"/>
                                  <m:ctrlPr>
                                    <a:rPr lang="zh-CN" altLang="en-US" sz="1200" i="1" smtClean="0">
                                      <a:latin typeface="Cambria Math" panose="02040503050406030204" pitchFamily="18" charset="0"/>
                                    </a:rPr>
                                  </m:ctrlPr>
                                </m:accPr>
                                <m:e>
                                  <m:r>
                                    <a:rPr lang="zh-CN" altLang="en-US" sz="1200" i="1" smtClean="0">
                                      <a:latin typeface="Cambria Math" panose="02040503050406030204" pitchFamily="18" charset="0"/>
                                    </a:rPr>
                                    <m:t>𝛽</m:t>
                                  </m:r>
                                </m:e>
                              </m:acc>
                            </m:e>
                            <m:sub>
                              <m:r>
                                <a:rPr lang="zh-CN" altLang="en-US" sz="1200" i="1" smtClean="0">
                                  <a:latin typeface="Cambria Math" panose="02040503050406030204" pitchFamily="18" charset="0"/>
                                </a:rPr>
                                <m:t>2</m:t>
                              </m:r>
                              <m:r>
                                <a:rPr lang="zh-CN" altLang="en-US" sz="1200" i="1" smtClean="0">
                                  <a:latin typeface="Cambria Math" panose="02040503050406030204" pitchFamily="18" charset="0"/>
                                </a:rPr>
                                <m:t>𝑠𝑙𝑠</m:t>
                              </m:r>
                            </m:sub>
                          </m:sSub>
                          <m:r>
                            <a:rPr lang="zh-CN" altLang="en-US" sz="1200" i="1" smtClean="0">
                              <a:latin typeface="Cambria Math" panose="02040503050406030204" pitchFamily="18" charset="0"/>
                            </a:rPr>
                            <m:t>−</m:t>
                          </m:r>
                          <m:r>
                            <a:rPr lang="zh-CN" altLang="en-US" sz="1200" i="1" smtClean="0">
                              <a:latin typeface="Cambria Math" panose="02040503050406030204" pitchFamily="18" charset="0"/>
                            </a:rPr>
                            <m:t>𝛽</m:t>
                          </m:r>
                          <m:r>
                            <a:rPr lang="zh-CN" altLang="en-US" sz="1200" i="1" smtClean="0">
                              <a:latin typeface="Cambria Math" panose="02040503050406030204" pitchFamily="18" charset="0"/>
                            </a:rPr>
                            <m:t>=</m:t>
                          </m:r>
                          <m:sSup>
                            <m:sSupPr>
                              <m:ctrlPr>
                                <a:rPr lang="zh-CN" altLang="en-US" sz="1200" i="1" smtClean="0">
                                  <a:latin typeface="Cambria Math" panose="02040503050406030204" pitchFamily="18" charset="0"/>
                                </a:rPr>
                              </m:ctrlPr>
                            </m:sSupPr>
                            <m:e>
                              <m:d>
                                <m:dPr>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acc>
                                        <m:accPr>
                                          <m:chr m:val="̂"/>
                                          <m:ctrlPr>
                                            <a:rPr lang="zh-CN" altLang="en-US" sz="1200" i="1" smtClean="0">
                                              <a:latin typeface="Cambria Math" panose="02040503050406030204" pitchFamily="18" charset="0"/>
                                            </a:rPr>
                                          </m:ctrlPr>
                                        </m:accPr>
                                        <m:e>
                                          <m:r>
                                            <a:rPr lang="zh-CN" altLang="en-US" sz="1200" i="1" smtClean="0">
                                              <a:latin typeface="Cambria Math" panose="02040503050406030204" pitchFamily="18" charset="0"/>
                                            </a:rPr>
                                            <m:t>𝑄</m:t>
                                          </m:r>
                                        </m:e>
                                      </m:acc>
                                    </m:e>
                                    <m:sub>
                                      <m:r>
                                        <a:rPr lang="zh-CN" altLang="en-US" sz="1200" i="1" smtClean="0">
                                          <a:latin typeface="Cambria Math" panose="02040503050406030204" pitchFamily="18" charset="0"/>
                                        </a:rPr>
                                        <m:t>𝑥𝑧</m:t>
                                      </m:r>
                                    </m:sub>
                                  </m:sSub>
                                  <m:sSubSup>
                                    <m:sSubSupPr>
                                      <m:ctrlPr>
                                        <a:rPr lang="zh-CN" altLang="en-US" sz="1200" i="1" smtClean="0">
                                          <a:latin typeface="Cambria Math" panose="02040503050406030204" pitchFamily="18" charset="0"/>
                                        </a:rPr>
                                      </m:ctrlPr>
                                    </m:sSubSupPr>
                                    <m:e>
                                      <m:acc>
                                        <m:accPr>
                                          <m:chr m:val="̂"/>
                                          <m:ctrlPr>
                                            <a:rPr lang="zh-CN" altLang="en-US" sz="1200" i="1" smtClean="0">
                                              <a:latin typeface="Cambria Math" panose="02040503050406030204" pitchFamily="18" charset="0"/>
                                            </a:rPr>
                                          </m:ctrlPr>
                                        </m:accPr>
                                        <m:e>
                                          <m:r>
                                            <a:rPr lang="zh-CN" altLang="en-US" sz="1200" i="1" smtClean="0">
                                              <a:latin typeface="Cambria Math" panose="02040503050406030204" pitchFamily="18" charset="0"/>
                                            </a:rPr>
                                            <m:t>𝑄</m:t>
                                          </m:r>
                                        </m:e>
                                      </m:acc>
                                    </m:e>
                                    <m:sub>
                                      <m:r>
                                        <a:rPr lang="zh-CN" altLang="en-US" sz="1200" i="1" smtClean="0">
                                          <a:latin typeface="Cambria Math" panose="02040503050406030204" pitchFamily="18" charset="0"/>
                                        </a:rPr>
                                        <m:t>𝑧𝑧</m:t>
                                      </m:r>
                                    </m:sub>
                                    <m:sup>
                                      <m:r>
                                        <a:rPr lang="zh-CN" altLang="en-US" sz="1200" i="1" smtClean="0">
                                          <a:latin typeface="Cambria Math" panose="02040503050406030204" pitchFamily="18" charset="0"/>
                                        </a:rPr>
                                        <m:t>−1</m:t>
                                      </m:r>
                                    </m:sup>
                                  </m:sSubSup>
                                  <m:sSub>
                                    <m:sSubPr>
                                      <m:ctrlPr>
                                        <a:rPr lang="zh-CN" altLang="en-US" sz="1200" i="1" smtClean="0">
                                          <a:latin typeface="Cambria Math" panose="02040503050406030204" pitchFamily="18" charset="0"/>
                                        </a:rPr>
                                      </m:ctrlPr>
                                    </m:sSubPr>
                                    <m:e>
                                      <m:acc>
                                        <m:accPr>
                                          <m:chr m:val="̂"/>
                                          <m:ctrlPr>
                                            <a:rPr lang="zh-CN" altLang="en-US" sz="1200" i="1" smtClean="0">
                                              <a:latin typeface="Cambria Math" panose="02040503050406030204" pitchFamily="18" charset="0"/>
                                            </a:rPr>
                                          </m:ctrlPr>
                                        </m:accPr>
                                        <m:e>
                                          <m:r>
                                            <a:rPr lang="zh-CN" altLang="en-US" sz="1200" i="1" smtClean="0">
                                              <a:latin typeface="Cambria Math" panose="02040503050406030204" pitchFamily="18" charset="0"/>
                                            </a:rPr>
                                            <m:t>𝑄</m:t>
                                          </m:r>
                                        </m:e>
                                      </m:acc>
                                    </m:e>
                                    <m:sub>
                                      <m:r>
                                        <a:rPr lang="zh-CN" altLang="en-US" sz="1200" i="1" smtClean="0">
                                          <a:latin typeface="Cambria Math" panose="02040503050406030204" pitchFamily="18" charset="0"/>
                                        </a:rPr>
                                        <m:t>𝑧𝑥</m:t>
                                      </m:r>
                                    </m:sub>
                                  </m:sSub>
                                </m:e>
                              </m:d>
                            </m:e>
                            <m:sup>
                              <m:r>
                                <a:rPr lang="zh-CN" altLang="en-US" sz="1200" i="1" smtClean="0">
                                  <a:latin typeface="Cambria Math" panose="02040503050406030204" pitchFamily="18" charset="0"/>
                                </a:rPr>
                                <m:t>−1</m:t>
                              </m:r>
                            </m:sup>
                          </m:sSup>
                          <m:sSub>
                            <m:sSubPr>
                              <m:ctrlPr>
                                <a:rPr lang="zh-CN" altLang="en-US" sz="1200" i="1" smtClean="0">
                                  <a:latin typeface="Cambria Math" panose="02040503050406030204" pitchFamily="18" charset="0"/>
                                </a:rPr>
                              </m:ctrlPr>
                            </m:sSubPr>
                            <m:e>
                              <m:acc>
                                <m:accPr>
                                  <m:chr m:val="̂"/>
                                  <m:ctrlPr>
                                    <a:rPr lang="zh-CN" altLang="en-US" sz="1200" i="1" smtClean="0">
                                      <a:latin typeface="Cambria Math" panose="02040503050406030204" pitchFamily="18" charset="0"/>
                                    </a:rPr>
                                  </m:ctrlPr>
                                </m:accPr>
                                <m:e>
                                  <m:r>
                                    <a:rPr lang="zh-CN" altLang="en-US" sz="1200" i="1" smtClean="0">
                                      <a:latin typeface="Cambria Math" panose="02040503050406030204" pitchFamily="18" charset="0"/>
                                    </a:rPr>
                                    <m:t>𝑄</m:t>
                                  </m:r>
                                </m:e>
                              </m:acc>
                            </m:e>
                            <m:sub>
                              <m:r>
                                <a:rPr lang="zh-CN" altLang="en-US" sz="1200" i="1" smtClean="0">
                                  <a:latin typeface="Cambria Math" panose="02040503050406030204" pitchFamily="18" charset="0"/>
                                </a:rPr>
                                <m:t>𝑥𝑧</m:t>
                              </m:r>
                            </m:sub>
                          </m:sSub>
                          <m:sSubSup>
                            <m:sSubSupPr>
                              <m:ctrlPr>
                                <a:rPr lang="zh-CN" altLang="en-US" sz="1200" i="1" smtClean="0">
                                  <a:latin typeface="Cambria Math" panose="02040503050406030204" pitchFamily="18" charset="0"/>
                                </a:rPr>
                              </m:ctrlPr>
                            </m:sSubSupPr>
                            <m:e>
                              <m:acc>
                                <m:accPr>
                                  <m:chr m:val="̂"/>
                                  <m:ctrlPr>
                                    <a:rPr lang="zh-CN" altLang="en-US" sz="1200" i="1" smtClean="0">
                                      <a:latin typeface="Cambria Math" panose="02040503050406030204" pitchFamily="18" charset="0"/>
                                    </a:rPr>
                                  </m:ctrlPr>
                                </m:accPr>
                                <m:e>
                                  <m:r>
                                    <a:rPr lang="zh-CN" altLang="en-US" sz="1200" i="1" smtClean="0">
                                      <a:latin typeface="Cambria Math" panose="02040503050406030204" pitchFamily="18" charset="0"/>
                                    </a:rPr>
                                    <m:t>𝑄</m:t>
                                  </m:r>
                                </m:e>
                              </m:acc>
                            </m:e>
                            <m:sub>
                              <m:r>
                                <a:rPr lang="zh-CN" altLang="en-US" sz="1200" i="1" smtClean="0">
                                  <a:latin typeface="Cambria Math" panose="02040503050406030204" pitchFamily="18" charset="0"/>
                                </a:rPr>
                                <m:t>𝑧𝑧</m:t>
                              </m:r>
                            </m:sub>
                            <m:sup>
                              <m:r>
                                <a:rPr lang="zh-CN" altLang="en-US" sz="1200" i="1" smtClean="0">
                                  <a:latin typeface="Cambria Math" panose="02040503050406030204" pitchFamily="18" charset="0"/>
                                </a:rPr>
                                <m:t>−1</m:t>
                              </m:r>
                            </m:sup>
                          </m:sSubSup>
                          <m:sSub>
                            <m:sSubPr>
                              <m:ctrlPr>
                                <a:rPr lang="zh-CN" altLang="en-US" sz="1200" i="1" smtClean="0">
                                  <a:latin typeface="Cambria Math" panose="02040503050406030204" pitchFamily="18" charset="0"/>
                                </a:rPr>
                              </m:ctrlPr>
                            </m:sSubPr>
                            <m:e>
                              <m:acc>
                                <m:accPr>
                                  <m:chr m:val="̂"/>
                                  <m:ctrlPr>
                                    <a:rPr lang="zh-CN" altLang="en-US" sz="1200" i="1" smtClean="0">
                                      <a:latin typeface="Cambria Math" panose="02040503050406030204" pitchFamily="18" charset="0"/>
                                    </a:rPr>
                                  </m:ctrlPr>
                                </m:accPr>
                                <m:e>
                                  <m:r>
                                    <a:rPr lang="zh-CN" altLang="en-US" sz="1200" i="1" smtClean="0">
                                      <a:latin typeface="Cambria Math" panose="02040503050406030204" pitchFamily="18" charset="0"/>
                                    </a:rPr>
                                    <m:t>𝑄</m:t>
                                  </m:r>
                                </m:e>
                              </m:acc>
                            </m:e>
                            <m:sub>
                              <m:r>
                                <a:rPr lang="zh-CN" altLang="en-US" sz="1200" i="1" smtClean="0">
                                  <a:latin typeface="Cambria Math" panose="02040503050406030204" pitchFamily="18" charset="0"/>
                                </a:rPr>
                                <m:t>𝑧𝑒</m:t>
                              </m:r>
                            </m:sub>
                          </m:sSub>
                          <m:limUpp>
                            <m:limUppPr>
                              <m:ctrlPr>
                                <a:rPr lang="zh-CN" altLang="en-US" sz="1200" i="1" smtClean="0">
                                  <a:latin typeface="Cambria Math" panose="02040503050406030204" pitchFamily="18" charset="0"/>
                                </a:rPr>
                              </m:ctrlPr>
                            </m:limUppPr>
                            <m:e>
                              <m:r>
                                <a:rPr lang="zh-CN" altLang="en-US" sz="1200" i="1" smtClean="0">
                                  <a:latin typeface="Cambria Math" panose="02040503050406030204" pitchFamily="18" charset="0"/>
                                </a:rPr>
                                <m:t>→</m:t>
                              </m:r>
                            </m:e>
                            <m:lim>
                              <m:r>
                                <a:rPr lang="zh-CN" altLang="en-US" sz="1200" i="1" smtClean="0">
                                  <a:latin typeface="Cambria Math" panose="02040503050406030204" pitchFamily="18" charset="0"/>
                                </a:rPr>
                                <m:t>𝑝</m:t>
                              </m:r>
                            </m:lim>
                          </m:limUpp>
                          <m:sSup>
                            <m:sSupPr>
                              <m:ctrlPr>
                                <a:rPr lang="zh-CN" altLang="en-US" sz="1200" i="1" smtClean="0">
                                  <a:latin typeface="Cambria Math" panose="02040503050406030204" pitchFamily="18" charset="0"/>
                                </a:rPr>
                              </m:ctrlPr>
                            </m:sSupPr>
                            <m:e>
                              <m:d>
                                <m:dPr>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𝑄</m:t>
                                      </m:r>
                                    </m:e>
                                    <m:sub>
                                      <m:r>
                                        <a:rPr lang="zh-CN" altLang="en-US" sz="1200" i="1" smtClean="0">
                                          <a:latin typeface="Cambria Math" panose="02040503050406030204" pitchFamily="18" charset="0"/>
                                        </a:rPr>
                                        <m:t>𝑥𝑧</m:t>
                                      </m:r>
                                    </m:sub>
                                  </m:sSub>
                                  <m:sSubSup>
                                    <m:sSubSupPr>
                                      <m:ctrlPr>
                                        <a:rPr lang="zh-CN" altLang="en-US" sz="1200" i="1" smtClean="0">
                                          <a:latin typeface="Cambria Math" panose="02040503050406030204" pitchFamily="18" charset="0"/>
                                        </a:rPr>
                                      </m:ctrlPr>
                                    </m:sSubSupPr>
                                    <m:e>
                                      <m:r>
                                        <a:rPr lang="zh-CN" altLang="en-US" sz="1200" i="1" smtClean="0">
                                          <a:latin typeface="Cambria Math" panose="02040503050406030204" pitchFamily="18" charset="0"/>
                                        </a:rPr>
                                        <m:t>𝑄</m:t>
                                      </m:r>
                                    </m:e>
                                    <m:sub>
                                      <m:r>
                                        <a:rPr lang="zh-CN" altLang="en-US" sz="1200" i="1" smtClean="0">
                                          <a:latin typeface="Cambria Math" panose="02040503050406030204" pitchFamily="18" charset="0"/>
                                        </a:rPr>
                                        <m:t>𝑧𝑧</m:t>
                                      </m:r>
                                    </m:sub>
                                    <m:sup>
                                      <m:r>
                                        <a:rPr lang="zh-CN" altLang="en-US" sz="1200" i="1" smtClean="0">
                                          <a:latin typeface="Cambria Math" panose="02040503050406030204" pitchFamily="18" charset="0"/>
                                        </a:rPr>
                                        <m:t>−1</m:t>
                                      </m:r>
                                    </m:sup>
                                  </m:sSubSup>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𝑄</m:t>
                                      </m:r>
                                    </m:e>
                                    <m:sub>
                                      <m:r>
                                        <a:rPr lang="zh-CN" altLang="en-US" sz="1200" i="1" smtClean="0">
                                          <a:latin typeface="Cambria Math" panose="02040503050406030204" pitchFamily="18" charset="0"/>
                                        </a:rPr>
                                        <m:t>𝑧𝑥</m:t>
                                      </m:r>
                                    </m:sub>
                                  </m:sSub>
                                </m:e>
                              </m:d>
                            </m:e>
                            <m:sup>
                              <m:r>
                                <a:rPr lang="zh-CN" altLang="en-US" sz="1200" i="1" smtClean="0">
                                  <a:latin typeface="Cambria Math" panose="02040503050406030204" pitchFamily="18" charset="0"/>
                                </a:rPr>
                                <m:t>−1</m:t>
                              </m:r>
                            </m:sup>
                          </m:sSup>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𝑄</m:t>
                              </m:r>
                            </m:e>
                            <m:sub>
                              <m:r>
                                <a:rPr lang="zh-CN" altLang="en-US" sz="1200" i="1" smtClean="0">
                                  <a:latin typeface="Cambria Math" panose="02040503050406030204" pitchFamily="18" charset="0"/>
                                </a:rPr>
                                <m:t>𝑥𝑧</m:t>
                              </m:r>
                            </m:sub>
                          </m:sSub>
                          <m:sSubSup>
                            <m:sSubSupPr>
                              <m:ctrlPr>
                                <a:rPr lang="zh-CN" altLang="en-US" sz="1200" i="1" smtClean="0">
                                  <a:latin typeface="Cambria Math" panose="02040503050406030204" pitchFamily="18" charset="0"/>
                                </a:rPr>
                              </m:ctrlPr>
                            </m:sSubSupPr>
                            <m:e>
                              <m:r>
                                <a:rPr lang="zh-CN" altLang="en-US" sz="1200" i="1" smtClean="0">
                                  <a:latin typeface="Cambria Math" panose="02040503050406030204" pitchFamily="18" charset="0"/>
                                </a:rPr>
                                <m:t>𝑄</m:t>
                              </m:r>
                            </m:e>
                            <m:sub>
                              <m:r>
                                <a:rPr lang="zh-CN" altLang="en-US" sz="1200" i="1" smtClean="0">
                                  <a:latin typeface="Cambria Math" panose="02040503050406030204" pitchFamily="18" charset="0"/>
                                </a:rPr>
                                <m:t>𝑧𝑧</m:t>
                              </m:r>
                            </m:sub>
                            <m:sup>
                              <m:r>
                                <a:rPr lang="zh-CN" altLang="en-US" sz="1200" i="1" smtClean="0">
                                  <a:latin typeface="Cambria Math" panose="02040503050406030204" pitchFamily="18" charset="0"/>
                                </a:rPr>
                                <m:t>−1</m:t>
                              </m:r>
                            </m:sup>
                          </m:sSubSup>
                          <m:r>
                            <a:rPr lang="zh-CN" altLang="en-US" sz="1200" i="1" smtClean="0">
                              <a:latin typeface="Cambria Math" panose="02040503050406030204" pitchFamily="18" charset="0"/>
                            </a:rPr>
                            <m:t>𝐸</m:t>
                          </m:r>
                          <m:d>
                            <m:dPr>
                              <m:begChr m:val="["/>
                              <m:endChr m:val="]"/>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𝑍</m:t>
                                  </m:r>
                                </m:e>
                                <m:sub>
                                  <m:r>
                                    <a:rPr lang="zh-CN" altLang="en-US" sz="1200" i="1" smtClean="0">
                                      <a:latin typeface="Cambria Math" panose="02040503050406030204" pitchFamily="18" charset="0"/>
                                    </a:rPr>
                                    <m:t>𝑖</m:t>
                                  </m:r>
                                </m:sub>
                              </m:sSub>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𝑒</m:t>
                                  </m:r>
                                </m:e>
                                <m:sub>
                                  <m:r>
                                    <a:rPr lang="zh-CN" altLang="en-US" sz="1200" i="1" smtClean="0">
                                      <a:latin typeface="Cambria Math" panose="02040503050406030204" pitchFamily="18" charset="0"/>
                                    </a:rPr>
                                    <m:t>𝑖</m:t>
                                  </m:r>
                                </m:sub>
                              </m:sSub>
                            </m:e>
                          </m:d>
                          <m:r>
                            <a:rPr lang="zh-CN" altLang="en-US" sz="1200" i="1" smtClean="0">
                              <a:latin typeface="Cambria Math" panose="02040503050406030204" pitchFamily="18" charset="0"/>
                            </a:rPr>
                            <m:t>=0.</m:t>
                          </m:r>
                        </m:e>
                      </m:eqArr>
                    </m:oMath>
                  </m:oMathPara>
                </a14:m>
                <a:endParaRPr lang="en-US" altLang="zh-CN" sz="1200" dirty="0"/>
              </a:p>
              <a:p>
                <a:pPr>
                  <a:lnSpc>
                    <a:spcPct val="120000"/>
                  </a:lnSpc>
                </a:pPr>
                <a:r>
                  <a:rPr lang="zh-CN" altLang="en-US" sz="1200" dirty="0"/>
                  <a:t>渐近分布由</a:t>
                </a:r>
                <a:r>
                  <a:rPr lang="en-US" altLang="zh-CN" sz="1200" dirty="0"/>
                  <a:t>CLT</a:t>
                </a:r>
                <a:r>
                  <a:rPr lang="zh-CN" altLang="en-US" sz="1200" dirty="0"/>
                  <a:t>，</a:t>
                </a:r>
                <a:endParaRPr lang="en-US" altLang="zh-CN" sz="1200" dirty="0"/>
              </a:p>
              <a:p>
                <a:pPr marL="0" indent="0">
                  <a:lnSpc>
                    <a:spcPct val="120000"/>
                  </a:lnSpc>
                  <a:buNone/>
                </a:pPr>
                <a14:m>
                  <m:oMathPara xmlns:m="http://schemas.openxmlformats.org/officeDocument/2006/math">
                    <m:oMath>
                      <m:f>
                        <m:fPr>
                          <m:ctrlPr>
                            <a:rPr lang="zh-CN" altLang="en-US" sz="1200" i="1" smtClean="0">
                              <a:latin typeface="Cambria Math" panose="02040503050406030204" pitchFamily="18" charset="0"/>
                            </a:rPr>
                          </m:ctrlPr>
                        </m:fPr>
                        <m:num>
                          <m:r>
                            <a:rPr lang="zh-CN" altLang="en-US" sz="1200" i="1" smtClean="0">
                              <a:latin typeface="Cambria Math" panose="02040503050406030204" pitchFamily="18" charset="0"/>
                            </a:rPr>
                            <m:t>1</m:t>
                          </m:r>
                        </m:num>
                        <m:den>
                          <m:rad>
                            <m:radPr>
                              <m:degHide m:val="on"/>
                              <m:ctrlPr>
                                <a:rPr lang="zh-CN" altLang="en-US" sz="1200" i="1" smtClean="0">
                                  <a:latin typeface="Cambria Math" panose="02040503050406030204" pitchFamily="18" charset="0"/>
                                </a:rPr>
                              </m:ctrlPr>
                            </m:radPr>
                            <m:deg/>
                            <m:e>
                              <m:r>
                                <a:rPr lang="zh-CN" altLang="en-US" sz="1200" i="1" smtClean="0">
                                  <a:latin typeface="Cambria Math" panose="02040503050406030204" pitchFamily="18" charset="0"/>
                                </a:rPr>
                                <m:t>𝑛</m:t>
                              </m:r>
                            </m:e>
                          </m:rad>
                        </m:den>
                      </m:f>
                      <m:nary>
                        <m:naryPr>
                          <m:chr m:val="∑"/>
                          <m:limLoc m:val="undOvr"/>
                          <m:supHide m:val="on"/>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𝑖</m:t>
                          </m:r>
                        </m:sub>
                        <m:sup/>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𝑍</m:t>
                              </m:r>
                            </m:e>
                            <m:sub>
                              <m:r>
                                <a:rPr lang="zh-CN" altLang="en-US" sz="1200" i="1" smtClean="0">
                                  <a:latin typeface="Cambria Math" panose="02040503050406030204" pitchFamily="18" charset="0"/>
                                </a:rPr>
                                <m:t>𝑖</m:t>
                              </m:r>
                            </m:sub>
                          </m:sSub>
                        </m:e>
                      </m:nary>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𝑒</m:t>
                          </m:r>
                        </m:e>
                        <m:sub>
                          <m:r>
                            <a:rPr lang="zh-CN" altLang="en-US" sz="1200" i="1" smtClean="0">
                              <a:latin typeface="Cambria Math" panose="02040503050406030204" pitchFamily="18" charset="0"/>
                            </a:rPr>
                            <m:t>𝑖</m:t>
                          </m:r>
                        </m:sub>
                      </m:sSub>
                      <m:limUpp>
                        <m:limUppPr>
                          <m:ctrlPr>
                            <a:rPr lang="zh-CN" altLang="en-US" sz="1200" i="1" smtClean="0">
                              <a:latin typeface="Cambria Math" panose="02040503050406030204" pitchFamily="18" charset="0"/>
                            </a:rPr>
                          </m:ctrlPr>
                        </m:limUppPr>
                        <m:e>
                          <m:r>
                            <a:rPr lang="zh-CN" altLang="en-US" sz="1200" i="1" smtClean="0">
                              <a:latin typeface="Cambria Math" panose="02040503050406030204" pitchFamily="18" charset="0"/>
                            </a:rPr>
                            <m:t>→</m:t>
                          </m:r>
                        </m:e>
                        <m:lim>
                          <m:r>
                            <a:rPr lang="zh-CN" altLang="en-US" sz="1200" i="1" smtClean="0">
                              <a:latin typeface="Cambria Math" panose="02040503050406030204" pitchFamily="18" charset="0"/>
                            </a:rPr>
                            <m:t>𝑑</m:t>
                          </m:r>
                        </m:lim>
                      </m:limUpp>
                      <m:r>
                        <a:rPr lang="zh-CN" altLang="en-US" sz="1200" i="1" smtClean="0">
                          <a:latin typeface="Cambria Math" panose="02040503050406030204" pitchFamily="18" charset="0"/>
                        </a:rPr>
                        <m:t>𝑁</m:t>
                      </m:r>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0,</m:t>
                          </m:r>
                          <m:r>
                            <m:rPr>
                              <m:sty m:val="p"/>
                            </m:rPr>
                            <a:rPr lang="zh-CN" altLang="en-US" sz="1200" i="1" smtClean="0">
                              <a:latin typeface="Cambria Math" panose="02040503050406030204" pitchFamily="18" charset="0"/>
                            </a:rPr>
                            <m:t>Ω</m:t>
                          </m:r>
                        </m:e>
                      </m:d>
                    </m:oMath>
                  </m:oMathPara>
                </a14:m>
                <a:endParaRPr lang="en-US" altLang="zh-CN" sz="1200" dirty="0"/>
              </a:p>
              <a:p>
                <a:pPr>
                  <a:lnSpc>
                    <a:spcPct val="120000"/>
                  </a:lnSpc>
                </a:pPr>
                <a:r>
                  <a:rPr lang="zh-CN" altLang="en-US" sz="1200" dirty="0"/>
                  <a:t>其中</a:t>
                </a:r>
                <a14:m>
                  <m:oMath xmlns:m="http://schemas.openxmlformats.org/officeDocument/2006/math">
                    <m:r>
                      <m:rPr>
                        <m:sty m:val="p"/>
                      </m:rPr>
                      <a:rPr lang="en-US" altLang="zh-CN" sz="1200" i="0" dirty="0" smtClean="0">
                        <a:latin typeface="Cambria Math" panose="02040503050406030204" pitchFamily="18" charset="0"/>
                      </a:rPr>
                      <m:t>Ω</m:t>
                    </m:r>
                    <m:r>
                      <a:rPr lang="en-US" altLang="zh-CN" sz="1200" i="1" dirty="0" smtClean="0">
                        <a:latin typeface="Cambria Math" panose="02040503050406030204" pitchFamily="18" charset="0"/>
                      </a:rPr>
                      <m:t>=</m:t>
                    </m:r>
                    <m:r>
                      <a:rPr lang="en-US" altLang="zh-CN" sz="1200" i="1" dirty="0" smtClean="0">
                        <a:latin typeface="Cambria Math" panose="02040503050406030204" pitchFamily="18" charset="0"/>
                      </a:rPr>
                      <m:t>𝐸</m:t>
                    </m:r>
                    <m:r>
                      <a:rPr lang="en-US" altLang="zh-CN" sz="1200" i="1" dirty="0" smtClean="0">
                        <a:latin typeface="Cambria Math" panose="02040503050406030204" pitchFamily="18" charset="0"/>
                      </a:rPr>
                      <m:t>[(</m:t>
                    </m:r>
                    <m:r>
                      <a:rPr lang="en-US" altLang="zh-CN" sz="1200" i="1" dirty="0" smtClean="0">
                        <a:latin typeface="Cambria Math" panose="02040503050406030204" pitchFamily="18" charset="0"/>
                      </a:rPr>
                      <m:t>𝑍𝑒</m:t>
                    </m:r>
                    <m:r>
                      <a:rPr lang="en-US" altLang="zh-CN" sz="1200" i="1" dirty="0" smtClean="0">
                        <a:latin typeface="Cambria Math" panose="02040503050406030204" pitchFamily="18" charset="0"/>
                      </a:rPr>
                      <m:t>)(</m:t>
                    </m:r>
                    <m:r>
                      <a:rPr lang="en-US" altLang="zh-CN" sz="1200" i="1" dirty="0" smtClean="0">
                        <a:latin typeface="Cambria Math" panose="02040503050406030204" pitchFamily="18" charset="0"/>
                      </a:rPr>
                      <m:t>𝑍𝑒</m:t>
                    </m:r>
                    <m:r>
                      <a:rPr lang="en-US" altLang="zh-CN" sz="1200" i="1" dirty="0" smtClean="0">
                        <a:latin typeface="Cambria Math" panose="02040503050406030204" pitchFamily="18" charset="0"/>
                      </a:rPr>
                      <m:t>)′]=</m:t>
                    </m:r>
                    <m:r>
                      <a:rPr lang="en-US" altLang="zh-CN" sz="1200" i="1" dirty="0" smtClean="0">
                        <a:latin typeface="Cambria Math" panose="02040503050406030204" pitchFamily="18" charset="0"/>
                      </a:rPr>
                      <m:t>𝐸</m:t>
                    </m:r>
                    <m:r>
                      <a:rPr lang="en-US" altLang="zh-CN" sz="1200" i="1" dirty="0" smtClean="0">
                        <a:latin typeface="Cambria Math" panose="02040503050406030204" pitchFamily="18" charset="0"/>
                      </a:rPr>
                      <m:t>[</m:t>
                    </m:r>
                    <m:r>
                      <a:rPr lang="en-US" altLang="zh-CN" sz="1200" i="1" dirty="0" smtClean="0">
                        <a:latin typeface="Cambria Math" panose="02040503050406030204" pitchFamily="18" charset="0"/>
                      </a:rPr>
                      <m:t>𝑍</m:t>
                    </m:r>
                    <m:sSup>
                      <m:sSupPr>
                        <m:ctrlPr>
                          <a:rPr lang="en-US" altLang="zh-CN" sz="1200" i="1" dirty="0" smtClean="0">
                            <a:latin typeface="Cambria Math" panose="02040503050406030204" pitchFamily="18" charset="0"/>
                          </a:rPr>
                        </m:ctrlPr>
                      </m:sSupPr>
                      <m:e>
                        <m:r>
                          <a:rPr lang="en-US" altLang="zh-CN" sz="1200" i="1" dirty="0" smtClean="0">
                            <a:latin typeface="Cambria Math" panose="02040503050406030204" pitchFamily="18" charset="0"/>
                          </a:rPr>
                          <m:t>𝑍</m:t>
                        </m:r>
                      </m:e>
                      <m:sup>
                        <m:r>
                          <a:rPr lang="en-US" altLang="zh-CN" sz="1200" i="1" dirty="0" smtClean="0">
                            <a:latin typeface="Cambria Math" panose="02040503050406030204" pitchFamily="18" charset="0"/>
                          </a:rPr>
                          <m:t>′</m:t>
                        </m:r>
                      </m:sup>
                    </m:sSup>
                    <m:sSup>
                      <m:sSupPr>
                        <m:ctrlPr>
                          <a:rPr lang="en-US" altLang="zh-CN" sz="1200" i="1" dirty="0" smtClean="0">
                            <a:latin typeface="Cambria Math" panose="02040503050406030204" pitchFamily="18" charset="0"/>
                          </a:rPr>
                        </m:ctrlPr>
                      </m:sSupPr>
                      <m:e>
                        <m:r>
                          <a:rPr lang="en-US" altLang="zh-CN" sz="1200" i="1" dirty="0" smtClean="0">
                            <a:latin typeface="Cambria Math" panose="02040503050406030204" pitchFamily="18" charset="0"/>
                          </a:rPr>
                          <m:t>𝑒</m:t>
                        </m:r>
                      </m:e>
                      <m:sup>
                        <m:r>
                          <a:rPr lang="en-US" altLang="zh-CN" sz="1200" i="1" dirty="0" smtClean="0">
                            <a:latin typeface="Cambria Math" panose="02040503050406030204" pitchFamily="18" charset="0"/>
                          </a:rPr>
                          <m:t>2</m:t>
                        </m:r>
                      </m:sup>
                    </m:sSup>
                    <m:r>
                      <a:rPr lang="en-US" altLang="zh-CN" sz="1200" i="1" dirty="0" smtClean="0">
                        <a:latin typeface="Cambria Math" panose="02040503050406030204" pitchFamily="18" charset="0"/>
                      </a:rPr>
                      <m:t>]</m:t>
                    </m:r>
                  </m:oMath>
                </a14:m>
                <a:r>
                  <a:rPr lang="zh-CN" altLang="en-US" sz="1200" dirty="0"/>
                  <a:t>是协方差矩阵，如果假设同方差，则</a:t>
                </a:r>
                <a14:m>
                  <m:oMath xmlns:m="http://schemas.openxmlformats.org/officeDocument/2006/math">
                    <m:r>
                      <m:rPr>
                        <m:sty m:val="p"/>
                      </m:rPr>
                      <a:rPr lang="en-US" altLang="zh-CN" sz="1200" i="0" dirty="0" smtClean="0">
                        <a:latin typeface="Cambria Math" panose="02040503050406030204" pitchFamily="18" charset="0"/>
                      </a:rPr>
                      <m:t>Ω</m:t>
                    </m:r>
                    <m:r>
                      <a:rPr lang="en-US" altLang="zh-CN" sz="1200" i="1" dirty="0" smtClean="0">
                        <a:latin typeface="Cambria Math" panose="02040503050406030204" pitchFamily="18" charset="0"/>
                      </a:rPr>
                      <m:t>=</m:t>
                    </m:r>
                    <m:sSubSup>
                      <m:sSubSupPr>
                        <m:ctrlPr>
                          <a:rPr lang="en-US" altLang="zh-CN" sz="1200" i="1" dirty="0" smtClean="0">
                            <a:latin typeface="Cambria Math" panose="02040503050406030204" pitchFamily="18" charset="0"/>
                          </a:rPr>
                        </m:ctrlPr>
                      </m:sSubSupPr>
                      <m:e>
                        <m:r>
                          <a:rPr lang="en-US" altLang="zh-CN" sz="1200" i="1" dirty="0" smtClean="0">
                            <a:latin typeface="Cambria Math" panose="02040503050406030204" pitchFamily="18" charset="0"/>
                          </a:rPr>
                          <m:t>𝜎</m:t>
                        </m:r>
                      </m:e>
                      <m:sub>
                        <m:r>
                          <a:rPr lang="en-US" altLang="zh-CN" sz="1200" i="1" dirty="0" smtClean="0">
                            <a:latin typeface="Cambria Math" panose="02040503050406030204" pitchFamily="18" charset="0"/>
                          </a:rPr>
                          <m:t>𝑒</m:t>
                        </m:r>
                      </m:sub>
                      <m:sup>
                        <m:r>
                          <a:rPr lang="en-US" altLang="zh-CN" sz="1200" i="1" dirty="0" smtClean="0">
                            <a:latin typeface="Cambria Math" panose="02040503050406030204" pitchFamily="18" charset="0"/>
                          </a:rPr>
                          <m:t>2</m:t>
                        </m:r>
                      </m:sup>
                    </m:sSubSup>
                    <m:r>
                      <a:rPr lang="en-US" altLang="zh-CN" sz="1200" i="1" dirty="0" smtClean="0">
                        <a:latin typeface="Cambria Math" panose="02040503050406030204" pitchFamily="18" charset="0"/>
                      </a:rPr>
                      <m:t> </m:t>
                    </m:r>
                    <m:r>
                      <a:rPr lang="en-US" altLang="zh-CN" sz="1200" i="1" dirty="0" smtClean="0">
                        <a:latin typeface="Cambria Math" panose="02040503050406030204" pitchFamily="18" charset="0"/>
                      </a:rPr>
                      <m:t>𝐸</m:t>
                    </m:r>
                    <m:r>
                      <a:rPr lang="en-US" altLang="zh-CN" sz="1200" i="1" dirty="0" smtClean="0">
                        <a:latin typeface="Cambria Math" panose="02040503050406030204" pitchFamily="18" charset="0"/>
                      </a:rPr>
                      <m:t>[</m:t>
                    </m:r>
                    <m:r>
                      <a:rPr lang="en-US" altLang="zh-CN" sz="1200" i="1" dirty="0" smtClean="0">
                        <a:latin typeface="Cambria Math" panose="02040503050406030204" pitchFamily="18" charset="0"/>
                      </a:rPr>
                      <m:t>𝑍𝑍</m:t>
                    </m:r>
                    <m:r>
                      <a:rPr lang="en-US" altLang="zh-CN" sz="1200" i="1" dirty="0" smtClean="0">
                        <a:latin typeface="Cambria Math" panose="02040503050406030204" pitchFamily="18" charset="0"/>
                      </a:rPr>
                      <m:t>′]</m:t>
                    </m:r>
                  </m:oMath>
                </a14:m>
                <a:r>
                  <a:rPr lang="zh-CN" altLang="en-US" sz="1200" dirty="0"/>
                  <a:t>。可以用</a:t>
                </a:r>
                <a14:m>
                  <m:oMath xmlns:m="http://schemas.openxmlformats.org/officeDocument/2006/math">
                    <m:acc>
                      <m:accPr>
                        <m:chr m:val="̂"/>
                        <m:ctrlPr>
                          <a:rPr lang="en-US" altLang="zh-CN" sz="1200" dirty="0">
                            <a:latin typeface="Cambria Math" panose="02040503050406030204" pitchFamily="18" charset="0"/>
                          </a:rPr>
                        </m:ctrlPr>
                      </m:accPr>
                      <m:e>
                        <m:r>
                          <m:rPr>
                            <m:sty m:val="p"/>
                          </m:rPr>
                          <a:rPr lang="en-US" altLang="zh-CN" sz="1200" dirty="0">
                            <a:latin typeface="Cambria Math" panose="02040503050406030204" pitchFamily="18" charset="0"/>
                          </a:rPr>
                          <m:t>Ω</m:t>
                        </m:r>
                      </m:e>
                    </m:acc>
                    <m:r>
                      <a:rPr lang="en-US" altLang="zh-CN" sz="1200" b="0" i="1" dirty="0" smtClean="0">
                        <a:latin typeface="Cambria Math" panose="02040503050406030204" pitchFamily="18" charset="0"/>
                      </a:rPr>
                      <m:t>  </m:t>
                    </m:r>
                    <m:r>
                      <a:rPr lang="en-US" altLang="zh-CN" sz="1200" i="1" dirty="0" smtClean="0">
                        <a:latin typeface="Cambria Math" panose="02040503050406030204" pitchFamily="18" charset="0"/>
                      </a:rPr>
                      <m:t>=</m:t>
                    </m:r>
                    <m:f>
                      <m:fPr>
                        <m:ctrlPr>
                          <a:rPr lang="en-US" altLang="zh-CN" sz="1200" b="0" i="1" dirty="0" smtClean="0">
                            <a:latin typeface="Cambria Math" panose="02040503050406030204" pitchFamily="18" charset="0"/>
                          </a:rPr>
                        </m:ctrlPr>
                      </m:fPr>
                      <m:num>
                        <m:r>
                          <a:rPr lang="en-US" altLang="zh-CN" sz="1200" b="0" i="1" dirty="0" smtClean="0">
                            <a:latin typeface="Cambria Math" panose="02040503050406030204" pitchFamily="18" charset="0"/>
                          </a:rPr>
                          <m:t>1</m:t>
                        </m:r>
                      </m:num>
                      <m:den>
                        <m:r>
                          <a:rPr lang="en-US" altLang="zh-CN" sz="1200" b="0" i="1" dirty="0" smtClean="0">
                            <a:latin typeface="Cambria Math" panose="02040503050406030204" pitchFamily="18" charset="0"/>
                          </a:rPr>
                          <m:t>𝑛</m:t>
                        </m:r>
                      </m:den>
                    </m:f>
                    <m:r>
                      <a:rPr lang="en-US" altLang="zh-CN" sz="1200" i="1" dirty="0" smtClean="0">
                        <a:latin typeface="Cambria Math" panose="02040503050406030204" pitchFamily="18" charset="0"/>
                      </a:rPr>
                      <m:t>\</m:t>
                    </m:r>
                    <m:sSub>
                      <m:sSubPr>
                        <m:ctrlPr>
                          <a:rPr lang="en-US" altLang="zh-CN" sz="1200" i="0" dirty="0" err="1" smtClean="0">
                            <a:latin typeface="Cambria Math" panose="02040503050406030204" pitchFamily="18" charset="0"/>
                          </a:rPr>
                        </m:ctrlPr>
                      </m:sSubPr>
                      <m:e>
                        <m:r>
                          <m:rPr>
                            <m:sty m:val="p"/>
                          </m:rPr>
                          <a:rPr lang="en-US" altLang="zh-CN" sz="1200" i="0" dirty="0" err="1" smtClean="0">
                            <a:latin typeface="Cambria Math" panose="02040503050406030204" pitchFamily="18" charset="0"/>
                          </a:rPr>
                          <m:t>sum</m:t>
                        </m:r>
                      </m:e>
                      <m:sub>
                        <m:r>
                          <a:rPr lang="en-US" altLang="zh-CN" sz="1200" i="1" dirty="0" err="1" smtClean="0">
                            <a:latin typeface="Cambria Math" panose="02040503050406030204" pitchFamily="18" charset="0"/>
                          </a:rPr>
                          <m:t>𝑖</m:t>
                        </m:r>
                      </m:sub>
                    </m:sSub>
                    <m:r>
                      <a:rPr lang="en-US" altLang="zh-CN" sz="1200" i="1" dirty="0" smtClean="0">
                        <a:latin typeface="Cambria Math" panose="02040503050406030204" pitchFamily="18" charset="0"/>
                      </a:rPr>
                      <m:t> </m:t>
                    </m:r>
                    <m:sSub>
                      <m:sSubPr>
                        <m:ctrlPr>
                          <a:rPr lang="en-US" altLang="zh-CN" sz="1200" i="1" dirty="0" err="1" smtClean="0">
                            <a:latin typeface="Cambria Math" panose="02040503050406030204" pitchFamily="18" charset="0"/>
                          </a:rPr>
                        </m:ctrlPr>
                      </m:sSubPr>
                      <m:e>
                        <m:r>
                          <a:rPr lang="en-US" altLang="zh-CN" sz="1200" i="1" dirty="0" err="1" smtClean="0">
                            <a:latin typeface="Cambria Math" panose="02040503050406030204" pitchFamily="18" charset="0"/>
                          </a:rPr>
                          <m:t>𝑍</m:t>
                        </m:r>
                      </m:e>
                      <m:sub>
                        <m:r>
                          <a:rPr lang="en-US" altLang="zh-CN" sz="1200" i="1" dirty="0" err="1" smtClean="0">
                            <a:latin typeface="Cambria Math" panose="02040503050406030204" pitchFamily="18" charset="0"/>
                          </a:rPr>
                          <m:t>𝑖</m:t>
                        </m:r>
                      </m:sub>
                    </m:sSub>
                    <m:sSubSup>
                      <m:sSubSupPr>
                        <m:ctrlPr>
                          <a:rPr lang="en-US" altLang="zh-CN" sz="1200" i="1" dirty="0" err="1" smtClean="0">
                            <a:latin typeface="Cambria Math" panose="02040503050406030204" pitchFamily="18" charset="0"/>
                          </a:rPr>
                        </m:ctrlPr>
                      </m:sSubSupPr>
                      <m:e>
                        <m:r>
                          <a:rPr lang="en-US" altLang="zh-CN" sz="1200" i="1" dirty="0" err="1" smtClean="0">
                            <a:latin typeface="Cambria Math" panose="02040503050406030204" pitchFamily="18" charset="0"/>
                          </a:rPr>
                          <m:t>𝑍</m:t>
                        </m:r>
                      </m:e>
                      <m:sub>
                        <m:r>
                          <a:rPr lang="en-US" altLang="zh-CN" sz="1200" i="1" dirty="0" err="1" smtClean="0">
                            <a:latin typeface="Cambria Math" panose="02040503050406030204" pitchFamily="18" charset="0"/>
                          </a:rPr>
                          <m:t>𝑖</m:t>
                        </m:r>
                      </m:sub>
                      <m:sup>
                        <m:r>
                          <a:rPr lang="en-US" altLang="zh-CN" sz="1200" i="1" dirty="0" smtClean="0">
                            <a:latin typeface="Cambria Math" panose="02040503050406030204" pitchFamily="18" charset="0"/>
                          </a:rPr>
                          <m:t>′</m:t>
                        </m:r>
                      </m:sup>
                    </m:sSubSup>
                    <m:sSubSup>
                      <m:sSubSupPr>
                        <m:ctrlPr>
                          <a:rPr lang="en-US" altLang="zh-CN" sz="1200" b="0" i="1" dirty="0" smtClean="0">
                            <a:latin typeface="Cambria Math" panose="02040503050406030204" pitchFamily="18" charset="0"/>
                          </a:rPr>
                        </m:ctrlPr>
                      </m:sSubSupPr>
                      <m:e>
                        <m:acc>
                          <m:accPr>
                            <m:chr m:val="̂"/>
                            <m:ctrlPr>
                              <a:rPr lang="en-US" altLang="zh-CN" sz="1200" b="0" i="1" dirty="0" smtClean="0">
                                <a:latin typeface="Cambria Math" panose="02040503050406030204" pitchFamily="18" charset="0"/>
                              </a:rPr>
                            </m:ctrlPr>
                          </m:accPr>
                          <m:e>
                            <m:r>
                              <a:rPr lang="en-US" altLang="zh-CN" sz="1200" b="0" i="1" dirty="0" smtClean="0">
                                <a:latin typeface="Cambria Math" panose="02040503050406030204" pitchFamily="18" charset="0"/>
                              </a:rPr>
                              <m:t>𝑒</m:t>
                            </m:r>
                          </m:e>
                        </m:acc>
                      </m:e>
                      <m:sub>
                        <m:r>
                          <a:rPr lang="en-US" altLang="zh-CN" sz="1200" i="1" dirty="0" smtClean="0">
                            <a:latin typeface="Cambria Math" panose="02040503050406030204" pitchFamily="18" charset="0"/>
                          </a:rPr>
                          <m:t>𝑖</m:t>
                        </m:r>
                      </m:sub>
                      <m:sup>
                        <m:r>
                          <a:rPr lang="en-US" altLang="zh-CN" sz="1200" i="1" dirty="0" smtClean="0">
                            <a:latin typeface="Cambria Math" panose="02040503050406030204" pitchFamily="18" charset="0"/>
                          </a:rPr>
                          <m:t>2</m:t>
                        </m:r>
                      </m:sup>
                    </m:sSubSup>
                  </m:oMath>
                </a14:m>
                <a:r>
                  <a:rPr lang="zh-CN" altLang="en-US" sz="1200" dirty="0"/>
                  <a:t> 进行估计，其中</a:t>
                </a:r>
                <a:r>
                  <a:rPr lang="en-US" altLang="zh-CN" sz="1200" dirty="0"/>
                  <a:t> </a:t>
                </a:r>
                <a14:m>
                  <m:oMath xmlns:m="http://schemas.openxmlformats.org/officeDocument/2006/math">
                    <m:acc>
                      <m:accPr>
                        <m:chr m:val="̂"/>
                        <m:ctrlPr>
                          <a:rPr lang="en-US" altLang="zh-CN" sz="1200" i="1" dirty="0" err="1" smtClean="0">
                            <a:latin typeface="Cambria Math" panose="02040503050406030204" pitchFamily="18" charset="0"/>
                          </a:rPr>
                        </m:ctrlPr>
                      </m:accPr>
                      <m:e>
                        <m:sSub>
                          <m:sSubPr>
                            <m:ctrlPr>
                              <a:rPr lang="en-US" altLang="zh-CN" sz="1200" i="1" dirty="0" err="1" smtClean="0">
                                <a:latin typeface="Cambria Math" panose="02040503050406030204" pitchFamily="18" charset="0"/>
                              </a:rPr>
                            </m:ctrlPr>
                          </m:sSubPr>
                          <m:e>
                            <m:r>
                              <a:rPr lang="en-US" altLang="zh-CN" sz="1200" i="1" dirty="0" err="1" smtClean="0">
                                <a:latin typeface="Cambria Math" panose="02040503050406030204" pitchFamily="18" charset="0"/>
                              </a:rPr>
                              <m:t>𝑒</m:t>
                            </m:r>
                          </m:e>
                          <m:sub>
                            <m:r>
                              <a:rPr lang="en-US" altLang="zh-CN" sz="1200" i="1" dirty="0">
                                <a:latin typeface="Cambria Math" panose="02040503050406030204" pitchFamily="18" charset="0"/>
                              </a:rPr>
                              <m:t>𝑖</m:t>
                            </m:r>
                          </m:sub>
                        </m:sSub>
                      </m:e>
                    </m:acc>
                    <m:r>
                      <a:rPr lang="en-US" altLang="zh-CN" sz="1200" i="1" dirty="0" smtClean="0">
                        <a:latin typeface="Cambria Math" panose="02040503050406030204" pitchFamily="18" charset="0"/>
                      </a:rPr>
                      <m:t>=</m:t>
                    </m:r>
                    <m:sSub>
                      <m:sSubPr>
                        <m:ctrlPr>
                          <a:rPr lang="en-US" altLang="zh-CN" sz="1200" i="1" dirty="0" err="1" smtClean="0">
                            <a:latin typeface="Cambria Math" panose="02040503050406030204" pitchFamily="18" charset="0"/>
                          </a:rPr>
                        </m:ctrlPr>
                      </m:sSubPr>
                      <m:e>
                        <m:r>
                          <a:rPr lang="en-US" altLang="zh-CN" sz="1200" i="1" dirty="0" err="1" smtClean="0">
                            <a:latin typeface="Cambria Math" panose="02040503050406030204" pitchFamily="18" charset="0"/>
                          </a:rPr>
                          <m:t>𝑌</m:t>
                        </m:r>
                      </m:e>
                      <m:sub>
                        <m:r>
                          <a:rPr lang="en-US" altLang="zh-CN" sz="1200" i="1" dirty="0" err="1" smtClean="0">
                            <a:latin typeface="Cambria Math" panose="02040503050406030204" pitchFamily="18" charset="0"/>
                          </a:rPr>
                          <m:t>𝑖</m:t>
                        </m:r>
                      </m:sub>
                    </m:sSub>
                    <m:r>
                      <a:rPr lang="en-US" altLang="zh-CN" sz="1200" i="1" dirty="0" err="1" smtClean="0">
                        <a:latin typeface="Cambria Math" panose="02040503050406030204" pitchFamily="18" charset="0"/>
                      </a:rPr>
                      <m:t>−</m:t>
                    </m:r>
                    <m:acc>
                      <m:accPr>
                        <m:chr m:val="̂"/>
                        <m:ctrlPr>
                          <a:rPr lang="en-US" altLang="zh-CN" sz="1200" i="1" dirty="0" err="1" smtClean="0">
                            <a:latin typeface="Cambria Math" panose="02040503050406030204" pitchFamily="18" charset="0"/>
                          </a:rPr>
                        </m:ctrlPr>
                      </m:accPr>
                      <m:e>
                        <m:sSubSup>
                          <m:sSubSupPr>
                            <m:ctrlPr>
                              <a:rPr lang="en-US" altLang="zh-CN" sz="1200" i="1" dirty="0" err="1" smtClean="0">
                                <a:latin typeface="Cambria Math" panose="02040503050406030204" pitchFamily="18" charset="0"/>
                              </a:rPr>
                            </m:ctrlPr>
                          </m:sSubSupPr>
                          <m:e>
                            <m:r>
                              <a:rPr lang="en-US" altLang="zh-CN" sz="1200" i="1" dirty="0" err="1" smtClean="0">
                                <a:latin typeface="Cambria Math" panose="02040503050406030204" pitchFamily="18" charset="0"/>
                              </a:rPr>
                              <m:t>𝑋</m:t>
                            </m:r>
                          </m:e>
                          <m:sub>
                            <m:r>
                              <a:rPr lang="en-US" altLang="zh-CN" sz="1200" i="1" dirty="0" err="1" smtClean="0">
                                <a:latin typeface="Cambria Math" panose="02040503050406030204" pitchFamily="18" charset="0"/>
                              </a:rPr>
                              <m:t>𝑖</m:t>
                            </m:r>
                          </m:sub>
                          <m:sup>
                            <m:r>
                              <a:rPr lang="en-US" altLang="zh-CN" sz="1200" i="1" dirty="0" smtClean="0">
                                <a:latin typeface="Cambria Math" panose="02040503050406030204" pitchFamily="18" charset="0"/>
                              </a:rPr>
                              <m:t>′</m:t>
                            </m:r>
                          </m:sup>
                        </m:sSubSup>
                      </m:e>
                    </m:acc>
                    <m:sSub>
                      <m:sSubPr>
                        <m:ctrlPr>
                          <a:rPr lang="en-US" altLang="zh-CN" sz="1200" i="1" dirty="0" smtClean="0">
                            <a:latin typeface="Cambria Math" panose="02040503050406030204" pitchFamily="18" charset="0"/>
                          </a:rPr>
                        </m:ctrlPr>
                      </m:sSubPr>
                      <m:e>
                        <m:r>
                          <a:rPr lang="en-US" altLang="zh-CN" sz="1200" i="1" dirty="0" smtClean="0">
                            <a:latin typeface="Cambria Math" panose="02040503050406030204" pitchFamily="18" charset="0"/>
                          </a:rPr>
                          <m:t>𝛽</m:t>
                        </m:r>
                      </m:e>
                      <m:sub>
                        <m:r>
                          <a:rPr lang="en-US" altLang="zh-CN" sz="1200" i="1" dirty="0" smtClean="0">
                            <a:latin typeface="Cambria Math" panose="02040503050406030204" pitchFamily="18" charset="0"/>
                          </a:rPr>
                          <m:t>2</m:t>
                        </m:r>
                        <m:r>
                          <a:rPr lang="en-US" altLang="zh-CN" sz="1200" i="1" dirty="0" smtClean="0">
                            <a:latin typeface="Cambria Math" panose="02040503050406030204" pitchFamily="18" charset="0"/>
                          </a:rPr>
                          <m:t>𝑠𝑙𝑠</m:t>
                        </m:r>
                      </m:sub>
                    </m:sSub>
                  </m:oMath>
                </a14:m>
                <a:r>
                  <a:rPr lang="zh-CN" altLang="en-US" sz="1200" dirty="0"/>
                  <a:t>，</a:t>
                </a:r>
                <a:r>
                  <a:rPr lang="zh-CN" altLang="en-US" sz="1200" b="1" dirty="0"/>
                  <a:t>不是第</a:t>
                </a:r>
                <a:r>
                  <a:rPr lang="en-US" altLang="zh-CN" sz="1200" b="1" dirty="0"/>
                  <a:t>2</a:t>
                </a:r>
                <a:r>
                  <a:rPr lang="zh-CN" altLang="en-US" sz="1200" b="1" dirty="0"/>
                  <a:t>阶段的残差！</a:t>
                </a:r>
                <a:endParaRPr lang="en-US" altLang="zh-CN" sz="1200" b="1" dirty="0"/>
              </a:p>
              <a:p>
                <a:pPr marL="0" indent="0">
                  <a:lnSpc>
                    <a:spcPct val="120000"/>
                  </a:lnSpc>
                  <a:buNone/>
                </a:pPr>
                <a14:m>
                  <m:oMathPara xmlns:m="http://schemas.openxmlformats.org/officeDocument/2006/math">
                    <m:oMath>
                      <m:rad>
                        <m:radPr>
                          <m:degHide m:val="on"/>
                          <m:ctrlPr>
                            <a:rPr lang="zh-CN" altLang="en-US" sz="1200" b="1" i="1" smtClean="0">
                              <a:latin typeface="Cambria Math" panose="02040503050406030204" pitchFamily="18" charset="0"/>
                            </a:rPr>
                          </m:ctrlPr>
                        </m:radPr>
                        <m:deg/>
                        <m:e>
                          <m:r>
                            <a:rPr lang="zh-CN" altLang="en-US" sz="1200" b="1" i="1" smtClean="0">
                              <a:latin typeface="Cambria Math" panose="02040503050406030204" pitchFamily="18" charset="0"/>
                            </a:rPr>
                            <m:t>𝑛</m:t>
                          </m:r>
                        </m:e>
                      </m:rad>
                      <m:d>
                        <m:dPr>
                          <m:ctrlPr>
                            <a:rPr lang="zh-CN" altLang="en-US" sz="1200" b="1" i="1" smtClean="0">
                              <a:latin typeface="Cambria Math" panose="02040503050406030204" pitchFamily="18" charset="0"/>
                            </a:rPr>
                          </m:ctrlPr>
                        </m:dPr>
                        <m:e>
                          <m:sSub>
                            <m:sSubPr>
                              <m:ctrlPr>
                                <a:rPr lang="zh-CN" altLang="en-US" sz="1200" b="1" i="1" smtClean="0">
                                  <a:latin typeface="Cambria Math" panose="02040503050406030204" pitchFamily="18" charset="0"/>
                                </a:rPr>
                              </m:ctrlPr>
                            </m:sSubPr>
                            <m:e>
                              <m:acc>
                                <m:accPr>
                                  <m:chr m:val="̂"/>
                                  <m:ctrlPr>
                                    <a:rPr lang="zh-CN" altLang="en-US" sz="1200" b="1" i="1" smtClean="0">
                                      <a:latin typeface="Cambria Math" panose="02040503050406030204" pitchFamily="18" charset="0"/>
                                    </a:rPr>
                                  </m:ctrlPr>
                                </m:accPr>
                                <m:e>
                                  <m:r>
                                    <a:rPr lang="zh-CN" altLang="en-US" sz="1200" b="1" i="1" smtClean="0">
                                      <a:latin typeface="Cambria Math" panose="02040503050406030204" pitchFamily="18" charset="0"/>
                                    </a:rPr>
                                    <m:t>𝛽</m:t>
                                  </m:r>
                                </m:e>
                              </m:acc>
                            </m:e>
                            <m:sub>
                              <m:r>
                                <a:rPr lang="zh-CN" altLang="en-US" sz="1200" b="1" i="1" smtClean="0">
                                  <a:latin typeface="Cambria Math" panose="02040503050406030204" pitchFamily="18" charset="0"/>
                                </a:rPr>
                                <m:t>2</m:t>
                              </m:r>
                              <m:r>
                                <a:rPr lang="zh-CN" altLang="en-US" sz="1200" b="1" i="1" smtClean="0">
                                  <a:latin typeface="Cambria Math" panose="02040503050406030204" pitchFamily="18" charset="0"/>
                                </a:rPr>
                                <m:t>𝑠𝑙𝑠</m:t>
                              </m:r>
                            </m:sub>
                          </m:sSub>
                          <m:r>
                            <a:rPr lang="zh-CN" altLang="en-US" sz="1200" b="1" i="1" smtClean="0">
                              <a:latin typeface="Cambria Math" panose="02040503050406030204" pitchFamily="18" charset="0"/>
                            </a:rPr>
                            <m:t>−</m:t>
                          </m:r>
                          <m:r>
                            <a:rPr lang="zh-CN" altLang="en-US" sz="1200" b="1" i="1" smtClean="0">
                              <a:latin typeface="Cambria Math" panose="02040503050406030204" pitchFamily="18" charset="0"/>
                            </a:rPr>
                            <m:t>𝛽</m:t>
                          </m:r>
                        </m:e>
                      </m:d>
                      <m:limUpp>
                        <m:limUppPr>
                          <m:ctrlPr>
                            <a:rPr lang="zh-CN" altLang="en-US" sz="1200" b="1" i="1" smtClean="0">
                              <a:latin typeface="Cambria Math" panose="02040503050406030204" pitchFamily="18" charset="0"/>
                            </a:rPr>
                          </m:ctrlPr>
                        </m:limUppPr>
                        <m:e>
                          <m:r>
                            <a:rPr lang="zh-CN" altLang="en-US" sz="1200" b="1" i="1" smtClean="0">
                              <a:latin typeface="Cambria Math" panose="02040503050406030204" pitchFamily="18" charset="0"/>
                            </a:rPr>
                            <m:t>→</m:t>
                          </m:r>
                        </m:e>
                        <m:lim>
                          <m:r>
                            <a:rPr lang="zh-CN" altLang="en-US" sz="1200" b="1" i="1" smtClean="0">
                              <a:latin typeface="Cambria Math" panose="02040503050406030204" pitchFamily="18" charset="0"/>
                            </a:rPr>
                            <m:t>𝑑</m:t>
                          </m:r>
                        </m:lim>
                      </m:limUpp>
                      <m:r>
                        <a:rPr lang="zh-CN" altLang="en-US" sz="1200" b="1" i="1" smtClean="0">
                          <a:latin typeface="Cambria Math" panose="02040503050406030204" pitchFamily="18" charset="0"/>
                        </a:rPr>
                        <m:t>𝑁</m:t>
                      </m:r>
                      <m:d>
                        <m:dPr>
                          <m:ctrlPr>
                            <a:rPr lang="zh-CN" altLang="en-US" sz="1200" b="1" i="1" smtClean="0">
                              <a:latin typeface="Cambria Math" panose="02040503050406030204" pitchFamily="18" charset="0"/>
                            </a:rPr>
                          </m:ctrlPr>
                        </m:dPr>
                        <m:e>
                          <m:r>
                            <a:rPr lang="zh-CN" altLang="en-US" sz="1200" b="1" i="1" smtClean="0">
                              <a:latin typeface="Cambria Math" panose="02040503050406030204" pitchFamily="18" charset="0"/>
                            </a:rPr>
                            <m:t>0,</m:t>
                          </m:r>
                          <m:sSub>
                            <m:sSubPr>
                              <m:ctrlPr>
                                <a:rPr lang="zh-CN" altLang="en-US" sz="1200" b="1" i="1" smtClean="0">
                                  <a:latin typeface="Cambria Math" panose="02040503050406030204" pitchFamily="18" charset="0"/>
                                </a:rPr>
                              </m:ctrlPr>
                            </m:sSubPr>
                            <m:e>
                              <m:r>
                                <a:rPr lang="zh-CN" altLang="en-US" sz="1200" b="1" i="1" smtClean="0">
                                  <a:latin typeface="Cambria Math" panose="02040503050406030204" pitchFamily="18" charset="0"/>
                                </a:rPr>
                                <m:t>𝑉</m:t>
                              </m:r>
                            </m:e>
                            <m:sub>
                              <m:acc>
                                <m:accPr>
                                  <m:chr m:val="ˆ"/>
                                  <m:ctrlPr>
                                    <a:rPr lang="zh-CN" altLang="en-US" sz="1200" b="1" i="1" smtClean="0">
                                      <a:latin typeface="Cambria Math" panose="02040503050406030204" pitchFamily="18" charset="0"/>
                                    </a:rPr>
                                  </m:ctrlPr>
                                </m:accPr>
                                <m:e>
                                  <m:r>
                                    <a:rPr lang="zh-CN" altLang="en-US" sz="1200" b="1" i="1" smtClean="0">
                                      <a:latin typeface="Cambria Math" panose="02040503050406030204" pitchFamily="18" charset="0"/>
                                    </a:rPr>
                                    <m:t>𝛽</m:t>
                                  </m:r>
                                </m:e>
                              </m:acc>
                            </m:sub>
                          </m:sSub>
                        </m:e>
                      </m:d>
                    </m:oMath>
                  </m:oMathPara>
                </a14:m>
                <a:endParaRPr lang="en-US" altLang="zh-CN" sz="1200" b="1" dirty="0"/>
              </a:p>
              <a:p>
                <a:pPr>
                  <a:lnSpc>
                    <a:spcPct val="120000"/>
                  </a:lnSpc>
                </a:pPr>
                <a:r>
                  <a:rPr lang="zh-CN" altLang="en-US" sz="1200" dirty="0"/>
                  <a:t>其中</a:t>
                </a:r>
                <a:endParaRPr lang="en-US" altLang="zh-CN" sz="1200" dirty="0"/>
              </a:p>
              <a:p>
                <a:pPr marL="0" indent="0">
                  <a:lnSpc>
                    <a:spcPct val="120000"/>
                  </a:lnSpc>
                  <a:buNone/>
                </a:pPr>
                <a14:m>
                  <m:oMathPara xmlns:m="http://schemas.openxmlformats.org/officeDocument/2006/math">
                    <m:oMath>
                      <m:sSub>
                        <m:sSubPr>
                          <m:ctrlPr>
                            <a:rPr lang="zh-CN" altLang="en-US" sz="1200" b="1" i="1" smtClean="0">
                              <a:latin typeface="Cambria Math" panose="02040503050406030204" pitchFamily="18" charset="0"/>
                            </a:rPr>
                          </m:ctrlPr>
                        </m:sSubPr>
                        <m:e>
                          <m:r>
                            <a:rPr lang="zh-CN" altLang="en-US" sz="1200" b="1" i="1" smtClean="0">
                              <a:latin typeface="Cambria Math" panose="02040503050406030204" pitchFamily="18" charset="0"/>
                            </a:rPr>
                            <m:t>𝑉</m:t>
                          </m:r>
                        </m:e>
                        <m:sub>
                          <m:acc>
                            <m:accPr>
                              <m:chr m:val="ˆ"/>
                              <m:ctrlPr>
                                <a:rPr lang="zh-CN" altLang="en-US" sz="1200" b="1" i="1" smtClean="0">
                                  <a:latin typeface="Cambria Math" panose="02040503050406030204" pitchFamily="18" charset="0"/>
                                </a:rPr>
                              </m:ctrlPr>
                            </m:accPr>
                            <m:e>
                              <m:r>
                                <a:rPr lang="zh-CN" altLang="en-US" sz="1200" b="1" i="1" smtClean="0">
                                  <a:latin typeface="Cambria Math" panose="02040503050406030204" pitchFamily="18" charset="0"/>
                                </a:rPr>
                                <m:t>𝛽</m:t>
                              </m:r>
                            </m:e>
                          </m:acc>
                        </m:sub>
                      </m:sSub>
                      <m:r>
                        <a:rPr lang="zh-CN" altLang="en-US" sz="1200" b="1" i="1" smtClean="0">
                          <a:latin typeface="Cambria Math" panose="02040503050406030204" pitchFamily="18" charset="0"/>
                        </a:rPr>
                        <m:t>=</m:t>
                      </m:r>
                      <m:sSup>
                        <m:sSupPr>
                          <m:ctrlPr>
                            <a:rPr lang="zh-CN" altLang="en-US" sz="1200" b="1" i="1" smtClean="0">
                              <a:latin typeface="Cambria Math" panose="02040503050406030204" pitchFamily="18" charset="0"/>
                            </a:rPr>
                          </m:ctrlPr>
                        </m:sSupPr>
                        <m:e>
                          <m:d>
                            <m:dPr>
                              <m:ctrlPr>
                                <a:rPr lang="zh-CN" altLang="en-US" sz="1200" b="1" i="1" smtClean="0">
                                  <a:latin typeface="Cambria Math" panose="02040503050406030204" pitchFamily="18" charset="0"/>
                                </a:rPr>
                              </m:ctrlPr>
                            </m:dPr>
                            <m:e>
                              <m:sSub>
                                <m:sSubPr>
                                  <m:ctrlPr>
                                    <a:rPr lang="zh-CN" altLang="en-US" sz="1200" b="1" i="1" smtClean="0">
                                      <a:latin typeface="Cambria Math" panose="02040503050406030204" pitchFamily="18" charset="0"/>
                                    </a:rPr>
                                  </m:ctrlPr>
                                </m:sSubPr>
                                <m:e>
                                  <m:r>
                                    <a:rPr lang="zh-CN" altLang="en-US" sz="1200" b="1" i="1" smtClean="0">
                                      <a:latin typeface="Cambria Math" panose="02040503050406030204" pitchFamily="18" charset="0"/>
                                    </a:rPr>
                                    <m:t>𝑄</m:t>
                                  </m:r>
                                </m:e>
                                <m:sub>
                                  <m:r>
                                    <a:rPr lang="zh-CN" altLang="en-US" sz="1200" b="1" i="1" smtClean="0">
                                      <a:latin typeface="Cambria Math" panose="02040503050406030204" pitchFamily="18" charset="0"/>
                                    </a:rPr>
                                    <m:t>𝑥𝑧</m:t>
                                  </m:r>
                                </m:sub>
                              </m:sSub>
                              <m:sSubSup>
                                <m:sSubSupPr>
                                  <m:ctrlPr>
                                    <a:rPr lang="zh-CN" altLang="en-US" sz="1200" b="1" i="1" smtClean="0">
                                      <a:latin typeface="Cambria Math" panose="02040503050406030204" pitchFamily="18" charset="0"/>
                                    </a:rPr>
                                  </m:ctrlPr>
                                </m:sSubSupPr>
                                <m:e>
                                  <m:r>
                                    <a:rPr lang="zh-CN" altLang="en-US" sz="1200" b="1" i="1" smtClean="0">
                                      <a:latin typeface="Cambria Math" panose="02040503050406030204" pitchFamily="18" charset="0"/>
                                    </a:rPr>
                                    <m:t>𝑄</m:t>
                                  </m:r>
                                </m:e>
                                <m:sub>
                                  <m:r>
                                    <a:rPr lang="zh-CN" altLang="en-US" sz="1200" b="1" i="1" smtClean="0">
                                      <a:latin typeface="Cambria Math" panose="02040503050406030204" pitchFamily="18" charset="0"/>
                                    </a:rPr>
                                    <m:t>𝑧𝑧</m:t>
                                  </m:r>
                                </m:sub>
                                <m:sup>
                                  <m:r>
                                    <a:rPr lang="zh-CN" altLang="en-US" sz="1200" b="1" i="1" smtClean="0">
                                      <a:latin typeface="Cambria Math" panose="02040503050406030204" pitchFamily="18" charset="0"/>
                                    </a:rPr>
                                    <m:t>−1</m:t>
                                  </m:r>
                                </m:sup>
                              </m:sSubSup>
                              <m:sSub>
                                <m:sSubPr>
                                  <m:ctrlPr>
                                    <a:rPr lang="zh-CN" altLang="en-US" sz="1200" b="1" i="1" smtClean="0">
                                      <a:latin typeface="Cambria Math" panose="02040503050406030204" pitchFamily="18" charset="0"/>
                                    </a:rPr>
                                  </m:ctrlPr>
                                </m:sSubPr>
                                <m:e>
                                  <m:r>
                                    <a:rPr lang="zh-CN" altLang="en-US" sz="1200" b="1" i="1" smtClean="0">
                                      <a:latin typeface="Cambria Math" panose="02040503050406030204" pitchFamily="18" charset="0"/>
                                    </a:rPr>
                                    <m:t>𝑄</m:t>
                                  </m:r>
                                </m:e>
                                <m:sub>
                                  <m:r>
                                    <a:rPr lang="zh-CN" altLang="en-US" sz="1200" b="1" i="1" smtClean="0">
                                      <a:latin typeface="Cambria Math" panose="02040503050406030204" pitchFamily="18" charset="0"/>
                                    </a:rPr>
                                    <m:t>𝑧𝑥</m:t>
                                  </m:r>
                                </m:sub>
                              </m:sSub>
                            </m:e>
                          </m:d>
                        </m:e>
                        <m:sup>
                          <m:r>
                            <a:rPr lang="zh-CN" altLang="en-US" sz="1200" b="1" i="1" smtClean="0">
                              <a:latin typeface="Cambria Math" panose="02040503050406030204" pitchFamily="18" charset="0"/>
                            </a:rPr>
                            <m:t>−1</m:t>
                          </m:r>
                        </m:sup>
                      </m:sSup>
                      <m:sSub>
                        <m:sSubPr>
                          <m:ctrlPr>
                            <a:rPr lang="zh-CN" altLang="en-US" sz="1200" b="1" i="1" smtClean="0">
                              <a:latin typeface="Cambria Math" panose="02040503050406030204" pitchFamily="18" charset="0"/>
                            </a:rPr>
                          </m:ctrlPr>
                        </m:sSubPr>
                        <m:e>
                          <m:r>
                            <a:rPr lang="zh-CN" altLang="en-US" sz="1200" b="1" i="1" smtClean="0">
                              <a:latin typeface="Cambria Math" panose="02040503050406030204" pitchFamily="18" charset="0"/>
                            </a:rPr>
                            <m:t>𝑄</m:t>
                          </m:r>
                        </m:e>
                        <m:sub>
                          <m:r>
                            <a:rPr lang="zh-CN" altLang="en-US" sz="1200" b="1" i="1" smtClean="0">
                              <a:latin typeface="Cambria Math" panose="02040503050406030204" pitchFamily="18" charset="0"/>
                            </a:rPr>
                            <m:t>𝑥𝑧</m:t>
                          </m:r>
                        </m:sub>
                      </m:sSub>
                      <m:sSubSup>
                        <m:sSubSupPr>
                          <m:ctrlPr>
                            <a:rPr lang="zh-CN" altLang="en-US" sz="1200" b="1" i="1" smtClean="0">
                              <a:latin typeface="Cambria Math" panose="02040503050406030204" pitchFamily="18" charset="0"/>
                            </a:rPr>
                          </m:ctrlPr>
                        </m:sSubSupPr>
                        <m:e>
                          <m:r>
                            <a:rPr lang="zh-CN" altLang="en-US" sz="1200" b="1" i="1" smtClean="0">
                              <a:latin typeface="Cambria Math" panose="02040503050406030204" pitchFamily="18" charset="0"/>
                            </a:rPr>
                            <m:t>𝑄</m:t>
                          </m:r>
                        </m:e>
                        <m:sub>
                          <m:r>
                            <a:rPr lang="zh-CN" altLang="en-US" sz="1200" b="1" i="1" smtClean="0">
                              <a:latin typeface="Cambria Math" panose="02040503050406030204" pitchFamily="18" charset="0"/>
                            </a:rPr>
                            <m:t>𝑧𝑧</m:t>
                          </m:r>
                        </m:sub>
                        <m:sup>
                          <m:r>
                            <a:rPr lang="zh-CN" altLang="en-US" sz="1200" b="1" i="1" smtClean="0">
                              <a:latin typeface="Cambria Math" panose="02040503050406030204" pitchFamily="18" charset="0"/>
                            </a:rPr>
                            <m:t>−1</m:t>
                          </m:r>
                        </m:sup>
                      </m:sSubSup>
                      <m:r>
                        <m:rPr>
                          <m:sty m:val="p"/>
                        </m:rPr>
                        <a:rPr lang="zh-CN" altLang="en-US" sz="1200" b="1" i="1" smtClean="0">
                          <a:latin typeface="Cambria Math" panose="02040503050406030204" pitchFamily="18" charset="0"/>
                        </a:rPr>
                        <m:t>Ω</m:t>
                      </m:r>
                      <m:sSubSup>
                        <m:sSubSupPr>
                          <m:ctrlPr>
                            <a:rPr lang="zh-CN" altLang="en-US" sz="1200" b="1" i="1" smtClean="0">
                              <a:latin typeface="Cambria Math" panose="02040503050406030204" pitchFamily="18" charset="0"/>
                            </a:rPr>
                          </m:ctrlPr>
                        </m:sSubSupPr>
                        <m:e>
                          <m:r>
                            <a:rPr lang="zh-CN" altLang="en-US" sz="1200" b="1" i="1" smtClean="0">
                              <a:latin typeface="Cambria Math" panose="02040503050406030204" pitchFamily="18" charset="0"/>
                            </a:rPr>
                            <m:t>𝑄</m:t>
                          </m:r>
                        </m:e>
                        <m:sub>
                          <m:r>
                            <a:rPr lang="zh-CN" altLang="en-US" sz="1200" b="1" i="1" smtClean="0">
                              <a:latin typeface="Cambria Math" panose="02040503050406030204" pitchFamily="18" charset="0"/>
                            </a:rPr>
                            <m:t>𝑧𝑧</m:t>
                          </m:r>
                        </m:sub>
                        <m:sup>
                          <m:r>
                            <a:rPr lang="zh-CN" altLang="en-US" sz="1200" b="1" i="1" smtClean="0">
                              <a:latin typeface="Cambria Math" panose="02040503050406030204" pitchFamily="18" charset="0"/>
                            </a:rPr>
                            <m:t>−1</m:t>
                          </m:r>
                        </m:sup>
                      </m:sSubSup>
                      <m:sSub>
                        <m:sSubPr>
                          <m:ctrlPr>
                            <a:rPr lang="zh-CN" altLang="en-US" sz="1200" b="1" i="1" smtClean="0">
                              <a:latin typeface="Cambria Math" panose="02040503050406030204" pitchFamily="18" charset="0"/>
                            </a:rPr>
                          </m:ctrlPr>
                        </m:sSubPr>
                        <m:e>
                          <m:r>
                            <a:rPr lang="zh-CN" altLang="en-US" sz="1200" b="1" i="1" smtClean="0">
                              <a:latin typeface="Cambria Math" panose="02040503050406030204" pitchFamily="18" charset="0"/>
                            </a:rPr>
                            <m:t>𝑄</m:t>
                          </m:r>
                        </m:e>
                        <m:sub>
                          <m:r>
                            <a:rPr lang="zh-CN" altLang="en-US" sz="1200" b="1" i="1" smtClean="0">
                              <a:latin typeface="Cambria Math" panose="02040503050406030204" pitchFamily="18" charset="0"/>
                            </a:rPr>
                            <m:t>𝑧𝑥</m:t>
                          </m:r>
                        </m:sub>
                      </m:sSub>
                      <m:sSup>
                        <m:sSupPr>
                          <m:ctrlPr>
                            <a:rPr lang="zh-CN" altLang="en-US" sz="1200" b="1" i="1" smtClean="0">
                              <a:latin typeface="Cambria Math" panose="02040503050406030204" pitchFamily="18" charset="0"/>
                            </a:rPr>
                          </m:ctrlPr>
                        </m:sSupPr>
                        <m:e>
                          <m:d>
                            <m:dPr>
                              <m:ctrlPr>
                                <a:rPr lang="zh-CN" altLang="en-US" sz="1200" b="1" i="1" smtClean="0">
                                  <a:latin typeface="Cambria Math" panose="02040503050406030204" pitchFamily="18" charset="0"/>
                                </a:rPr>
                              </m:ctrlPr>
                            </m:dPr>
                            <m:e>
                              <m:sSub>
                                <m:sSubPr>
                                  <m:ctrlPr>
                                    <a:rPr lang="zh-CN" altLang="en-US" sz="1200" b="1" i="1" smtClean="0">
                                      <a:latin typeface="Cambria Math" panose="02040503050406030204" pitchFamily="18" charset="0"/>
                                    </a:rPr>
                                  </m:ctrlPr>
                                </m:sSubPr>
                                <m:e>
                                  <m:r>
                                    <a:rPr lang="zh-CN" altLang="en-US" sz="1200" b="1" i="1" smtClean="0">
                                      <a:latin typeface="Cambria Math" panose="02040503050406030204" pitchFamily="18" charset="0"/>
                                    </a:rPr>
                                    <m:t>𝑄</m:t>
                                  </m:r>
                                </m:e>
                                <m:sub>
                                  <m:r>
                                    <a:rPr lang="zh-CN" altLang="en-US" sz="1200" b="1" i="1" smtClean="0">
                                      <a:latin typeface="Cambria Math" panose="02040503050406030204" pitchFamily="18" charset="0"/>
                                    </a:rPr>
                                    <m:t>𝑥𝑧</m:t>
                                  </m:r>
                                </m:sub>
                              </m:sSub>
                              <m:sSubSup>
                                <m:sSubSupPr>
                                  <m:ctrlPr>
                                    <a:rPr lang="zh-CN" altLang="en-US" sz="1200" b="1" i="1" smtClean="0">
                                      <a:latin typeface="Cambria Math" panose="02040503050406030204" pitchFamily="18" charset="0"/>
                                    </a:rPr>
                                  </m:ctrlPr>
                                </m:sSubSupPr>
                                <m:e>
                                  <m:r>
                                    <a:rPr lang="zh-CN" altLang="en-US" sz="1200" b="1" i="1" smtClean="0">
                                      <a:latin typeface="Cambria Math" panose="02040503050406030204" pitchFamily="18" charset="0"/>
                                    </a:rPr>
                                    <m:t>𝑄</m:t>
                                  </m:r>
                                </m:e>
                                <m:sub>
                                  <m:r>
                                    <a:rPr lang="zh-CN" altLang="en-US" sz="1200" b="1" i="1" smtClean="0">
                                      <a:latin typeface="Cambria Math" panose="02040503050406030204" pitchFamily="18" charset="0"/>
                                    </a:rPr>
                                    <m:t>𝑧𝑧</m:t>
                                  </m:r>
                                </m:sub>
                                <m:sup>
                                  <m:r>
                                    <a:rPr lang="zh-CN" altLang="en-US" sz="1200" b="1" i="1" smtClean="0">
                                      <a:latin typeface="Cambria Math" panose="02040503050406030204" pitchFamily="18" charset="0"/>
                                    </a:rPr>
                                    <m:t>−1</m:t>
                                  </m:r>
                                </m:sup>
                              </m:sSubSup>
                              <m:sSub>
                                <m:sSubPr>
                                  <m:ctrlPr>
                                    <a:rPr lang="zh-CN" altLang="en-US" sz="1200" b="1" i="1" smtClean="0">
                                      <a:latin typeface="Cambria Math" panose="02040503050406030204" pitchFamily="18" charset="0"/>
                                    </a:rPr>
                                  </m:ctrlPr>
                                </m:sSubPr>
                                <m:e>
                                  <m:r>
                                    <a:rPr lang="zh-CN" altLang="en-US" sz="1200" b="1" i="1" smtClean="0">
                                      <a:latin typeface="Cambria Math" panose="02040503050406030204" pitchFamily="18" charset="0"/>
                                    </a:rPr>
                                    <m:t>𝑄</m:t>
                                  </m:r>
                                </m:e>
                                <m:sub>
                                  <m:r>
                                    <a:rPr lang="zh-CN" altLang="en-US" sz="1200" b="1" i="1" smtClean="0">
                                      <a:latin typeface="Cambria Math" panose="02040503050406030204" pitchFamily="18" charset="0"/>
                                    </a:rPr>
                                    <m:t>𝑧𝑥</m:t>
                                  </m:r>
                                </m:sub>
                              </m:sSub>
                            </m:e>
                          </m:d>
                        </m:e>
                        <m:sup>
                          <m:r>
                            <a:rPr lang="zh-CN" altLang="en-US" sz="1200" b="1" i="1" smtClean="0">
                              <a:latin typeface="Cambria Math" panose="02040503050406030204" pitchFamily="18" charset="0"/>
                            </a:rPr>
                            <m:t>−1</m:t>
                          </m:r>
                        </m:sup>
                      </m:sSup>
                      <m:r>
                        <a:rPr lang="zh-CN" altLang="en-US" sz="1200" b="1" i="1" smtClean="0">
                          <a:latin typeface="Cambria Math" panose="02040503050406030204" pitchFamily="18" charset="0"/>
                        </a:rPr>
                        <m:t>.</m:t>
                      </m:r>
                    </m:oMath>
                  </m:oMathPara>
                </a14:m>
                <a:endParaRPr lang="zh-CN" altLang="en-US" sz="1200" b="1" dirty="0"/>
              </a:p>
            </p:txBody>
          </p:sp>
        </mc:Choice>
        <mc:Fallback xmlns="">
          <p:sp>
            <p:nvSpPr>
              <p:cNvPr id="3" name="内容占位符 2">
                <a:extLst>
                  <a:ext uri="{FF2B5EF4-FFF2-40B4-BE49-F238E27FC236}">
                    <a16:creationId xmlns:a16="http://schemas.microsoft.com/office/drawing/2014/main" id="{F2D58A73-2BE7-D94C-0777-76F44E8C7006}"/>
                  </a:ext>
                </a:extLst>
              </p:cNvPr>
              <p:cNvSpPr>
                <a:spLocks noGrp="1" noRot="1" noChangeAspect="1" noMove="1" noResize="1" noEditPoints="1" noAdjustHandles="1" noChangeArrowheads="1" noChangeShapeType="1" noTextEdit="1"/>
              </p:cNvSpPr>
              <p:nvPr>
                <p:ph idx="1"/>
              </p:nvPr>
            </p:nvSpPr>
            <p:spPr>
              <a:blipFill>
                <a:blip r:embed="rId2"/>
                <a:stretch>
                  <a:fillRect b="-434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64F9FCC-452F-54A1-BE3D-30F86166B70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516D9BA-773C-CCD3-DF57-EB5A88A24436}"/>
              </a:ext>
            </a:extLst>
          </p:cNvPr>
          <p:cNvSpPr>
            <a:spLocks noGrp="1"/>
          </p:cNvSpPr>
          <p:nvPr>
            <p:ph type="sldNum" sz="quarter" idx="12"/>
          </p:nvPr>
        </p:nvSpPr>
        <p:spPr/>
        <p:txBody>
          <a:bodyPr/>
          <a:lstStyle/>
          <a:p>
            <a:fld id="{D41FC515-8169-4A29-AA56-DBE520D5741B}" type="slidenum">
              <a:rPr lang="zh-CN" altLang="en-US" smtClean="0"/>
              <a:t>21</a:t>
            </a:fld>
            <a:endParaRPr lang="zh-CN" altLang="en-US"/>
          </a:p>
        </p:txBody>
      </p:sp>
    </p:spTree>
    <p:extLst>
      <p:ext uri="{BB962C8B-B14F-4D97-AF65-F5344CB8AC3E}">
        <p14:creationId xmlns:p14="http://schemas.microsoft.com/office/powerpoint/2010/main" val="2295211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348C7A-B212-C81E-1347-2BE81F8A4330}"/>
              </a:ext>
            </a:extLst>
          </p:cNvPr>
          <p:cNvSpPr>
            <a:spLocks noGrp="1"/>
          </p:cNvSpPr>
          <p:nvPr>
            <p:ph type="title"/>
          </p:nvPr>
        </p:nvSpPr>
        <p:spPr/>
        <p:txBody>
          <a:bodyPr/>
          <a:lstStyle/>
          <a:p>
            <a:r>
              <a:rPr lang="zh-CN" altLang="en-US" dirty="0"/>
              <a:t>经典工具变量法</a:t>
            </a:r>
            <a:br>
              <a:rPr lang="zh-CN" altLang="en-US" dirty="0"/>
            </a:br>
            <a:r>
              <a:rPr lang="zh-CN" altLang="en-US" sz="2400" dirty="0"/>
              <a:t>控制函数法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05F2626-AF89-43CB-115D-7DB7344797FC}"/>
                  </a:ext>
                </a:extLst>
              </p:cNvPr>
              <p:cNvSpPr>
                <a:spLocks noGrp="1"/>
              </p:cNvSpPr>
              <p:nvPr>
                <p:ph idx="1"/>
              </p:nvPr>
            </p:nvSpPr>
            <p:spPr/>
            <p:txBody>
              <a:bodyPr>
                <a:normAutofit fontScale="62500" lnSpcReduction="20000"/>
              </a:bodyPr>
              <a:lstStyle/>
              <a:p>
                <a:pPr>
                  <a:lnSpc>
                    <a:spcPct val="120000"/>
                  </a:lnSpc>
                </a:pPr>
                <a:r>
                  <a:rPr lang="zh-CN" altLang="en-US" dirty="0"/>
                  <a:t>考虑下列模型：</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𝑒</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e>
                      </m:eqArr>
                    </m:oMath>
                  </m:oMathPara>
                </a14:m>
                <a:endParaRPr lang="en-US" altLang="zh-CN" dirty="0"/>
              </a:p>
              <a:p>
                <a:pPr>
                  <a:lnSpc>
                    <a:spcPct val="120000"/>
                  </a:lnSpc>
                </a:pP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𝑋</m:t>
                        </m:r>
                      </m:e>
                      <m:sub>
                        <m:r>
                          <a:rPr lang="en-US" altLang="zh-CN" i="1" dirty="0">
                            <a:latin typeface="Cambria Math" panose="02040503050406030204" pitchFamily="18" charset="0"/>
                          </a:rPr>
                          <m:t>2</m:t>
                        </m:r>
                        <m:r>
                          <a:rPr lang="zh-CN" altLang="en-US" i="1" dirty="0">
                            <a:latin typeface="Cambria Math" panose="02040503050406030204" pitchFamily="18" charset="0"/>
                          </a:rPr>
                          <m:t>𝑖</m:t>
                        </m:r>
                      </m:sub>
                    </m:sSub>
                    <m:r>
                      <a:rPr lang="zh-CN" altLang="en-US" i="1" dirty="0">
                        <a:latin typeface="Cambria Math" panose="02040503050406030204" pitchFamily="18" charset="0"/>
                      </a:rPr>
                      <m:t> </m:t>
                    </m:r>
                  </m:oMath>
                </a14:m>
                <a:r>
                  <a:rPr lang="zh-CN" altLang="en-US" dirty="0"/>
                  <a:t>是内生的，内生主要是由</a:t>
                </a:r>
                <a14:m>
                  <m:oMath xmlns:m="http://schemas.openxmlformats.org/officeDocument/2006/math">
                    <m:sSubSup>
                      <m:sSubSupPr>
                        <m:ctrlPr>
                          <a:rPr lang="zh-CN" altLang="en-US" i="1" dirty="0" smtClean="0">
                            <a:latin typeface="Cambria Math" panose="02040503050406030204" pitchFamily="18" charset="0"/>
                          </a:rPr>
                        </m:ctrlPr>
                      </m:sSubSupPr>
                      <m:e>
                        <m:r>
                          <a:rPr lang="zh-CN" altLang="en-US" i="1" dirty="0" smtClean="0">
                            <a:latin typeface="Cambria Math" panose="02040503050406030204" pitchFamily="18" charset="0"/>
                          </a:rPr>
                          <m:t>𝑣</m:t>
                        </m:r>
                      </m:e>
                      <m:sub>
                        <m:r>
                          <a:rPr lang="zh-CN" altLang="en-US" i="1" dirty="0" smtClean="0">
                            <a:latin typeface="Cambria Math" panose="02040503050406030204" pitchFamily="18" charset="0"/>
                          </a:rPr>
                          <m:t>𝑖</m:t>
                        </m:r>
                      </m:sub>
                      <m:sup>
                        <m:r>
                          <a:rPr lang="en-US" altLang="zh-CN" i="1" dirty="0" smtClean="0">
                            <a:latin typeface="Cambria Math" panose="02040503050406030204" pitchFamily="18" charset="0"/>
                          </a:rPr>
                          <m:t>′</m:t>
                        </m:r>
                      </m:sup>
                    </m:sSubSup>
                  </m:oMath>
                </a14:m>
                <a:r>
                  <a:rPr lang="zh-CN" altLang="en-US" dirty="0"/>
                  <a:t> 和</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𝑒</m:t>
                        </m:r>
                      </m:e>
                      <m:sub>
                        <m:r>
                          <a:rPr lang="zh-CN" altLang="en-US" i="1" dirty="0" smtClean="0">
                            <a:latin typeface="Cambria Math" panose="02040503050406030204" pitchFamily="18" charset="0"/>
                          </a:rPr>
                          <m:t>𝑖</m:t>
                        </m:r>
                      </m:sub>
                    </m:sSub>
                  </m:oMath>
                </a14:m>
                <a:r>
                  <a:rPr lang="zh-CN" altLang="en-US" dirty="0"/>
                  <a:t> 相关造成的，作下列线性投影：</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𝑒</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𝜉</m:t>
                      </m:r>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并代入第</a:t>
                </a:r>
                <a:r>
                  <a:rPr lang="en-US" altLang="zh-CN" dirty="0"/>
                  <a:t>1 </a:t>
                </a:r>
                <a:r>
                  <a:rPr lang="zh-CN" altLang="en-US" dirty="0"/>
                  <a:t>式，得</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𝜉</m:t>
                      </m:r>
                      <m:r>
                        <a:rPr lang="zh-CN" altLang="en-US" i="1" smtClean="0">
                          <a:latin typeface="Cambria Math" panose="02040503050406030204" pitchFamily="18" charset="0"/>
                        </a:rPr>
                        <m:t>,</m:t>
                      </m:r>
                    </m:oMath>
                  </m:oMathPara>
                </a14:m>
                <a:endParaRPr lang="en-US" altLang="zh-CN" dirty="0"/>
              </a:p>
              <a:p>
                <a:pPr>
                  <a:lnSpc>
                    <a:spcPct val="120000"/>
                  </a:lnSpc>
                </a:pP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𝑣</m:t>
                        </m:r>
                      </m:e>
                      <m:sub>
                        <m:r>
                          <a:rPr lang="zh-CN" altLang="en-US" i="1" dirty="0" smtClean="0">
                            <a:latin typeface="Cambria Math" panose="02040503050406030204" pitchFamily="18" charset="0"/>
                          </a:rPr>
                          <m:t>𝑖</m:t>
                        </m:r>
                      </m:sub>
                    </m:sSub>
                  </m:oMath>
                </a14:m>
                <a:r>
                  <a:rPr lang="zh-CN" altLang="en-US" dirty="0"/>
                  <a:t> 是不可观测的，可以用第一阶段的回归残差 </a:t>
                </a:r>
                <a14:m>
                  <m:oMath xmlns:m="http://schemas.openxmlformats.org/officeDocument/2006/math">
                    <m:acc>
                      <m:accPr>
                        <m:chr m:val="̂"/>
                        <m:ctrlPr>
                          <a:rPr lang="zh-CN" altLang="en-US" i="1" dirty="0" smtClean="0">
                            <a:latin typeface="Cambria Math" panose="02040503050406030204" pitchFamily="18" charset="0"/>
                          </a:rPr>
                        </m:ctrlPr>
                      </m:accPr>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𝑣</m:t>
                            </m:r>
                          </m:e>
                          <m:sub>
                            <m:r>
                              <a:rPr lang="zh-CN" altLang="en-US" i="1" dirty="0" smtClean="0">
                                <a:latin typeface="Cambria Math" panose="02040503050406030204" pitchFamily="18" charset="0"/>
                              </a:rPr>
                              <m:t>𝑖</m:t>
                            </m:r>
                          </m:sub>
                        </m:sSub>
                      </m:e>
                    </m:acc>
                  </m:oMath>
                </a14:m>
                <a:r>
                  <a:rPr lang="zh-CN" altLang="en-US" dirty="0"/>
                  <a:t> 代替，估计下列模型：</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𝑣</m:t>
                                  </m:r>
                                </m:e>
                              </m:acc>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𝜉</m:t>
                              </m:r>
                            </m:e>
                          </m:acc>
                          <m:r>
                            <a:rPr lang="zh-CN" altLang="en-US" i="1" smtClean="0">
                              <a:latin typeface="Cambria Math" panose="02040503050406030204" pitchFamily="18" charset="0"/>
                            </a:rPr>
                            <m:t>,</m:t>
                          </m:r>
                        </m:e>
                      </m:eqArr>
                    </m:oMath>
                  </m:oMathPara>
                </a14:m>
                <a:endParaRPr lang="en-US" altLang="zh-CN" dirty="0"/>
              </a:p>
              <a:p>
                <a:pPr>
                  <a:lnSpc>
                    <a:spcPct val="120000"/>
                  </a:lnSpc>
                </a:pPr>
                <a:r>
                  <a:rPr lang="zh-CN" altLang="en-US" dirty="0"/>
                  <a:t>可以证明控制函数法 </a:t>
                </a:r>
                <a:r>
                  <a:rPr lang="en-US" altLang="zh-CN" dirty="0"/>
                  <a:t>(15) </a:t>
                </a:r>
                <a:r>
                  <a:rPr lang="zh-CN" altLang="en-US" dirty="0"/>
                  <a:t>得到的估计量 </a:t>
                </a:r>
                <a14:m>
                  <m:oMath xmlns:m="http://schemas.openxmlformats.org/officeDocument/2006/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𝛽</m:t>
                        </m:r>
                      </m:e>
                    </m:acc>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𝛽</m:t>
                            </m:r>
                          </m:e>
                        </m:acc>
                      </m:e>
                      <m:sub>
                        <m:r>
                          <a:rPr lang="en-US" altLang="zh-CN" i="1" dirty="0">
                            <a:latin typeface="Cambria Math" panose="02040503050406030204" pitchFamily="18" charset="0"/>
                          </a:rPr>
                          <m:t>2</m:t>
                        </m:r>
                        <m:r>
                          <a:rPr lang="zh-CN" altLang="en-US" i="1" dirty="0">
                            <a:latin typeface="Cambria Math" panose="02040503050406030204" pitchFamily="18" charset="0"/>
                          </a:rPr>
                          <m:t>𝑠𝑙𝑠</m:t>
                        </m:r>
                      </m:sub>
                    </m:sSub>
                  </m:oMath>
                </a14:m>
                <a:r>
                  <a:rPr lang="zh-CN" altLang="en-US" dirty="0"/>
                  <a:t>（参见 </a:t>
                </a:r>
                <a:r>
                  <a:rPr lang="en-US" altLang="zh-CN" dirty="0"/>
                  <a:t>Hansen(2021)</a:t>
                </a:r>
                <a:r>
                  <a:rPr lang="zh-CN" altLang="en-US" dirty="0"/>
                  <a:t>）</a:t>
                </a:r>
              </a:p>
            </p:txBody>
          </p:sp>
        </mc:Choice>
        <mc:Fallback xmlns="">
          <p:sp>
            <p:nvSpPr>
              <p:cNvPr id="3" name="内容占位符 2">
                <a:extLst>
                  <a:ext uri="{FF2B5EF4-FFF2-40B4-BE49-F238E27FC236}">
                    <a16:creationId xmlns:a16="http://schemas.microsoft.com/office/drawing/2014/main" id="{905F2626-AF89-43CB-115D-7DB7344797FC}"/>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7437E13-293E-FEAD-7710-C1541FB240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241F735-0D58-24B2-7BE0-D825E60AA5D5}"/>
              </a:ext>
            </a:extLst>
          </p:cNvPr>
          <p:cNvSpPr>
            <a:spLocks noGrp="1"/>
          </p:cNvSpPr>
          <p:nvPr>
            <p:ph type="sldNum" sz="quarter" idx="12"/>
          </p:nvPr>
        </p:nvSpPr>
        <p:spPr/>
        <p:txBody>
          <a:bodyPr/>
          <a:lstStyle/>
          <a:p>
            <a:fld id="{D41FC515-8169-4A29-AA56-DBE520D5741B}" type="slidenum">
              <a:rPr lang="zh-CN" altLang="en-US" smtClean="0"/>
              <a:t>22</a:t>
            </a:fld>
            <a:endParaRPr lang="zh-CN" altLang="en-US"/>
          </a:p>
        </p:txBody>
      </p:sp>
    </p:spTree>
    <p:extLst>
      <p:ext uri="{BB962C8B-B14F-4D97-AF65-F5344CB8AC3E}">
        <p14:creationId xmlns:p14="http://schemas.microsoft.com/office/powerpoint/2010/main" val="2920285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79C229-5008-E424-2D03-33E31647B9FB}"/>
              </a:ext>
            </a:extLst>
          </p:cNvPr>
          <p:cNvSpPr>
            <a:spLocks noGrp="1"/>
          </p:cNvSpPr>
          <p:nvPr>
            <p:ph type="title"/>
          </p:nvPr>
        </p:nvSpPr>
        <p:spPr/>
        <p:txBody>
          <a:bodyPr/>
          <a:lstStyle/>
          <a:p>
            <a:r>
              <a:rPr lang="zh-CN" altLang="en-US" dirty="0"/>
              <a:t>经典工具变量法</a:t>
            </a:r>
          </a:p>
        </p:txBody>
      </p:sp>
      <p:sp>
        <p:nvSpPr>
          <p:cNvPr id="3" name="内容占位符 2">
            <a:extLst>
              <a:ext uri="{FF2B5EF4-FFF2-40B4-BE49-F238E27FC236}">
                <a16:creationId xmlns:a16="http://schemas.microsoft.com/office/drawing/2014/main" id="{C6545C0C-25C1-A8DC-89A9-6F09F665F73D}"/>
              </a:ext>
            </a:extLst>
          </p:cNvPr>
          <p:cNvSpPr>
            <a:spLocks noGrp="1"/>
          </p:cNvSpPr>
          <p:nvPr>
            <p:ph idx="1"/>
          </p:nvPr>
        </p:nvSpPr>
        <p:spPr/>
        <p:txBody>
          <a:bodyPr/>
          <a:lstStyle/>
          <a:p>
            <a:r>
              <a:rPr lang="zh-CN" altLang="en-US" dirty="0"/>
              <a:t>有效工具变量的基本条件：相关性和外生性（独立性和排除性）</a:t>
            </a:r>
          </a:p>
          <a:p>
            <a:r>
              <a:rPr lang="zh-CN" altLang="en-US" dirty="0"/>
              <a:t>思考工具变量：内生性产生的原因（遗漏变量、反向因果）</a:t>
            </a:r>
            <a:endParaRPr lang="en-US" altLang="zh-CN" dirty="0"/>
          </a:p>
          <a:p>
            <a:r>
              <a:rPr lang="zh-CN" altLang="en-US" dirty="0"/>
              <a:t>一些检验：</a:t>
            </a:r>
            <a:endParaRPr lang="en-US" altLang="zh-CN" dirty="0"/>
          </a:p>
          <a:p>
            <a:pPr lvl="1"/>
            <a:r>
              <a:rPr lang="zh-CN" altLang="en-US" dirty="0"/>
              <a:t>内生性检验：</a:t>
            </a:r>
            <a:r>
              <a:rPr lang="en-US" altLang="zh-CN" dirty="0" err="1"/>
              <a:t>estat</a:t>
            </a:r>
            <a:r>
              <a:rPr lang="en-US" altLang="zh-CN" dirty="0"/>
              <a:t> endogenous</a:t>
            </a:r>
          </a:p>
          <a:p>
            <a:pPr lvl="1"/>
            <a:r>
              <a:rPr lang="zh-CN" altLang="en-US" dirty="0"/>
              <a:t>弱工具检验：</a:t>
            </a:r>
            <a:r>
              <a:rPr lang="en-US" altLang="zh-CN" dirty="0" err="1"/>
              <a:t>estat</a:t>
            </a:r>
            <a:r>
              <a:rPr lang="en-US" altLang="zh-CN" dirty="0"/>
              <a:t> </a:t>
            </a:r>
            <a:r>
              <a:rPr lang="en-US" altLang="zh-CN" dirty="0" err="1"/>
              <a:t>firststage</a:t>
            </a:r>
            <a:endParaRPr lang="en-US" altLang="zh-CN" dirty="0"/>
          </a:p>
          <a:p>
            <a:pPr lvl="1"/>
            <a:r>
              <a:rPr lang="zh-CN" altLang="en-US" dirty="0"/>
              <a:t>过度识别检验：</a:t>
            </a:r>
            <a:r>
              <a:rPr lang="en-US" altLang="zh-CN" dirty="0" err="1"/>
              <a:t>estat</a:t>
            </a:r>
            <a:r>
              <a:rPr lang="en-US" altLang="zh-CN" dirty="0"/>
              <a:t> </a:t>
            </a:r>
            <a:r>
              <a:rPr lang="en-US" altLang="zh-CN" dirty="0" err="1"/>
              <a:t>overid</a:t>
            </a:r>
            <a:endParaRPr lang="en-US" altLang="zh-CN" dirty="0"/>
          </a:p>
          <a:p>
            <a:pPr lvl="1"/>
            <a:r>
              <a:rPr lang="zh-CN" altLang="en-US" dirty="0"/>
              <a:t>用户写命令</a:t>
            </a:r>
            <a:r>
              <a:rPr lang="en-US" altLang="zh-CN" dirty="0"/>
              <a:t>ivreg2, </a:t>
            </a:r>
            <a:r>
              <a:rPr lang="en-US" altLang="zh-CN" dirty="0" err="1"/>
              <a:t>ivreghdfe</a:t>
            </a:r>
            <a:r>
              <a:rPr lang="en-US" altLang="zh-CN" dirty="0"/>
              <a:t> </a:t>
            </a:r>
            <a:r>
              <a:rPr lang="zh-CN" altLang="en-US" dirty="0"/>
              <a:t>会自动报告主要检验统计。</a:t>
            </a:r>
          </a:p>
        </p:txBody>
      </p:sp>
      <p:sp>
        <p:nvSpPr>
          <p:cNvPr id="4" name="页脚占位符 3">
            <a:extLst>
              <a:ext uri="{FF2B5EF4-FFF2-40B4-BE49-F238E27FC236}">
                <a16:creationId xmlns:a16="http://schemas.microsoft.com/office/drawing/2014/main" id="{7ED8E6F5-8ADE-9D68-4D8A-5AB7E82DA2A3}"/>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7DF68A6-FFE7-26CF-409E-380D28FDB5B2}"/>
              </a:ext>
            </a:extLst>
          </p:cNvPr>
          <p:cNvSpPr>
            <a:spLocks noGrp="1"/>
          </p:cNvSpPr>
          <p:nvPr>
            <p:ph type="sldNum" sz="quarter" idx="12"/>
          </p:nvPr>
        </p:nvSpPr>
        <p:spPr/>
        <p:txBody>
          <a:bodyPr/>
          <a:lstStyle/>
          <a:p>
            <a:fld id="{D41FC515-8169-4A29-AA56-DBE520D5741B}" type="slidenum">
              <a:rPr lang="zh-CN" altLang="en-US" smtClean="0"/>
              <a:t>23</a:t>
            </a:fld>
            <a:endParaRPr lang="zh-CN" altLang="en-US"/>
          </a:p>
        </p:txBody>
      </p:sp>
    </p:spTree>
    <p:extLst>
      <p:ext uri="{BB962C8B-B14F-4D97-AF65-F5344CB8AC3E}">
        <p14:creationId xmlns:p14="http://schemas.microsoft.com/office/powerpoint/2010/main" val="986190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996035-5C2F-A06A-12E3-230753084858}"/>
              </a:ext>
            </a:extLst>
          </p:cNvPr>
          <p:cNvSpPr>
            <a:spLocks noGrp="1"/>
          </p:cNvSpPr>
          <p:nvPr>
            <p:ph type="title"/>
          </p:nvPr>
        </p:nvSpPr>
        <p:spPr/>
        <p:txBody>
          <a:bodyPr/>
          <a:lstStyle/>
          <a:p>
            <a:r>
              <a:rPr lang="en-US" altLang="zh-CN" dirty="0"/>
              <a:t>LATE </a:t>
            </a:r>
            <a:r>
              <a:rPr lang="zh-CN" altLang="en-US" dirty="0"/>
              <a:t>框架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7939BD2-E09E-6756-5150-2D231BEF51B5}"/>
                  </a:ext>
                </a:extLst>
              </p:cNvPr>
              <p:cNvSpPr>
                <a:spLocks noGrp="1"/>
              </p:cNvSpPr>
              <p:nvPr>
                <p:ph idx="1"/>
              </p:nvPr>
            </p:nvSpPr>
            <p:spPr/>
            <p:txBody>
              <a:bodyPr>
                <a:normAutofit fontScale="77500" lnSpcReduction="20000"/>
              </a:bodyPr>
              <a:lstStyle/>
              <a:p>
                <a:pPr>
                  <a:lnSpc>
                    <a:spcPct val="120000"/>
                  </a:lnSpc>
                </a:pPr>
                <a:r>
                  <a:rPr lang="en-US" altLang="zh-CN" dirty="0"/>
                  <a:t>Imbens and Angrist (1994)</a:t>
                </a:r>
                <a:r>
                  <a:rPr lang="zh-CN" altLang="en-US" dirty="0"/>
                  <a:t>、</a:t>
                </a:r>
                <a:r>
                  <a:rPr lang="en-US" altLang="zh-CN" dirty="0"/>
                  <a:t>Angrist, </a:t>
                </a:r>
                <a:r>
                  <a:rPr lang="en-US" altLang="zh-CN" dirty="0" err="1"/>
                  <a:t>Imbens</a:t>
                </a:r>
                <a:r>
                  <a:rPr lang="en-US" altLang="zh-CN" dirty="0"/>
                  <a:t> and Rubin(1996) </a:t>
                </a:r>
                <a:r>
                  <a:rPr lang="zh-CN" altLang="en-US" dirty="0"/>
                  <a:t>提出异质性工具变量法。</a:t>
                </a:r>
                <a:endParaRPr lang="en-US" altLang="zh-CN" dirty="0"/>
              </a:p>
              <a:p>
                <a:pPr>
                  <a:lnSpc>
                    <a:spcPct val="120000"/>
                  </a:lnSpc>
                </a:pPr>
                <a:r>
                  <a:rPr lang="zh-CN" altLang="en-US" dirty="0"/>
                  <a:t>新的符号</a:t>
                </a:r>
                <a:endParaRPr lang="en-US" altLang="zh-CN" dirty="0"/>
              </a:p>
              <a:p>
                <a:pPr lvl="1">
                  <a:lnSpc>
                    <a:spcPct val="120000"/>
                  </a:lnSpc>
                </a:pPr>
                <a:r>
                  <a:rPr lang="zh-CN" altLang="en-US" dirty="0"/>
                  <a:t>𝑌</a:t>
                </a:r>
                <a:r>
                  <a:rPr lang="zh-CN" altLang="en-US" sz="400" dirty="0"/>
                  <a:t>𝑖</a:t>
                </a:r>
                <a:r>
                  <a:rPr lang="en-US" altLang="zh-CN" dirty="0"/>
                  <a:t>(</a:t>
                </a:r>
                <a:r>
                  <a:rPr lang="zh-CN" altLang="en-US" dirty="0"/>
                  <a:t>𝑑</a:t>
                </a:r>
                <a:r>
                  <a:rPr lang="en-US" altLang="zh-CN" dirty="0"/>
                  <a:t>, </a:t>
                </a:r>
                <a:r>
                  <a:rPr lang="zh-CN" altLang="en-US" dirty="0"/>
                  <a:t>𝑧</a:t>
                </a:r>
                <a:r>
                  <a:rPr lang="en-US" altLang="zh-CN" dirty="0"/>
                  <a:t>) </a:t>
                </a:r>
                <a:r>
                  <a:rPr lang="zh-CN" altLang="en-US" dirty="0"/>
                  <a:t>表示个体𝑖 在𝐷</a:t>
                </a:r>
                <a:r>
                  <a:rPr lang="zh-CN" altLang="en-US" sz="400" dirty="0"/>
                  <a:t>𝑖 </a:t>
                </a:r>
                <a:r>
                  <a:rPr lang="en-US" altLang="zh-CN" dirty="0"/>
                  <a:t>= </a:t>
                </a:r>
                <a:r>
                  <a:rPr lang="zh-CN" altLang="en-US" dirty="0"/>
                  <a:t>𝑑 和𝑍</a:t>
                </a:r>
                <a:r>
                  <a:rPr lang="zh-CN" altLang="en-US" sz="400" dirty="0"/>
                  <a:t>𝑖 </a:t>
                </a:r>
                <a:r>
                  <a:rPr lang="en-US" altLang="zh-CN" dirty="0"/>
                  <a:t>= </a:t>
                </a:r>
                <a:r>
                  <a:rPr lang="zh-CN" altLang="en-US" dirty="0"/>
                  <a:t>𝑧 下的潜在结果。假设𝐷</a:t>
                </a:r>
                <a:r>
                  <a:rPr lang="zh-CN" altLang="en-US" sz="400" dirty="0"/>
                  <a:t>𝑖 </a:t>
                </a:r>
                <a:r>
                  <a:rPr lang="zh-CN" altLang="en-US" dirty="0"/>
                  <a:t>和𝑍</a:t>
                </a:r>
                <a:r>
                  <a:rPr lang="zh-CN" altLang="en-US" sz="400" dirty="0"/>
                  <a:t>𝑖 </a:t>
                </a:r>
                <a:r>
                  <a:rPr lang="zh-CN" altLang="en-US" dirty="0"/>
                  <a:t>都是二值变量，从而有</a:t>
                </a:r>
                <a:r>
                  <a:rPr lang="en-US" altLang="zh-CN" dirty="0"/>
                  <a:t>4 </a:t>
                </a:r>
                <a:r>
                  <a:rPr lang="zh-CN" altLang="en-US" dirty="0"/>
                  <a:t>个潜在结果，对应于</a:t>
                </a:r>
                <a:r>
                  <a:rPr lang="en-US" altLang="zh-CN" dirty="0"/>
                  <a:t>(</a:t>
                </a:r>
                <a:r>
                  <a:rPr lang="zh-CN" altLang="en-US" dirty="0"/>
                  <a:t>𝐷</a:t>
                </a:r>
                <a:r>
                  <a:rPr lang="zh-CN" altLang="en-US" sz="400" dirty="0"/>
                  <a:t>𝑖</a:t>
                </a:r>
                <a:r>
                  <a:rPr lang="en-US" altLang="zh-CN" dirty="0"/>
                  <a:t>, </a:t>
                </a:r>
                <a:r>
                  <a:rPr lang="zh-CN" altLang="en-US" dirty="0"/>
                  <a:t>𝑍</a:t>
                </a:r>
                <a:r>
                  <a:rPr lang="zh-CN" altLang="en-US" sz="400" dirty="0"/>
                  <a:t>𝑖</a:t>
                </a:r>
                <a:r>
                  <a:rPr lang="en-US" altLang="zh-CN" dirty="0"/>
                  <a:t>) </a:t>
                </a:r>
                <a:r>
                  <a:rPr lang="zh-CN" altLang="en-US" dirty="0"/>
                  <a:t>的四种聚值状态。</a:t>
                </a:r>
                <a:endParaRPr lang="en-US" altLang="zh-CN" dirty="0"/>
              </a:p>
              <a:p>
                <a:pPr lvl="1">
                  <a:lnSpc>
                    <a:spcPct val="120000"/>
                  </a:lnSpc>
                </a:pP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r>
                      <a:rPr lang="en-US" altLang="zh-CN" i="1" dirty="0">
                        <a:latin typeface="Cambria Math" panose="02040503050406030204" pitchFamily="18" charset="0"/>
                      </a:rPr>
                      <m:t>(1, 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oMath>
                </a14:m>
                <a:r>
                  <a:rPr lang="zh-CN" altLang="en-US" dirty="0"/>
                  <a:t>表示工具变量不变，干预的因果影响。</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1)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0) </m:t>
                    </m:r>
                  </m:oMath>
                </a14:m>
                <a:r>
                  <a:rPr lang="zh-CN" altLang="en-US" dirty="0"/>
                  <a:t>表示干预变量不变，工具对结果的因果影响。</a:t>
                </a:r>
                <a:endParaRPr lang="en-US" altLang="zh-CN" dirty="0"/>
              </a:p>
              <a:p>
                <a:pPr lvl="1">
                  <a:lnSpc>
                    <a:spcPct val="120000"/>
                  </a:lnSpc>
                </a:pPr>
                <a:r>
                  <a:rPr lang="zh-CN" altLang="en-US" dirty="0"/>
                  <a:t>为了反映工具对</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oMath>
                </a14:m>
                <a:r>
                  <a:rPr lang="zh-CN" altLang="en-US" dirty="0"/>
                  <a:t>的影响，分别用</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en-US" altLang="zh-CN" i="1" dirty="0">
                        <a:latin typeface="Cambria Math" panose="02040503050406030204" pitchFamily="18" charset="0"/>
                      </a:rPr>
                      <m:t>(0) </m:t>
                    </m:r>
                  </m:oMath>
                </a14:m>
                <a:r>
                  <a:rPr lang="zh-CN" altLang="en-US" dirty="0"/>
                  <a:t>和</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en-US" altLang="zh-CN" i="1" dirty="0">
                        <a:latin typeface="Cambria Math" panose="02040503050406030204" pitchFamily="18" charset="0"/>
                      </a:rPr>
                      <m:t>(1) </m:t>
                    </m:r>
                  </m:oMath>
                </a14:m>
                <a:r>
                  <a:rPr lang="zh-CN" altLang="en-US" dirty="0"/>
                  <a:t>表示工具变量取</a:t>
                </a:r>
                <a:r>
                  <a:rPr lang="en-US" altLang="zh-CN" dirty="0"/>
                  <a:t>0 </a:t>
                </a:r>
                <a:r>
                  <a:rPr lang="zh-CN" altLang="en-US" dirty="0"/>
                  <a:t>或</a:t>
                </a:r>
                <a:r>
                  <a:rPr lang="en-US" altLang="zh-CN" dirty="0"/>
                  <a:t>1 </a:t>
                </a:r>
                <a:r>
                  <a:rPr lang="zh-CN" altLang="en-US" dirty="0"/>
                  <a:t>时对应的潜在干预状态。观测到的</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oMath>
                </a14:m>
                <a:r>
                  <a:rPr lang="zh-CN" altLang="en-US" dirty="0"/>
                  <a:t>可以写为：</a:t>
                </a:r>
                <a:endParaRPr lang="en-US" altLang="zh-CN" dirty="0"/>
              </a:p>
              <a:p>
                <a:pPr marL="457200" lvl="1"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1</m:t>
                          </m:r>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2</m:t>
                          </m:r>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2</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𝑣</m:t>
                              </m:r>
                            </m:e>
                          </m:acc>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𝜉</m:t>
                          </m:r>
                        </m:e>
                      </m:acc>
                      <m:r>
                        <a:rPr lang="zh-CN" altLang="en-US" i="1" smtClean="0">
                          <a:latin typeface="Cambria Math" panose="02040503050406030204" pitchFamily="18" charset="0"/>
                        </a:rPr>
                        <m:t>,</m:t>
                      </m:r>
                    </m:oMath>
                  </m:oMathPara>
                </a14:m>
                <a:endParaRPr lang="en-US" altLang="zh-CN" dirty="0"/>
              </a:p>
              <a:p>
                <a:pPr marL="457200" lvl="1" indent="0">
                  <a:lnSpc>
                    <a:spcPct val="120000"/>
                  </a:lnSpc>
                  <a:buNone/>
                </a:pPr>
                <a:r>
                  <a:rPr lang="zh-CN" altLang="en-US" dirty="0"/>
                  <a:t>    其中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𝐷</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𝐷</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𝜀</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𝐷</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e>
                    </m:d>
                  </m:oMath>
                </a14:m>
                <a:r>
                  <a:rPr lang="zh-CN" altLang="en-US" dirty="0"/>
                  <a:t>。</a:t>
                </a:r>
              </a:p>
            </p:txBody>
          </p:sp>
        </mc:Choice>
        <mc:Fallback xmlns="">
          <p:sp>
            <p:nvSpPr>
              <p:cNvPr id="3" name="内容占位符 2">
                <a:extLst>
                  <a:ext uri="{FF2B5EF4-FFF2-40B4-BE49-F238E27FC236}">
                    <a16:creationId xmlns:a16="http://schemas.microsoft.com/office/drawing/2014/main" id="{37939BD2-E09E-6756-5150-2D231BEF51B5}"/>
                  </a:ext>
                </a:extLst>
              </p:cNvPr>
              <p:cNvSpPr>
                <a:spLocks noGrp="1" noRot="1" noChangeAspect="1" noMove="1" noResize="1" noEditPoints="1" noAdjustHandles="1" noChangeArrowheads="1" noChangeShapeType="1" noTextEdit="1"/>
              </p:cNvSpPr>
              <p:nvPr>
                <p:ph idx="1"/>
              </p:nvPr>
            </p:nvSpPr>
            <p:spPr>
              <a:blipFill>
                <a:blip r:embed="rId2"/>
                <a:stretch>
                  <a:fillRect l="-850" t="-840" r="-618"/>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F2A9CD57-9536-362B-2A35-20A3FF98B9F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9DB7102-7EB3-AF0C-47BF-DB44D02157F9}"/>
              </a:ext>
            </a:extLst>
          </p:cNvPr>
          <p:cNvSpPr>
            <a:spLocks noGrp="1"/>
          </p:cNvSpPr>
          <p:nvPr>
            <p:ph type="sldNum" sz="quarter" idx="12"/>
          </p:nvPr>
        </p:nvSpPr>
        <p:spPr/>
        <p:txBody>
          <a:bodyPr/>
          <a:lstStyle/>
          <a:p>
            <a:fld id="{D41FC515-8169-4A29-AA56-DBE520D5741B}" type="slidenum">
              <a:rPr lang="zh-CN" altLang="en-US" smtClean="0"/>
              <a:t>24</a:t>
            </a:fld>
            <a:endParaRPr lang="zh-CN" altLang="en-US"/>
          </a:p>
        </p:txBody>
      </p:sp>
    </p:spTree>
    <p:extLst>
      <p:ext uri="{BB962C8B-B14F-4D97-AF65-F5344CB8AC3E}">
        <p14:creationId xmlns:p14="http://schemas.microsoft.com/office/powerpoint/2010/main" val="3125605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A10414-29BD-775D-CB5F-9CA2905CA4BF}"/>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LATE </a:t>
            </a:r>
            <a:r>
              <a:rPr lang="zh-CN" altLang="en-US" sz="2400" dirty="0"/>
              <a:t>定理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5E4FFDC-2EAA-FAEC-28F5-8AB729C17EBF}"/>
                  </a:ext>
                </a:extLst>
              </p:cNvPr>
              <p:cNvSpPr>
                <a:spLocks noGrp="1"/>
              </p:cNvSpPr>
              <p:nvPr>
                <p:ph idx="1"/>
              </p:nvPr>
            </p:nvSpPr>
            <p:spPr/>
            <p:txBody>
              <a:bodyPr>
                <a:normAutofit fontScale="62500" lnSpcReduction="20000"/>
              </a:bodyPr>
              <a:lstStyle/>
              <a:p>
                <a:pPr>
                  <a:lnSpc>
                    <a:spcPct val="120000"/>
                  </a:lnSpc>
                </a:pPr>
                <a:r>
                  <a:rPr lang="zh-CN" altLang="en-US" dirty="0"/>
                  <a:t>假设</a:t>
                </a:r>
                <a:r>
                  <a:rPr lang="en-US" altLang="zh-CN" b="1" dirty="0"/>
                  <a:t>1</a:t>
                </a:r>
                <a:r>
                  <a:rPr lang="zh-CN" altLang="en-US" dirty="0"/>
                  <a:t>（独立性假设）</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d>
                            <m:dPr>
                              <m:begChr m:val="{"/>
                              <m:endChr m:val="}"/>
                              <m:ctrlPr>
                                <a:rPr lang="zh-CN" altLang="en-US" i="1" smtClean="0">
                                  <a:latin typeface="Cambria Math" panose="02040503050406030204" pitchFamily="18" charset="0"/>
                                </a:rPr>
                              </m:ctrlPr>
                            </m:dPr>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𝑑</m:t>
                                      </m:r>
                                      <m:r>
                                        <a:rPr lang="zh-CN" altLang="en-US" i="1" smtClean="0">
                                          <a:latin typeface="Cambria Math" panose="02040503050406030204" pitchFamily="18" charset="0"/>
                                        </a:rPr>
                                        <m:t>,</m:t>
                                      </m:r>
                                      <m:r>
                                        <a:rPr lang="zh-CN" altLang="en-US" i="1" smtClean="0">
                                          <a:latin typeface="Cambria Math" panose="02040503050406030204" pitchFamily="18" charset="0"/>
                                        </a:rPr>
                                        <m:t>𝑧</m:t>
                                      </m:r>
                                    </m:e>
                                  </m:d>
                                  <m:r>
                                    <a:rPr lang="zh-CN" altLang="en-US" i="1" smtClean="0">
                                      <a:latin typeface="Cambria Math" panose="02040503050406030204" pitchFamily="18" charset="0"/>
                                    </a:rPr>
                                    <m:t>;∀</m:t>
                                  </m:r>
                                  <m:r>
                                    <a:rPr lang="zh-CN" altLang="en-US" i="1" smtClean="0">
                                      <a:latin typeface="Cambria Math" panose="02040503050406030204" pitchFamily="18" charset="0"/>
                                    </a:rPr>
                                    <m:t>𝑑</m:t>
                                  </m:r>
                                  <m:r>
                                    <a:rPr lang="zh-CN" altLang="en-US" i="1" smtClean="0">
                                      <a:latin typeface="Cambria Math" panose="02040503050406030204" pitchFamily="18" charset="0"/>
                                    </a:rPr>
                                    <m:t>,</m:t>
                                  </m:r>
                                  <m:r>
                                    <a:rPr lang="zh-CN" altLang="en-US" i="1" smtClean="0">
                                      <a:latin typeface="Cambria Math" panose="02040503050406030204" pitchFamily="18" charset="0"/>
                                    </a:rPr>
                                    <m:t>𝑧</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在这一假设，简化式回归系数可以写为</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,1</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oMath>
                  </m:oMathPara>
                </a14:m>
                <a:endParaRPr lang="en-US" altLang="zh-CN" dirty="0"/>
              </a:p>
              <a:p>
                <a:pPr marL="0" indent="0">
                  <a:lnSpc>
                    <a:spcPct val="120000"/>
                  </a:lnSpc>
                  <a:buNone/>
                </a:pPr>
                <a:r>
                  <a:rPr lang="zh-CN" altLang="en-US" dirty="0"/>
                  <a:t>第一阶段回归系数为</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假设</a:t>
                </a:r>
                <a:r>
                  <a:rPr lang="en-US" altLang="zh-CN" b="1" dirty="0"/>
                  <a:t>2</a:t>
                </a:r>
                <a:r>
                  <a:rPr lang="zh-CN" altLang="en-US" dirty="0"/>
                  <a:t>（排除性假设）</a:t>
                </a:r>
                <a:endParaRPr lang="zh-CN" altLang="en-US" i="1" dirty="0">
                  <a:latin typeface="Cambria Math" panose="02040503050406030204" pitchFamily="18" charset="0"/>
                </a:endParaRPr>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𝑑</m:t>
                          </m:r>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𝑑</m:t>
                          </m:r>
                          <m:r>
                            <a:rPr lang="zh-CN" altLang="en-US" i="1" smtClean="0">
                              <a:latin typeface="Cambria Math" panose="02040503050406030204" pitchFamily="18" charset="0"/>
                            </a:rPr>
                            <m:t>,1</m:t>
                          </m:r>
                        </m:e>
                      </m:d>
                      <m:r>
                        <a:rPr lang="zh-CN" altLang="en-US" i="1" smtClean="0">
                          <a:latin typeface="Cambria Math" panose="02040503050406030204" pitchFamily="18" charset="0"/>
                        </a:rPr>
                        <m:t>, </m:t>
                      </m:r>
                      <m:r>
                        <a:rPr lang="zh-CN" altLang="en-US" i="1" smtClean="0">
                          <a:latin typeface="Cambria Math" panose="02040503050406030204" pitchFamily="18" charset="0"/>
                        </a:rPr>
                        <m:t>𝑑</m:t>
                      </m:r>
                      <m:r>
                        <a:rPr lang="zh-CN" altLang="en-US" i="1" smtClean="0">
                          <a:latin typeface="Cambria Math" panose="02040503050406030204" pitchFamily="18" charset="0"/>
                        </a:rPr>
                        <m:t>=0,1.</m:t>
                      </m:r>
                    </m:oMath>
                  </m:oMathPara>
                </a14:m>
                <a:endParaRPr lang="en-US" altLang="zh-CN" dirty="0"/>
              </a:p>
              <a:p>
                <a:pPr marL="0" indent="0">
                  <a:lnSpc>
                    <a:spcPct val="120000"/>
                  </a:lnSpc>
                  <a:buNone/>
                </a:pPr>
                <a:r>
                  <a:rPr lang="zh-CN" altLang="en-US" dirty="0"/>
                  <a:t>在排除性假设下，有</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0,0</m:t>
                              </m:r>
                            </m:e>
                          </m:d>
                          <m:r>
                            <a:rPr lang="zh-CN" altLang="en-US" i="1" smtClean="0">
                              <a:latin typeface="Cambria Math" panose="02040503050406030204" pitchFamily="18" charset="0"/>
                            </a:rPr>
                            <m:t>,</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1,0</m:t>
                              </m:r>
                            </m:e>
                          </m:d>
                          <m:r>
                            <a:rPr lang="zh-CN" altLang="en-US" i="1" smtClean="0">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75E4FFDC-2EAA-FAEC-28F5-8AB729C17EBF}"/>
                  </a:ext>
                </a:extLst>
              </p:cNvPr>
              <p:cNvSpPr>
                <a:spLocks noGrp="1" noRot="1" noChangeAspect="1" noMove="1" noResize="1" noEditPoints="1" noAdjustHandles="1" noChangeArrowheads="1" noChangeShapeType="1" noTextEdit="1"/>
              </p:cNvSpPr>
              <p:nvPr>
                <p:ph idx="1"/>
              </p:nvPr>
            </p:nvSpPr>
            <p:spPr>
              <a:blipFill>
                <a:blip r:embed="rId2"/>
                <a:stretch>
                  <a:fillRect l="-618"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610FE59-4659-C304-658B-F94FD9929F4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2726763-498B-1F60-DF74-CE9EA540F9FB}"/>
              </a:ext>
            </a:extLst>
          </p:cNvPr>
          <p:cNvSpPr>
            <a:spLocks noGrp="1"/>
          </p:cNvSpPr>
          <p:nvPr>
            <p:ph type="sldNum" sz="quarter" idx="12"/>
          </p:nvPr>
        </p:nvSpPr>
        <p:spPr/>
        <p:txBody>
          <a:bodyPr/>
          <a:lstStyle/>
          <a:p>
            <a:fld id="{D41FC515-8169-4A29-AA56-DBE520D5741B}" type="slidenum">
              <a:rPr lang="zh-CN" altLang="en-US" smtClean="0"/>
              <a:t>25</a:t>
            </a:fld>
            <a:endParaRPr lang="zh-CN" altLang="en-US"/>
          </a:p>
        </p:txBody>
      </p:sp>
    </p:spTree>
    <p:extLst>
      <p:ext uri="{BB962C8B-B14F-4D97-AF65-F5344CB8AC3E}">
        <p14:creationId xmlns:p14="http://schemas.microsoft.com/office/powerpoint/2010/main" val="22349588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1802E9-970B-6AD7-1D64-5185BB889614}"/>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LATE </a:t>
            </a:r>
            <a:r>
              <a:rPr lang="zh-CN" altLang="en-US" sz="2400" dirty="0"/>
              <a:t>定理</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596BCA6-FBC4-8040-E449-9FAB88CD9345}"/>
                  </a:ext>
                </a:extLst>
              </p:cNvPr>
              <p:cNvSpPr>
                <a:spLocks noGrp="1"/>
              </p:cNvSpPr>
              <p:nvPr>
                <p:ph idx="1"/>
              </p:nvPr>
            </p:nvSpPr>
            <p:spPr>
              <a:xfrm>
                <a:off x="628650" y="1825624"/>
                <a:ext cx="7886700" cy="4803775"/>
              </a:xfrm>
            </p:spPr>
            <p:txBody>
              <a:bodyPr>
                <a:normAutofit fontScale="62500" lnSpcReduction="20000"/>
              </a:bodyPr>
              <a:lstStyle/>
              <a:p>
                <a:pPr>
                  <a:lnSpc>
                    <a:spcPct val="120000"/>
                  </a:lnSpc>
                </a:pPr>
                <a:r>
                  <a:rPr lang="zh-CN" altLang="en-US" dirty="0"/>
                  <a:t>假设</a:t>
                </a:r>
                <a:r>
                  <a:rPr lang="en-US" altLang="zh-CN" b="1" dirty="0"/>
                  <a:t>3</a:t>
                </a:r>
                <a:r>
                  <a:rPr lang="zh-CN" altLang="en-US" dirty="0"/>
                  <a:t>（单调性假设）</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 </m:t>
                      </m:r>
                      <m:r>
                        <m:rPr>
                          <m:nor/>
                        </m:rPr>
                        <a:rPr lang="zh-CN" altLang="en-US" i="0" smtClean="0">
                          <a:latin typeface="Cambria Math" panose="02040503050406030204" pitchFamily="18" charset="0"/>
                        </a:rPr>
                        <m:t>或者</m:t>
                      </m:r>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单调性称为一致性</a:t>
                </a:r>
                <a:r>
                  <a:rPr lang="en-US" altLang="zh-CN" dirty="0"/>
                  <a:t>(uniformity) </a:t>
                </a:r>
                <a:r>
                  <a:rPr lang="zh-CN" altLang="en-US" dirty="0"/>
                  <a:t>更恰当</a:t>
                </a:r>
                <a:r>
                  <a:rPr lang="en-US" altLang="zh-CN" dirty="0"/>
                  <a:t>(Heckman et al., 2015)</a:t>
                </a:r>
                <a:r>
                  <a:rPr lang="zh-CN" altLang="en-US" dirty="0"/>
                  <a:t>，它表示工具变量对个人选择的影响是一致的。</a:t>
                </a:r>
                <a:endParaRPr lang="en-US" altLang="zh-CN" dirty="0"/>
              </a:p>
              <a:p>
                <a:pPr>
                  <a:lnSpc>
                    <a:spcPct val="120000"/>
                  </a:lnSpc>
                </a:pPr>
                <a14:m>
                  <m:oMath xmlns:m="http://schemas.openxmlformats.org/officeDocument/2006/math">
                    <m:r>
                      <a:rPr lang="en-US" altLang="zh-CN" i="1" dirty="0" smtClean="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m:t>
                    </m:r>
                  </m:oMath>
                </a14:m>
                <a:r>
                  <a:rPr lang="zh-CN" altLang="en-US" dirty="0"/>
                  <a:t>决定了人群的类型，而这一类型不受干预的影响，类似于协变量。</a:t>
                </a:r>
                <a:r>
                  <a:rPr lang="en-US" altLang="zh-CN" dirty="0" err="1"/>
                  <a:t>Frangakis</a:t>
                </a:r>
                <a:r>
                  <a:rPr lang="en-US" altLang="zh-CN" dirty="0"/>
                  <a:t> and Rubin (2002) </a:t>
                </a:r>
                <a:r>
                  <a:rPr lang="zh-CN" altLang="en-US" dirty="0"/>
                  <a:t>称之为主分层</a:t>
                </a:r>
                <a:r>
                  <a:rPr lang="en-US" altLang="zh-CN" dirty="0"/>
                  <a:t>(principal </a:t>
                </a:r>
                <a:r>
                  <a:rPr lang="en-US" altLang="zh-CN" dirty="0" err="1"/>
                  <a:t>stratifiation</a:t>
                </a:r>
                <a:r>
                  <a:rPr lang="en-US" altLang="zh-CN" dirty="0"/>
                  <a:t>), </a:t>
                </a:r>
                <a:r>
                  <a:rPr lang="zh-CN" altLang="en-US" dirty="0"/>
                  <a:t>但不同于其他协变量，它是一个隐变量</a:t>
                </a:r>
                <a:r>
                  <a:rPr lang="en-US" altLang="zh-CN" dirty="0"/>
                  <a:t>(latent variable)</a:t>
                </a:r>
                <a:r>
                  <a:rPr lang="zh-CN" altLang="en-US" dirty="0"/>
                  <a:t>。</a:t>
                </a:r>
                <a:endParaRPr lang="en-US" altLang="zh-CN" dirty="0"/>
              </a:p>
              <a:p>
                <a:pPr>
                  <a:lnSpc>
                    <a:spcPct val="120000"/>
                  </a:lnSpc>
                </a:pPr>
                <a:r>
                  <a:rPr lang="zh-CN" altLang="en-US" dirty="0"/>
                  <a:t>根据工具对个人选择变量的影响，在正向单调性假设下，可以将个体分成三种类型：</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 0 </m:t>
                    </m:r>
                  </m:oMath>
                </a14:m>
                <a:r>
                  <a:rPr lang="zh-CN" altLang="en-US" dirty="0"/>
                  <a:t>从不参与者</a:t>
                </a:r>
                <a:r>
                  <a:rPr lang="en-US" altLang="zh-CN" dirty="0"/>
                  <a:t>(never takers)</a:t>
                </a:r>
                <a:r>
                  <a:rPr lang="zh-CN" altLang="en-US" dirty="0"/>
                  <a:t>、</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en-US" altLang="zh-CN" i="1" dirty="0">
                        <a:latin typeface="Cambria Math" panose="02040503050406030204" pitchFamily="18" charset="0"/>
                      </a:rPr>
                      <m:t>(0)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 1 </m:t>
                    </m:r>
                  </m:oMath>
                </a14:m>
                <a:r>
                  <a:rPr lang="zh-CN" altLang="en-US" dirty="0"/>
                  <a:t>总是参与者</a:t>
                </a:r>
                <a:r>
                  <a:rPr lang="en-US" altLang="zh-CN" dirty="0"/>
                  <a:t>(always takers)</a:t>
                </a:r>
                <a:r>
                  <a:rPr lang="zh-CN" altLang="en-US" dirty="0"/>
                  <a:t>、</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en-US" altLang="zh-CN" i="1" dirty="0">
                        <a:latin typeface="Cambria Math" panose="02040503050406030204" pitchFamily="18" charset="0"/>
                      </a:rPr>
                      <m:t>(0) = 0,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 1 </m:t>
                    </m:r>
                  </m:oMath>
                </a14:m>
                <a:r>
                  <a:rPr lang="zh-CN" altLang="en-US" dirty="0"/>
                  <a:t>称为依从者</a:t>
                </a:r>
                <a:r>
                  <a:rPr lang="en-US" altLang="zh-CN" dirty="0"/>
                  <a:t>(compliers)</a:t>
                </a:r>
                <a:r>
                  <a:rPr lang="zh-CN" altLang="en-US" dirty="0"/>
                  <a:t>。而第四种类</a:t>
                </a:r>
                <a14:m>
                  <m:oMath xmlns:m="http://schemas.openxmlformats.org/officeDocument/2006/math">
                    <m:r>
                      <a:rPr lang="zh-CN" altLang="en-US" i="1" dirty="0" smtClean="0">
                        <a:latin typeface="Cambria Math" panose="02040503050406030204" pitchFamily="18" charset="0"/>
                      </a:rPr>
                      <m:t>型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a:latin typeface="Cambria Math" panose="02040503050406030204" pitchFamily="18" charset="0"/>
                          </a:rPr>
                          <m:t>𝑖</m:t>
                        </m:r>
                      </m:sub>
                    </m:sSub>
                    <m:r>
                      <a:rPr lang="en-US" altLang="zh-CN" b="0" i="1" dirty="0" smtClean="0">
                        <a:latin typeface="Cambria Math" panose="02040503050406030204" pitchFamily="18" charset="0"/>
                      </a:rPr>
                      <m:t>(0)</m:t>
                    </m:r>
                    <m:r>
                      <a:rPr lang="zh-CN" altLang="en-US" i="1" dirty="0">
                        <a:latin typeface="Cambria Math" panose="02040503050406030204" pitchFamily="18" charset="0"/>
                      </a:rPr>
                      <m:t> </m:t>
                    </m:r>
                    <m:r>
                      <a:rPr lang="en-US" altLang="zh-CN" i="1" dirty="0">
                        <a:latin typeface="Cambria Math" panose="02040503050406030204" pitchFamily="18" charset="0"/>
                      </a:rPr>
                      <m:t>= 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 0 </m:t>
                    </m:r>
                  </m:oMath>
                </a14:m>
                <a:r>
                  <a:rPr lang="zh-CN" altLang="en-US" dirty="0"/>
                  <a:t>叛逆者</a:t>
                </a:r>
                <a:r>
                  <a:rPr lang="en-US" altLang="zh-CN" dirty="0"/>
                  <a:t>(defiers) </a:t>
                </a:r>
                <a:r>
                  <a:rPr lang="zh-CN" altLang="en-US" dirty="0"/>
                  <a:t>不存在。</a:t>
                </a:r>
                <a:endParaRPr lang="en-US" altLang="zh-CN" dirty="0"/>
              </a:p>
              <a:p>
                <a:pPr>
                  <a:lnSpc>
                    <a:spcPct val="120000"/>
                  </a:lnSpc>
                </a:pPr>
                <a:r>
                  <a:rPr lang="zh-CN" altLang="en-US" dirty="0"/>
                  <a:t>假设</a:t>
                </a:r>
                <a:r>
                  <a:rPr lang="en-US" altLang="zh-CN" b="1" dirty="0"/>
                  <a:t>4</a:t>
                </a:r>
                <a:r>
                  <a:rPr lang="zh-CN" altLang="en-US" dirty="0"/>
                  <a:t>（相关性假设）工具对</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oMath>
                </a14:m>
                <a:r>
                  <a:rPr lang="zh-CN" altLang="en-US" dirty="0"/>
                  <a:t>的影响不为 </a:t>
                </a:r>
                <a:r>
                  <a:rPr lang="en-US" altLang="zh-CN" dirty="0"/>
                  <a:t>0.</a:t>
                </a:r>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≠0</m:t>
                      </m:r>
                    </m:oMath>
                  </m:oMathPara>
                </a14:m>
                <a:endParaRPr lang="zh-CN" altLang="en-US" dirty="0"/>
              </a:p>
            </p:txBody>
          </p:sp>
        </mc:Choice>
        <mc:Fallback xmlns="">
          <p:sp>
            <p:nvSpPr>
              <p:cNvPr id="3" name="内容占位符 2">
                <a:extLst>
                  <a:ext uri="{FF2B5EF4-FFF2-40B4-BE49-F238E27FC236}">
                    <a16:creationId xmlns:a16="http://schemas.microsoft.com/office/drawing/2014/main" id="{1596BCA6-FBC4-8040-E449-9FAB88CD9345}"/>
                  </a:ext>
                </a:extLst>
              </p:cNvPr>
              <p:cNvSpPr>
                <a:spLocks noGrp="1" noRot="1" noChangeAspect="1" noMove="1" noResize="1" noEditPoints="1" noAdjustHandles="1" noChangeArrowheads="1" noChangeShapeType="1" noTextEdit="1"/>
              </p:cNvSpPr>
              <p:nvPr>
                <p:ph idx="1"/>
              </p:nvPr>
            </p:nvSpPr>
            <p:spPr>
              <a:xfrm>
                <a:off x="628650" y="1825624"/>
                <a:ext cx="7886700" cy="4803775"/>
              </a:xfrm>
              <a:blipFill>
                <a:blip r:embed="rId2"/>
                <a:stretch>
                  <a:fillRect l="-464" t="-635" r="-77"/>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91AF034-6B36-4E65-60AB-F7F8A7E2873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AA0DEAB-7319-9B7E-8A3E-670F0B61A1E3}"/>
              </a:ext>
            </a:extLst>
          </p:cNvPr>
          <p:cNvSpPr>
            <a:spLocks noGrp="1"/>
          </p:cNvSpPr>
          <p:nvPr>
            <p:ph type="sldNum" sz="quarter" idx="12"/>
          </p:nvPr>
        </p:nvSpPr>
        <p:spPr/>
        <p:txBody>
          <a:bodyPr/>
          <a:lstStyle/>
          <a:p>
            <a:fld id="{D41FC515-8169-4A29-AA56-DBE520D5741B}" type="slidenum">
              <a:rPr lang="zh-CN" altLang="en-US" smtClean="0"/>
              <a:t>26</a:t>
            </a:fld>
            <a:endParaRPr lang="zh-CN" altLang="en-US"/>
          </a:p>
        </p:txBody>
      </p:sp>
    </p:spTree>
    <p:extLst>
      <p:ext uri="{BB962C8B-B14F-4D97-AF65-F5344CB8AC3E}">
        <p14:creationId xmlns:p14="http://schemas.microsoft.com/office/powerpoint/2010/main" val="2223671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3AE7FB-4B96-7F2E-8203-797F860586A3}"/>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LATE </a:t>
            </a:r>
            <a:r>
              <a:rPr lang="zh-CN" altLang="en-US" sz="2400" dirty="0"/>
              <a:t>定理</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9A794F2-219C-2EC0-E39B-77026999EA77}"/>
                  </a:ext>
                </a:extLst>
              </p:cNvPr>
              <p:cNvSpPr>
                <a:spLocks noGrp="1"/>
              </p:cNvSpPr>
              <p:nvPr>
                <p:ph idx="1"/>
              </p:nvPr>
            </p:nvSpPr>
            <p:spPr>
              <a:xfrm>
                <a:off x="628650" y="1825624"/>
                <a:ext cx="7886700" cy="4895851"/>
              </a:xfrm>
            </p:spPr>
            <p:txBody>
              <a:bodyPr>
                <a:normAutofit fontScale="70000" lnSpcReduction="20000"/>
              </a:bodyPr>
              <a:lstStyle/>
              <a:p>
                <a:pPr>
                  <a:lnSpc>
                    <a:spcPct val="120000"/>
                  </a:lnSpc>
                </a:pPr>
                <a:r>
                  <a:rPr lang="zh-CN" altLang="en-US" b="1" dirty="0"/>
                  <a:t>定理</a:t>
                </a:r>
                <a:r>
                  <a:rPr lang="en-US" altLang="zh-CN" b="1" dirty="0"/>
                  <a:t>1 [LATE </a:t>
                </a:r>
                <a:r>
                  <a:rPr lang="zh-CN" altLang="en-US" dirty="0"/>
                  <a:t>定理</a:t>
                </a:r>
                <a:r>
                  <a:rPr lang="en-US" altLang="zh-CN" b="1" dirty="0"/>
                  <a:t>(</a:t>
                </a:r>
                <a:r>
                  <a:rPr lang="en-US" altLang="zh-CN" b="1" dirty="0" err="1"/>
                  <a:t>Imbens</a:t>
                </a:r>
                <a:r>
                  <a:rPr lang="en-US" altLang="zh-CN" b="1" dirty="0"/>
                  <a:t> and Angrist, 1994)] </a:t>
                </a:r>
                <a:r>
                  <a:rPr lang="zh-CN" altLang="en-US" dirty="0"/>
                  <a:t>假设</a:t>
                </a:r>
                <a:endParaRPr lang="en-US" altLang="zh-CN" dirty="0"/>
              </a:p>
              <a:p>
                <a:pPr marL="0" indent="0">
                  <a:lnSpc>
                    <a:spcPct val="120000"/>
                  </a:lnSpc>
                  <a:buNone/>
                </a:pPr>
                <a:r>
                  <a:rPr lang="en-US" altLang="zh-CN" dirty="0"/>
                  <a:t>(1) </a:t>
                </a:r>
                <a:r>
                  <a:rPr lang="zh-CN" altLang="en-US" dirty="0"/>
                  <a:t>独立性，</a:t>
                </a:r>
                <a14:m>
                  <m:oMath xmlns:m="http://schemas.openxmlformats.org/officeDocument/2006/math">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oMath>
                </a14:m>
                <a:endParaRPr lang="en-US" altLang="zh-CN" dirty="0"/>
              </a:p>
              <a:p>
                <a:pPr marL="0" indent="0">
                  <a:lnSpc>
                    <a:spcPct val="120000"/>
                  </a:lnSpc>
                  <a:buNone/>
                </a:pPr>
                <a:r>
                  <a:rPr lang="en-US" altLang="zh-CN" dirty="0"/>
                  <a:t>(2) </a:t>
                </a:r>
                <a:r>
                  <a:rPr lang="zh-CN" altLang="en-US" dirty="0"/>
                  <a:t>排除性，</a:t>
                </a: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𝑑</m:t>
                        </m:r>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𝑑</m:t>
                        </m:r>
                        <m:r>
                          <a:rPr lang="zh-CN" altLang="en-US" i="1" smtClean="0">
                            <a:latin typeface="Cambria Math" panose="02040503050406030204" pitchFamily="18" charset="0"/>
                          </a:rPr>
                          <m:t>,1</m:t>
                        </m:r>
                      </m:e>
                    </m:d>
                    <m:r>
                      <a:rPr lang="zh-CN" altLang="en-US" i="1" smtClean="0">
                        <a:latin typeface="Cambria Math" panose="02040503050406030204" pitchFamily="18" charset="0"/>
                      </a:rPr>
                      <m:t>, </m:t>
                    </m:r>
                    <m:r>
                      <a:rPr lang="zh-CN" altLang="en-US" i="1" smtClean="0">
                        <a:latin typeface="Cambria Math" panose="02040503050406030204" pitchFamily="18" charset="0"/>
                      </a:rPr>
                      <m:t>𝑑</m:t>
                    </m:r>
                    <m:r>
                      <a:rPr lang="zh-CN" altLang="en-US" i="1" smtClean="0">
                        <a:latin typeface="Cambria Math" panose="02040503050406030204" pitchFamily="18" charset="0"/>
                      </a:rPr>
                      <m:t>=0,1.</m:t>
                    </m:r>
                  </m:oMath>
                </a14:m>
                <a:endParaRPr lang="en-US" altLang="zh-CN" dirty="0"/>
              </a:p>
              <a:p>
                <a:pPr marL="0" indent="0">
                  <a:lnSpc>
                    <a:spcPct val="120000"/>
                  </a:lnSpc>
                  <a:buNone/>
                </a:pPr>
                <a:r>
                  <a:rPr lang="en-US" altLang="zh-CN" dirty="0"/>
                  <a:t>(3) </a:t>
                </a:r>
                <a:r>
                  <a:rPr lang="zh-CN" altLang="en-US" dirty="0"/>
                  <a:t>相关性，</a:t>
                </a:r>
                <a14:m>
                  <m:oMath xmlns:m="http://schemas.openxmlformats.org/officeDocument/2006/math">
                    <m:r>
                      <a:rPr lang="it-IT" altLang="zh-CN" i="1">
                        <a:latin typeface="Cambria Math" panose="02040503050406030204" pitchFamily="18" charset="0"/>
                      </a:rPr>
                      <m:t>𝐸</m:t>
                    </m:r>
                    <m:d>
                      <m:dPr>
                        <m:begChr m:val="["/>
                        <m:endChr m:val="]"/>
                        <m:ctrlPr>
                          <a:rPr lang="it-IT" altLang="zh-CN" i="1">
                            <a:latin typeface="Cambria Math" panose="02040503050406030204" pitchFamily="18" charset="0"/>
                          </a:rPr>
                        </m:ctrlPr>
                      </m:dPr>
                      <m:e>
                        <m:sSub>
                          <m:sSubPr>
                            <m:ctrlPr>
                              <a:rPr lang="it-IT" altLang="zh-CN" i="1">
                                <a:latin typeface="Cambria Math" panose="02040503050406030204" pitchFamily="18" charset="0"/>
                              </a:rPr>
                            </m:ctrlPr>
                          </m:sSubPr>
                          <m:e>
                            <m:r>
                              <a:rPr lang="it-IT" altLang="zh-CN" i="1">
                                <a:latin typeface="Cambria Math" panose="02040503050406030204" pitchFamily="18" charset="0"/>
                              </a:rPr>
                              <m:t>𝐷</m:t>
                            </m:r>
                          </m:e>
                          <m:sub>
                            <m:r>
                              <a:rPr lang="it-IT" altLang="zh-CN" i="1">
                                <a:latin typeface="Cambria Math" panose="02040503050406030204" pitchFamily="18" charset="0"/>
                              </a:rPr>
                              <m:t>𝑖</m:t>
                            </m:r>
                          </m:sub>
                        </m:sSub>
                        <m:d>
                          <m:dPr>
                            <m:ctrlPr>
                              <a:rPr lang="it-IT" altLang="zh-CN" i="1">
                                <a:latin typeface="Cambria Math" panose="02040503050406030204" pitchFamily="18" charset="0"/>
                              </a:rPr>
                            </m:ctrlPr>
                          </m:dPr>
                          <m:e>
                            <m:r>
                              <a:rPr lang="it-IT" altLang="zh-CN" i="1">
                                <a:latin typeface="Cambria Math" panose="02040503050406030204" pitchFamily="18" charset="0"/>
                              </a:rPr>
                              <m:t>1</m:t>
                            </m:r>
                          </m:e>
                        </m:d>
                        <m:r>
                          <a:rPr lang="it-IT" altLang="zh-CN" i="1">
                            <a:latin typeface="Cambria Math" panose="02040503050406030204" pitchFamily="18" charset="0"/>
                          </a:rPr>
                          <m:t>−</m:t>
                        </m:r>
                        <m:sSub>
                          <m:sSubPr>
                            <m:ctrlPr>
                              <a:rPr lang="it-IT" altLang="zh-CN" i="1">
                                <a:latin typeface="Cambria Math" panose="02040503050406030204" pitchFamily="18" charset="0"/>
                              </a:rPr>
                            </m:ctrlPr>
                          </m:sSubPr>
                          <m:e>
                            <m:r>
                              <a:rPr lang="it-IT" altLang="zh-CN" i="1">
                                <a:latin typeface="Cambria Math" panose="02040503050406030204" pitchFamily="18" charset="0"/>
                              </a:rPr>
                              <m:t>𝐷</m:t>
                            </m:r>
                          </m:e>
                          <m:sub>
                            <m:r>
                              <a:rPr lang="it-IT" altLang="zh-CN" i="1">
                                <a:latin typeface="Cambria Math" panose="02040503050406030204" pitchFamily="18" charset="0"/>
                              </a:rPr>
                              <m:t>𝑖</m:t>
                            </m:r>
                          </m:sub>
                        </m:sSub>
                        <m:d>
                          <m:dPr>
                            <m:ctrlPr>
                              <a:rPr lang="it-IT" altLang="zh-CN" i="1">
                                <a:latin typeface="Cambria Math" panose="02040503050406030204" pitchFamily="18" charset="0"/>
                              </a:rPr>
                            </m:ctrlPr>
                          </m:dPr>
                          <m:e>
                            <m:r>
                              <a:rPr lang="it-IT" altLang="zh-CN" i="1">
                                <a:latin typeface="Cambria Math" panose="02040503050406030204" pitchFamily="18" charset="0"/>
                              </a:rPr>
                              <m:t>0</m:t>
                            </m:r>
                          </m:e>
                        </m:d>
                      </m:e>
                    </m:d>
                    <m:r>
                      <a:rPr lang="it-IT" altLang="zh-CN" i="1" smtClean="0">
                        <a:latin typeface="Cambria Math" panose="02040503050406030204" pitchFamily="18" charset="0"/>
                      </a:rPr>
                      <m:t>≠</m:t>
                    </m:r>
                    <m:r>
                      <a:rPr lang="it-IT" altLang="zh-CN" i="1">
                        <a:latin typeface="Cambria Math" panose="02040503050406030204" pitchFamily="18" charset="0"/>
                      </a:rPr>
                      <m:t> 0</m:t>
                    </m:r>
                  </m:oMath>
                </a14:m>
                <a:r>
                  <a:rPr lang="en-US" altLang="zh-CN" dirty="0"/>
                  <a:t>.</a:t>
                </a:r>
              </a:p>
              <a:p>
                <a:pPr marL="0" indent="0">
                  <a:lnSpc>
                    <a:spcPct val="120000"/>
                  </a:lnSpc>
                  <a:buNone/>
                </a:pPr>
                <a:r>
                  <a:rPr lang="en-US" altLang="zh-CN" dirty="0"/>
                  <a:t>(4) </a:t>
                </a:r>
                <a:r>
                  <a:rPr lang="zh-CN" altLang="en-US" dirty="0"/>
                  <a:t>单调性，</a:t>
                </a: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oMath>
                </a14:m>
                <a:r>
                  <a:rPr lang="en-US" altLang="zh-CN" dirty="0"/>
                  <a:t>.</a:t>
                </a:r>
              </a:p>
              <a:p>
                <a:pPr marL="0" indent="0">
                  <a:lnSpc>
                    <a:spcPct val="120000"/>
                  </a:lnSpc>
                  <a:buNone/>
                </a:pPr>
                <a:r>
                  <a:rPr lang="zh-CN" altLang="en-US" dirty="0"/>
                  <a:t>则</a:t>
                </a:r>
                <a:endParaRPr lang="en-US" altLang="zh-CN" dirty="0"/>
              </a:p>
              <a:p>
                <a:pPr>
                  <a:lnSpc>
                    <a:spcPct val="120000"/>
                  </a:lnSpc>
                </a:pPr>
                <a14:m>
                  <m:oMath xmlns:m="http://schemas.openxmlformats.org/officeDocument/2006/math">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den>
                    </m:f>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oMath>
                </a14:m>
                <a:endParaRPr lang="en-US" altLang="zh-CN" dirty="0"/>
              </a:p>
              <a:p>
                <a:pPr>
                  <a:lnSpc>
                    <a:spcPct val="120000"/>
                  </a:lnSpc>
                </a:pPr>
                <a:r>
                  <a:rPr lang="zh-CN" altLang="en-US" dirty="0"/>
                  <a:t>上式左边是</a:t>
                </a:r>
                <a:r>
                  <a:rPr lang="en-US" altLang="zh-CN" dirty="0"/>
                  <a:t>Wald </a:t>
                </a:r>
                <a:r>
                  <a:rPr lang="zh-CN" altLang="en-US" dirty="0"/>
                  <a:t>估计测度，对应于工具变量估计测度，右边</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en-US" altLang="zh-CN" i="1" dirty="0" smtClean="0">
                        <a:latin typeface="Cambria Math" panose="02040503050406030204" pitchFamily="18" charset="0"/>
                      </a:rPr>
                      <m:t>(</m:t>
                    </m:r>
                    <m:r>
                      <a:rPr lang="en-US" altLang="zh-CN" i="1" dirty="0">
                        <a:latin typeface="Cambria Math" panose="02040503050406030204" pitchFamily="18" charset="0"/>
                      </a:rPr>
                      <m:t>1) &gt;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m:t>
                    </m:r>
                  </m:oMath>
                </a14:m>
                <a:r>
                  <a:rPr lang="zh-CN" altLang="en-US" dirty="0"/>
                  <a:t>等价于</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en-US" altLang="zh-CN" i="1" dirty="0">
                        <a:latin typeface="Cambria Math" panose="02040503050406030204" pitchFamily="18" charset="0"/>
                      </a:rPr>
                      <m:t>(1) = 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 0</m:t>
                    </m:r>
                  </m:oMath>
                </a14:m>
                <a:r>
                  <a:rPr lang="zh-CN" altLang="en-US" dirty="0"/>
                  <a:t>，即依从者。</a:t>
                </a:r>
                <a:endParaRPr lang="en-US" altLang="zh-CN" dirty="0"/>
              </a:p>
              <a:p>
                <a:pPr>
                  <a:lnSpc>
                    <a:spcPct val="120000"/>
                  </a:lnSpc>
                </a:pPr>
                <a:r>
                  <a:rPr lang="zh-CN" altLang="en-US" dirty="0"/>
                  <a:t>因而，定理</a:t>
                </a:r>
                <a:r>
                  <a:rPr lang="en-US" altLang="zh-CN" dirty="0"/>
                  <a:t>1 </a:t>
                </a:r>
                <a:r>
                  <a:rPr lang="zh-CN" altLang="en-US" dirty="0"/>
                  <a:t>说明，如果满足上述四个基本假设，那么工具变量估计测度估计的是依从者的平均因果效应。</a:t>
                </a:r>
              </a:p>
            </p:txBody>
          </p:sp>
        </mc:Choice>
        <mc:Fallback xmlns="">
          <p:sp>
            <p:nvSpPr>
              <p:cNvPr id="3" name="内容占位符 2">
                <a:extLst>
                  <a:ext uri="{FF2B5EF4-FFF2-40B4-BE49-F238E27FC236}">
                    <a16:creationId xmlns:a16="http://schemas.microsoft.com/office/drawing/2014/main" id="{A9A794F2-219C-2EC0-E39B-77026999EA77}"/>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773" t="-62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109B35A-7D90-C2F2-90F6-E188B616503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254941D-B9F7-E8D0-3BC2-73A3F02DADD9}"/>
              </a:ext>
            </a:extLst>
          </p:cNvPr>
          <p:cNvSpPr>
            <a:spLocks noGrp="1"/>
          </p:cNvSpPr>
          <p:nvPr>
            <p:ph type="sldNum" sz="quarter" idx="12"/>
          </p:nvPr>
        </p:nvSpPr>
        <p:spPr/>
        <p:txBody>
          <a:bodyPr/>
          <a:lstStyle/>
          <a:p>
            <a:fld id="{D41FC515-8169-4A29-AA56-DBE520D5741B}" type="slidenum">
              <a:rPr lang="zh-CN" altLang="en-US" smtClean="0"/>
              <a:t>27</a:t>
            </a:fld>
            <a:endParaRPr lang="zh-CN" altLang="en-US"/>
          </a:p>
        </p:txBody>
      </p:sp>
    </p:spTree>
    <p:extLst>
      <p:ext uri="{BB962C8B-B14F-4D97-AF65-F5344CB8AC3E}">
        <p14:creationId xmlns:p14="http://schemas.microsoft.com/office/powerpoint/2010/main" val="3415072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3A02F9-F61A-8677-0303-B63166570EEE}"/>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LATE </a:t>
            </a:r>
            <a:r>
              <a:rPr lang="zh-CN" altLang="en-US" sz="2400" dirty="0"/>
              <a:t>定理</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9FACDFA-A186-58DE-D256-AA15746E8EE8}"/>
                  </a:ext>
                </a:extLst>
              </p:cNvPr>
              <p:cNvSpPr>
                <a:spLocks noGrp="1"/>
              </p:cNvSpPr>
              <p:nvPr>
                <p:ph idx="1"/>
              </p:nvPr>
            </p:nvSpPr>
            <p:spPr>
              <a:xfrm>
                <a:off x="628650" y="1825624"/>
                <a:ext cx="7886700" cy="4530727"/>
              </a:xfrm>
            </p:spPr>
            <p:txBody>
              <a:bodyPr>
                <a:normAutofit fontScale="55000" lnSpcReduction="20000"/>
              </a:bodyPr>
              <a:lstStyle/>
              <a:p>
                <a:pPr>
                  <a:lnSpc>
                    <a:spcPct val="120000"/>
                  </a:lnSpc>
                </a:pPr>
                <a:r>
                  <a:rPr lang="zh-CN" altLang="en-US" dirty="0"/>
                  <a:t>证明：首先，</a:t>
                </a:r>
                <a:r>
                  <a:rPr lang="en-US" altLang="zh-CN" dirty="0"/>
                  <a:t>Wald </a:t>
                </a:r>
                <a:r>
                  <a:rPr lang="zh-CN" altLang="en-US" dirty="0"/>
                  <a:t>估计测度分子部分，</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e>
                          </m:d>
                          <m:r>
                            <a:rPr lang="zh-CN" altLang="en-US" i="1" smtClean="0">
                              <a:latin typeface="Cambria Math" panose="02040503050406030204" pitchFamily="18" charset="0"/>
                            </a:rPr>
                            <m:t>.</m:t>
                          </m:r>
                        </m:e>
                      </m:eqArr>
                    </m:oMath>
                  </m:oMathPara>
                </a14:m>
                <a:endParaRPr lang="en-US" altLang="zh-CN" dirty="0"/>
              </a:p>
              <a:p>
                <a:pPr>
                  <a:lnSpc>
                    <a:spcPct val="120000"/>
                  </a:lnSpc>
                </a:pPr>
                <a:r>
                  <a:rPr lang="zh-CN" altLang="en-US" dirty="0"/>
                  <a:t>同样地，</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两式相减，得：</a:t>
                </a:r>
                <a:endParaRPr lang="en-US" altLang="zh-CN" dirty="0"/>
              </a:p>
              <a:p>
                <a:pPr marL="0" indent="0">
                  <a:lnSpc>
                    <a:spcPct val="120000"/>
                  </a:lnSpc>
                  <a:buNone/>
                </a:pPr>
                <a14:m>
                  <m:oMathPara xmlns:m="http://schemas.openxmlformats.org/officeDocument/2006/math">
                    <m:oMath>
                      <m:eqArr>
                        <m:eqArrPr>
                          <m:ctrlPr>
                            <a:rPr lang="zh-CN" altLang="en-US" i="1" dirty="0" smtClean="0">
                              <a:latin typeface="Cambria Math" panose="02040503050406030204" pitchFamily="18" charset="0"/>
                            </a:rPr>
                          </m:ctrlPr>
                        </m:eqArrPr>
                        <m:e>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zh-CN" altLang="en-US" i="0"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zh-CN" altLang="en-US" i="0" dirty="0">
                                  <a:latin typeface="Cambria Math" panose="02040503050406030204" pitchFamily="18" charset="0"/>
                                </a:rPr>
                                <m:t>=1</m:t>
                              </m:r>
                            </m:e>
                          </m:d>
                          <m:r>
                            <a:rPr lang="zh-CN" altLang="en-US" i="0" dirty="0">
                              <a:latin typeface="Cambria Math" panose="02040503050406030204" pitchFamily="18" charset="0"/>
                            </a:rPr>
                            <m:t>−</m:t>
                          </m:r>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zh-CN" altLang="en-US" i="0"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𝑍</m:t>
                                  </m:r>
                                </m:e>
                                <m:sub>
                                  <m:r>
                                    <a:rPr lang="zh-CN" altLang="en-US" i="1" dirty="0">
                                      <a:latin typeface="Cambria Math" panose="02040503050406030204" pitchFamily="18" charset="0"/>
                                    </a:rPr>
                                    <m:t>𝑖</m:t>
                                  </m:r>
                                </m:sub>
                              </m:sSub>
                              <m:r>
                                <a:rPr lang="zh-CN" altLang="en-US" i="0" dirty="0">
                                  <a:latin typeface="Cambria Math" panose="02040503050406030204" pitchFamily="18" charset="0"/>
                                </a:rPr>
                                <m:t>=0</m:t>
                              </m:r>
                            </m:e>
                          </m:d>
                          <m:r>
                            <a:rPr lang="zh-CN" altLang="en-US" i="0" dirty="0">
                              <a:latin typeface="Cambria Math" panose="02040503050406030204" pitchFamily="18" charset="0"/>
                            </a:rPr>
                            <m:t>=</m:t>
                          </m:r>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d>
                                <m:dPr>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zh-CN" altLang="en-US" i="0" dirty="0">
                                          <a:latin typeface="Cambria Math" panose="02040503050406030204" pitchFamily="18" charset="0"/>
                                        </a:rPr>
                                      </m:ctrlPr>
                                    </m:dPr>
                                    <m:e>
                                      <m:r>
                                        <a:rPr lang="zh-CN" altLang="en-US" i="0" dirty="0">
                                          <a:latin typeface="Cambria Math" panose="02040503050406030204" pitchFamily="18" charset="0"/>
                                        </a:rPr>
                                        <m:t>1</m:t>
                                      </m:r>
                                    </m:e>
                                  </m:d>
                                  <m:r>
                                    <a:rPr lang="zh-CN" altLang="en-US" i="0"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zh-CN" altLang="en-US" i="0" dirty="0">
                                          <a:latin typeface="Cambria Math" panose="02040503050406030204" pitchFamily="18" charset="0"/>
                                        </a:rPr>
                                      </m:ctrlPr>
                                    </m:dPr>
                                    <m:e>
                                      <m:r>
                                        <a:rPr lang="zh-CN" altLang="en-US" i="0" dirty="0">
                                          <a:latin typeface="Cambria Math" panose="02040503050406030204" pitchFamily="18" charset="0"/>
                                        </a:rPr>
                                        <m:t>0</m:t>
                                      </m:r>
                                    </m:e>
                                  </m:d>
                                </m:e>
                              </m:d>
                              <m:d>
                                <m:dPr>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d>
                                    <m:dPr>
                                      <m:ctrlPr>
                                        <a:rPr lang="zh-CN" altLang="en-US" i="0" dirty="0">
                                          <a:latin typeface="Cambria Math" panose="02040503050406030204" pitchFamily="18" charset="0"/>
                                        </a:rPr>
                                      </m:ctrlPr>
                                    </m:dPr>
                                    <m:e>
                                      <m:r>
                                        <a:rPr lang="zh-CN" altLang="en-US" i="0" dirty="0">
                                          <a:latin typeface="Cambria Math" panose="02040503050406030204" pitchFamily="18" charset="0"/>
                                        </a:rPr>
                                        <m:t>1</m:t>
                                      </m:r>
                                    </m:e>
                                  </m:d>
                                  <m:r>
                                    <a:rPr lang="zh-CN" altLang="en-US" i="0"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d>
                                    <m:dPr>
                                      <m:ctrlPr>
                                        <a:rPr lang="zh-CN" altLang="en-US" i="0" dirty="0">
                                          <a:latin typeface="Cambria Math" panose="02040503050406030204" pitchFamily="18" charset="0"/>
                                        </a:rPr>
                                      </m:ctrlPr>
                                    </m:dPr>
                                    <m:e>
                                      <m:r>
                                        <a:rPr lang="zh-CN" altLang="en-US" i="0" dirty="0">
                                          <a:latin typeface="Cambria Math" panose="02040503050406030204" pitchFamily="18" charset="0"/>
                                        </a:rPr>
                                        <m:t>0</m:t>
                                      </m:r>
                                    </m:e>
                                  </m:d>
                                </m:e>
                              </m:d>
                            </m:e>
                          </m:d>
                          <m:r>
                            <a:rPr lang="zh-CN" altLang="en-US" i="0" dirty="0">
                              <a:latin typeface="Cambria Math" panose="02040503050406030204" pitchFamily="18" charset="0"/>
                            </a:rPr>
                            <m:t>.</m:t>
                          </m:r>
                        </m:e>
                      </m:eqArr>
                    </m:oMath>
                  </m:oMathPara>
                </a14:m>
                <a:endParaRPr lang="en-US" altLang="zh-CN" dirty="0"/>
              </a:p>
              <a:p>
                <a:pPr>
                  <a:lnSpc>
                    <a:spcPct val="120000"/>
                  </a:lnSpc>
                </a:pPr>
                <a:r>
                  <a:rPr lang="zh-CN" altLang="en-US" dirty="0"/>
                  <a:t>单调性假设意味着</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en-US" altLang="zh-CN" i="1" dirty="0">
                        <a:latin typeface="Cambria Math" panose="02040503050406030204" pitchFamily="18" charset="0"/>
                      </a:rPr>
                      <m:t>(1)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m:t>
                    </m:r>
                  </m:oMath>
                </a14:m>
                <a:r>
                  <a:rPr lang="zh-CN" altLang="en-US" dirty="0"/>
                  <a:t>等于</a:t>
                </a:r>
                <a:r>
                  <a:rPr lang="en-US" altLang="zh-CN" dirty="0"/>
                  <a:t>1 </a:t>
                </a:r>
                <a:r>
                  <a:rPr lang="zh-CN" altLang="en-US" dirty="0"/>
                  <a:t>或</a:t>
                </a:r>
                <a:r>
                  <a:rPr lang="en-US" altLang="zh-CN" dirty="0"/>
                  <a:t>0</a:t>
                </a:r>
                <a:r>
                  <a:rPr lang="zh-CN" altLang="en-US" dirty="0"/>
                  <a:t>，所以</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同样地，可以得到：</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r>
                            <a:rPr lang="zh-CN" altLang="en-US" i="1" smtClean="0">
                              <a:latin typeface="Cambria Math" panose="02040503050406030204" pitchFamily="18" charset="0"/>
                            </a:rPr>
                            <m:t>.</m:t>
                          </m:r>
                        </m:e>
                      </m:eqArr>
                    </m:oMath>
                  </m:oMathPara>
                </a14:m>
                <a:endParaRPr lang="en-US" altLang="zh-CN" dirty="0"/>
              </a:p>
              <a:p>
                <a:pPr>
                  <a:lnSpc>
                    <a:spcPct val="120000"/>
                  </a:lnSpc>
                </a:pPr>
                <a:r>
                  <a:rPr lang="en-US" altLang="zh-CN" dirty="0"/>
                  <a:t>(17)/(18) </a:t>
                </a:r>
                <a:r>
                  <a:rPr lang="zh-CN" altLang="en-US" dirty="0"/>
                  <a:t>即得证。</a:t>
                </a:r>
              </a:p>
            </p:txBody>
          </p:sp>
        </mc:Choice>
        <mc:Fallback xmlns="">
          <p:sp>
            <p:nvSpPr>
              <p:cNvPr id="3" name="内容占位符 2">
                <a:extLst>
                  <a:ext uri="{FF2B5EF4-FFF2-40B4-BE49-F238E27FC236}">
                    <a16:creationId xmlns:a16="http://schemas.microsoft.com/office/drawing/2014/main" id="{F9FACDFA-A186-58DE-D256-AA15746E8EE8}"/>
                  </a:ext>
                </a:extLst>
              </p:cNvPr>
              <p:cNvSpPr>
                <a:spLocks noGrp="1" noRot="1" noChangeAspect="1" noMove="1" noResize="1" noEditPoints="1" noAdjustHandles="1" noChangeArrowheads="1" noChangeShapeType="1" noTextEdit="1"/>
              </p:cNvSpPr>
              <p:nvPr>
                <p:ph idx="1"/>
              </p:nvPr>
            </p:nvSpPr>
            <p:spPr>
              <a:xfrm>
                <a:off x="628650" y="1825624"/>
                <a:ext cx="7886700" cy="4530727"/>
              </a:xfrm>
              <a:blipFill>
                <a:blip r:embed="rId2"/>
                <a:stretch>
                  <a:fillRect l="-232" t="-26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7812A8F-CDB3-4CF8-5B18-4E66D10F5C8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04AFFDB-FC55-54B0-059C-6AA3E841044D}"/>
              </a:ext>
            </a:extLst>
          </p:cNvPr>
          <p:cNvSpPr>
            <a:spLocks noGrp="1"/>
          </p:cNvSpPr>
          <p:nvPr>
            <p:ph type="sldNum" sz="quarter" idx="12"/>
          </p:nvPr>
        </p:nvSpPr>
        <p:spPr/>
        <p:txBody>
          <a:bodyPr/>
          <a:lstStyle/>
          <a:p>
            <a:fld id="{D41FC515-8169-4A29-AA56-DBE520D5741B}" type="slidenum">
              <a:rPr lang="zh-CN" altLang="en-US" smtClean="0"/>
              <a:t>28</a:t>
            </a:fld>
            <a:endParaRPr lang="zh-CN" altLang="en-US"/>
          </a:p>
        </p:txBody>
      </p:sp>
    </p:spTree>
    <p:extLst>
      <p:ext uri="{BB962C8B-B14F-4D97-AF65-F5344CB8AC3E}">
        <p14:creationId xmlns:p14="http://schemas.microsoft.com/office/powerpoint/2010/main" val="2170580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E79BC8-4D98-4E6F-3CF2-0B35D86A365C}"/>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LATE </a:t>
            </a:r>
            <a:r>
              <a:rPr lang="zh-CN" altLang="en-US" sz="2400" dirty="0"/>
              <a:t>定理</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215B155-0E88-7282-9CF7-969F62A77AA9}"/>
                  </a:ext>
                </a:extLst>
              </p:cNvPr>
              <p:cNvSpPr>
                <a:spLocks noGrp="1"/>
              </p:cNvSpPr>
              <p:nvPr>
                <p:ph idx="1"/>
              </p:nvPr>
            </p:nvSpPr>
            <p:spPr>
              <a:xfrm>
                <a:off x="628650" y="1825624"/>
                <a:ext cx="7886700" cy="4895851"/>
              </a:xfrm>
            </p:spPr>
            <p:txBody>
              <a:bodyPr>
                <a:normAutofit fontScale="47500" lnSpcReduction="20000"/>
              </a:bodyPr>
              <a:lstStyle/>
              <a:p>
                <a:pPr>
                  <a:lnSpc>
                    <a:spcPct val="120000"/>
                  </a:lnSpc>
                </a:pPr>
                <a:r>
                  <a:rPr lang="zh-CN" altLang="en-US" dirty="0"/>
                  <a:t>为什么要引入单调性假设？如果没有单调性，𝐷𝑖</a:t>
                </a:r>
                <a:r>
                  <a:rPr lang="en-US" altLang="zh-CN" dirty="0"/>
                  <a:t>(1) − </a:t>
                </a:r>
                <a:r>
                  <a:rPr lang="zh-CN" altLang="en-US" dirty="0"/>
                  <a:t>𝐷𝑖</a:t>
                </a:r>
                <a:r>
                  <a:rPr lang="en-US" altLang="zh-CN" dirty="0"/>
                  <a:t>(0) </a:t>
                </a:r>
                <a:r>
                  <a:rPr lang="zh-CN" altLang="en-US" dirty="0"/>
                  <a:t>取</a:t>
                </a:r>
                <a:r>
                  <a:rPr lang="en-US" altLang="zh-CN" dirty="0"/>
                  <a:t>0</a:t>
                </a:r>
                <a:r>
                  <a:rPr lang="zh-CN" altLang="en-US" dirty="0"/>
                  <a:t>、</a:t>
                </a:r>
                <a:r>
                  <a:rPr lang="en-US" altLang="zh-CN" dirty="0"/>
                  <a:t>1</a:t>
                </a:r>
                <a:r>
                  <a:rPr lang="zh-CN" altLang="en-US" dirty="0"/>
                  <a:t>、−</a:t>
                </a:r>
                <a:r>
                  <a:rPr lang="en-US" altLang="zh-CN" dirty="0"/>
                  <a:t>1 </a:t>
                </a:r>
                <a:r>
                  <a:rPr lang="zh-CN" altLang="en-US" dirty="0"/>
                  <a:t>三个值。要引入单调性假设，如果没有单调性假设，𝐷</a:t>
                </a:r>
                <a:r>
                  <a:rPr lang="en-US" altLang="zh-CN" dirty="0"/>
                  <a:t>1</a:t>
                </a:r>
                <a:r>
                  <a:rPr lang="zh-CN" altLang="en-US" dirty="0"/>
                  <a:t>𝑖 − 𝐷𝑖</a:t>
                </a:r>
                <a:r>
                  <a:rPr lang="en-US" altLang="zh-CN" dirty="0"/>
                  <a:t>(0) </a:t>
                </a:r>
                <a:r>
                  <a:rPr lang="zh-CN" altLang="en-US" dirty="0"/>
                  <a:t>将可以取</a:t>
                </a:r>
                <a:r>
                  <a:rPr lang="en-US" altLang="zh-CN" dirty="0"/>
                  <a:t>0</a:t>
                </a:r>
                <a:r>
                  <a:rPr lang="zh-CN" altLang="en-US" dirty="0"/>
                  <a:t>、</a:t>
                </a:r>
                <a:r>
                  <a:rPr lang="en-US" altLang="zh-CN" dirty="0"/>
                  <a:t>1</a:t>
                </a:r>
                <a:r>
                  <a:rPr lang="zh-CN" altLang="en-US" dirty="0"/>
                  <a:t>、</a:t>
                </a:r>
                <a:r>
                  <a:rPr lang="en-US" altLang="zh-CN" dirty="0"/>
                  <a:t>-1 </a:t>
                </a:r>
                <a:r>
                  <a:rPr lang="zh-CN" altLang="en-US" dirty="0"/>
                  <a:t>三个值，</a:t>
                </a:r>
                <a:r>
                  <a:rPr lang="en-US" altLang="zh-CN" dirty="0"/>
                  <a:t>Wald </a:t>
                </a:r>
                <a:r>
                  <a:rPr lang="zh-CN" altLang="en-US" dirty="0"/>
                  <a:t>估计测度分子上的部分可以写成：</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𝑐</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𝑑</m:t>
                              </m:r>
                            </m:sub>
                          </m:sSub>
                          <m:r>
                            <a:rPr lang="zh-CN" altLang="en-US" i="1" smtClean="0">
                              <a:latin typeface="Cambria Math" panose="02040503050406030204" pitchFamily="18" charset="0"/>
                            </a:rPr>
                            <m:t>.</m:t>
                          </m:r>
                        </m:e>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𝑐</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𝑑</m:t>
                              </m:r>
                            </m:sub>
                          </m:sSub>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其中</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𝑐</m:t>
                        </m:r>
                      </m:sub>
                    </m:sSub>
                    <m:r>
                      <a:rPr lang="en-US" altLang="zh-CN" i="1">
                        <a:latin typeface="Cambria Math" panose="02040503050406030204" pitchFamily="18" charset="0"/>
                      </a:rPr>
                      <m:t>=</m:t>
                    </m:r>
                    <m:func>
                      <m:funcPr>
                        <m:ctrlPr>
                          <a:rPr lang="en-US" altLang="zh-CN" i="0">
                            <a:latin typeface="Cambria Math" panose="02040503050406030204" pitchFamily="18" charset="0"/>
                          </a:rPr>
                        </m:ctrlPr>
                      </m:funcPr>
                      <m:fName>
                        <m:r>
                          <m:rPr>
                            <m:sty m:val="p"/>
                          </m:rPr>
                          <a:rPr lang="en-US" altLang="zh-CN" i="0">
                            <a:latin typeface="Cambria Math" panose="02040503050406030204" pitchFamily="18" charset="0"/>
                          </a:rPr>
                          <m:t>Pr</m:t>
                        </m:r>
                      </m:fName>
                      <m:e>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r>
                                  <a:rPr lang="en-US" altLang="zh-CN" i="1">
                                    <a:latin typeface="Cambria Math" panose="02040503050406030204" pitchFamily="18" charset="0"/>
                                  </a:rPr>
                                  <m:t>1</m:t>
                                </m:r>
                              </m:e>
                            </m:d>
                            <m:r>
                              <a:rPr lang="en-US" altLang="zh-CN" i="1">
                                <a:latin typeface="Cambria Math" panose="02040503050406030204" pitchFamily="18" charset="0"/>
                              </a:rPr>
                              <m:t>&gt;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r>
                                  <a:rPr lang="en-US" altLang="zh-CN" i="1">
                                    <a:latin typeface="Cambria Math" panose="02040503050406030204" pitchFamily="18" charset="0"/>
                                  </a:rPr>
                                  <m:t>0</m:t>
                                </m:r>
                              </m:e>
                            </m:d>
                          </m:e>
                        </m:d>
                      </m:e>
                    </m:func>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𝑑</m:t>
                        </m:r>
                      </m:sub>
                    </m:sSub>
                    <m:r>
                      <a:rPr lang="en-US" altLang="zh-CN" i="1">
                        <a:latin typeface="Cambria Math" panose="02040503050406030204" pitchFamily="18" charset="0"/>
                      </a:rPr>
                      <m:t>=</m:t>
                    </m:r>
                    <m:func>
                      <m:funcPr>
                        <m:ctrlPr>
                          <a:rPr lang="en-US" altLang="zh-CN" i="0">
                            <a:latin typeface="Cambria Math" panose="02040503050406030204" pitchFamily="18" charset="0"/>
                          </a:rPr>
                        </m:ctrlPr>
                      </m:funcPr>
                      <m:fName>
                        <m:r>
                          <m:rPr>
                            <m:sty m:val="p"/>
                          </m:rPr>
                          <a:rPr lang="en-US" altLang="zh-CN" i="0">
                            <a:latin typeface="Cambria Math" panose="02040503050406030204" pitchFamily="18" charset="0"/>
                          </a:rPr>
                          <m:t>Pr</m:t>
                        </m:r>
                      </m:fName>
                      <m:e>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i="1">
                            <a:latin typeface="Cambria Math" panose="02040503050406030204" pitchFamily="18" charset="0"/>
                          </a:rPr>
                          <m:t>(1)&lt;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i="1">
                            <a:latin typeface="Cambria Math" panose="02040503050406030204" pitchFamily="18" charset="0"/>
                          </a:rPr>
                          <m:t>(0)]</m:t>
                        </m:r>
                      </m:e>
                    </m:func>
                  </m:oMath>
                </a14:m>
                <a:r>
                  <a:rPr lang="zh-CN" altLang="en-US" dirty="0"/>
                  <a:t>。则</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den>
                          </m:f>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𝑐</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𝑐</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𝑑</m:t>
                                  </m:r>
                                </m:sub>
                              </m:sSub>
                            </m:den>
                          </m:f>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𝑑</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𝑐</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𝑑</m:t>
                                  </m:r>
                                </m:sub>
                              </m:sSub>
                            </m:den>
                          </m:f>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会出现所谓的负权重问题。即使依从者和判逆者平均因果效应均为正，</a:t>
                </a:r>
                <a:r>
                  <a:rPr lang="en-US" altLang="zh-CN" dirty="0"/>
                  <a:t>IV </a:t>
                </a:r>
                <a:r>
                  <a:rPr lang="zh-CN" altLang="en-US" dirty="0"/>
                  <a:t>估计量可能为负的情况。</a:t>
                </a:r>
                <a:endParaRPr lang="en-US" altLang="zh-CN" dirty="0"/>
              </a:p>
              <a:p>
                <a:pPr>
                  <a:lnSpc>
                    <a:spcPct val="120000"/>
                  </a:lnSpc>
                </a:pPr>
                <a:r>
                  <a:rPr lang="zh-CN" altLang="en-US" dirty="0"/>
                  <a:t>工具变量估计量估计的是依从者和叛逆者两类群体平均效应的加权平均，最终结果将无法解释。在传统工具变量方法中，假设同质性因果效应，则估计结果不受影响。</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𝜏</m:t>
                          </m:r>
                          <m:d>
                            <m:dPr>
                              <m:begChr m:val="{"/>
                              <m:endChr m:val="}"/>
                              <m:ctrlPr>
                                <a:rPr lang="zh-CN" altLang="en-US" i="1" smtClean="0">
                                  <a:latin typeface="Cambria Math" panose="02040503050406030204" pitchFamily="18" charset="0"/>
                                </a:rPr>
                              </m:ctrlPr>
                            </m:dPr>
                            <m:e>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𝜏</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E215B155-0E88-7282-9CF7-969F62A77AA9}"/>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77" t="-124"/>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CD9488F-48F1-8A1B-5AEC-E5EE510325D3}"/>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BC660A3-4946-A1CC-2D13-85EC5CB92707}"/>
              </a:ext>
            </a:extLst>
          </p:cNvPr>
          <p:cNvSpPr>
            <a:spLocks noGrp="1"/>
          </p:cNvSpPr>
          <p:nvPr>
            <p:ph type="sldNum" sz="quarter" idx="12"/>
          </p:nvPr>
        </p:nvSpPr>
        <p:spPr/>
        <p:txBody>
          <a:bodyPr/>
          <a:lstStyle/>
          <a:p>
            <a:fld id="{D41FC515-8169-4A29-AA56-DBE520D5741B}" type="slidenum">
              <a:rPr lang="zh-CN" altLang="en-US" smtClean="0"/>
              <a:t>29</a:t>
            </a:fld>
            <a:endParaRPr lang="zh-CN" altLang="en-US"/>
          </a:p>
        </p:txBody>
      </p:sp>
    </p:spTree>
    <p:extLst>
      <p:ext uri="{BB962C8B-B14F-4D97-AF65-F5344CB8AC3E}">
        <p14:creationId xmlns:p14="http://schemas.microsoft.com/office/powerpoint/2010/main" val="550556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24380D-0FA6-CE96-7B03-747BC91654A9}"/>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1. </a:t>
            </a:r>
            <a:r>
              <a:rPr lang="zh-CN" altLang="en-US" sz="2400" dirty="0"/>
              <a:t>谁是依从者</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E031054-B9C2-2806-102B-87A0D1DCCBE8}"/>
                  </a:ext>
                </a:extLst>
              </p:cNvPr>
              <p:cNvSpPr>
                <a:spLocks noGrp="1"/>
              </p:cNvSpPr>
              <p:nvPr>
                <p:ph idx="1"/>
              </p:nvPr>
            </p:nvSpPr>
            <p:spPr/>
            <p:txBody>
              <a:bodyPr>
                <a:normAutofit fontScale="55000" lnSpcReduction="20000"/>
              </a:bodyPr>
              <a:lstStyle/>
              <a:p>
                <a:pPr>
                  <a:lnSpc>
                    <a:spcPct val="120000"/>
                  </a:lnSpc>
                </a:pPr>
                <a:r>
                  <a:rPr lang="zh-CN" altLang="en-US" dirty="0"/>
                  <a:t>依从者的定义依赖于工具变量，依从者是哪些会依从于工具变量取值的个体，即𝑍 </a:t>
                </a:r>
                <a:r>
                  <a:rPr lang="en-US" altLang="zh-CN" dirty="0"/>
                  <a:t>= 0 </a:t>
                </a:r>
                <a:r>
                  <a:rPr lang="zh-CN" altLang="en-US" dirty="0"/>
                  <a:t>时，𝐷𝑖</a:t>
                </a:r>
                <a:r>
                  <a:rPr lang="en-US" altLang="zh-CN" dirty="0"/>
                  <a:t>(0) = 0</a:t>
                </a:r>
                <a:r>
                  <a:rPr lang="zh-CN" altLang="en-US" dirty="0"/>
                  <a:t>，𝑍 </a:t>
                </a:r>
                <a:r>
                  <a:rPr lang="en-US" altLang="zh-CN" dirty="0"/>
                  <a:t>= 1 </a:t>
                </a:r>
                <a:r>
                  <a:rPr lang="zh-CN" altLang="en-US" dirty="0"/>
                  <a:t>时，𝐷𝑖</a:t>
                </a:r>
                <a:r>
                  <a:rPr lang="en-US" altLang="zh-CN" dirty="0"/>
                  <a:t>(1) = 1</a:t>
                </a:r>
                <a:r>
                  <a:rPr lang="zh-CN" altLang="en-US" dirty="0"/>
                  <a:t>。</a:t>
                </a:r>
                <a:endParaRPr lang="en-US" altLang="zh-CN" dirty="0"/>
              </a:p>
              <a:p>
                <a:pPr>
                  <a:lnSpc>
                    <a:spcPct val="120000"/>
                  </a:lnSpc>
                </a:pPr>
                <a:r>
                  <a:rPr lang="zh-CN" altLang="en-US" dirty="0"/>
                  <a:t>对于个体𝑖，对应𝑍𝑖 的取值，或者是</a:t>
                </a:r>
                <a:r>
                  <a:rPr lang="en-US" altLang="zh-CN" dirty="0"/>
                  <a:t>1</a:t>
                </a:r>
                <a:r>
                  <a:rPr lang="zh-CN" altLang="en-US" dirty="0"/>
                  <a:t>，或者是</a:t>
                </a:r>
                <a:r>
                  <a:rPr lang="en-US" altLang="zh-CN" dirty="0"/>
                  <a:t>0</a:t>
                </a:r>
                <a:r>
                  <a:rPr lang="zh-CN" altLang="en-US" dirty="0"/>
                  <a:t>，因而，不能同时观测到𝐷𝑖</a:t>
                </a:r>
                <a:r>
                  <a:rPr lang="en-US" altLang="zh-CN" dirty="0"/>
                  <a:t>(0)</a:t>
                </a:r>
                <a:r>
                  <a:rPr lang="zh-CN" altLang="en-US" dirty="0"/>
                  <a:t>和𝐷𝑖</a:t>
                </a:r>
                <a:r>
                  <a:rPr lang="en-US" altLang="zh-CN" dirty="0"/>
                  <a:t>(1)</a:t>
                </a:r>
                <a:r>
                  <a:rPr lang="zh-CN" altLang="en-US" dirty="0"/>
                  <a:t>。因而，谁是依从者通常是不可观测的。</a:t>
                </a:r>
                <a:endParaRPr lang="en-US" altLang="zh-CN" dirty="0"/>
              </a:p>
              <a:p>
                <a:pPr>
                  <a:lnSpc>
                    <a:spcPct val="120000"/>
                  </a:lnSpc>
                </a:pPr>
                <a:r>
                  <a:rPr lang="zh-CN" altLang="en-US" dirty="0"/>
                  <a:t>𝐷𝑖 </a:t>
                </a:r>
                <a:r>
                  <a:rPr lang="en-US" altLang="zh-CN" dirty="0"/>
                  <a:t>= 1 </a:t>
                </a:r>
                <a:r>
                  <a:rPr lang="zh-CN" altLang="en-US" dirty="0"/>
                  <a:t>和𝐷𝑖 </a:t>
                </a:r>
                <a:r>
                  <a:rPr lang="en-US" altLang="zh-CN" dirty="0"/>
                  <a:t>= 0 </a:t>
                </a:r>
                <a:r>
                  <a:rPr lang="zh-CN" altLang="en-US" dirty="0"/>
                  <a:t>是可观测的，</a:t>
                </a:r>
                <a:endParaRPr lang="en-US" altLang="zh-CN" dirty="0"/>
              </a:p>
              <a:p>
                <a:pPr>
                  <a:lnSpc>
                    <a:spcPct val="120000"/>
                  </a:lnSpc>
                </a:pPr>
                <a:endParaRPr lang="en-US" altLang="zh-CN" dirty="0"/>
              </a:p>
              <a:p>
                <a:pPr>
                  <a:lnSpc>
                    <a:spcPct val="120000"/>
                  </a:lnSpc>
                </a:pPr>
                <a:endParaRPr lang="en-US" altLang="zh-CN" dirty="0"/>
              </a:p>
              <a:p>
                <a:pPr>
                  <a:lnSpc>
                    <a:spcPct val="120000"/>
                  </a:lnSpc>
                </a:pPr>
                <a14:m>
                  <m:oMath xmlns:m="http://schemas.openxmlformats.org/officeDocument/2006/math">
                    <m:eqArr>
                      <m:eqArrPr>
                        <m:ctrlPr>
                          <a:rPr lang="en-US" altLang="zh-CN" i="1" smtClean="0">
                            <a:latin typeface="Cambria Math" panose="02040503050406030204" pitchFamily="18" charset="0"/>
                          </a:rPr>
                        </m:ctrlPr>
                      </m:eqArrPr>
                      <m:e>
                        <m:r>
                          <m:rPr>
                            <m:aln/>
                          </m:rPr>
                          <a:rPr lang="en-US" altLang="zh-CN" i="1" smtClean="0">
                            <a:latin typeface="Cambria Math" panose="02040503050406030204" pitchFamily="18" charset="0"/>
                          </a:rPr>
                          <m:t>&amp;</m:t>
                        </m:r>
                        <m:limLow>
                          <m:limLowPr>
                            <m:ctrlPr>
                              <a:rPr lang="en-US" altLang="zh-CN" i="1" smtClean="0">
                                <a:latin typeface="Cambria Math" panose="02040503050406030204" pitchFamily="18" charset="0"/>
                              </a:rPr>
                            </m:ctrlPr>
                          </m:limLowPr>
                          <m:e>
                            <m:groupChr>
                              <m:groupChrPr>
                                <m:chr m:val="⏟"/>
                                <m:pos m:val="bot"/>
                                <m:vertJc m:val="top"/>
                                <m:ctrlPr>
                                  <a:rPr lang="en-US" altLang="zh-CN" i="1" smtClean="0">
                                    <a:latin typeface="Cambria Math" panose="02040503050406030204" pitchFamily="18" charset="0"/>
                                  </a:rPr>
                                </m:ctrlPr>
                              </m:groupChr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=1</m:t>
                                    </m:r>
                                  </m:e>
                                </m:d>
                              </m:e>
                            </m:groupChr>
                          </m:e>
                          <m:lim>
                            <m:r>
                              <m:rPr>
                                <m:nor/>
                              </m:rPr>
                              <a:rPr lang="en-US" altLang="zh-CN" i="0" smtClean="0">
                                <a:latin typeface="Cambria Math" panose="02040503050406030204" pitchFamily="18" charset="0"/>
                              </a:rPr>
                              <m:t>干预组平均因果效应</m:t>
                            </m:r>
                          </m:lim>
                        </m:limLow>
                      </m:e>
                      <m:e>
                        <m:r>
                          <m:rPr>
                            <m:aln/>
                          </m:rPr>
                          <a:rPr lang="en-US" altLang="zh-CN" i="1" smtClean="0">
                            <a:latin typeface="Cambria Math" panose="02040503050406030204" pitchFamily="18" charset="0"/>
                          </a:rPr>
                          <m:t>&amp;</m:t>
                        </m:r>
                        <m:r>
                          <a:rPr lang="en-US" altLang="zh-CN" i="1" smtClean="0">
                            <a:latin typeface="Cambria Math" panose="02040503050406030204" pitchFamily="18" charset="0"/>
                          </a:rPr>
                          <m:t>=</m:t>
                        </m:r>
                        <m:limLow>
                          <m:limLowPr>
                            <m:ctrlPr>
                              <a:rPr lang="en-US" altLang="zh-CN" i="1" smtClean="0">
                                <a:latin typeface="Cambria Math" panose="02040503050406030204" pitchFamily="18" charset="0"/>
                              </a:rPr>
                            </m:ctrlPr>
                          </m:limLowPr>
                          <m:e>
                            <m:groupChr>
                              <m:groupChrPr>
                                <m:chr m:val="⏟"/>
                                <m:pos m:val="bot"/>
                                <m:vertJc m:val="top"/>
                                <m:ctrlPr>
                                  <a:rPr lang="en-US" altLang="zh-CN" i="1" smtClean="0">
                                    <a:latin typeface="Cambria Math" panose="02040503050406030204" pitchFamily="18" charset="0"/>
                                  </a:rPr>
                                </m:ctrlPr>
                              </m:groupChr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=1</m:t>
                                    </m:r>
                                  </m:e>
                                </m:d>
                              </m:e>
                            </m:groupChr>
                          </m:e>
                          <m:lim>
                            <m:r>
                              <m:rPr>
                                <m:nor/>
                              </m:rPr>
                              <a:rPr lang="en-US" altLang="zh-CN" i="0" smtClean="0">
                                <a:latin typeface="Cambria Math" panose="02040503050406030204" pitchFamily="18" charset="0"/>
                              </a:rPr>
                              <m:t>总是参与者平均因果效应</m:t>
                            </m:r>
                          </m:lim>
                        </m:limLow>
                        <m:func>
                          <m:funcPr>
                            <m:ctrlPr>
                              <a:rPr lang="en-US" altLang="zh-CN" i="1" smtClean="0">
                                <a:latin typeface="Cambria Math" panose="02040503050406030204" pitchFamily="18" charset="0"/>
                              </a:rPr>
                            </m:ctrlPr>
                          </m:funcPr>
                          <m:fName>
                            <m:r>
                              <m:rPr>
                                <m:sty m:val="p"/>
                              </m:rPr>
                              <a:rPr lang="en-US" altLang="zh-CN" i="1" smtClean="0">
                                <a:latin typeface="Cambria Math" panose="02040503050406030204" pitchFamily="18" charset="0"/>
                              </a:rPr>
                              <m:t>Pr</m:t>
                            </m:r>
                          </m:fName>
                          <m:e>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=1|</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=1</m:t>
                                </m:r>
                              </m:e>
                            </m:d>
                          </m:e>
                        </m:func>
                      </m:e>
                      <m:e>
                        <m:r>
                          <m:rPr>
                            <m:aln/>
                          </m:rPr>
                          <a:rPr lang="en-US" altLang="zh-CN" i="1" smtClean="0">
                            <a:latin typeface="Cambria Math" panose="02040503050406030204" pitchFamily="18" charset="0"/>
                          </a:rPr>
                          <m:t>&amp;</m:t>
                        </m:r>
                        <m:r>
                          <a:rPr lang="en-US" altLang="zh-CN" i="1" smtClean="0">
                            <a:latin typeface="Cambria Math" panose="02040503050406030204" pitchFamily="18" charset="0"/>
                          </a:rPr>
                          <m:t>+</m:t>
                        </m:r>
                        <m:limLow>
                          <m:limLowPr>
                            <m:ctrlPr>
                              <a:rPr lang="en-US" altLang="zh-CN" i="1" smtClean="0">
                                <a:latin typeface="Cambria Math" panose="02040503050406030204" pitchFamily="18" charset="0"/>
                              </a:rPr>
                            </m:ctrlPr>
                          </m:limLowPr>
                          <m:e>
                            <m:groupChr>
                              <m:groupChrPr>
                                <m:chr m:val="⏟"/>
                                <m:pos m:val="bot"/>
                                <m:vertJc m:val="top"/>
                                <m:ctrlPr>
                                  <a:rPr lang="en-US" altLang="zh-CN" i="1" smtClean="0">
                                    <a:latin typeface="Cambria Math" panose="02040503050406030204" pitchFamily="18" charset="0"/>
                                  </a:rPr>
                                </m:ctrlPr>
                              </m:groupChr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e>
                                    </m:d>
                                    <m:r>
                                      <a:rPr lang="en-US" altLang="zh-CN" i="1" smtClean="0">
                                        <a:latin typeface="Cambria Math" panose="02040503050406030204" pitchFamily="18" charset="0"/>
                                      </a:rPr>
                                      <m:t>&gt;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e>
                                </m:d>
                              </m:e>
                            </m:groupChr>
                          </m:e>
                          <m:lim>
                            <m:r>
                              <m:rPr>
                                <m:nor/>
                              </m:rPr>
                              <a:rPr lang="en-US" altLang="zh-CN" i="0" smtClean="0">
                                <a:latin typeface="Cambria Math" panose="02040503050406030204" pitchFamily="18" charset="0"/>
                              </a:rPr>
                              <m:t>依从者平均因果效应</m:t>
                            </m:r>
                          </m:lim>
                        </m:limLow>
                        <m:func>
                          <m:funcPr>
                            <m:ctrlPr>
                              <a:rPr lang="en-US" altLang="zh-CN" i="1" smtClean="0">
                                <a:latin typeface="Cambria Math" panose="02040503050406030204" pitchFamily="18" charset="0"/>
                              </a:rPr>
                            </m:ctrlPr>
                          </m:funcPr>
                          <m:fName>
                            <m:r>
                              <m:rPr>
                                <m:sty m:val="p"/>
                              </m:rPr>
                              <a:rPr lang="en-US" altLang="zh-CN" i="1" smtClean="0">
                                <a:latin typeface="Cambria Math" panose="02040503050406030204" pitchFamily="18" charset="0"/>
                              </a:rPr>
                              <m:t>Pr</m:t>
                            </m:r>
                          </m:fName>
                          <m:e>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e>
                                </m:d>
                                <m:r>
                                  <a:rPr lang="en-US" altLang="zh-CN" i="1" smtClean="0">
                                    <a:latin typeface="Cambria Math" panose="02040503050406030204" pitchFamily="18" charset="0"/>
                                  </a:rPr>
                                  <m:t>&gt;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𝑍</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=1|</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=1</m:t>
                                </m:r>
                              </m:e>
                            </m:d>
                          </m:e>
                        </m:func>
                        <m:r>
                          <a:rPr lang="en-US" altLang="zh-CN" i="1" smtClean="0">
                            <a:latin typeface="Cambria Math" panose="02040503050406030204" pitchFamily="18" charset="0"/>
                          </a:rPr>
                          <m:t>.</m:t>
                        </m:r>
                        <m:r>
                          <a:rPr lang="en-US" altLang="zh-CN" b="0" i="1" smtClean="0">
                            <a:latin typeface="Cambria Math" panose="02040503050406030204" pitchFamily="18" charset="0"/>
                          </a:rPr>
                          <m:t>                  </m:t>
                        </m:r>
                        <m:r>
                          <a:rPr lang="zh-CN" altLang="en-US" i="1">
                            <a:latin typeface="Cambria Math" panose="02040503050406030204" pitchFamily="18" charset="0"/>
                          </a:rPr>
                          <m:t>（</m:t>
                        </m:r>
                        <m:r>
                          <a:rPr lang="en-US" altLang="zh-CN" b="0" i="1" smtClean="0">
                            <a:latin typeface="Cambria Math" panose="02040503050406030204" pitchFamily="18" charset="0"/>
                          </a:rPr>
                          <m:t>19</m:t>
                        </m:r>
                        <m:r>
                          <a:rPr lang="zh-CN" altLang="en-US" i="1">
                            <a:latin typeface="Cambria Math" panose="02040503050406030204" pitchFamily="18" charset="0"/>
                          </a:rPr>
                          <m:t>）</m:t>
                        </m:r>
                      </m:e>
                    </m:eqArr>
                  </m:oMath>
                </a14:m>
                <a:endParaRPr lang="en-US" altLang="zh-CN" dirty="0"/>
              </a:p>
              <a:p>
                <a:pPr>
                  <a:lnSpc>
                    <a:spcPct val="120000"/>
                  </a:lnSpc>
                </a:pPr>
                <a:endParaRPr lang="zh-CN" altLang="en-US" dirty="0"/>
              </a:p>
            </p:txBody>
          </p:sp>
        </mc:Choice>
        <mc:Fallback xmlns="">
          <p:sp>
            <p:nvSpPr>
              <p:cNvPr id="3" name="内容占位符 2">
                <a:extLst>
                  <a:ext uri="{FF2B5EF4-FFF2-40B4-BE49-F238E27FC236}">
                    <a16:creationId xmlns:a16="http://schemas.microsoft.com/office/drawing/2014/main" id="{0E031054-B9C2-2806-102B-87A0D1DCCBE8}"/>
                  </a:ext>
                </a:extLst>
              </p:cNvPr>
              <p:cNvSpPr>
                <a:spLocks noGrp="1" noRot="1" noChangeAspect="1" noMove="1" noResize="1" noEditPoints="1" noAdjustHandles="1" noChangeArrowheads="1" noChangeShapeType="1" noTextEdit="1"/>
              </p:cNvSpPr>
              <p:nvPr>
                <p:ph idx="1"/>
              </p:nvPr>
            </p:nvSpPr>
            <p:spPr>
              <a:blipFill>
                <a:blip r:embed="rId2"/>
                <a:stretch>
                  <a:fillRect l="-232" t="-280" r="-77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768D272-23B9-CD19-5322-CEEB8DA30E4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68BC51A-CD15-42CA-6B35-1EEB707A0A1D}"/>
              </a:ext>
            </a:extLst>
          </p:cNvPr>
          <p:cNvSpPr>
            <a:spLocks noGrp="1"/>
          </p:cNvSpPr>
          <p:nvPr>
            <p:ph type="sldNum" sz="quarter" idx="12"/>
          </p:nvPr>
        </p:nvSpPr>
        <p:spPr/>
        <p:txBody>
          <a:bodyPr/>
          <a:lstStyle/>
          <a:p>
            <a:fld id="{D41FC515-8169-4A29-AA56-DBE520D5741B}" type="slidenum">
              <a:rPr lang="zh-CN" altLang="en-US" smtClean="0"/>
              <a:t>30</a:t>
            </a:fld>
            <a:endParaRPr lang="zh-CN" altLang="en-US" dirty="0"/>
          </a:p>
        </p:txBody>
      </p:sp>
      <p:pic>
        <p:nvPicPr>
          <p:cNvPr id="7" name="图片 6">
            <a:extLst>
              <a:ext uri="{FF2B5EF4-FFF2-40B4-BE49-F238E27FC236}">
                <a16:creationId xmlns:a16="http://schemas.microsoft.com/office/drawing/2014/main" id="{9D8E2E7B-0D76-2616-5271-9D980CCB04A6}"/>
              </a:ext>
            </a:extLst>
          </p:cNvPr>
          <p:cNvPicPr>
            <a:picLocks noChangeAspect="1"/>
          </p:cNvPicPr>
          <p:nvPr/>
        </p:nvPicPr>
        <p:blipFill>
          <a:blip r:embed="rId3"/>
          <a:stretch>
            <a:fillRect/>
          </a:stretch>
        </p:blipFill>
        <p:spPr>
          <a:xfrm>
            <a:off x="3480304" y="3266078"/>
            <a:ext cx="3281443" cy="1041227"/>
          </a:xfrm>
          <a:prstGeom prst="rect">
            <a:avLst/>
          </a:prstGeom>
        </p:spPr>
      </p:pic>
    </p:spTree>
    <p:extLst>
      <p:ext uri="{BB962C8B-B14F-4D97-AF65-F5344CB8AC3E}">
        <p14:creationId xmlns:p14="http://schemas.microsoft.com/office/powerpoint/2010/main" val="889470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3D0851-CB1C-4366-ACA2-4E1C56E198E8}"/>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1. </a:t>
            </a:r>
            <a:r>
              <a:rPr lang="zh-CN" altLang="en-US" sz="2400" dirty="0"/>
              <a:t>谁是依从者</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56FEECF-2735-DEBF-E2D0-75E952C15214}"/>
                  </a:ext>
                </a:extLst>
              </p:cNvPr>
              <p:cNvSpPr>
                <a:spLocks noGrp="1"/>
              </p:cNvSpPr>
              <p:nvPr>
                <p:ph idx="1"/>
              </p:nvPr>
            </p:nvSpPr>
            <p:spPr/>
            <p:txBody>
              <a:bodyPr>
                <a:normAutofit fontScale="62500" lnSpcReduction="20000"/>
              </a:bodyPr>
              <a:lstStyle/>
              <a:p>
                <a:pPr>
                  <a:lnSpc>
                    <a:spcPct val="120000"/>
                  </a:lnSpc>
                </a:pPr>
                <a:r>
                  <a:rPr lang="zh-CN" altLang="en-US" dirty="0"/>
                  <a:t>同样地，</a:t>
                </a:r>
                <a:endParaRPr lang="en-US" altLang="zh-CN" dirty="0"/>
              </a:p>
              <a:p>
                <a:pPr>
                  <a:lnSpc>
                    <a:spcPct val="120000"/>
                  </a:lnSpc>
                </a:pPr>
                <a14:m>
                  <m:oMath xmlns:m="http://schemas.openxmlformats.org/officeDocument/2006/math">
                    <m:eqArr>
                      <m:eqArrPr>
                        <m:ctrlPr>
                          <a:rPr lang="zh-CN" altLang="en-US" i="1" smtClean="0">
                            <a:latin typeface="Cambria Math" panose="02040503050406030204" pitchFamily="18" charset="0"/>
                          </a:rPr>
                        </m:ctrlPr>
                      </m:eqArrPr>
                      <m:e>
                        <m:r>
                          <m:rPr>
                            <m:aln/>
                          </m:rPr>
                          <a:rPr lang="zh-CN" altLang="en-US" i="1" smtClean="0">
                            <a:latin typeface="Cambria Math" panose="02040503050406030204" pitchFamily="18" charset="0"/>
                          </a:rPr>
                          <m:t>&amp;</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groupChr>
                          </m:e>
                          <m:lim>
                            <m:r>
                              <m:rPr>
                                <m:nor/>
                              </m:rPr>
                              <a:rPr lang="zh-CN" altLang="en-US" i="0" smtClean="0">
                                <a:latin typeface="Cambria Math" panose="02040503050406030204" pitchFamily="18" charset="0"/>
                              </a:rPr>
                              <m:t>控制组平均因果效应</m:t>
                            </m:r>
                          </m:lim>
                        </m:limLow>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=0</m:t>
                                    </m:r>
                                  </m:e>
                                </m:d>
                              </m:e>
                            </m:groupChr>
                          </m:e>
                          <m:lim>
                            <m:r>
                              <m:rPr>
                                <m:nor/>
                              </m:rPr>
                              <a:rPr lang="zh-CN" altLang="en-US" i="0" smtClean="0">
                                <a:latin typeface="Cambria Math" panose="02040503050406030204" pitchFamily="18" charset="0"/>
                              </a:rPr>
                              <m:t>从不参与者平均因果效应</m:t>
                            </m:r>
                          </m:lim>
                        </m:limLow>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=0|</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func>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groupChr>
                          </m:e>
                          <m:lim>
                            <m:r>
                              <m:rPr>
                                <m:nor/>
                              </m:rPr>
                              <a:rPr lang="zh-CN" altLang="en-US" i="0" smtClean="0">
                                <a:latin typeface="Cambria Math" panose="02040503050406030204" pitchFamily="18" charset="0"/>
                              </a:rPr>
                              <m:t>依从者平均因果效应</m:t>
                            </m:r>
                          </m:lim>
                        </m:limLow>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func>
                        <m:r>
                          <a:rPr lang="zh-CN" altLang="en-US" i="1" smtClean="0">
                            <a:latin typeface="Cambria Math" panose="02040503050406030204" pitchFamily="18" charset="0"/>
                          </a:rPr>
                          <m:t>.</m:t>
                        </m:r>
                      </m:e>
                    </m:eqArr>
                  </m:oMath>
                </a14:m>
                <a:endParaRPr lang="en-US" altLang="zh-CN" dirty="0"/>
              </a:p>
              <a:p>
                <a:pPr>
                  <a:lnSpc>
                    <a:spcPct val="120000"/>
                  </a:lnSpc>
                </a:pPr>
                <a:endParaRPr lang="en-US" altLang="zh-CN" dirty="0"/>
              </a:p>
              <a:p>
                <a:pPr>
                  <a:lnSpc>
                    <a:spcPct val="120000"/>
                  </a:lnSpc>
                </a:pPr>
                <a:r>
                  <a:rPr lang="zh-CN" altLang="en-US" dirty="0"/>
                  <a:t>在一些特殊例子中，没有总是参与者或从不参考者，此时依从者可以部分观测。参</a:t>
                </a:r>
              </a:p>
              <a:p>
                <a:pPr>
                  <a:lnSpc>
                    <a:spcPct val="120000"/>
                  </a:lnSpc>
                </a:pPr>
                <a:r>
                  <a:rPr lang="zh-CN" altLang="en-US" dirty="0"/>
                  <a:t>考</a:t>
                </a:r>
                <a:r>
                  <a:rPr lang="en-US" altLang="zh-CN" dirty="0"/>
                  <a:t>Angrist and Evans (1998)</a:t>
                </a:r>
                <a:r>
                  <a:rPr lang="zh-CN" altLang="en-US" dirty="0"/>
                  <a:t>、</a:t>
                </a:r>
                <a:r>
                  <a:rPr lang="en-US" altLang="zh-CN" dirty="0" err="1"/>
                  <a:t>Oreopoulos</a:t>
                </a:r>
                <a:r>
                  <a:rPr lang="en-US" altLang="zh-CN" dirty="0"/>
                  <a:t> (2006)</a:t>
                </a:r>
                <a:r>
                  <a:rPr lang="zh-CN" altLang="en-US" dirty="0"/>
                  <a:t>。</a:t>
                </a:r>
              </a:p>
            </p:txBody>
          </p:sp>
        </mc:Choice>
        <mc:Fallback xmlns="">
          <p:sp>
            <p:nvSpPr>
              <p:cNvPr id="3" name="内容占位符 2">
                <a:extLst>
                  <a:ext uri="{FF2B5EF4-FFF2-40B4-BE49-F238E27FC236}">
                    <a16:creationId xmlns:a16="http://schemas.microsoft.com/office/drawing/2014/main" id="{756FEECF-2735-DEBF-E2D0-75E952C15214}"/>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F33A312-DFB2-F3AB-BC37-823353167F2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8640795-A485-A466-13EF-F5362892903A}"/>
              </a:ext>
            </a:extLst>
          </p:cNvPr>
          <p:cNvSpPr>
            <a:spLocks noGrp="1"/>
          </p:cNvSpPr>
          <p:nvPr>
            <p:ph type="sldNum" sz="quarter" idx="12"/>
          </p:nvPr>
        </p:nvSpPr>
        <p:spPr/>
        <p:txBody>
          <a:bodyPr/>
          <a:lstStyle/>
          <a:p>
            <a:fld id="{D41FC515-8169-4A29-AA56-DBE520D5741B}" type="slidenum">
              <a:rPr lang="zh-CN" altLang="en-US" smtClean="0"/>
              <a:t>31</a:t>
            </a:fld>
            <a:endParaRPr lang="zh-CN" altLang="en-US"/>
          </a:p>
        </p:txBody>
      </p:sp>
    </p:spTree>
    <p:extLst>
      <p:ext uri="{BB962C8B-B14F-4D97-AF65-F5344CB8AC3E}">
        <p14:creationId xmlns:p14="http://schemas.microsoft.com/office/powerpoint/2010/main" val="2593000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80FA4-C2E0-269D-3BC8-263A49B1B3FD}"/>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1. </a:t>
            </a:r>
            <a:r>
              <a:rPr lang="zh-CN" altLang="en-US" sz="2400" dirty="0"/>
              <a:t>谁是依从者</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EBCA4CE-24BC-273D-FD3A-CAEBD3D1ED9D}"/>
                  </a:ext>
                </a:extLst>
              </p:cNvPr>
              <p:cNvSpPr>
                <a:spLocks noGrp="1"/>
              </p:cNvSpPr>
              <p:nvPr>
                <p:ph idx="1"/>
              </p:nvPr>
            </p:nvSpPr>
            <p:spPr/>
            <p:txBody>
              <a:bodyPr>
                <a:normAutofit fontScale="70000" lnSpcReduction="20000"/>
              </a:bodyPr>
              <a:lstStyle/>
              <a:p>
                <a:pPr>
                  <a:lnSpc>
                    <a:spcPct val="110000"/>
                  </a:lnSpc>
                </a:pPr>
                <a:r>
                  <a:rPr lang="zh-CN" altLang="en-US" dirty="0"/>
                  <a:t>了解依从者在总体中的比重及依从者的基本特征有助于了解工具变量估计量的解释能力。总体中依从者的占比就是第一阶段</a:t>
                </a:r>
                <a:r>
                  <a:rPr lang="en-US" altLang="zh-CN" dirty="0"/>
                  <a:t>(18)</a:t>
                </a:r>
                <a:r>
                  <a:rPr lang="zh-CN" altLang="en-US" dirty="0"/>
                  <a:t>，即</a:t>
                </a:r>
                <a:endParaRPr lang="en-US" altLang="zh-CN" dirty="0"/>
              </a:p>
              <a:p>
                <a:pPr>
                  <a:lnSpc>
                    <a:spcPct val="110000"/>
                  </a:lnSpc>
                </a:pPr>
                <a14:m>
                  <m:oMath xmlns:m="http://schemas.openxmlformats.org/officeDocument/2006/math">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oMath>
                </a14:m>
                <a:endParaRPr lang="en-US" altLang="zh-CN" dirty="0"/>
              </a:p>
              <a:p>
                <a:pPr>
                  <a:lnSpc>
                    <a:spcPct val="110000"/>
                  </a:lnSpc>
                </a:pPr>
                <a:r>
                  <a:rPr lang="zh-CN" altLang="en-US" dirty="0"/>
                  <a:t>干预组和控制组中依从者的比重分别为：</a:t>
                </a:r>
                <a:endParaRPr lang="en-US" altLang="zh-CN" dirty="0"/>
              </a:p>
              <a:p>
                <a:pPr>
                  <a:lnSpc>
                    <a:spcPct val="110000"/>
                  </a:lnSpc>
                </a:pPr>
                <a14:m>
                  <m:oMath xmlns:m="http://schemas.openxmlformats.org/officeDocument/2006/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func>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num>
                          <m:den>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func>
                          </m:den>
                        </m:f>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func>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num>
                          <m:den>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func>
                          </m:den>
                        </m:f>
                        <m:r>
                          <a:rPr lang="zh-CN" altLang="en-US" i="1" smtClean="0">
                            <a:latin typeface="Cambria Math" panose="02040503050406030204" pitchFamily="18" charset="0"/>
                          </a:rPr>
                          <m:t>.</m:t>
                        </m:r>
                        <m:r>
                          <a:rPr lang="en-US" altLang="zh-CN" b="0" i="1" smtClean="0">
                            <a:latin typeface="Cambria Math" panose="02040503050406030204" pitchFamily="18" charset="0"/>
                          </a:rPr>
                          <m:t>                </m:t>
                        </m:r>
                        <m:r>
                          <a:rPr lang="zh-CN" altLang="en-US" i="1">
                            <a:latin typeface="Cambria Math" panose="02040503050406030204" pitchFamily="18" charset="0"/>
                          </a:rPr>
                          <m:t>（</m:t>
                        </m:r>
                        <m:r>
                          <a:rPr lang="en-US" altLang="zh-CN" b="0" i="1" smtClean="0">
                            <a:latin typeface="Cambria Math" panose="02040503050406030204" pitchFamily="18" charset="0"/>
                          </a:rPr>
                          <m:t>21</m:t>
                        </m:r>
                        <m:r>
                          <a:rPr lang="zh-CN" altLang="en-US" i="1">
                            <a:latin typeface="Cambria Math" panose="02040503050406030204" pitchFamily="18" charset="0"/>
                          </a:rPr>
                          <m:t>）</m:t>
                        </m:r>
                      </m:e>
                    </m:eqArr>
                  </m:oMath>
                </a14:m>
                <a:endParaRPr lang="en-US" altLang="zh-CN" dirty="0"/>
              </a:p>
              <a:p>
                <a:pPr>
                  <a:lnSpc>
                    <a:spcPct val="110000"/>
                  </a:lnSpc>
                </a:pPr>
                <a14:m>
                  <m:oMath xmlns:m="http://schemas.openxmlformats.org/officeDocument/2006/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func>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func>
                              </m:e>
                            </m:d>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num>
                          <m:den>
                            <m:r>
                              <a:rPr lang="zh-CN" altLang="en-US" i="1" smtClean="0">
                                <a:latin typeface="Cambria Math" panose="02040503050406030204" pitchFamily="18" charset="0"/>
                              </a:rPr>
                              <m:t>1−</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func>
                          </m:den>
                        </m:f>
                        <m:r>
                          <a:rPr lang="zh-CN" altLang="en-US" i="1" smtClean="0">
                            <a:latin typeface="Cambria Math" panose="02040503050406030204" pitchFamily="18" charset="0"/>
                          </a:rPr>
                          <m:t>.</m:t>
                        </m:r>
                        <m:r>
                          <a:rPr lang="en-US" altLang="zh-CN" b="0" i="1" smtClean="0">
                            <a:latin typeface="Cambria Math" panose="02040503050406030204" pitchFamily="18" charset="0"/>
                          </a:rPr>
                          <m:t>         </m:t>
                        </m:r>
                        <m:r>
                          <a:rPr lang="zh-CN" altLang="en-US" i="1">
                            <a:latin typeface="Cambria Math" panose="02040503050406030204" pitchFamily="18" charset="0"/>
                          </a:rPr>
                          <m:t>（</m:t>
                        </m:r>
                        <m:r>
                          <a:rPr lang="en-US" altLang="zh-CN" b="0" i="1" smtClean="0">
                            <a:latin typeface="Cambria Math" panose="02040503050406030204" pitchFamily="18" charset="0"/>
                          </a:rPr>
                          <m:t>22</m:t>
                        </m:r>
                        <m:r>
                          <a:rPr lang="zh-CN" altLang="en-US" i="1">
                            <a:latin typeface="Cambria Math" panose="02040503050406030204" pitchFamily="18" charset="0"/>
                          </a:rPr>
                          <m:t>）</m:t>
                        </m:r>
                      </m:e>
                    </m:eqArr>
                  </m:oMath>
                </a14:m>
                <a:endParaRPr lang="zh-CN" altLang="en-US" dirty="0"/>
              </a:p>
            </p:txBody>
          </p:sp>
        </mc:Choice>
        <mc:Fallback xmlns="">
          <p:sp>
            <p:nvSpPr>
              <p:cNvPr id="3" name="内容占位符 2">
                <a:extLst>
                  <a:ext uri="{FF2B5EF4-FFF2-40B4-BE49-F238E27FC236}">
                    <a16:creationId xmlns:a16="http://schemas.microsoft.com/office/drawing/2014/main" id="{7EBCA4CE-24BC-273D-FD3A-CAEBD3D1ED9D}"/>
                  </a:ext>
                </a:extLst>
              </p:cNvPr>
              <p:cNvSpPr>
                <a:spLocks noGrp="1" noRot="1" noChangeAspect="1" noMove="1" noResize="1" noEditPoints="1" noAdjustHandles="1" noChangeArrowheads="1" noChangeShapeType="1" noTextEdit="1"/>
              </p:cNvSpPr>
              <p:nvPr>
                <p:ph idx="1"/>
              </p:nvPr>
            </p:nvSpPr>
            <p:spPr>
              <a:blipFill>
                <a:blip r:embed="rId2"/>
                <a:stretch>
                  <a:fillRect l="-696" t="-1401" r="-30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08ACE96-88B2-253C-B2E0-7670E446D25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CE84B54-677D-AEF4-4DF0-A231E97C0CC3}"/>
              </a:ext>
            </a:extLst>
          </p:cNvPr>
          <p:cNvSpPr>
            <a:spLocks noGrp="1"/>
          </p:cNvSpPr>
          <p:nvPr>
            <p:ph type="sldNum" sz="quarter" idx="12"/>
          </p:nvPr>
        </p:nvSpPr>
        <p:spPr/>
        <p:txBody>
          <a:bodyPr/>
          <a:lstStyle/>
          <a:p>
            <a:fld id="{D41FC515-8169-4A29-AA56-DBE520D5741B}" type="slidenum">
              <a:rPr lang="zh-CN" altLang="en-US" smtClean="0"/>
              <a:t>32</a:t>
            </a:fld>
            <a:endParaRPr lang="zh-CN" altLang="en-US"/>
          </a:p>
        </p:txBody>
      </p:sp>
    </p:spTree>
    <p:extLst>
      <p:ext uri="{BB962C8B-B14F-4D97-AF65-F5344CB8AC3E}">
        <p14:creationId xmlns:p14="http://schemas.microsoft.com/office/powerpoint/2010/main" val="37596973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AFA0CA-6B19-435E-763F-5F24FB9CA878}"/>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1. </a:t>
            </a:r>
            <a:r>
              <a:rPr lang="zh-CN" altLang="en-US" sz="2400" dirty="0"/>
              <a:t>谁是依从者</a:t>
            </a:r>
            <a:endParaRPr lang="zh-CN" altLang="en-US" dirty="0"/>
          </a:p>
        </p:txBody>
      </p:sp>
      <p:pic>
        <p:nvPicPr>
          <p:cNvPr id="7" name="内容占位符 6">
            <a:extLst>
              <a:ext uri="{FF2B5EF4-FFF2-40B4-BE49-F238E27FC236}">
                <a16:creationId xmlns:a16="http://schemas.microsoft.com/office/drawing/2014/main" id="{711B7FBE-F600-146D-1ED6-53B41141BF6D}"/>
              </a:ext>
            </a:extLst>
          </p:cNvPr>
          <p:cNvPicPr>
            <a:picLocks noGrp="1" noChangeAspect="1"/>
          </p:cNvPicPr>
          <p:nvPr>
            <p:ph idx="1"/>
          </p:nvPr>
        </p:nvPicPr>
        <p:blipFill>
          <a:blip r:embed="rId2"/>
          <a:stretch>
            <a:fillRect/>
          </a:stretch>
        </p:blipFill>
        <p:spPr>
          <a:xfrm>
            <a:off x="628650" y="2304841"/>
            <a:ext cx="7886700" cy="3392905"/>
          </a:xfrm>
          <a:prstGeom prst="rect">
            <a:avLst/>
          </a:prstGeom>
        </p:spPr>
      </p:pic>
      <p:sp>
        <p:nvSpPr>
          <p:cNvPr id="4" name="页脚占位符 3">
            <a:extLst>
              <a:ext uri="{FF2B5EF4-FFF2-40B4-BE49-F238E27FC236}">
                <a16:creationId xmlns:a16="http://schemas.microsoft.com/office/drawing/2014/main" id="{56F4079A-E4AD-4AA0-9FA3-8AE658CD938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C6F40FD-07C1-9D66-6749-667FD48C3E69}"/>
              </a:ext>
            </a:extLst>
          </p:cNvPr>
          <p:cNvSpPr>
            <a:spLocks noGrp="1"/>
          </p:cNvSpPr>
          <p:nvPr>
            <p:ph type="sldNum" sz="quarter" idx="12"/>
          </p:nvPr>
        </p:nvSpPr>
        <p:spPr/>
        <p:txBody>
          <a:bodyPr/>
          <a:lstStyle/>
          <a:p>
            <a:fld id="{D41FC515-8169-4A29-AA56-DBE520D5741B}" type="slidenum">
              <a:rPr lang="zh-CN" altLang="en-US" smtClean="0"/>
              <a:t>33</a:t>
            </a:fld>
            <a:endParaRPr lang="zh-CN" altLang="en-US"/>
          </a:p>
        </p:txBody>
      </p:sp>
    </p:spTree>
    <p:extLst>
      <p:ext uri="{BB962C8B-B14F-4D97-AF65-F5344CB8AC3E}">
        <p14:creationId xmlns:p14="http://schemas.microsoft.com/office/powerpoint/2010/main" val="174362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CC09FF-D565-38AE-071B-70C62B23E284}"/>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1. </a:t>
            </a:r>
            <a:r>
              <a:rPr lang="zh-CN" altLang="en-US" sz="2400" dirty="0"/>
              <a:t>谁是依从者</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68A6B0A-F654-0E3A-7A0C-135823415C43}"/>
                  </a:ext>
                </a:extLst>
              </p:cNvPr>
              <p:cNvSpPr>
                <a:spLocks noGrp="1"/>
              </p:cNvSpPr>
              <p:nvPr>
                <p:ph idx="1"/>
              </p:nvPr>
            </p:nvSpPr>
            <p:spPr/>
            <p:txBody>
              <a:bodyPr>
                <a:normAutofit/>
              </a:bodyPr>
              <a:lstStyle/>
              <a:p>
                <a:pPr>
                  <a:lnSpc>
                    <a:spcPct val="100000"/>
                  </a:lnSpc>
                </a:pPr>
                <a:r>
                  <a:rPr lang="zh-CN" altLang="en-US" sz="1800" dirty="0"/>
                  <a:t>尽管可以计算出依从者的比重，但仍然无法识别出谁是依从者，从而无法将依从者分离出来。</a:t>
                </a:r>
                <a:endParaRPr lang="en-US" altLang="zh-CN" sz="1800" dirty="0"/>
              </a:p>
              <a:p>
                <a:pPr>
                  <a:lnSpc>
                    <a:spcPct val="100000"/>
                  </a:lnSpc>
                </a:pPr>
                <a:r>
                  <a:rPr lang="zh-CN" altLang="en-US" sz="1800" dirty="0"/>
                  <a:t>但是，可以大概地了解依从者的基本特征，假设𝑋𝑖 为一二元变量，比如表示是否为大学教育，则可以计算依从者中是大学教育的可能性，</a:t>
                </a:r>
                <a:endParaRPr lang="en-US" altLang="zh-CN" sz="1800" dirty="0"/>
              </a:p>
              <a:p>
                <a:pPr marL="0" indent="0">
                  <a:lnSpc>
                    <a:spcPct val="100000"/>
                  </a:lnSpc>
                  <a:buNone/>
                </a:pPr>
                <a:endParaRPr lang="en-US" altLang="zh-CN" sz="1800" dirty="0"/>
              </a:p>
              <a:p>
                <a:pPr marL="0" indent="0">
                  <a:lnSpc>
                    <a:spcPct val="100000"/>
                  </a:lnSpc>
                  <a:buNone/>
                </a:pPr>
                <a14:m>
                  <m:oMathPara xmlns:m="http://schemas.openxmlformats.org/officeDocument/2006/math">
                    <m:oMath>
                      <m:eqArr>
                        <m:eqArrPr>
                          <m:ctrlPr>
                            <a:rPr lang="zh-CN" altLang="en-US" sz="1800" i="1" smtClean="0">
                              <a:latin typeface="Cambria Math" panose="02040503050406030204" pitchFamily="18" charset="0"/>
                            </a:rPr>
                          </m:ctrlPr>
                        </m:eqArrPr>
                        <m:e>
                          <m:f>
                            <m:fPr>
                              <m:ctrlPr>
                                <a:rPr lang="zh-CN" altLang="en-US" sz="1800" i="1" smtClean="0">
                                  <a:latin typeface="Cambria Math" panose="02040503050406030204" pitchFamily="18" charset="0"/>
                                </a:rPr>
                              </m:ctrlPr>
                            </m:fPr>
                            <m:num>
                              <m:func>
                                <m:funcPr>
                                  <m:ctrlPr>
                                    <a:rPr lang="zh-CN" altLang="en-US" sz="1800" i="1" smtClean="0">
                                      <a:latin typeface="Cambria Math" panose="02040503050406030204" pitchFamily="18" charset="0"/>
                                    </a:rPr>
                                  </m:ctrlPr>
                                </m:funcPr>
                                <m:fName>
                                  <m:r>
                                    <m:rPr>
                                      <m:sty m:val="p"/>
                                    </m:rPr>
                                    <a:rPr lang="zh-CN" altLang="en-US" sz="1800" i="1" smtClean="0">
                                      <a:latin typeface="Cambria Math" panose="02040503050406030204" pitchFamily="18" charset="0"/>
                                    </a:rPr>
                                    <m:t>Pr</m:t>
                                  </m:r>
                                </m:fName>
                                <m:e>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=1|</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1</m:t>
                                          </m:r>
                                        </m:e>
                                      </m:d>
                                      <m:r>
                                        <a:rPr lang="zh-CN" altLang="en-US" sz="1800" i="1" smtClean="0">
                                          <a:latin typeface="Cambria Math" panose="02040503050406030204" pitchFamily="18" charset="0"/>
                                        </a:rPr>
                                        <m:t>&gt;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0</m:t>
                                          </m:r>
                                        </m:e>
                                      </m:d>
                                    </m:e>
                                  </m:d>
                                </m:e>
                              </m:func>
                            </m:num>
                            <m:den>
                              <m:func>
                                <m:funcPr>
                                  <m:ctrlPr>
                                    <a:rPr lang="zh-CN" altLang="en-US" sz="1800" i="1" smtClean="0">
                                      <a:latin typeface="Cambria Math" panose="02040503050406030204" pitchFamily="18" charset="0"/>
                                    </a:rPr>
                                  </m:ctrlPr>
                                </m:funcPr>
                                <m:fName>
                                  <m:r>
                                    <m:rPr>
                                      <m:sty m:val="p"/>
                                    </m:rPr>
                                    <a:rPr lang="zh-CN" altLang="en-US" sz="1800" i="1" smtClean="0">
                                      <a:latin typeface="Cambria Math" panose="02040503050406030204" pitchFamily="18" charset="0"/>
                                    </a:rPr>
                                    <m:t>Pr</m:t>
                                  </m:r>
                                </m:fName>
                                <m:e>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=1</m:t>
                                      </m:r>
                                    </m:e>
                                  </m:d>
                                </m:e>
                              </m:func>
                            </m:den>
                          </m:f>
                          <m:r>
                            <m:rPr>
                              <m:aln/>
                            </m:rPr>
                            <a:rPr lang="zh-CN" altLang="en-US" sz="1800" i="1" smtClean="0">
                              <a:latin typeface="Cambria Math" panose="02040503050406030204" pitchFamily="18" charset="0"/>
                            </a:rPr>
                            <m:t>&amp;</m:t>
                          </m:r>
                          <m:r>
                            <a:rPr lang="zh-CN" altLang="en-US" sz="1800" i="1" smtClean="0">
                              <a:latin typeface="Cambria Math" panose="02040503050406030204" pitchFamily="18" charset="0"/>
                            </a:rPr>
                            <m:t>=</m:t>
                          </m:r>
                          <m:f>
                            <m:fPr>
                              <m:ctrlPr>
                                <a:rPr lang="zh-CN" altLang="en-US" sz="1800" i="1" smtClean="0">
                                  <a:latin typeface="Cambria Math" panose="02040503050406030204" pitchFamily="18" charset="0"/>
                                </a:rPr>
                              </m:ctrlPr>
                            </m:fPr>
                            <m:num>
                              <m:func>
                                <m:funcPr>
                                  <m:ctrlPr>
                                    <a:rPr lang="zh-CN" altLang="en-US" sz="1800" i="1" smtClean="0">
                                      <a:latin typeface="Cambria Math" panose="02040503050406030204" pitchFamily="18" charset="0"/>
                                    </a:rPr>
                                  </m:ctrlPr>
                                </m:funcPr>
                                <m:fName>
                                  <m:r>
                                    <m:rPr>
                                      <m:sty m:val="p"/>
                                    </m:rPr>
                                    <a:rPr lang="zh-CN" altLang="en-US" sz="1800" i="1" smtClean="0">
                                      <a:latin typeface="Cambria Math" panose="02040503050406030204" pitchFamily="18" charset="0"/>
                                    </a:rPr>
                                    <m:t>Pr</m:t>
                                  </m:r>
                                </m:fName>
                                <m:e>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1</m:t>
                                          </m:r>
                                        </m:e>
                                      </m:d>
                                      <m:r>
                                        <a:rPr lang="zh-CN" altLang="en-US" sz="1800" i="1" smtClean="0">
                                          <a:latin typeface="Cambria Math" panose="02040503050406030204" pitchFamily="18" charset="0"/>
                                        </a:rPr>
                                        <m:t>&gt;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0</m:t>
                                          </m:r>
                                        </m:e>
                                      </m:d>
                                      <m:r>
                                        <a:rPr lang="zh-CN" altLang="en-US" sz="1800" i="1" smtClean="0">
                                          <a:latin typeface="Cambria Math" panose="02040503050406030204" pitchFamily="18" charset="0"/>
                                        </a:rPr>
                                        <m: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=1</m:t>
                                      </m:r>
                                    </m:e>
                                  </m:d>
                                </m:e>
                              </m:func>
                            </m:num>
                            <m:den>
                              <m:func>
                                <m:funcPr>
                                  <m:ctrlPr>
                                    <a:rPr lang="zh-CN" altLang="en-US" sz="1800" i="1" smtClean="0">
                                      <a:latin typeface="Cambria Math" panose="02040503050406030204" pitchFamily="18" charset="0"/>
                                    </a:rPr>
                                  </m:ctrlPr>
                                </m:funcPr>
                                <m:fName>
                                  <m:r>
                                    <m:rPr>
                                      <m:sty m:val="p"/>
                                    </m:rPr>
                                    <a:rPr lang="zh-CN" altLang="en-US" sz="1800" i="1" smtClean="0">
                                      <a:latin typeface="Cambria Math" panose="02040503050406030204" pitchFamily="18" charset="0"/>
                                    </a:rPr>
                                    <m:t>Pr</m:t>
                                  </m:r>
                                </m:fName>
                                <m:e>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1</m:t>
                                          </m:r>
                                        </m:e>
                                      </m:d>
                                      <m:r>
                                        <a:rPr lang="zh-CN" altLang="en-US" sz="1800" i="1" smtClean="0">
                                          <a:latin typeface="Cambria Math" panose="02040503050406030204" pitchFamily="18" charset="0"/>
                                        </a:rPr>
                                        <m:t>&gt;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0</m:t>
                                          </m:r>
                                        </m:e>
                                      </m:d>
                                    </m:e>
                                  </m:d>
                                </m:e>
                              </m:func>
                            </m:den>
                          </m:f>
                        </m:e>
                        <m:e>
                          <m:r>
                            <m:rPr>
                              <m:aln/>
                            </m:rPr>
                            <a:rPr lang="zh-CN" altLang="en-US" sz="1800" i="1" smtClean="0">
                              <a:latin typeface="Cambria Math" panose="02040503050406030204" pitchFamily="18" charset="0"/>
                            </a:rPr>
                            <m:t>&amp;</m:t>
                          </m:r>
                          <m:r>
                            <a:rPr lang="zh-CN" altLang="en-US" sz="1800" i="1" smtClean="0">
                              <a:latin typeface="Cambria Math" panose="02040503050406030204" pitchFamily="18" charset="0"/>
                            </a:rPr>
                            <m:t>=</m:t>
                          </m:r>
                          <m:f>
                            <m:fPr>
                              <m:ctrlPr>
                                <a:rPr lang="zh-CN" altLang="en-US" sz="1800" i="1" smtClean="0">
                                  <a:latin typeface="Cambria Math" panose="02040503050406030204" pitchFamily="18" charset="0"/>
                                </a:rPr>
                              </m:ctrlPr>
                            </m:fPr>
                            <m:num>
                              <m:r>
                                <a:rPr lang="zh-CN" altLang="en-US" sz="1800" i="1" smtClean="0">
                                  <a:latin typeface="Cambria Math" panose="02040503050406030204" pitchFamily="18" charset="0"/>
                                </a:rPr>
                                <m:t>𝐸</m:t>
                              </m:r>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𝑍</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=1,</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=1</m:t>
                                  </m:r>
                                </m:e>
                              </m:d>
                              <m:r>
                                <a:rPr lang="zh-CN" altLang="en-US" sz="1800" i="1" smtClean="0">
                                  <a:latin typeface="Cambria Math" panose="02040503050406030204" pitchFamily="18" charset="0"/>
                                </a:rPr>
                                <m:t>−</m:t>
                              </m:r>
                              <m:r>
                                <a:rPr lang="zh-CN" altLang="en-US" sz="1800" i="1" smtClean="0">
                                  <a:latin typeface="Cambria Math" panose="02040503050406030204" pitchFamily="18" charset="0"/>
                                </a:rPr>
                                <m:t>𝐸</m:t>
                              </m:r>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𝑍</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=0,</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=1</m:t>
                                  </m:r>
                                </m:e>
                              </m:d>
                            </m:num>
                            <m:den>
                              <m:r>
                                <a:rPr lang="zh-CN" altLang="en-US" sz="1800" i="1" smtClean="0">
                                  <a:latin typeface="Cambria Math" panose="02040503050406030204" pitchFamily="18" charset="0"/>
                                </a:rPr>
                                <m:t>𝐸</m:t>
                              </m:r>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𝑍</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=1</m:t>
                                  </m:r>
                                </m:e>
                              </m:d>
                              <m:r>
                                <a:rPr lang="zh-CN" altLang="en-US" sz="1800" i="1" smtClean="0">
                                  <a:latin typeface="Cambria Math" panose="02040503050406030204" pitchFamily="18" charset="0"/>
                                </a:rPr>
                                <m:t>−</m:t>
                              </m:r>
                              <m:r>
                                <a:rPr lang="zh-CN" altLang="en-US" sz="1800" i="1" smtClean="0">
                                  <a:latin typeface="Cambria Math" panose="02040503050406030204" pitchFamily="18" charset="0"/>
                                </a:rPr>
                                <m:t>𝐸</m:t>
                              </m:r>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𝑍</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=0</m:t>
                                  </m:r>
                                </m:e>
                              </m:d>
                            </m:den>
                          </m:f>
                          <m:r>
                            <a:rPr lang="zh-CN" altLang="en-US" sz="1800" i="1" smtClean="0">
                              <a:latin typeface="Cambria Math" panose="02040503050406030204" pitchFamily="18" charset="0"/>
                            </a:rPr>
                            <m:t>.</m:t>
                          </m:r>
                        </m:e>
                      </m:eqArr>
                    </m:oMath>
                  </m:oMathPara>
                </a14:m>
                <a:endParaRPr lang="zh-CN" altLang="en-US" sz="1800" dirty="0"/>
              </a:p>
            </p:txBody>
          </p:sp>
        </mc:Choice>
        <mc:Fallback xmlns="">
          <p:sp>
            <p:nvSpPr>
              <p:cNvPr id="3" name="内容占位符 2">
                <a:extLst>
                  <a:ext uri="{FF2B5EF4-FFF2-40B4-BE49-F238E27FC236}">
                    <a16:creationId xmlns:a16="http://schemas.microsoft.com/office/drawing/2014/main" id="{C68A6B0A-F654-0E3A-7A0C-135823415C43}"/>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3AB75C8-990F-0324-C8EC-D736BB5E758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A8B499D-AC77-3852-6034-E763C35E48A6}"/>
              </a:ext>
            </a:extLst>
          </p:cNvPr>
          <p:cNvSpPr>
            <a:spLocks noGrp="1"/>
          </p:cNvSpPr>
          <p:nvPr>
            <p:ph type="sldNum" sz="quarter" idx="12"/>
          </p:nvPr>
        </p:nvSpPr>
        <p:spPr/>
        <p:txBody>
          <a:bodyPr/>
          <a:lstStyle/>
          <a:p>
            <a:fld id="{D41FC515-8169-4A29-AA56-DBE520D5741B}" type="slidenum">
              <a:rPr lang="zh-CN" altLang="en-US" smtClean="0"/>
              <a:t>34</a:t>
            </a:fld>
            <a:endParaRPr lang="zh-CN" altLang="en-US"/>
          </a:p>
        </p:txBody>
      </p:sp>
    </p:spTree>
    <p:extLst>
      <p:ext uri="{BB962C8B-B14F-4D97-AF65-F5344CB8AC3E}">
        <p14:creationId xmlns:p14="http://schemas.microsoft.com/office/powerpoint/2010/main" val="27154177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427115-8232-B4FA-7A14-297B9E5860EF}"/>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1. </a:t>
            </a:r>
            <a:r>
              <a:rPr lang="zh-CN" altLang="en-US" sz="2400" dirty="0"/>
              <a:t>谁是依从者</a:t>
            </a:r>
            <a:endParaRPr lang="zh-CN" altLang="en-US" dirty="0"/>
          </a:p>
        </p:txBody>
      </p:sp>
      <p:pic>
        <p:nvPicPr>
          <p:cNvPr id="7" name="内容占位符 6">
            <a:extLst>
              <a:ext uri="{FF2B5EF4-FFF2-40B4-BE49-F238E27FC236}">
                <a16:creationId xmlns:a16="http://schemas.microsoft.com/office/drawing/2014/main" id="{0877755B-C6CC-A5A6-5113-62C533055432}"/>
              </a:ext>
            </a:extLst>
          </p:cNvPr>
          <p:cNvPicPr>
            <a:picLocks noGrp="1" noChangeAspect="1"/>
          </p:cNvPicPr>
          <p:nvPr>
            <p:ph idx="1"/>
          </p:nvPr>
        </p:nvPicPr>
        <p:blipFill>
          <a:blip r:embed="rId2"/>
          <a:stretch>
            <a:fillRect/>
          </a:stretch>
        </p:blipFill>
        <p:spPr>
          <a:xfrm>
            <a:off x="1582905" y="1825625"/>
            <a:ext cx="5978189" cy="4351338"/>
          </a:xfrm>
          <a:prstGeom prst="rect">
            <a:avLst/>
          </a:prstGeom>
        </p:spPr>
      </p:pic>
      <p:sp>
        <p:nvSpPr>
          <p:cNvPr id="4" name="页脚占位符 3">
            <a:extLst>
              <a:ext uri="{FF2B5EF4-FFF2-40B4-BE49-F238E27FC236}">
                <a16:creationId xmlns:a16="http://schemas.microsoft.com/office/drawing/2014/main" id="{EFABB2F5-AEA6-A84E-E8C6-7B09A6BD0ED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538B041-74BE-50A8-C4DB-388168FB042D}"/>
              </a:ext>
            </a:extLst>
          </p:cNvPr>
          <p:cNvSpPr>
            <a:spLocks noGrp="1"/>
          </p:cNvSpPr>
          <p:nvPr>
            <p:ph type="sldNum" sz="quarter" idx="12"/>
          </p:nvPr>
        </p:nvSpPr>
        <p:spPr/>
        <p:txBody>
          <a:bodyPr/>
          <a:lstStyle/>
          <a:p>
            <a:fld id="{D41FC515-8169-4A29-AA56-DBE520D5741B}" type="slidenum">
              <a:rPr lang="zh-CN" altLang="en-US" smtClean="0"/>
              <a:t>35</a:t>
            </a:fld>
            <a:endParaRPr lang="zh-CN" altLang="en-US"/>
          </a:p>
        </p:txBody>
      </p:sp>
    </p:spTree>
    <p:extLst>
      <p:ext uri="{BB962C8B-B14F-4D97-AF65-F5344CB8AC3E}">
        <p14:creationId xmlns:p14="http://schemas.microsoft.com/office/powerpoint/2010/main" val="2715792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61D577-29A9-F54F-9876-92B2B3C0E30E}"/>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2. </a:t>
            </a:r>
            <a:r>
              <a:rPr lang="zh-CN" altLang="en-US" sz="2400" dirty="0"/>
              <a:t>引入协变量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E4CBF7A-155C-A4BC-0859-517339953CC4}"/>
                  </a:ext>
                </a:extLst>
              </p:cNvPr>
              <p:cNvSpPr>
                <a:spLocks noGrp="1"/>
              </p:cNvSpPr>
              <p:nvPr>
                <p:ph idx="1"/>
              </p:nvPr>
            </p:nvSpPr>
            <p:spPr/>
            <p:txBody>
              <a:bodyPr>
                <a:normAutofit fontScale="77500" lnSpcReduction="20000"/>
              </a:bodyPr>
              <a:lstStyle/>
              <a:p>
                <a:pPr>
                  <a:lnSpc>
                    <a:spcPct val="100000"/>
                  </a:lnSpc>
                </a:pPr>
                <a:r>
                  <a:rPr lang="zh-CN" altLang="en-US" dirty="0"/>
                  <a:t>工具变量满足以协变量为条件后独立于潜在结果，即</a:t>
                </a:r>
                <a:endParaRPr lang="en-US" altLang="zh-CN" dirty="0"/>
              </a:p>
              <a:p>
                <a:pPr marL="0" indent="0">
                  <a:lnSpc>
                    <a:spcPct val="100000"/>
                  </a:lnSpc>
                  <a:buNone/>
                </a:pPr>
                <a14:m>
                  <m:oMathPara xmlns:m="http://schemas.openxmlformats.org/officeDocument/2006/math">
                    <m:oMath>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oMath>
                  </m:oMathPara>
                </a14:m>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r>
                  <a:rPr lang="en-US" altLang="zh-CN" dirty="0"/>
                  <a:t>LATE </a:t>
                </a:r>
                <a:r>
                  <a:rPr lang="zh-CN" altLang="en-US" dirty="0"/>
                  <a:t>定理在𝑋 层内满足，则</a:t>
                </a:r>
                <a:endParaRPr lang="en-US" altLang="zh-CN" dirty="0"/>
              </a:p>
              <a:p>
                <a:pPr marL="0" indent="0">
                  <a:lnSpc>
                    <a:spcPct val="100000"/>
                  </a:lnSpc>
                  <a:buNone/>
                </a:pPr>
                <a14:m>
                  <m:oMathPara xmlns:m="http://schemas.openxmlformats.org/officeDocument/2006/math">
                    <m:oMath>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den>
                      </m:f>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𝑐</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5E4CBF7A-155C-A4BC-0859-517339953CC4}"/>
                  </a:ext>
                </a:extLst>
              </p:cNvPr>
              <p:cNvSpPr>
                <a:spLocks noGrp="1" noRot="1" noChangeAspect="1" noMove="1" noResize="1" noEditPoints="1" noAdjustHandles="1" noChangeArrowheads="1" noChangeShapeType="1" noTextEdit="1"/>
              </p:cNvSpPr>
              <p:nvPr>
                <p:ph idx="1"/>
              </p:nvPr>
            </p:nvSpPr>
            <p:spPr>
              <a:blipFill>
                <a:blip r:embed="rId2"/>
                <a:stretch>
                  <a:fillRect l="-850" t="-238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ED5987A-37D0-4CD1-1C30-2635CC1747C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98E9B85-8C95-2065-8BB2-45864D67A567}"/>
              </a:ext>
            </a:extLst>
          </p:cNvPr>
          <p:cNvSpPr>
            <a:spLocks noGrp="1"/>
          </p:cNvSpPr>
          <p:nvPr>
            <p:ph type="sldNum" sz="quarter" idx="12"/>
          </p:nvPr>
        </p:nvSpPr>
        <p:spPr/>
        <p:txBody>
          <a:bodyPr/>
          <a:lstStyle/>
          <a:p>
            <a:fld id="{D41FC515-8169-4A29-AA56-DBE520D5741B}" type="slidenum">
              <a:rPr lang="zh-CN" altLang="en-US" smtClean="0"/>
              <a:t>36</a:t>
            </a:fld>
            <a:endParaRPr lang="zh-CN" altLang="en-US"/>
          </a:p>
        </p:txBody>
      </p:sp>
      <p:pic>
        <p:nvPicPr>
          <p:cNvPr id="7" name="图片 6">
            <a:extLst>
              <a:ext uri="{FF2B5EF4-FFF2-40B4-BE49-F238E27FC236}">
                <a16:creationId xmlns:a16="http://schemas.microsoft.com/office/drawing/2014/main" id="{25FE8218-A684-9F56-B763-958FA07ABBD9}"/>
              </a:ext>
            </a:extLst>
          </p:cNvPr>
          <p:cNvPicPr>
            <a:picLocks noChangeAspect="1"/>
          </p:cNvPicPr>
          <p:nvPr/>
        </p:nvPicPr>
        <p:blipFill>
          <a:blip r:embed="rId3"/>
          <a:stretch>
            <a:fillRect/>
          </a:stretch>
        </p:blipFill>
        <p:spPr>
          <a:xfrm>
            <a:off x="2622884" y="2618921"/>
            <a:ext cx="3463006" cy="1796667"/>
          </a:xfrm>
          <a:prstGeom prst="rect">
            <a:avLst/>
          </a:prstGeom>
        </p:spPr>
      </p:pic>
    </p:spTree>
    <p:extLst>
      <p:ext uri="{BB962C8B-B14F-4D97-AF65-F5344CB8AC3E}">
        <p14:creationId xmlns:p14="http://schemas.microsoft.com/office/powerpoint/2010/main" val="2571235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936A47-C330-A5B2-0FE7-636679B8BD7E}"/>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2. </a:t>
            </a:r>
            <a:r>
              <a:rPr lang="zh-CN" altLang="en-US" sz="2400" dirty="0"/>
              <a:t>引入协变量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B812BAE-1B6D-6832-B0D4-EEB694492ED5}"/>
                  </a:ext>
                </a:extLst>
              </p:cNvPr>
              <p:cNvSpPr>
                <a:spLocks noGrp="1"/>
              </p:cNvSpPr>
              <p:nvPr>
                <p:ph idx="1"/>
              </p:nvPr>
            </p:nvSpPr>
            <p:spPr/>
            <p:txBody>
              <a:bodyPr>
                <a:normAutofit fontScale="62500" lnSpcReduction="20000"/>
              </a:bodyPr>
              <a:lstStyle/>
              <a:p>
                <a:pPr>
                  <a:lnSpc>
                    <a:spcPct val="120000"/>
                  </a:lnSpc>
                </a:pPr>
                <a:r>
                  <a:rPr lang="zh-CN" altLang="en-US" dirty="0"/>
                  <a:t>则依从者的因果效应仍然可以识别，为</a:t>
                </a:r>
                <a14:m>
                  <m:oMath xmlns:m="http://schemas.openxmlformats.org/officeDocument/2006/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r>
                          <m:rPr>
                            <m:aln/>
                          </m:rPr>
                          <a:rPr lang="zh-CN" altLang="en-US" i="1" smtClean="0">
                            <a:latin typeface="Cambria Math" panose="02040503050406030204" pitchFamily="18" charset="0"/>
                          </a:rPr>
                          <m:t>&amp;</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𝑐</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𝑥</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𝑐</m:t>
                                </m:r>
                              </m:sub>
                            </m:sSub>
                          </m:e>
                        </m:nary>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𝑥</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𝑐</m:t>
                                </m:r>
                              </m:sub>
                            </m:sSub>
                          </m:e>
                        </m:nary>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f>
                          <m:fPr>
                            <m:ctrlPr>
                              <a:rPr lang="zh-CN" altLang="en-US" i="1" smtClean="0">
                                <a:latin typeface="Cambria Math" panose="02040503050406030204" pitchFamily="18" charset="0"/>
                              </a:rPr>
                            </m:ctrlPr>
                          </m:fPr>
                          <m:num>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e>
                            </m:func>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e>
                            </m:func>
                          </m:num>
                          <m:den>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den>
                        </m:f>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𝑥</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𝑐</m:t>
                                </m:r>
                              </m:sub>
                            </m:sSub>
                          </m:e>
                        </m:nary>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f>
                          <m:fPr>
                            <m:ctrlPr>
                              <a:rPr lang="zh-CN" altLang="en-US" i="1" smtClean="0">
                                <a:latin typeface="Cambria Math" panose="02040503050406030204" pitchFamily="18" charset="0"/>
                              </a:rPr>
                            </m:ctrlPr>
                          </m:fPr>
                          <m:num>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𝑥</m:t>
                                    </m:r>
                                  </m:e>
                                </m:d>
                              </m:e>
                            </m:func>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den>
                        </m:f>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𝑥</m:t>
                                </m:r>
                              </m:sub>
                              <m:sup/>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e>
                            </m:nary>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𝑥</m:t>
                                    </m:r>
                                  </m:e>
                                </m:d>
                              </m:e>
                            </m:func>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d>
                          </m:den>
                        </m:f>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den>
                        </m:f>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den>
                        </m:f>
                        <m:r>
                          <a:rPr lang="zh-CN" altLang="en-US" i="1" smtClean="0">
                            <a:latin typeface="Cambria Math" panose="02040503050406030204" pitchFamily="18" charset="0"/>
                          </a:rPr>
                          <m:t>.</m:t>
                        </m:r>
                      </m:e>
                    </m:eqArr>
                  </m:oMath>
                </a14:m>
                <a:endParaRPr lang="en-US" altLang="zh-CN" dirty="0"/>
              </a:p>
              <a:p>
                <a:pPr>
                  <a:lnSpc>
                    <a:spcPct val="120000"/>
                  </a:lnSpc>
                </a:pPr>
                <a:r>
                  <a:rPr lang="zh-CN" altLang="en-US" dirty="0"/>
                  <a:t>这里隐含假设强单调性假设成立，即对于任意层𝑥 ∈ 𝒳，均有</a:t>
                </a:r>
                <a14:m>
                  <m:oMath xmlns:m="http://schemas.openxmlformats.org/officeDocument/2006/math">
                    <m:r>
                      <m:rPr>
                        <m:sty m:val="p"/>
                      </m:rPr>
                      <a:rPr lang="en-US" altLang="zh-CN" i="1" dirty="0" smtClean="0">
                        <a:latin typeface="Cambria Math" panose="02040503050406030204" pitchFamily="18" charset="0"/>
                      </a:rPr>
                      <m:t>Pr</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m:t>
                    </m:r>
                    <m:r>
                      <a:rPr lang="zh-CN" altLang="en-US" i="1" dirty="0">
                        <a:latin typeface="Cambria Math" panose="02040503050406030204" pitchFamily="18" charset="0"/>
                      </a:rPr>
                      <m:t>𝑋𝑖</m:t>
                    </m:r>
                    <m:r>
                      <a:rPr lang="zh-CN" altLang="en-US" i="1" dirty="0">
                        <a:latin typeface="Cambria Math" panose="02040503050406030204" pitchFamily="18" charset="0"/>
                      </a:rPr>
                      <m:t> = </m:t>
                    </m:r>
                    <m:r>
                      <a:rPr lang="zh-CN" altLang="en-US" i="1" dirty="0">
                        <a:latin typeface="Cambria Math" panose="02040503050406030204" pitchFamily="18" charset="0"/>
                      </a:rPr>
                      <m:t>𝑥</m:t>
                    </m:r>
                    <m:r>
                      <a:rPr lang="en-US" altLang="zh-CN" i="1" dirty="0">
                        <a:latin typeface="Cambria Math" panose="02040503050406030204" pitchFamily="18" charset="0"/>
                      </a:rPr>
                      <m:t>] = 1</m:t>
                    </m:r>
                  </m:oMath>
                </a14:m>
                <a:r>
                  <a:rPr lang="zh-CN" altLang="en-US" dirty="0"/>
                  <a:t>。关于强弱单调性参考</a:t>
                </a:r>
                <a:r>
                  <a:rPr lang="en-US" altLang="zh-CN" dirty="0" err="1"/>
                  <a:t>Blandhol</a:t>
                </a:r>
                <a:r>
                  <a:rPr lang="en-US" altLang="zh-CN" dirty="0"/>
                  <a:t> et al. (2024), </a:t>
                </a:r>
                <a:r>
                  <a:rPr lang="en-US" altLang="zh-CN" dirty="0" err="1"/>
                  <a:t>Sloczynski</a:t>
                </a:r>
                <a:r>
                  <a:rPr lang="en-US" altLang="zh-CN" dirty="0"/>
                  <a:t>(2024)</a:t>
                </a:r>
                <a:r>
                  <a:rPr lang="zh-CN" altLang="en-US" dirty="0"/>
                  <a:t>。</a:t>
                </a:r>
              </a:p>
            </p:txBody>
          </p:sp>
        </mc:Choice>
        <mc:Fallback xmlns="">
          <p:sp>
            <p:nvSpPr>
              <p:cNvPr id="3" name="内容占位符 2">
                <a:extLst>
                  <a:ext uri="{FF2B5EF4-FFF2-40B4-BE49-F238E27FC236}">
                    <a16:creationId xmlns:a16="http://schemas.microsoft.com/office/drawing/2014/main" id="{5B812BAE-1B6D-6832-B0D4-EEB694492ED5}"/>
                  </a:ext>
                </a:extLst>
              </p:cNvPr>
              <p:cNvSpPr>
                <a:spLocks noGrp="1" noRot="1" noChangeAspect="1" noMove="1" noResize="1" noEditPoints="1" noAdjustHandles="1" noChangeArrowheads="1" noChangeShapeType="1" noTextEdit="1"/>
              </p:cNvSpPr>
              <p:nvPr>
                <p:ph idx="1"/>
              </p:nvPr>
            </p:nvSpPr>
            <p:spPr>
              <a:blipFill>
                <a:blip r:embed="rId2"/>
                <a:stretch>
                  <a:fillRect l="-464" t="-700" b="-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BEBC8BD-BD40-CC37-F001-CC443034585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44797C5-6E37-5B81-6D8D-620C05B12F53}"/>
              </a:ext>
            </a:extLst>
          </p:cNvPr>
          <p:cNvSpPr>
            <a:spLocks noGrp="1"/>
          </p:cNvSpPr>
          <p:nvPr>
            <p:ph type="sldNum" sz="quarter" idx="12"/>
          </p:nvPr>
        </p:nvSpPr>
        <p:spPr/>
        <p:txBody>
          <a:bodyPr/>
          <a:lstStyle/>
          <a:p>
            <a:fld id="{D41FC515-8169-4A29-AA56-DBE520D5741B}" type="slidenum">
              <a:rPr lang="zh-CN" altLang="en-US" smtClean="0"/>
              <a:t>37</a:t>
            </a:fld>
            <a:endParaRPr lang="zh-CN" altLang="en-US"/>
          </a:p>
        </p:txBody>
      </p:sp>
    </p:spTree>
    <p:extLst>
      <p:ext uri="{BB962C8B-B14F-4D97-AF65-F5344CB8AC3E}">
        <p14:creationId xmlns:p14="http://schemas.microsoft.com/office/powerpoint/2010/main" val="1122178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14881F-3E76-0C0E-8117-485921EFBBD1}"/>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2. </a:t>
            </a:r>
            <a:r>
              <a:rPr lang="zh-CN" altLang="en-US" sz="2400" dirty="0"/>
              <a:t>引入协变量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160BE04-B645-CD58-AC19-2C0E244E61C9}"/>
                  </a:ext>
                </a:extLst>
              </p:cNvPr>
              <p:cNvSpPr>
                <a:spLocks noGrp="1"/>
              </p:cNvSpPr>
              <p:nvPr>
                <p:ph idx="1"/>
              </p:nvPr>
            </p:nvSpPr>
            <p:spPr/>
            <p:txBody>
              <a:bodyPr>
                <a:normAutofit fontScale="55000" lnSpcReduction="20000"/>
              </a:bodyPr>
              <a:lstStyle/>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𝑐</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den>
                          </m:f>
                          <m:r>
                            <a:rPr lang="zh-CN" altLang="en-US" i="1" smtClean="0">
                              <a:latin typeface="Cambria Math" panose="02040503050406030204" pitchFamily="18" charset="0"/>
                            </a:rPr>
                            <m:t>.</m:t>
                          </m:r>
                        </m:e>
                      </m:eqArr>
                    </m:oMath>
                  </m:oMathPara>
                </a14:m>
                <a:endParaRPr lang="en-US" altLang="zh-CN" dirty="0"/>
              </a:p>
              <a:p>
                <a:pPr>
                  <a:lnSpc>
                    <a:spcPct val="120000"/>
                  </a:lnSpc>
                </a:pPr>
                <a:r>
                  <a:rPr lang="zh-CN" altLang="en-US" dirty="0"/>
                  <a:t>回归调整：</a:t>
                </a:r>
                <a14:m>
                  <m:oMath xmlns:m="http://schemas.openxmlformats.org/officeDocument/2006/math">
                    <m:sSub>
                      <m:sSubPr>
                        <m:ctrlPr>
                          <a:rPr lang="pl-PL" altLang="zh-CN" i="1" dirty="0" smtClean="0">
                            <a:latin typeface="Cambria Math" panose="02040503050406030204" pitchFamily="18" charset="0"/>
                          </a:rPr>
                        </m:ctrlPr>
                      </m:sSubPr>
                      <m:e>
                        <m:r>
                          <a:rPr lang="pl-PL" altLang="zh-CN" i="1" dirty="0" smtClean="0">
                            <a:latin typeface="Cambria Math" panose="02040503050406030204" pitchFamily="18" charset="0"/>
                          </a:rPr>
                          <m:t>𝜇</m:t>
                        </m:r>
                      </m:e>
                      <m:sub>
                        <m:r>
                          <a:rPr lang="pl-PL" altLang="zh-CN" i="1" dirty="0" smtClean="0">
                            <a:latin typeface="Cambria Math" panose="02040503050406030204" pitchFamily="18" charset="0"/>
                          </a:rPr>
                          <m:t>𝑧</m:t>
                        </m:r>
                      </m:sub>
                    </m:sSub>
                    <m:r>
                      <a:rPr lang="pl-PL" altLang="zh-CN" i="1" dirty="0" smtClean="0">
                        <a:latin typeface="Cambria Math" panose="02040503050406030204" pitchFamily="18" charset="0"/>
                      </a:rPr>
                      <m:t>(</m:t>
                    </m:r>
                    <m:r>
                      <a:rPr lang="pl-PL" altLang="zh-CN" i="1" dirty="0" smtClean="0">
                        <a:latin typeface="Cambria Math" panose="02040503050406030204" pitchFamily="18" charset="0"/>
                      </a:rPr>
                      <m:t>𝑥</m:t>
                    </m:r>
                    <m:r>
                      <a:rPr lang="pl-PL" altLang="zh-CN" i="1" dirty="0" smtClean="0">
                        <a:latin typeface="Cambria Math" panose="02040503050406030204" pitchFamily="18" charset="0"/>
                      </a:rPr>
                      <m:t>)=</m:t>
                    </m:r>
                    <m:r>
                      <a:rPr lang="pl-PL" altLang="zh-CN" i="1" dirty="0" smtClean="0">
                        <a:latin typeface="Cambria Math" panose="02040503050406030204" pitchFamily="18" charset="0"/>
                      </a:rPr>
                      <m:t>𝐸</m:t>
                    </m:r>
                    <m:r>
                      <a:rPr lang="pl-PL" altLang="zh-CN" i="1" dirty="0" smtClean="0">
                        <a:latin typeface="Cambria Math" panose="02040503050406030204" pitchFamily="18" charset="0"/>
                      </a:rPr>
                      <m:t>[</m:t>
                    </m:r>
                    <m:sSub>
                      <m:sSubPr>
                        <m:ctrlPr>
                          <a:rPr lang="pl-PL" altLang="zh-CN" i="1" dirty="0" smtClean="0">
                            <a:latin typeface="Cambria Math" panose="02040503050406030204" pitchFamily="18" charset="0"/>
                          </a:rPr>
                        </m:ctrlPr>
                      </m:sSubPr>
                      <m:e>
                        <m:r>
                          <a:rPr lang="pl-PL" altLang="zh-CN" i="1" dirty="0" smtClean="0">
                            <a:latin typeface="Cambria Math" panose="02040503050406030204" pitchFamily="18" charset="0"/>
                          </a:rPr>
                          <m:t>𝑌</m:t>
                        </m:r>
                      </m:e>
                      <m:sub>
                        <m:r>
                          <a:rPr lang="pl-PL" altLang="zh-CN" i="1" dirty="0" smtClean="0">
                            <a:latin typeface="Cambria Math" panose="02040503050406030204" pitchFamily="18" charset="0"/>
                          </a:rPr>
                          <m:t>𝑖</m:t>
                        </m:r>
                      </m:sub>
                    </m:sSub>
                    <m:r>
                      <a:rPr lang="pl-PL" altLang="zh-CN" i="1" dirty="0" smtClean="0">
                        <a:latin typeface="Cambria Math" panose="02040503050406030204" pitchFamily="18" charset="0"/>
                      </a:rPr>
                      <m:t>|</m:t>
                    </m:r>
                    <m:sSub>
                      <m:sSubPr>
                        <m:ctrlPr>
                          <a:rPr lang="pl-PL" altLang="zh-CN" i="1" dirty="0" smtClean="0">
                            <a:latin typeface="Cambria Math" panose="02040503050406030204" pitchFamily="18" charset="0"/>
                          </a:rPr>
                        </m:ctrlPr>
                      </m:sSubPr>
                      <m:e>
                        <m:r>
                          <a:rPr lang="pl-PL" altLang="zh-CN" i="1" dirty="0" smtClean="0">
                            <a:latin typeface="Cambria Math" panose="02040503050406030204" pitchFamily="18" charset="0"/>
                          </a:rPr>
                          <m:t>𝑋</m:t>
                        </m:r>
                      </m:e>
                      <m:sub>
                        <m:r>
                          <a:rPr lang="pl-PL" altLang="zh-CN" i="1" dirty="0" smtClean="0">
                            <a:latin typeface="Cambria Math" panose="02040503050406030204" pitchFamily="18" charset="0"/>
                          </a:rPr>
                          <m:t>𝑖</m:t>
                        </m:r>
                      </m:sub>
                    </m:sSub>
                    <m:r>
                      <a:rPr lang="pl-PL" altLang="zh-CN" i="1" dirty="0" smtClean="0">
                        <a:latin typeface="Cambria Math" panose="02040503050406030204" pitchFamily="18" charset="0"/>
                      </a:rPr>
                      <m:t>=</m:t>
                    </m:r>
                    <m:r>
                      <a:rPr lang="pl-PL" altLang="zh-CN" i="1" dirty="0" smtClean="0">
                        <a:latin typeface="Cambria Math" panose="02040503050406030204" pitchFamily="18" charset="0"/>
                      </a:rPr>
                      <m:t>𝑥</m:t>
                    </m:r>
                    <m:r>
                      <a:rPr lang="pl-PL" altLang="zh-CN" i="1" dirty="0" smtClean="0">
                        <a:latin typeface="Cambria Math" panose="02040503050406030204" pitchFamily="18" charset="0"/>
                      </a:rPr>
                      <m:t>,</m:t>
                    </m:r>
                    <m:sSub>
                      <m:sSubPr>
                        <m:ctrlPr>
                          <a:rPr lang="pl-PL" altLang="zh-CN" i="1" dirty="0" smtClean="0">
                            <a:latin typeface="Cambria Math" panose="02040503050406030204" pitchFamily="18" charset="0"/>
                          </a:rPr>
                        </m:ctrlPr>
                      </m:sSubPr>
                      <m:e>
                        <m:r>
                          <a:rPr lang="pl-PL" altLang="zh-CN" i="1" dirty="0" smtClean="0">
                            <a:latin typeface="Cambria Math" panose="02040503050406030204" pitchFamily="18" charset="0"/>
                          </a:rPr>
                          <m:t>𝑍</m:t>
                        </m:r>
                      </m:e>
                      <m:sub>
                        <m:r>
                          <a:rPr lang="pl-PL" altLang="zh-CN" i="1" dirty="0" smtClean="0">
                            <a:latin typeface="Cambria Math" panose="02040503050406030204" pitchFamily="18" charset="0"/>
                          </a:rPr>
                          <m:t>𝑖</m:t>
                        </m:r>
                      </m:sub>
                    </m:sSub>
                    <m:r>
                      <a:rPr lang="pl-PL" altLang="zh-CN" i="1" dirty="0" smtClean="0">
                        <a:latin typeface="Cambria Math" panose="02040503050406030204" pitchFamily="18" charset="0"/>
                      </a:rPr>
                      <m:t>=</m:t>
                    </m:r>
                    <m:r>
                      <a:rPr lang="pl-PL" altLang="zh-CN" i="1" dirty="0" smtClean="0">
                        <a:latin typeface="Cambria Math" panose="02040503050406030204" pitchFamily="18" charset="0"/>
                      </a:rPr>
                      <m:t>𝑧</m:t>
                    </m:r>
                    <m:r>
                      <a:rPr lang="pl-PL" altLang="zh-CN" i="1" dirty="0" smtClean="0">
                        <a:latin typeface="Cambria Math" panose="02040503050406030204" pitchFamily="18" charset="0"/>
                      </a:rPr>
                      <m:t>]</m:t>
                    </m:r>
                  </m:oMath>
                </a14:m>
                <a:r>
                  <a:rPr lang="zh-CN" altLang="pl-PL" i="0" dirty="0">
                    <a:latin typeface="+mj-lt"/>
                  </a:rPr>
                  <a:t>，</a:t>
                </a:r>
                <a14:m>
                  <m:oMath xmlns:m="http://schemas.openxmlformats.org/officeDocument/2006/math">
                    <m:r>
                      <a:rPr lang="pl-PL"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𝑧</m:t>
                        </m:r>
                      </m:sub>
                    </m:sSub>
                    <m:r>
                      <a:rPr lang="pl-PL" altLang="zh-CN" i="1" dirty="0" smtClean="0">
                        <a:latin typeface="Cambria Math" panose="02040503050406030204" pitchFamily="18" charset="0"/>
                      </a:rPr>
                      <m:t>(</m:t>
                    </m:r>
                    <m:r>
                      <a:rPr lang="pl-PL" altLang="zh-CN" i="1" dirty="0" smtClean="0">
                        <a:latin typeface="Cambria Math" panose="02040503050406030204" pitchFamily="18" charset="0"/>
                      </a:rPr>
                      <m:t>𝑥</m:t>
                    </m:r>
                    <m:r>
                      <a:rPr lang="pl-PL" altLang="zh-CN" i="1" dirty="0" smtClean="0">
                        <a:latin typeface="Cambria Math" panose="02040503050406030204" pitchFamily="18" charset="0"/>
                      </a:rPr>
                      <m:t>)=</m:t>
                    </m:r>
                    <m:r>
                      <a:rPr lang="pl-PL" altLang="zh-CN" i="1" dirty="0" smtClean="0">
                        <a:latin typeface="Cambria Math" panose="02040503050406030204" pitchFamily="18" charset="0"/>
                      </a:rPr>
                      <m:t>𝐸</m:t>
                    </m:r>
                    <m:r>
                      <a:rPr lang="pl-PL" altLang="zh-CN" i="1" dirty="0" smtClean="0">
                        <a:latin typeface="Cambria Math" panose="02040503050406030204" pitchFamily="18" charset="0"/>
                      </a:rPr>
                      <m:t>[</m:t>
                    </m:r>
                    <m:sSub>
                      <m:sSubPr>
                        <m:ctrlPr>
                          <a:rPr lang="pl-PL" altLang="zh-CN" i="1" dirty="0" smtClean="0">
                            <a:latin typeface="Cambria Math" panose="02040503050406030204" pitchFamily="18" charset="0"/>
                          </a:rPr>
                        </m:ctrlPr>
                      </m:sSubPr>
                      <m:e>
                        <m:r>
                          <a:rPr lang="pl-PL" altLang="zh-CN" i="1" dirty="0" smtClean="0">
                            <a:latin typeface="Cambria Math" panose="02040503050406030204" pitchFamily="18" charset="0"/>
                          </a:rPr>
                          <m:t>𝐷</m:t>
                        </m:r>
                      </m:e>
                      <m:sub>
                        <m:r>
                          <a:rPr lang="pl-PL" altLang="zh-CN" i="1" dirty="0" smtClean="0">
                            <a:latin typeface="Cambria Math" panose="02040503050406030204" pitchFamily="18" charset="0"/>
                          </a:rPr>
                          <m:t>𝑖</m:t>
                        </m:r>
                      </m:sub>
                    </m:sSub>
                    <m:r>
                      <a:rPr lang="pl-PL" altLang="zh-CN" i="1" dirty="0" smtClean="0">
                        <a:latin typeface="Cambria Math" panose="02040503050406030204" pitchFamily="18" charset="0"/>
                      </a:rPr>
                      <m:t>|</m:t>
                    </m:r>
                    <m:sSub>
                      <m:sSubPr>
                        <m:ctrlPr>
                          <a:rPr lang="pl-PL" altLang="zh-CN" i="1" dirty="0" smtClean="0">
                            <a:latin typeface="Cambria Math" panose="02040503050406030204" pitchFamily="18" charset="0"/>
                          </a:rPr>
                        </m:ctrlPr>
                      </m:sSubPr>
                      <m:e>
                        <m:r>
                          <a:rPr lang="pl-PL" altLang="zh-CN" i="1" dirty="0" smtClean="0">
                            <a:latin typeface="Cambria Math" panose="02040503050406030204" pitchFamily="18" charset="0"/>
                          </a:rPr>
                          <m:t>𝑋</m:t>
                        </m:r>
                      </m:e>
                      <m:sub>
                        <m:r>
                          <a:rPr lang="pl-PL" altLang="zh-CN" i="1" dirty="0" smtClean="0">
                            <a:latin typeface="Cambria Math" panose="02040503050406030204" pitchFamily="18" charset="0"/>
                          </a:rPr>
                          <m:t>𝑖</m:t>
                        </m:r>
                      </m:sub>
                    </m:sSub>
                    <m:r>
                      <a:rPr lang="pl-PL" altLang="zh-CN" i="1" dirty="0" smtClean="0">
                        <a:latin typeface="Cambria Math" panose="02040503050406030204" pitchFamily="18" charset="0"/>
                      </a:rPr>
                      <m:t>=</m:t>
                    </m:r>
                    <m:r>
                      <a:rPr lang="pl-PL" altLang="zh-CN" i="1" dirty="0" smtClean="0">
                        <a:latin typeface="Cambria Math" panose="02040503050406030204" pitchFamily="18" charset="0"/>
                      </a:rPr>
                      <m:t>𝑥</m:t>
                    </m:r>
                    <m:r>
                      <a:rPr lang="pl-PL" altLang="zh-CN" i="1" dirty="0" smtClean="0">
                        <a:latin typeface="Cambria Math" panose="02040503050406030204" pitchFamily="18" charset="0"/>
                      </a:rPr>
                      <m:t>, </m:t>
                    </m:r>
                    <m:sSub>
                      <m:sSubPr>
                        <m:ctrlPr>
                          <a:rPr lang="pl-PL" altLang="zh-CN" i="1" dirty="0" smtClean="0">
                            <a:latin typeface="Cambria Math" panose="02040503050406030204" pitchFamily="18" charset="0"/>
                          </a:rPr>
                        </m:ctrlPr>
                      </m:sSubPr>
                      <m:e>
                        <m:r>
                          <a:rPr lang="pl-PL" altLang="zh-CN" i="1" dirty="0" smtClean="0">
                            <a:latin typeface="Cambria Math" panose="02040503050406030204" pitchFamily="18" charset="0"/>
                          </a:rPr>
                          <m:t>𝑍</m:t>
                        </m:r>
                      </m:e>
                      <m:sub>
                        <m:r>
                          <a:rPr lang="pl-PL" altLang="zh-CN" i="1" dirty="0" smtClean="0">
                            <a:latin typeface="Cambria Math" panose="02040503050406030204" pitchFamily="18" charset="0"/>
                          </a:rPr>
                          <m:t>𝑖</m:t>
                        </m:r>
                      </m:sub>
                    </m:sSub>
                    <m:r>
                      <a:rPr lang="pl-PL" altLang="zh-CN" i="1" dirty="0" smtClean="0">
                        <a:latin typeface="Cambria Math" panose="02040503050406030204" pitchFamily="18" charset="0"/>
                      </a:rPr>
                      <m:t>=</m:t>
                    </m:r>
                    <m:r>
                      <a:rPr lang="pl-PL" altLang="zh-CN" i="1" dirty="0" smtClean="0">
                        <a:latin typeface="Cambria Math" panose="02040503050406030204" pitchFamily="18" charset="0"/>
                      </a:rPr>
                      <m:t>𝑧</m:t>
                    </m:r>
                    <m:r>
                      <a:rPr lang="pl-PL" altLang="zh-CN" i="1" dirty="0" smtClean="0">
                        <a:latin typeface="Cambria Math" panose="02040503050406030204" pitchFamily="18" charset="0"/>
                      </a:rPr>
                      <m:t>]</m:t>
                    </m:r>
                  </m:oMath>
                </a14:m>
                <a:r>
                  <a:rPr lang="zh-CN" altLang="pl-PL" i="0" dirty="0">
                    <a:latin typeface="+mj-lt"/>
                  </a:rPr>
                  <a:t>， </a:t>
                </a:r>
                <a14:m>
                  <m:oMath xmlns:m="http://schemas.openxmlformats.org/officeDocument/2006/math">
                    <m:r>
                      <a:rPr lang="en-US" altLang="zh-CN" i="1" dirty="0" smtClean="0">
                        <a:latin typeface="Cambria Math" panose="02040503050406030204" pitchFamily="18" charset="0"/>
                      </a:rPr>
                      <m:t>𝑧</m:t>
                    </m:r>
                    <m:r>
                      <a:rPr lang="pl-PL" altLang="zh-CN" i="1" dirty="0" smtClean="0">
                        <a:latin typeface="Cambria Math" panose="02040503050406030204" pitchFamily="18" charset="0"/>
                      </a:rPr>
                      <m:t>=0,1</m:t>
                    </m:r>
                  </m:oMath>
                </a14:m>
                <a:endParaRPr lang="en-US" altLang="zh-CN" dirty="0"/>
              </a:p>
              <a:p>
                <a:pPr marL="0" indent="0">
                  <a:lnSpc>
                    <a:spcPct val="120000"/>
                  </a:lnSpc>
                  <a:buNone/>
                </a:pPr>
                <a14:m>
                  <m:oMathPara xmlns:m="http://schemas.openxmlformats.org/officeDocument/2006/math">
                    <m:oMath>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𝐸</m:t>
                          </m:r>
                        </m:e>
                      </m:ac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d>
                            </m:e>
                          </m:nary>
                        </m:num>
                        <m:den>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𝑝</m:t>
                                          </m:r>
                                        </m:e>
                                      </m:acc>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𝑝</m:t>
                                          </m:r>
                                        </m:e>
                                      </m:acc>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d>
                            </m:e>
                          </m:nary>
                        </m:den>
                      </m:f>
                    </m:oMath>
                  </m:oMathPara>
                </a14:m>
                <a:endParaRPr lang="en-US" altLang="zh-CN" dirty="0"/>
              </a:p>
              <a:p>
                <a:pPr>
                  <a:lnSpc>
                    <a:spcPct val="120000"/>
                  </a:lnSpc>
                </a:pPr>
                <a:r>
                  <a:rPr lang="zh-CN" altLang="en-US" dirty="0"/>
                  <a:t>匹配：</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e>
                        <m:sub>
                          <m:r>
                            <a:rPr lang="zh-CN" altLang="en-US" i="1" smtClean="0">
                              <a:latin typeface="Cambria Math" panose="02040503050406030204" pitchFamily="18" charset="0"/>
                            </a:rPr>
                            <m:t>𝑍</m:t>
                          </m:r>
                          <m:r>
                            <a:rPr lang="zh-CN" altLang="en-US" i="1" smtClean="0">
                              <a:latin typeface="Cambria Math" panose="02040503050406030204" pitchFamily="18" charset="0"/>
                            </a:rPr>
                            <m:t>=0,</m:t>
                          </m:r>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m>
                            <m:mPr>
                              <m:mcs>
                                <m:mc>
                                  <m:mcPr>
                                    <m:count m:val="2"/>
                                    <m:mcJc m:val="center"/>
                                  </m:mcPr>
                                </m:mc>
                              </m:mcs>
                              <m:ctrlPr>
                                <a:rPr lang="zh-CN" altLang="en-US" i="1" smtClean="0">
                                  <a:latin typeface="Cambria Math" panose="02040503050406030204" pitchFamily="18" charset="0"/>
                                </a:rPr>
                              </m:ctrlPr>
                            </m:mPr>
                            <m:m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e>
                              <m:e>
                                <m:r>
                                  <m:rPr>
                                    <m:nor/>
                                  </m:rPr>
                                  <a:rPr lang="zh-CN" altLang="en-US" i="0" smtClean="0">
                                    <a:latin typeface="Cambria Math" panose="02040503050406030204" pitchFamily="18" charset="0"/>
                                  </a:rPr>
                                  <m:t> 如果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mr>
                            <m:m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𝑚</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e>
                                <m:r>
                                  <m:rPr>
                                    <m:nor/>
                                  </m:rPr>
                                  <a:rPr lang="zh-CN" altLang="en-US" i="0" smtClean="0">
                                    <a:latin typeface="Cambria Math" panose="02040503050406030204" pitchFamily="18" charset="0"/>
                                  </a:rPr>
                                  <m:t> 如果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mr>
                          </m:m>
                        </m:e>
                      </m:d>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e>
                        <m:sub>
                          <m:r>
                            <a:rPr lang="zh-CN" altLang="en-US" i="1" smtClean="0">
                              <a:latin typeface="Cambria Math" panose="02040503050406030204" pitchFamily="18" charset="0"/>
                            </a:rPr>
                            <m:t>𝑍</m:t>
                          </m:r>
                          <m:r>
                            <a:rPr lang="zh-CN" altLang="en-US" i="1" smtClean="0">
                              <a:latin typeface="Cambria Math" panose="02040503050406030204" pitchFamily="18" charset="0"/>
                            </a:rPr>
                            <m:t>=1,</m:t>
                          </m:r>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m>
                            <m:mPr>
                              <m:mcs>
                                <m:mc>
                                  <m:mcPr>
                                    <m:count m:val="2"/>
                                    <m:mcJc m:val="center"/>
                                  </m:mcPr>
                                </m:mc>
                              </m:mcs>
                              <m:ctrlPr>
                                <a:rPr lang="zh-CN" altLang="en-US" i="1" smtClean="0">
                                  <a:latin typeface="Cambria Math" panose="02040503050406030204" pitchFamily="18" charset="0"/>
                                </a:rPr>
                              </m:ctrlPr>
                            </m:mPr>
                            <m:m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𝑚</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e>
                                <m:r>
                                  <m:rPr>
                                    <m:nor/>
                                  </m:rPr>
                                  <a:rPr lang="zh-CN" altLang="en-US" i="0" smtClean="0">
                                    <a:latin typeface="Cambria Math" panose="02040503050406030204" pitchFamily="18" charset="0"/>
                                  </a:rPr>
                                  <m:t> 如果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mr>
                            <m:m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e>
                              <m:e>
                                <m:r>
                                  <m:rPr>
                                    <m:nor/>
                                  </m:rPr>
                                  <a:rPr lang="zh-CN" altLang="en-US" i="0" smtClean="0">
                                    <a:latin typeface="Cambria Math" panose="02040503050406030204" pitchFamily="18" charset="0"/>
                                  </a:rPr>
                                  <m:t> 如果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mr>
                          </m:m>
                        </m:e>
                      </m:d>
                    </m:oMath>
                  </m:oMathPara>
                </a14:m>
                <a:endParaRPr lang="en-US" altLang="zh-CN" dirty="0"/>
              </a:p>
              <a:p>
                <a:pPr marL="0" indent="0">
                  <a:lnSpc>
                    <a:spcPct val="120000"/>
                  </a:lnSpc>
                  <a:buNone/>
                </a:pPr>
                <a14:m>
                  <m:oMathPara xmlns:m="http://schemas.openxmlformats.org/officeDocument/2006/math">
                    <m:oMath>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𝐸</m:t>
                          </m:r>
                        </m:e>
                      </m:ac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e>
                                    <m:sub>
                                      <m:r>
                                        <a:rPr lang="zh-CN" altLang="en-US" i="1" smtClean="0">
                                          <a:latin typeface="Cambria Math" panose="02040503050406030204" pitchFamily="18" charset="0"/>
                                        </a:rPr>
                                        <m:t>𝑍</m:t>
                                      </m:r>
                                      <m:r>
                                        <a:rPr lang="zh-CN" altLang="en-US" i="1" smtClean="0">
                                          <a:latin typeface="Cambria Math" panose="02040503050406030204" pitchFamily="18" charset="0"/>
                                        </a:rPr>
                                        <m:t>=1,</m:t>
                                      </m:r>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e>
                                    <m:sub>
                                      <m:r>
                                        <a:rPr lang="zh-CN" altLang="en-US" i="1" smtClean="0">
                                          <a:latin typeface="Cambria Math" panose="02040503050406030204" pitchFamily="18" charset="0"/>
                                        </a:rPr>
                                        <m:t>𝑍</m:t>
                                      </m:r>
                                      <m:r>
                                        <a:rPr lang="zh-CN" altLang="en-US" i="1" smtClean="0">
                                          <a:latin typeface="Cambria Math" panose="02040503050406030204" pitchFamily="18" charset="0"/>
                                        </a:rPr>
                                        <m:t>=0,</m:t>
                                      </m:r>
                                      <m:r>
                                        <a:rPr lang="zh-CN" altLang="en-US" i="1" smtClean="0">
                                          <a:latin typeface="Cambria Math" panose="02040503050406030204" pitchFamily="18" charset="0"/>
                                        </a:rPr>
                                        <m:t>𝑖</m:t>
                                      </m:r>
                                    </m:sub>
                                  </m:sSub>
                                </m:e>
                              </m:d>
                            </m:e>
                          </m:nary>
                        </m:num>
                        <m:den>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𝐷</m:t>
                                          </m:r>
                                        </m:e>
                                      </m:acc>
                                    </m:e>
                                    <m:sub>
                                      <m:r>
                                        <a:rPr lang="zh-CN" altLang="en-US" i="1" smtClean="0">
                                          <a:latin typeface="Cambria Math" panose="02040503050406030204" pitchFamily="18" charset="0"/>
                                        </a:rPr>
                                        <m:t>𝑍</m:t>
                                      </m:r>
                                      <m:r>
                                        <a:rPr lang="zh-CN" altLang="en-US" i="1" smtClean="0">
                                          <a:latin typeface="Cambria Math" panose="02040503050406030204" pitchFamily="18" charset="0"/>
                                        </a:rPr>
                                        <m:t>=1,</m:t>
                                      </m:r>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𝐷</m:t>
                                          </m:r>
                                        </m:e>
                                      </m:acc>
                                    </m:e>
                                    <m:sub>
                                      <m:r>
                                        <a:rPr lang="zh-CN" altLang="en-US" i="1" smtClean="0">
                                          <a:latin typeface="Cambria Math" panose="02040503050406030204" pitchFamily="18" charset="0"/>
                                        </a:rPr>
                                        <m:t>𝑍</m:t>
                                      </m:r>
                                      <m:r>
                                        <a:rPr lang="zh-CN" altLang="en-US" i="1" smtClean="0">
                                          <a:latin typeface="Cambria Math" panose="02040503050406030204" pitchFamily="18" charset="0"/>
                                        </a:rPr>
                                        <m:t>=0,</m:t>
                                      </m:r>
                                      <m:r>
                                        <a:rPr lang="zh-CN" altLang="en-US" i="1" smtClean="0">
                                          <a:latin typeface="Cambria Math" panose="02040503050406030204" pitchFamily="18" charset="0"/>
                                        </a:rPr>
                                        <m:t>𝑖</m:t>
                                      </m:r>
                                    </m:sub>
                                  </m:sSub>
                                </m:e>
                              </m:d>
                            </m:e>
                          </m:nary>
                        </m:den>
                      </m:f>
                    </m:oMath>
                  </m:oMathPara>
                </a14:m>
                <a:endParaRPr lang="zh-CN" altLang="en-US" dirty="0"/>
              </a:p>
            </p:txBody>
          </p:sp>
        </mc:Choice>
        <mc:Fallback xmlns="">
          <p:sp>
            <p:nvSpPr>
              <p:cNvPr id="3" name="内容占位符 2">
                <a:extLst>
                  <a:ext uri="{FF2B5EF4-FFF2-40B4-BE49-F238E27FC236}">
                    <a16:creationId xmlns:a16="http://schemas.microsoft.com/office/drawing/2014/main" id="{9160BE04-B645-CD58-AC19-2C0E244E61C9}"/>
                  </a:ext>
                </a:extLst>
              </p:cNvPr>
              <p:cNvSpPr>
                <a:spLocks noGrp="1" noRot="1" noChangeAspect="1" noMove="1" noResize="1" noEditPoints="1" noAdjustHandles="1" noChangeArrowheads="1" noChangeShapeType="1" noTextEdit="1"/>
              </p:cNvSpPr>
              <p:nvPr>
                <p:ph idx="1"/>
              </p:nvPr>
            </p:nvSpPr>
            <p:spPr>
              <a:blipFill>
                <a:blip r:embed="rId2"/>
                <a:stretch>
                  <a:fillRect l="-2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CDCB751-05D6-E92B-6092-E74B0D3D7BC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C5E9969-4418-F272-7097-03D9CFAB15ED}"/>
              </a:ext>
            </a:extLst>
          </p:cNvPr>
          <p:cNvSpPr>
            <a:spLocks noGrp="1"/>
          </p:cNvSpPr>
          <p:nvPr>
            <p:ph type="sldNum" sz="quarter" idx="12"/>
          </p:nvPr>
        </p:nvSpPr>
        <p:spPr/>
        <p:txBody>
          <a:bodyPr/>
          <a:lstStyle/>
          <a:p>
            <a:fld id="{D41FC515-8169-4A29-AA56-DBE520D5741B}" type="slidenum">
              <a:rPr lang="zh-CN" altLang="en-US" smtClean="0"/>
              <a:t>38</a:t>
            </a:fld>
            <a:endParaRPr lang="zh-CN" altLang="en-US"/>
          </a:p>
        </p:txBody>
      </p:sp>
    </p:spTree>
    <p:extLst>
      <p:ext uri="{BB962C8B-B14F-4D97-AF65-F5344CB8AC3E}">
        <p14:creationId xmlns:p14="http://schemas.microsoft.com/office/powerpoint/2010/main" val="37394258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96566E-3992-7E6B-DC80-5F69BDE39260}"/>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2. </a:t>
            </a:r>
            <a:r>
              <a:rPr lang="zh-CN" altLang="en-US" sz="2400" dirty="0"/>
              <a:t>引入协变量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AC9D992-B8AB-DA67-7E67-C29480BF947A}"/>
                  </a:ext>
                </a:extLst>
              </p:cNvPr>
              <p:cNvSpPr>
                <a:spLocks noGrp="1"/>
              </p:cNvSpPr>
              <p:nvPr>
                <p:ph idx="1"/>
              </p:nvPr>
            </p:nvSpPr>
            <p:spPr/>
            <p:txBody>
              <a:bodyPr>
                <a:normAutofit fontScale="92500"/>
              </a:bodyPr>
              <a:lstStyle/>
              <a:p>
                <a:r>
                  <a:rPr lang="zh-CN" altLang="en-US" dirty="0"/>
                  <a:t>倾向指数匹配：</a:t>
                </a:r>
                <a:endParaRPr lang="en-US" altLang="zh-CN" dirty="0"/>
              </a:p>
              <a:p>
                <a:pPr marL="0" indent="0">
                  <a:buNone/>
                </a:pPr>
                <a14:m>
                  <m:oMathPara xmlns:m="http://schemas.openxmlformats.org/officeDocument/2006/math">
                    <m:oMath>
                      <m:r>
                        <a:rPr lang="zh-CN" altLang="en-US" i="1" smtClean="0">
                          <a:latin typeface="Cambria Math" panose="02040503050406030204" pitchFamily="18" charset="0"/>
                        </a:rPr>
                        <m:t>𝑒</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func>
                      <m:r>
                        <a:rPr lang="zh-CN" altLang="en-US" i="1" smtClean="0">
                          <a:latin typeface="Cambria Math" panose="02040503050406030204" pitchFamily="18" charset="0"/>
                        </a:rPr>
                        <m:t>.</m:t>
                      </m:r>
                    </m:oMath>
                  </m:oMathPara>
                </a14:m>
                <a:endParaRPr lang="en-US" altLang="zh-CN" dirty="0"/>
              </a:p>
              <a:p>
                <a:pPr lvl="1"/>
                <a:r>
                  <a:rPr lang="en-US" altLang="zh-CN" dirty="0"/>
                  <a:t>IPW:</a:t>
                </a:r>
              </a:p>
              <a:p>
                <a:pPr marL="0" indent="0">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num>
                                <m:den>
                                  <m:r>
                                    <a:rPr lang="zh-CN" altLang="en-US" i="1" smtClean="0">
                                      <a:latin typeface="Cambria Math" panose="02040503050406030204" pitchFamily="18" charset="0"/>
                                    </a:rPr>
                                    <m:t>𝑒</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num>
                                <m:den>
                                  <m:r>
                                    <a:rPr lang="zh-CN" altLang="en-US" i="1" smtClean="0">
                                      <a:latin typeface="Cambria Math" panose="02040503050406030204" pitchFamily="18" charset="0"/>
                                    </a:rPr>
                                    <m:t>1−</m:t>
                                  </m:r>
                                  <m:r>
                                    <a:rPr lang="zh-CN" altLang="en-US" i="1" smtClean="0">
                                      <a:latin typeface="Cambria Math" panose="02040503050406030204" pitchFamily="18" charset="0"/>
                                    </a:rPr>
                                    <m:t>𝑒</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den>
                              </m:f>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num>
                                <m:den>
                                  <m:r>
                                    <a:rPr lang="zh-CN" altLang="en-US" i="1" smtClean="0">
                                      <a:latin typeface="Cambria Math" panose="02040503050406030204" pitchFamily="18" charset="0"/>
                                    </a:rPr>
                                    <m:t>𝑒</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num>
                                <m:den>
                                  <m:r>
                                    <a:rPr lang="zh-CN" altLang="en-US" i="1" smtClean="0">
                                      <a:latin typeface="Cambria Math" panose="02040503050406030204" pitchFamily="18" charset="0"/>
                                    </a:rPr>
                                    <m:t>1−</m:t>
                                  </m:r>
                                  <m:r>
                                    <a:rPr lang="zh-CN" altLang="en-US" i="1" smtClean="0">
                                      <a:latin typeface="Cambria Math" panose="02040503050406030204" pitchFamily="18" charset="0"/>
                                    </a:rPr>
                                    <m:t>𝑒</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den>
                              </m:f>
                            </m:e>
                          </m:d>
                        </m:den>
                      </m:f>
                    </m:oMath>
                  </m:oMathPara>
                </a14:m>
                <a:endParaRPr lang="en-US" altLang="zh-CN" dirty="0"/>
              </a:p>
              <a:p>
                <a:pPr lvl="1"/>
                <a:r>
                  <a:rPr lang="en-US" altLang="zh-CN" dirty="0"/>
                  <a:t>IPW </a:t>
                </a:r>
                <a:r>
                  <a:rPr lang="zh-CN" altLang="en-US" dirty="0"/>
                  <a:t>估计量：</a:t>
                </a:r>
                <a:endParaRPr lang="en-US" altLang="zh-CN" dirty="0"/>
              </a:p>
              <a:p>
                <a:pPr marL="0" indent="0">
                  <a:buNone/>
                </a:pPr>
                <a14:m>
                  <m:oMathPara xmlns:m="http://schemas.openxmlformats.org/officeDocument/2006/math">
                    <m:oMath>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𝐸</m:t>
                          </m:r>
                        </m:e>
                      </m:ac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num>
                                    <m:den>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𝑒</m:t>
                                          </m:r>
                                        </m:e>
                                      </m:acc>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num>
                                    <m:den>
                                      <m:r>
                                        <a:rPr lang="zh-CN" altLang="en-US" i="1" smtClean="0">
                                          <a:latin typeface="Cambria Math" panose="02040503050406030204" pitchFamily="18" charset="0"/>
                                        </a:rPr>
                                        <m:t>1−</m:t>
                                      </m:r>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𝑒</m:t>
                                          </m:r>
                                        </m:e>
                                      </m:acc>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den>
                                  </m:f>
                                </m:e>
                              </m:d>
                            </m:e>
                          </m:nary>
                        </m:num>
                        <m:den>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num>
                                    <m:den>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𝑒</m:t>
                                          </m:r>
                                        </m:e>
                                      </m:acc>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num>
                                    <m:den>
                                      <m:r>
                                        <a:rPr lang="zh-CN" altLang="en-US" i="1" smtClean="0">
                                          <a:latin typeface="Cambria Math" panose="02040503050406030204" pitchFamily="18" charset="0"/>
                                        </a:rPr>
                                        <m:t>1−</m:t>
                                      </m:r>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𝑒</m:t>
                                          </m:r>
                                        </m:e>
                                      </m:acc>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den>
                                  </m:f>
                                </m:e>
                              </m:d>
                            </m:e>
                          </m:nary>
                        </m:den>
                      </m:f>
                    </m:oMath>
                  </m:oMathPara>
                </a14:m>
                <a:endParaRPr lang="zh-CN" altLang="en-US" dirty="0"/>
              </a:p>
            </p:txBody>
          </p:sp>
        </mc:Choice>
        <mc:Fallback xmlns="">
          <p:sp>
            <p:nvSpPr>
              <p:cNvPr id="3" name="内容占位符 2">
                <a:extLst>
                  <a:ext uri="{FF2B5EF4-FFF2-40B4-BE49-F238E27FC236}">
                    <a16:creationId xmlns:a16="http://schemas.microsoft.com/office/drawing/2014/main" id="{2AC9D992-B8AB-DA67-7E67-C29480BF947A}"/>
                  </a:ext>
                </a:extLst>
              </p:cNvPr>
              <p:cNvSpPr>
                <a:spLocks noGrp="1" noRot="1" noChangeAspect="1" noMove="1" noResize="1" noEditPoints="1" noAdjustHandles="1" noChangeArrowheads="1" noChangeShapeType="1" noTextEdit="1"/>
              </p:cNvSpPr>
              <p:nvPr>
                <p:ph idx="1"/>
              </p:nvPr>
            </p:nvSpPr>
            <p:spPr>
              <a:blipFill>
                <a:blip r:embed="rId2"/>
                <a:stretch>
                  <a:fillRect l="-1159" t="-21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A93ED37-6CFC-F5BE-4453-7DC4A0FE60E3}"/>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567EB0F-6D41-CDB0-080A-1FE1EA8A07E3}"/>
              </a:ext>
            </a:extLst>
          </p:cNvPr>
          <p:cNvSpPr>
            <a:spLocks noGrp="1"/>
          </p:cNvSpPr>
          <p:nvPr>
            <p:ph type="sldNum" sz="quarter" idx="12"/>
          </p:nvPr>
        </p:nvSpPr>
        <p:spPr/>
        <p:txBody>
          <a:bodyPr/>
          <a:lstStyle/>
          <a:p>
            <a:fld id="{D41FC515-8169-4A29-AA56-DBE520D5741B}" type="slidenum">
              <a:rPr lang="zh-CN" altLang="en-US" smtClean="0"/>
              <a:t>39</a:t>
            </a:fld>
            <a:endParaRPr lang="zh-CN" altLang="en-US"/>
          </a:p>
        </p:txBody>
      </p:sp>
    </p:spTree>
    <p:extLst>
      <p:ext uri="{BB962C8B-B14F-4D97-AF65-F5344CB8AC3E}">
        <p14:creationId xmlns:p14="http://schemas.microsoft.com/office/powerpoint/2010/main" val="38502581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0CB939-0DE6-5A75-7E93-0711F3D4FFFD}"/>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2. </a:t>
            </a:r>
            <a:r>
              <a:rPr lang="zh-CN" altLang="en-US" sz="2400" dirty="0"/>
              <a:t>引入协变量：</a:t>
            </a:r>
            <a:r>
              <a:rPr lang="en-US" altLang="zh-CN" sz="2400" dirty="0"/>
              <a:t>Abadie’s </a:t>
            </a:r>
            <a:r>
              <a:rPr lang="zh-CN" altLang="en-US" sz="2400" dirty="0"/>
              <a:t>𝜅</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FBBBF07-01F3-4F74-DBA5-810A727443EA}"/>
                  </a:ext>
                </a:extLst>
              </p:cNvPr>
              <p:cNvSpPr>
                <a:spLocks noGrp="1"/>
              </p:cNvSpPr>
              <p:nvPr>
                <p:ph idx="1"/>
              </p:nvPr>
            </p:nvSpPr>
            <p:spPr/>
            <p:txBody>
              <a:bodyPr>
                <a:normAutofit fontScale="77500" lnSpcReduction="20000"/>
              </a:bodyPr>
              <a:lstStyle/>
              <a:p>
                <a:pPr>
                  <a:lnSpc>
                    <a:spcPct val="110000"/>
                  </a:lnSpc>
                </a:pPr>
                <a:r>
                  <a:rPr lang="zh-CN" altLang="en-US" dirty="0"/>
                  <a:t>只对依从者进行回归，但依从者不能直接观测，但可以加权，</a:t>
                </a:r>
                <a:r>
                  <a:rPr lang="en-US" altLang="zh-CN" dirty="0"/>
                  <a:t>Abadie </a:t>
                </a:r>
                <a:r>
                  <a:rPr lang="zh-CN" altLang="en-US" dirty="0"/>
                  <a:t>证明任意函数 𝐺 </a:t>
                </a:r>
                <a:r>
                  <a:rPr lang="en-US" altLang="zh-CN" dirty="0"/>
                  <a:t>= </a:t>
                </a:r>
                <a:r>
                  <a:rPr lang="zh-CN" altLang="en-US" dirty="0"/>
                  <a:t>𝑔</a:t>
                </a:r>
                <a:r>
                  <a:rPr lang="en-US" altLang="zh-CN" dirty="0"/>
                  <a:t>(</a:t>
                </a:r>
                <a:r>
                  <a:rPr lang="zh-CN" altLang="en-US" dirty="0"/>
                  <a:t>𝑌 </a:t>
                </a:r>
                <a:r>
                  <a:rPr lang="en-US" altLang="zh-CN" dirty="0"/>
                  <a:t>, </a:t>
                </a:r>
                <a:r>
                  <a:rPr lang="zh-CN" altLang="en-US" dirty="0"/>
                  <a:t>𝑋</a:t>
                </a:r>
                <a:r>
                  <a:rPr lang="en-US" altLang="zh-CN" dirty="0"/>
                  <a:t>, </a:t>
                </a:r>
                <a:r>
                  <a:rPr lang="zh-CN" altLang="en-US" dirty="0"/>
                  <a:t>𝐷</a:t>
                </a:r>
                <a:r>
                  <a:rPr lang="en-US" altLang="zh-CN" dirty="0"/>
                  <a:t>)</a:t>
                </a:r>
                <a:r>
                  <a:rPr lang="zh-CN" altLang="en-US" dirty="0"/>
                  <a:t>，有</a:t>
                </a:r>
                <a:endParaRPr lang="en-US" altLang="zh-CN" dirty="0"/>
              </a:p>
              <a:p>
                <a:pPr marL="0" indent="0">
                  <a:lnSpc>
                    <a:spcPct val="11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𝐺</m:t>
                          </m:r>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𝑐</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𝑐</m:t>
                              </m:r>
                            </m:e>
                          </m:d>
                        </m:e>
                      </m:func>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𝜅</m:t>
                          </m:r>
                          <m:r>
                            <a:rPr lang="zh-CN" altLang="en-US" i="1" smtClean="0">
                              <a:latin typeface="Cambria Math" panose="02040503050406030204" pitchFamily="18" charset="0"/>
                            </a:rPr>
                            <m:t>𝐺</m:t>
                          </m:r>
                        </m:e>
                      </m:d>
                      <m:r>
                        <a:rPr lang="zh-CN" altLang="en-US" i="1" smtClean="0">
                          <a:latin typeface="Cambria Math" panose="02040503050406030204" pitchFamily="18" charset="0"/>
                        </a:rPr>
                        <m:t>,</m:t>
                      </m:r>
                    </m:oMath>
                  </m:oMathPara>
                </a14:m>
                <a:endParaRPr lang="en-US" altLang="zh-CN" dirty="0"/>
              </a:p>
              <a:p>
                <a:pPr>
                  <a:lnSpc>
                    <a:spcPct val="110000"/>
                  </a:lnSpc>
                </a:pPr>
                <a:r>
                  <a:rPr lang="zh-CN" altLang="en-US" dirty="0"/>
                  <a:t>其中</a:t>
                </a:r>
                <a:endParaRPr lang="en-US" altLang="zh-CN" dirty="0"/>
              </a:p>
              <a:p>
                <a:pPr marL="0" indent="0">
                  <a:lnSpc>
                    <a:spcPct val="110000"/>
                  </a:lnSpc>
                  <a:buNone/>
                </a:pPr>
                <a14:m>
                  <m:oMathPara xmlns:m="http://schemas.openxmlformats.org/officeDocument/2006/math">
                    <m:oMath>
                      <m:r>
                        <a:rPr lang="zh-CN" altLang="en-US" i="1" smtClean="0">
                          <a:latin typeface="Cambria Math" panose="02040503050406030204" pitchFamily="18" charset="0"/>
                        </a:rPr>
                        <m:t>𝜅</m:t>
                      </m:r>
                      <m:r>
                        <a:rPr lang="zh-CN" altLang="en-US" i="1" smtClean="0">
                          <a:latin typeface="Cambria Math" panose="02040503050406030204" pitchFamily="18" charset="0"/>
                        </a:rPr>
                        <m:t>=1−</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𝐷</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r>
                                <a:rPr lang="zh-CN" altLang="en-US" i="1" smtClean="0">
                                  <a:latin typeface="Cambria Math" panose="02040503050406030204" pitchFamily="18" charset="0"/>
                                </a:rPr>
                                <m:t>𝑍</m:t>
                              </m:r>
                            </m:e>
                          </m:d>
                        </m:num>
                        <m:den>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r>
                                    <a:rPr lang="zh-CN" altLang="en-US" i="1" smtClean="0">
                                      <a:latin typeface="Cambria Math" panose="02040503050406030204" pitchFamily="18" charset="0"/>
                                    </a:rPr>
                                    <m:t>=0|</m:t>
                                  </m:r>
                                  <m:r>
                                    <a:rPr lang="zh-CN" altLang="en-US" i="1" smtClean="0">
                                      <a:latin typeface="Cambria Math" panose="02040503050406030204" pitchFamily="18" charset="0"/>
                                    </a:rPr>
                                    <m:t>𝑋</m:t>
                                  </m:r>
                                </m:e>
                              </m:d>
                            </m:e>
                          </m:func>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r>
                                <a:rPr lang="zh-CN" altLang="en-US" i="1" smtClean="0">
                                  <a:latin typeface="Cambria Math" panose="02040503050406030204" pitchFamily="18" charset="0"/>
                                </a:rPr>
                                <m:t>𝐷</m:t>
                              </m:r>
                            </m:e>
                          </m:d>
                          <m:r>
                            <a:rPr lang="zh-CN" altLang="en-US" i="1" smtClean="0">
                              <a:latin typeface="Cambria Math" panose="02040503050406030204" pitchFamily="18" charset="0"/>
                            </a:rPr>
                            <m:t>𝑍</m:t>
                          </m:r>
                        </m:num>
                        <m:den>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r>
                                    <a:rPr lang="zh-CN" altLang="en-US" i="1" smtClean="0">
                                      <a:latin typeface="Cambria Math" panose="02040503050406030204" pitchFamily="18" charset="0"/>
                                    </a:rPr>
                                    <m:t>=1|</m:t>
                                  </m:r>
                                  <m:r>
                                    <a:rPr lang="zh-CN" altLang="en-US" i="1" smtClean="0">
                                      <a:latin typeface="Cambria Math" panose="02040503050406030204" pitchFamily="18" charset="0"/>
                                    </a:rPr>
                                    <m:t>𝑋</m:t>
                                  </m:r>
                                </m:e>
                              </m:d>
                            </m:e>
                          </m:func>
                        </m:den>
                      </m:f>
                    </m:oMath>
                  </m:oMathPara>
                </a14:m>
                <a:endParaRPr lang="en-US" altLang="zh-CN" dirty="0"/>
              </a:p>
              <a:p>
                <a:pPr>
                  <a:lnSpc>
                    <a:spcPct val="110000"/>
                  </a:lnSpc>
                </a:pPr>
                <a:r>
                  <a:rPr lang="zh-CN" altLang="en-US" dirty="0"/>
                  <a:t>令 𝑔</a:t>
                </a:r>
                <a:r>
                  <a:rPr lang="en-US" altLang="zh-CN" dirty="0"/>
                  <a:t>(</a:t>
                </a:r>
                <a:r>
                  <a:rPr lang="zh-CN" altLang="en-US" dirty="0"/>
                  <a:t>𝑌 </a:t>
                </a:r>
                <a:r>
                  <a:rPr lang="en-US" altLang="zh-CN" dirty="0"/>
                  <a:t>, </a:t>
                </a:r>
                <a:r>
                  <a:rPr lang="zh-CN" altLang="en-US" dirty="0"/>
                  <a:t>𝑋</a:t>
                </a:r>
                <a:r>
                  <a:rPr lang="en-US" altLang="zh-CN" dirty="0"/>
                  <a:t>, </a:t>
                </a:r>
                <a:r>
                  <a:rPr lang="zh-CN" altLang="en-US" dirty="0"/>
                  <a:t>𝐷</a:t>
                </a:r>
                <a:r>
                  <a:rPr lang="en-US" altLang="zh-CN" dirty="0"/>
                  <a:t>) = (</a:t>
                </a:r>
                <a:r>
                  <a:rPr lang="zh-CN" altLang="en-US" dirty="0"/>
                  <a:t>𝑌 − 𝛼𝐷 − 𝑋</a:t>
                </a:r>
                <a:r>
                  <a:rPr lang="en-US" altLang="zh-CN" dirty="0"/>
                  <a:t>′</a:t>
                </a:r>
                <a:r>
                  <a:rPr lang="zh-CN" altLang="en-US" dirty="0"/>
                  <a:t>𝛽</a:t>
                </a:r>
                <a:r>
                  <a:rPr lang="en-US" altLang="zh-CN" dirty="0"/>
                  <a:t>)2</a:t>
                </a:r>
                <a:r>
                  <a:rPr lang="zh-CN" altLang="en-US" dirty="0"/>
                  <a:t>，则：</a:t>
                </a:r>
                <a:endParaRPr lang="en-US" altLang="zh-CN" dirty="0"/>
              </a:p>
              <a:p>
                <a:pPr marL="0" indent="0">
                  <a:lnSpc>
                    <a:spcPct val="110000"/>
                  </a:lnSpc>
                  <a:buNone/>
                </a:pPr>
                <a14:m>
                  <m:oMathPara xmlns:m="http://schemas.openxmlformats.org/officeDocument/2006/math">
                    <m:oMath>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r>
                            <a:rPr lang="en-US" altLang="zh-CN" b="0" i="1" smtClean="0">
                              <a:latin typeface="Cambria Math" panose="02040503050406030204" pitchFamily="18" charset="0"/>
                            </a:rPr>
                            <m:t> </m:t>
                          </m:r>
                        </m:e>
                        <m:lim>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lim>
                      </m:limLow>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𝐷</m:t>
                                  </m:r>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𝛽</m:t>
                                  </m:r>
                                </m:e>
                              </m:d>
                            </m:e>
                            <m:sup>
                              <m:r>
                                <a:rPr lang="zh-CN" altLang="en-US" i="1" smtClean="0">
                                  <a:latin typeface="Cambria Math" panose="02040503050406030204" pitchFamily="18" charset="0"/>
                                </a:rPr>
                                <m:t>2</m:t>
                              </m:r>
                            </m:sup>
                          </m:sSup>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𝑐</m:t>
                          </m:r>
                        </m:e>
                      </m:d>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r>
                            <a:rPr lang="zh-CN" altLang="en-US" i="1" smtClean="0">
                              <a:latin typeface="Cambria Math" panose="02040503050406030204" pitchFamily="18" charset="0"/>
                            </a:rPr>
                            <m:t>𝐸</m:t>
                          </m:r>
                        </m:e>
                        <m:lim>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lim>
                      </m:limLow>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𝜅</m:t>
                          </m:r>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𝐷</m:t>
                                  </m:r>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𝛽</m:t>
                                  </m:r>
                                </m:e>
                              </m:d>
                            </m:e>
                            <m:sup>
                              <m:r>
                                <a:rPr lang="zh-CN" altLang="en-US" i="1" smtClean="0">
                                  <a:latin typeface="Cambria Math" panose="02040503050406030204" pitchFamily="18" charset="0"/>
                                </a:rPr>
                                <m:t>2</m:t>
                              </m:r>
                            </m:sup>
                          </m:sSup>
                        </m:e>
                      </m:d>
                    </m:oMath>
                  </m:oMathPara>
                </a14:m>
                <a:endParaRPr lang="en-US" altLang="zh-CN" dirty="0"/>
              </a:p>
              <a:p>
                <a:pPr lvl="1">
                  <a:lnSpc>
                    <a:spcPct val="110000"/>
                  </a:lnSpc>
                </a:pPr>
                <a:r>
                  <a:rPr lang="zh-CN" altLang="en-US" dirty="0"/>
                  <a:t>估计</a:t>
                </a:r>
                <a:r>
                  <a:rPr lang="en-US" altLang="zh-CN" dirty="0" err="1"/>
                  <a:t>Pr</a:t>
                </a:r>
                <a:r>
                  <a:rPr lang="en-US" altLang="zh-CN" dirty="0"/>
                  <a:t>[</a:t>
                </a:r>
                <a:r>
                  <a:rPr lang="zh-CN" altLang="en-US" dirty="0"/>
                  <a:t>𝑍 </a:t>
                </a:r>
                <a:r>
                  <a:rPr lang="en-US" altLang="zh-CN" dirty="0"/>
                  <a:t>= 1|</a:t>
                </a:r>
                <a:r>
                  <a:rPr lang="zh-CN" altLang="en-US" dirty="0"/>
                  <a:t>𝑋</a:t>
                </a:r>
                <a:r>
                  <a:rPr lang="en-US" altLang="zh-CN" dirty="0"/>
                  <a:t>]</a:t>
                </a:r>
                <a:r>
                  <a:rPr lang="zh-CN" altLang="en-US" dirty="0"/>
                  <a:t>，估计权重𝜅。</a:t>
                </a:r>
                <a:endParaRPr lang="en-US" altLang="zh-CN" dirty="0"/>
              </a:p>
              <a:p>
                <a:pPr lvl="1">
                  <a:lnSpc>
                    <a:spcPct val="110000"/>
                  </a:lnSpc>
                </a:pPr>
                <a:r>
                  <a:rPr lang="zh-CN" altLang="en-US" dirty="0"/>
                  <a:t>利用</a:t>
                </a:r>
                <a:r>
                  <a:rPr lang="en-US" altLang="zh-CN" dirty="0"/>
                  <a:t>WLS </a:t>
                </a:r>
                <a:r>
                  <a:rPr lang="zh-CN" altLang="en-US" dirty="0"/>
                  <a:t>估计上述模型，得到依从者的因果效应。</a:t>
                </a:r>
                <a:endParaRPr lang="en-US" altLang="zh-CN" dirty="0"/>
              </a:p>
              <a:p>
                <a:pPr lvl="1">
                  <a:lnSpc>
                    <a:spcPct val="110000"/>
                  </a:lnSpc>
                </a:pPr>
                <a:r>
                  <a:rPr lang="zh-CN" altLang="en-US" dirty="0"/>
                  <a:t>若倾向指数模型</a:t>
                </a:r>
                <a:r>
                  <a:rPr lang="en-US" altLang="zh-CN" dirty="0" err="1"/>
                  <a:t>Pr</a:t>
                </a:r>
                <a:r>
                  <a:rPr lang="en-US" altLang="zh-CN" dirty="0"/>
                  <a:t>[</a:t>
                </a:r>
                <a:r>
                  <a:rPr lang="zh-CN" altLang="en-US" dirty="0"/>
                  <a:t>𝑍 </a:t>
                </a:r>
                <a:r>
                  <a:rPr lang="en-US" altLang="zh-CN" dirty="0"/>
                  <a:t>= 1|</a:t>
                </a:r>
                <a:r>
                  <a:rPr lang="zh-CN" altLang="en-US" dirty="0"/>
                  <a:t>𝑋</a:t>
                </a:r>
                <a:r>
                  <a:rPr lang="en-US" altLang="zh-CN" dirty="0"/>
                  <a:t>] </a:t>
                </a:r>
                <a:r>
                  <a:rPr lang="zh-CN" altLang="en-US" dirty="0"/>
                  <a:t>为线性，等价于</a:t>
                </a:r>
                <a:r>
                  <a:rPr lang="en-US" altLang="zh-CN" dirty="0"/>
                  <a:t>TSLS</a:t>
                </a:r>
                <a:r>
                  <a:rPr lang="zh-CN" altLang="en-US" dirty="0"/>
                  <a:t>。</a:t>
                </a:r>
              </a:p>
            </p:txBody>
          </p:sp>
        </mc:Choice>
        <mc:Fallback xmlns="">
          <p:sp>
            <p:nvSpPr>
              <p:cNvPr id="3" name="内容占位符 2">
                <a:extLst>
                  <a:ext uri="{FF2B5EF4-FFF2-40B4-BE49-F238E27FC236}">
                    <a16:creationId xmlns:a16="http://schemas.microsoft.com/office/drawing/2014/main" id="{4FBBBF07-01F3-4F74-DBA5-810A727443EA}"/>
                  </a:ext>
                </a:extLst>
              </p:cNvPr>
              <p:cNvSpPr>
                <a:spLocks noGrp="1" noRot="1" noChangeAspect="1" noMove="1" noResize="1" noEditPoints="1" noAdjustHandles="1" noChangeArrowheads="1" noChangeShapeType="1" noTextEdit="1"/>
              </p:cNvSpPr>
              <p:nvPr>
                <p:ph idx="1"/>
              </p:nvPr>
            </p:nvSpPr>
            <p:spPr>
              <a:blipFill>
                <a:blip r:embed="rId2"/>
                <a:stretch>
                  <a:fillRect l="-850" t="-1541" r="-185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D6529C5-DC0A-B105-6CF8-DE792554D07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BDD3201-DA72-EAAB-ED12-8E73FF5115E5}"/>
              </a:ext>
            </a:extLst>
          </p:cNvPr>
          <p:cNvSpPr>
            <a:spLocks noGrp="1"/>
          </p:cNvSpPr>
          <p:nvPr>
            <p:ph type="sldNum" sz="quarter" idx="12"/>
          </p:nvPr>
        </p:nvSpPr>
        <p:spPr/>
        <p:txBody>
          <a:bodyPr/>
          <a:lstStyle/>
          <a:p>
            <a:fld id="{D41FC515-8169-4A29-AA56-DBE520D5741B}" type="slidenum">
              <a:rPr lang="zh-CN" altLang="en-US" smtClean="0"/>
              <a:t>40</a:t>
            </a:fld>
            <a:endParaRPr lang="zh-CN" altLang="en-US"/>
          </a:p>
        </p:txBody>
      </p:sp>
    </p:spTree>
    <p:extLst>
      <p:ext uri="{BB962C8B-B14F-4D97-AF65-F5344CB8AC3E}">
        <p14:creationId xmlns:p14="http://schemas.microsoft.com/office/powerpoint/2010/main" val="215398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474C4F-231B-C84E-95D2-DAA617F0B32C}"/>
              </a:ext>
            </a:extLst>
          </p:cNvPr>
          <p:cNvSpPr>
            <a:spLocks noGrp="1"/>
          </p:cNvSpPr>
          <p:nvPr>
            <p:ph type="title"/>
          </p:nvPr>
        </p:nvSpPr>
        <p:spPr/>
        <p:txBody>
          <a:bodyPr/>
          <a:lstStyle/>
          <a:p>
            <a:r>
              <a:rPr lang="en-US" altLang="zh-CN" dirty="0"/>
              <a:t>LATE </a:t>
            </a:r>
            <a:r>
              <a:rPr lang="zh-CN" altLang="en-US" dirty="0"/>
              <a:t>框架</a:t>
            </a:r>
            <a:br>
              <a:rPr lang="zh-CN" altLang="en-US" dirty="0"/>
            </a:br>
            <a:r>
              <a:rPr lang="en-US" altLang="zh-CN" sz="2400" dirty="0"/>
              <a:t>2. </a:t>
            </a:r>
            <a:r>
              <a:rPr lang="zh-CN" altLang="en-US" sz="2400" dirty="0"/>
              <a:t>引入协变量：</a:t>
            </a:r>
            <a:r>
              <a:rPr lang="en-US" altLang="zh-CN" sz="2400" dirty="0"/>
              <a:t>TSLS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5E462A7-D275-22A5-A6CF-DAD8EC3C5F10}"/>
                  </a:ext>
                </a:extLst>
              </p:cNvPr>
              <p:cNvSpPr>
                <a:spLocks noGrp="1"/>
              </p:cNvSpPr>
              <p:nvPr>
                <p:ph idx="1"/>
              </p:nvPr>
            </p:nvSpPr>
            <p:spPr/>
            <p:txBody>
              <a:bodyPr>
                <a:normAutofit fontScale="47500" lnSpcReduction="20000"/>
              </a:bodyPr>
              <a:lstStyle/>
              <a:p>
                <a:pPr>
                  <a:lnSpc>
                    <a:spcPct val="120000"/>
                  </a:lnSpc>
                </a:pPr>
                <a:r>
                  <a:rPr lang="zh-CN" altLang="en-US" dirty="0"/>
                  <a:t>具有协变量调整的工具变量法也可以用两阶段法估计量来进行表示，即</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𝑋</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1</m:t>
                          </m:r>
                          <m:r>
                            <a:rPr lang="zh-CN" altLang="en-US" i="1" smtClean="0">
                              <a:latin typeface="Cambria Math" panose="02040503050406030204" pitchFamily="18" charset="0"/>
                            </a:rPr>
                            <m:t>𝑋</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𝜖</m:t>
                          </m:r>
                        </m:e>
                        <m:sub>
                          <m:r>
                            <a:rPr lang="zh-CN" altLang="en-US" i="1" smtClean="0">
                              <a:latin typeface="Cambria Math" panose="02040503050406030204" pitchFamily="18" charset="0"/>
                            </a:rPr>
                            <m:t>1</m:t>
                          </m:r>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其中𝜋𝑋 表示根据𝑋𝑖 的取值产生的虚拟变量，相当于𝜋𝑋 是一系列取值为</a:t>
                </a:r>
                <a:r>
                  <a:rPr lang="en-US" altLang="zh-CN" dirty="0"/>
                  <a:t>1(</a:t>
                </a:r>
                <a:r>
                  <a:rPr lang="zh-CN" altLang="en-US" dirty="0"/>
                  <a:t>𝑋𝑖 </a:t>
                </a:r>
                <a:r>
                  <a:rPr lang="en-US" altLang="zh-CN" dirty="0"/>
                  <a:t>= </a:t>
                </a:r>
                <a:r>
                  <a:rPr lang="zh-CN" altLang="en-US" dirty="0"/>
                  <a:t>𝑥</a:t>
                </a:r>
                <a:r>
                  <a:rPr lang="en-US" altLang="zh-CN" dirty="0"/>
                  <a:t>) </a:t>
                </a:r>
                <a:r>
                  <a:rPr lang="zh-CN" altLang="en-US" dirty="0"/>
                  <a:t>的协变量系数，𝜋</a:t>
                </a:r>
                <a:r>
                  <a:rPr lang="en-US" altLang="zh-CN" dirty="0"/>
                  <a:t>1</a:t>
                </a:r>
                <a:r>
                  <a:rPr lang="zh-CN" altLang="en-US" dirty="0"/>
                  <a:t>𝑋 是工具变量与一系列协变量取值交叉项的系数，同样地，简化式写为：</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𝑋</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𝑐</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𝜂</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oMath>
                  </m:oMathPara>
                </a14:m>
                <a:endParaRPr lang="en-US" altLang="zh-CN" dirty="0"/>
              </a:p>
              <a:p>
                <a:pPr marL="0" indent="0">
                  <a:lnSpc>
                    <a:spcPct val="120000"/>
                  </a:lnSpc>
                  <a:buNone/>
                </a:pPr>
                <a:r>
                  <a:rPr lang="zh-CN" altLang="en-US" dirty="0"/>
                  <a:t>则得到的两阶段回归估计量可以表示为：</a:t>
                </a:r>
                <a:endParaRPr lang="en-US" altLang="zh-CN" dirty="0"/>
              </a:p>
              <a:p>
                <a:pPr marL="0" indent="0">
                  <a:lnSpc>
                    <a:spcPct val="120000"/>
                  </a:lnSpc>
                  <a:buNone/>
                </a:pPr>
                <a14:m>
                  <m:oMathPara xmlns:m="http://schemas.openxmlformats.org/officeDocument/2006/math">
                    <m:o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𝑐</m:t>
                          </m:r>
                        </m:sub>
                      </m:sSub>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𝑤</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e>
                          </m:d>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𝑐</m:t>
                              </m:r>
                            </m:sub>
                          </m:sSub>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e>
                          </m:d>
                        </m:e>
                      </m:d>
                      <m:r>
                        <a:rPr lang="en-US" altLang="zh-CN" i="1" smtClean="0">
                          <a:latin typeface="Cambria Math" panose="02040503050406030204" pitchFamily="18" charset="0"/>
                        </a:rPr>
                        <m:t>,</m:t>
                      </m:r>
                    </m:oMath>
                  </m:oMathPara>
                </a14:m>
                <a:endParaRPr lang="en-US" altLang="zh-CN" dirty="0"/>
              </a:p>
              <a:p>
                <a:pPr marL="0" indent="0">
                  <a:lnSpc>
                    <a:spcPct val="120000"/>
                  </a:lnSpc>
                  <a:buNone/>
                </a:pPr>
                <a:r>
                  <a:rPr lang="zh-CN" altLang="en-US" dirty="0"/>
                  <a:t>其中，</a:t>
                </a:r>
                <a:endParaRPr lang="en-US" altLang="zh-CN" dirty="0"/>
              </a:p>
              <a:p>
                <a:pPr marL="0" indent="0">
                  <a:lnSpc>
                    <a:spcPct val="120000"/>
                  </a:lnSpc>
                  <a:buNone/>
                </a:pPr>
                <a14:m>
                  <m:oMathPara xmlns:m="http://schemas.openxmlformats.org/officeDocument/2006/math">
                    <m:oMath>
                      <m:eqArr>
                        <m:eqArrPr>
                          <m:ctrlPr>
                            <a:rPr lang="en-US" altLang="zh-CN" i="1" smtClean="0">
                              <a:latin typeface="Cambria Math" panose="02040503050406030204" pitchFamily="18" charset="0"/>
                            </a:rPr>
                          </m:ctrlPr>
                        </m:eqArrPr>
                        <m:e>
                          <m:r>
                            <a:rPr lang="en-US" altLang="zh-CN" i="1" smtClean="0">
                              <a:latin typeface="Cambria Math" panose="02040503050406030204" pitchFamily="18" charset="0"/>
                            </a:rPr>
                            <m:t>𝑤</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e>
                          </m:d>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𝑉𝑎𝑟</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𝑍</m:t>
                                          </m:r>
                                        </m:e>
                                        <m:sub>
                                          <m:r>
                                            <a:rPr lang="en-US" altLang="zh-CN" i="1" smtClean="0">
                                              <a:latin typeface="Cambria Math" panose="02040503050406030204" pitchFamily="18" charset="0"/>
                                            </a:rPr>
                                            <m:t>𝑖</m:t>
                                          </m:r>
                                        </m:sub>
                                      </m:sSub>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e>
                              </m:d>
                            </m:num>
                            <m:den>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𝑉𝑎𝑟</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𝑍</m:t>
                                              </m:r>
                                            </m:e>
                                            <m:sub>
                                              <m:r>
                                                <a:rPr lang="en-US" altLang="zh-CN" i="1" smtClean="0">
                                                  <a:latin typeface="Cambria Math" panose="02040503050406030204" pitchFamily="18" charset="0"/>
                                                </a:rPr>
                                                <m:t>𝑖</m:t>
                                              </m:r>
                                            </m:sub>
                                          </m:sSub>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e>
                                  </m:d>
                                </m:e>
                              </m:d>
                            </m:den>
                          </m:f>
                          <m:r>
                            <a:rPr lang="en-US" altLang="zh-CN" i="1" smtClean="0">
                              <a:latin typeface="Cambria Math" panose="02040503050406030204" pitchFamily="18" charset="0"/>
                            </a:rPr>
                            <m:t>,</m:t>
                          </m:r>
                        </m:e>
                      </m:eqArr>
                    </m:oMath>
                  </m:oMathPara>
                </a14:m>
                <a:endParaRPr lang="en-US" altLang="zh-CN" dirty="0"/>
              </a:p>
              <a:p>
                <a:pPr marL="0" indent="0">
                  <a:lnSpc>
                    <a:spcPct val="120000"/>
                  </a:lnSpc>
                  <a:buNone/>
                </a:pPr>
                <a14:m>
                  <m:oMathPara xmlns:m="http://schemas.openxmlformats.org/officeDocument/2006/math">
                    <m:oMath>
                      <m:r>
                        <a:rPr lang="en-US" altLang="zh-CN" i="1" smtClean="0">
                          <a:latin typeface="Cambria Math" panose="02040503050406030204" pitchFamily="18" charset="0"/>
                        </a:rPr>
                        <m:t>𝑉𝑎𝑟</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𝑍</m:t>
                                  </m:r>
                                </m:e>
                                <m:sub>
                                  <m:r>
                                    <a:rPr lang="en-US" altLang="zh-CN" i="1" smtClean="0">
                                      <a:latin typeface="Cambria Math" panose="02040503050406030204" pitchFamily="18" charset="0"/>
                                    </a:rPr>
                                    <m:t>𝑖</m:t>
                                  </m:r>
                                </m:sub>
                              </m:sSub>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e>
                      </m:d>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𝑍</m:t>
                                  </m:r>
                                </m:e>
                                <m:sub>
                                  <m:r>
                                    <a:rPr lang="en-US" altLang="zh-CN" i="1" smtClean="0">
                                      <a:latin typeface="Cambria Math" panose="02040503050406030204" pitchFamily="18" charset="0"/>
                                    </a:rPr>
                                    <m:t>𝑖</m:t>
                                  </m:r>
                                </m:sub>
                              </m:sSub>
                            </m:e>
                          </m:d>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𝑍</m:t>
                                      </m:r>
                                    </m:e>
                                    <m:sub>
                                      <m:r>
                                        <a:rPr lang="en-US" altLang="zh-CN" i="1" smtClean="0">
                                          <a:latin typeface="Cambria Math" panose="02040503050406030204" pitchFamily="18" charset="0"/>
                                        </a:rPr>
                                        <m:t>𝑖</m:t>
                                      </m:r>
                                    </m:sub>
                                  </m:sSub>
                                </m:e>
                              </m:d>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e>
                              </m:d>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e>
                      </m:d>
                      <m:r>
                        <a:rPr lang="en-US" altLang="zh-CN" i="1" smtClean="0">
                          <a:latin typeface="Cambria Math" panose="02040503050406030204" pitchFamily="18" charset="0"/>
                        </a:rPr>
                        <m:t>.</m:t>
                      </m:r>
                    </m:oMath>
                  </m:oMathPara>
                </a14:m>
                <a:endParaRPr lang="en-US" altLang="zh-CN" dirty="0"/>
              </a:p>
              <a:p>
                <a:pPr>
                  <a:lnSpc>
                    <a:spcPct val="120000"/>
                  </a:lnSpc>
                </a:pPr>
                <a:r>
                  <a:rPr lang="zh-CN" altLang="en-US" dirty="0"/>
                  <a:t>注意这里仍然要求总体单调性𝐷</a:t>
                </a:r>
                <a:r>
                  <a:rPr lang="en-US" altLang="zh-CN" dirty="0"/>
                  <a:t>(1) ≥ </a:t>
                </a:r>
                <a:r>
                  <a:rPr lang="zh-CN" altLang="en-US" dirty="0"/>
                  <a:t>𝐷</a:t>
                </a:r>
                <a:r>
                  <a:rPr lang="en-US" altLang="zh-CN" dirty="0"/>
                  <a:t>(0) </a:t>
                </a:r>
                <a:r>
                  <a:rPr lang="zh-CN" altLang="en-US" dirty="0"/>
                  <a:t>成立的条件下得到的，</a:t>
                </a:r>
                <a:r>
                  <a:rPr lang="en-US" altLang="zh-CN" dirty="0"/>
                  <a:t>Angrist and Pischke (2009) </a:t>
                </a:r>
                <a:r>
                  <a:rPr lang="zh-CN" altLang="en-US" dirty="0"/>
                  <a:t>称为饱和加权</a:t>
                </a:r>
                <a:r>
                  <a:rPr lang="en-US" altLang="zh-CN" dirty="0"/>
                  <a:t>(Saturated and Weight)</a:t>
                </a:r>
                <a:r>
                  <a:rPr lang="zh-CN" altLang="en-US" dirty="0"/>
                  <a:t>。</a:t>
                </a:r>
                <a:endParaRPr lang="en-US" altLang="zh-CN" dirty="0"/>
              </a:p>
              <a:p>
                <a:pPr>
                  <a:lnSpc>
                    <a:spcPct val="120000"/>
                  </a:lnSpc>
                </a:pPr>
                <a:r>
                  <a:rPr lang="zh-CN" altLang="en-US" dirty="0"/>
                  <a:t>只有在饱和模型设定中，才能有这种正权重的解释，参考</a:t>
                </a:r>
                <a:r>
                  <a:rPr lang="en-US" altLang="zh-CN" dirty="0" err="1"/>
                  <a:t>Blandhol</a:t>
                </a:r>
                <a:r>
                  <a:rPr lang="en-US" altLang="zh-CN" dirty="0"/>
                  <a:t> et al. (2024), </a:t>
                </a:r>
                <a:r>
                  <a:rPr lang="en-US" altLang="zh-CN" dirty="0" err="1"/>
                  <a:t>Sloczynski</a:t>
                </a:r>
                <a:r>
                  <a:rPr lang="en-US" altLang="zh-CN" dirty="0"/>
                  <a:t>(2024), Mogstad and </a:t>
                </a:r>
                <a:r>
                  <a:rPr lang="en-US" altLang="zh-CN" dirty="0" err="1"/>
                  <a:t>Torgovitsky</a:t>
                </a:r>
                <a:r>
                  <a:rPr lang="en-US" altLang="zh-CN" dirty="0"/>
                  <a:t> (2024) </a:t>
                </a:r>
                <a:r>
                  <a:rPr lang="zh-CN" altLang="en-US" dirty="0"/>
                  <a:t>关于</a:t>
                </a:r>
                <a:r>
                  <a:rPr lang="en-US" altLang="zh-CN" dirty="0"/>
                  <a:t>TSLS </a:t>
                </a:r>
                <a:r>
                  <a:rPr lang="zh-CN" altLang="en-US" dirty="0"/>
                  <a:t>估计量的因果效应解释的最新研究。</a:t>
                </a:r>
                <a:endParaRPr lang="en-US" altLang="zh-CN" dirty="0"/>
              </a:p>
              <a:p>
                <a:pPr>
                  <a:lnSpc>
                    <a:spcPct val="120000"/>
                  </a:lnSpc>
                </a:pPr>
                <a:endParaRPr lang="zh-CN" altLang="en-US" dirty="0"/>
              </a:p>
            </p:txBody>
          </p:sp>
        </mc:Choice>
        <mc:Fallback xmlns="">
          <p:sp>
            <p:nvSpPr>
              <p:cNvPr id="3" name="内容占位符 2">
                <a:extLst>
                  <a:ext uri="{FF2B5EF4-FFF2-40B4-BE49-F238E27FC236}">
                    <a16:creationId xmlns:a16="http://schemas.microsoft.com/office/drawing/2014/main" id="{A5E462A7-D275-22A5-A6CF-DAD8EC3C5F10}"/>
                  </a:ext>
                </a:extLst>
              </p:cNvPr>
              <p:cNvSpPr>
                <a:spLocks noGrp="1" noRot="1" noChangeAspect="1" noMove="1" noResize="1" noEditPoints="1" noAdjustHandles="1" noChangeArrowheads="1" noChangeShapeType="1" noTextEdit="1"/>
              </p:cNvSpPr>
              <p:nvPr>
                <p:ph idx="1"/>
              </p:nvPr>
            </p:nvSpPr>
            <p:spPr>
              <a:blipFill>
                <a:blip r:embed="rId2"/>
                <a:stretch>
                  <a:fillRect l="-77" r="-77"/>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960C663-91A5-3DE9-0046-F28AE336991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C56849C-C5F1-FC25-56CC-01B88AEB930A}"/>
              </a:ext>
            </a:extLst>
          </p:cNvPr>
          <p:cNvSpPr>
            <a:spLocks noGrp="1"/>
          </p:cNvSpPr>
          <p:nvPr>
            <p:ph type="sldNum" sz="quarter" idx="12"/>
          </p:nvPr>
        </p:nvSpPr>
        <p:spPr/>
        <p:txBody>
          <a:bodyPr/>
          <a:lstStyle/>
          <a:p>
            <a:fld id="{D41FC515-8169-4A29-AA56-DBE520D5741B}" type="slidenum">
              <a:rPr lang="zh-CN" altLang="en-US" smtClean="0"/>
              <a:t>41</a:t>
            </a:fld>
            <a:endParaRPr lang="zh-CN" altLang="en-US"/>
          </a:p>
        </p:txBody>
      </p:sp>
      <p:sp>
        <p:nvSpPr>
          <p:cNvPr id="6" name="文本框 5">
            <a:extLst>
              <a:ext uri="{FF2B5EF4-FFF2-40B4-BE49-F238E27FC236}">
                <a16:creationId xmlns:a16="http://schemas.microsoft.com/office/drawing/2014/main" id="{E301BBFD-CF60-59B3-7A9E-D22A07C124BF}"/>
              </a:ext>
            </a:extLst>
          </p:cNvPr>
          <p:cNvSpPr txBox="1"/>
          <p:nvPr/>
        </p:nvSpPr>
        <p:spPr>
          <a:xfrm>
            <a:off x="4114800" y="2971800"/>
            <a:ext cx="65" cy="276999"/>
          </a:xfrm>
          <a:prstGeom prst="rect">
            <a:avLst/>
          </a:prstGeom>
          <a:noFill/>
        </p:spPr>
        <p:txBody>
          <a:bodyPr wrap="none" lIns="0" tIns="0" rIns="0" bIns="0" rtlCol="0">
            <a:spAutoFit/>
          </a:bodyPr>
          <a:lstStyle/>
          <a:p>
            <a:endParaRPr lang="zh-CN" altLang="en-US" dirty="0"/>
          </a:p>
        </p:txBody>
      </p:sp>
    </p:spTree>
    <p:extLst>
      <p:ext uri="{BB962C8B-B14F-4D97-AF65-F5344CB8AC3E}">
        <p14:creationId xmlns:p14="http://schemas.microsoft.com/office/powerpoint/2010/main" val="12705154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D89A9C-6293-61B7-A854-2D7B89E760CD}"/>
              </a:ext>
            </a:extLst>
          </p:cNvPr>
          <p:cNvSpPr>
            <a:spLocks noGrp="1"/>
          </p:cNvSpPr>
          <p:nvPr>
            <p:ph type="title"/>
          </p:nvPr>
        </p:nvSpPr>
        <p:spPr/>
        <p:txBody>
          <a:bodyPr/>
          <a:lstStyle/>
          <a:p>
            <a:r>
              <a:rPr lang="en-US" altLang="zh-CN" dirty="0"/>
              <a:t>LATE </a:t>
            </a:r>
            <a:r>
              <a:rPr lang="zh-CN" altLang="en-US" dirty="0"/>
              <a:t>框架：</a:t>
            </a:r>
            <a:r>
              <a:rPr lang="en-US" altLang="zh-CN" dirty="0" err="1"/>
              <a:t>Sloczynski</a:t>
            </a:r>
            <a:r>
              <a:rPr lang="en-US" altLang="zh-CN" dirty="0"/>
              <a:t>(2024)</a:t>
            </a:r>
            <a:br>
              <a:rPr lang="zh-CN" altLang="en-US" dirty="0"/>
            </a:br>
            <a:r>
              <a:rPr lang="en-US" altLang="zh-CN" sz="2400" dirty="0"/>
              <a:t>2. </a:t>
            </a:r>
            <a:r>
              <a:rPr lang="zh-CN" altLang="en-US" sz="2400" dirty="0"/>
              <a:t>引入协变量：</a:t>
            </a:r>
            <a:r>
              <a:rPr lang="en-US" altLang="zh-CN" sz="2400" dirty="0"/>
              <a:t>TSLS</a:t>
            </a:r>
            <a:endParaRPr lang="zh-CN" altLang="en-US" sz="24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4417738-C542-CB59-07DE-9F49F31FFE84}"/>
                  </a:ext>
                </a:extLst>
              </p:cNvPr>
              <p:cNvSpPr>
                <a:spLocks noGrp="1"/>
              </p:cNvSpPr>
              <p:nvPr>
                <p:ph idx="1"/>
              </p:nvPr>
            </p:nvSpPr>
            <p:spPr>
              <a:xfrm>
                <a:off x="628650" y="1825624"/>
                <a:ext cx="7886700" cy="4895851"/>
              </a:xfrm>
            </p:spPr>
            <p:txBody>
              <a:bodyPr>
                <a:normAutofit fontScale="62500" lnSpcReduction="20000"/>
              </a:bodyPr>
              <a:lstStyle/>
              <a:p>
                <a:pPr>
                  <a:lnSpc>
                    <a:spcPct val="120000"/>
                  </a:lnSpc>
                </a:pPr>
                <a:r>
                  <a:rPr lang="zh-CN" altLang="en-US" dirty="0"/>
                  <a:t>弱单调性假设：</a:t>
                </a:r>
                <a:endParaRPr lang="en-US" altLang="zh-CN" dirty="0"/>
              </a:p>
              <a:p>
                <a:pPr marL="0" indent="0">
                  <a:lnSpc>
                    <a:spcPct val="120000"/>
                  </a:lnSpc>
                  <a:buNone/>
                </a:pPr>
                <a14:m>
                  <m:oMathPara xmlns:m="http://schemas.openxmlformats.org/officeDocument/2006/math">
                    <m:oMath>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func>
                      <m:r>
                        <a:rPr lang="zh-CN" altLang="en-US" i="1" smtClean="0">
                          <a:latin typeface="Cambria Math" panose="02040503050406030204" pitchFamily="18" charset="0"/>
                        </a:rPr>
                        <m:t>=1</m:t>
                      </m:r>
                      <m:r>
                        <m:rPr>
                          <m:nor/>
                        </m:rPr>
                        <a:rPr lang="zh-CN" altLang="en-US" i="0" smtClean="0">
                          <a:latin typeface="Cambria Math" panose="02040503050406030204" pitchFamily="18" charset="0"/>
                        </a:rPr>
                        <m:t> in some </m:t>
                      </m:r>
                      <m:r>
                        <a:rPr lang="zh-CN" altLang="en-US" i="1" smtClean="0">
                          <a:latin typeface="Cambria Math" panose="02040503050406030204" pitchFamily="18" charset="0"/>
                        </a:rPr>
                        <m:t>𝑋</m:t>
                      </m:r>
                      <m:r>
                        <a:rPr lang="zh-CN" altLang="en-US" i="1" smtClean="0">
                          <a:latin typeface="Cambria Math" panose="02040503050406030204" pitchFamily="18" charset="0"/>
                        </a:rPr>
                        <m:t>,</m:t>
                      </m:r>
                      <m:r>
                        <m:rPr>
                          <m:nor/>
                        </m:rPr>
                        <a:rPr lang="zh-CN" altLang="en-US" i="0" smtClean="0">
                          <a:latin typeface="Cambria Math" panose="02040503050406030204" pitchFamily="18" charset="0"/>
                        </a:rPr>
                        <m:t> and </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func>
                      <m:r>
                        <a:rPr lang="zh-CN" altLang="en-US" i="1" smtClean="0">
                          <a:latin typeface="Cambria Math" panose="02040503050406030204" pitchFamily="18" charset="0"/>
                        </a:rPr>
                        <m:t>=1</m:t>
                      </m:r>
                      <m:r>
                        <m:rPr>
                          <m:nor/>
                        </m:rPr>
                        <a:rPr lang="zh-CN" altLang="en-US" i="0" smtClean="0">
                          <a:latin typeface="Cambria Math" panose="02040503050406030204" pitchFamily="18" charset="0"/>
                        </a:rPr>
                        <m:t> in other X</m:t>
                      </m:r>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强单调性假设：对于∀𝑋，有</a:t>
                </a:r>
                <a:endParaRPr lang="en-US" altLang="zh-CN" dirty="0"/>
              </a:p>
              <a:p>
                <a:pPr marL="0" indent="0">
                  <a:lnSpc>
                    <a:spcPct val="120000"/>
                  </a:lnSpc>
                  <a:buNone/>
                </a:pPr>
                <a14:m>
                  <m:oMathPara xmlns:m="http://schemas.openxmlformats.org/officeDocument/2006/math">
                    <m:oMath>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func>
                      <m:r>
                        <a:rPr lang="zh-CN" altLang="en-US" i="1" smtClean="0">
                          <a:latin typeface="Cambria Math" panose="02040503050406030204" pitchFamily="18" charset="0"/>
                        </a:rPr>
                        <m:t>=1</m:t>
                      </m:r>
                      <m:r>
                        <m:rPr>
                          <m:nor/>
                        </m:rPr>
                        <a:rPr lang="zh-CN" altLang="en-US" i="0" smtClean="0">
                          <a:latin typeface="Cambria Math" panose="02040503050406030204" pitchFamily="18" charset="0"/>
                        </a:rPr>
                        <m:t> or </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func>
                      <m:r>
                        <a:rPr lang="zh-CN" altLang="en-US" i="1" smtClean="0">
                          <a:latin typeface="Cambria Math" panose="02040503050406030204" pitchFamily="18" charset="0"/>
                        </a:rPr>
                        <m:t>=1.</m:t>
                      </m:r>
                    </m:oMath>
                  </m:oMathPara>
                </a14:m>
                <a:endParaRPr lang="en-US" altLang="zh-CN" dirty="0"/>
              </a:p>
              <a:p>
                <a:pPr>
                  <a:lnSpc>
                    <a:spcPct val="120000"/>
                  </a:lnSpc>
                </a:pPr>
                <a:r>
                  <a:rPr lang="zh-CN" altLang="en-US" dirty="0"/>
                  <a:t>在</a:t>
                </a:r>
                <a:r>
                  <a:rPr lang="en-US" altLang="zh-CN" dirty="0"/>
                  <a:t>X </a:t>
                </a:r>
                <a:r>
                  <a:rPr lang="zh-CN" altLang="en-US" dirty="0"/>
                  <a:t>饱和的设定中，引入弱单调性假设，并且𝑒</a:t>
                </a:r>
                <a:r>
                  <a:rPr lang="en-US" altLang="zh-CN" dirty="0"/>
                  <a:t>(</a:t>
                </a:r>
                <a:r>
                  <a:rPr lang="zh-CN" altLang="en-US" dirty="0"/>
                  <a:t>𝑋</a:t>
                </a:r>
                <a:r>
                  <a:rPr lang="en-US" altLang="zh-CN" dirty="0"/>
                  <a:t>) = </a:t>
                </a:r>
                <a:r>
                  <a:rPr lang="zh-CN" altLang="en-US" dirty="0"/>
                  <a:t>𝐸</a:t>
                </a:r>
                <a:r>
                  <a:rPr lang="en-US" altLang="zh-CN" dirty="0"/>
                  <a:t>[</a:t>
                </a:r>
                <a:r>
                  <a:rPr lang="zh-CN" altLang="en-US" dirty="0"/>
                  <a:t>𝑍</a:t>
                </a:r>
                <a:r>
                  <a:rPr lang="en-US" altLang="zh-CN" dirty="0"/>
                  <a:t>|</a:t>
                </a:r>
                <a:r>
                  <a:rPr lang="zh-CN" altLang="en-US" dirty="0"/>
                  <a:t>𝑋</a:t>
                </a:r>
                <a:r>
                  <a:rPr lang="en-US" altLang="zh-CN" dirty="0"/>
                  <a:t>](rich covariates)</a:t>
                </a:r>
                <a:r>
                  <a:rPr lang="zh-CN" altLang="en-US" dirty="0"/>
                  <a:t>，</a:t>
                </a:r>
                <a:r>
                  <a:rPr lang="en-US" altLang="zh-CN" dirty="0"/>
                  <a:t>TSLS </a:t>
                </a:r>
                <a:r>
                  <a:rPr lang="zh-CN" altLang="en-US" dirty="0"/>
                  <a:t>估计为：</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𝑇𝑆𝐿𝑆</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𝑐</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𝜋</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𝑉𝑎𝑟</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𝜏</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𝑐</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𝜋</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𝑉𝑎𝑟</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d>
                        </m:den>
                      </m:f>
                      <m:r>
                        <a:rPr lang="zh-CN" altLang="en-US" i="1" smtClean="0">
                          <a:latin typeface="Cambria Math" panose="02040503050406030204" pitchFamily="18" charset="0"/>
                        </a:rPr>
                        <m:t>,</m:t>
                      </m:r>
                    </m:oMath>
                  </m:oMathPara>
                </a14:m>
                <a:endParaRPr lang="en-US" altLang="zh-CN" dirty="0"/>
              </a:p>
              <a:p>
                <a:pPr marL="0" indent="0">
                  <a:lnSpc>
                    <a:spcPct val="120000"/>
                  </a:lnSpc>
                  <a:buNone/>
                </a:pPr>
                <a:r>
                  <a:rPr lang="zh-CN" altLang="en-US" dirty="0"/>
                  <a:t>其中依从者𝑐</a:t>
                </a:r>
                <a:r>
                  <a:rPr lang="en-US" altLang="zh-CN" dirty="0"/>
                  <a:t>(</a:t>
                </a:r>
                <a:r>
                  <a:rPr lang="zh-CN" altLang="en-US" dirty="0"/>
                  <a:t>𝑥</a:t>
                </a:r>
                <a:r>
                  <a:rPr lang="en-US" altLang="zh-CN" dirty="0"/>
                  <a:t>) = 1, </a:t>
                </a:r>
                <a:r>
                  <a:rPr lang="zh-CN" altLang="en-US" dirty="0"/>
                  <a:t>𝜋</a:t>
                </a:r>
                <a:r>
                  <a:rPr lang="en-US" altLang="zh-CN" dirty="0"/>
                  <a:t>(</a:t>
                </a:r>
                <a:r>
                  <a:rPr lang="zh-CN" altLang="en-US" dirty="0"/>
                  <a:t>𝑋</a:t>
                </a:r>
                <a:r>
                  <a:rPr lang="en-US" altLang="zh-CN" dirty="0"/>
                  <a:t>) = </a:t>
                </a:r>
                <a:r>
                  <a:rPr lang="en-US" altLang="zh-CN" dirty="0" err="1"/>
                  <a:t>Pr</a:t>
                </a:r>
                <a:r>
                  <a:rPr lang="en-US" altLang="zh-CN" dirty="0"/>
                  <a:t>[</a:t>
                </a:r>
                <a:r>
                  <a:rPr lang="zh-CN" altLang="en-US" dirty="0"/>
                  <a:t>𝐷</a:t>
                </a:r>
                <a:r>
                  <a:rPr lang="en-US" altLang="zh-CN" dirty="0"/>
                  <a:t>(1) &gt; </a:t>
                </a:r>
                <a:r>
                  <a:rPr lang="zh-CN" altLang="en-US" dirty="0"/>
                  <a:t>𝐷</a:t>
                </a:r>
                <a:r>
                  <a:rPr lang="en-US" altLang="zh-CN" dirty="0"/>
                  <a:t>(0)|</a:t>
                </a:r>
                <a:r>
                  <a:rPr lang="zh-CN" altLang="en-US" dirty="0"/>
                  <a:t>𝑋</a:t>
                </a:r>
                <a:r>
                  <a:rPr lang="en-US" altLang="zh-CN" dirty="0"/>
                  <a:t>]</a:t>
                </a:r>
                <a:r>
                  <a:rPr lang="zh-CN" altLang="en-US" dirty="0"/>
                  <a:t>，叛逆者𝑐</a:t>
                </a:r>
                <a:r>
                  <a:rPr lang="en-US" altLang="zh-CN" dirty="0"/>
                  <a:t>(</a:t>
                </a:r>
                <a:r>
                  <a:rPr lang="zh-CN" altLang="en-US" dirty="0"/>
                  <a:t>𝑥</a:t>
                </a:r>
                <a:r>
                  <a:rPr lang="en-US" altLang="zh-CN" dirty="0"/>
                  <a:t>) = −1</a:t>
                </a:r>
                <a:r>
                  <a:rPr lang="zh-CN" altLang="en-US" dirty="0"/>
                  <a:t>，𝜋</a:t>
                </a:r>
                <a:r>
                  <a:rPr lang="en-US" altLang="zh-CN" dirty="0"/>
                  <a:t>(</a:t>
                </a:r>
                <a:r>
                  <a:rPr lang="zh-CN" altLang="en-US" dirty="0"/>
                  <a:t>𝑋</a:t>
                </a:r>
                <a:r>
                  <a:rPr lang="en-US" altLang="zh-CN" dirty="0"/>
                  <a:t>) = </a:t>
                </a:r>
                <a:r>
                  <a:rPr lang="en-US" altLang="zh-CN" dirty="0" err="1"/>
                  <a:t>Pr</a:t>
                </a:r>
                <a:r>
                  <a:rPr lang="en-US" altLang="zh-CN" dirty="0"/>
                  <a:t>[</a:t>
                </a:r>
                <a:r>
                  <a:rPr lang="zh-CN" altLang="en-US" dirty="0"/>
                  <a:t>𝐷</a:t>
                </a:r>
                <a:r>
                  <a:rPr lang="en-US" altLang="zh-CN" dirty="0"/>
                  <a:t>(1) &lt; </a:t>
                </a:r>
                <a:r>
                  <a:rPr lang="zh-CN" altLang="en-US" dirty="0"/>
                  <a:t>𝐷</a:t>
                </a:r>
                <a:r>
                  <a:rPr lang="en-US" altLang="zh-CN" dirty="0"/>
                  <a:t>(0)|</a:t>
                </a:r>
                <a:r>
                  <a:rPr lang="zh-CN" altLang="en-US" dirty="0"/>
                  <a:t>𝑋</a:t>
                </a:r>
                <a:r>
                  <a:rPr lang="en-US" altLang="zh-CN" dirty="0"/>
                  <a:t>]</a:t>
                </a:r>
                <a:r>
                  <a:rPr lang="zh-CN" altLang="en-US" dirty="0"/>
                  <a:t>。</a:t>
                </a:r>
                <a:endParaRPr lang="en-US" altLang="zh-CN" dirty="0"/>
              </a:p>
              <a:p>
                <a:pPr>
                  <a:lnSpc>
                    <a:spcPct val="120000"/>
                  </a:lnSpc>
                </a:pPr>
                <a:r>
                  <a:rPr lang="zh-CN" altLang="en-US" dirty="0"/>
                  <a:t>出现负权重！但如果引入强单调性则可以避免负权重问题。参见其定理</a:t>
                </a:r>
                <a:r>
                  <a:rPr lang="en-US" altLang="zh-CN" dirty="0"/>
                  <a:t>3.3 </a:t>
                </a:r>
                <a:r>
                  <a:rPr lang="zh-CN" altLang="en-US" dirty="0"/>
                  <a:t>和推论</a:t>
                </a:r>
                <a:r>
                  <a:rPr lang="en-US" altLang="zh-CN" dirty="0"/>
                  <a:t>3.4</a:t>
                </a:r>
                <a:r>
                  <a:rPr lang="zh-CN" altLang="en-US" dirty="0"/>
                  <a:t>。</a:t>
                </a:r>
              </a:p>
            </p:txBody>
          </p:sp>
        </mc:Choice>
        <mc:Fallback xmlns="">
          <p:sp>
            <p:nvSpPr>
              <p:cNvPr id="3" name="内容占位符 2">
                <a:extLst>
                  <a:ext uri="{FF2B5EF4-FFF2-40B4-BE49-F238E27FC236}">
                    <a16:creationId xmlns:a16="http://schemas.microsoft.com/office/drawing/2014/main" id="{C4417738-C542-CB59-07DE-9F49F31FFE84}"/>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618" t="-622" r="-15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BEB3849-BF9C-1E2E-1B94-D5037494E44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558E72F-223F-1663-AD99-4BB0746D3883}"/>
              </a:ext>
            </a:extLst>
          </p:cNvPr>
          <p:cNvSpPr>
            <a:spLocks noGrp="1"/>
          </p:cNvSpPr>
          <p:nvPr>
            <p:ph type="sldNum" sz="quarter" idx="12"/>
          </p:nvPr>
        </p:nvSpPr>
        <p:spPr/>
        <p:txBody>
          <a:bodyPr/>
          <a:lstStyle/>
          <a:p>
            <a:fld id="{D41FC515-8169-4A29-AA56-DBE520D5741B}" type="slidenum">
              <a:rPr lang="zh-CN" altLang="en-US" smtClean="0"/>
              <a:t>42</a:t>
            </a:fld>
            <a:endParaRPr lang="zh-CN" altLang="en-US"/>
          </a:p>
        </p:txBody>
      </p:sp>
    </p:spTree>
    <p:extLst>
      <p:ext uri="{BB962C8B-B14F-4D97-AF65-F5344CB8AC3E}">
        <p14:creationId xmlns:p14="http://schemas.microsoft.com/office/powerpoint/2010/main" val="20611801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DE2A35-73AF-B4FF-3DE7-08FD08022FE1}"/>
              </a:ext>
            </a:extLst>
          </p:cNvPr>
          <p:cNvSpPr>
            <a:spLocks noGrp="1"/>
          </p:cNvSpPr>
          <p:nvPr>
            <p:ph type="title"/>
          </p:nvPr>
        </p:nvSpPr>
        <p:spPr/>
        <p:txBody>
          <a:bodyPr/>
          <a:lstStyle/>
          <a:p>
            <a:r>
              <a:rPr lang="en-US" altLang="zh-CN" dirty="0"/>
              <a:t>LATE </a:t>
            </a:r>
            <a:r>
              <a:rPr lang="zh-CN" altLang="en-US" dirty="0"/>
              <a:t>框架：</a:t>
            </a:r>
            <a:r>
              <a:rPr lang="en-US" altLang="zh-CN" sz="4000" dirty="0" err="1"/>
              <a:t>Blandhol</a:t>
            </a:r>
            <a:r>
              <a:rPr lang="en-US" altLang="zh-CN" sz="4000" dirty="0"/>
              <a:t> et al. (2024)</a:t>
            </a:r>
            <a:br>
              <a:rPr lang="en-US" altLang="zh-CN" sz="4000" dirty="0"/>
            </a:br>
            <a:r>
              <a:rPr lang="en-US" altLang="zh-CN" sz="2400" dirty="0"/>
              <a:t>2. </a:t>
            </a:r>
            <a:r>
              <a:rPr lang="zh-CN" altLang="en-US" sz="2400" dirty="0"/>
              <a:t>引入协变量：</a:t>
            </a:r>
            <a:r>
              <a:rPr lang="en-US" altLang="zh-CN" sz="2400" dirty="0"/>
              <a:t>TSLS</a:t>
            </a:r>
            <a:endParaRPr lang="zh-CN" altLang="en-US" sz="24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D775871-597E-0CD1-FC19-78CEF56CB8D2}"/>
                  </a:ext>
                </a:extLst>
              </p:cNvPr>
              <p:cNvSpPr>
                <a:spLocks noGrp="1"/>
              </p:cNvSpPr>
              <p:nvPr>
                <p:ph idx="1"/>
              </p:nvPr>
            </p:nvSpPr>
            <p:spPr/>
            <p:txBody>
              <a:bodyPr>
                <a:normAutofit fontScale="55000" lnSpcReduction="20000"/>
              </a:bodyPr>
              <a:lstStyle/>
              <a:p>
                <a:pPr>
                  <a:lnSpc>
                    <a:spcPct val="120000"/>
                  </a:lnSpc>
                </a:pPr>
                <a:r>
                  <a:rPr lang="en-US" altLang="zh-CN" dirty="0" err="1"/>
                  <a:t>Blandhol</a:t>
                </a:r>
                <a:r>
                  <a:rPr lang="en-US" altLang="zh-CN" dirty="0"/>
                  <a:t> et al. (2024) </a:t>
                </a:r>
                <a:r>
                  <a:rPr lang="zh-CN" altLang="en-US" dirty="0"/>
                  <a:t>给出了更一般的结果，他们指出即使在强单调性假设下，如果不满足丰富协变量</a:t>
                </a:r>
                <a:r>
                  <a:rPr lang="en-US" altLang="zh-CN" dirty="0"/>
                  <a:t>(rich covariates) </a:t>
                </a:r>
                <a:r>
                  <a:rPr lang="zh-CN" altLang="en-US" dirty="0"/>
                  <a:t>条件，即𝐿</a:t>
                </a:r>
                <a:r>
                  <a:rPr lang="en-US" altLang="zh-CN" dirty="0"/>
                  <a:t>[</a:t>
                </a:r>
                <a:r>
                  <a:rPr lang="zh-CN" altLang="en-US" dirty="0"/>
                  <a:t>𝑍</a:t>
                </a:r>
                <a:r>
                  <a:rPr lang="en-US" altLang="zh-CN" dirty="0"/>
                  <a:t>|</a:t>
                </a:r>
                <a:r>
                  <a:rPr lang="zh-CN" altLang="en-US" dirty="0"/>
                  <a:t>𝑋</a:t>
                </a:r>
                <a:r>
                  <a:rPr lang="en-US" altLang="zh-CN" dirty="0"/>
                  <a:t>] ≠ </a:t>
                </a:r>
                <a:r>
                  <a:rPr lang="zh-CN" altLang="en-US" dirty="0"/>
                  <a:t>𝐸</a:t>
                </a:r>
                <a:r>
                  <a:rPr lang="en-US" altLang="zh-CN" dirty="0"/>
                  <a:t>[</a:t>
                </a:r>
                <a:r>
                  <a:rPr lang="zh-CN" altLang="en-US" dirty="0"/>
                  <a:t>𝑍</a:t>
                </a:r>
                <a:r>
                  <a:rPr lang="en-US" altLang="zh-CN" dirty="0"/>
                  <a:t>|</a:t>
                </a:r>
                <a:r>
                  <a:rPr lang="zh-CN" altLang="en-US" dirty="0"/>
                  <a:t>𝑋</a:t>
                </a:r>
                <a:r>
                  <a:rPr lang="en-US" altLang="zh-CN" dirty="0"/>
                  <a:t>]</a:t>
                </a:r>
                <a:r>
                  <a:rPr lang="zh-CN" altLang="en-US" dirty="0"/>
                  <a:t>，</a:t>
                </a:r>
                <a:r>
                  <a:rPr lang="en-US" altLang="zh-CN" dirty="0"/>
                  <a:t>TSLS </a:t>
                </a:r>
                <a:r>
                  <a:rPr lang="zh-CN" altLang="en-US" dirty="0"/>
                  <a:t>估计量不能解释成依从者的平均因果效应，在假设𝐸</a:t>
                </a:r>
                <a:r>
                  <a:rPr lang="en-US" altLang="zh-CN" dirty="0"/>
                  <a:t>[</a:t>
                </a:r>
                <a:r>
                  <a:rPr lang="zh-CN" altLang="en-US" dirty="0"/>
                  <a:t>𝑌 </a:t>
                </a:r>
                <a:r>
                  <a:rPr lang="en-US" altLang="zh-CN" dirty="0"/>
                  <a:t>(</a:t>
                </a:r>
                <a:r>
                  <a:rPr lang="zh-CN" altLang="en-US" dirty="0"/>
                  <a:t>𝑑</a:t>
                </a:r>
                <a:r>
                  <a:rPr lang="en-US" altLang="zh-CN" dirty="0"/>
                  <a:t>)|</a:t>
                </a:r>
                <a:r>
                  <a:rPr lang="zh-CN" altLang="en-US" dirty="0"/>
                  <a:t>𝑋</a:t>
                </a:r>
                <a:r>
                  <a:rPr lang="en-US" altLang="zh-CN" dirty="0"/>
                  <a:t>] = </a:t>
                </a:r>
                <a:r>
                  <a:rPr lang="zh-CN" altLang="en-US" dirty="0"/>
                  <a:t>𝜂</a:t>
                </a:r>
                <a:r>
                  <a:rPr lang="en-US" altLang="zh-CN" dirty="0"/>
                  <a:t>′</a:t>
                </a:r>
                <a:r>
                  <a:rPr lang="zh-CN" altLang="en-US" dirty="0"/>
                  <a:t>𝑑𝑋 的条件下，他们证明</a:t>
                </a:r>
                <a:r>
                  <a:rPr lang="en-US" altLang="zh-CN" dirty="0"/>
                  <a:t>:</a:t>
                </a:r>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𝐼𝑉</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𝐶𝑃</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m:rPr>
                              <m:sty m:val="p"/>
                            </m:rPr>
                            <a:rPr lang="zh-CN" altLang="en-US" i="1" smtClean="0">
                              <a:latin typeface="Cambria Math" panose="02040503050406030204" pitchFamily="18" charset="0"/>
                            </a:rPr>
                            <m:t>Δ</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𝐶𝑃</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𝐴𝑇</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m:rPr>
                              <m:sty m:val="p"/>
                            </m:rPr>
                            <a:rPr lang="zh-CN" altLang="en-US" i="1" smtClean="0">
                              <a:latin typeface="Cambria Math" panose="02040503050406030204" pitchFamily="18" charset="0"/>
                            </a:rPr>
                            <m:t>Δ</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𝐴𝑇</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𝑁𝑇</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m:rPr>
                              <m:sty m:val="p"/>
                            </m:rPr>
                            <a:rPr lang="zh-CN" altLang="en-US" i="1" smtClean="0">
                              <a:latin typeface="Cambria Math" panose="02040503050406030204" pitchFamily="18" charset="0"/>
                            </a:rPr>
                            <m:t>Δ</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𝑁𝑇</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d>
                      <m:r>
                        <a:rPr lang="zh-CN" altLang="en-US" i="1" smtClean="0">
                          <a:latin typeface="Cambria Math" panose="02040503050406030204" pitchFamily="18" charset="0"/>
                        </a:rPr>
                        <m:t>,</m:t>
                      </m:r>
                    </m:oMath>
                  </m:oMathPara>
                </a14:m>
                <a:endParaRPr lang="en-US" altLang="zh-CN" dirty="0"/>
              </a:p>
              <a:p>
                <a:pPr marL="0" indent="0">
                  <a:lnSpc>
                    <a:spcPct val="120000"/>
                  </a:lnSpc>
                  <a:buNone/>
                </a:pPr>
                <a:r>
                  <a:rPr lang="zh-CN" altLang="en-US" dirty="0"/>
                  <a:t>其中</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𝐶𝑃</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𝜖</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𝑍</m:t>
                                      </m:r>
                                    </m:e>
                                  </m:acc>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𝐿</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d>
                            </m:e>
                          </m:d>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𝐺</m:t>
                              </m:r>
                              <m:r>
                                <a:rPr lang="zh-CN" altLang="en-US" i="1" smtClean="0">
                                  <a:latin typeface="Cambria Math" panose="02040503050406030204" pitchFamily="18" charset="0"/>
                                </a:rPr>
                                <m:t>=</m:t>
                              </m:r>
                              <m:r>
                                <a:rPr lang="zh-CN" altLang="en-US" i="1" smtClean="0">
                                  <a:latin typeface="Cambria Math" panose="02040503050406030204" pitchFamily="18" charset="0"/>
                                </a:rPr>
                                <m:t>𝐶𝑃</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𝐸</m:t>
                          </m:r>
                          <m:sSup>
                            <m:sSupPr>
                              <m:ctrlPr>
                                <a:rPr lang="zh-CN" altLang="en-US" i="1" smtClean="0">
                                  <a:latin typeface="Cambria Math" panose="02040503050406030204" pitchFamily="18" charset="0"/>
                                </a:rPr>
                              </m:ctrlPr>
                            </m:sSupPr>
                            <m:e>
                              <m:d>
                                <m:dPr>
                                  <m:begChr m:val="["/>
                                  <m:endChr m:val="]"/>
                                  <m:ctrlPr>
                                    <a:rPr lang="zh-CN" altLang="en-US" i="1" smtClean="0">
                                      <a:latin typeface="Cambria Math" panose="02040503050406030204" pitchFamily="18" charset="0"/>
                                    </a:rPr>
                                  </m:ctrlPr>
                                </m:d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𝑍</m:t>
                                      </m:r>
                                    </m:e>
                                  </m:acc>
                                  <m:r>
                                    <a:rPr lang="zh-CN" altLang="en-US" i="1" smtClean="0">
                                      <a:latin typeface="Cambria Math" panose="02040503050406030204" pitchFamily="18" charset="0"/>
                                    </a:rPr>
                                    <m:t>𝑇</m:t>
                                  </m:r>
                                </m:e>
                              </m:d>
                            </m:e>
                            <m:sup>
                              <m:r>
                                <a:rPr lang="zh-CN" altLang="en-US" i="1" smtClean="0">
                                  <a:latin typeface="Cambria Math" panose="02040503050406030204" pitchFamily="18" charset="0"/>
                                </a:rPr>
                                <m:t>−1</m:t>
                              </m:r>
                            </m:sup>
                          </m:sSup>
                          <m:r>
                            <a:rPr lang="zh-CN" altLang="en-US" i="1" smtClean="0">
                              <a:latin typeface="Cambria Math" panose="02040503050406030204" pitchFamily="18" charset="0"/>
                            </a:rPr>
                            <m:t>,</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𝐴𝑇</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𝜖</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𝑍</m:t>
                                  </m:r>
                                </m:e>
                              </m:acc>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𝐺</m:t>
                              </m:r>
                              <m:r>
                                <a:rPr lang="zh-CN" altLang="en-US" i="1" smtClean="0">
                                  <a:latin typeface="Cambria Math" panose="02040503050406030204" pitchFamily="18" charset="0"/>
                                </a:rPr>
                                <m:t>=</m:t>
                              </m:r>
                              <m:r>
                                <a:rPr lang="zh-CN" altLang="en-US" i="1" smtClean="0">
                                  <a:latin typeface="Cambria Math" panose="02040503050406030204" pitchFamily="18" charset="0"/>
                                </a:rPr>
                                <m:t>𝐴𝑇</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𝐸</m:t>
                          </m:r>
                          <m:sSup>
                            <m:sSupPr>
                              <m:ctrlPr>
                                <a:rPr lang="zh-CN" altLang="en-US" i="1" smtClean="0">
                                  <a:latin typeface="Cambria Math" panose="02040503050406030204" pitchFamily="18" charset="0"/>
                                </a:rPr>
                              </m:ctrlPr>
                            </m:sSupPr>
                            <m:e>
                              <m:d>
                                <m:dPr>
                                  <m:begChr m:val="["/>
                                  <m:endChr m:val="]"/>
                                  <m:ctrlPr>
                                    <a:rPr lang="zh-CN" altLang="en-US" i="1" smtClean="0">
                                      <a:latin typeface="Cambria Math" panose="02040503050406030204" pitchFamily="18" charset="0"/>
                                    </a:rPr>
                                  </m:ctrlPr>
                                </m:d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𝑍</m:t>
                                      </m:r>
                                    </m:e>
                                  </m:acc>
                                  <m:r>
                                    <a:rPr lang="zh-CN" altLang="en-US" i="1" smtClean="0">
                                      <a:latin typeface="Cambria Math" panose="02040503050406030204" pitchFamily="18" charset="0"/>
                                    </a:rPr>
                                    <m:t>𝑇</m:t>
                                  </m:r>
                                </m:e>
                              </m:d>
                            </m:e>
                            <m:sup>
                              <m:r>
                                <a:rPr lang="zh-CN" altLang="en-US" i="1" smtClean="0">
                                  <a:latin typeface="Cambria Math" panose="02040503050406030204" pitchFamily="18" charset="0"/>
                                </a:rPr>
                                <m:t>−1</m:t>
                              </m:r>
                            </m:sup>
                          </m:sSup>
                          <m:r>
                            <a:rPr lang="zh-CN" altLang="en-US" i="1" smtClean="0">
                              <a:latin typeface="Cambria Math" panose="02040503050406030204" pitchFamily="18" charset="0"/>
                            </a:rPr>
                            <m:t>,</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𝑁𝑇</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𝜖</m:t>
                              </m:r>
                              <m:r>
                                <a:rPr lang="zh-CN" altLang="en-US" i="1" smtClean="0">
                                  <a:latin typeface="Cambria Math" panose="02040503050406030204" pitchFamily="18" charset="0"/>
                                </a:rPr>
                                <m:t>−1</m:t>
                              </m:r>
                            </m:e>
                          </m:d>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𝑍</m:t>
                                  </m:r>
                                </m:e>
                              </m:acc>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𝐺</m:t>
                              </m:r>
                              <m:r>
                                <a:rPr lang="zh-CN" altLang="en-US" i="1" smtClean="0">
                                  <a:latin typeface="Cambria Math" panose="02040503050406030204" pitchFamily="18" charset="0"/>
                                </a:rPr>
                                <m:t>=</m:t>
                              </m:r>
                              <m:r>
                                <a:rPr lang="zh-CN" altLang="en-US" i="1" smtClean="0">
                                  <a:latin typeface="Cambria Math" panose="02040503050406030204" pitchFamily="18" charset="0"/>
                                </a:rPr>
                                <m:t>𝑁𝑇</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𝐸</m:t>
                          </m:r>
                          <m:sSup>
                            <m:sSupPr>
                              <m:ctrlPr>
                                <a:rPr lang="zh-CN" altLang="en-US" i="1" smtClean="0">
                                  <a:latin typeface="Cambria Math" panose="02040503050406030204" pitchFamily="18" charset="0"/>
                                </a:rPr>
                              </m:ctrlPr>
                            </m:sSupPr>
                            <m:e>
                              <m:d>
                                <m:dPr>
                                  <m:begChr m:val="["/>
                                  <m:endChr m:val="]"/>
                                  <m:ctrlPr>
                                    <a:rPr lang="zh-CN" altLang="en-US" i="1" smtClean="0">
                                      <a:latin typeface="Cambria Math" panose="02040503050406030204" pitchFamily="18" charset="0"/>
                                    </a:rPr>
                                  </m:ctrlPr>
                                </m:d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𝑍</m:t>
                                      </m:r>
                                    </m:e>
                                  </m:acc>
                                  <m:r>
                                    <a:rPr lang="zh-CN" altLang="en-US" i="1" smtClean="0">
                                      <a:latin typeface="Cambria Math" panose="02040503050406030204" pitchFamily="18" charset="0"/>
                                    </a:rPr>
                                    <m:t>𝑇</m:t>
                                  </m:r>
                                </m:e>
                              </m:d>
                            </m:e>
                            <m:sup>
                              <m:r>
                                <a:rPr lang="zh-CN" altLang="en-US" i="1" smtClean="0">
                                  <a:latin typeface="Cambria Math" panose="02040503050406030204" pitchFamily="18" charset="0"/>
                                </a:rPr>
                                <m:t>−1</m:t>
                              </m:r>
                            </m:sup>
                          </m:sSup>
                          <m:r>
                            <a:rPr lang="zh-CN" altLang="en-US" i="1" smtClean="0">
                              <a:latin typeface="Cambria Math" panose="02040503050406030204" pitchFamily="18" charset="0"/>
                            </a:rPr>
                            <m:t>.</m:t>
                          </m:r>
                        </m:e>
                        <m:e>
                          <m:r>
                            <m:rPr>
                              <m:sty m:val="p"/>
                            </m:rPr>
                            <a:rPr lang="zh-CN" altLang="en-US" i="1" smtClean="0">
                              <a:latin typeface="Cambria Math" panose="02040503050406030204" pitchFamily="18" charset="0"/>
                            </a:rPr>
                            <m:t>Δ</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𝐺</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𝑌</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𝐺</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eqArr>
                    </m:oMath>
                  </m:oMathPara>
                </a14:m>
                <a:endParaRPr lang="en-US" altLang="zh-CN" dirty="0"/>
              </a:p>
              <a:p>
                <a:pPr>
                  <a:lnSpc>
                    <a:spcPct val="120000"/>
                  </a:lnSpc>
                </a:pPr>
                <a:r>
                  <a:rPr lang="zh-CN" altLang="en-US" dirty="0"/>
                  <a:t>即</a:t>
                </a:r>
                <a:r>
                  <a:rPr lang="en-US" altLang="zh-CN" dirty="0"/>
                  <a:t>TSLS </a:t>
                </a:r>
                <a:r>
                  <a:rPr lang="zh-CN" altLang="en-US" dirty="0"/>
                  <a:t>估计量可能是三种人群因果效应的加权平均，并且权重可能为负，因为𝐸</a:t>
                </a:r>
                <a:r>
                  <a:rPr lang="en-US" altLang="zh-CN" dirty="0"/>
                  <a:t>[</a:t>
                </a:r>
                <a:r>
                  <a:rPr lang="zh-CN" altLang="en-US" dirty="0"/>
                  <a:t>𝑍̃</a:t>
                </a:r>
                <a:r>
                  <a:rPr lang="en-US" altLang="zh-CN" dirty="0"/>
                  <a:t>|</a:t>
                </a:r>
                <a:r>
                  <a:rPr lang="zh-CN" altLang="en-US" dirty="0"/>
                  <a:t>𝑋</a:t>
                </a:r>
                <a:r>
                  <a:rPr lang="en-US" altLang="zh-CN" dirty="0"/>
                  <a:t>] </a:t>
                </a:r>
                <a:r>
                  <a:rPr lang="zh-CN" altLang="en-US" dirty="0"/>
                  <a:t>可能小于 </a:t>
                </a:r>
                <a:r>
                  <a:rPr lang="en-US" altLang="zh-CN" dirty="0"/>
                  <a:t>0</a:t>
                </a:r>
                <a:r>
                  <a:rPr lang="zh-CN" altLang="en-US" dirty="0"/>
                  <a:t>。当然在丰富协变量条件下，</a:t>
                </a:r>
                <a:r>
                  <a:rPr lang="en-US" altLang="zh-CN" dirty="0"/>
                  <a:t>TSLS </a:t>
                </a:r>
                <a:r>
                  <a:rPr lang="zh-CN" altLang="en-US" dirty="0"/>
                  <a:t>估计量可以解释为依从者的平均因果效应。</a:t>
                </a:r>
                <a:endParaRPr lang="en-US" altLang="zh-CN" dirty="0"/>
              </a:p>
              <a:p>
                <a:pPr>
                  <a:lnSpc>
                    <a:spcPct val="120000"/>
                  </a:lnSpc>
                </a:pPr>
                <a:r>
                  <a:rPr lang="zh-CN" altLang="en-US" dirty="0"/>
                  <a:t>他们进一步讨论了</a:t>
                </a:r>
                <a:r>
                  <a:rPr lang="en-US" altLang="zh-CN" dirty="0"/>
                  <a:t>TSLS </a:t>
                </a:r>
                <a:r>
                  <a:rPr lang="zh-CN" altLang="en-US" dirty="0"/>
                  <a:t>不存在负权重的条件，并提供了一种</a:t>
                </a:r>
                <a:r>
                  <a:rPr lang="en-US" altLang="zh-CN" dirty="0"/>
                  <a:t>TSLS </a:t>
                </a:r>
                <a:r>
                  <a:rPr lang="zh-CN" altLang="en-US" dirty="0"/>
                  <a:t>估计量分解方法：</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𝑇𝑆𝐿𝑆</m:t>
                          </m:r>
                        </m:sub>
                      </m:sSub>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𝑟𝑖𝑐ℎ</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𝑟𝑖𝑐ℎ</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𝑇𝑆𝐿𝑆</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𝑟𝑖𝑐ℎ</m:t>
                              </m:r>
                            </m:sub>
                          </m:sSub>
                        </m:e>
                      </m:d>
                      <m:r>
                        <a:rPr lang="zh-CN" altLang="en-US" i="1"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CD775871-597E-0CD1-FC19-78CEF56CB8D2}"/>
                  </a:ext>
                </a:extLst>
              </p:cNvPr>
              <p:cNvSpPr>
                <a:spLocks noGrp="1" noRot="1" noChangeAspect="1" noMove="1" noResize="1" noEditPoints="1" noAdjustHandles="1" noChangeArrowheads="1" noChangeShapeType="1" noTextEdit="1"/>
              </p:cNvSpPr>
              <p:nvPr>
                <p:ph idx="1"/>
              </p:nvPr>
            </p:nvSpPr>
            <p:spPr>
              <a:blipFill>
                <a:blip r:embed="rId2"/>
                <a:stretch>
                  <a:fillRect l="-309" t="-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18818A5-3C1F-E6B2-0E6C-BCE542C7E6B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61F1FE9-8DC4-C7C9-3C65-01228D91E0B6}"/>
              </a:ext>
            </a:extLst>
          </p:cNvPr>
          <p:cNvSpPr>
            <a:spLocks noGrp="1"/>
          </p:cNvSpPr>
          <p:nvPr>
            <p:ph type="sldNum" sz="quarter" idx="12"/>
          </p:nvPr>
        </p:nvSpPr>
        <p:spPr/>
        <p:txBody>
          <a:bodyPr/>
          <a:lstStyle/>
          <a:p>
            <a:fld id="{D41FC515-8169-4A29-AA56-DBE520D5741B}" type="slidenum">
              <a:rPr lang="zh-CN" altLang="en-US" smtClean="0"/>
              <a:t>43</a:t>
            </a:fld>
            <a:endParaRPr lang="zh-CN" altLang="en-US"/>
          </a:p>
        </p:txBody>
      </p:sp>
    </p:spTree>
    <p:extLst>
      <p:ext uri="{BB962C8B-B14F-4D97-AF65-F5344CB8AC3E}">
        <p14:creationId xmlns:p14="http://schemas.microsoft.com/office/powerpoint/2010/main" val="6972196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7B5AD8-CF23-A213-2132-DB3E12D65F93}"/>
              </a:ext>
            </a:extLst>
          </p:cNvPr>
          <p:cNvSpPr>
            <a:spLocks noGrp="1"/>
          </p:cNvSpPr>
          <p:nvPr>
            <p:ph type="title"/>
          </p:nvPr>
        </p:nvSpPr>
        <p:spPr/>
        <p:txBody>
          <a:bodyPr>
            <a:normAutofit fontScale="90000"/>
          </a:bodyPr>
          <a:lstStyle/>
          <a:p>
            <a:r>
              <a:rPr lang="en-US" altLang="zh-CN" dirty="0"/>
              <a:t>LATE </a:t>
            </a:r>
            <a:r>
              <a:rPr lang="zh-CN" altLang="en-US" dirty="0"/>
              <a:t>框架：</a:t>
            </a:r>
            <a:r>
              <a:rPr lang="en-US" altLang="zh-CN" dirty="0" err="1"/>
              <a:t>Blandhol</a:t>
            </a:r>
            <a:r>
              <a:rPr lang="en-US" altLang="zh-CN" dirty="0"/>
              <a:t> et al. (2024)</a:t>
            </a:r>
            <a:br>
              <a:rPr lang="en-US" altLang="zh-CN" dirty="0"/>
            </a:br>
            <a:r>
              <a:rPr lang="en-US" altLang="zh-CN" sz="2800" dirty="0"/>
              <a:t>2. </a:t>
            </a:r>
            <a:r>
              <a:rPr lang="zh-CN" altLang="en-US" sz="2800" dirty="0"/>
              <a:t>引入协变量：</a:t>
            </a:r>
            <a:r>
              <a:rPr lang="en-US" altLang="zh-CN" sz="2800" dirty="0"/>
              <a:t>TSLS</a:t>
            </a:r>
            <a:endParaRPr lang="zh-CN" altLang="en-US" dirty="0"/>
          </a:p>
        </p:txBody>
      </p:sp>
      <p:pic>
        <p:nvPicPr>
          <p:cNvPr id="7" name="内容占位符 6">
            <a:extLst>
              <a:ext uri="{FF2B5EF4-FFF2-40B4-BE49-F238E27FC236}">
                <a16:creationId xmlns:a16="http://schemas.microsoft.com/office/drawing/2014/main" id="{DA84D5A2-C10C-3B66-1739-7CC3ADEE0EDE}"/>
              </a:ext>
            </a:extLst>
          </p:cNvPr>
          <p:cNvPicPr>
            <a:picLocks noGrp="1" noChangeAspect="1"/>
          </p:cNvPicPr>
          <p:nvPr>
            <p:ph idx="1"/>
          </p:nvPr>
        </p:nvPicPr>
        <p:blipFill>
          <a:blip r:embed="rId2"/>
          <a:stretch>
            <a:fillRect/>
          </a:stretch>
        </p:blipFill>
        <p:spPr>
          <a:xfrm>
            <a:off x="2195843" y="1825625"/>
            <a:ext cx="4752314" cy="4351338"/>
          </a:xfrm>
          <a:prstGeom prst="rect">
            <a:avLst/>
          </a:prstGeom>
        </p:spPr>
      </p:pic>
      <p:sp>
        <p:nvSpPr>
          <p:cNvPr id="4" name="页脚占位符 3">
            <a:extLst>
              <a:ext uri="{FF2B5EF4-FFF2-40B4-BE49-F238E27FC236}">
                <a16:creationId xmlns:a16="http://schemas.microsoft.com/office/drawing/2014/main" id="{596FCD77-635A-09E0-D645-5DA35EA6472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72272FB-6F43-857C-5748-1CDB39C2CF70}"/>
              </a:ext>
            </a:extLst>
          </p:cNvPr>
          <p:cNvSpPr>
            <a:spLocks noGrp="1"/>
          </p:cNvSpPr>
          <p:nvPr>
            <p:ph type="sldNum" sz="quarter" idx="12"/>
          </p:nvPr>
        </p:nvSpPr>
        <p:spPr/>
        <p:txBody>
          <a:bodyPr/>
          <a:lstStyle/>
          <a:p>
            <a:fld id="{D41FC515-8169-4A29-AA56-DBE520D5741B}" type="slidenum">
              <a:rPr lang="zh-CN" altLang="en-US" smtClean="0"/>
              <a:t>44</a:t>
            </a:fld>
            <a:endParaRPr lang="zh-CN" altLang="en-US"/>
          </a:p>
        </p:txBody>
      </p:sp>
    </p:spTree>
    <p:extLst>
      <p:ext uri="{BB962C8B-B14F-4D97-AF65-F5344CB8AC3E}">
        <p14:creationId xmlns:p14="http://schemas.microsoft.com/office/powerpoint/2010/main" val="15326213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96AEA9-641D-3549-68CC-C6B794BF8A1D}"/>
              </a:ext>
            </a:extLst>
          </p:cNvPr>
          <p:cNvSpPr>
            <a:spLocks noGrp="1"/>
          </p:cNvSpPr>
          <p:nvPr>
            <p:ph type="title"/>
          </p:nvPr>
        </p:nvSpPr>
        <p:spPr/>
        <p:txBody>
          <a:bodyPr>
            <a:normAutofit/>
          </a:bodyPr>
          <a:lstStyle/>
          <a:p>
            <a:r>
              <a:rPr lang="en-US" altLang="zh-CN" dirty="0"/>
              <a:t>LATE </a:t>
            </a:r>
            <a:r>
              <a:rPr lang="zh-CN" altLang="en-US" dirty="0"/>
              <a:t>框架</a:t>
            </a:r>
            <a:br>
              <a:rPr lang="zh-CN" altLang="en-US" dirty="0"/>
            </a:br>
            <a:r>
              <a:rPr lang="en-US" altLang="zh-CN" sz="2700" dirty="0"/>
              <a:t>3. </a:t>
            </a:r>
            <a:r>
              <a:rPr lang="zh-CN" altLang="en-US" sz="2700" dirty="0"/>
              <a:t>随机化实验与工具变量法：单边非依从</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334BAC5-0E26-172F-D500-18AD8167F85E}"/>
                  </a:ext>
                </a:extLst>
              </p:cNvPr>
              <p:cNvSpPr>
                <a:spLocks noGrp="1"/>
              </p:cNvSpPr>
              <p:nvPr>
                <p:ph idx="1"/>
              </p:nvPr>
            </p:nvSpPr>
            <p:spPr>
              <a:xfrm>
                <a:off x="628650" y="1825624"/>
                <a:ext cx="7886700" cy="4895851"/>
              </a:xfrm>
            </p:spPr>
            <p:txBody>
              <a:bodyPr>
                <a:normAutofit fontScale="55000" lnSpcReduction="20000"/>
              </a:bodyPr>
              <a:lstStyle/>
              <a:p>
                <a:pPr>
                  <a:lnSpc>
                    <a:spcPct val="120000"/>
                  </a:lnSpc>
                </a:pPr>
                <a:r>
                  <a:rPr lang="zh-CN" altLang="en-US" dirty="0"/>
                  <a:t>随机化实验中，随机化分配𝑍𝑖，个体实际接受的干预状态𝐷𝑖，两者可能不一致。</a:t>
                </a:r>
                <a:endParaRPr lang="en-US" altLang="zh-CN" dirty="0"/>
              </a:p>
              <a:p>
                <a:pPr>
                  <a:lnSpc>
                    <a:spcPct val="120000"/>
                  </a:lnSpc>
                </a:pPr>
                <a:r>
                  <a:rPr lang="zh-CN" altLang="en-US" dirty="0"/>
                  <a:t>意向因果效应</a:t>
                </a:r>
                <a:r>
                  <a:rPr lang="en-US" altLang="zh-CN" dirty="0"/>
                  <a:t>(Intention to treat, ITT) </a:t>
                </a:r>
                <a:r>
                  <a:rPr lang="zh-CN" altLang="en-US" dirty="0"/>
                  <a:t>定义为</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𝑌</m:t>
                              </m:r>
                            </m:sub>
                          </m:sSub>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oMath>
                  </m:oMathPara>
                </a14:m>
                <a:endParaRPr lang="en-US" altLang="zh-CN" dirty="0"/>
              </a:p>
              <a:p>
                <a:pPr>
                  <a:lnSpc>
                    <a:spcPct val="120000"/>
                  </a:lnSpc>
                </a:pPr>
                <a:r>
                  <a:rPr lang="zh-CN" altLang="en-US" dirty="0"/>
                  <a:t>由于实验设计，单边非依从，分配在控制组的都不会干预，即𝑍𝑖 </a:t>
                </a:r>
                <a:r>
                  <a:rPr lang="en-US" altLang="zh-CN" dirty="0"/>
                  <a:t>= 0</a:t>
                </a:r>
                <a:r>
                  <a:rPr lang="zh-CN" altLang="en-US" dirty="0"/>
                  <a:t>，则𝐷𝑖 </a:t>
                </a:r>
                <a:r>
                  <a:rPr lang="en-US" altLang="zh-CN" dirty="0"/>
                  <a:t>= 0</a:t>
                </a:r>
                <a:r>
                  <a:rPr lang="zh-CN" altLang="en-US" dirty="0"/>
                  <a:t>，</a:t>
                </a:r>
                <a:r>
                  <a:rPr lang="en-US" altLang="zh-CN" dirty="0" err="1"/>
                  <a:t>Pr</a:t>
                </a:r>
                <a:r>
                  <a:rPr lang="en-US" altLang="zh-CN" dirty="0"/>
                  <a:t>[</a:t>
                </a:r>
                <a:r>
                  <a:rPr lang="zh-CN" altLang="en-US" dirty="0"/>
                  <a:t>𝐷𝑖 </a:t>
                </a:r>
                <a:r>
                  <a:rPr lang="en-US" altLang="zh-CN" dirty="0"/>
                  <a:t>= 1|</a:t>
                </a:r>
                <a:r>
                  <a:rPr lang="zh-CN" altLang="en-US" dirty="0"/>
                  <a:t>𝑍𝑖 </a:t>
                </a:r>
                <a:r>
                  <a:rPr lang="en-US" altLang="zh-CN" dirty="0"/>
                  <a:t>= 0] = </a:t>
                </a:r>
                <a:r>
                  <a:rPr lang="zh-CN" altLang="en-US" dirty="0"/>
                  <a:t>𝐸</a:t>
                </a:r>
                <a:r>
                  <a:rPr lang="en-US" altLang="zh-CN" dirty="0"/>
                  <a:t>[</a:t>
                </a:r>
                <a:r>
                  <a:rPr lang="zh-CN" altLang="en-US" dirty="0"/>
                  <a:t>𝐷𝑖</a:t>
                </a:r>
                <a:r>
                  <a:rPr lang="en-US" altLang="zh-CN" dirty="0"/>
                  <a:t>|</a:t>
                </a:r>
                <a:r>
                  <a:rPr lang="zh-CN" altLang="en-US" dirty="0"/>
                  <a:t>𝑍𝑖 </a:t>
                </a:r>
                <a:r>
                  <a:rPr lang="en-US" altLang="zh-CN" dirty="0"/>
                  <a:t>= 0] = 0</a:t>
                </a:r>
                <a:r>
                  <a:rPr lang="zh-CN" altLang="en-US" dirty="0"/>
                  <a:t>。第一阶段简化为：</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𝐷</m:t>
                              </m:r>
                            </m:sub>
                          </m:sSub>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oMath>
                  </m:oMathPara>
                </a14:m>
                <a:endParaRPr lang="en-US" altLang="zh-CN" dirty="0"/>
              </a:p>
              <a:p>
                <a:pPr>
                  <a:lnSpc>
                    <a:spcPct val="120000"/>
                  </a:lnSpc>
                </a:pPr>
                <a:r>
                  <a:rPr lang="zh-CN" altLang="en-US" dirty="0"/>
                  <a:t>只有两种类型群体：依从者和从不参与者，在排除性假设下（回到两个潜在结果），从不参与者因果效应为</a:t>
                </a:r>
                <a:r>
                  <a:rPr lang="en-US" altLang="zh-CN" dirty="0"/>
                  <a:t>0</a:t>
                </a:r>
                <a:r>
                  <a:rPr lang="zh-CN" altLang="en-US" dirty="0"/>
                  <a:t>，则有（下面𝑌</a:t>
                </a:r>
                <a:r>
                  <a:rPr lang="en-US" altLang="zh-CN" dirty="0"/>
                  <a:t>1, </a:t>
                </a:r>
                <a:r>
                  <a:rPr lang="zh-CN" altLang="en-US" dirty="0"/>
                  <a:t>𝑌</a:t>
                </a:r>
                <a:r>
                  <a:rPr lang="en-US" altLang="zh-CN" dirty="0"/>
                  <a:t>0 </a:t>
                </a:r>
                <a:r>
                  <a:rPr lang="zh-CN" altLang="en-US" dirty="0"/>
                  <a:t>脚标表示𝑍 的对应取值，即𝑌𝑧 </a:t>
                </a:r>
                <a:r>
                  <a:rPr lang="en-US" altLang="zh-CN" dirty="0"/>
                  <a:t>= </a:t>
                </a:r>
                <a:r>
                  <a:rPr lang="zh-CN" altLang="en-US" dirty="0"/>
                  <a:t>𝑌 </a:t>
                </a:r>
                <a:r>
                  <a:rPr lang="en-US" altLang="zh-CN" dirty="0"/>
                  <a:t>(</a:t>
                </a:r>
                <a:r>
                  <a:rPr lang="zh-CN" altLang="en-US" dirty="0"/>
                  <a:t>𝐷𝑧</a:t>
                </a:r>
                <a:r>
                  <a:rPr lang="en-US" altLang="zh-CN" dirty="0"/>
                  <a:t>, </a:t>
                </a:r>
                <a:r>
                  <a:rPr lang="zh-CN" altLang="en-US" dirty="0"/>
                  <a:t>𝑧</a:t>
                </a:r>
                <a:r>
                  <a:rPr lang="en-US" altLang="zh-CN" dirty="0"/>
                  <a:t>),</a:t>
                </a:r>
                <a:r>
                  <a:rPr lang="zh-CN" altLang="en-US" dirty="0"/>
                  <a:t>𝑧 </a:t>
                </a:r>
                <a:r>
                  <a:rPr lang="en-US" altLang="zh-CN" dirty="0"/>
                  <a:t>= 0, 1</a:t>
                </a:r>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𝑌</m:t>
                              </m:r>
                            </m:sub>
                          </m:sSub>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𝑐</m:t>
                          </m:r>
                        </m:e>
                      </m:d>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𝑐</m:t>
                              </m:r>
                            </m:e>
                          </m:d>
                        </m:e>
                      </m:func>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𝑛</m:t>
                          </m:r>
                        </m:e>
                      </m:d>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𝑛</m:t>
                              </m:r>
                            </m:e>
                          </m:d>
                        </m:e>
                      </m:func>
                    </m:oMath>
                  </m:oMathPara>
                </a14:m>
                <a:endParaRPr lang="en-US" altLang="zh-CN" dirty="0"/>
              </a:p>
              <a:p>
                <a:pPr>
                  <a:lnSpc>
                    <a:spcPct val="120000"/>
                  </a:lnSpc>
                </a:pPr>
                <a:r>
                  <a:rPr lang="zh-CN" altLang="en-US" dirty="0"/>
                  <a:t>所以，依从者的因果效应为，</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𝑐</m:t>
                          </m:r>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𝑌</m:t>
                                  </m:r>
                                </m:sub>
                              </m:sSub>
                            </m:sub>
                          </m:sSub>
                        </m:num>
                        <m:den>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𝑐</m:t>
                                  </m:r>
                                </m:e>
                              </m:d>
                            </m:e>
                          </m:func>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𝑍</m:t>
                              </m:r>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𝑍</m:t>
                              </m:r>
                              <m:r>
                                <a:rPr lang="zh-CN" altLang="en-US" i="1" smtClean="0">
                                  <a:latin typeface="Cambria Math" panose="02040503050406030204" pitchFamily="18" charset="0"/>
                                </a:rPr>
                                <m:t>=0</m:t>
                              </m:r>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m:t>
                              </m:r>
                              <m:r>
                                <a:rPr lang="zh-CN" altLang="en-US" i="1" smtClean="0">
                                  <a:latin typeface="Cambria Math" panose="02040503050406030204" pitchFamily="18" charset="0"/>
                                </a:rPr>
                                <m:t>𝑍</m:t>
                              </m:r>
                              <m:r>
                                <a:rPr lang="zh-CN" altLang="en-US" i="1" smtClean="0">
                                  <a:latin typeface="Cambria Math" panose="02040503050406030204" pitchFamily="18" charset="0"/>
                                </a:rPr>
                                <m:t>=1</m:t>
                              </m:r>
                            </m:e>
                          </m:d>
                        </m:den>
                      </m:f>
                    </m:oMath>
                  </m:oMathPara>
                </a14:m>
                <a:endParaRPr lang="en-US" altLang="zh-CN" dirty="0"/>
              </a:p>
              <a:p>
                <a:pPr>
                  <a:lnSpc>
                    <a:spcPct val="120000"/>
                  </a:lnSpc>
                </a:pPr>
                <a:r>
                  <a:rPr lang="zh-CN" altLang="en-US" dirty="0"/>
                  <a:t>因而，工具变量估计量：</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𝐼𝑉</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𝑌</m:t>
                                  </m:r>
                                </m:sub>
                              </m:sSub>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𝐷</m:t>
                                  </m:r>
                                </m:sub>
                              </m:sSub>
                            </m:sub>
                          </m:sSub>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den>
                      </m:f>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𝑐</m:t>
                          </m:r>
                        </m:e>
                      </m:d>
                      <m:r>
                        <a:rPr lang="zh-CN" altLang="en-US" i="1"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B334BAC5-0E26-172F-D500-18AD8167F85E}"/>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232" t="-24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D71CAAD-4A23-FEDC-9EB1-C56BE8ADA4A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874BA59-A5CD-AAB1-32B8-ECB24CBD9808}"/>
              </a:ext>
            </a:extLst>
          </p:cNvPr>
          <p:cNvSpPr>
            <a:spLocks noGrp="1"/>
          </p:cNvSpPr>
          <p:nvPr>
            <p:ph type="sldNum" sz="quarter" idx="12"/>
          </p:nvPr>
        </p:nvSpPr>
        <p:spPr/>
        <p:txBody>
          <a:bodyPr/>
          <a:lstStyle/>
          <a:p>
            <a:fld id="{D41FC515-8169-4A29-AA56-DBE520D5741B}" type="slidenum">
              <a:rPr lang="zh-CN" altLang="en-US" smtClean="0"/>
              <a:t>45</a:t>
            </a:fld>
            <a:endParaRPr lang="zh-CN" altLang="en-US"/>
          </a:p>
        </p:txBody>
      </p:sp>
    </p:spTree>
    <p:extLst>
      <p:ext uri="{BB962C8B-B14F-4D97-AF65-F5344CB8AC3E}">
        <p14:creationId xmlns:p14="http://schemas.microsoft.com/office/powerpoint/2010/main" val="10222623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614527-ED07-93B9-E6DE-D3AE18CC2104}"/>
              </a:ext>
            </a:extLst>
          </p:cNvPr>
          <p:cNvSpPr>
            <a:spLocks noGrp="1"/>
          </p:cNvSpPr>
          <p:nvPr>
            <p:ph type="title"/>
          </p:nvPr>
        </p:nvSpPr>
        <p:spPr/>
        <p:txBody>
          <a:bodyPr>
            <a:normAutofit/>
          </a:bodyPr>
          <a:lstStyle/>
          <a:p>
            <a:r>
              <a:rPr lang="en-US" altLang="zh-CN" dirty="0"/>
              <a:t>LATE </a:t>
            </a:r>
            <a:r>
              <a:rPr lang="zh-CN" altLang="en-US" dirty="0"/>
              <a:t>框架</a:t>
            </a:r>
            <a:br>
              <a:rPr lang="zh-CN" altLang="en-US" dirty="0"/>
            </a:br>
            <a:r>
              <a:rPr lang="en-US" altLang="zh-CN" sz="2700" dirty="0"/>
              <a:t>3. </a:t>
            </a:r>
            <a:r>
              <a:rPr lang="zh-CN" altLang="en-US" sz="2700" dirty="0"/>
              <a:t>随机化实验与工具变量法：双边非依从</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2334447-BEA7-27C9-8218-165888E2BE80}"/>
                  </a:ext>
                </a:extLst>
              </p:cNvPr>
              <p:cNvSpPr>
                <a:spLocks noGrp="1"/>
              </p:cNvSpPr>
              <p:nvPr>
                <p:ph idx="1"/>
              </p:nvPr>
            </p:nvSpPr>
            <p:spPr/>
            <p:txBody>
              <a:bodyPr>
                <a:normAutofit fontScale="47500" lnSpcReduction="20000"/>
              </a:bodyPr>
              <a:lstStyle/>
              <a:p>
                <a:pPr>
                  <a:lnSpc>
                    <a:spcPct val="120000"/>
                  </a:lnSpc>
                </a:pPr>
                <a:r>
                  <a:rPr lang="zh-CN" altLang="en-US" dirty="0"/>
                  <a:t>随机化实验中，随机化分配𝑍𝑖，个体实际接受的干预状态𝐷𝑖，两者可能不一致。</a:t>
                </a:r>
                <a:endParaRPr lang="en-US" altLang="zh-CN" dirty="0"/>
              </a:p>
              <a:p>
                <a:pPr>
                  <a:lnSpc>
                    <a:spcPct val="120000"/>
                  </a:lnSpc>
                </a:pPr>
                <a:r>
                  <a:rPr lang="zh-CN" altLang="en-US" dirty="0"/>
                  <a:t>意向因果效应</a:t>
                </a:r>
                <a:r>
                  <a:rPr lang="en-US" altLang="zh-CN" dirty="0"/>
                  <a:t>(Intention to treat, ITT) </a:t>
                </a:r>
                <a:r>
                  <a:rPr lang="zh-CN" altLang="en-US" dirty="0"/>
                  <a:t>定义为</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𝑌</m:t>
                              </m:r>
                            </m:sub>
                          </m:sSub>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oMath>
                  </m:oMathPara>
                </a14:m>
                <a:endParaRPr lang="en-US" altLang="zh-CN" dirty="0"/>
              </a:p>
              <a:p>
                <a:pPr>
                  <a:lnSpc>
                    <a:spcPct val="120000"/>
                  </a:lnSpc>
                </a:pPr>
                <a:r>
                  <a:rPr lang="zh-CN" altLang="en-US" dirty="0"/>
                  <a:t>有四类人，分别是</a:t>
                </a:r>
                <a:r>
                  <a:rPr lang="en-US" altLang="zh-CN" dirty="0"/>
                  <a:t>{</a:t>
                </a:r>
                <a:r>
                  <a:rPr lang="zh-CN" altLang="en-US" dirty="0"/>
                  <a:t>𝑎</a:t>
                </a:r>
                <a:r>
                  <a:rPr lang="en-US" altLang="zh-CN" dirty="0"/>
                  <a:t>, </a:t>
                </a:r>
                <a:r>
                  <a:rPr lang="zh-CN" altLang="en-US" dirty="0"/>
                  <a:t>𝑛</a:t>
                </a:r>
                <a:r>
                  <a:rPr lang="en-US" altLang="zh-CN" dirty="0"/>
                  <a:t>, </a:t>
                </a:r>
                <a:r>
                  <a:rPr lang="zh-CN" altLang="en-US" dirty="0"/>
                  <a:t>𝑐</a:t>
                </a:r>
                <a:r>
                  <a:rPr lang="en-US" altLang="zh-CN" dirty="0"/>
                  <a:t>, </a:t>
                </a:r>
                <a:r>
                  <a:rPr lang="zh-CN" altLang="en-US" dirty="0"/>
                  <a:t>𝑑</a:t>
                </a:r>
                <a:r>
                  <a:rPr lang="en-US" altLang="zh-CN" dirty="0"/>
                  <a:t>}</a:t>
                </a:r>
                <a:r>
                  <a:rPr lang="zh-CN" altLang="en-US" dirty="0"/>
                  <a:t>，</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𝑌</m:t>
                                  </m:r>
                                </m:sub>
                              </m:sSub>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𝑎</m:t>
                              </m:r>
                            </m:e>
                          </m:d>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𝑎</m:t>
                                  </m:r>
                                </m:e>
                              </m:d>
                            </m:e>
                          </m:func>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𝑛</m:t>
                              </m:r>
                            </m:e>
                          </m:d>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𝑛</m:t>
                                  </m:r>
                                </m:e>
                              </m:d>
                            </m:e>
                          </m:func>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𝑐</m:t>
                              </m:r>
                            </m:e>
                          </m:d>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𝑐</m:t>
                                  </m:r>
                                </m:e>
                              </m:d>
                            </m:e>
                          </m:func>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𝑑</m:t>
                              </m:r>
                            </m:e>
                          </m:d>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𝑑</m:t>
                                  </m:r>
                                </m:e>
                              </m:d>
                            </m:e>
                          </m:func>
                        </m:e>
                      </m:eqArr>
                    </m:oMath>
                  </m:oMathPara>
                </a14:m>
                <a:endParaRPr lang="en-US" altLang="zh-CN" dirty="0"/>
              </a:p>
              <a:p>
                <a:pPr>
                  <a:lnSpc>
                    <a:spcPct val="120000"/>
                  </a:lnSpc>
                </a:pPr>
                <a:r>
                  <a:rPr lang="zh-CN" altLang="en-US" dirty="0"/>
                  <a:t>在排除性假设和单调性假设下，</a:t>
                </a:r>
                <a:endParaRPr lang="en-US" altLang="zh-CN" dirty="0"/>
              </a:p>
              <a:p>
                <a:pPr marL="0" indent="0">
                  <a:lnSpc>
                    <a:spcPct val="120000"/>
                  </a:lnSpc>
                  <a:buNone/>
                </a:pPr>
                <a14:m>
                  <m:oMathPara xmlns:m="http://schemas.openxmlformats.org/officeDocument/2006/math">
                    <m:o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𝐼𝑇</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𝑇</m:t>
                              </m:r>
                            </m:e>
                            <m:sub>
                              <m:r>
                                <a:rPr lang="en-US" altLang="zh-CN" i="1" smtClean="0">
                                  <a:latin typeface="Cambria Math" panose="02040503050406030204" pitchFamily="18" charset="0"/>
                                </a:rPr>
                                <m:t>𝑌</m:t>
                              </m:r>
                            </m:sub>
                          </m:sSub>
                        </m:sub>
                      </m:sSub>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r>
                            <a:rPr lang="en-US" altLang="zh-CN" i="1" smtClean="0">
                              <a:latin typeface="Cambria Math" panose="02040503050406030204" pitchFamily="18" charset="0"/>
                            </a:rPr>
                            <m:t>𝑐</m:t>
                          </m:r>
                        </m:e>
                      </m:d>
                      <m:func>
                        <m:funcPr>
                          <m:ctrlPr>
                            <a:rPr lang="en-US" altLang="zh-CN" i="1" smtClean="0">
                              <a:latin typeface="Cambria Math" panose="02040503050406030204" pitchFamily="18" charset="0"/>
                            </a:rPr>
                          </m:ctrlPr>
                        </m:funcPr>
                        <m:fName>
                          <m:r>
                            <m:rPr>
                              <m:sty m:val="p"/>
                            </m:rPr>
                            <a:rPr lang="en-US" altLang="zh-CN" i="1" smtClean="0">
                              <a:latin typeface="Cambria Math" panose="02040503050406030204" pitchFamily="18" charset="0"/>
                            </a:rPr>
                            <m:t>Pr</m:t>
                          </m:r>
                        </m:fName>
                        <m:e>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𝑐</m:t>
                              </m:r>
                            </m:e>
                          </m:d>
                        </m:e>
                      </m:func>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r>
                            <a:rPr lang="en-US" altLang="zh-CN" i="1" smtClean="0">
                              <a:latin typeface="Cambria Math" panose="02040503050406030204" pitchFamily="18" charset="0"/>
                            </a:rPr>
                            <m:t>𝑐</m:t>
                          </m:r>
                        </m:e>
                      </m:d>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𝐼𝑇</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𝑇</m:t>
                                  </m:r>
                                </m:e>
                                <m:sub>
                                  <m:r>
                                    <a:rPr lang="en-US" altLang="zh-CN" i="1" smtClean="0">
                                      <a:latin typeface="Cambria Math" panose="02040503050406030204" pitchFamily="18" charset="0"/>
                                    </a:rPr>
                                    <m:t>𝑌</m:t>
                                  </m:r>
                                </m:sub>
                              </m:sSub>
                            </m:sub>
                          </m:sSub>
                        </m:num>
                        <m:den>
                          <m:func>
                            <m:funcPr>
                              <m:ctrlPr>
                                <a:rPr lang="en-US" altLang="zh-CN" i="1" smtClean="0">
                                  <a:latin typeface="Cambria Math" panose="02040503050406030204" pitchFamily="18" charset="0"/>
                                </a:rPr>
                              </m:ctrlPr>
                            </m:funcPr>
                            <m:fName>
                              <m:r>
                                <m:rPr>
                                  <m:sty m:val="p"/>
                                </m:rPr>
                                <a:rPr lang="en-US" altLang="zh-CN" i="1" smtClean="0">
                                  <a:latin typeface="Cambria Math" panose="02040503050406030204" pitchFamily="18" charset="0"/>
                                </a:rPr>
                                <m:t>Pr</m:t>
                              </m:r>
                            </m:fName>
                            <m:e>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𝑐</m:t>
                                  </m:r>
                                </m:e>
                              </m:d>
                            </m:e>
                          </m:func>
                        </m:den>
                      </m:f>
                    </m:oMath>
                  </m:oMathPara>
                </a14:m>
                <a:endParaRPr lang="en-US" altLang="zh-CN" dirty="0"/>
              </a:p>
              <a:p>
                <a:pPr>
                  <a:lnSpc>
                    <a:spcPct val="120000"/>
                  </a:lnSpc>
                </a:pPr>
                <a:r>
                  <a:rPr lang="zh-CN" altLang="en-US" dirty="0"/>
                  <a:t>若为双边非依从，分配在控制组中可能有部分也接受干预，分配在干预组有可能部分个体没有接受干预。第一阶段简化估计的是依从者的份额：</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𝐷</m:t>
                              </m:r>
                            </m:sub>
                          </m:sSub>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𝑐</m:t>
                              </m:r>
                            </m:e>
                          </m:d>
                        </m:e>
                      </m:func>
                    </m:oMath>
                  </m:oMathPara>
                </a14:m>
                <a:endParaRPr lang="en-US" altLang="zh-CN" dirty="0"/>
              </a:p>
              <a:p>
                <a:pPr>
                  <a:lnSpc>
                    <a:spcPct val="120000"/>
                  </a:lnSpc>
                </a:pPr>
                <a:r>
                  <a:rPr lang="zh-CN" altLang="en-US" dirty="0"/>
                  <a:t>工具变量估计量：</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𝐼𝑉</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𝑌</m:t>
                                  </m:r>
                                </m:sub>
                              </m:sSub>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𝐷</m:t>
                                  </m:r>
                                </m:sub>
                              </m:sSub>
                            </m:sub>
                          </m:sSub>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den>
                      </m:f>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𝑐</m:t>
                          </m:r>
                        </m:e>
                      </m:d>
                      <m:r>
                        <a:rPr lang="zh-CN" altLang="en-US" i="1"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C2334447-BEA7-27C9-8218-165888E2BE80}"/>
                  </a:ext>
                </a:extLst>
              </p:cNvPr>
              <p:cNvSpPr>
                <a:spLocks noGrp="1" noRot="1" noChangeAspect="1" noMove="1" noResize="1" noEditPoints="1" noAdjustHandles="1" noChangeArrowheads="1" noChangeShapeType="1" noTextEdit="1"/>
              </p:cNvSpPr>
              <p:nvPr>
                <p:ph idx="1"/>
              </p:nvPr>
            </p:nvSpPr>
            <p:spPr>
              <a:blipFill>
                <a:blip r:embed="rId2"/>
                <a:stretch>
                  <a:fillRect t="-140" r="-1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FB5FCB2-DA63-9D1C-3C22-784900CC6BC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514CDE7-4EEF-98BF-EAA4-2F71742315A7}"/>
              </a:ext>
            </a:extLst>
          </p:cNvPr>
          <p:cNvSpPr>
            <a:spLocks noGrp="1"/>
          </p:cNvSpPr>
          <p:nvPr>
            <p:ph type="sldNum" sz="quarter" idx="12"/>
          </p:nvPr>
        </p:nvSpPr>
        <p:spPr/>
        <p:txBody>
          <a:bodyPr/>
          <a:lstStyle/>
          <a:p>
            <a:fld id="{D41FC515-8169-4A29-AA56-DBE520D5741B}" type="slidenum">
              <a:rPr lang="zh-CN" altLang="en-US" smtClean="0"/>
              <a:t>46</a:t>
            </a:fld>
            <a:endParaRPr lang="zh-CN" altLang="en-US"/>
          </a:p>
        </p:txBody>
      </p:sp>
    </p:spTree>
    <p:extLst>
      <p:ext uri="{BB962C8B-B14F-4D97-AF65-F5344CB8AC3E}">
        <p14:creationId xmlns:p14="http://schemas.microsoft.com/office/powerpoint/2010/main" val="293265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34686-FF2B-82ED-055D-1D8976B0C406}"/>
              </a:ext>
            </a:extLst>
          </p:cNvPr>
          <p:cNvSpPr>
            <a:spLocks noGrp="1"/>
          </p:cNvSpPr>
          <p:nvPr>
            <p:ph type="title"/>
          </p:nvPr>
        </p:nvSpPr>
        <p:spPr/>
        <p:txBody>
          <a:bodyPr/>
          <a:lstStyle/>
          <a:p>
            <a:r>
              <a:rPr lang="en-US" altLang="zh-CN" dirty="0"/>
              <a:t>LATE </a:t>
            </a:r>
            <a:r>
              <a:rPr lang="zh-CN" altLang="en-US" dirty="0"/>
              <a:t>框架</a:t>
            </a:r>
            <a:br>
              <a:rPr lang="zh-CN" altLang="en-US" dirty="0"/>
            </a:br>
            <a:r>
              <a:rPr lang="zh-CN" altLang="en-US" sz="2400" dirty="0"/>
              <a:t>子女数量与父母劳动供给</a:t>
            </a:r>
          </a:p>
        </p:txBody>
      </p:sp>
      <p:pic>
        <p:nvPicPr>
          <p:cNvPr id="7" name="内容占位符 6">
            <a:extLst>
              <a:ext uri="{FF2B5EF4-FFF2-40B4-BE49-F238E27FC236}">
                <a16:creationId xmlns:a16="http://schemas.microsoft.com/office/drawing/2014/main" id="{CB9CFC31-9812-2B47-4441-23B5F3720E39}"/>
              </a:ext>
            </a:extLst>
          </p:cNvPr>
          <p:cNvPicPr>
            <a:picLocks noGrp="1" noChangeAspect="1"/>
          </p:cNvPicPr>
          <p:nvPr>
            <p:ph idx="1"/>
          </p:nvPr>
        </p:nvPicPr>
        <p:blipFill>
          <a:blip r:embed="rId2"/>
          <a:stretch>
            <a:fillRect/>
          </a:stretch>
        </p:blipFill>
        <p:spPr>
          <a:xfrm>
            <a:off x="1120462" y="2098440"/>
            <a:ext cx="6903076" cy="3805707"/>
          </a:xfrm>
          <a:prstGeom prst="rect">
            <a:avLst/>
          </a:prstGeom>
        </p:spPr>
      </p:pic>
      <p:sp>
        <p:nvSpPr>
          <p:cNvPr id="4" name="页脚占位符 3">
            <a:extLst>
              <a:ext uri="{FF2B5EF4-FFF2-40B4-BE49-F238E27FC236}">
                <a16:creationId xmlns:a16="http://schemas.microsoft.com/office/drawing/2014/main" id="{838C6857-AD27-F905-1500-34667B8C68B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3043A91-A81B-A57A-FA01-B11EE090F187}"/>
              </a:ext>
            </a:extLst>
          </p:cNvPr>
          <p:cNvSpPr>
            <a:spLocks noGrp="1"/>
          </p:cNvSpPr>
          <p:nvPr>
            <p:ph type="sldNum" sz="quarter" idx="12"/>
          </p:nvPr>
        </p:nvSpPr>
        <p:spPr/>
        <p:txBody>
          <a:bodyPr/>
          <a:lstStyle/>
          <a:p>
            <a:fld id="{D41FC515-8169-4A29-AA56-DBE520D5741B}" type="slidenum">
              <a:rPr lang="zh-CN" altLang="en-US" smtClean="0"/>
              <a:t>47</a:t>
            </a:fld>
            <a:endParaRPr lang="zh-CN" altLang="en-US"/>
          </a:p>
        </p:txBody>
      </p:sp>
    </p:spTree>
    <p:extLst>
      <p:ext uri="{BB962C8B-B14F-4D97-AF65-F5344CB8AC3E}">
        <p14:creationId xmlns:p14="http://schemas.microsoft.com/office/powerpoint/2010/main" val="11329471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0CD008-42DF-5DFE-CA49-8D19BBF377DD}"/>
              </a:ext>
            </a:extLst>
          </p:cNvPr>
          <p:cNvSpPr>
            <a:spLocks noGrp="1"/>
          </p:cNvSpPr>
          <p:nvPr>
            <p:ph type="title"/>
          </p:nvPr>
        </p:nvSpPr>
        <p:spPr/>
        <p:txBody>
          <a:bodyPr/>
          <a:lstStyle/>
          <a:p>
            <a:r>
              <a:rPr lang="en-US" altLang="zh-CN" dirty="0"/>
              <a:t>LATE </a:t>
            </a:r>
            <a:r>
              <a:rPr lang="zh-CN" altLang="en-US" dirty="0"/>
              <a:t>框架</a:t>
            </a:r>
            <a:br>
              <a:rPr lang="zh-CN" altLang="en-US" dirty="0"/>
            </a:br>
            <a:r>
              <a:rPr lang="zh-CN" altLang="en-US" sz="2400" dirty="0"/>
              <a:t>子女数量与父母劳动供给</a:t>
            </a:r>
          </a:p>
        </p:txBody>
      </p:sp>
      <p:sp>
        <p:nvSpPr>
          <p:cNvPr id="3" name="内容占位符 2">
            <a:extLst>
              <a:ext uri="{FF2B5EF4-FFF2-40B4-BE49-F238E27FC236}">
                <a16:creationId xmlns:a16="http://schemas.microsoft.com/office/drawing/2014/main" id="{873BD6CF-22A0-F290-D537-DA383DD51744}"/>
              </a:ext>
            </a:extLst>
          </p:cNvPr>
          <p:cNvSpPr>
            <a:spLocks noGrp="1"/>
          </p:cNvSpPr>
          <p:nvPr>
            <p:ph idx="1"/>
          </p:nvPr>
        </p:nvSpPr>
        <p:spPr>
          <a:xfrm>
            <a:off x="180475" y="1825625"/>
            <a:ext cx="8879304" cy="1098049"/>
          </a:xfrm>
        </p:spPr>
        <p:txBody>
          <a:bodyPr>
            <a:noAutofit/>
          </a:bodyPr>
          <a:lstStyle/>
          <a:p>
            <a:pPr>
              <a:lnSpc>
                <a:spcPct val="120000"/>
              </a:lnSpc>
            </a:pPr>
            <a:r>
              <a:rPr lang="zh-CN" altLang="en-US" sz="1200" dirty="0"/>
              <a:t>普查数据，超过</a:t>
            </a:r>
            <a:r>
              <a:rPr lang="en-US" altLang="zh-CN" sz="1200" dirty="0"/>
              <a:t>18 </a:t>
            </a:r>
            <a:r>
              <a:rPr lang="zh-CN" altLang="en-US" sz="1200" dirty="0"/>
              <a:t>岁无法在家庭中全部统计，因而，将分析样本限制在母亲年龄在</a:t>
            </a:r>
            <a:r>
              <a:rPr lang="en-US" altLang="zh-CN" sz="1200" dirty="0"/>
              <a:t>21-35 </a:t>
            </a:r>
            <a:r>
              <a:rPr lang="zh-CN" altLang="en-US" sz="1200" dirty="0"/>
              <a:t>岁之间，最大孩子应该不会超过</a:t>
            </a:r>
            <a:r>
              <a:rPr lang="en-US" altLang="zh-CN" sz="1200" dirty="0"/>
              <a:t>18 </a:t>
            </a:r>
            <a:r>
              <a:rPr lang="zh-CN" altLang="en-US" sz="1200" dirty="0"/>
              <a:t>岁。</a:t>
            </a:r>
            <a:endParaRPr lang="en-US" altLang="zh-CN" sz="1200" dirty="0"/>
          </a:p>
          <a:p>
            <a:pPr>
              <a:lnSpc>
                <a:spcPct val="120000"/>
              </a:lnSpc>
            </a:pPr>
            <a:r>
              <a:rPr lang="zh-CN" altLang="en-US" sz="1200" dirty="0"/>
              <a:t>利用最大两个孩子的性别定义是同性别工具变量。</a:t>
            </a:r>
            <a:endParaRPr lang="en-US" altLang="zh-CN" sz="1200" dirty="0"/>
          </a:p>
          <a:p>
            <a:pPr>
              <a:lnSpc>
                <a:spcPct val="120000"/>
              </a:lnSpc>
            </a:pPr>
            <a:r>
              <a:rPr lang="zh-CN" altLang="en-US" sz="1200" dirty="0"/>
              <a:t>样本限制在两个孩子及以上的家庭。样本点分别是</a:t>
            </a:r>
            <a:r>
              <a:rPr lang="en-US" altLang="zh-CN" sz="1200" dirty="0"/>
              <a:t>394,835(1980) </a:t>
            </a:r>
            <a:r>
              <a:rPr lang="zh-CN" altLang="en-US" sz="1200" dirty="0"/>
              <a:t>和</a:t>
            </a:r>
            <a:r>
              <a:rPr lang="en-US" altLang="zh-CN" sz="1200" dirty="0"/>
              <a:t>254,654(1990)</a:t>
            </a:r>
            <a:endParaRPr lang="zh-CN" altLang="en-US" sz="1200" dirty="0"/>
          </a:p>
        </p:txBody>
      </p:sp>
      <p:sp>
        <p:nvSpPr>
          <p:cNvPr id="4" name="页脚占位符 3">
            <a:extLst>
              <a:ext uri="{FF2B5EF4-FFF2-40B4-BE49-F238E27FC236}">
                <a16:creationId xmlns:a16="http://schemas.microsoft.com/office/drawing/2014/main" id="{6EDDD37B-4337-CB5F-CB6A-AE8B44FAB11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455587C-BBD3-A95B-1352-4F02B84B6200}"/>
              </a:ext>
            </a:extLst>
          </p:cNvPr>
          <p:cNvSpPr>
            <a:spLocks noGrp="1"/>
          </p:cNvSpPr>
          <p:nvPr>
            <p:ph type="sldNum" sz="quarter" idx="12"/>
          </p:nvPr>
        </p:nvSpPr>
        <p:spPr/>
        <p:txBody>
          <a:bodyPr/>
          <a:lstStyle/>
          <a:p>
            <a:fld id="{D41FC515-8169-4A29-AA56-DBE520D5741B}" type="slidenum">
              <a:rPr lang="zh-CN" altLang="en-US" smtClean="0"/>
              <a:t>48</a:t>
            </a:fld>
            <a:endParaRPr lang="zh-CN" altLang="en-US"/>
          </a:p>
        </p:txBody>
      </p:sp>
      <p:pic>
        <p:nvPicPr>
          <p:cNvPr id="7" name="图片 6">
            <a:extLst>
              <a:ext uri="{FF2B5EF4-FFF2-40B4-BE49-F238E27FC236}">
                <a16:creationId xmlns:a16="http://schemas.microsoft.com/office/drawing/2014/main" id="{C2FBD5DC-C3E1-6E77-8248-D0A56DC36A28}"/>
              </a:ext>
            </a:extLst>
          </p:cNvPr>
          <p:cNvPicPr>
            <a:picLocks noChangeAspect="1"/>
          </p:cNvPicPr>
          <p:nvPr/>
        </p:nvPicPr>
        <p:blipFill>
          <a:blip r:embed="rId2"/>
          <a:stretch>
            <a:fillRect/>
          </a:stretch>
        </p:blipFill>
        <p:spPr>
          <a:xfrm>
            <a:off x="1341775" y="2873647"/>
            <a:ext cx="5552320" cy="3619227"/>
          </a:xfrm>
          <a:prstGeom prst="rect">
            <a:avLst/>
          </a:prstGeom>
        </p:spPr>
      </p:pic>
    </p:spTree>
    <p:extLst>
      <p:ext uri="{BB962C8B-B14F-4D97-AF65-F5344CB8AC3E}">
        <p14:creationId xmlns:p14="http://schemas.microsoft.com/office/powerpoint/2010/main" val="29474371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D31E4C-1CD8-DCCE-C748-8E735630F5E6}"/>
              </a:ext>
            </a:extLst>
          </p:cNvPr>
          <p:cNvSpPr>
            <a:spLocks noGrp="1"/>
          </p:cNvSpPr>
          <p:nvPr>
            <p:ph type="title"/>
          </p:nvPr>
        </p:nvSpPr>
        <p:spPr/>
        <p:txBody>
          <a:bodyPr/>
          <a:lstStyle/>
          <a:p>
            <a:r>
              <a:rPr lang="en-US" altLang="zh-CN" dirty="0"/>
              <a:t>LATE </a:t>
            </a:r>
            <a:r>
              <a:rPr lang="zh-CN" altLang="en-US" dirty="0"/>
              <a:t>框架</a:t>
            </a:r>
            <a:br>
              <a:rPr lang="zh-CN" altLang="en-US" dirty="0"/>
            </a:br>
            <a:r>
              <a:rPr lang="zh-CN" altLang="en-US" sz="2400" dirty="0"/>
              <a:t>子女数量与父母劳动供给</a:t>
            </a:r>
          </a:p>
        </p:txBody>
      </p:sp>
      <p:sp>
        <p:nvSpPr>
          <p:cNvPr id="3" name="内容占位符 2">
            <a:extLst>
              <a:ext uri="{FF2B5EF4-FFF2-40B4-BE49-F238E27FC236}">
                <a16:creationId xmlns:a16="http://schemas.microsoft.com/office/drawing/2014/main" id="{DB7EEFBF-9022-6F8D-D33D-7D0197C819B4}"/>
              </a:ext>
            </a:extLst>
          </p:cNvPr>
          <p:cNvSpPr>
            <a:spLocks noGrp="1"/>
          </p:cNvSpPr>
          <p:nvPr>
            <p:ph idx="1"/>
          </p:nvPr>
        </p:nvSpPr>
        <p:spPr>
          <a:xfrm>
            <a:off x="628650" y="1825625"/>
            <a:ext cx="2487529" cy="4351338"/>
          </a:xfrm>
        </p:spPr>
        <p:txBody>
          <a:bodyPr>
            <a:normAutofit/>
          </a:bodyPr>
          <a:lstStyle/>
          <a:p>
            <a:r>
              <a:rPr lang="en-US" altLang="zh-CN" sz="1600" dirty="0"/>
              <a:t>Z=1 </a:t>
            </a:r>
            <a:r>
              <a:rPr lang="zh-CN" altLang="en-US" sz="1600" dirty="0"/>
              <a:t>同性别</a:t>
            </a:r>
            <a:r>
              <a:rPr lang="en-US" altLang="zh-CN" sz="1600" dirty="0"/>
              <a:t>D=1</a:t>
            </a:r>
            <a:r>
              <a:rPr lang="zh-CN" altLang="en-US" sz="1600" dirty="0"/>
              <a:t>有要第三个孩子</a:t>
            </a:r>
            <a:endParaRPr lang="en-US" altLang="zh-CN" sz="1600" dirty="0"/>
          </a:p>
          <a:p>
            <a:r>
              <a:rPr lang="en-US" altLang="zh-CN" sz="1600" dirty="0"/>
              <a:t>Z=0,D=1: always takers</a:t>
            </a:r>
          </a:p>
          <a:p>
            <a:r>
              <a:rPr lang="en-US" altLang="zh-CN" sz="1600" dirty="0"/>
              <a:t>Z=1,D=1: always takers +compliers</a:t>
            </a:r>
          </a:p>
          <a:p>
            <a:r>
              <a:rPr lang="pl-PL" altLang="zh-CN" sz="1600" dirty="0"/>
              <a:t>Z=1,D=0: never</a:t>
            </a:r>
            <a:r>
              <a:rPr lang="en-US" altLang="zh-CN" sz="1600" dirty="0"/>
              <a:t> takers</a:t>
            </a:r>
          </a:p>
          <a:p>
            <a:r>
              <a:rPr lang="en-US" altLang="zh-CN" sz="1600" dirty="0"/>
              <a:t>P(always takers) = 0.372</a:t>
            </a:r>
          </a:p>
          <a:p>
            <a:r>
              <a:rPr lang="en-US" altLang="zh-CN" sz="1600" dirty="0"/>
              <a:t>P(compliers)=0.432-0.372=0.06</a:t>
            </a:r>
          </a:p>
          <a:p>
            <a:r>
              <a:rPr lang="en-US" altLang="zh-CN" sz="1600" dirty="0"/>
              <a:t>P(never takers)=0.568</a:t>
            </a:r>
            <a:endParaRPr lang="zh-CN" altLang="en-US" sz="1600" dirty="0"/>
          </a:p>
        </p:txBody>
      </p:sp>
      <p:sp>
        <p:nvSpPr>
          <p:cNvPr id="4" name="页脚占位符 3">
            <a:extLst>
              <a:ext uri="{FF2B5EF4-FFF2-40B4-BE49-F238E27FC236}">
                <a16:creationId xmlns:a16="http://schemas.microsoft.com/office/drawing/2014/main" id="{CE4633D2-4E9C-8022-9EB0-989A5E3587B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74EE505-9419-0D18-C974-78E4EC54C5FB}"/>
              </a:ext>
            </a:extLst>
          </p:cNvPr>
          <p:cNvSpPr>
            <a:spLocks noGrp="1"/>
          </p:cNvSpPr>
          <p:nvPr>
            <p:ph type="sldNum" sz="quarter" idx="12"/>
          </p:nvPr>
        </p:nvSpPr>
        <p:spPr/>
        <p:txBody>
          <a:bodyPr/>
          <a:lstStyle/>
          <a:p>
            <a:fld id="{D41FC515-8169-4A29-AA56-DBE520D5741B}" type="slidenum">
              <a:rPr lang="zh-CN" altLang="en-US" smtClean="0"/>
              <a:t>49</a:t>
            </a:fld>
            <a:endParaRPr lang="zh-CN" altLang="en-US"/>
          </a:p>
        </p:txBody>
      </p:sp>
      <p:pic>
        <p:nvPicPr>
          <p:cNvPr id="7" name="图片 6">
            <a:extLst>
              <a:ext uri="{FF2B5EF4-FFF2-40B4-BE49-F238E27FC236}">
                <a16:creationId xmlns:a16="http://schemas.microsoft.com/office/drawing/2014/main" id="{A53C919A-BCCA-BB5C-5C95-2760299D8D72}"/>
              </a:ext>
            </a:extLst>
          </p:cNvPr>
          <p:cNvPicPr>
            <a:picLocks noChangeAspect="1"/>
          </p:cNvPicPr>
          <p:nvPr/>
        </p:nvPicPr>
        <p:blipFill>
          <a:blip r:embed="rId2"/>
          <a:stretch>
            <a:fillRect/>
          </a:stretch>
        </p:blipFill>
        <p:spPr>
          <a:xfrm>
            <a:off x="3339353" y="1690689"/>
            <a:ext cx="5175997" cy="4759473"/>
          </a:xfrm>
          <a:prstGeom prst="rect">
            <a:avLst/>
          </a:prstGeom>
        </p:spPr>
      </p:pic>
    </p:spTree>
    <p:extLst>
      <p:ext uri="{BB962C8B-B14F-4D97-AF65-F5344CB8AC3E}">
        <p14:creationId xmlns:p14="http://schemas.microsoft.com/office/powerpoint/2010/main" val="21457665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C0E235-10CA-17EE-2F88-C12F4A13A6B6}"/>
              </a:ext>
            </a:extLst>
          </p:cNvPr>
          <p:cNvSpPr>
            <a:spLocks noGrp="1"/>
          </p:cNvSpPr>
          <p:nvPr>
            <p:ph type="title"/>
          </p:nvPr>
        </p:nvSpPr>
        <p:spPr/>
        <p:txBody>
          <a:bodyPr/>
          <a:lstStyle/>
          <a:p>
            <a:r>
              <a:rPr lang="en-US" altLang="zh-CN" dirty="0"/>
              <a:t>LATE </a:t>
            </a:r>
            <a:r>
              <a:rPr lang="zh-CN" altLang="en-US" dirty="0"/>
              <a:t>框架</a:t>
            </a:r>
            <a:br>
              <a:rPr lang="zh-CN" altLang="en-US" dirty="0"/>
            </a:br>
            <a:r>
              <a:rPr lang="zh-CN" altLang="en-US" sz="2400" dirty="0"/>
              <a:t>子女数量与父母劳动供给</a:t>
            </a:r>
          </a:p>
        </p:txBody>
      </p:sp>
      <p:pic>
        <p:nvPicPr>
          <p:cNvPr id="7" name="内容占位符 6">
            <a:extLst>
              <a:ext uri="{FF2B5EF4-FFF2-40B4-BE49-F238E27FC236}">
                <a16:creationId xmlns:a16="http://schemas.microsoft.com/office/drawing/2014/main" id="{A863F173-0BA0-20BA-150F-DB777F8B4772}"/>
              </a:ext>
            </a:extLst>
          </p:cNvPr>
          <p:cNvPicPr>
            <a:picLocks noGrp="1" noChangeAspect="1"/>
          </p:cNvPicPr>
          <p:nvPr>
            <p:ph idx="1"/>
          </p:nvPr>
        </p:nvPicPr>
        <p:blipFill>
          <a:blip r:embed="rId2"/>
          <a:stretch>
            <a:fillRect/>
          </a:stretch>
        </p:blipFill>
        <p:spPr>
          <a:xfrm>
            <a:off x="2292439" y="2005068"/>
            <a:ext cx="4559121" cy="3992451"/>
          </a:xfrm>
          <a:prstGeom prst="rect">
            <a:avLst/>
          </a:prstGeom>
        </p:spPr>
      </p:pic>
      <p:sp>
        <p:nvSpPr>
          <p:cNvPr id="4" name="页脚占位符 3">
            <a:extLst>
              <a:ext uri="{FF2B5EF4-FFF2-40B4-BE49-F238E27FC236}">
                <a16:creationId xmlns:a16="http://schemas.microsoft.com/office/drawing/2014/main" id="{197F923C-43CB-FA29-2A43-379C9C47BD6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D48B109-B784-D3B2-743C-19AD38424185}"/>
              </a:ext>
            </a:extLst>
          </p:cNvPr>
          <p:cNvSpPr>
            <a:spLocks noGrp="1"/>
          </p:cNvSpPr>
          <p:nvPr>
            <p:ph type="sldNum" sz="quarter" idx="12"/>
          </p:nvPr>
        </p:nvSpPr>
        <p:spPr/>
        <p:txBody>
          <a:bodyPr/>
          <a:lstStyle/>
          <a:p>
            <a:fld id="{D41FC515-8169-4A29-AA56-DBE520D5741B}" type="slidenum">
              <a:rPr lang="zh-CN" altLang="en-US" smtClean="0"/>
              <a:t>50</a:t>
            </a:fld>
            <a:endParaRPr lang="zh-CN" altLang="en-US"/>
          </a:p>
        </p:txBody>
      </p:sp>
    </p:spTree>
    <p:extLst>
      <p:ext uri="{BB962C8B-B14F-4D97-AF65-F5344CB8AC3E}">
        <p14:creationId xmlns:p14="http://schemas.microsoft.com/office/powerpoint/2010/main" val="24588997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B956B4-C5B7-A8A4-7816-074F4B90A471}"/>
              </a:ext>
            </a:extLst>
          </p:cNvPr>
          <p:cNvSpPr>
            <a:spLocks noGrp="1"/>
          </p:cNvSpPr>
          <p:nvPr>
            <p:ph type="title"/>
          </p:nvPr>
        </p:nvSpPr>
        <p:spPr/>
        <p:txBody>
          <a:bodyPr/>
          <a:lstStyle/>
          <a:p>
            <a:r>
              <a:rPr lang="en-US" altLang="zh-CN" dirty="0"/>
              <a:t>LATE </a:t>
            </a:r>
            <a:r>
              <a:rPr lang="zh-CN" altLang="en-US" dirty="0"/>
              <a:t>框架</a:t>
            </a:r>
            <a:br>
              <a:rPr lang="zh-CN" altLang="en-US" dirty="0"/>
            </a:br>
            <a:r>
              <a:rPr lang="zh-CN" altLang="en-US" sz="2400" dirty="0"/>
              <a:t>子女数量与父母劳动供给</a:t>
            </a:r>
          </a:p>
        </p:txBody>
      </p:sp>
      <p:pic>
        <p:nvPicPr>
          <p:cNvPr id="7" name="内容占位符 6">
            <a:extLst>
              <a:ext uri="{FF2B5EF4-FFF2-40B4-BE49-F238E27FC236}">
                <a16:creationId xmlns:a16="http://schemas.microsoft.com/office/drawing/2014/main" id="{933E5534-8930-DF81-EF6A-773CB1A4F20C}"/>
              </a:ext>
            </a:extLst>
          </p:cNvPr>
          <p:cNvPicPr>
            <a:picLocks noGrp="1" noChangeAspect="1"/>
          </p:cNvPicPr>
          <p:nvPr>
            <p:ph idx="1"/>
          </p:nvPr>
        </p:nvPicPr>
        <p:blipFill>
          <a:blip r:embed="rId2"/>
          <a:stretch>
            <a:fillRect/>
          </a:stretch>
        </p:blipFill>
        <p:spPr>
          <a:xfrm>
            <a:off x="1571222" y="1985750"/>
            <a:ext cx="6001555" cy="4031087"/>
          </a:xfrm>
          <a:prstGeom prst="rect">
            <a:avLst/>
          </a:prstGeom>
        </p:spPr>
      </p:pic>
      <p:sp>
        <p:nvSpPr>
          <p:cNvPr id="4" name="页脚占位符 3">
            <a:extLst>
              <a:ext uri="{FF2B5EF4-FFF2-40B4-BE49-F238E27FC236}">
                <a16:creationId xmlns:a16="http://schemas.microsoft.com/office/drawing/2014/main" id="{E7295E48-4F8C-786C-CF33-0C66E294758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60F8E1E-F41A-D0D7-20A9-7B97EC598582}"/>
              </a:ext>
            </a:extLst>
          </p:cNvPr>
          <p:cNvSpPr>
            <a:spLocks noGrp="1"/>
          </p:cNvSpPr>
          <p:nvPr>
            <p:ph type="sldNum" sz="quarter" idx="12"/>
          </p:nvPr>
        </p:nvSpPr>
        <p:spPr/>
        <p:txBody>
          <a:bodyPr/>
          <a:lstStyle/>
          <a:p>
            <a:fld id="{D41FC515-8169-4A29-AA56-DBE520D5741B}" type="slidenum">
              <a:rPr lang="zh-CN" altLang="en-US" smtClean="0"/>
              <a:t>51</a:t>
            </a:fld>
            <a:endParaRPr lang="zh-CN" altLang="en-US"/>
          </a:p>
        </p:txBody>
      </p:sp>
    </p:spTree>
    <p:extLst>
      <p:ext uri="{BB962C8B-B14F-4D97-AF65-F5344CB8AC3E}">
        <p14:creationId xmlns:p14="http://schemas.microsoft.com/office/powerpoint/2010/main" val="32165862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A14A32-FB36-6F56-5AA7-664BA8AB951C}"/>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7A2E3A7A-47CB-E58A-348C-06AA21F0255A}"/>
              </a:ext>
            </a:extLst>
          </p:cNvPr>
          <p:cNvSpPr>
            <a:spLocks noGrp="1"/>
          </p:cNvSpPr>
          <p:nvPr>
            <p:ph idx="1"/>
          </p:nvPr>
        </p:nvSpPr>
        <p:spPr/>
        <p:txBody>
          <a:bodyPr/>
          <a:lstStyle/>
          <a:p>
            <a:r>
              <a:rPr lang="zh-CN" altLang="en-US" dirty="0"/>
              <a:t>传统工具变量法，工具变量的基本条件：相关性和外生性。</a:t>
            </a:r>
            <a:endParaRPr lang="en-US" altLang="zh-CN" dirty="0"/>
          </a:p>
          <a:p>
            <a:r>
              <a:rPr lang="en-US" altLang="zh-CN" dirty="0"/>
              <a:t>LATE </a:t>
            </a:r>
            <a:r>
              <a:rPr lang="zh-CN" altLang="en-US" dirty="0"/>
              <a:t>定理，工具变量估计是依从者的因果效应。</a:t>
            </a:r>
            <a:endParaRPr lang="en-US" altLang="zh-CN" dirty="0"/>
          </a:p>
          <a:p>
            <a:r>
              <a:rPr lang="zh-CN" altLang="en-US" dirty="0"/>
              <a:t>关于工具变量估计量到底代表什么因果效应，特别是</a:t>
            </a:r>
            <a:r>
              <a:rPr lang="en-US" altLang="zh-CN" dirty="0"/>
              <a:t>TSLS </a:t>
            </a:r>
            <a:r>
              <a:rPr lang="zh-CN" altLang="en-US" dirty="0"/>
              <a:t>估计代表什么效应，参考最新文献</a:t>
            </a:r>
            <a:r>
              <a:rPr lang="en-US" altLang="zh-CN" dirty="0" err="1"/>
              <a:t>Blandhol</a:t>
            </a:r>
            <a:r>
              <a:rPr lang="en-US" altLang="zh-CN" dirty="0"/>
              <a:t> et al. (2024), </a:t>
            </a:r>
            <a:r>
              <a:rPr lang="en-US" altLang="zh-CN" dirty="0" err="1"/>
              <a:t>Sloczynski</a:t>
            </a:r>
            <a:r>
              <a:rPr lang="en-US" altLang="zh-CN" dirty="0"/>
              <a:t> (2024), Mogstad and </a:t>
            </a:r>
            <a:r>
              <a:rPr lang="en-US" altLang="zh-CN" dirty="0" err="1"/>
              <a:t>Torgovitsky</a:t>
            </a:r>
            <a:r>
              <a:rPr lang="en-US" altLang="zh-CN" dirty="0"/>
              <a:t>(2024)</a:t>
            </a:r>
            <a:r>
              <a:rPr lang="zh-CN" altLang="en-US" dirty="0"/>
              <a:t>。</a:t>
            </a:r>
          </a:p>
        </p:txBody>
      </p:sp>
      <p:sp>
        <p:nvSpPr>
          <p:cNvPr id="4" name="页脚占位符 3">
            <a:extLst>
              <a:ext uri="{FF2B5EF4-FFF2-40B4-BE49-F238E27FC236}">
                <a16:creationId xmlns:a16="http://schemas.microsoft.com/office/drawing/2014/main" id="{0E9A03E0-36DA-AF46-B12F-6EF51FF819D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E4A7B28-631E-186C-936E-F570ADCCDEA1}"/>
              </a:ext>
            </a:extLst>
          </p:cNvPr>
          <p:cNvSpPr>
            <a:spLocks noGrp="1"/>
          </p:cNvSpPr>
          <p:nvPr>
            <p:ph type="sldNum" sz="quarter" idx="12"/>
          </p:nvPr>
        </p:nvSpPr>
        <p:spPr/>
        <p:txBody>
          <a:bodyPr/>
          <a:lstStyle/>
          <a:p>
            <a:fld id="{D41FC515-8169-4A29-AA56-DBE520D5741B}" type="slidenum">
              <a:rPr lang="zh-CN" altLang="en-US" smtClean="0"/>
              <a:t>52</a:t>
            </a:fld>
            <a:endParaRPr lang="zh-CN" altLang="en-US"/>
          </a:p>
        </p:txBody>
      </p:sp>
    </p:spTree>
    <p:extLst>
      <p:ext uri="{BB962C8B-B14F-4D97-AF65-F5344CB8AC3E}">
        <p14:creationId xmlns:p14="http://schemas.microsoft.com/office/powerpoint/2010/main" val="13515950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67015-4EAC-4367-2D0D-ADCF1BE134F6}"/>
              </a:ext>
            </a:extLst>
          </p:cNvPr>
          <p:cNvSpPr>
            <a:spLocks noGrp="1"/>
          </p:cNvSpPr>
          <p:nvPr>
            <p:ph type="title"/>
          </p:nvPr>
        </p:nvSpPr>
        <p:spPr/>
        <p:txBody>
          <a:bodyPr/>
          <a:lstStyle/>
          <a:p>
            <a:r>
              <a:rPr lang="en-US" altLang="zh-CN" dirty="0"/>
              <a:t>MTE </a:t>
            </a:r>
            <a:r>
              <a:rPr lang="zh-CN" altLang="en-US" dirty="0"/>
              <a:t>框架</a:t>
            </a:r>
            <a:r>
              <a:rPr lang="en-US" altLang="zh-CN" dirty="0"/>
              <a:t>(Marginal Treatment Effect Framework)</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3F3B86B-6BED-115D-0A4D-DF63B5571A99}"/>
                  </a:ext>
                </a:extLst>
              </p:cNvPr>
              <p:cNvSpPr>
                <a:spLocks noGrp="1"/>
              </p:cNvSpPr>
              <p:nvPr>
                <p:ph idx="1"/>
              </p:nvPr>
            </p:nvSpPr>
            <p:spPr/>
            <p:txBody>
              <a:bodyPr>
                <a:normAutofit fontScale="92500"/>
              </a:bodyPr>
              <a:lstStyle/>
              <a:p>
                <a:pPr>
                  <a:lnSpc>
                    <a:spcPct val="100000"/>
                  </a:lnSpc>
                </a:pPr>
                <a:r>
                  <a:rPr lang="en-US" altLang="zh-CN" dirty="0"/>
                  <a:t>Generalized Roy model: </a:t>
                </a:r>
                <a:r>
                  <a:rPr lang="zh-CN" altLang="en-US" dirty="0"/>
                  <a:t>暗含排除性假设成立</a:t>
                </a:r>
                <a:endParaRPr lang="en-US" altLang="zh-CN" dirty="0"/>
              </a:p>
              <a:p>
                <a:pPr>
                  <a:lnSpc>
                    <a:spcPct val="100000"/>
                  </a:lnSpc>
                </a:pPr>
                <a14:m>
                  <m:oMath xmlns:m="http://schemas.openxmlformats.org/officeDocument/2006/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e>
                        <m:r>
                          <m:rPr>
                            <m:nor/>
                          </m:rPr>
                          <a:rPr lang="zh-CN" altLang="en-US" i="0" smtClean="0">
                            <a:latin typeface="Cambria Math" panose="02040503050406030204" pitchFamily="18" charset="0"/>
                          </a:rPr>
                          <m:t>净收益：</m:t>
                        </m:r>
                        <m:r>
                          <a:rPr lang="zh-CN" altLang="en-US" i="1" smtClean="0">
                            <a:latin typeface="Cambria Math" panose="02040503050406030204" pitchFamily="18" charset="0"/>
                          </a:rPr>
                          <m:t>𝐼</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𝐶</m:t>
                        </m:r>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𝐶</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e>
                            </m:groupChr>
                          </m:e>
                          <m:li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𝐷</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lim>
                        </m:limLow>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𝐶</m:t>
                                    </m:r>
                                  </m:sub>
                                </m:sSub>
                              </m:e>
                            </m:groupChr>
                          </m:e>
                          <m:lim>
                            <m:r>
                              <a:rPr lang="zh-CN" altLang="en-US" i="1" smtClean="0">
                                <a:latin typeface="Cambria Math" panose="02040503050406030204" pitchFamily="18" charset="0"/>
                              </a:rPr>
                              <m:t>−</m:t>
                            </m:r>
                            <m:r>
                              <a:rPr lang="zh-CN" altLang="en-US" i="1" smtClean="0">
                                <a:latin typeface="Cambria Math" panose="02040503050406030204" pitchFamily="18" charset="0"/>
                              </a:rPr>
                              <m:t>𝑈</m:t>
                            </m:r>
                          </m:lim>
                        </m:limLow>
                      </m:e>
                    </m:eqArr>
                  </m:oMath>
                </a14:m>
                <a:endParaRPr lang="en-US" altLang="zh-CN" dirty="0"/>
              </a:p>
              <a:p>
                <a:pPr>
                  <a:lnSpc>
                    <a:spcPct val="100000"/>
                  </a:lnSpc>
                </a:pPr>
                <a:r>
                  <a:rPr lang="zh-CN" altLang="en-US" dirty="0"/>
                  <a:t>假设：</a:t>
                </a:r>
                <a:endParaRPr lang="en-US" altLang="zh-CN" dirty="0"/>
              </a:p>
              <a:p>
                <a:pPr marL="0" indent="0">
                  <a:lnSpc>
                    <a:spcPct val="100000"/>
                  </a:lnSpc>
                  <a:buNone/>
                </a:pPr>
                <a14:m>
                  <m:oMathPara xmlns:m="http://schemas.openxmlformats.org/officeDocument/2006/math">
                    <m:oMath>
                      <m:eqArr>
                        <m:eqArrPr>
                          <m:ctrlPr>
                            <a:rPr lang="zh-CN" altLang="en-US" i="1" smtClean="0">
                              <a:latin typeface="Cambria Math" panose="02040503050406030204" pitchFamily="18" charset="0"/>
                            </a:rPr>
                          </m:ctrlPr>
                        </m:eqArr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𝐶</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𝑍</m:t>
                              </m:r>
                            </m:e>
                          </m:d>
                        </m:e>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𝐶</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0,0,0</m:t>
                              </m:r>
                            </m:e>
                          </m:d>
                        </m:e>
                      </m:eqArr>
                    </m:oMath>
                  </m:oMathPara>
                </a14:m>
                <a:endParaRPr lang="zh-CN" altLang="en-US" dirty="0"/>
              </a:p>
            </p:txBody>
          </p:sp>
        </mc:Choice>
        <mc:Fallback xmlns="">
          <p:sp>
            <p:nvSpPr>
              <p:cNvPr id="3" name="内容占位符 2">
                <a:extLst>
                  <a:ext uri="{FF2B5EF4-FFF2-40B4-BE49-F238E27FC236}">
                    <a16:creationId xmlns:a16="http://schemas.microsoft.com/office/drawing/2014/main" id="{13F3B86B-6BED-115D-0A4D-DF63B5571A99}"/>
                  </a:ext>
                </a:extLst>
              </p:cNvPr>
              <p:cNvSpPr>
                <a:spLocks noGrp="1" noRot="1" noChangeAspect="1" noMove="1" noResize="1" noEditPoints="1" noAdjustHandles="1" noChangeArrowheads="1" noChangeShapeType="1" noTextEdit="1"/>
              </p:cNvSpPr>
              <p:nvPr>
                <p:ph idx="1"/>
              </p:nvPr>
            </p:nvSpPr>
            <p:spPr>
              <a:blipFill>
                <a:blip r:embed="rId2"/>
                <a:stretch>
                  <a:fillRect l="-1159" t="-1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6F1A54D-8EA4-34AE-E46F-AD482EE4605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632C955-A423-B70F-47AA-4512C7DAA3EE}"/>
              </a:ext>
            </a:extLst>
          </p:cNvPr>
          <p:cNvSpPr>
            <a:spLocks noGrp="1"/>
          </p:cNvSpPr>
          <p:nvPr>
            <p:ph type="sldNum" sz="quarter" idx="12"/>
          </p:nvPr>
        </p:nvSpPr>
        <p:spPr/>
        <p:txBody>
          <a:bodyPr/>
          <a:lstStyle/>
          <a:p>
            <a:fld id="{D41FC515-8169-4A29-AA56-DBE520D5741B}" type="slidenum">
              <a:rPr lang="zh-CN" altLang="en-US" smtClean="0"/>
              <a:t>53</a:t>
            </a:fld>
            <a:endParaRPr lang="zh-CN" altLang="en-US"/>
          </a:p>
        </p:txBody>
      </p:sp>
    </p:spTree>
    <p:extLst>
      <p:ext uri="{BB962C8B-B14F-4D97-AF65-F5344CB8AC3E}">
        <p14:creationId xmlns:p14="http://schemas.microsoft.com/office/powerpoint/2010/main" val="14368108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199110-9D1E-50A4-9CC7-4655C8E3DB7D}"/>
              </a:ext>
            </a:extLst>
          </p:cNvPr>
          <p:cNvSpPr>
            <a:spLocks noGrp="1"/>
          </p:cNvSpPr>
          <p:nvPr>
            <p:ph type="title"/>
          </p:nvPr>
        </p:nvSpPr>
        <p:spPr/>
        <p:txBody>
          <a:bodyPr/>
          <a:lstStyle/>
          <a:p>
            <a:r>
              <a:rPr lang="zh-CN" altLang="en-US" dirty="0"/>
              <a:t>选择方程和单调性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5A56E8F-3432-8A74-8952-67EAD3F32960}"/>
                  </a:ext>
                </a:extLst>
              </p:cNvPr>
              <p:cNvSpPr>
                <a:spLocks noGrp="1"/>
              </p:cNvSpPr>
              <p:nvPr>
                <p:ph idx="1"/>
              </p:nvPr>
            </p:nvSpPr>
            <p:spPr/>
            <p:txBody>
              <a:bodyPr>
                <a:noAutofit/>
              </a:bodyPr>
              <a:lstStyle/>
              <a:p>
                <a:pPr>
                  <a:lnSpc>
                    <a:spcPct val="120000"/>
                  </a:lnSpc>
                </a:pPr>
                <a:r>
                  <a:rPr lang="en-US" altLang="zh-CN" sz="1600" dirty="0"/>
                  <a:t>Vytlaci(2002) </a:t>
                </a:r>
                <a:r>
                  <a:rPr lang="zh-CN" altLang="en-US" sz="1600" dirty="0"/>
                  <a:t>证明假设可分离的选择模型与</a:t>
                </a:r>
                <a:r>
                  <a:rPr lang="en-US" altLang="zh-CN" sz="1600" dirty="0"/>
                  <a:t>LATE </a:t>
                </a:r>
                <a:r>
                  <a:rPr lang="zh-CN" altLang="en-US" sz="1600" dirty="0"/>
                  <a:t>模型是等价的，特别是可分离的选择方程与单调性是等价的。</a:t>
                </a:r>
                <a:endParaRPr lang="en-US" altLang="zh-CN" sz="1600" dirty="0"/>
              </a:p>
              <a:p>
                <a:pPr marL="0" indent="0">
                  <a:lnSpc>
                    <a:spcPct val="120000"/>
                  </a:lnSpc>
                  <a:buNone/>
                </a:pPr>
                <a14:m>
                  <m:oMathPara xmlns:m="http://schemas.openxmlformats.org/officeDocument/2006/math">
                    <m:oMath>
                      <m:r>
                        <a:rPr lang="zh-CN" altLang="en-US" sz="1600" i="1" smtClean="0">
                          <a:latin typeface="Cambria Math" panose="02040503050406030204" pitchFamily="18" charset="0"/>
                        </a:rPr>
                        <m:t>𝐷</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𝟙</m:t>
                      </m:r>
                      <m:d>
                        <m:dPr>
                          <m:begChr m:val="["/>
                          <m:endChr m:val="]"/>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𝑈</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𝐷</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𝑍</m:t>
                              </m:r>
                            </m:e>
                          </m:d>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𝑧</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𝟙</m:t>
                      </m:r>
                      <m:d>
                        <m:dPr>
                          <m:begChr m:val="["/>
                          <m:endChr m:val="]"/>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𝑈</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𝐷</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𝑍</m:t>
                              </m:r>
                            </m:e>
                          </m:d>
                        </m:e>
                      </m:d>
                    </m:oMath>
                  </m:oMathPara>
                </a14:m>
                <a:endParaRPr lang="en-US" altLang="zh-CN" sz="1600" dirty="0"/>
              </a:p>
              <a:p>
                <a:pPr>
                  <a:lnSpc>
                    <a:spcPct val="120000"/>
                  </a:lnSpc>
                </a:pPr>
                <a:r>
                  <a:rPr lang="en-US" altLang="zh-CN" sz="1600" dirty="0"/>
                  <a:t>Roy </a:t>
                </a:r>
                <a:r>
                  <a:rPr lang="zh-CN" altLang="en-US" sz="1600" dirty="0"/>
                  <a:t>模型与</a:t>
                </a:r>
                <a:r>
                  <a:rPr lang="en-US" altLang="zh-CN" sz="1600" dirty="0"/>
                  <a:t>LATE </a:t>
                </a:r>
                <a:r>
                  <a:rPr lang="zh-CN" altLang="en-US" sz="1600" dirty="0"/>
                  <a:t>框架的等价性，但</a:t>
                </a:r>
                <a:r>
                  <a:rPr lang="en-US" altLang="zh-CN" sz="1600" dirty="0"/>
                  <a:t>Roy </a:t>
                </a:r>
                <a:r>
                  <a:rPr lang="zh-CN" altLang="en-US" sz="1600" dirty="0"/>
                  <a:t>模型中更容易从经济学的角度解释，</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𝜇</m:t>
                        </m:r>
                      </m:e>
                      <m:sub>
                        <m:r>
                          <a:rPr lang="zh-CN" altLang="en-US" sz="1600" i="1" dirty="0">
                            <a:latin typeface="Cambria Math" panose="02040503050406030204" pitchFamily="18" charset="0"/>
                          </a:rPr>
                          <m:t>𝐷</m:t>
                        </m:r>
                      </m:sub>
                    </m:sSub>
                    <m:r>
                      <a:rPr lang="en-US" altLang="zh-CN" sz="1600" i="1" dirty="0">
                        <a:latin typeface="Cambria Math" panose="02040503050406030204" pitchFamily="18" charset="0"/>
                      </a:rPr>
                      <m:t>(</m:t>
                    </m:r>
                    <m:r>
                      <a:rPr lang="zh-CN" altLang="en-US" sz="1600" i="1" dirty="0">
                        <a:latin typeface="Cambria Math" panose="02040503050406030204" pitchFamily="18" charset="0"/>
                      </a:rPr>
                      <m:t>𝑍</m:t>
                    </m:r>
                    <m:r>
                      <a:rPr lang="en-US" altLang="zh-CN" sz="1600" i="1" dirty="0">
                        <a:latin typeface="Cambria Math" panose="02040503050406030204" pitchFamily="18" charset="0"/>
                      </a:rPr>
                      <m:t>) − </m:t>
                    </m:r>
                    <m:r>
                      <a:rPr lang="zh-CN" altLang="en-US" sz="1600" i="1" dirty="0">
                        <a:latin typeface="Cambria Math" panose="02040503050406030204" pitchFamily="18" charset="0"/>
                      </a:rPr>
                      <m:t>𝑈</m:t>
                    </m:r>
                    <m:r>
                      <a:rPr lang="zh-CN" altLang="en-US" sz="1600" i="1" dirty="0">
                        <a:latin typeface="Cambria Math" panose="02040503050406030204" pitchFamily="18" charset="0"/>
                      </a:rPr>
                      <m:t> </m:t>
                    </m:r>
                  </m:oMath>
                </a14:m>
                <a:r>
                  <a:rPr lang="zh-CN" altLang="en-US" sz="1600" dirty="0"/>
                  <a:t>可以解释为进行选择</a:t>
                </a:r>
                <a:r>
                  <a:rPr lang="en-US" altLang="zh-CN" sz="1600" dirty="0"/>
                  <a:t>(D) </a:t>
                </a:r>
                <a:r>
                  <a:rPr lang="zh-CN" altLang="en-US" sz="1600" dirty="0"/>
                  <a:t>的潜在效用</a:t>
                </a:r>
                <a:r>
                  <a:rPr lang="en-US" altLang="zh-CN" sz="1600" dirty="0"/>
                  <a:t>(latent utility)</a:t>
                </a:r>
                <a:r>
                  <a:rPr lang="zh-CN" altLang="en-US" sz="1600" dirty="0"/>
                  <a:t>。</a:t>
                </a:r>
                <a:endParaRPr lang="en-US" altLang="zh-CN" sz="1600" dirty="0"/>
              </a:p>
              <a:p>
                <a:pPr>
                  <a:lnSpc>
                    <a:spcPct val="120000"/>
                  </a:lnSpc>
                </a:pPr>
                <a:r>
                  <a:rPr lang="zh-CN" altLang="en-US" sz="1600" dirty="0"/>
                  <a:t>基本设定</a:t>
                </a:r>
                <a:r>
                  <a:rPr lang="en-US" altLang="zh-CN" sz="1600" dirty="0"/>
                  <a:t>(Heckman and </a:t>
                </a:r>
                <a:r>
                  <a:rPr lang="en-US" altLang="zh-CN" sz="1600" dirty="0" err="1"/>
                  <a:t>Vytlacil</a:t>
                </a:r>
                <a:r>
                  <a:rPr lang="en-US" altLang="zh-CN" sz="1600" dirty="0"/>
                  <a:t>, 1999/2005)</a:t>
                </a:r>
                <a:r>
                  <a:rPr lang="zh-CN" altLang="en-US" sz="1600" dirty="0"/>
                  <a:t>：</a:t>
                </a:r>
                <a:endParaRPr lang="en-US" altLang="zh-CN" sz="1600" dirty="0"/>
              </a:p>
              <a:p>
                <a:pPr lvl="1">
                  <a:lnSpc>
                    <a:spcPct val="120000"/>
                  </a:lnSpc>
                </a:pPr>
                <a:r>
                  <a:rPr lang="en-US" altLang="zh-CN" sz="1600" dirty="0"/>
                  <a:t>Roy </a:t>
                </a:r>
                <a:r>
                  <a:rPr lang="zh-CN" altLang="en-US" sz="1600" dirty="0"/>
                  <a:t>模型</a:t>
                </a:r>
                <a:endParaRPr lang="en-US" altLang="zh-CN" sz="1600" dirty="0"/>
              </a:p>
              <a:p>
                <a:pPr marL="457200" lvl="1"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𝑌</m:t>
                          </m:r>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𝐷</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1</m:t>
                              </m:r>
                            </m:sub>
                          </m:sSub>
                          <m:r>
                            <a:rPr lang="zh-CN" altLang="en-US" sz="1600" i="1" smtClean="0">
                              <a:latin typeface="Cambria Math" panose="02040503050406030204" pitchFamily="18" charset="0"/>
                            </a:rPr>
                            <m:t>+</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r>
                                <a:rPr lang="zh-CN" altLang="en-US" sz="1600" i="1" smtClean="0">
                                  <a:latin typeface="Cambria Math" panose="02040503050406030204" pitchFamily="18" charset="0"/>
                                </a:rPr>
                                <m:t>𝐷</m:t>
                              </m:r>
                            </m:e>
                          </m:d>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0</m:t>
                              </m:r>
                            </m:sub>
                          </m:sSub>
                        </m:e>
                        <m:e>
                          <m:r>
                            <a:rPr lang="zh-CN" altLang="en-US" sz="1600" i="1" smtClean="0">
                              <a:latin typeface="Cambria Math" panose="02040503050406030204" pitchFamily="18" charset="0"/>
                            </a:rPr>
                            <m:t>𝐷</m:t>
                          </m:r>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𝟙</m:t>
                          </m:r>
                          <m:d>
                            <m:dPr>
                              <m:begChr m:val="["/>
                              <m:endChr m:val="]"/>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𝑈</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𝐷</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𝑍</m:t>
                                  </m:r>
                                </m:e>
                              </m:d>
                            </m:e>
                          </m:d>
                          <m:r>
                            <a:rPr lang="zh-CN" altLang="en-US" sz="1600" i="1" smtClean="0">
                              <a:latin typeface="Cambria Math" panose="02040503050406030204" pitchFamily="18" charset="0"/>
                            </a:rPr>
                            <m:t>,</m:t>
                          </m:r>
                          <m:r>
                            <m:rPr>
                              <m:nor/>
                            </m:rPr>
                            <a:rPr lang="zh-CN" altLang="en-US" sz="1600" i="0" smtClean="0">
                              <a:latin typeface="Cambria Math" panose="02040503050406030204" pitchFamily="18" charset="0"/>
                            </a:rPr>
                            <m:t> 并且 </m:t>
                          </m:r>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1</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𝑈</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𝑍</m:t>
                          </m:r>
                        </m:e>
                      </m:eqArr>
                    </m:oMath>
                  </m:oMathPara>
                </a14:m>
                <a:endParaRPr lang="en-US" altLang="zh-CN" sz="1600" dirty="0"/>
              </a:p>
              <a:p>
                <a:pPr lvl="1">
                  <a:lnSpc>
                    <a:spcPct val="120000"/>
                  </a:lnSpc>
                </a:pPr>
                <a:r>
                  <a:rPr lang="zh-CN" altLang="en-US" sz="1600" dirty="0"/>
                  <a:t>假设𝑈 是连续分布，通常可以标准化为均匀分布</a:t>
                </a:r>
                <a:endParaRPr lang="en-US" altLang="zh-CN" sz="1600" dirty="0"/>
              </a:p>
              <a:p>
                <a:pPr lvl="1">
                  <a:lnSpc>
                    <a:spcPct val="120000"/>
                  </a:lnSpc>
                </a:pPr>
                <a:r>
                  <a:rPr lang="zh-CN" altLang="en-US" sz="1600" dirty="0"/>
                  <a:t>从而，𝜇𝐷</a:t>
                </a:r>
                <a:r>
                  <a:rPr lang="en-US" altLang="zh-CN" sz="1600" dirty="0"/>
                  <a:t>(</a:t>
                </a:r>
                <a:r>
                  <a:rPr lang="zh-CN" altLang="en-US" sz="1600" dirty="0"/>
                  <a:t>𝑍</a:t>
                </a:r>
                <a:r>
                  <a:rPr lang="en-US" altLang="zh-CN" sz="1600" dirty="0"/>
                  <a:t>) = </a:t>
                </a:r>
                <a:r>
                  <a:rPr lang="zh-CN" altLang="en-US" sz="1600" dirty="0"/>
                  <a:t>𝑝</a:t>
                </a:r>
                <a:r>
                  <a:rPr lang="en-US" altLang="zh-CN" sz="1600" dirty="0"/>
                  <a:t>(</a:t>
                </a:r>
                <a:r>
                  <a:rPr lang="zh-CN" altLang="en-US" sz="1600" dirty="0"/>
                  <a:t>𝑍</a:t>
                </a:r>
                <a:r>
                  <a:rPr lang="en-US" altLang="zh-CN" sz="1600" dirty="0"/>
                  <a:t>)</a:t>
                </a:r>
              </a:p>
              <a:p>
                <a:pPr lvl="1">
                  <a:lnSpc>
                    <a:spcPct val="120000"/>
                  </a:lnSpc>
                </a:pPr>
                <a:r>
                  <a:rPr lang="zh-CN" altLang="en-US" sz="1600" dirty="0"/>
                  <a:t>这里隐含都是以控制𝑋 为前提的，为了书写方便，省略𝑋。</a:t>
                </a:r>
                <a:endParaRPr lang="en-US" altLang="zh-CN" sz="1600" dirty="0"/>
              </a:p>
              <a:p>
                <a:pPr>
                  <a:lnSpc>
                    <a:spcPct val="120000"/>
                  </a:lnSpc>
                </a:pPr>
                <a:r>
                  <a:rPr lang="en-US" altLang="zh-CN" sz="1600" dirty="0"/>
                  <a:t>MTE </a:t>
                </a:r>
                <a:r>
                  <a:rPr lang="zh-CN" altLang="en-US" sz="1600" dirty="0"/>
                  <a:t>框架最早是由</a:t>
                </a:r>
                <a:r>
                  <a:rPr lang="en-US" altLang="zh-CN" sz="1600" dirty="0"/>
                  <a:t>Björklund and Moffitt(1987) </a:t>
                </a:r>
                <a:r>
                  <a:rPr lang="zh-CN" altLang="en-US" sz="1600" dirty="0"/>
                  <a:t>引入的，由</a:t>
                </a:r>
                <a:r>
                  <a:rPr lang="en-US" altLang="zh-CN" sz="1600" dirty="0"/>
                  <a:t>Heckman and </a:t>
                </a:r>
                <a:r>
                  <a:rPr lang="en-US" altLang="zh-CN" sz="1600" dirty="0" err="1"/>
                  <a:t>Vytlacil</a:t>
                </a:r>
                <a:r>
                  <a:rPr lang="en-US" altLang="zh-CN" sz="1600" dirty="0"/>
                  <a:t>(1999, 2005) </a:t>
                </a:r>
                <a:r>
                  <a:rPr lang="zh-CN" altLang="en-US" sz="1600" dirty="0"/>
                  <a:t>发展起来的。</a:t>
                </a:r>
              </a:p>
            </p:txBody>
          </p:sp>
        </mc:Choice>
        <mc:Fallback xmlns="">
          <p:sp>
            <p:nvSpPr>
              <p:cNvPr id="3" name="内容占位符 2">
                <a:extLst>
                  <a:ext uri="{FF2B5EF4-FFF2-40B4-BE49-F238E27FC236}">
                    <a16:creationId xmlns:a16="http://schemas.microsoft.com/office/drawing/2014/main" id="{E5A56E8F-3432-8A74-8952-67EAD3F32960}"/>
                  </a:ext>
                </a:extLst>
              </p:cNvPr>
              <p:cNvSpPr>
                <a:spLocks noGrp="1" noRot="1" noChangeAspect="1" noMove="1" noResize="1" noEditPoints="1" noAdjustHandles="1" noChangeArrowheads="1" noChangeShapeType="1" noTextEdit="1"/>
              </p:cNvSpPr>
              <p:nvPr>
                <p:ph idx="1"/>
              </p:nvPr>
            </p:nvSpPr>
            <p:spPr>
              <a:blipFill>
                <a:blip r:embed="rId2"/>
                <a:stretch>
                  <a:fillRect l="-309" b="-1246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ED29D96-9BB6-5295-5A5D-DE5C0030FC6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50AFFE1-B2FE-917F-F270-B48ECB742622}"/>
              </a:ext>
            </a:extLst>
          </p:cNvPr>
          <p:cNvSpPr>
            <a:spLocks noGrp="1"/>
          </p:cNvSpPr>
          <p:nvPr>
            <p:ph type="sldNum" sz="quarter" idx="12"/>
          </p:nvPr>
        </p:nvSpPr>
        <p:spPr/>
        <p:txBody>
          <a:bodyPr/>
          <a:lstStyle/>
          <a:p>
            <a:fld id="{D41FC515-8169-4A29-AA56-DBE520D5741B}" type="slidenum">
              <a:rPr lang="zh-CN" altLang="en-US" smtClean="0"/>
              <a:t>54</a:t>
            </a:fld>
            <a:endParaRPr lang="zh-CN" altLang="en-US"/>
          </a:p>
        </p:txBody>
      </p:sp>
    </p:spTree>
    <p:extLst>
      <p:ext uri="{BB962C8B-B14F-4D97-AF65-F5344CB8AC3E}">
        <p14:creationId xmlns:p14="http://schemas.microsoft.com/office/powerpoint/2010/main" val="16582456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D69907-E7E0-26DB-A4E8-6A4FA0D52731}"/>
              </a:ext>
            </a:extLst>
          </p:cNvPr>
          <p:cNvSpPr>
            <a:spLocks noGrp="1"/>
          </p:cNvSpPr>
          <p:nvPr>
            <p:ph type="title"/>
          </p:nvPr>
        </p:nvSpPr>
        <p:spPr/>
        <p:txBody>
          <a:bodyPr/>
          <a:lstStyle/>
          <a:p>
            <a:r>
              <a:rPr lang="en-US" altLang="zh-CN" dirty="0"/>
              <a:t>MTE </a:t>
            </a:r>
            <a:r>
              <a:rPr lang="zh-CN" altLang="en-US" dirty="0"/>
              <a:t>框架</a:t>
            </a:r>
            <a:r>
              <a:rPr lang="en-US" altLang="zh-CN" dirty="0"/>
              <a:t>(Marginal Treatment Effect Framework)</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DFFEB71-BE49-E4EE-7C39-90114A4F06D5}"/>
                  </a:ext>
                </a:extLst>
              </p:cNvPr>
              <p:cNvSpPr>
                <a:spLocks noGrp="1"/>
              </p:cNvSpPr>
              <p:nvPr>
                <p:ph idx="1"/>
              </p:nvPr>
            </p:nvSpPr>
            <p:spPr/>
            <p:txBody>
              <a:bodyPr>
                <a:normAutofit fontScale="62500" lnSpcReduction="20000"/>
              </a:bodyPr>
              <a:lstStyle/>
              <a:p>
                <a:pPr>
                  <a:lnSpc>
                    <a:spcPct val="120000"/>
                  </a:lnSpc>
                </a:pPr>
                <a:r>
                  <a:rPr lang="en-US" altLang="zh-CN" dirty="0"/>
                  <a:t>Heckman and </a:t>
                </a:r>
                <a:r>
                  <a:rPr lang="en-US" altLang="zh-CN" dirty="0" err="1"/>
                  <a:t>Vytlacil</a:t>
                </a:r>
                <a:r>
                  <a:rPr lang="en-US" altLang="zh-CN" dirty="0"/>
                  <a:t> (2005, 2007)</a:t>
                </a:r>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e>
                          </m:d>
                        </m:e>
                        <m:e>
                          <m:r>
                            <a:rPr lang="zh-CN" altLang="en-US" i="1" smtClean="0">
                              <a:latin typeface="Cambria Math" panose="02040503050406030204" pitchFamily="18" charset="0"/>
                            </a:rPr>
                            <m:t>𝐷</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𝟙</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𝐷</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≥0</m:t>
                              </m:r>
                            </m:e>
                          </m:d>
                          <m:r>
                            <a:rPr lang="zh-CN" altLang="en-US" i="1" smtClean="0">
                              <a:latin typeface="Cambria Math" panose="02040503050406030204" pitchFamily="18" charset="0"/>
                            </a:rPr>
                            <m:t>, </m:t>
                          </m:r>
                          <m:r>
                            <a:rPr lang="zh-CN" altLang="en-US" i="1" smtClean="0">
                              <a:latin typeface="Cambria Math" panose="02040503050406030204" pitchFamily="18" charset="0"/>
                            </a:rPr>
                            <m:t>𝑍</m:t>
                          </m:r>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0</m:t>
                                  </m:r>
                                </m:sub>
                              </m:sSub>
                            </m:e>
                          </m:d>
                        </m:e>
                      </m:eqArr>
                    </m:oMath>
                  </m:oMathPara>
                </a14:m>
                <a:endParaRPr lang="en-US" altLang="zh-CN" dirty="0"/>
              </a:p>
              <a:p>
                <a:pPr>
                  <a:lnSpc>
                    <a:spcPct val="120000"/>
                  </a:lnSpc>
                </a:pPr>
                <a:r>
                  <a:rPr lang="zh-CN" altLang="en-US" dirty="0"/>
                  <a:t>因为</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𝑃</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𝑧</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=1|</m:t>
                                  </m:r>
                                  <m:r>
                                    <a:rPr lang="zh-CN" altLang="en-US" i="1" smtClean="0">
                                      <a:latin typeface="Cambria Math" panose="02040503050406030204" pitchFamily="18" charset="0"/>
                                    </a:rPr>
                                    <m:t>𝑍</m:t>
                                  </m:r>
                                </m:e>
                              </m:d>
                            </m:e>
                          </m:func>
                          <m:r>
                            <a:rPr lang="zh-CN" altLang="en-US" i="1" smtClean="0">
                              <a:latin typeface="Cambria Math" panose="02040503050406030204" pitchFamily="18" charset="0"/>
                            </a:rPr>
                            <m:t>=</m:t>
                          </m:r>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𝐷</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𝑍</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𝐷</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𝑧</m:t>
                                  </m:r>
                                </m:e>
                              </m:d>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𝐹</m:t>
                              </m:r>
                            </m:e>
                            <m:sub>
                              <m:r>
                                <a:rPr lang="zh-CN" altLang="en-US" i="1" smtClean="0">
                                  <a:latin typeface="Cambria Math" panose="02040503050406030204" pitchFamily="18" charset="0"/>
                                </a:rPr>
                                <m:t>𝑈</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𝐷</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𝑧</m:t>
                                  </m:r>
                                </m:e>
                              </m:d>
                            </m:e>
                          </m:d>
                          <m:r>
                            <a:rPr lang="zh-CN" altLang="en-US" i="1" smtClean="0">
                              <a:latin typeface="Cambria Math" panose="02040503050406030204" pitchFamily="18" charset="0"/>
                            </a:rPr>
                            <m:t>.</m:t>
                          </m:r>
                        </m:e>
                      </m:eqArr>
                    </m:oMath>
                  </m:oMathPara>
                </a14:m>
                <a:endParaRPr lang="en-US" altLang="zh-CN" dirty="0"/>
              </a:p>
              <a:p>
                <a:pPr>
                  <a:lnSpc>
                    <a:spcPct val="120000"/>
                  </a:lnSpc>
                </a:pPr>
                <a:r>
                  <a:rPr lang="zh-CN" altLang="en-US" dirty="0"/>
                  <a:t>所以，可以将选择方程改写为</a:t>
                </a:r>
                <a:endParaRPr lang="en-US" altLang="zh-CN" dirty="0"/>
              </a:p>
              <a:p>
                <a:pPr marL="0" indent="0">
                  <a:lnSpc>
                    <a:spcPct val="120000"/>
                  </a:lnSpc>
                  <a:buNone/>
                </a:pPr>
                <a14:m>
                  <m:oMathPara xmlns:m="http://schemas.openxmlformats.org/officeDocument/2006/math">
                    <m:oMath>
                      <m:eqArr>
                        <m:eqArrPr>
                          <m:ctrlPr>
                            <a:rPr lang="zh-CN" altLang="en-US" i="1" dirty="0" smtClean="0">
                              <a:latin typeface="Cambria Math" panose="02040503050406030204" pitchFamily="18" charset="0"/>
                            </a:rPr>
                          </m:ctrlPr>
                        </m:eqArrPr>
                        <m:e>
                          <m:r>
                            <a:rPr lang="zh-CN" altLang="en-US" i="1" dirty="0">
                              <a:latin typeface="Cambria Math" panose="02040503050406030204" pitchFamily="18" charset="0"/>
                            </a:rPr>
                            <m:t>𝐷</m:t>
                          </m:r>
                          <m:r>
                            <m:rPr>
                              <m:aln/>
                            </m:rPr>
                            <a:rPr lang="zh-CN" altLang="en-US" i="0" dirty="0">
                              <a:latin typeface="Cambria Math" panose="02040503050406030204" pitchFamily="18" charset="0"/>
                            </a:rPr>
                            <m:t>&amp;</m:t>
                          </m:r>
                          <m:r>
                            <a:rPr lang="zh-CN" altLang="en-US" i="0" dirty="0">
                              <a:latin typeface="Cambria Math" panose="02040503050406030204" pitchFamily="18" charset="0"/>
                            </a:rPr>
                            <m:t>=</m:t>
                          </m:r>
                          <m:r>
                            <a:rPr lang="zh-CN" altLang="en-US" i="0" dirty="0">
                              <a:latin typeface="Cambria Math" panose="02040503050406030204" pitchFamily="18" charset="0"/>
                            </a:rPr>
                            <m:t>𝟙</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𝑈</m:t>
                              </m:r>
                              <m:r>
                                <a:rPr lang="zh-CN" altLang="en-US" i="0"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zh-CN" altLang="en-US" i="1" dirty="0">
                                      <a:latin typeface="Cambria Math" panose="02040503050406030204" pitchFamily="18" charset="0"/>
                                    </a:rPr>
                                    <m:t>𝐷</m:t>
                                  </m:r>
                                </m:sub>
                              </m:sSub>
                              <m:d>
                                <m:dPr>
                                  <m:ctrlPr>
                                    <a:rPr lang="zh-CN" altLang="en-US" i="1" dirty="0">
                                      <a:latin typeface="Cambria Math" panose="02040503050406030204" pitchFamily="18" charset="0"/>
                                    </a:rPr>
                                  </m:ctrlPr>
                                </m:dPr>
                                <m:e>
                                  <m:r>
                                    <a:rPr lang="zh-CN" altLang="en-US" i="1" dirty="0">
                                      <a:latin typeface="Cambria Math" panose="02040503050406030204" pitchFamily="18" charset="0"/>
                                    </a:rPr>
                                    <m:t>𝑍</m:t>
                                  </m:r>
                                </m:e>
                              </m:d>
                            </m:e>
                          </m:d>
                          <m:r>
                            <a:rPr lang="zh-CN" altLang="en-US" i="0" dirty="0">
                              <a:latin typeface="Cambria Math" panose="02040503050406030204" pitchFamily="18" charset="0"/>
                            </a:rPr>
                            <m:t>=</m:t>
                          </m:r>
                          <m:r>
                            <a:rPr lang="zh-CN" altLang="en-US" i="0" dirty="0">
                              <a:latin typeface="Cambria Math" panose="02040503050406030204" pitchFamily="18" charset="0"/>
                            </a:rPr>
                            <m:t>𝟙</m:t>
                          </m:r>
                          <m:d>
                            <m:dPr>
                              <m:begChr m:val="["/>
                              <m:endChr m:val="]"/>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𝐹</m:t>
                                  </m:r>
                                </m:e>
                                <m:sub>
                                  <m:r>
                                    <a:rPr lang="zh-CN" altLang="en-US" i="1" dirty="0">
                                      <a:latin typeface="Cambria Math" panose="02040503050406030204" pitchFamily="18" charset="0"/>
                                    </a:rPr>
                                    <m:t>𝑈</m:t>
                                  </m:r>
                                </m:sub>
                              </m:sSub>
                              <m:d>
                                <m:dPr>
                                  <m:ctrlPr>
                                    <a:rPr lang="zh-CN" altLang="en-US" i="1" dirty="0">
                                      <a:latin typeface="Cambria Math" panose="02040503050406030204" pitchFamily="18" charset="0"/>
                                    </a:rPr>
                                  </m:ctrlPr>
                                </m:dPr>
                                <m:e>
                                  <m:r>
                                    <a:rPr lang="zh-CN" altLang="en-US" i="1" dirty="0">
                                      <a:latin typeface="Cambria Math" panose="02040503050406030204" pitchFamily="18" charset="0"/>
                                    </a:rPr>
                                    <m:t>𝑈</m:t>
                                  </m:r>
                                </m:e>
                              </m:d>
                              <m:r>
                                <a:rPr lang="zh-CN" altLang="en-US" i="0"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𝐹</m:t>
                                  </m:r>
                                </m:e>
                                <m:sub>
                                  <m:r>
                                    <a:rPr lang="zh-CN" altLang="en-US" i="1" dirty="0">
                                      <a:latin typeface="Cambria Math" panose="02040503050406030204" pitchFamily="18" charset="0"/>
                                    </a:rPr>
                                    <m:t>𝑈</m:t>
                                  </m:r>
                                </m:sub>
                              </m:sSub>
                              <m:d>
                                <m:dPr>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zh-CN" altLang="en-US" i="1" dirty="0">
                                          <a:latin typeface="Cambria Math" panose="02040503050406030204" pitchFamily="18" charset="0"/>
                                        </a:rPr>
                                        <m:t>𝐷</m:t>
                                      </m:r>
                                    </m:sub>
                                  </m:sSub>
                                  <m:d>
                                    <m:dPr>
                                      <m:ctrlPr>
                                        <a:rPr lang="zh-CN" altLang="en-US" i="1" dirty="0">
                                          <a:latin typeface="Cambria Math" panose="02040503050406030204" pitchFamily="18" charset="0"/>
                                        </a:rPr>
                                      </m:ctrlPr>
                                    </m:dPr>
                                    <m:e>
                                      <m:r>
                                        <a:rPr lang="zh-CN" altLang="en-US" i="1" dirty="0">
                                          <a:latin typeface="Cambria Math" panose="02040503050406030204" pitchFamily="18" charset="0"/>
                                        </a:rPr>
                                        <m:t>𝑍</m:t>
                                      </m:r>
                                    </m:e>
                                  </m:d>
                                </m:e>
                              </m:d>
                            </m:e>
                          </m:d>
                        </m:e>
                        <m:e>
                          <m:r>
                            <m:rPr>
                              <m:aln/>
                            </m:rPr>
                            <a:rPr lang="zh-CN" altLang="en-US" i="0" dirty="0">
                              <a:latin typeface="Cambria Math" panose="02040503050406030204" pitchFamily="18" charset="0"/>
                            </a:rPr>
                            <m:t>&amp;</m:t>
                          </m:r>
                          <m:r>
                            <a:rPr lang="zh-CN" altLang="en-US" i="0" dirty="0">
                              <a:latin typeface="Cambria Math" panose="02040503050406030204" pitchFamily="18" charset="0"/>
                            </a:rPr>
                            <m:t>=</m:t>
                          </m:r>
                          <m:r>
                            <a:rPr lang="zh-CN" altLang="en-US" i="0" dirty="0">
                              <a:latin typeface="Cambria Math" panose="02040503050406030204" pitchFamily="18" charset="0"/>
                            </a:rPr>
                            <m:t>𝟙</m:t>
                          </m:r>
                          <m:d>
                            <m:dPr>
                              <m:begChr m:val="["/>
                              <m:endChr m:val="]"/>
                              <m:ctrlPr>
                                <a:rPr lang="zh-CN" altLang="en-US" i="1" dirty="0">
                                  <a:latin typeface="Cambria Math" panose="02040503050406030204" pitchFamily="18" charset="0"/>
                                </a:rPr>
                              </m:ctrlPr>
                            </m:dPr>
                            <m:e>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𝑈</m:t>
                                  </m:r>
                                </m:e>
                              </m:acc>
                              <m:r>
                                <a:rPr lang="zh-CN" altLang="en-US" i="0" dirty="0">
                                  <a:latin typeface="Cambria Math" panose="02040503050406030204" pitchFamily="18" charset="0"/>
                                </a:rPr>
                                <m:t>≤</m:t>
                              </m:r>
                              <m:r>
                                <a:rPr lang="zh-CN" altLang="en-US" i="1" dirty="0">
                                  <a:latin typeface="Cambria Math" panose="02040503050406030204" pitchFamily="18" charset="0"/>
                                </a:rPr>
                                <m:t>𝑃</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𝑍</m:t>
                                  </m:r>
                                </m:e>
                              </m:d>
                            </m:e>
                          </m:d>
                        </m:e>
                      </m:eqArr>
                    </m:oMath>
                  </m:oMathPara>
                </a14:m>
                <a:endParaRPr lang="en-US" altLang="zh-CN" dirty="0"/>
              </a:p>
              <a:p>
                <a:pPr>
                  <a:lnSpc>
                    <a:spcPct val="120000"/>
                  </a:lnSpc>
                </a:pPr>
                <a:r>
                  <a:rPr lang="zh-CN" altLang="en-US" dirty="0"/>
                  <a:t>为简便，后文直接用 𝑈 表示标准化的 𝑈̃。</a:t>
                </a:r>
              </a:p>
            </p:txBody>
          </p:sp>
        </mc:Choice>
        <mc:Fallback xmlns="">
          <p:sp>
            <p:nvSpPr>
              <p:cNvPr id="3" name="内容占位符 2">
                <a:extLst>
                  <a:ext uri="{FF2B5EF4-FFF2-40B4-BE49-F238E27FC236}">
                    <a16:creationId xmlns:a16="http://schemas.microsoft.com/office/drawing/2014/main" id="{6DFFEB71-BE49-E4EE-7C39-90114A4F06D5}"/>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ACE790F-15F8-FEEA-F182-D5278B536E8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C1188BE-078F-8CFA-413D-90A40E6879E7}"/>
              </a:ext>
            </a:extLst>
          </p:cNvPr>
          <p:cNvSpPr>
            <a:spLocks noGrp="1"/>
          </p:cNvSpPr>
          <p:nvPr>
            <p:ph type="sldNum" sz="quarter" idx="12"/>
          </p:nvPr>
        </p:nvSpPr>
        <p:spPr/>
        <p:txBody>
          <a:bodyPr/>
          <a:lstStyle/>
          <a:p>
            <a:fld id="{D41FC515-8169-4A29-AA56-DBE520D5741B}" type="slidenum">
              <a:rPr lang="zh-CN" altLang="en-US" smtClean="0"/>
              <a:t>55</a:t>
            </a:fld>
            <a:endParaRPr lang="zh-CN" altLang="en-US"/>
          </a:p>
        </p:txBody>
      </p:sp>
    </p:spTree>
    <p:extLst>
      <p:ext uri="{BB962C8B-B14F-4D97-AF65-F5344CB8AC3E}">
        <p14:creationId xmlns:p14="http://schemas.microsoft.com/office/powerpoint/2010/main" val="3555949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826505-1641-075C-AFF5-8D4B039AA722}"/>
              </a:ext>
            </a:extLst>
          </p:cNvPr>
          <p:cNvSpPr>
            <a:spLocks noGrp="1"/>
          </p:cNvSpPr>
          <p:nvPr>
            <p:ph type="title"/>
          </p:nvPr>
        </p:nvSpPr>
        <p:spPr/>
        <p:txBody>
          <a:bodyPr/>
          <a:lstStyle/>
          <a:p>
            <a:r>
              <a:rPr lang="en-US" altLang="zh-CN" dirty="0"/>
              <a:t>MTE </a:t>
            </a:r>
            <a:r>
              <a:rPr lang="zh-CN" altLang="en-US" dirty="0"/>
              <a:t>框架</a:t>
            </a:r>
            <a:r>
              <a:rPr lang="en-US" altLang="zh-CN" dirty="0"/>
              <a:t>(Marginal Treatment Effect Framework)</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AB7E060-1CF6-1825-FE6A-1C4E2A83108B}"/>
                  </a:ext>
                </a:extLst>
              </p:cNvPr>
              <p:cNvSpPr>
                <a:spLocks noGrp="1"/>
              </p:cNvSpPr>
              <p:nvPr>
                <p:ph idx="1"/>
              </p:nvPr>
            </p:nvSpPr>
            <p:spPr/>
            <p:txBody>
              <a:bodyPr>
                <a:normAutofit fontScale="62500" lnSpcReduction="20000"/>
              </a:bodyPr>
              <a:lstStyle/>
              <a:p>
                <a:pPr>
                  <a:lnSpc>
                    <a:spcPct val="120000"/>
                  </a:lnSpc>
                </a:pPr>
                <a:r>
                  <a:rPr lang="en-US" altLang="zh-CN" dirty="0"/>
                  <a:t>Marginal treatment effect (MTE)</a:t>
                </a:r>
                <a:r>
                  <a:rPr lang="zh-CN" altLang="en-US" dirty="0"/>
                  <a:t>：根据个体的参与成本定义边际平均因果效应（这里省略𝑋）</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𝑀𝑇𝐸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𝑢</m:t>
                              </m:r>
                            </m:e>
                          </m:d>
                        </m:e>
                      </m:eqArr>
                    </m:oMath>
                  </m:oMathPara>
                </a14:m>
                <a:endParaRPr lang="en-US" altLang="zh-CN" dirty="0"/>
              </a:p>
              <a:p>
                <a:pPr>
                  <a:lnSpc>
                    <a:spcPct val="120000"/>
                  </a:lnSpc>
                </a:pPr>
                <a:r>
                  <a:rPr lang="zh-CN" altLang="en-US" dirty="0"/>
                  <a:t>边际因果效应可以理解为𝑝</a:t>
                </a:r>
                <a:r>
                  <a:rPr lang="en-US" altLang="zh-CN" dirty="0"/>
                  <a:t>(</a:t>
                </a:r>
                <a:r>
                  <a:rPr lang="zh-CN" altLang="en-US" dirty="0"/>
                  <a:t>𝑍</a:t>
                </a:r>
                <a:r>
                  <a:rPr lang="en-US" altLang="zh-CN" dirty="0"/>
                  <a:t>) = </a:t>
                </a:r>
                <a:r>
                  <a:rPr lang="zh-CN" altLang="en-US" dirty="0"/>
                  <a:t>𝑢 时人群的平均因果效应。</a:t>
                </a:r>
                <a:endParaRPr lang="en-US" altLang="zh-CN" dirty="0"/>
              </a:p>
              <a:p>
                <a:pPr>
                  <a:lnSpc>
                    <a:spcPct val="120000"/>
                  </a:lnSpc>
                </a:pPr>
                <a:r>
                  <a:rPr lang="zh-CN" altLang="en-US" dirty="0"/>
                  <a:t>𝑀𝑇 𝐸</a:t>
                </a:r>
                <a:r>
                  <a:rPr lang="en-US" altLang="zh-CN" dirty="0"/>
                  <a:t>(</a:t>
                </a:r>
                <a:r>
                  <a:rPr lang="zh-CN" altLang="en-US" dirty="0"/>
                  <a:t>𝑢</a:t>
                </a:r>
                <a:r>
                  <a:rPr lang="en-US" altLang="zh-CN" dirty="0"/>
                  <a:t>) </a:t>
                </a:r>
                <a:r>
                  <a:rPr lang="zh-CN" altLang="en-US" dirty="0"/>
                  <a:t>是第一阶段未观测因素为𝑢 的个体的</a:t>
                </a:r>
                <a:r>
                  <a:rPr lang="en-US" altLang="zh-CN" dirty="0"/>
                  <a:t>ATE</a:t>
                </a:r>
                <a:r>
                  <a:rPr lang="zh-CN" altLang="en-US" dirty="0"/>
                  <a:t>，𝑢 通常可以理解为决定选择的成本</a:t>
                </a:r>
                <a:r>
                  <a:rPr lang="en-US" altLang="zh-CN" dirty="0"/>
                  <a:t>(</a:t>
                </a:r>
                <a:r>
                  <a:rPr lang="en-US" altLang="zh-CN" dirty="0" err="1"/>
                  <a:t>resistence</a:t>
                </a:r>
                <a:r>
                  <a:rPr lang="en-US" altLang="zh-CN" dirty="0"/>
                  <a:t>/distaste)</a:t>
                </a:r>
              </a:p>
              <a:p>
                <a:pPr lvl="1">
                  <a:lnSpc>
                    <a:spcPct val="120000"/>
                  </a:lnSpc>
                </a:pPr>
                <a:r>
                  <a:rPr lang="zh-CN" altLang="en-US" dirty="0"/>
                  <a:t>𝑢 越小（接近</a:t>
                </a:r>
                <a:r>
                  <a:rPr lang="en-US" altLang="zh-CN" dirty="0"/>
                  <a:t>0</a:t>
                </a:r>
                <a:r>
                  <a:rPr lang="zh-CN" altLang="en-US" dirty="0"/>
                  <a:t>），越有可能选择𝐷 </a:t>
                </a:r>
                <a:r>
                  <a:rPr lang="en-US" altLang="zh-CN" dirty="0"/>
                  <a:t>= 1</a:t>
                </a:r>
                <a:r>
                  <a:rPr lang="zh-CN" altLang="en-US" dirty="0"/>
                  <a:t>，𝑢 越大（接近</a:t>
                </a:r>
                <a:r>
                  <a:rPr lang="en-US" altLang="zh-CN" dirty="0"/>
                  <a:t>1</a:t>
                </a:r>
                <a:r>
                  <a:rPr lang="zh-CN" altLang="en-US" dirty="0"/>
                  <a:t>），越有可能选择𝐷 </a:t>
                </a:r>
                <a:r>
                  <a:rPr lang="en-US" altLang="zh-CN" dirty="0"/>
                  <a:t>= 0.</a:t>
                </a:r>
              </a:p>
              <a:p>
                <a:pPr lvl="1">
                  <a:lnSpc>
                    <a:spcPct val="120000"/>
                  </a:lnSpc>
                </a:pPr>
                <a:r>
                  <a:rPr lang="en-US" altLang="zh-CN" dirty="0"/>
                  <a:t>MTE </a:t>
                </a:r>
                <a:r>
                  <a:rPr lang="zh-CN" altLang="en-US" dirty="0"/>
                  <a:t>不是常数时，说明边际因果效应随𝑢 而变化，存在未观测异质性。</a:t>
                </a:r>
                <a:endParaRPr lang="en-US" altLang="zh-CN" dirty="0"/>
              </a:p>
              <a:p>
                <a:pPr>
                  <a:lnSpc>
                    <a:spcPct val="120000"/>
                  </a:lnSpc>
                </a:pPr>
                <a:r>
                  <a:rPr lang="en-US" altLang="zh-CN" dirty="0"/>
                  <a:t>MTE </a:t>
                </a:r>
                <a:r>
                  <a:rPr lang="zh-CN" altLang="en-US" dirty="0"/>
                  <a:t>的点识别</a:t>
                </a:r>
                <a:endParaRPr lang="en-US" altLang="zh-CN" dirty="0"/>
              </a:p>
              <a:p>
                <a:pPr lvl="1">
                  <a:lnSpc>
                    <a:spcPct val="120000"/>
                  </a:lnSpc>
                </a:pPr>
                <a:r>
                  <a:rPr lang="zh-CN" altLang="en-US" dirty="0"/>
                  <a:t>对于𝑢 ∈ 𝑠𝑢𝑝𝑝𝑝</a:t>
                </a:r>
                <a:r>
                  <a:rPr lang="en-US" altLang="zh-CN" dirty="0"/>
                  <a:t>(</a:t>
                </a:r>
                <a:r>
                  <a:rPr lang="zh-CN" altLang="en-US" dirty="0"/>
                  <a:t>𝑍</a:t>
                </a:r>
                <a:r>
                  <a:rPr lang="en-US" altLang="zh-CN" dirty="0"/>
                  <a:t>)</a:t>
                </a:r>
                <a:r>
                  <a:rPr lang="zh-CN" altLang="en-US" dirty="0"/>
                  <a:t>，</a:t>
                </a:r>
                <a:r>
                  <a:rPr lang="en-US" altLang="zh-CN" dirty="0"/>
                  <a:t>MTE </a:t>
                </a:r>
                <a:r>
                  <a:rPr lang="zh-CN" altLang="en-US" dirty="0"/>
                  <a:t>可以点识别</a:t>
                </a:r>
                <a:endParaRPr lang="en-US" altLang="zh-CN" dirty="0"/>
              </a:p>
              <a:p>
                <a:pPr marL="457200" lvl="1" indent="0">
                  <a:lnSpc>
                    <a:spcPct val="120000"/>
                  </a:lnSpc>
                  <a:buNone/>
                </a:pPr>
                <a14:m>
                  <m:oMathPara xmlns:m="http://schemas.openxmlformats.org/officeDocument/2006/math">
                    <m:oMath>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m:t>
                          </m:r>
                        </m:num>
                        <m:den>
                          <m:r>
                            <a:rPr lang="en-US" altLang="zh-CN" i="1" smtClean="0">
                              <a:latin typeface="Cambria Math" panose="02040503050406030204" pitchFamily="18" charset="0"/>
                            </a:rPr>
                            <m:t>𝜕</m:t>
                          </m:r>
                          <m:r>
                            <a:rPr lang="en-US" altLang="zh-CN" i="1" smtClean="0">
                              <a:latin typeface="Cambria Math" panose="02040503050406030204" pitchFamily="18" charset="0"/>
                            </a:rPr>
                            <m:t>𝑢</m:t>
                          </m:r>
                        </m:den>
                      </m:f>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𝑌</m:t>
                          </m:r>
                          <m:r>
                            <a:rPr lang="en-US" altLang="zh-CN" i="1" smtClean="0">
                              <a:latin typeface="Cambria Math" panose="02040503050406030204" pitchFamily="18" charset="0"/>
                            </a:rPr>
                            <m:t>|</m:t>
                          </m:r>
                          <m:r>
                            <a:rPr lang="en-US" altLang="zh-CN" i="1" smtClean="0">
                              <a:latin typeface="Cambria Math" panose="02040503050406030204" pitchFamily="18" charset="0"/>
                            </a:rPr>
                            <m:t>𝑝</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𝑍</m:t>
                              </m:r>
                            </m:e>
                          </m:d>
                          <m:r>
                            <a:rPr lang="en-US" altLang="zh-CN" i="1" smtClean="0">
                              <a:latin typeface="Cambria Math" panose="02040503050406030204" pitchFamily="18" charset="0"/>
                            </a:rPr>
                            <m:t>=</m:t>
                          </m:r>
                          <m:r>
                            <a:rPr lang="en-US" altLang="zh-CN" i="1" smtClean="0">
                              <a:latin typeface="Cambria Math" panose="02040503050406030204" pitchFamily="18" charset="0"/>
                            </a:rPr>
                            <m:t>𝑢</m:t>
                          </m:r>
                        </m:e>
                      </m:d>
                      <m:r>
                        <a:rPr lang="en-US" altLang="zh-CN" i="1" smtClean="0">
                          <a:latin typeface="Cambria Math" panose="02040503050406030204" pitchFamily="18" charset="0"/>
                        </a:rPr>
                        <m:t>=</m:t>
                      </m:r>
                      <m:r>
                        <a:rPr lang="en-US" altLang="zh-CN" i="1" smtClean="0">
                          <a:latin typeface="Cambria Math" panose="02040503050406030204" pitchFamily="18" charset="0"/>
                        </a:rPr>
                        <m:t>𝑀𝑇𝐸</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𝑢</m:t>
                          </m:r>
                        </m:e>
                      </m:d>
                    </m:oMath>
                  </m:oMathPara>
                </a14:m>
                <a:endParaRPr lang="en-US" altLang="zh-CN" dirty="0"/>
              </a:p>
              <a:p>
                <a:pPr lvl="1">
                  <a:lnSpc>
                    <a:spcPct val="120000"/>
                  </a:lnSpc>
                </a:pPr>
                <a:r>
                  <a:rPr lang="zh-CN" altLang="en-US" b="1" dirty="0"/>
                  <a:t>要求工具𝑍 是连续分布，</a:t>
                </a:r>
                <a:r>
                  <a:rPr lang="zh-CN" altLang="en-US" dirty="0"/>
                  <a:t>上述估计量称为局部</a:t>
                </a:r>
                <a:r>
                  <a:rPr lang="en-US" altLang="zh-CN" dirty="0"/>
                  <a:t>IV </a:t>
                </a:r>
                <a:r>
                  <a:rPr lang="zh-CN" altLang="en-US" dirty="0"/>
                  <a:t>估计</a:t>
                </a:r>
                <a:r>
                  <a:rPr lang="en-US" altLang="zh-CN" dirty="0"/>
                  <a:t>(local IV </a:t>
                </a:r>
                <a:r>
                  <a:rPr lang="en-US" altLang="zh-CN" dirty="0" err="1"/>
                  <a:t>estimand</a:t>
                </a:r>
                <a:r>
                  <a:rPr lang="en-US" altLang="zh-CN" dirty="0"/>
                  <a:t>)</a:t>
                </a:r>
                <a:r>
                  <a:rPr lang="zh-CN" altLang="en-US" dirty="0"/>
                  <a:t>。</a:t>
                </a:r>
              </a:p>
            </p:txBody>
          </p:sp>
        </mc:Choice>
        <mc:Fallback xmlns="">
          <p:sp>
            <p:nvSpPr>
              <p:cNvPr id="3" name="内容占位符 2">
                <a:extLst>
                  <a:ext uri="{FF2B5EF4-FFF2-40B4-BE49-F238E27FC236}">
                    <a16:creationId xmlns:a16="http://schemas.microsoft.com/office/drawing/2014/main" id="{4AB7E060-1CF6-1825-FE6A-1C4E2A83108B}"/>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A407C9D-6E2E-0978-4407-9CEEEBDD296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EC842D0-377D-371A-4907-C3DF4B9A3D6B}"/>
              </a:ext>
            </a:extLst>
          </p:cNvPr>
          <p:cNvSpPr>
            <a:spLocks noGrp="1"/>
          </p:cNvSpPr>
          <p:nvPr>
            <p:ph type="sldNum" sz="quarter" idx="12"/>
          </p:nvPr>
        </p:nvSpPr>
        <p:spPr/>
        <p:txBody>
          <a:bodyPr/>
          <a:lstStyle/>
          <a:p>
            <a:fld id="{D41FC515-8169-4A29-AA56-DBE520D5741B}" type="slidenum">
              <a:rPr lang="zh-CN" altLang="en-US" smtClean="0"/>
              <a:t>56</a:t>
            </a:fld>
            <a:endParaRPr lang="zh-CN" altLang="en-US"/>
          </a:p>
        </p:txBody>
      </p:sp>
    </p:spTree>
    <p:extLst>
      <p:ext uri="{BB962C8B-B14F-4D97-AF65-F5344CB8AC3E}">
        <p14:creationId xmlns:p14="http://schemas.microsoft.com/office/powerpoint/2010/main" val="30698523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5CC0D-2B25-11A8-2EC3-47B878A89075}"/>
              </a:ext>
            </a:extLst>
          </p:cNvPr>
          <p:cNvSpPr>
            <a:spLocks noGrp="1"/>
          </p:cNvSpPr>
          <p:nvPr>
            <p:ph type="title"/>
          </p:nvPr>
        </p:nvSpPr>
        <p:spPr/>
        <p:txBody>
          <a:bodyPr/>
          <a:lstStyle/>
          <a:p>
            <a:r>
              <a:rPr lang="en-US" altLang="zh-CN" dirty="0"/>
              <a:t>MTE </a:t>
            </a:r>
            <a:r>
              <a:rPr lang="zh-CN" altLang="en-US" dirty="0"/>
              <a:t>框架</a:t>
            </a:r>
            <a:r>
              <a:rPr lang="en-US" altLang="zh-CN" dirty="0"/>
              <a:t>(Marginal Treatment Effect Framework)</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93A8F0-F2A6-164E-2AC8-C2FF2FA49145}"/>
                  </a:ext>
                </a:extLst>
              </p:cNvPr>
              <p:cNvSpPr>
                <a:spLocks noGrp="1"/>
              </p:cNvSpPr>
              <p:nvPr>
                <p:ph idx="1"/>
              </p:nvPr>
            </p:nvSpPr>
            <p:spPr/>
            <p:txBody>
              <a:bodyPr>
                <a:normAutofit fontScale="55000" lnSpcReduction="20000"/>
              </a:bodyPr>
              <a:lstStyle/>
              <a:p>
                <a:pPr>
                  <a:lnSpc>
                    <a:spcPct val="120000"/>
                  </a:lnSpc>
                </a:pPr>
                <a:r>
                  <a:rPr lang="en-US" altLang="zh-CN" dirty="0"/>
                  <a:t>MTE </a:t>
                </a:r>
                <a:r>
                  <a:rPr lang="zh-CN" altLang="en-US" dirty="0"/>
                  <a:t>可以点识别</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𝑀𝑇𝐸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𝑢</m:t>
                          </m:r>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m:t>
                          </m:r>
                        </m:num>
                        <m:den>
                          <m:r>
                            <a:rPr lang="zh-CN" altLang="en-US" i="1" smtClean="0">
                              <a:latin typeface="Cambria Math" panose="02040503050406030204" pitchFamily="18" charset="0"/>
                            </a:rPr>
                            <m:t>𝜕</m:t>
                          </m:r>
                          <m:r>
                            <a:rPr lang="zh-CN" altLang="en-US" i="1" smtClean="0">
                              <a:latin typeface="Cambria Math" panose="02040503050406030204" pitchFamily="18" charset="0"/>
                            </a:rPr>
                            <m:t>𝑢</m:t>
                          </m:r>
                        </m:den>
                      </m:f>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e>
                      </m:d>
                    </m:oMath>
                  </m:oMathPara>
                </a14:m>
                <a:endParaRPr lang="en-US" altLang="zh-CN" dirty="0"/>
              </a:p>
              <a:p>
                <a:pPr>
                  <a:lnSpc>
                    <a:spcPct val="120000"/>
                  </a:lnSpc>
                </a:pPr>
                <a:r>
                  <a:rPr lang="zh-CN" altLang="en-US" dirty="0"/>
                  <a:t>证明：</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r>
                                    <a:rPr lang="zh-CN" altLang="en-US" i="1" smtClean="0">
                                      <a:latin typeface="Cambria Math" panose="02040503050406030204" pitchFamily="18" charset="0"/>
                                    </a:rPr>
                                    <m:t>𝐷</m:t>
                                  </m:r>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=1|</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=0|</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𝑢</m:t>
                              </m:r>
                            </m:e>
                          </m:d>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𝑢</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&gt;</m:t>
                              </m:r>
                              <m:r>
                                <a:rPr lang="zh-CN" altLang="en-US" i="1" smtClean="0">
                                  <a:latin typeface="Cambria Math" panose="02040503050406030204" pitchFamily="18" charset="0"/>
                                </a:rPr>
                                <m:t>𝑢</m:t>
                              </m:r>
                            </m:e>
                          </m:d>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r>
                                <a:rPr lang="zh-CN" altLang="en-US" i="1" smtClean="0">
                                  <a:latin typeface="Cambria Math" panose="02040503050406030204" pitchFamily="18" charset="0"/>
                                </a:rPr>
                                <m:t>&gt;</m:t>
                              </m:r>
                              <m:r>
                                <a:rPr lang="zh-CN" altLang="en-US" i="1" smtClean="0">
                                  <a:latin typeface="Cambria Math" panose="02040503050406030204" pitchFamily="18" charset="0"/>
                                </a:rPr>
                                <m:t>𝑢</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𝑢</m:t>
                              </m:r>
                            </m:e>
                          </m:d>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&gt;</m:t>
                              </m:r>
                              <m:r>
                                <a:rPr lang="zh-CN" altLang="en-US" i="1" smtClean="0">
                                  <a:latin typeface="Cambria Math" panose="02040503050406030204" pitchFamily="18" charset="0"/>
                                </a:rPr>
                                <m:t>𝑢</m:t>
                              </m:r>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r>
                                <a:rPr lang="zh-CN" altLang="en-US" i="1" smtClean="0">
                                  <a:latin typeface="Cambria Math" panose="02040503050406030204" pitchFamily="18" charset="0"/>
                                </a:rPr>
                                <m:t>𝑢</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𝑢</m:t>
                              </m:r>
                            </m:sup>
                            <m:e>
                              <m:r>
                                <a:rPr lang="zh-CN" altLang="en-US" i="1" smtClean="0">
                                  <a:latin typeface="Cambria Math" panose="02040503050406030204" pitchFamily="18" charset="0"/>
                                </a:rPr>
                                <m:t>𝐸</m:t>
                              </m:r>
                            </m:e>
                          </m:nary>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a:rPr lang="zh-CN" altLang="en-US" i="1" smtClean="0">
                              <a:latin typeface="Cambria Math" panose="02040503050406030204" pitchFamily="18" charset="0"/>
                            </a:rPr>
                            <m:t>𝑑𝑡</m:t>
                          </m:r>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𝑢</m:t>
                              </m:r>
                            </m:sub>
                            <m:sup>
                              <m:r>
                                <a:rPr lang="zh-CN" altLang="en-US" i="1" smtClean="0">
                                  <a:latin typeface="Cambria Math" panose="02040503050406030204" pitchFamily="18" charset="0"/>
                                </a:rPr>
                                <m:t>1</m:t>
                              </m:r>
                            </m:sup>
                            <m:e>
                              <m:r>
                                <a:rPr lang="zh-CN" altLang="en-US" i="1" smtClean="0">
                                  <a:latin typeface="Cambria Math" panose="02040503050406030204" pitchFamily="18" charset="0"/>
                                </a:rPr>
                                <m:t>𝐸</m:t>
                              </m:r>
                            </m:e>
                          </m:nary>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a:rPr lang="zh-CN" altLang="en-US" i="1" smtClean="0">
                              <a:latin typeface="Cambria Math" panose="02040503050406030204" pitchFamily="18" charset="0"/>
                            </a:rPr>
                            <m:t>𝑑𝑡</m:t>
                          </m:r>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1</m:t>
                              </m:r>
                            </m:sup>
                            <m:e>
                              <m:r>
                                <a:rPr lang="zh-CN" altLang="en-US" i="1" smtClean="0">
                                  <a:latin typeface="Cambria Math" panose="02040503050406030204" pitchFamily="18" charset="0"/>
                                </a:rPr>
                                <m:t>𝐸</m:t>
                              </m:r>
                            </m:e>
                          </m:nary>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a:rPr lang="zh-CN" altLang="en-US" i="1" smtClean="0">
                              <a:latin typeface="Cambria Math" panose="02040503050406030204" pitchFamily="18" charset="0"/>
                            </a:rPr>
                            <m:t>𝑑𝑡</m:t>
                          </m:r>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𝑢</m:t>
                              </m:r>
                            </m:sup>
                            <m:e>
                              <m:r>
                                <a:rPr lang="zh-CN" altLang="en-US" i="1" smtClean="0">
                                  <a:latin typeface="Cambria Math" panose="02040503050406030204" pitchFamily="18" charset="0"/>
                                </a:rPr>
                                <m:t>𝑀</m:t>
                              </m:r>
                            </m:e>
                          </m:nary>
                          <m:r>
                            <a:rPr lang="zh-CN" altLang="en-US" i="1" smtClean="0">
                              <a:latin typeface="Cambria Math" panose="02040503050406030204" pitchFamily="18" charset="0"/>
                            </a:rPr>
                            <m:t>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𝑡</m:t>
                              </m:r>
                            </m:e>
                          </m:d>
                          <m:r>
                            <a:rPr lang="zh-CN" altLang="en-US" i="1" smtClean="0">
                              <a:latin typeface="Cambria Math" panose="02040503050406030204" pitchFamily="18" charset="0"/>
                            </a:rPr>
                            <m:t>𝑑𝑡</m:t>
                          </m:r>
                          <m:r>
                            <a:rPr lang="zh-CN" altLang="en-US" i="1" smtClean="0">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3693A8F0-F2A6-164E-2AC8-C2FF2FA49145}"/>
                  </a:ext>
                </a:extLst>
              </p:cNvPr>
              <p:cNvSpPr>
                <a:spLocks noGrp="1" noRot="1" noChangeAspect="1" noMove="1" noResize="1" noEditPoints="1" noAdjustHandles="1" noChangeArrowheads="1" noChangeShapeType="1" noTextEdit="1"/>
              </p:cNvSpPr>
              <p:nvPr>
                <p:ph idx="1"/>
              </p:nvPr>
            </p:nvSpPr>
            <p:spPr>
              <a:blipFill>
                <a:blip r:embed="rId2"/>
                <a:stretch>
                  <a:fillRect l="-232" t="-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B080715-7DA0-C239-566C-EEB18A02025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F289861-DDD1-EB37-91CF-EEDE63630D67}"/>
              </a:ext>
            </a:extLst>
          </p:cNvPr>
          <p:cNvSpPr>
            <a:spLocks noGrp="1"/>
          </p:cNvSpPr>
          <p:nvPr>
            <p:ph type="sldNum" sz="quarter" idx="12"/>
          </p:nvPr>
        </p:nvSpPr>
        <p:spPr/>
        <p:txBody>
          <a:bodyPr/>
          <a:lstStyle/>
          <a:p>
            <a:fld id="{D41FC515-8169-4A29-AA56-DBE520D5741B}" type="slidenum">
              <a:rPr lang="zh-CN" altLang="en-US" smtClean="0"/>
              <a:t>57</a:t>
            </a:fld>
            <a:endParaRPr lang="zh-CN" altLang="en-US"/>
          </a:p>
        </p:txBody>
      </p:sp>
    </p:spTree>
    <p:extLst>
      <p:ext uri="{BB962C8B-B14F-4D97-AF65-F5344CB8AC3E}">
        <p14:creationId xmlns:p14="http://schemas.microsoft.com/office/powerpoint/2010/main" val="20135051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2B2FEF-03A6-0F5F-C5E9-9C968B22060E}"/>
              </a:ext>
            </a:extLst>
          </p:cNvPr>
          <p:cNvSpPr>
            <a:spLocks noGrp="1"/>
          </p:cNvSpPr>
          <p:nvPr>
            <p:ph type="title"/>
          </p:nvPr>
        </p:nvSpPr>
        <p:spPr/>
        <p:txBody>
          <a:bodyPr/>
          <a:lstStyle/>
          <a:p>
            <a:r>
              <a:rPr lang="en-US" altLang="zh-CN" dirty="0"/>
              <a:t>MTE </a:t>
            </a:r>
            <a:r>
              <a:rPr lang="zh-CN" altLang="en-US" dirty="0"/>
              <a:t>框架</a:t>
            </a:r>
            <a:r>
              <a:rPr lang="en-US" altLang="zh-CN" dirty="0"/>
              <a:t>(Marginal Treatment Effect Framework)</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34388E4-E135-F6B1-45BF-12858D573C40}"/>
                  </a:ext>
                </a:extLst>
              </p:cNvPr>
              <p:cNvSpPr>
                <a:spLocks noGrp="1"/>
              </p:cNvSpPr>
              <p:nvPr>
                <p:ph idx="1"/>
              </p:nvPr>
            </p:nvSpPr>
            <p:spPr/>
            <p:txBody>
              <a:bodyPr>
                <a:normAutofit fontScale="55000" lnSpcReduction="20000"/>
              </a:bodyPr>
              <a:lstStyle/>
              <a:p>
                <a:r>
                  <a:rPr lang="zh-CN" altLang="en-US" dirty="0"/>
                  <a:t>𝑈 是刻画异质性的唯一维度，很多统计量可以写成对</a:t>
                </a:r>
                <a:r>
                  <a:rPr lang="en-US" altLang="zh-CN" dirty="0"/>
                  <a:t>MTE </a:t>
                </a:r>
                <a:r>
                  <a:rPr lang="zh-CN" altLang="en-US" dirty="0"/>
                  <a:t>的加权平均</a:t>
                </a:r>
                <a:endParaRPr lang="en-US" altLang="zh-CN" dirty="0"/>
              </a:p>
              <a:p>
                <a:r>
                  <a:rPr lang="zh-CN" altLang="en-US" dirty="0"/>
                  <a:t>很多政策问题所代表的数据可以用</a:t>
                </a:r>
                <a:r>
                  <a:rPr lang="en-US" altLang="zh-CN" dirty="0"/>
                  <a:t>MTE </a:t>
                </a:r>
                <a:r>
                  <a:rPr lang="zh-CN" altLang="en-US" dirty="0"/>
                  <a:t>来构造</a:t>
                </a:r>
                <a:endParaRPr lang="en-US" altLang="zh-CN" dirty="0"/>
              </a:p>
              <a:p>
                <a:r>
                  <a:rPr lang="zh-CN" altLang="en-US" dirty="0"/>
                  <a:t>为外推提供工具</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𝐴𝑇𝐸</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e>
                              </m:d>
                            </m:e>
                          </m:d>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1</m:t>
                              </m:r>
                            </m:sup>
                            <m:e>
                              <m:r>
                                <a:rPr lang="zh-CN" altLang="en-US" i="1" smtClean="0">
                                  <a:latin typeface="Cambria Math" panose="02040503050406030204" pitchFamily="18" charset="0"/>
                                </a:rPr>
                                <m:t>𝑀</m:t>
                              </m:r>
                            </m:e>
                          </m:nary>
                          <m:r>
                            <a:rPr lang="zh-CN" altLang="en-US" i="1" smtClean="0">
                              <a:latin typeface="Cambria Math" panose="02040503050406030204" pitchFamily="18" charset="0"/>
                            </a:rPr>
                            <m:t>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r>
                            <a:rPr lang="zh-CN" altLang="en-US" i="1" smtClean="0">
                              <a:latin typeface="Cambria Math" panose="02040503050406030204" pitchFamily="18" charset="0"/>
                            </a:rPr>
                            <m:t>𝑑𝑢</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1</m:t>
                              </m:r>
                            </m:sup>
                            <m:e>
                              <m:r>
                                <a:rPr lang="zh-CN" altLang="en-US" i="1" smtClean="0">
                                  <a:latin typeface="Cambria Math" panose="02040503050406030204" pitchFamily="18" charset="0"/>
                                </a:rPr>
                                <m:t>𝑀</m:t>
                              </m:r>
                            </m:e>
                          </m:nary>
                          <m:r>
                            <a:rPr lang="zh-CN" altLang="en-US" i="1" smtClean="0">
                              <a:latin typeface="Cambria Math" panose="02040503050406030204" pitchFamily="18" charset="0"/>
                            </a:rPr>
                            <m:t>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f>
                            <m:fPr>
                              <m:ctrlPr>
                                <a:rPr lang="zh-CN" altLang="en-US" i="1" smtClean="0">
                                  <a:latin typeface="Cambria Math" panose="02040503050406030204" pitchFamily="18" charset="0"/>
                                </a:rPr>
                              </m:ctrlPr>
                            </m:fPr>
                            <m:num>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e>
                                  </m:d>
                                </m:e>
                              </m:func>
                            </m:num>
                            <m:den>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=1</m:t>
                                      </m:r>
                                    </m:e>
                                  </m:d>
                                </m:e>
                              </m:func>
                            </m:den>
                          </m:f>
                          <m:r>
                            <a:rPr lang="zh-CN" altLang="en-US" i="1" smtClean="0">
                              <a:latin typeface="Cambria Math" panose="02040503050406030204" pitchFamily="18" charset="0"/>
                            </a:rPr>
                            <m:t>𝑑𝑢</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𝐴𝑇𝐶</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1</m:t>
                              </m:r>
                            </m:sup>
                            <m:e>
                              <m:r>
                                <a:rPr lang="zh-CN" altLang="en-US" i="1" smtClean="0">
                                  <a:latin typeface="Cambria Math" panose="02040503050406030204" pitchFamily="18" charset="0"/>
                                </a:rPr>
                                <m:t>𝑀</m:t>
                              </m:r>
                            </m:e>
                          </m:nary>
                          <m:r>
                            <a:rPr lang="zh-CN" altLang="en-US" i="1" smtClean="0">
                              <a:latin typeface="Cambria Math" panose="02040503050406030204" pitchFamily="18" charset="0"/>
                            </a:rPr>
                            <m:t>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f>
                            <m:fPr>
                              <m:ctrlPr>
                                <a:rPr lang="zh-CN" altLang="en-US" i="1" smtClean="0">
                                  <a:latin typeface="Cambria Math" panose="02040503050406030204" pitchFamily="18" charset="0"/>
                                </a:rPr>
                              </m:ctrlPr>
                            </m:fPr>
                            <m:num>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&lt;</m:t>
                                      </m:r>
                                      <m:r>
                                        <a:rPr lang="zh-CN" altLang="en-US" i="1" smtClean="0">
                                          <a:latin typeface="Cambria Math" panose="02040503050406030204" pitchFamily="18" charset="0"/>
                                        </a:rPr>
                                        <m:t>𝑢</m:t>
                                      </m:r>
                                    </m:e>
                                  </m:d>
                                </m:e>
                              </m:func>
                            </m:num>
                            <m:den>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=0</m:t>
                                      </m:r>
                                    </m:e>
                                  </m:d>
                                </m:e>
                              </m:func>
                            </m:den>
                          </m:f>
                          <m:r>
                            <a:rPr lang="zh-CN" altLang="en-US" i="1" smtClean="0">
                              <a:latin typeface="Cambria Math" panose="02040503050406030204" pitchFamily="18" charset="0"/>
                            </a:rPr>
                            <m:t>𝑑𝑢</m:t>
                          </m:r>
                        </m:e>
                      </m:eqArr>
                    </m:oMath>
                  </m:oMathPara>
                </a14:m>
                <a:endParaRPr lang="en-US" altLang="zh-CN" dirty="0"/>
              </a:p>
              <a:p>
                <a:r>
                  <a:rPr lang="zh-CN" altLang="en-US" dirty="0"/>
                  <a:t>假设𝑝</a:t>
                </a:r>
                <a:r>
                  <a:rPr lang="en-US" altLang="zh-CN" dirty="0"/>
                  <a:t>(</a:t>
                </a:r>
                <a:r>
                  <a:rPr lang="zh-CN" altLang="en-US" dirty="0"/>
                  <a:t>𝑧</a:t>
                </a:r>
                <a:r>
                  <a:rPr lang="en-US" altLang="zh-CN" dirty="0"/>
                  <a:t>) &gt; </a:t>
                </a:r>
                <a:r>
                  <a:rPr lang="zh-CN" altLang="en-US" dirty="0"/>
                  <a:t>𝑝</a:t>
                </a:r>
                <a:r>
                  <a:rPr lang="en-US" altLang="zh-CN" dirty="0"/>
                  <a:t>(</a:t>
                </a:r>
                <a:r>
                  <a:rPr lang="zh-CN" altLang="en-US" dirty="0"/>
                  <a:t>𝑧</a:t>
                </a:r>
                <a:r>
                  <a:rPr lang="en-US" altLang="zh-CN" dirty="0"/>
                  <a:t>′)</a:t>
                </a:r>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𝐿𝐴𝑇</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𝐸</m:t>
                              </m:r>
                            </m:e>
                            <m:sub>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𝑧</m:t>
                                  </m:r>
                                </m:e>
                                <m:sup>
                                  <m:r>
                                    <a:rPr lang="zh-CN" altLang="en-US" i="1" smtClean="0">
                                      <a:latin typeface="Cambria Math" panose="02040503050406030204" pitchFamily="18" charset="0"/>
                                    </a:rPr>
                                    <m:t>′</m:t>
                                  </m:r>
                                </m:sup>
                              </m:sSup>
                            </m:sub>
                            <m:sup>
                              <m:r>
                                <a:rPr lang="zh-CN" altLang="en-US" i="1" smtClean="0">
                                  <a:latin typeface="Cambria Math" panose="02040503050406030204" pitchFamily="18" charset="0"/>
                                </a:rPr>
                                <m:t>𝑧</m:t>
                              </m:r>
                            </m:sup>
                          </m:sSubSup>
                        </m:sub>
                      </m:sSub>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1</m:t>
                          </m:r>
                        </m:sup>
                        <m:e>
                          <m:r>
                            <a:rPr lang="zh-CN" altLang="en-US" i="1" smtClean="0">
                              <a:latin typeface="Cambria Math" panose="02040503050406030204" pitchFamily="18" charset="0"/>
                            </a:rPr>
                            <m:t>𝑀</m:t>
                          </m:r>
                        </m:e>
                      </m:nary>
                      <m:r>
                        <a:rPr lang="zh-CN" altLang="en-US" i="1" smtClean="0">
                          <a:latin typeface="Cambria Math" panose="02040503050406030204" pitchFamily="18" charset="0"/>
                        </a:rPr>
                        <m:t>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𝟙</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𝑧</m:t>
                                  </m:r>
                                  <m:r>
                                    <a:rPr lang="zh-CN" altLang="en-US" i="1" smtClean="0">
                                      <a:latin typeface="Cambria Math" panose="02040503050406030204" pitchFamily="18" charset="0"/>
                                    </a:rPr>
                                    <m:t>′</m:t>
                                  </m:r>
                                </m:e>
                              </m:d>
                              <m:r>
                                <a:rPr lang="zh-CN" altLang="en-US" i="1" smtClean="0">
                                  <a:latin typeface="Cambria Math" panose="02040503050406030204" pitchFamily="18" charset="0"/>
                                </a:rPr>
                                <m:t>&lt;</m:t>
                              </m:r>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𝑧</m:t>
                                  </m:r>
                                </m:e>
                              </m:d>
                            </m:e>
                          </m:d>
                        </m:num>
                        <m:den>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𝑧</m:t>
                              </m:r>
                            </m:e>
                          </m:d>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𝑧</m:t>
                                  </m:r>
                                </m:e>
                                <m:sup>
                                  <m:r>
                                    <a:rPr lang="zh-CN" altLang="en-US" i="1" smtClean="0">
                                      <a:latin typeface="Cambria Math" panose="02040503050406030204" pitchFamily="18" charset="0"/>
                                    </a:rPr>
                                    <m:t>′</m:t>
                                  </m:r>
                                </m:sup>
                              </m:sSup>
                            </m:e>
                          </m:d>
                        </m:den>
                      </m:f>
                      <m:r>
                        <a:rPr lang="zh-CN" altLang="en-US" i="1" smtClean="0">
                          <a:latin typeface="Cambria Math" panose="02040503050406030204" pitchFamily="18" charset="0"/>
                        </a:rPr>
                        <m:t>𝑑𝑢</m:t>
                      </m:r>
                    </m:oMath>
                  </m:oMathPara>
                </a14:m>
                <a:endParaRPr lang="en-US" altLang="zh-CN" dirty="0"/>
              </a:p>
              <a:p>
                <a:r>
                  <a:rPr lang="zh-CN" altLang="en-US" dirty="0"/>
                  <a:t>并且</a:t>
                </a:r>
                <a:endParaRPr lang="en-US" altLang="zh-CN" dirty="0"/>
              </a:p>
              <a:p>
                <a:pPr marL="0" indent="0">
                  <a:buNone/>
                </a:pPr>
                <a14:m>
                  <m:oMathPara xmlns:m="http://schemas.openxmlformats.org/officeDocument/2006/math">
                    <m:oMath>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𝑧</m:t>
                                  </m:r>
                                </m:e>
                              </m:d>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𝑧</m:t>
                                      </m:r>
                                    </m:e>
                                    <m:sup>
                                      <m:r>
                                        <a:rPr lang="zh-CN" altLang="en-US" i="1" smtClean="0">
                                          <a:latin typeface="Cambria Math" panose="02040503050406030204" pitchFamily="18" charset="0"/>
                                        </a:rPr>
                                        <m:t>′</m:t>
                                      </m:r>
                                    </m:sup>
                                  </m:sSup>
                                </m:e>
                              </m:d>
                            </m:lim>
                          </m:limLow>
                        </m:fNa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𝐿𝐴𝑇</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𝐸</m:t>
                                  </m:r>
                                </m:e>
                                <m:sub>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𝑧</m:t>
                                      </m:r>
                                    </m:e>
                                    <m:sup>
                                      <m:r>
                                        <a:rPr lang="zh-CN" altLang="en-US" i="1" smtClean="0">
                                          <a:latin typeface="Cambria Math" panose="02040503050406030204" pitchFamily="18" charset="0"/>
                                        </a:rPr>
                                        <m:t>′</m:t>
                                      </m:r>
                                    </m:sup>
                                  </m:sSup>
                                </m:sub>
                                <m:sup>
                                  <m:r>
                                    <a:rPr lang="zh-CN" altLang="en-US" i="1" smtClean="0">
                                      <a:latin typeface="Cambria Math" panose="02040503050406030204" pitchFamily="18" charset="0"/>
                                    </a:rPr>
                                    <m:t>𝑧</m:t>
                                  </m:r>
                                </m:sup>
                              </m:sSubSup>
                            </m:sub>
                          </m:sSub>
                        </m:e>
                      </m:func>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𝑧</m:t>
                                  </m:r>
                                </m:e>
                              </m:d>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𝑧</m:t>
                                      </m:r>
                                    </m:e>
                                    <m:sup>
                                      <m:r>
                                        <a:rPr lang="zh-CN" altLang="en-US" i="1" smtClean="0">
                                          <a:latin typeface="Cambria Math" panose="02040503050406030204" pitchFamily="18" charset="0"/>
                                        </a:rPr>
                                        <m:t>′</m:t>
                                      </m:r>
                                    </m:sup>
                                  </m:sSup>
                                </m:e>
                              </m:d>
                            </m:lim>
                          </m:limLow>
                        </m:fName>
                        <m:e>
                          <m:f>
                            <m:fPr>
                              <m:ctrlPr>
                                <a:rPr lang="zh-CN" altLang="en-US" i="1" smtClean="0">
                                  <a:latin typeface="Cambria Math" panose="02040503050406030204" pitchFamily="18" charset="0"/>
                                </a:rPr>
                              </m:ctrlPr>
                            </m:fPr>
                            <m:num>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𝑧</m:t>
                                          </m:r>
                                        </m:e>
                                        <m:sup>
                                          <m:r>
                                            <a:rPr lang="zh-CN" altLang="en-US" i="1" smtClean="0">
                                              <a:latin typeface="Cambria Math" panose="02040503050406030204" pitchFamily="18" charset="0"/>
                                            </a:rPr>
                                            <m:t>′</m:t>
                                          </m:r>
                                        </m:sup>
                                      </m:sSup>
                                    </m:e>
                                  </m:d>
                                </m:sub>
                                <m:sup>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𝑧</m:t>
                                      </m:r>
                                    </m:e>
                                  </m:d>
                                </m:sup>
                                <m:e>
                                  <m:r>
                                    <a:rPr lang="zh-CN" altLang="en-US" i="1" smtClean="0">
                                      <a:latin typeface="Cambria Math" panose="02040503050406030204" pitchFamily="18" charset="0"/>
                                    </a:rPr>
                                    <m:t>𝑀</m:t>
                                  </m:r>
                                </m:e>
                              </m:nary>
                              <m:r>
                                <a:rPr lang="zh-CN" altLang="en-US" i="1" smtClean="0">
                                  <a:latin typeface="Cambria Math" panose="02040503050406030204" pitchFamily="18" charset="0"/>
                                </a:rPr>
                                <m:t>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r>
                                <a:rPr lang="zh-CN" altLang="en-US" i="1" smtClean="0">
                                  <a:latin typeface="Cambria Math" panose="02040503050406030204" pitchFamily="18" charset="0"/>
                                </a:rPr>
                                <m:t>𝑑𝑢</m:t>
                              </m:r>
                            </m:num>
                            <m:den>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𝑧</m:t>
                                  </m:r>
                                </m:e>
                              </m:d>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𝑧</m:t>
                                      </m:r>
                                    </m:e>
                                    <m:sup>
                                      <m:r>
                                        <a:rPr lang="zh-CN" altLang="en-US" i="1" smtClean="0">
                                          <a:latin typeface="Cambria Math" panose="02040503050406030204" pitchFamily="18" charset="0"/>
                                        </a:rPr>
                                        <m:t>′</m:t>
                                      </m:r>
                                    </m:sup>
                                  </m:sSup>
                                </m:e>
                              </m:d>
                            </m:den>
                          </m:f>
                        </m:e>
                      </m:func>
                      <m:r>
                        <a:rPr lang="zh-CN" altLang="en-US" i="1" smtClean="0">
                          <a:latin typeface="Cambria Math" panose="02040503050406030204" pitchFamily="18" charset="0"/>
                        </a:rPr>
                        <m:t>=</m:t>
                      </m:r>
                      <m:r>
                        <a:rPr lang="zh-CN" altLang="en-US" i="1" smtClean="0">
                          <a:latin typeface="Cambria Math" panose="02040503050406030204" pitchFamily="18" charset="0"/>
                        </a:rPr>
                        <m:t>𝑀𝑇𝐸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𝑧</m:t>
                                  </m:r>
                                </m:e>
                                <m:sup>
                                  <m:r>
                                    <a:rPr lang="zh-CN" altLang="en-US" i="1" smtClean="0">
                                      <a:latin typeface="Cambria Math" panose="02040503050406030204" pitchFamily="18" charset="0"/>
                                    </a:rPr>
                                    <m:t>′</m:t>
                                  </m:r>
                                </m:sup>
                              </m:sSup>
                            </m:e>
                          </m:d>
                        </m:e>
                      </m:d>
                    </m:oMath>
                  </m:oMathPara>
                </a14:m>
                <a:endParaRPr lang="zh-CN" altLang="en-US" dirty="0"/>
              </a:p>
            </p:txBody>
          </p:sp>
        </mc:Choice>
        <mc:Fallback xmlns="">
          <p:sp>
            <p:nvSpPr>
              <p:cNvPr id="3" name="内容占位符 2">
                <a:extLst>
                  <a:ext uri="{FF2B5EF4-FFF2-40B4-BE49-F238E27FC236}">
                    <a16:creationId xmlns:a16="http://schemas.microsoft.com/office/drawing/2014/main" id="{F34388E4-E135-F6B1-45BF-12858D573C40}"/>
                  </a:ext>
                </a:extLst>
              </p:cNvPr>
              <p:cNvSpPr>
                <a:spLocks noGrp="1" noRot="1" noChangeAspect="1" noMove="1" noResize="1" noEditPoints="1" noAdjustHandles="1" noChangeArrowheads="1" noChangeShapeType="1" noTextEdit="1"/>
              </p:cNvSpPr>
              <p:nvPr>
                <p:ph idx="1"/>
              </p:nvPr>
            </p:nvSpPr>
            <p:spPr>
              <a:blipFill>
                <a:blip r:embed="rId2"/>
                <a:stretch>
                  <a:fillRect l="-232" t="-1681" b="-112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A80FA7B-93AB-20D9-041A-5343FA23ECF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C42982D-C4EF-397C-8C5D-FB0A269ED911}"/>
              </a:ext>
            </a:extLst>
          </p:cNvPr>
          <p:cNvSpPr>
            <a:spLocks noGrp="1"/>
          </p:cNvSpPr>
          <p:nvPr>
            <p:ph type="sldNum" sz="quarter" idx="12"/>
          </p:nvPr>
        </p:nvSpPr>
        <p:spPr/>
        <p:txBody>
          <a:bodyPr/>
          <a:lstStyle/>
          <a:p>
            <a:fld id="{D41FC515-8169-4A29-AA56-DBE520D5741B}" type="slidenum">
              <a:rPr lang="zh-CN" altLang="en-US" smtClean="0"/>
              <a:t>58</a:t>
            </a:fld>
            <a:endParaRPr lang="zh-CN" altLang="en-US"/>
          </a:p>
        </p:txBody>
      </p:sp>
    </p:spTree>
    <p:extLst>
      <p:ext uri="{BB962C8B-B14F-4D97-AF65-F5344CB8AC3E}">
        <p14:creationId xmlns:p14="http://schemas.microsoft.com/office/powerpoint/2010/main" val="12490269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936F10-75E0-E529-D420-766A7797BB4F}"/>
              </a:ext>
            </a:extLst>
          </p:cNvPr>
          <p:cNvSpPr>
            <a:spLocks noGrp="1"/>
          </p:cNvSpPr>
          <p:nvPr>
            <p:ph type="title"/>
          </p:nvPr>
        </p:nvSpPr>
        <p:spPr/>
        <p:txBody>
          <a:bodyPr/>
          <a:lstStyle/>
          <a:p>
            <a:r>
              <a:rPr lang="en-US" altLang="zh-CN" dirty="0"/>
              <a:t>MTE </a:t>
            </a:r>
            <a:r>
              <a:rPr lang="zh-CN" altLang="en-US" dirty="0"/>
              <a:t>框架</a:t>
            </a:r>
            <a:r>
              <a:rPr lang="en-US" altLang="zh-CN" dirty="0"/>
              <a:t>(Marginal Treatment Effect Framework)</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31FA121-D925-391F-C68F-2ECD9A05C5B8}"/>
                  </a:ext>
                </a:extLst>
              </p:cNvPr>
              <p:cNvSpPr>
                <a:spLocks noGrp="1"/>
              </p:cNvSpPr>
              <p:nvPr>
                <p:ph idx="1"/>
              </p:nvPr>
            </p:nvSpPr>
            <p:spPr/>
            <p:txBody>
              <a:bodyPr>
                <a:normAutofit fontScale="70000" lnSpcReduction="20000"/>
              </a:bodyPr>
              <a:lstStyle/>
              <a:p>
                <a:pPr>
                  <a:lnSpc>
                    <a:spcPct val="110000"/>
                  </a:lnSpc>
                </a:pPr>
                <a:r>
                  <a:rPr lang="zh-CN" altLang="en-US" dirty="0"/>
                  <a:t>证明：</a:t>
                </a:r>
                <a:endParaRPr lang="en-US" altLang="zh-CN" dirty="0"/>
              </a:p>
              <a:p>
                <a:pPr>
                  <a:lnSpc>
                    <a:spcPct val="110000"/>
                  </a:lnSpc>
                </a:pPr>
                <a14:m>
                  <m:oMath xmlns:m="http://schemas.openxmlformats.org/officeDocument/2006/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e>
                            </m:d>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𝟙</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e>
                                </m:d>
                              </m:num>
                              <m:den>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=1</m:t>
                                    </m:r>
                                  </m:e>
                                </m:d>
                              </m:den>
                            </m:f>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𝑍</m:t>
                                </m:r>
                              </m:e>
                            </m:d>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𝟙</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e>
                                </m:d>
                              </m:num>
                              <m:den>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=1</m:t>
                                    </m:r>
                                  </m:e>
                                </m:d>
                              </m:den>
                            </m:f>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e>
                            </m:d>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𝟙</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e>
                                </m:d>
                              </m:num>
                              <m:den>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=1</m:t>
                                    </m:r>
                                  </m:e>
                                </m:d>
                              </m:den>
                            </m:f>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e>
                                </m:d>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𝟙</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e>
                                        </m:d>
                                      </m:num>
                                      <m:den>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=1</m:t>
                                            </m:r>
                                          </m:e>
                                        </m:d>
                                      </m:den>
                                    </m:f>
                                  </m:e>
                                </m:d>
                                <m:r>
                                  <a:rPr lang="zh-CN" altLang="en-US" i="1" smtClean="0">
                                    <a:latin typeface="Cambria Math" panose="02040503050406030204" pitchFamily="18" charset="0"/>
                                  </a:rPr>
                                  <m:t>𝑍</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1</m:t>
                                </m:r>
                              </m:sup>
                              <m:e>
                                <m:r>
                                  <a:rPr lang="zh-CN" altLang="en-US" i="1" smtClean="0">
                                    <a:latin typeface="Cambria Math" panose="02040503050406030204" pitchFamily="18" charset="0"/>
                                  </a:rPr>
                                  <m:t>𝑚</m:t>
                                </m:r>
                              </m:e>
                            </m:nary>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𝟙</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e>
                                </m:d>
                              </m:num>
                              <m:den>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=1</m:t>
                                    </m:r>
                                  </m:e>
                                </m:d>
                              </m:den>
                            </m:f>
                            <m:r>
                              <a:rPr lang="zh-CN" altLang="en-US" i="1" smtClean="0">
                                <a:latin typeface="Cambria Math" panose="02040503050406030204" pitchFamily="18" charset="0"/>
                              </a:rPr>
                              <m:t>𝑓</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𝑍</m:t>
                                </m:r>
                              </m:e>
                            </m:d>
                            <m:r>
                              <a:rPr lang="zh-CN" altLang="en-US" i="1" smtClean="0">
                                <a:latin typeface="Cambria Math" panose="02040503050406030204" pitchFamily="18" charset="0"/>
                              </a:rPr>
                              <m:t>𝑑𝑢</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1</m:t>
                            </m:r>
                          </m:sup>
                          <m:e>
                            <m:r>
                              <a:rPr lang="zh-CN" altLang="en-US" i="1" smtClean="0">
                                <a:latin typeface="Cambria Math" panose="02040503050406030204" pitchFamily="18" charset="0"/>
                              </a:rPr>
                              <m:t>𝑚</m:t>
                            </m:r>
                          </m:e>
                        </m:nary>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e>
                            </m:d>
                          </m:num>
                          <m:den>
                            <m:r>
                              <a:rPr lang="zh-CN" altLang="en-US" i="1" smtClean="0">
                                <a:latin typeface="Cambria Math" panose="02040503050406030204" pitchFamily="18" charset="0"/>
                              </a:rPr>
                              <m:t>𝑃</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=1</m:t>
                                </m:r>
                              </m:e>
                            </m:d>
                          </m:den>
                        </m:f>
                        <m:r>
                          <a:rPr lang="zh-CN" altLang="en-US" i="1" smtClean="0">
                            <a:latin typeface="Cambria Math" panose="02040503050406030204" pitchFamily="18" charset="0"/>
                          </a:rPr>
                          <m:t>𝑑𝑢</m:t>
                        </m:r>
                        <m:r>
                          <a:rPr lang="zh-CN" altLang="en-US" i="1" smtClean="0">
                            <a:latin typeface="Cambria Math" panose="02040503050406030204" pitchFamily="18" charset="0"/>
                          </a:rPr>
                          <m:t>.</m:t>
                        </m:r>
                      </m:e>
                    </m:eqArr>
                  </m:oMath>
                </a14:m>
                <a:endParaRPr lang="zh-CN" altLang="en-US" dirty="0"/>
              </a:p>
            </p:txBody>
          </p:sp>
        </mc:Choice>
        <mc:Fallback xmlns="">
          <p:sp>
            <p:nvSpPr>
              <p:cNvPr id="3" name="内容占位符 2">
                <a:extLst>
                  <a:ext uri="{FF2B5EF4-FFF2-40B4-BE49-F238E27FC236}">
                    <a16:creationId xmlns:a16="http://schemas.microsoft.com/office/drawing/2014/main" id="{431FA121-D925-391F-C68F-2ECD9A05C5B8}"/>
                  </a:ext>
                </a:extLst>
              </p:cNvPr>
              <p:cNvSpPr>
                <a:spLocks noGrp="1" noRot="1" noChangeAspect="1" noMove="1" noResize="1" noEditPoints="1" noAdjustHandles="1" noChangeArrowheads="1" noChangeShapeType="1" noTextEdit="1"/>
              </p:cNvSpPr>
              <p:nvPr>
                <p:ph idx="1"/>
              </p:nvPr>
            </p:nvSpPr>
            <p:spPr>
              <a:blipFill>
                <a:blip r:embed="rId2"/>
                <a:stretch>
                  <a:fillRect l="-696" t="-14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753D981-13F7-DB3F-D301-0ADEB7865EB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ACB740C-F4A0-0F15-CE38-52A1D1819C26}"/>
              </a:ext>
            </a:extLst>
          </p:cNvPr>
          <p:cNvSpPr>
            <a:spLocks noGrp="1"/>
          </p:cNvSpPr>
          <p:nvPr>
            <p:ph type="sldNum" sz="quarter" idx="12"/>
          </p:nvPr>
        </p:nvSpPr>
        <p:spPr/>
        <p:txBody>
          <a:bodyPr/>
          <a:lstStyle/>
          <a:p>
            <a:fld id="{D41FC515-8169-4A29-AA56-DBE520D5741B}" type="slidenum">
              <a:rPr lang="zh-CN" altLang="en-US" smtClean="0"/>
              <a:t>59</a:t>
            </a:fld>
            <a:endParaRPr lang="zh-CN" altLang="en-US"/>
          </a:p>
        </p:txBody>
      </p:sp>
    </p:spTree>
    <p:extLst>
      <p:ext uri="{BB962C8B-B14F-4D97-AF65-F5344CB8AC3E}">
        <p14:creationId xmlns:p14="http://schemas.microsoft.com/office/powerpoint/2010/main" val="2702031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BD8097-7817-AF6C-50A1-D555E0018546}"/>
              </a:ext>
            </a:extLst>
          </p:cNvPr>
          <p:cNvSpPr>
            <a:spLocks noGrp="1"/>
          </p:cNvSpPr>
          <p:nvPr>
            <p:ph type="title"/>
          </p:nvPr>
        </p:nvSpPr>
        <p:spPr/>
        <p:txBody>
          <a:bodyPr>
            <a:normAutofit/>
          </a:bodyPr>
          <a:lstStyle/>
          <a:p>
            <a:r>
              <a:rPr lang="en-US" altLang="zh-CN" dirty="0"/>
              <a:t>MTE </a:t>
            </a:r>
            <a:r>
              <a:rPr lang="zh-CN" altLang="en-US" dirty="0"/>
              <a:t>框架</a:t>
            </a:r>
            <a:br>
              <a:rPr lang="en-US" altLang="zh-CN" dirty="0"/>
            </a:br>
            <a:r>
              <a:rPr lang="zh-CN" altLang="en-US" sz="2700" dirty="0"/>
              <a:t>政策相关参数</a:t>
            </a:r>
            <a:r>
              <a:rPr lang="en-US" altLang="zh-CN" sz="2700" dirty="0"/>
              <a:t>(Policy relevant treatment parameters)</a:t>
            </a:r>
            <a:endParaRPr lang="zh-CN" altLang="en-US" sz="2700" dirty="0"/>
          </a:p>
        </p:txBody>
      </p:sp>
      <p:sp>
        <p:nvSpPr>
          <p:cNvPr id="3" name="内容占位符 2">
            <a:extLst>
              <a:ext uri="{FF2B5EF4-FFF2-40B4-BE49-F238E27FC236}">
                <a16:creationId xmlns:a16="http://schemas.microsoft.com/office/drawing/2014/main" id="{0E7350E8-ACA2-F98D-1541-8CFA71335A36}"/>
              </a:ext>
            </a:extLst>
          </p:cNvPr>
          <p:cNvSpPr>
            <a:spLocks noGrp="1"/>
          </p:cNvSpPr>
          <p:nvPr>
            <p:ph idx="1"/>
          </p:nvPr>
        </p:nvSpPr>
        <p:spPr/>
        <p:txBody>
          <a:bodyPr>
            <a:normAutofit fontScale="85000" lnSpcReduction="20000"/>
          </a:bodyPr>
          <a:lstStyle/>
          <a:p>
            <a:pPr>
              <a:lnSpc>
                <a:spcPct val="110000"/>
              </a:lnSpc>
            </a:pPr>
            <a:r>
              <a:rPr lang="en-US" altLang="zh-CN" dirty="0"/>
              <a:t>ATE </a:t>
            </a:r>
            <a:r>
              <a:rPr lang="zh-CN" altLang="en-US" dirty="0"/>
              <a:t>是文献中经常讨论的参数，但不一定是政策关心的参数</a:t>
            </a:r>
            <a:endParaRPr lang="en-US" altLang="zh-CN" dirty="0"/>
          </a:p>
          <a:p>
            <a:pPr>
              <a:lnSpc>
                <a:spcPct val="110000"/>
              </a:lnSpc>
            </a:pPr>
            <a:r>
              <a:rPr lang="en-US" altLang="zh-CN" dirty="0"/>
              <a:t>ATT </a:t>
            </a:r>
            <a:r>
              <a:rPr lang="zh-CN" altLang="en-US" dirty="0"/>
              <a:t>有时是更意义的因果效应参数，但并不一定是政策上有意义的参数。</a:t>
            </a:r>
            <a:endParaRPr lang="en-US" altLang="zh-CN" dirty="0"/>
          </a:p>
          <a:p>
            <a:pPr>
              <a:lnSpc>
                <a:spcPct val="110000"/>
              </a:lnSpc>
            </a:pPr>
            <a:r>
              <a:rPr lang="zh-CN" altLang="en-US" dirty="0"/>
              <a:t>更有意义的是政策改变时，影响到个人选择，从而得到的政策效应参数。</a:t>
            </a:r>
            <a:endParaRPr lang="en-US" altLang="zh-CN" dirty="0"/>
          </a:p>
          <a:p>
            <a:pPr lvl="1">
              <a:lnSpc>
                <a:spcPct val="110000"/>
              </a:lnSpc>
            </a:pPr>
            <a:r>
              <a:rPr lang="zh-CN" altLang="en-US" dirty="0"/>
              <a:t>比如𝐷 ∈ </a:t>
            </a:r>
            <a:r>
              <a:rPr lang="en-US" altLang="zh-CN" dirty="0"/>
              <a:t>{0, 1} </a:t>
            </a:r>
            <a:r>
              <a:rPr lang="zh-CN" altLang="en-US" dirty="0"/>
              <a:t>表示参加大学教育，</a:t>
            </a:r>
            <a:endParaRPr lang="en-US" altLang="zh-CN" dirty="0"/>
          </a:p>
          <a:p>
            <a:pPr lvl="1">
              <a:lnSpc>
                <a:spcPct val="110000"/>
              </a:lnSpc>
            </a:pPr>
            <a:r>
              <a:rPr lang="zh-CN" altLang="en-US" dirty="0"/>
              <a:t>所有的人参加大学教育的收益𝐴𝑇 𝐸 不一定是大家关心的，</a:t>
            </a:r>
            <a:endParaRPr lang="en-US" altLang="zh-CN" dirty="0"/>
          </a:p>
          <a:p>
            <a:pPr lvl="1">
              <a:lnSpc>
                <a:spcPct val="110000"/>
              </a:lnSpc>
            </a:pPr>
            <a:r>
              <a:rPr lang="zh-CN" altLang="en-US" dirty="0"/>
              <a:t>上大学的人的收益</a:t>
            </a:r>
            <a:r>
              <a:rPr lang="en-US" altLang="zh-CN" dirty="0"/>
              <a:t>ATT </a:t>
            </a:r>
            <a:r>
              <a:rPr lang="zh-CN" altLang="en-US" dirty="0"/>
              <a:t>可能有一定意义，但有时也不是政策影响的效应</a:t>
            </a:r>
            <a:endParaRPr lang="en-US" altLang="zh-CN" dirty="0"/>
          </a:p>
          <a:p>
            <a:pPr lvl="1">
              <a:lnSpc>
                <a:spcPct val="110000"/>
              </a:lnSpc>
            </a:pPr>
            <a:r>
              <a:rPr lang="zh-CN" altLang="en-US" dirty="0"/>
              <a:t>大家更关心的可能是比如学费提高或大学扩张</a:t>
            </a:r>
            <a:r>
              <a:rPr lang="en-US" altLang="zh-CN" dirty="0"/>
              <a:t>(</a:t>
            </a:r>
            <a:r>
              <a:rPr lang="zh-CN" altLang="en-US" dirty="0"/>
              <a:t>𝑍</a:t>
            </a:r>
            <a:r>
              <a:rPr lang="en-US" altLang="zh-CN" dirty="0"/>
              <a:t>) </a:t>
            </a:r>
            <a:r>
              <a:rPr lang="zh-CN" altLang="en-US" dirty="0"/>
              <a:t>通过大学教育</a:t>
            </a:r>
            <a:r>
              <a:rPr lang="en-US" altLang="zh-CN" dirty="0"/>
              <a:t>(</a:t>
            </a:r>
            <a:r>
              <a:rPr lang="zh-CN" altLang="en-US" dirty="0"/>
              <a:t>𝐷</a:t>
            </a:r>
            <a:r>
              <a:rPr lang="en-US" altLang="zh-CN" dirty="0"/>
              <a:t>) </a:t>
            </a:r>
            <a:r>
              <a:rPr lang="zh-CN" altLang="en-US" dirty="0"/>
              <a:t>产生的影响。</a:t>
            </a:r>
          </a:p>
        </p:txBody>
      </p:sp>
      <p:sp>
        <p:nvSpPr>
          <p:cNvPr id="4" name="页脚占位符 3">
            <a:extLst>
              <a:ext uri="{FF2B5EF4-FFF2-40B4-BE49-F238E27FC236}">
                <a16:creationId xmlns:a16="http://schemas.microsoft.com/office/drawing/2014/main" id="{76BD3C4B-AC6B-1684-304C-18F6B778EF4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E027048-1C34-3BB2-277A-218ED0339B1A}"/>
              </a:ext>
            </a:extLst>
          </p:cNvPr>
          <p:cNvSpPr>
            <a:spLocks noGrp="1"/>
          </p:cNvSpPr>
          <p:nvPr>
            <p:ph type="sldNum" sz="quarter" idx="12"/>
          </p:nvPr>
        </p:nvSpPr>
        <p:spPr/>
        <p:txBody>
          <a:bodyPr/>
          <a:lstStyle/>
          <a:p>
            <a:fld id="{D41FC515-8169-4A29-AA56-DBE520D5741B}" type="slidenum">
              <a:rPr lang="zh-CN" altLang="en-US" smtClean="0"/>
              <a:t>60</a:t>
            </a:fld>
            <a:endParaRPr lang="zh-CN" altLang="en-US"/>
          </a:p>
        </p:txBody>
      </p:sp>
    </p:spTree>
    <p:extLst>
      <p:ext uri="{BB962C8B-B14F-4D97-AF65-F5344CB8AC3E}">
        <p14:creationId xmlns:p14="http://schemas.microsoft.com/office/powerpoint/2010/main" val="39489423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8955BE-0F8C-6A9C-9C5F-4EB4100E88AC}"/>
              </a:ext>
            </a:extLst>
          </p:cNvPr>
          <p:cNvSpPr>
            <a:spLocks noGrp="1"/>
          </p:cNvSpPr>
          <p:nvPr>
            <p:ph type="title"/>
          </p:nvPr>
        </p:nvSpPr>
        <p:spPr/>
        <p:txBody>
          <a:bodyPr>
            <a:normAutofit/>
          </a:bodyPr>
          <a:lstStyle/>
          <a:p>
            <a:r>
              <a:rPr lang="en-US" altLang="zh-CN" dirty="0"/>
              <a:t>MTE </a:t>
            </a:r>
            <a:r>
              <a:rPr lang="zh-CN" altLang="en-US" dirty="0"/>
              <a:t>框架</a:t>
            </a:r>
            <a:br>
              <a:rPr lang="en-US" altLang="zh-CN" dirty="0"/>
            </a:br>
            <a:r>
              <a:rPr lang="zh-CN" altLang="en-US" sz="2700" dirty="0"/>
              <a:t>政策相关参数</a:t>
            </a:r>
            <a:r>
              <a:rPr lang="en-US" altLang="zh-CN" sz="2700" dirty="0"/>
              <a:t>(Policy relevant treatment parameters)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6043C10-10FE-14F1-2D97-C1D51DA27F7C}"/>
                  </a:ext>
                </a:extLst>
              </p:cNvPr>
              <p:cNvSpPr>
                <a:spLocks noGrp="1"/>
              </p:cNvSpPr>
              <p:nvPr>
                <p:ph idx="1"/>
              </p:nvPr>
            </p:nvSpPr>
            <p:spPr>
              <a:xfrm>
                <a:off x="628650" y="1825624"/>
                <a:ext cx="7886700" cy="4667249"/>
              </a:xfrm>
            </p:spPr>
            <p:txBody>
              <a:bodyPr>
                <a:normAutofit fontScale="62500" lnSpcReduction="20000"/>
              </a:bodyPr>
              <a:lstStyle/>
              <a:p>
                <a:pPr>
                  <a:lnSpc>
                    <a:spcPct val="120000"/>
                  </a:lnSpc>
                </a:pPr>
                <a:r>
                  <a:rPr lang="zh-CN" altLang="en-US" dirty="0"/>
                  <a:t>引入政策不变性假设：即政策不会改变潜在结果，只会改变个体选择。用𝑍∗ 表示新的政策，相应的倾向指数为</a:t>
                </a:r>
                <a14:m>
                  <m:oMath xmlns:m="http://schemas.openxmlformats.org/officeDocument/2006/math">
                    <m:sSup>
                      <m:sSupPr>
                        <m:ctrlPr>
                          <a:rPr lang="zh-CN" altLang="en-US" i="1" dirty="0" smtClean="0">
                            <a:latin typeface="Cambria Math" panose="02040503050406030204" pitchFamily="18" charset="0"/>
                          </a:rPr>
                        </m:ctrlPr>
                      </m:sSupPr>
                      <m:e>
                        <m:r>
                          <a:rPr lang="zh-CN" altLang="en-US" i="1" dirty="0" smtClean="0">
                            <a:latin typeface="Cambria Math" panose="02040503050406030204" pitchFamily="18" charset="0"/>
                          </a:rPr>
                          <m:t>𝑝</m:t>
                        </m:r>
                      </m:e>
                      <m:sup>
                        <m:r>
                          <a:rPr lang="zh-CN" altLang="en-US" i="1" dirty="0" smtClean="0">
                            <a:latin typeface="Cambria Math" panose="02040503050406030204" pitchFamily="18" charset="0"/>
                          </a:rPr>
                          <m:t>∗</m:t>
                        </m:r>
                      </m:sup>
                    </m:sSup>
                    <m:r>
                      <a:rPr lang="zh-CN" altLang="en-US" i="1" dirty="0" smtClean="0">
                        <a:latin typeface="Cambria Math" panose="02040503050406030204" pitchFamily="18" charset="0"/>
                      </a:rPr>
                      <m:t> </m:t>
                    </m:r>
                    <m:r>
                      <a:rPr lang="en-US" altLang="zh-CN" i="1" dirty="0">
                        <a:latin typeface="Cambria Math" panose="02040503050406030204" pitchFamily="18" charset="0"/>
                      </a:rPr>
                      <m:t>(</m:t>
                    </m:r>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𝑍</m:t>
                        </m:r>
                      </m:e>
                      <m:sup>
                        <m:r>
                          <a:rPr lang="zh-CN" altLang="en-US" i="1" dirty="0">
                            <a:latin typeface="Cambria Math" panose="02040503050406030204" pitchFamily="18" charset="0"/>
                          </a:rPr>
                          <m:t>∗</m:t>
                        </m:r>
                      </m:sup>
                    </m:sSup>
                    <m:r>
                      <a:rPr lang="en-US" altLang="zh-CN" i="1" dirty="0">
                        <a:latin typeface="Cambria Math" panose="02040503050406030204" pitchFamily="18" charset="0"/>
                      </a:rPr>
                      <m:t>)</m:t>
                    </m:r>
                  </m:oMath>
                </a14:m>
                <a:r>
                  <a:rPr lang="zh-CN" altLang="en-US" dirty="0"/>
                  <a:t>，新政策下的观测结果：</a:t>
                </a:r>
                <a14:m>
                  <m:oMath xmlns:m="http://schemas.openxmlformats.org/officeDocument/2006/math">
                    <m:sSup>
                      <m:sSupPr>
                        <m:ctrlPr>
                          <a:rPr lang="zh-CN" altLang="en-US" i="1" dirty="0" smtClean="0">
                            <a:latin typeface="Cambria Math" panose="02040503050406030204" pitchFamily="18" charset="0"/>
                          </a:rPr>
                        </m:ctrlPr>
                      </m:sSupPr>
                      <m:e>
                        <m:r>
                          <a:rPr lang="zh-CN" altLang="en-US" i="1" dirty="0" smtClean="0">
                            <a:latin typeface="Cambria Math" panose="02040503050406030204" pitchFamily="18" charset="0"/>
                          </a:rPr>
                          <m:t>𝑌</m:t>
                        </m:r>
                      </m:e>
                      <m:sup>
                        <m:r>
                          <a:rPr lang="zh-CN" altLang="en-US" i="1" dirty="0" smtClean="0">
                            <a:latin typeface="Cambria Math" panose="02040503050406030204" pitchFamily="18" charset="0"/>
                          </a:rPr>
                          <m:t>∗</m:t>
                        </m:r>
                      </m:sup>
                    </m:sSup>
                    <m:r>
                      <a:rPr lang="zh-CN" altLang="en-US" i="1" dirty="0" smtClean="0">
                        <a:latin typeface="Cambria Math" panose="02040503050406030204" pitchFamily="18" charset="0"/>
                      </a:rPr>
                      <m:t> </m:t>
                    </m:r>
                    <m:r>
                      <a:rPr lang="en-US" altLang="zh-CN" i="1" dirty="0">
                        <a:latin typeface="Cambria Math" panose="02040503050406030204" pitchFamily="18" charset="0"/>
                      </a:rPr>
                      <m:t>= </m:t>
                    </m:r>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𝐷</m:t>
                        </m:r>
                      </m:e>
                      <m:sup>
                        <m:r>
                          <a:rPr lang="zh-CN" altLang="en-US" i="1" dirty="0">
                            <a:latin typeface="Cambria Math" panose="02040503050406030204" pitchFamily="18" charset="0"/>
                          </a:rPr>
                          <m:t>∗</m:t>
                        </m:r>
                      </m:sup>
                    </m:sSup>
                    <m:r>
                      <a:rPr lang="zh-CN" altLang="en-US" i="1" dirty="0">
                        <a:latin typeface="Cambria Math" panose="02040503050406030204" pitchFamily="18" charset="0"/>
                      </a:rPr>
                      <m:t>𝑌</m:t>
                    </m:r>
                    <m:r>
                      <a:rPr lang="en-US" altLang="zh-CN" i="1" dirty="0">
                        <a:latin typeface="Cambria Math" panose="02040503050406030204" pitchFamily="18" charset="0"/>
                      </a:rPr>
                      <m:t>1 + (1 − </m:t>
                    </m:r>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𝐷</m:t>
                        </m:r>
                      </m:e>
                      <m:sup>
                        <m:r>
                          <a:rPr lang="zh-CN" altLang="en-US" i="1" dirty="0">
                            <a:latin typeface="Cambria Math" panose="02040503050406030204" pitchFamily="18" charset="0"/>
                          </a:rPr>
                          <m:t>∗</m:t>
                        </m:r>
                      </m:sup>
                    </m:sSup>
                    <m:r>
                      <a:rPr lang="en-US" altLang="zh-CN" i="1" dirty="0">
                        <a:latin typeface="Cambria Math" panose="02040503050406030204" pitchFamily="18" charset="0"/>
                      </a:rPr>
                      <m:t>)</m:t>
                    </m:r>
                    <m:r>
                      <a:rPr lang="zh-CN" altLang="en-US" i="1" dirty="0">
                        <a:latin typeface="Cambria Math" panose="02040503050406030204" pitchFamily="18" charset="0"/>
                      </a:rPr>
                      <m:t>𝑌</m:t>
                    </m:r>
                    <m:r>
                      <a:rPr lang="en-US" altLang="zh-CN" i="1" dirty="0">
                        <a:latin typeface="Cambria Math" panose="02040503050406030204" pitchFamily="18" charset="0"/>
                      </a:rPr>
                      <m:t>0</m:t>
                    </m:r>
                  </m:oMath>
                </a14:m>
                <a:r>
                  <a:rPr lang="zh-CN" altLang="en-US" dirty="0"/>
                  <a:t>，这里假设政策没有改变个体的潜在结果（即没有一般均衡效应）</a:t>
                </a:r>
                <a:endParaRPr lang="en-US" altLang="zh-CN" dirty="0"/>
              </a:p>
              <a:p>
                <a:pPr>
                  <a:lnSpc>
                    <a:spcPct val="120000"/>
                  </a:lnSpc>
                </a:pPr>
                <a:r>
                  <a:rPr lang="zh-CN" altLang="en-US" dirty="0"/>
                  <a:t>政策相关参数</a:t>
                </a:r>
                <a:r>
                  <a:rPr lang="en-US" altLang="zh-CN" dirty="0"/>
                  <a:t>(PRTE)</a:t>
                </a:r>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𝑃𝑅𝑇𝐸</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𝑌</m:t>
                                      </m:r>
                                    </m:e>
                                    <m:sup>
                                      <m:r>
                                        <a:rPr lang="zh-CN" altLang="en-US" i="1" smtClean="0">
                                          <a:latin typeface="Cambria Math" panose="02040503050406030204" pitchFamily="18" charset="0"/>
                                        </a:rPr>
                                        <m:t>∗</m:t>
                                      </m:r>
                                    </m:sup>
                                  </m:sSup>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𝐷</m:t>
                                      </m:r>
                                    </m:e>
                                    <m:sup>
                                      <m:r>
                                        <a:rPr lang="zh-CN" altLang="en-US" i="1" smtClean="0">
                                          <a:latin typeface="Cambria Math" panose="02040503050406030204" pitchFamily="18" charset="0"/>
                                        </a:rPr>
                                        <m:t>∗</m:t>
                                      </m:r>
                                    </m:sup>
                                  </m:sSup>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e>
                              </m:d>
                            </m:den>
                          </m:f>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1</m:t>
                              </m:r>
                            </m:sup>
                            <m:e>
                              <m:r>
                                <a:rPr lang="zh-CN" altLang="en-US" i="1" smtClean="0">
                                  <a:latin typeface="Cambria Math" panose="02040503050406030204" pitchFamily="18" charset="0"/>
                                </a:rPr>
                                <m:t>𝑀</m:t>
                              </m:r>
                            </m:e>
                          </m:nary>
                          <m:r>
                            <a:rPr lang="zh-CN" altLang="en-US" i="1" smtClean="0">
                              <a:latin typeface="Cambria Math" panose="02040503050406030204" pitchFamily="18" charset="0"/>
                            </a:rPr>
                            <m:t>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𝑃𝑅𝑇𝐸</m:t>
                              </m:r>
                            </m:sub>
                          </m:sSub>
                          <m:r>
                            <a:rPr lang="zh-CN" altLang="en-US" i="1" smtClean="0">
                              <a:latin typeface="Cambria Math" panose="02040503050406030204" pitchFamily="18" charset="0"/>
                            </a:rPr>
                            <m:t>𝑑𝑢</m:t>
                          </m:r>
                          <m:r>
                            <a:rPr lang="zh-CN" altLang="en-US" i="1" smtClean="0">
                              <a:latin typeface="Cambria Math" panose="02040503050406030204" pitchFamily="18" charset="0"/>
                            </a:rPr>
                            <m:t>,</m:t>
                          </m:r>
                        </m:e>
                      </m:eqArr>
                    </m:oMath>
                  </m:oMathPara>
                </a14:m>
                <a:endParaRPr lang="en-US" altLang="zh-CN" dirty="0"/>
              </a:p>
              <a:p>
                <a:pPr>
                  <a:lnSpc>
                    <a:spcPct val="120000"/>
                  </a:lnSpc>
                </a:pPr>
                <a:r>
                  <a:rPr lang="zh-CN" altLang="en-US" dirty="0"/>
                  <a:t>其中</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𝑃𝑅𝑇𝐸</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𝐹</m:t>
                              </m:r>
                            </m:e>
                            <m:sub>
                              <m:r>
                                <a:rPr lang="zh-CN" altLang="en-US" i="1" smtClean="0">
                                  <a:latin typeface="Cambria Math" panose="02040503050406030204" pitchFamily="18" charset="0"/>
                                </a:rPr>
                                <m:t>𝑃</m:t>
                              </m:r>
                            </m:sub>
                            <m:sup>
                              <m:r>
                                <a:rPr lang="zh-CN" altLang="en-US" i="1" smtClean="0">
                                  <a:latin typeface="Cambria Math" panose="02040503050406030204" pitchFamily="18" charset="0"/>
                                </a:rPr>
                                <m:t>−</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𝐹</m:t>
                              </m:r>
                            </m:e>
                            <m:sub>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𝑃</m:t>
                                  </m:r>
                                </m:e>
                                <m:sup>
                                  <m:r>
                                    <a:rPr lang="zh-CN" altLang="en-US" i="1" smtClean="0">
                                      <a:latin typeface="Cambria Math" panose="02040503050406030204" pitchFamily="18" charset="0"/>
                                    </a:rPr>
                                    <m:t>∗</m:t>
                                  </m:r>
                                </m:sup>
                              </m:sSup>
                            </m:sub>
                            <m:sup>
                              <m:r>
                                <a:rPr lang="zh-CN" altLang="en-US" i="1" smtClean="0">
                                  <a:latin typeface="Cambria Math" panose="02040503050406030204" pitchFamily="18" charset="0"/>
                                </a:rPr>
                                <m:t>−</m:t>
                              </m:r>
                            </m:sup>
                          </m:sSubSup>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𝑃</m:t>
                                  </m:r>
                                </m:e>
                                <m:sup>
                                  <m:r>
                                    <a:rPr lang="zh-CN" altLang="en-US" i="1" smtClean="0">
                                      <a:latin typeface="Cambria Math" panose="02040503050406030204" pitchFamily="18" charset="0"/>
                                    </a:rPr>
                                    <m:t>∗</m:t>
                                  </m:r>
                                </m:sup>
                              </m:sSup>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𝑃</m:t>
                              </m:r>
                            </m:e>
                          </m:d>
                        </m:den>
                      </m:f>
                    </m:oMath>
                  </m:oMathPara>
                </a14:m>
                <a:endParaRPr lang="en-US" altLang="zh-CN" dirty="0"/>
              </a:p>
              <a:p>
                <a:pPr marL="0" indent="0">
                  <a:lnSpc>
                    <a:spcPct val="120000"/>
                  </a:lnSpc>
                  <a:buNone/>
                </a:pPr>
                <a:r>
                  <a:rPr lang="zh-CN" altLang="en-US" dirty="0"/>
                  <a:t>其中𝑃 </a:t>
                </a:r>
                <a:r>
                  <a:rPr lang="en-US" altLang="zh-CN" dirty="0"/>
                  <a:t>= </a:t>
                </a:r>
                <a:r>
                  <a:rPr lang="zh-CN" altLang="en-US" dirty="0"/>
                  <a:t>𝑃 </a:t>
                </a:r>
                <a:r>
                  <a:rPr lang="en-US" altLang="zh-CN" dirty="0"/>
                  <a:t>(</a:t>
                </a:r>
                <a:r>
                  <a:rPr lang="zh-CN" altLang="en-US" dirty="0"/>
                  <a:t>𝑍</a:t>
                </a:r>
                <a:r>
                  <a:rPr lang="en-US" altLang="zh-CN" dirty="0"/>
                  <a:t>)</a:t>
                </a:r>
                <a:r>
                  <a:rPr lang="zh-CN" altLang="en-US" dirty="0"/>
                  <a:t>，</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m:t>
                        </m:r>
                      </m:sup>
                    </m:sSup>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𝑍</m:t>
                            </m:r>
                          </m:e>
                          <m:sup>
                            <m:r>
                              <a:rPr lang="en-US" altLang="zh-CN" i="1">
                                <a:latin typeface="Cambria Math" panose="02040503050406030204" pitchFamily="18" charset="0"/>
                              </a:rPr>
                              <m:t>∗</m:t>
                            </m:r>
                          </m:sup>
                        </m:sSup>
                      </m:e>
                    </m:d>
                  </m:oMath>
                </a14:m>
                <a:r>
                  <a:rPr lang="zh-CN" altLang="en-US" dirty="0"/>
                  <a:t>，𝐹𝑃 和</a:t>
                </a:r>
                <a14:m>
                  <m:oMath xmlns:m="http://schemas.openxmlformats.org/officeDocument/2006/math">
                    <m:r>
                      <a:rPr lang="zh-CN" altLang="en-US" i="1" dirty="0" smtClean="0">
                        <a:latin typeface="Cambria Math" panose="02040503050406030204" pitchFamily="18" charset="0"/>
                      </a:rPr>
                      <m:t>𝐹</m:t>
                    </m:r>
                    <m:sSup>
                      <m:sSupPr>
                        <m:ctrlPr>
                          <a:rPr lang="zh-CN" altLang="en-US" i="1" dirty="0" smtClean="0">
                            <a:latin typeface="Cambria Math" panose="02040503050406030204" pitchFamily="18" charset="0"/>
                          </a:rPr>
                        </m:ctrlPr>
                      </m:sSupPr>
                      <m:e>
                        <m:r>
                          <a:rPr lang="zh-CN" altLang="en-US" i="1" dirty="0" smtClean="0">
                            <a:latin typeface="Cambria Math" panose="02040503050406030204" pitchFamily="18" charset="0"/>
                          </a:rPr>
                          <m:t>𝑃</m:t>
                        </m:r>
                      </m:e>
                      <m:sup>
                        <m:r>
                          <a:rPr lang="zh-CN" altLang="en-US" i="1" dirty="0" smtClean="0">
                            <a:latin typeface="Cambria Math" panose="02040503050406030204" pitchFamily="18" charset="0"/>
                          </a:rPr>
                          <m:t>∗</m:t>
                        </m:r>
                      </m:sup>
                    </m:sSup>
                    <m:r>
                      <a:rPr lang="zh-CN" altLang="en-US" i="1" dirty="0" smtClean="0">
                        <a:latin typeface="Cambria Math" panose="02040503050406030204" pitchFamily="18" charset="0"/>
                      </a:rPr>
                      <m:t> </m:t>
                    </m:r>
                  </m:oMath>
                </a14:m>
                <a:r>
                  <a:rPr lang="zh-CN" altLang="en-US" dirty="0"/>
                  <a:t>为相应的分布函数。</a:t>
                </a:r>
                <a:endParaRPr lang="en-US" altLang="zh-CN" dirty="0"/>
              </a:p>
              <a:p>
                <a:pPr>
                  <a:lnSpc>
                    <a:spcPct val="120000"/>
                  </a:lnSpc>
                </a:pPr>
                <a:r>
                  <a:rPr lang="zh-CN" altLang="en-US" dirty="0"/>
                  <a:t>如果工具的两个值恰好对应于两种政策，则𝐿𝐴𝑇 𝐸 可以解释为𝑃 𝑅𝑇 𝐸。但很多时候𝐿𝐴𝑇 𝐸</a:t>
                </a:r>
                <a:r>
                  <a:rPr lang="en-US" altLang="zh-CN" dirty="0"/>
                  <a:t>(</a:t>
                </a:r>
                <a:r>
                  <a:rPr lang="zh-CN" altLang="en-US" dirty="0"/>
                  <a:t>𝐼𝑉 </a:t>
                </a:r>
                <a:r>
                  <a:rPr lang="en-US" altLang="zh-CN" dirty="0"/>
                  <a:t>) </a:t>
                </a:r>
                <a:r>
                  <a:rPr lang="zh-CN" altLang="en-US" dirty="0"/>
                  <a:t>估计量没有政策内含。</a:t>
                </a:r>
              </a:p>
            </p:txBody>
          </p:sp>
        </mc:Choice>
        <mc:Fallback xmlns="">
          <p:sp>
            <p:nvSpPr>
              <p:cNvPr id="3" name="内容占位符 2">
                <a:extLst>
                  <a:ext uri="{FF2B5EF4-FFF2-40B4-BE49-F238E27FC236}">
                    <a16:creationId xmlns:a16="http://schemas.microsoft.com/office/drawing/2014/main" id="{06043C10-10FE-14F1-2D97-C1D51DA27F7C}"/>
                  </a:ext>
                </a:extLst>
              </p:cNvPr>
              <p:cNvSpPr>
                <a:spLocks noGrp="1" noRot="1" noChangeAspect="1" noMove="1" noResize="1" noEditPoints="1" noAdjustHandles="1" noChangeArrowheads="1" noChangeShapeType="1" noTextEdit="1"/>
              </p:cNvSpPr>
              <p:nvPr>
                <p:ph idx="1"/>
              </p:nvPr>
            </p:nvSpPr>
            <p:spPr>
              <a:xfrm>
                <a:off x="628650" y="1825624"/>
                <a:ext cx="7886700" cy="4667249"/>
              </a:xfrm>
              <a:blipFill>
                <a:blip r:embed="rId2"/>
                <a:stretch>
                  <a:fillRect l="-618" t="-653" r="-15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F507089A-FC38-34A8-DDD9-67C946AB517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A6948CF-F703-F19B-3FAF-CCB48859BC27}"/>
              </a:ext>
            </a:extLst>
          </p:cNvPr>
          <p:cNvSpPr>
            <a:spLocks noGrp="1"/>
          </p:cNvSpPr>
          <p:nvPr>
            <p:ph type="sldNum" sz="quarter" idx="12"/>
          </p:nvPr>
        </p:nvSpPr>
        <p:spPr/>
        <p:txBody>
          <a:bodyPr/>
          <a:lstStyle/>
          <a:p>
            <a:fld id="{D41FC515-8169-4A29-AA56-DBE520D5741B}" type="slidenum">
              <a:rPr lang="zh-CN" altLang="en-US" smtClean="0"/>
              <a:t>61</a:t>
            </a:fld>
            <a:endParaRPr lang="zh-CN" altLang="en-US"/>
          </a:p>
        </p:txBody>
      </p:sp>
    </p:spTree>
    <p:extLst>
      <p:ext uri="{BB962C8B-B14F-4D97-AF65-F5344CB8AC3E}">
        <p14:creationId xmlns:p14="http://schemas.microsoft.com/office/powerpoint/2010/main" val="11272035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652A6-E30B-A9BB-9574-B079B463DB2F}"/>
              </a:ext>
            </a:extLst>
          </p:cNvPr>
          <p:cNvSpPr>
            <a:spLocks noGrp="1"/>
          </p:cNvSpPr>
          <p:nvPr>
            <p:ph type="title"/>
          </p:nvPr>
        </p:nvSpPr>
        <p:spPr/>
        <p:txBody>
          <a:bodyPr>
            <a:normAutofit fontScale="90000"/>
          </a:bodyPr>
          <a:lstStyle/>
          <a:p>
            <a:r>
              <a:rPr lang="en-US" altLang="zh-CN" dirty="0"/>
              <a:t>MTE </a:t>
            </a:r>
            <a:r>
              <a:rPr lang="zh-CN" altLang="en-US" dirty="0"/>
              <a:t>框架</a:t>
            </a:r>
            <a:br>
              <a:rPr lang="en-US" altLang="zh-CN" dirty="0"/>
            </a:br>
            <a:r>
              <a:rPr lang="zh-CN" altLang="en-US" dirty="0"/>
              <a:t>政策相关参数</a:t>
            </a:r>
            <a:r>
              <a:rPr lang="en-US" altLang="zh-CN" dirty="0"/>
              <a:t>(Policy relevant treatment parameters)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46EA336-AB68-3861-132D-ADDD5BBC1D2F}"/>
                  </a:ext>
                </a:extLst>
              </p:cNvPr>
              <p:cNvSpPr>
                <a:spLocks noGrp="1"/>
              </p:cNvSpPr>
              <p:nvPr>
                <p:ph idx="1"/>
              </p:nvPr>
            </p:nvSpPr>
            <p:spPr/>
            <p:txBody>
              <a:bodyPr>
                <a:normAutofit fontScale="77500" lnSpcReduction="20000"/>
              </a:bodyPr>
              <a:lstStyle/>
              <a:p>
                <a:pPr>
                  <a:lnSpc>
                    <a:spcPct val="120000"/>
                  </a:lnSpc>
                </a:pPr>
                <a:r>
                  <a:rPr lang="zh-CN" altLang="en-US" dirty="0"/>
                  <a:t>两种政策对比</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𝐷</m:t>
                              </m:r>
                            </m:e>
                            <m:sup>
                              <m:r>
                                <a:rPr lang="zh-CN" altLang="en-US" i="1" smtClean="0">
                                  <a:latin typeface="Cambria Math" panose="02040503050406030204" pitchFamily="18" charset="0"/>
                                </a:rPr>
                                <m:t>𝑎</m:t>
                              </m:r>
                            </m:sup>
                          </m:sSup>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𝟙</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𝑝</m:t>
                                  </m:r>
                                </m:e>
                                <m:sup>
                                  <m:r>
                                    <a:rPr lang="zh-CN" altLang="en-US" i="1" smtClean="0">
                                      <a:latin typeface="Cambria Math" panose="02040503050406030204" pitchFamily="18" charset="0"/>
                                    </a:rPr>
                                    <m:t>𝑎</m:t>
                                  </m:r>
                                </m:sup>
                              </m:s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𝑍</m:t>
                                      </m:r>
                                    </m:e>
                                    <m:sup>
                                      <m:r>
                                        <a:rPr lang="zh-CN" altLang="en-US" i="1" smtClean="0">
                                          <a:latin typeface="Cambria Math" panose="02040503050406030204" pitchFamily="18" charset="0"/>
                                        </a:rPr>
                                        <m:t>𝑎</m:t>
                                      </m:r>
                                    </m:sup>
                                  </m:sSup>
                                </m:e>
                              </m:d>
                            </m:e>
                          </m:d>
                          <m:r>
                            <a:rPr lang="zh-CN" altLang="en-US" i="1" smtClean="0">
                              <a:latin typeface="Cambria Math" panose="02040503050406030204" pitchFamily="18" charset="0"/>
                            </a:rPr>
                            <m:t>,</m:t>
                          </m:r>
                          <m:r>
                            <m:rPr>
                              <m:nor/>
                            </m:rPr>
                            <a:rPr lang="zh-CN" altLang="en-US" i="0" smtClean="0">
                              <a:latin typeface="Cambria Math" panose="02040503050406030204" pitchFamily="18" charset="0"/>
                            </a:rPr>
                            <m:t> and </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𝐷</m:t>
                              </m:r>
                            </m:e>
                            <m:sup>
                              <m:r>
                                <a:rPr lang="zh-CN" altLang="en-US" i="1" smtClean="0">
                                  <a:latin typeface="Cambria Math" panose="02040503050406030204" pitchFamily="18" charset="0"/>
                                </a:rPr>
                                <m:t>𝑏</m:t>
                              </m:r>
                            </m:sup>
                          </m:sSup>
                          <m:r>
                            <a:rPr lang="zh-CN" altLang="en-US" i="1" smtClean="0">
                              <a:latin typeface="Cambria Math" panose="02040503050406030204" pitchFamily="18" charset="0"/>
                            </a:rPr>
                            <m:t>=</m:t>
                          </m:r>
                          <m:r>
                            <a:rPr lang="zh-CN" altLang="en-US" i="1" smtClean="0">
                              <a:latin typeface="Cambria Math" panose="02040503050406030204" pitchFamily="18" charset="0"/>
                            </a:rPr>
                            <m:t>𝟙</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𝑈</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𝑝</m:t>
                                  </m:r>
                                </m:e>
                                <m:sup>
                                  <m:r>
                                    <a:rPr lang="zh-CN" altLang="en-US" i="1" smtClean="0">
                                      <a:latin typeface="Cambria Math" panose="02040503050406030204" pitchFamily="18" charset="0"/>
                                    </a:rPr>
                                    <m:t>𝑏</m:t>
                                  </m:r>
                                </m:sup>
                              </m:s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𝑍</m:t>
                                      </m:r>
                                    </m:e>
                                    <m:sup>
                                      <m:r>
                                        <a:rPr lang="zh-CN" altLang="en-US" i="1" smtClean="0">
                                          <a:latin typeface="Cambria Math" panose="02040503050406030204" pitchFamily="18" charset="0"/>
                                        </a:rPr>
                                        <m:t>𝑏</m:t>
                                      </m:r>
                                    </m:sup>
                                  </m:sSup>
                                </m:e>
                              </m:d>
                            </m:e>
                          </m:d>
                        </m:e>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𝑌</m:t>
                              </m:r>
                            </m:e>
                            <m:sup>
                              <m:r>
                                <a:rPr lang="zh-CN" altLang="en-US" i="1" smtClean="0">
                                  <a:latin typeface="Cambria Math" panose="02040503050406030204" pitchFamily="18" charset="0"/>
                                </a:rPr>
                                <m:t>𝑎</m:t>
                              </m:r>
                            </m:sup>
                          </m:sSup>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𝐷</m:t>
                              </m:r>
                            </m:e>
                            <m:sup>
                              <m:r>
                                <a:rPr lang="zh-CN" altLang="en-US" i="1" smtClean="0">
                                  <a:latin typeface="Cambria Math" panose="02040503050406030204" pitchFamily="18" charset="0"/>
                                </a:rPr>
                                <m:t>𝑎</m:t>
                              </m:r>
                            </m:sup>
                          </m:sSup>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𝐷</m:t>
                                  </m:r>
                                </m:e>
                                <m:sup>
                                  <m:r>
                                    <a:rPr lang="zh-CN" altLang="en-US" i="1" smtClean="0">
                                      <a:latin typeface="Cambria Math" panose="02040503050406030204" pitchFamily="18" charset="0"/>
                                    </a:rPr>
                                    <m:t>𝑎</m:t>
                                  </m:r>
                                </m:sup>
                              </m:sSup>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m:rPr>
                              <m:nor/>
                            </m:rPr>
                            <a:rPr lang="zh-CN" altLang="en-US" i="0" smtClean="0">
                              <a:latin typeface="Cambria Math" panose="02040503050406030204" pitchFamily="18" charset="0"/>
                            </a:rPr>
                            <m:t> </m:t>
                          </m:r>
                          <m:r>
                            <a:rPr lang="zh-CN" altLang="en-US" i="1" smtClean="0">
                              <a:latin typeface="Cambria Math" panose="02040503050406030204" pitchFamily="18" charset="0"/>
                            </a:rPr>
                            <m:t>         </m:t>
                          </m:r>
                          <m:r>
                            <m:rPr>
                              <m:nor/>
                            </m:rPr>
                            <a:rPr lang="zh-CN" altLang="en-US" i="0" smtClean="0">
                              <a:latin typeface="Cambria Math" panose="02040503050406030204" pitchFamily="18" charset="0"/>
                            </a:rPr>
                            <m:t>and </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𝑌</m:t>
                              </m:r>
                            </m:e>
                            <m:sup>
                              <m:r>
                                <a:rPr lang="zh-CN" altLang="en-US" i="1" smtClean="0">
                                  <a:latin typeface="Cambria Math" panose="02040503050406030204" pitchFamily="18" charset="0"/>
                                </a:rPr>
                                <m:t>𝑏</m:t>
                              </m:r>
                            </m:sup>
                          </m:sSup>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𝐷</m:t>
                              </m:r>
                            </m:e>
                            <m:sup>
                              <m:r>
                                <a:rPr lang="zh-CN" altLang="en-US" i="1" smtClean="0">
                                  <a:latin typeface="Cambria Math" panose="02040503050406030204" pitchFamily="18" charset="0"/>
                                </a:rPr>
                                <m:t>𝑏</m:t>
                              </m:r>
                            </m:sup>
                          </m:sSup>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𝐷</m:t>
                                  </m:r>
                                </m:e>
                                <m:sup>
                                  <m:r>
                                    <a:rPr lang="zh-CN" altLang="en-US" i="1" smtClean="0">
                                      <a:latin typeface="Cambria Math" panose="02040503050406030204" pitchFamily="18" charset="0"/>
                                    </a:rPr>
                                    <m:t>𝑏</m:t>
                                  </m:r>
                                </m:sup>
                              </m:sSup>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e>
                      </m:eqArr>
                    </m:oMath>
                  </m:oMathPara>
                </a14:m>
                <a:endParaRPr lang="en-US" altLang="zh-CN" dirty="0"/>
              </a:p>
              <a:p>
                <a:pPr>
                  <a:lnSpc>
                    <a:spcPct val="120000"/>
                  </a:lnSpc>
                </a:pPr>
                <a:r>
                  <a:rPr lang="zh-CN" altLang="en-US" dirty="0"/>
                  <a:t>政策𝑏 相对于𝑎 的政策相关因果效应</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𝑃𝑅𝑇𝐸</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𝑎</m:t>
                          </m:r>
                          <m:r>
                            <a:rPr lang="zh-CN" altLang="en-US" i="1" smtClean="0">
                              <a:latin typeface="Cambria Math" panose="02040503050406030204" pitchFamily="18" charset="0"/>
                            </a:rPr>
                            <m:t>,</m:t>
                          </m:r>
                          <m:r>
                            <a:rPr lang="zh-CN" altLang="en-US" i="1" smtClean="0">
                              <a:latin typeface="Cambria Math" panose="02040503050406030204" pitchFamily="18" charset="0"/>
                            </a:rPr>
                            <m:t>𝑏</m:t>
                          </m:r>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𝑌</m:t>
                                  </m:r>
                                </m:e>
                                <m:sup>
                                  <m:r>
                                    <a:rPr lang="zh-CN" altLang="en-US" i="1" smtClean="0">
                                      <a:latin typeface="Cambria Math" panose="02040503050406030204" pitchFamily="18" charset="0"/>
                                    </a:rPr>
                                    <m:t>𝑏</m:t>
                                  </m:r>
                                </m:sup>
                              </m:sSup>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𝑌</m:t>
                                  </m:r>
                                </m:e>
                                <m:sup>
                                  <m:r>
                                    <a:rPr lang="zh-CN" altLang="en-US" i="1" smtClean="0">
                                      <a:latin typeface="Cambria Math" panose="02040503050406030204" pitchFamily="18" charset="0"/>
                                    </a:rPr>
                                    <m:t>𝑎</m:t>
                                  </m:r>
                                </m:sup>
                              </m:sSup>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𝐷</m:t>
                                  </m:r>
                                </m:e>
                                <m:sup>
                                  <m:r>
                                    <a:rPr lang="zh-CN" altLang="en-US" i="1" smtClean="0">
                                      <a:latin typeface="Cambria Math" panose="02040503050406030204" pitchFamily="18" charset="0"/>
                                    </a:rPr>
                                    <m:t>𝑏</m:t>
                                  </m:r>
                                </m:sup>
                              </m:sSup>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𝐷</m:t>
                                  </m:r>
                                </m:e>
                                <m:sup>
                                  <m:r>
                                    <a:rPr lang="zh-CN" altLang="en-US" i="1" smtClean="0">
                                      <a:latin typeface="Cambria Math" panose="02040503050406030204" pitchFamily="18" charset="0"/>
                                    </a:rPr>
                                    <m:t>𝑎</m:t>
                                  </m:r>
                                </m:sup>
                              </m:sSup>
                            </m:e>
                          </m:d>
                        </m:den>
                      </m:f>
                    </m:oMath>
                  </m:oMathPara>
                </a14:m>
                <a:endParaRPr lang="en-US" altLang="zh-CN" dirty="0"/>
              </a:p>
              <a:p>
                <a:pPr lvl="1">
                  <a:lnSpc>
                    <a:spcPct val="120000"/>
                  </a:lnSpc>
                </a:pPr>
                <a:r>
                  <a:rPr lang="zh-CN" altLang="en-US" dirty="0"/>
                  <a:t>若政策𝑎，个体𝑍 </a:t>
                </a:r>
                <a:r>
                  <a:rPr lang="en-US" altLang="zh-CN" dirty="0"/>
                  <a:t>= </a:t>
                </a:r>
                <a:r>
                  <a:rPr lang="zh-CN" altLang="en-US" dirty="0"/>
                  <a:t>𝑧</a:t>
                </a:r>
                <a:r>
                  <a:rPr lang="en-US" altLang="zh-CN" dirty="0"/>
                  <a:t>′, </a:t>
                </a:r>
                <a:r>
                  <a:rPr lang="zh-CN" altLang="en-US" dirty="0"/>
                  <a:t>𝑝𝑎 </a:t>
                </a:r>
                <a:r>
                  <a:rPr lang="en-US" altLang="zh-CN" dirty="0"/>
                  <a:t>= </a:t>
                </a:r>
                <a:r>
                  <a:rPr lang="zh-CN" altLang="en-US" dirty="0"/>
                  <a:t>𝑝</a:t>
                </a:r>
                <a:r>
                  <a:rPr lang="en-US" altLang="zh-CN" dirty="0"/>
                  <a:t>, </a:t>
                </a:r>
                <a:r>
                  <a:rPr lang="zh-CN" altLang="en-US" dirty="0"/>
                  <a:t>𝑍𝑎 </a:t>
                </a:r>
                <a:r>
                  <a:rPr lang="en-US" altLang="zh-CN" dirty="0"/>
                  <a:t>= </a:t>
                </a:r>
                <a:r>
                  <a:rPr lang="zh-CN" altLang="en-US" dirty="0"/>
                  <a:t>𝑧</a:t>
                </a:r>
                <a:r>
                  <a:rPr lang="en-US" altLang="zh-CN" dirty="0"/>
                  <a:t>′</a:t>
                </a:r>
              </a:p>
              <a:p>
                <a:pPr lvl="1">
                  <a:lnSpc>
                    <a:spcPct val="120000"/>
                  </a:lnSpc>
                </a:pPr>
                <a:r>
                  <a:rPr lang="zh-CN" altLang="en-US" dirty="0"/>
                  <a:t>政策𝑏</a:t>
                </a:r>
                <a:r>
                  <a:rPr lang="en-US" altLang="zh-CN" dirty="0"/>
                  <a:t>, </a:t>
                </a:r>
                <a:r>
                  <a:rPr lang="zh-CN" altLang="en-US" dirty="0"/>
                  <a:t>个体𝑍 </a:t>
                </a:r>
                <a:r>
                  <a:rPr lang="en-US" altLang="zh-CN" dirty="0"/>
                  <a:t>= </a:t>
                </a:r>
                <a:r>
                  <a:rPr lang="zh-CN" altLang="en-US" dirty="0"/>
                  <a:t>𝑧</a:t>
                </a:r>
                <a:r>
                  <a:rPr lang="en-US" altLang="zh-CN" dirty="0"/>
                  <a:t>, </a:t>
                </a:r>
                <a:r>
                  <a:rPr lang="zh-CN" altLang="en-US" dirty="0"/>
                  <a:t>𝑝𝑏 </a:t>
                </a:r>
                <a:r>
                  <a:rPr lang="en-US" altLang="zh-CN" dirty="0"/>
                  <a:t>= </a:t>
                </a:r>
                <a:r>
                  <a:rPr lang="zh-CN" altLang="en-US" dirty="0"/>
                  <a:t>𝑝</a:t>
                </a:r>
                <a:r>
                  <a:rPr lang="en-US" altLang="zh-CN" dirty="0"/>
                  <a:t>, </a:t>
                </a:r>
                <a:r>
                  <a:rPr lang="zh-CN" altLang="en-US" dirty="0"/>
                  <a:t>𝑍𝑏 </a:t>
                </a:r>
                <a:r>
                  <a:rPr lang="en-US" altLang="zh-CN" dirty="0"/>
                  <a:t>= </a:t>
                </a:r>
                <a:r>
                  <a:rPr lang="zh-CN" altLang="en-US" dirty="0"/>
                  <a:t>𝑧</a:t>
                </a:r>
                <a:endParaRPr lang="en-US" altLang="zh-CN" dirty="0"/>
              </a:p>
              <a:p>
                <a:pPr lvl="1">
                  <a:lnSpc>
                    <a:spcPct val="120000"/>
                  </a:lnSpc>
                </a:pPr>
                <a:r>
                  <a:rPr lang="zh-CN" altLang="en-US" dirty="0"/>
                  <a:t>则政策效应和𝐿𝐴𝑇 𝐸 相同，即𝜏𝑃 𝑅𝑇 𝐸 </a:t>
                </a:r>
                <a:r>
                  <a:rPr lang="en-US" altLang="zh-CN" dirty="0"/>
                  <a:t>(</a:t>
                </a:r>
                <a:r>
                  <a:rPr lang="zh-CN" altLang="en-US" dirty="0"/>
                  <a:t>𝑧</a:t>
                </a:r>
                <a:r>
                  <a:rPr lang="en-US" altLang="zh-CN" dirty="0"/>
                  <a:t>′</a:t>
                </a:r>
                <a:r>
                  <a:rPr lang="zh-CN" altLang="en-US" dirty="0"/>
                  <a:t>𝑧</a:t>
                </a:r>
                <a:r>
                  <a:rPr lang="en-US" altLang="zh-CN" dirty="0"/>
                  <a:t>) = </a:t>
                </a:r>
                <a:r>
                  <a:rPr lang="zh-CN" altLang="en-US" dirty="0"/>
                  <a:t>𝜏𝐿𝐴𝑇 𝐸𝑧𝑧</a:t>
                </a:r>
                <a:r>
                  <a:rPr lang="en-US" altLang="zh-CN" dirty="0"/>
                  <a:t>′</a:t>
                </a:r>
                <a:r>
                  <a:rPr lang="zh-CN" altLang="en-US" dirty="0"/>
                  <a:t>。</a:t>
                </a:r>
              </a:p>
            </p:txBody>
          </p:sp>
        </mc:Choice>
        <mc:Fallback xmlns="">
          <p:sp>
            <p:nvSpPr>
              <p:cNvPr id="3" name="内容占位符 2">
                <a:extLst>
                  <a:ext uri="{FF2B5EF4-FFF2-40B4-BE49-F238E27FC236}">
                    <a16:creationId xmlns:a16="http://schemas.microsoft.com/office/drawing/2014/main" id="{046EA336-AB68-3861-132D-ADDD5BBC1D2F}"/>
                  </a:ext>
                </a:extLst>
              </p:cNvPr>
              <p:cNvSpPr>
                <a:spLocks noGrp="1" noRot="1" noChangeAspect="1" noMove="1" noResize="1" noEditPoints="1" noAdjustHandles="1" noChangeArrowheads="1" noChangeShapeType="1" noTextEdit="1"/>
              </p:cNvSpPr>
              <p:nvPr>
                <p:ph idx="1"/>
              </p:nvPr>
            </p:nvSpPr>
            <p:spPr>
              <a:blipFill>
                <a:blip r:embed="rId2"/>
                <a:stretch>
                  <a:fillRect l="-850" t="-8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D9259CC-D052-6D9B-FCCC-714800B9B1A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F5AE0FF-52D8-7915-6843-7BFD9673F656}"/>
              </a:ext>
            </a:extLst>
          </p:cNvPr>
          <p:cNvSpPr>
            <a:spLocks noGrp="1"/>
          </p:cNvSpPr>
          <p:nvPr>
            <p:ph type="sldNum" sz="quarter" idx="12"/>
          </p:nvPr>
        </p:nvSpPr>
        <p:spPr/>
        <p:txBody>
          <a:bodyPr/>
          <a:lstStyle/>
          <a:p>
            <a:fld id="{D41FC515-8169-4A29-AA56-DBE520D5741B}" type="slidenum">
              <a:rPr lang="zh-CN" altLang="en-US" smtClean="0"/>
              <a:t>62</a:t>
            </a:fld>
            <a:endParaRPr lang="zh-CN" altLang="en-US"/>
          </a:p>
        </p:txBody>
      </p:sp>
    </p:spTree>
    <p:extLst>
      <p:ext uri="{BB962C8B-B14F-4D97-AF65-F5344CB8AC3E}">
        <p14:creationId xmlns:p14="http://schemas.microsoft.com/office/powerpoint/2010/main" val="6178916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469453-5945-744D-81D0-1EF1F9B8A34C}"/>
              </a:ext>
            </a:extLst>
          </p:cNvPr>
          <p:cNvSpPr>
            <a:spLocks noGrp="1"/>
          </p:cNvSpPr>
          <p:nvPr>
            <p:ph type="title"/>
          </p:nvPr>
        </p:nvSpPr>
        <p:spPr/>
        <p:txBody>
          <a:bodyPr>
            <a:normAutofit/>
          </a:bodyPr>
          <a:lstStyle/>
          <a:p>
            <a:r>
              <a:rPr lang="en-US" altLang="zh-CN" dirty="0"/>
              <a:t>MTE </a:t>
            </a:r>
            <a:r>
              <a:rPr lang="zh-CN" altLang="en-US" dirty="0"/>
              <a:t>框架</a:t>
            </a:r>
            <a:br>
              <a:rPr lang="en-US" altLang="zh-CN" dirty="0"/>
            </a:br>
            <a:r>
              <a:rPr lang="zh-CN" altLang="en-US" sz="2400" dirty="0"/>
              <a:t>工具变量估计什么</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7C6640C-0518-1B02-3F1E-2D52942CF9CB}"/>
                  </a:ext>
                </a:extLst>
              </p:cNvPr>
              <p:cNvSpPr>
                <a:spLocks noGrp="1"/>
              </p:cNvSpPr>
              <p:nvPr>
                <p:ph idx="1"/>
              </p:nvPr>
            </p:nvSpPr>
            <p:spPr/>
            <p:txBody>
              <a:bodyPr/>
              <a:lstStyle/>
              <a:p>
                <a:pPr>
                  <a:lnSpc>
                    <a:spcPct val="100000"/>
                  </a:lnSpc>
                </a:pPr>
                <a:r>
                  <a:rPr lang="zh-CN" altLang="en-US" dirty="0"/>
                  <a:t>工具变量估计量也是</a:t>
                </a:r>
                <a:r>
                  <a:rPr lang="en-US" altLang="zh-CN" dirty="0"/>
                  <a:t>MTE </a:t>
                </a:r>
                <a:r>
                  <a:rPr lang="zh-CN" altLang="en-US" dirty="0"/>
                  <a:t>的加权，用𝐽 </a:t>
                </a:r>
                <a:r>
                  <a:rPr lang="en-US" altLang="zh-CN" dirty="0"/>
                  <a:t>(</a:t>
                </a:r>
                <a:r>
                  <a:rPr lang="zh-CN" altLang="en-US" dirty="0"/>
                  <a:t>𝑍</a:t>
                </a:r>
                <a:r>
                  <a:rPr lang="en-US" altLang="zh-CN" dirty="0"/>
                  <a:t>) </a:t>
                </a:r>
                <a:r>
                  <a:rPr lang="zh-CN" altLang="en-US" dirty="0"/>
                  <a:t>表示𝐷 的工具，</a:t>
                </a:r>
                <a:endParaRPr lang="en-US" altLang="zh-CN" dirty="0"/>
              </a:p>
              <a:p>
                <a:pPr>
                  <a:lnSpc>
                    <a:spcPct val="100000"/>
                  </a:lnSpc>
                </a:pPr>
                <a14:m>
                  <m:oMath xmlns:m="http://schemas.openxmlformats.org/officeDocument/2006/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𝐼𝑉</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𝐶𝑜𝑣</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𝐽</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𝑌</m:t>
                                </m:r>
                              </m:e>
                            </m:d>
                          </m:num>
                          <m:den>
                            <m:r>
                              <a:rPr lang="zh-CN" altLang="en-US" i="1" smtClean="0">
                                <a:latin typeface="Cambria Math" panose="02040503050406030204" pitchFamily="18" charset="0"/>
                              </a:rPr>
                              <m:t>𝐶𝑜𝑣</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𝐽</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e>
                            </m:d>
                          </m:den>
                        </m:f>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1</m:t>
                            </m:r>
                          </m:sup>
                          <m:e>
                            <m:r>
                              <a:rPr lang="zh-CN" altLang="en-US" i="1" smtClean="0">
                                <a:latin typeface="Cambria Math" panose="02040503050406030204" pitchFamily="18" charset="0"/>
                              </a:rPr>
                              <m:t>𝑀</m:t>
                            </m:r>
                          </m:e>
                        </m:nary>
                        <m:r>
                          <a:rPr lang="zh-CN" altLang="en-US" i="1" smtClean="0">
                            <a:latin typeface="Cambria Math" panose="02040503050406030204" pitchFamily="18" charset="0"/>
                          </a:rPr>
                          <m:t>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𝐼𝑉</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e>
                        </m:d>
                        <m:r>
                          <a:rPr lang="zh-CN" altLang="en-US" i="1" smtClean="0">
                            <a:latin typeface="Cambria Math" panose="02040503050406030204" pitchFamily="18" charset="0"/>
                          </a:rPr>
                          <m:t>𝑑𝑢</m:t>
                        </m:r>
                        <m:r>
                          <a:rPr lang="zh-CN" altLang="en-US" i="1" smtClean="0">
                            <a:latin typeface="Cambria Math" panose="02040503050406030204" pitchFamily="18" charset="0"/>
                          </a:rPr>
                          <m:t>,</m:t>
                        </m:r>
                      </m:e>
                    </m:eqArr>
                  </m:oMath>
                </a14:m>
                <a:endParaRPr lang="en-US" altLang="zh-CN" dirty="0"/>
              </a:p>
              <a:p>
                <a:pPr>
                  <a:lnSpc>
                    <a:spcPct val="100000"/>
                  </a:lnSpc>
                </a:pPr>
                <a:r>
                  <a:rPr lang="zh-CN" altLang="en-US" dirty="0"/>
                  <a:t>其中</a:t>
                </a:r>
                <a:endParaRPr lang="en-US" altLang="zh-CN" dirty="0"/>
              </a:p>
              <a:p>
                <a:pPr>
                  <a:lnSpc>
                    <a:spcPct val="100000"/>
                  </a:lnSpc>
                </a:pP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𝑤</m:t>
                        </m:r>
                      </m:e>
                      <m:sub>
                        <m:r>
                          <a:rPr lang="en-US" altLang="zh-CN" i="1" smtClean="0">
                            <a:latin typeface="Cambria Math" panose="02040503050406030204" pitchFamily="18" charset="0"/>
                          </a:rPr>
                          <m:t>𝐼𝑉</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𝑢</m:t>
                        </m:r>
                      </m:e>
                    </m:d>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𝐽</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𝑍</m:t>
                                    </m:r>
                                  </m:e>
                                </m:d>
                                <m:r>
                                  <a:rPr lang="en-US" altLang="zh-CN" i="1" smtClean="0">
                                    <a:latin typeface="Cambria Math" panose="02040503050406030204" pitchFamily="18" charset="0"/>
                                  </a:rPr>
                                  <m:t>|</m:t>
                                </m:r>
                                <m:r>
                                  <a:rPr lang="en-US" altLang="zh-CN" i="1" smtClean="0">
                                    <a:latin typeface="Cambria Math" panose="02040503050406030204" pitchFamily="18" charset="0"/>
                                  </a:rPr>
                                  <m:t>𝑝</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𝑍</m:t>
                                    </m:r>
                                  </m:e>
                                </m:d>
                                <m:r>
                                  <a:rPr lang="en-US" altLang="zh-CN" i="1" smtClean="0">
                                    <a:latin typeface="Cambria Math" panose="02040503050406030204" pitchFamily="18" charset="0"/>
                                  </a:rPr>
                                  <m:t>≥</m:t>
                                </m:r>
                                <m:r>
                                  <a:rPr lang="en-US" altLang="zh-CN" i="1" smtClean="0">
                                    <a:latin typeface="Cambria Math" panose="02040503050406030204" pitchFamily="18" charset="0"/>
                                  </a:rPr>
                                  <m:t>𝑢</m:t>
                                </m:r>
                              </m:e>
                            </m:d>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𝐽</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𝑍</m:t>
                                    </m:r>
                                  </m:e>
                                </m:d>
                              </m:e>
                            </m:d>
                          </m:e>
                        </m:d>
                        <m:func>
                          <m:funcPr>
                            <m:ctrlPr>
                              <a:rPr lang="en-US" altLang="zh-CN" i="1" smtClean="0">
                                <a:latin typeface="Cambria Math" panose="02040503050406030204" pitchFamily="18" charset="0"/>
                              </a:rPr>
                            </m:ctrlPr>
                          </m:funcPr>
                          <m:fName>
                            <m:r>
                              <m:rPr>
                                <m:sty m:val="p"/>
                              </m:rPr>
                              <a:rPr lang="en-US" altLang="zh-CN" i="1" smtClean="0">
                                <a:latin typeface="Cambria Math" panose="02040503050406030204" pitchFamily="18" charset="0"/>
                              </a:rPr>
                              <m:t>Pr</m:t>
                            </m:r>
                          </m:fName>
                          <m:e>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𝑝</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𝑍</m:t>
                                    </m:r>
                                  </m:e>
                                </m:d>
                                <m:r>
                                  <a:rPr lang="en-US" altLang="zh-CN" i="1" smtClean="0">
                                    <a:latin typeface="Cambria Math" panose="02040503050406030204" pitchFamily="18" charset="0"/>
                                  </a:rPr>
                                  <m:t>≥</m:t>
                                </m:r>
                                <m:r>
                                  <a:rPr lang="en-US" altLang="zh-CN" i="1" smtClean="0">
                                    <a:latin typeface="Cambria Math" panose="02040503050406030204" pitchFamily="18" charset="0"/>
                                  </a:rPr>
                                  <m:t>𝑢</m:t>
                                </m:r>
                              </m:e>
                            </m:d>
                          </m:e>
                        </m:func>
                      </m:num>
                      <m:den>
                        <m:r>
                          <a:rPr lang="en-US" altLang="zh-CN" i="1" smtClean="0">
                            <a:latin typeface="Cambria Math" panose="02040503050406030204" pitchFamily="18" charset="0"/>
                          </a:rPr>
                          <m:t>𝐶𝑜𝑣</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𝐽</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𝑍</m:t>
                                </m:r>
                              </m:e>
                            </m:d>
                            <m:r>
                              <a:rPr lang="en-US" altLang="zh-CN" i="1" smtClean="0">
                                <a:latin typeface="Cambria Math" panose="02040503050406030204" pitchFamily="18" charset="0"/>
                              </a:rPr>
                              <m:t>,</m:t>
                            </m:r>
                            <m:r>
                              <a:rPr lang="en-US" altLang="zh-CN" i="1" smtClean="0">
                                <a:latin typeface="Cambria Math" panose="02040503050406030204" pitchFamily="18" charset="0"/>
                              </a:rPr>
                              <m:t>𝐷</m:t>
                            </m:r>
                          </m:e>
                        </m:d>
                      </m:den>
                    </m:f>
                  </m:oMath>
                </a14:m>
                <a:endParaRPr lang="en-US" altLang="zh-CN" i="1" dirty="0">
                  <a:latin typeface="Cambria Math" panose="02040503050406030204" pitchFamily="18" charset="0"/>
                </a:endParaRPr>
              </a:p>
              <a:p>
                <a:pPr>
                  <a:lnSpc>
                    <a:spcPct val="100000"/>
                  </a:lnSpc>
                </a:pPr>
                <a:r>
                  <a:rPr lang="zh-CN" altLang="en-US" dirty="0"/>
                  <a:t>权重可能为正也可能为负。因而，</a:t>
                </a:r>
                <a:r>
                  <a:rPr lang="en-US" altLang="zh-CN" dirty="0"/>
                  <a:t>IV </a:t>
                </a:r>
                <a:r>
                  <a:rPr lang="zh-CN" altLang="en-US" dirty="0"/>
                  <a:t>估计量并不一定是因果效应。</a:t>
                </a:r>
              </a:p>
            </p:txBody>
          </p:sp>
        </mc:Choice>
        <mc:Fallback xmlns="">
          <p:sp>
            <p:nvSpPr>
              <p:cNvPr id="3" name="内容占位符 2">
                <a:extLst>
                  <a:ext uri="{FF2B5EF4-FFF2-40B4-BE49-F238E27FC236}">
                    <a16:creationId xmlns:a16="http://schemas.microsoft.com/office/drawing/2014/main" id="{77C6640C-0518-1B02-3F1E-2D52942CF9CB}"/>
                  </a:ext>
                </a:extLst>
              </p:cNvPr>
              <p:cNvSpPr>
                <a:spLocks noGrp="1" noRot="1" noChangeAspect="1" noMove="1" noResize="1" noEditPoints="1" noAdjustHandles="1" noChangeArrowheads="1" noChangeShapeType="1" noTextEdit="1"/>
              </p:cNvSpPr>
              <p:nvPr>
                <p:ph idx="1"/>
              </p:nvPr>
            </p:nvSpPr>
            <p:spPr>
              <a:blipFill>
                <a:blip r:embed="rId2"/>
                <a:stretch>
                  <a:fillRect l="-1391" t="-154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3BE9582-2035-F21D-3DE2-E3B541D683F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0018B6A-1781-08F0-4D32-F0DA32BBB6AE}"/>
              </a:ext>
            </a:extLst>
          </p:cNvPr>
          <p:cNvSpPr>
            <a:spLocks noGrp="1"/>
          </p:cNvSpPr>
          <p:nvPr>
            <p:ph type="sldNum" sz="quarter" idx="12"/>
          </p:nvPr>
        </p:nvSpPr>
        <p:spPr/>
        <p:txBody>
          <a:bodyPr/>
          <a:lstStyle/>
          <a:p>
            <a:fld id="{D41FC515-8169-4A29-AA56-DBE520D5741B}" type="slidenum">
              <a:rPr lang="zh-CN" altLang="en-US" smtClean="0"/>
              <a:t>63</a:t>
            </a:fld>
            <a:endParaRPr lang="zh-CN" altLang="en-US"/>
          </a:p>
        </p:txBody>
      </p:sp>
    </p:spTree>
    <p:extLst>
      <p:ext uri="{BB962C8B-B14F-4D97-AF65-F5344CB8AC3E}">
        <p14:creationId xmlns:p14="http://schemas.microsoft.com/office/powerpoint/2010/main" val="24167983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79A89A-5BB4-6541-9A0E-5575E17629E4}"/>
              </a:ext>
            </a:extLst>
          </p:cNvPr>
          <p:cNvSpPr>
            <a:spLocks noGrp="1"/>
          </p:cNvSpPr>
          <p:nvPr>
            <p:ph type="title"/>
          </p:nvPr>
        </p:nvSpPr>
        <p:spPr/>
        <p:txBody>
          <a:bodyPr/>
          <a:lstStyle/>
          <a:p>
            <a:r>
              <a:rPr lang="en-US" altLang="zh-CN" dirty="0"/>
              <a:t>MTE </a:t>
            </a:r>
            <a:r>
              <a:rPr lang="zh-CN" altLang="en-US" dirty="0"/>
              <a:t>框架</a:t>
            </a:r>
            <a:br>
              <a:rPr lang="en-US" altLang="zh-CN" dirty="0"/>
            </a:br>
            <a:r>
              <a:rPr lang="zh-CN" altLang="en-US" sz="2400" dirty="0"/>
              <a:t>工具变量估计什么</a:t>
            </a:r>
          </a:p>
        </p:txBody>
      </p:sp>
      <p:pic>
        <p:nvPicPr>
          <p:cNvPr id="7" name="内容占位符 6">
            <a:extLst>
              <a:ext uri="{FF2B5EF4-FFF2-40B4-BE49-F238E27FC236}">
                <a16:creationId xmlns:a16="http://schemas.microsoft.com/office/drawing/2014/main" id="{7574055A-F07F-0E28-AF52-5AE32E3A5EE9}"/>
              </a:ext>
            </a:extLst>
          </p:cNvPr>
          <p:cNvPicPr>
            <a:picLocks noGrp="1" noChangeAspect="1"/>
          </p:cNvPicPr>
          <p:nvPr>
            <p:ph idx="1"/>
          </p:nvPr>
        </p:nvPicPr>
        <p:blipFill>
          <a:blip r:embed="rId2"/>
          <a:stretch>
            <a:fillRect/>
          </a:stretch>
        </p:blipFill>
        <p:spPr>
          <a:xfrm>
            <a:off x="421586" y="2249905"/>
            <a:ext cx="3644626" cy="2857414"/>
          </a:xfrm>
          <a:prstGeom prst="rect">
            <a:avLst/>
          </a:prstGeom>
        </p:spPr>
      </p:pic>
      <p:sp>
        <p:nvSpPr>
          <p:cNvPr id="4" name="页脚占位符 3">
            <a:extLst>
              <a:ext uri="{FF2B5EF4-FFF2-40B4-BE49-F238E27FC236}">
                <a16:creationId xmlns:a16="http://schemas.microsoft.com/office/drawing/2014/main" id="{D8A3C593-9A42-BCB8-3D90-152794B1CF6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E67C0B9-5885-ADDB-8D38-1577B5C8FCFA}"/>
              </a:ext>
            </a:extLst>
          </p:cNvPr>
          <p:cNvSpPr>
            <a:spLocks noGrp="1"/>
          </p:cNvSpPr>
          <p:nvPr>
            <p:ph type="sldNum" sz="quarter" idx="12"/>
          </p:nvPr>
        </p:nvSpPr>
        <p:spPr/>
        <p:txBody>
          <a:bodyPr/>
          <a:lstStyle/>
          <a:p>
            <a:fld id="{D41FC515-8169-4A29-AA56-DBE520D5741B}" type="slidenum">
              <a:rPr lang="zh-CN" altLang="en-US" smtClean="0"/>
              <a:t>64</a:t>
            </a:fld>
            <a:endParaRPr lang="zh-CN" altLang="en-US"/>
          </a:p>
        </p:txBody>
      </p:sp>
      <p:pic>
        <p:nvPicPr>
          <p:cNvPr id="9" name="图片 8">
            <a:extLst>
              <a:ext uri="{FF2B5EF4-FFF2-40B4-BE49-F238E27FC236}">
                <a16:creationId xmlns:a16="http://schemas.microsoft.com/office/drawing/2014/main" id="{1A2CB9D6-FAB8-9A55-A469-EA4C9A433FCC}"/>
              </a:ext>
            </a:extLst>
          </p:cNvPr>
          <p:cNvPicPr>
            <a:picLocks noChangeAspect="1"/>
          </p:cNvPicPr>
          <p:nvPr/>
        </p:nvPicPr>
        <p:blipFill>
          <a:blip r:embed="rId3"/>
          <a:stretch>
            <a:fillRect/>
          </a:stretch>
        </p:blipFill>
        <p:spPr>
          <a:xfrm>
            <a:off x="4269296" y="2165684"/>
            <a:ext cx="3970012" cy="2941635"/>
          </a:xfrm>
          <a:prstGeom prst="rect">
            <a:avLst/>
          </a:prstGeom>
        </p:spPr>
      </p:pic>
    </p:spTree>
    <p:extLst>
      <p:ext uri="{BB962C8B-B14F-4D97-AF65-F5344CB8AC3E}">
        <p14:creationId xmlns:p14="http://schemas.microsoft.com/office/powerpoint/2010/main" val="8792301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9FA5D6-B9E0-8190-7399-8C8CC616D993}"/>
              </a:ext>
            </a:extLst>
          </p:cNvPr>
          <p:cNvSpPr>
            <a:spLocks noGrp="1"/>
          </p:cNvSpPr>
          <p:nvPr>
            <p:ph type="title"/>
          </p:nvPr>
        </p:nvSpPr>
        <p:spPr/>
        <p:txBody>
          <a:bodyPr>
            <a:normAutofit/>
          </a:bodyPr>
          <a:lstStyle/>
          <a:p>
            <a:r>
              <a:rPr lang="en-US" altLang="zh-CN" dirty="0"/>
              <a:t>MTE </a:t>
            </a:r>
            <a:r>
              <a:rPr lang="zh-CN" altLang="en-US" dirty="0"/>
              <a:t>框架</a:t>
            </a:r>
            <a:br>
              <a:rPr lang="en-US" altLang="zh-CN" dirty="0"/>
            </a:br>
            <a:r>
              <a:rPr lang="en-US" altLang="zh-CN" sz="2400" dirty="0"/>
              <a:t>MTE </a:t>
            </a:r>
            <a:r>
              <a:rPr lang="zh-CN" altLang="en-US" sz="2400" dirty="0"/>
              <a:t>估计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446B739-985E-6E5A-BC93-533D6E509BC8}"/>
                  </a:ext>
                </a:extLst>
              </p:cNvPr>
              <p:cNvSpPr>
                <a:spLocks noGrp="1"/>
              </p:cNvSpPr>
              <p:nvPr>
                <p:ph idx="1"/>
              </p:nvPr>
            </p:nvSpPr>
            <p:spPr/>
            <p:txBody>
              <a:bodyPr>
                <a:normAutofit fontScale="62500" lnSpcReduction="20000"/>
              </a:bodyPr>
              <a:lstStyle/>
              <a:p>
                <a:pPr>
                  <a:lnSpc>
                    <a:spcPct val="120000"/>
                  </a:lnSpc>
                </a:pPr>
                <a:r>
                  <a:rPr lang="zh-CN" altLang="en-US" dirty="0"/>
                  <a:t>因为</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e>
                          </m:d>
                          <m:r>
                            <a:rPr lang="zh-CN" altLang="en-US" i="1" smtClean="0">
                              <a:latin typeface="Cambria Math" panose="02040503050406030204" pitchFamily="18" charset="0"/>
                            </a:rPr>
                            <m:t>𝑢</m:t>
                          </m:r>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𝑢</m:t>
                              </m:r>
                            </m:sup>
                            <m:e>
                              <m:r>
                                <a:rPr lang="zh-CN" altLang="en-US" i="1" smtClean="0">
                                  <a:latin typeface="Cambria Math" panose="02040503050406030204" pitchFamily="18" charset="0"/>
                                </a:rPr>
                                <m:t>𝐸</m:t>
                              </m:r>
                            </m:e>
                          </m:nary>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𝑡</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𝑑𝑡</m:t>
                          </m:r>
                          <m:r>
                            <a:rPr lang="zh-CN" altLang="en-US" i="1" smtClean="0">
                              <a:latin typeface="Cambria Math" panose="02040503050406030204" pitchFamily="18" charset="0"/>
                            </a:rPr>
                            <m:t>.</m:t>
                          </m:r>
                        </m:e>
                      </m:eqArr>
                    </m:oMath>
                  </m:oMathPara>
                </a14:m>
                <a:endParaRPr lang="en-US" altLang="zh-CN" dirty="0"/>
              </a:p>
              <a:p>
                <a:pPr>
                  <a:lnSpc>
                    <a:spcPct val="120000"/>
                  </a:lnSpc>
                </a:pPr>
                <a:r>
                  <a:rPr lang="en-US" altLang="zh-CN" dirty="0"/>
                  <a:t>MTE </a:t>
                </a:r>
                <a:r>
                  <a:rPr lang="zh-CN" altLang="en-US" dirty="0"/>
                  <a:t>可以识别</a:t>
                </a:r>
                <a:endParaRPr lang="en-US" altLang="zh-CN" dirty="0"/>
              </a:p>
              <a:p>
                <a:pPr marL="0" indent="0">
                  <a:lnSpc>
                    <a:spcPct val="120000"/>
                  </a:lnSpc>
                  <a:buNone/>
                </a:pPr>
                <a14:m>
                  <m:oMathPara xmlns:m="http://schemas.openxmlformats.org/officeDocument/2006/math">
                    <m:oMath>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𝑝</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num>
                        <m:den>
                          <m:r>
                            <a:rPr lang="zh-CN" altLang="en-US" i="1" smtClean="0">
                              <a:latin typeface="Cambria Math" panose="02040503050406030204" pitchFamily="18" charset="0"/>
                            </a:rPr>
                            <m:t>𝜕</m:t>
                          </m:r>
                          <m:r>
                            <a:rPr lang="zh-CN" altLang="en-US" i="1" smtClean="0">
                              <a:latin typeface="Cambria Math" panose="02040503050406030204" pitchFamily="18" charset="0"/>
                            </a:rPr>
                            <m:t>𝑢</m:t>
                          </m:r>
                        </m:den>
                      </m:f>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𝑀𝑇𝐸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检验是否存在未观测异质性因果效应？若𝐸</a:t>
                </a:r>
                <a:r>
                  <a:rPr lang="en-US" altLang="zh-CN" dirty="0"/>
                  <a:t>[</a:t>
                </a:r>
                <a:r>
                  <a:rPr lang="zh-CN" altLang="en-US" dirty="0"/>
                  <a:t>𝑌 </a:t>
                </a:r>
                <a:r>
                  <a:rPr lang="en-US" altLang="zh-CN" dirty="0"/>
                  <a:t>|</a:t>
                </a:r>
                <a:r>
                  <a:rPr lang="zh-CN" altLang="en-US" dirty="0"/>
                  <a:t>𝑝</a:t>
                </a:r>
                <a:r>
                  <a:rPr lang="en-US" altLang="zh-CN" dirty="0"/>
                  <a:t>(</a:t>
                </a:r>
                <a:r>
                  <a:rPr lang="zh-CN" altLang="en-US" dirty="0"/>
                  <a:t>𝑍</a:t>
                </a:r>
                <a:r>
                  <a:rPr lang="en-US" altLang="zh-CN" dirty="0"/>
                  <a:t>) = </a:t>
                </a:r>
                <a:r>
                  <a:rPr lang="zh-CN" altLang="en-US" dirty="0"/>
                  <a:t>𝑢</a:t>
                </a:r>
                <a:r>
                  <a:rPr lang="en-US" altLang="zh-CN" dirty="0"/>
                  <a:t>, </a:t>
                </a:r>
                <a:r>
                  <a:rPr lang="zh-CN" altLang="en-US" dirty="0"/>
                  <a:t>𝑋</a:t>
                </a:r>
                <a:r>
                  <a:rPr lang="en-US" altLang="zh-CN" dirty="0"/>
                  <a:t>] </a:t>
                </a:r>
                <a:r>
                  <a:rPr lang="zh-CN" altLang="en-US" dirty="0"/>
                  <a:t>是𝑢 的非线性函数，则𝑀𝑇 𝐸</a:t>
                </a:r>
                <a:r>
                  <a:rPr lang="en-US" altLang="zh-CN" dirty="0"/>
                  <a:t>(</a:t>
                </a:r>
                <a:r>
                  <a:rPr lang="zh-CN" altLang="en-US" dirty="0"/>
                  <a:t>𝑢</a:t>
                </a:r>
                <a:r>
                  <a:rPr lang="en-US" altLang="zh-CN" dirty="0"/>
                  <a:t>, </a:t>
                </a:r>
                <a:r>
                  <a:rPr lang="zh-CN" altLang="en-US" dirty="0"/>
                  <a:t>𝑋</a:t>
                </a:r>
                <a:r>
                  <a:rPr lang="en-US" altLang="zh-CN" dirty="0"/>
                  <a:t>) </a:t>
                </a:r>
                <a:r>
                  <a:rPr lang="zh-CN" altLang="en-US" dirty="0"/>
                  <a:t>将随𝑢 变化而变化，存在未观测异质性，否则，若𝑀𝑇 𝐸</a:t>
                </a:r>
                <a:r>
                  <a:rPr lang="en-US" altLang="zh-CN" dirty="0"/>
                  <a:t>(</a:t>
                </a:r>
                <a:r>
                  <a:rPr lang="zh-CN" altLang="en-US" dirty="0"/>
                  <a:t>𝑢</a:t>
                </a:r>
                <a:r>
                  <a:rPr lang="en-US" altLang="zh-CN" dirty="0"/>
                  <a:t>, </a:t>
                </a:r>
                <a:r>
                  <a:rPr lang="zh-CN" altLang="en-US" dirty="0"/>
                  <a:t>𝑋</a:t>
                </a:r>
                <a:r>
                  <a:rPr lang="en-US" altLang="zh-CN" dirty="0"/>
                  <a:t>) </a:t>
                </a:r>
                <a:r>
                  <a:rPr lang="zh-CN" altLang="en-US" dirty="0"/>
                  <a:t>是常数，不存在未观测异质性。</a:t>
                </a:r>
              </a:p>
            </p:txBody>
          </p:sp>
        </mc:Choice>
        <mc:Fallback xmlns="">
          <p:sp>
            <p:nvSpPr>
              <p:cNvPr id="3" name="内容占位符 2">
                <a:extLst>
                  <a:ext uri="{FF2B5EF4-FFF2-40B4-BE49-F238E27FC236}">
                    <a16:creationId xmlns:a16="http://schemas.microsoft.com/office/drawing/2014/main" id="{3446B739-985E-6E5A-BC93-533D6E509BC8}"/>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87BCB4D-7B89-61C8-2F18-06CBAEF7DCB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9AC381C-A641-0928-74FA-4575178CE5A5}"/>
              </a:ext>
            </a:extLst>
          </p:cNvPr>
          <p:cNvSpPr>
            <a:spLocks noGrp="1"/>
          </p:cNvSpPr>
          <p:nvPr>
            <p:ph type="sldNum" sz="quarter" idx="12"/>
          </p:nvPr>
        </p:nvSpPr>
        <p:spPr/>
        <p:txBody>
          <a:bodyPr/>
          <a:lstStyle/>
          <a:p>
            <a:fld id="{D41FC515-8169-4A29-AA56-DBE520D5741B}" type="slidenum">
              <a:rPr lang="zh-CN" altLang="en-US" smtClean="0"/>
              <a:t>65</a:t>
            </a:fld>
            <a:endParaRPr lang="zh-CN" altLang="en-US"/>
          </a:p>
        </p:txBody>
      </p:sp>
    </p:spTree>
    <p:extLst>
      <p:ext uri="{BB962C8B-B14F-4D97-AF65-F5344CB8AC3E}">
        <p14:creationId xmlns:p14="http://schemas.microsoft.com/office/powerpoint/2010/main" val="363204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EB614E-84B7-21D3-7984-A32CCD7DC2AF}"/>
              </a:ext>
            </a:extLst>
          </p:cNvPr>
          <p:cNvSpPr>
            <a:spLocks noGrp="1"/>
          </p:cNvSpPr>
          <p:nvPr>
            <p:ph type="title"/>
          </p:nvPr>
        </p:nvSpPr>
        <p:spPr/>
        <p:txBody>
          <a:bodyPr/>
          <a:lstStyle/>
          <a:p>
            <a:r>
              <a:rPr lang="en-US" altLang="zh-CN" dirty="0"/>
              <a:t>MTE </a:t>
            </a:r>
            <a:r>
              <a:rPr lang="zh-CN" altLang="en-US" dirty="0"/>
              <a:t>框架</a:t>
            </a:r>
            <a:br>
              <a:rPr lang="en-US" altLang="zh-CN" dirty="0"/>
            </a:br>
            <a:r>
              <a:rPr lang="en-US" altLang="zh-CN" sz="2400" dirty="0"/>
              <a:t>MTE </a:t>
            </a:r>
            <a:r>
              <a:rPr lang="zh-CN" altLang="en-US" sz="2400" dirty="0"/>
              <a:t>估计</a:t>
            </a:r>
            <a:endParaRPr lang="zh-CN" altLang="en-US" dirty="0"/>
          </a:p>
        </p:txBody>
      </p:sp>
      <p:pic>
        <p:nvPicPr>
          <p:cNvPr id="7" name="内容占位符 6">
            <a:extLst>
              <a:ext uri="{FF2B5EF4-FFF2-40B4-BE49-F238E27FC236}">
                <a16:creationId xmlns:a16="http://schemas.microsoft.com/office/drawing/2014/main" id="{B4572AFB-A1BD-2E90-0C4A-A9248BEC498B}"/>
              </a:ext>
            </a:extLst>
          </p:cNvPr>
          <p:cNvPicPr>
            <a:picLocks noGrp="1" noChangeAspect="1"/>
          </p:cNvPicPr>
          <p:nvPr>
            <p:ph idx="1"/>
          </p:nvPr>
        </p:nvPicPr>
        <p:blipFill>
          <a:blip r:embed="rId2"/>
          <a:stretch>
            <a:fillRect/>
          </a:stretch>
        </p:blipFill>
        <p:spPr>
          <a:xfrm>
            <a:off x="628650" y="2160814"/>
            <a:ext cx="3226640" cy="2820951"/>
          </a:xfrm>
          <a:prstGeom prst="rect">
            <a:avLst/>
          </a:prstGeom>
        </p:spPr>
      </p:pic>
      <p:sp>
        <p:nvSpPr>
          <p:cNvPr id="4" name="页脚占位符 3">
            <a:extLst>
              <a:ext uri="{FF2B5EF4-FFF2-40B4-BE49-F238E27FC236}">
                <a16:creationId xmlns:a16="http://schemas.microsoft.com/office/drawing/2014/main" id="{0BABC87E-0EE1-48E0-15D3-1ADCACB9755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6573158-9126-CC1B-DA81-9AECACB5EFF2}"/>
              </a:ext>
            </a:extLst>
          </p:cNvPr>
          <p:cNvSpPr>
            <a:spLocks noGrp="1"/>
          </p:cNvSpPr>
          <p:nvPr>
            <p:ph type="sldNum" sz="quarter" idx="12"/>
          </p:nvPr>
        </p:nvSpPr>
        <p:spPr/>
        <p:txBody>
          <a:bodyPr/>
          <a:lstStyle/>
          <a:p>
            <a:fld id="{D41FC515-8169-4A29-AA56-DBE520D5741B}" type="slidenum">
              <a:rPr lang="zh-CN" altLang="en-US" smtClean="0"/>
              <a:t>66</a:t>
            </a:fld>
            <a:endParaRPr lang="zh-CN" altLang="en-US"/>
          </a:p>
        </p:txBody>
      </p:sp>
      <p:pic>
        <p:nvPicPr>
          <p:cNvPr id="9" name="图片 8">
            <a:extLst>
              <a:ext uri="{FF2B5EF4-FFF2-40B4-BE49-F238E27FC236}">
                <a16:creationId xmlns:a16="http://schemas.microsoft.com/office/drawing/2014/main" id="{AFE2D7CC-2425-0A73-1FCB-352877287C0B}"/>
              </a:ext>
            </a:extLst>
          </p:cNvPr>
          <p:cNvPicPr>
            <a:picLocks noChangeAspect="1"/>
          </p:cNvPicPr>
          <p:nvPr/>
        </p:nvPicPr>
        <p:blipFill>
          <a:blip r:embed="rId3"/>
          <a:stretch>
            <a:fillRect/>
          </a:stretch>
        </p:blipFill>
        <p:spPr>
          <a:xfrm>
            <a:off x="4332942" y="2243663"/>
            <a:ext cx="3564216" cy="2655251"/>
          </a:xfrm>
          <a:prstGeom prst="rect">
            <a:avLst/>
          </a:prstGeom>
        </p:spPr>
      </p:pic>
    </p:spTree>
    <p:extLst>
      <p:ext uri="{BB962C8B-B14F-4D97-AF65-F5344CB8AC3E}">
        <p14:creationId xmlns:p14="http://schemas.microsoft.com/office/powerpoint/2010/main" val="7568442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929DED-1CF3-7E87-36A7-94510365B443}"/>
              </a:ext>
            </a:extLst>
          </p:cNvPr>
          <p:cNvSpPr>
            <a:spLocks noGrp="1"/>
          </p:cNvSpPr>
          <p:nvPr>
            <p:ph type="title"/>
          </p:nvPr>
        </p:nvSpPr>
        <p:spPr/>
        <p:txBody>
          <a:bodyPr/>
          <a:lstStyle/>
          <a:p>
            <a:r>
              <a:rPr lang="en-US" altLang="zh-CN" dirty="0"/>
              <a:t>MTE </a:t>
            </a:r>
            <a:r>
              <a:rPr lang="zh-CN" altLang="en-US" dirty="0"/>
              <a:t>框架</a:t>
            </a:r>
            <a:br>
              <a:rPr lang="en-US" altLang="zh-CN" dirty="0"/>
            </a:br>
            <a:r>
              <a:rPr lang="en-US" altLang="zh-CN" sz="2400" dirty="0"/>
              <a:t>MTE </a:t>
            </a:r>
            <a:r>
              <a:rPr lang="zh-CN" altLang="en-US" sz="2400" dirty="0"/>
              <a:t>估计</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E615C20-C316-B18C-0BC6-95AD27DDA315}"/>
                  </a:ext>
                </a:extLst>
              </p:cNvPr>
              <p:cNvSpPr>
                <a:spLocks noGrp="1"/>
              </p:cNvSpPr>
              <p:nvPr>
                <p:ph idx="1"/>
              </p:nvPr>
            </p:nvSpPr>
            <p:spPr/>
            <p:txBody>
              <a:bodyPr>
                <a:normAutofit fontScale="77500" lnSpcReduction="20000"/>
              </a:bodyPr>
              <a:lstStyle/>
              <a:p>
                <a:pPr>
                  <a:lnSpc>
                    <a:spcPct val="120000"/>
                  </a:lnSpc>
                </a:pPr>
                <a:r>
                  <a:rPr lang="zh-CN" altLang="en-US" dirty="0"/>
                  <a:t>假设潜在结果具有下列函数形式：</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𝑑</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𝑑</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𝑉</m:t>
                          </m:r>
                        </m:e>
                        <m:sub>
                          <m:r>
                            <a:rPr lang="zh-CN" altLang="en-US" i="1" smtClean="0">
                              <a:latin typeface="Cambria Math" panose="02040503050406030204" pitchFamily="18" charset="0"/>
                            </a:rPr>
                            <m:t>𝑑</m:t>
                          </m:r>
                        </m:sub>
                      </m:sSub>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𝑉</m:t>
                          </m:r>
                        </m:e>
                        <m:sub>
                          <m:r>
                            <a:rPr lang="zh-CN" altLang="en-US" i="1" smtClean="0">
                              <a:latin typeface="Cambria Math" panose="02040503050406030204" pitchFamily="18" charset="0"/>
                            </a:rPr>
                            <m:t>𝑑</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𝑑</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𝑑</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m:rPr>
                          <m:nor/>
                        </m:rPr>
                        <a:rPr lang="zh-CN" altLang="en-US" i="0" smtClean="0">
                          <a:latin typeface="Cambria Math" panose="02040503050406030204" pitchFamily="18" charset="0"/>
                        </a:rPr>
                        <m:t> for </m:t>
                      </m:r>
                      <m:r>
                        <a:rPr lang="zh-CN" altLang="en-US" i="1" smtClean="0">
                          <a:latin typeface="Cambria Math" panose="02040503050406030204" pitchFamily="18" charset="0"/>
                        </a:rPr>
                        <m:t>𝑑</m:t>
                      </m:r>
                      <m:r>
                        <a:rPr lang="zh-CN" altLang="en-US" i="1" smtClean="0">
                          <a:latin typeface="Cambria Math" panose="02040503050406030204" pitchFamily="18" charset="0"/>
                        </a:rPr>
                        <m:t>=0,1</m:t>
                      </m:r>
                    </m:oMath>
                  </m:oMathPara>
                </a14:m>
                <a:endParaRPr lang="en-US" altLang="zh-CN" dirty="0"/>
              </a:p>
              <a:p>
                <a:pPr>
                  <a:lnSpc>
                    <a:spcPct val="120000"/>
                  </a:lnSpc>
                </a:pPr>
                <a:r>
                  <a:rPr lang="zh-CN" altLang="en-US" dirty="0"/>
                  <a:t>在上述假设下，可以证明</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r>
                            <a:rPr lang="zh-CN" altLang="en-US" i="1" smtClean="0">
                              <a:latin typeface="Cambria Math" panose="02040503050406030204" pitchFamily="18" charset="0"/>
                            </a:rPr>
                            <m:t>𝑃</m:t>
                          </m:r>
                          <m:r>
                            <a:rPr lang="zh-CN" altLang="en-US" i="1" smtClean="0">
                              <a:latin typeface="Cambria Math" panose="02040503050406030204" pitchFamily="18" charset="0"/>
                            </a:rPr>
                            <m:t>=</m:t>
                          </m:r>
                          <m:r>
                            <a:rPr lang="zh-CN" altLang="en-US" i="1" smtClean="0">
                              <a:latin typeface="Cambria Math" panose="02040503050406030204" pitchFamily="18" charset="0"/>
                            </a:rPr>
                            <m:t>𝑢</m:t>
                          </m:r>
                        </m:e>
                      </m:d>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𝑢𝑥</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𝑥</m:t>
                          </m:r>
                        </m:e>
                      </m:d>
                    </m:oMath>
                  </m:oMathPara>
                </a14:m>
                <a:endParaRPr lang="en-US" altLang="zh-CN" dirty="0"/>
              </a:p>
              <a:p>
                <a:pPr>
                  <a:lnSpc>
                    <a:spcPct val="120000"/>
                  </a:lnSpc>
                </a:pPr>
                <a:r>
                  <a:rPr lang="zh-CN" altLang="en-US" dirty="0"/>
                  <a:t>其中</a:t>
                </a:r>
                <a14:m>
                  <m:oMath xmlns:m="http://schemas.openxmlformats.org/officeDocument/2006/math">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nary>
                      <m:naryPr>
                        <m:limLoc m:val="subSup"/>
                        <m:ctrlPr>
                          <a:rPr lang="zh-CN" altLang="en-US" i="1" smtClean="0">
                            <a:latin typeface="Cambria Math" panose="02040503050406030204" pitchFamily="18" charset="0"/>
                          </a:rPr>
                        </m:ctrlPr>
                      </m:naryPr>
                      <m:sub>
                        <m:r>
                          <a:rPr lang="zh-CN" altLang="en-US" i="1" smtClean="0">
                            <a:latin typeface="Cambria Math" panose="02040503050406030204" pitchFamily="18" charset="0"/>
                          </a:rPr>
                          <m:t>0</m:t>
                        </m:r>
                      </m:sub>
                      <m:sup>
                        <m:r>
                          <a:rPr lang="zh-CN" altLang="en-US" i="1" smtClean="0">
                            <a:latin typeface="Cambria Math" panose="02040503050406030204" pitchFamily="18" charset="0"/>
                          </a:rPr>
                          <m:t>𝑢</m:t>
                        </m:r>
                      </m:sup>
                      <m:e>
                        <m:r>
                          <a:rPr lang="zh-CN" altLang="en-US" i="1" smtClean="0">
                            <a:latin typeface="Cambria Math" panose="02040503050406030204" pitchFamily="18" charset="0"/>
                          </a:rPr>
                          <m:t>𝐸</m:t>
                        </m:r>
                      </m:e>
                    </m:nary>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𝑉</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𝑉</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r>
                          <a:rPr lang="zh-CN" altLang="en-US" i="1" smtClean="0">
                            <a:latin typeface="Cambria Math" panose="02040503050406030204" pitchFamily="18" charset="0"/>
                          </a:rPr>
                          <m:t>𝑈</m:t>
                        </m:r>
                        <m:r>
                          <a:rPr lang="zh-CN" altLang="en-US" i="1" smtClean="0">
                            <a:latin typeface="Cambria Math" panose="02040503050406030204" pitchFamily="18" charset="0"/>
                          </a:rPr>
                          <m:t>=</m:t>
                        </m:r>
                        <m:r>
                          <a:rPr lang="zh-CN" altLang="en-US" i="1" smtClean="0">
                            <a:latin typeface="Cambria Math" panose="02040503050406030204" pitchFamily="18" charset="0"/>
                          </a:rPr>
                          <m:t>𝑣</m:t>
                        </m:r>
                      </m:e>
                    </m:d>
                    <m:r>
                      <a:rPr lang="zh-CN" altLang="en-US" i="1" smtClean="0">
                        <a:latin typeface="Cambria Math" panose="02040503050406030204" pitchFamily="18" charset="0"/>
                      </a:rPr>
                      <m:t>𝑑𝑣</m:t>
                    </m:r>
                  </m:oMath>
                </a14:m>
                <a:endParaRPr lang="en-US" altLang="zh-CN" dirty="0"/>
              </a:p>
              <a:p>
                <a:pPr>
                  <a:lnSpc>
                    <a:spcPct val="120000"/>
                  </a:lnSpc>
                </a:pPr>
                <a:r>
                  <a:rPr lang="zh-CN" altLang="en-US" dirty="0"/>
                  <a:t>则</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𝑀𝑇𝐸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m:t>
                          </m:r>
                        </m:num>
                        <m:den>
                          <m:r>
                            <a:rPr lang="zh-CN" altLang="en-US" i="1" smtClean="0">
                              <a:latin typeface="Cambria Math" panose="02040503050406030204" pitchFamily="18" charset="0"/>
                            </a:rPr>
                            <m:t>𝜕</m:t>
                          </m:r>
                          <m:r>
                            <a:rPr lang="zh-CN" altLang="en-US" i="1" smtClean="0">
                              <a:latin typeface="Cambria Math" panose="02040503050406030204" pitchFamily="18" charset="0"/>
                            </a:rPr>
                            <m:t>𝑢</m:t>
                          </m:r>
                        </m:den>
                      </m:f>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𝑥</m:t>
                          </m:r>
                        </m:e>
                      </m:d>
                    </m:oMath>
                  </m:oMathPara>
                </a14:m>
                <a:endParaRPr lang="en-US" altLang="zh-CN" dirty="0"/>
              </a:p>
              <a:p>
                <a:pPr>
                  <a:lnSpc>
                    <a:spcPct val="120000"/>
                  </a:lnSpc>
                </a:pPr>
                <a:r>
                  <a:rPr lang="zh-CN" altLang="en-US" dirty="0"/>
                  <a:t>假设</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𝑍</m:t>
                        </m:r>
                      </m:e>
                    </m:d>
                    <m:r>
                      <a:rPr lang="en-US" altLang="zh-CN" i="1" smtClean="0">
                        <a:latin typeface="Cambria Math" panose="02040503050406030204" pitchFamily="18" charset="0"/>
                      </a:rPr>
                      <m:t>⊥</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0</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𝑈</m:t>
                    </m:r>
                    <m:r>
                      <a:rPr lang="en-US" altLang="zh-CN" i="1">
                        <a:latin typeface="Cambria Math" panose="02040503050406030204" pitchFamily="18" charset="0"/>
                      </a:rPr>
                      <m:t>)，则</m:t>
                    </m:r>
                    <m:r>
                      <a:rPr lang="en-US" altLang="zh-CN" i="1">
                        <a:latin typeface="Cambria Math" panose="02040503050406030204" pitchFamily="18" charset="0"/>
                      </a:rPr>
                      <m:t>𝐾</m:t>
                    </m:r>
                    <m:r>
                      <a:rPr lang="en-US" altLang="zh-CN" i="1">
                        <a:latin typeface="Cambria Math" panose="02040503050406030204" pitchFamily="18" charset="0"/>
                      </a:rPr>
                      <m:t>(</m:t>
                    </m:r>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𝐾</m:t>
                    </m:r>
                    <m:r>
                      <a:rPr lang="en-US" altLang="zh-CN" i="1">
                        <a:latin typeface="Cambria Math" panose="02040503050406030204" pitchFamily="18" charset="0"/>
                      </a:rPr>
                      <m:t>(</m:t>
                    </m:r>
                    <m:r>
                      <a:rPr lang="en-US" altLang="zh-CN" i="1">
                        <a:latin typeface="Cambria Math" panose="02040503050406030204" pitchFamily="18" charset="0"/>
                      </a:rPr>
                      <m:t>𝑢</m:t>
                    </m:r>
                    <m:r>
                      <a:rPr lang="en-US" altLang="zh-CN" i="1">
                        <a:latin typeface="Cambria Math" panose="02040503050406030204" pitchFamily="18" charset="0"/>
                      </a:rPr>
                      <m:t>)，从而</m:t>
                    </m:r>
                  </m:oMath>
                </a14:m>
                <a:endParaRPr lang="en-US" altLang="zh-CN" dirty="0"/>
              </a:p>
              <a:p>
                <a:pPr marL="0" indent="0">
                  <a:lnSpc>
                    <a:spcPct val="120000"/>
                  </a:lnSpc>
                  <a:buNone/>
                </a:pPr>
                <a14:m>
                  <m:oMathPara xmlns:m="http://schemas.openxmlformats.org/officeDocument/2006/math">
                    <m:oMath>
                      <m:eqArr>
                        <m:eqArrPr>
                          <m:ctrlPr>
                            <a:rPr lang="en-US" altLang="zh-CN" i="1" smtClean="0">
                              <a:latin typeface="Cambria Math" panose="02040503050406030204" pitchFamily="18" charset="0"/>
                            </a:rPr>
                          </m:ctrlPr>
                        </m:eqArrPr>
                        <m:e>
                          <m:r>
                            <a:rPr lang="en-US" altLang="zh-CN" i="1" smtClean="0">
                              <a:latin typeface="Cambria Math" panose="02040503050406030204" pitchFamily="18" charset="0"/>
                            </a:rPr>
                            <m:t>𝑌</m:t>
                          </m:r>
                          <m:r>
                            <a:rPr lang="en-US" altLang="zh-CN" i="1" smtClean="0">
                              <a:latin typeface="Cambria Math" panose="02040503050406030204" pitchFamily="18" charset="0"/>
                            </a:rPr>
                            <m:t>=</m:t>
                          </m:r>
                          <m:r>
                            <a:rPr lang="en-US" altLang="zh-CN" i="1" smtClean="0">
                              <a:latin typeface="Cambria Math" panose="02040503050406030204" pitchFamily="18" charset="0"/>
                            </a:rPr>
                            <m:t>𝑋</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𝑃𝑋</m:t>
                          </m:r>
                          <m:r>
                            <a:rPr lang="en-US" altLang="zh-CN" i="1" smtClean="0">
                              <a:latin typeface="Cambria Math" panose="02040503050406030204" pitchFamily="18" charset="0"/>
                            </a:rPr>
                            <m:t>′</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1</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e>
                          </m:d>
                          <m:r>
                            <a:rPr lang="en-US" altLang="zh-CN" i="1" smtClean="0">
                              <a:latin typeface="Cambria Math" panose="02040503050406030204" pitchFamily="18" charset="0"/>
                            </a:rPr>
                            <m:t>+</m:t>
                          </m:r>
                          <m:r>
                            <a:rPr lang="en-US" altLang="zh-CN" i="1" smtClean="0">
                              <a:latin typeface="Cambria Math" panose="02040503050406030204" pitchFamily="18" charset="0"/>
                            </a:rPr>
                            <m:t>𝐾</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𝑃</m:t>
                              </m:r>
                            </m:e>
                          </m:d>
                          <m:r>
                            <a:rPr lang="en-US" altLang="zh-CN" i="1" smtClean="0">
                              <a:latin typeface="Cambria Math" panose="02040503050406030204" pitchFamily="18" charset="0"/>
                            </a:rPr>
                            <m:t>+</m:t>
                          </m:r>
                          <m:r>
                            <a:rPr lang="en-US" altLang="zh-CN" i="1" smtClean="0">
                              <a:latin typeface="Cambria Math" panose="02040503050406030204" pitchFamily="18" charset="0"/>
                            </a:rPr>
                            <m:t>𝜀</m:t>
                          </m:r>
                          <m:r>
                            <a:rPr lang="en-US" altLang="zh-CN" i="1" smtClean="0">
                              <a:latin typeface="Cambria Math" panose="02040503050406030204" pitchFamily="18" charset="0"/>
                            </a:rPr>
                            <m:t>,</m:t>
                          </m:r>
                          <m:r>
                            <m:rPr>
                              <m:nor/>
                            </m:rPr>
                            <a:rPr lang="en-US" altLang="zh-CN" i="0" smtClean="0">
                              <a:latin typeface="Cambria Math" panose="02040503050406030204" pitchFamily="18" charset="0"/>
                            </a:rPr>
                            <m:t> 其中 </m:t>
                          </m:r>
                          <m:r>
                            <a:rPr lang="en-US" altLang="zh-CN" i="1" smtClean="0">
                              <a:latin typeface="Cambria Math" panose="02040503050406030204" pitchFamily="18" charset="0"/>
                            </a:rPr>
                            <m:t>𝜀</m:t>
                          </m:r>
                          <m:r>
                            <a:rPr lang="en-US" altLang="zh-CN" i="1" smtClean="0">
                              <a:latin typeface="Cambria Math" panose="02040503050406030204" pitchFamily="18" charset="0"/>
                            </a:rPr>
                            <m:t>=</m:t>
                          </m:r>
                          <m:r>
                            <a:rPr lang="en-US" altLang="zh-CN" i="1" smtClean="0">
                              <a:latin typeface="Cambria Math" panose="02040503050406030204" pitchFamily="18" charset="0"/>
                            </a:rPr>
                            <m:t>𝑌</m:t>
                          </m:r>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𝑌</m:t>
                              </m:r>
                              <m:r>
                                <a:rPr lang="en-US" altLang="zh-CN" i="1" smtClean="0">
                                  <a:latin typeface="Cambria Math" panose="02040503050406030204" pitchFamily="18" charset="0"/>
                                </a:rPr>
                                <m:t>|</m:t>
                              </m:r>
                              <m:r>
                                <a:rPr lang="en-US" altLang="zh-CN" i="1" smtClean="0">
                                  <a:latin typeface="Cambria Math" panose="02040503050406030204" pitchFamily="18" charset="0"/>
                                </a:rPr>
                                <m:t>𝑋</m:t>
                              </m:r>
                              <m:r>
                                <a:rPr lang="en-US" altLang="zh-CN" i="1" smtClean="0">
                                  <a:latin typeface="Cambria Math" panose="02040503050406030204" pitchFamily="18" charset="0"/>
                                </a:rPr>
                                <m:t>,</m:t>
                              </m:r>
                              <m:r>
                                <a:rPr lang="en-US" altLang="zh-CN" i="1" smtClean="0">
                                  <a:latin typeface="Cambria Math" panose="02040503050406030204" pitchFamily="18" charset="0"/>
                                </a:rPr>
                                <m:t>𝑃</m:t>
                              </m:r>
                            </m:e>
                          </m:d>
                        </m:e>
                      </m:eqArr>
                    </m:oMath>
                  </m:oMathPara>
                </a14:m>
                <a:endParaRPr lang="en-US" altLang="zh-CN" dirty="0"/>
              </a:p>
            </p:txBody>
          </p:sp>
        </mc:Choice>
        <mc:Fallback xmlns="">
          <p:sp>
            <p:nvSpPr>
              <p:cNvPr id="3" name="内容占位符 2">
                <a:extLst>
                  <a:ext uri="{FF2B5EF4-FFF2-40B4-BE49-F238E27FC236}">
                    <a16:creationId xmlns:a16="http://schemas.microsoft.com/office/drawing/2014/main" id="{0E615C20-C316-B18C-0BC6-95AD27DDA315}"/>
                  </a:ext>
                </a:extLst>
              </p:cNvPr>
              <p:cNvSpPr>
                <a:spLocks noGrp="1" noRot="1" noChangeAspect="1" noMove="1" noResize="1" noEditPoints="1" noAdjustHandles="1" noChangeArrowheads="1" noChangeShapeType="1" noTextEdit="1"/>
              </p:cNvSpPr>
              <p:nvPr>
                <p:ph idx="1"/>
              </p:nvPr>
            </p:nvSpPr>
            <p:spPr>
              <a:blipFill>
                <a:blip r:embed="rId2"/>
                <a:stretch>
                  <a:fillRect l="-850" t="-8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7AFA564-16B0-2B9B-6D50-0DB834820F73}"/>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F6F0D22-00EF-3CEB-884A-700B44FE7AFB}"/>
              </a:ext>
            </a:extLst>
          </p:cNvPr>
          <p:cNvSpPr>
            <a:spLocks noGrp="1"/>
          </p:cNvSpPr>
          <p:nvPr>
            <p:ph type="sldNum" sz="quarter" idx="12"/>
          </p:nvPr>
        </p:nvSpPr>
        <p:spPr/>
        <p:txBody>
          <a:bodyPr/>
          <a:lstStyle/>
          <a:p>
            <a:fld id="{D41FC515-8169-4A29-AA56-DBE520D5741B}" type="slidenum">
              <a:rPr lang="zh-CN" altLang="en-US" smtClean="0"/>
              <a:t>67</a:t>
            </a:fld>
            <a:endParaRPr lang="zh-CN" altLang="en-US"/>
          </a:p>
        </p:txBody>
      </p:sp>
    </p:spTree>
    <p:extLst>
      <p:ext uri="{BB962C8B-B14F-4D97-AF65-F5344CB8AC3E}">
        <p14:creationId xmlns:p14="http://schemas.microsoft.com/office/powerpoint/2010/main" val="18263432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71F070-A6F1-6254-EA0B-8444C4FA0FEC}"/>
              </a:ext>
            </a:extLst>
          </p:cNvPr>
          <p:cNvSpPr>
            <a:spLocks noGrp="1"/>
          </p:cNvSpPr>
          <p:nvPr>
            <p:ph type="title"/>
          </p:nvPr>
        </p:nvSpPr>
        <p:spPr/>
        <p:txBody>
          <a:bodyPr/>
          <a:lstStyle/>
          <a:p>
            <a:r>
              <a:rPr lang="en-US" altLang="zh-CN" dirty="0"/>
              <a:t>MTE </a:t>
            </a:r>
            <a:r>
              <a:rPr lang="zh-CN" altLang="en-US" dirty="0"/>
              <a:t>框架</a:t>
            </a:r>
            <a:br>
              <a:rPr lang="en-US" altLang="zh-CN" dirty="0"/>
            </a:br>
            <a:r>
              <a:rPr lang="en-US" altLang="zh-CN" sz="2400" dirty="0"/>
              <a:t>MTE </a:t>
            </a:r>
            <a:r>
              <a:rPr lang="zh-CN" altLang="en-US" sz="2400" dirty="0"/>
              <a:t>估计</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A033EF-D079-4394-36F7-D716A585D116}"/>
                  </a:ext>
                </a:extLst>
              </p:cNvPr>
              <p:cNvSpPr>
                <a:spLocks noGrp="1"/>
              </p:cNvSpPr>
              <p:nvPr>
                <p:ph idx="1"/>
              </p:nvPr>
            </p:nvSpPr>
            <p:spPr/>
            <p:txBody>
              <a:bodyPr/>
              <a:lstStyle/>
              <a:p>
                <a:pPr>
                  <a:lnSpc>
                    <a:spcPct val="100000"/>
                  </a:lnSpc>
                </a:pPr>
                <a:r>
                  <a:rPr lang="zh-CN" altLang="en-US" dirty="0"/>
                  <a:t>如何估计</a:t>
                </a:r>
                <a:r>
                  <a:rPr lang="en-US" altLang="zh-CN" dirty="0"/>
                  <a:t>MTE?</a:t>
                </a:r>
              </a:p>
              <a:p>
                <a:pPr marL="0" indent="0">
                  <a:lnSpc>
                    <a:spcPct val="100000"/>
                  </a:lnSpc>
                  <a:buNone/>
                </a:pPr>
                <a14:m>
                  <m:oMathPara xmlns:m="http://schemas.openxmlformats.org/officeDocument/2006/math">
                    <m:oMath>
                      <m:r>
                        <a:rPr lang="en-US" altLang="zh-CN" i="1" smtClean="0">
                          <a:latin typeface="Cambria Math" panose="02040503050406030204" pitchFamily="18" charset="0"/>
                        </a:rPr>
                        <m:t>𝑌</m:t>
                      </m:r>
                      <m:r>
                        <a:rPr lang="en-US" altLang="zh-CN" i="1" smtClean="0">
                          <a:latin typeface="Cambria Math" panose="02040503050406030204" pitchFamily="18" charset="0"/>
                        </a:rPr>
                        <m:t>=</m:t>
                      </m:r>
                      <m:r>
                        <a:rPr lang="en-US" altLang="zh-CN" i="1" smtClean="0">
                          <a:latin typeface="Cambria Math" panose="02040503050406030204" pitchFamily="18" charset="0"/>
                        </a:rPr>
                        <m:t>𝑋</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𝑃𝑋</m:t>
                      </m:r>
                      <m:r>
                        <a:rPr lang="en-US" altLang="zh-CN" i="1" smtClean="0">
                          <a:latin typeface="Cambria Math" panose="02040503050406030204" pitchFamily="18" charset="0"/>
                        </a:rPr>
                        <m:t>′</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1</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e>
                      </m:d>
                      <m:r>
                        <a:rPr lang="en-US" altLang="zh-CN" i="1" smtClean="0">
                          <a:latin typeface="Cambria Math" panose="02040503050406030204" pitchFamily="18" charset="0"/>
                        </a:rPr>
                        <m:t>+</m:t>
                      </m:r>
                      <m:r>
                        <a:rPr lang="en-US" altLang="zh-CN" i="1" smtClean="0">
                          <a:latin typeface="Cambria Math" panose="02040503050406030204" pitchFamily="18" charset="0"/>
                        </a:rPr>
                        <m:t>𝐾</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𝑃</m:t>
                          </m:r>
                        </m:e>
                      </m:d>
                      <m:r>
                        <a:rPr lang="en-US" altLang="zh-CN" i="1" smtClean="0">
                          <a:latin typeface="Cambria Math" panose="02040503050406030204" pitchFamily="18" charset="0"/>
                        </a:rPr>
                        <m:t>+</m:t>
                      </m:r>
                      <m:r>
                        <a:rPr lang="en-US" altLang="zh-CN" i="1" smtClean="0">
                          <a:latin typeface="Cambria Math" panose="02040503050406030204" pitchFamily="18" charset="0"/>
                        </a:rPr>
                        <m:t>𝜀</m:t>
                      </m:r>
                      <m:r>
                        <a:rPr lang="en-US" altLang="zh-CN" i="1" smtClean="0">
                          <a:latin typeface="Cambria Math" panose="02040503050406030204" pitchFamily="18" charset="0"/>
                        </a:rPr>
                        <m:t>,</m:t>
                      </m:r>
                      <m:r>
                        <m:rPr>
                          <m:nor/>
                        </m:rPr>
                        <a:rPr lang="en-US" altLang="zh-CN" i="0" smtClean="0">
                          <a:latin typeface="Cambria Math" panose="02040503050406030204" pitchFamily="18" charset="0"/>
                        </a:rPr>
                        <m:t> 其中 </m:t>
                      </m:r>
                      <m:r>
                        <a:rPr lang="en-US" altLang="zh-CN" i="1" smtClean="0">
                          <a:latin typeface="Cambria Math" panose="02040503050406030204" pitchFamily="18" charset="0"/>
                        </a:rPr>
                        <m:t>𝜀</m:t>
                      </m:r>
                      <m:r>
                        <a:rPr lang="en-US" altLang="zh-CN" i="1" smtClean="0">
                          <a:latin typeface="Cambria Math" panose="02040503050406030204" pitchFamily="18" charset="0"/>
                        </a:rPr>
                        <m:t>=</m:t>
                      </m:r>
                      <m:r>
                        <a:rPr lang="en-US" altLang="zh-CN" i="1" smtClean="0">
                          <a:latin typeface="Cambria Math" panose="02040503050406030204" pitchFamily="18" charset="0"/>
                        </a:rPr>
                        <m:t>𝑌</m:t>
                      </m:r>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𝑌</m:t>
                          </m:r>
                          <m:r>
                            <a:rPr lang="en-US" altLang="zh-CN" i="1" smtClean="0">
                              <a:latin typeface="Cambria Math" panose="02040503050406030204" pitchFamily="18" charset="0"/>
                            </a:rPr>
                            <m:t>|</m:t>
                          </m:r>
                          <m:r>
                            <a:rPr lang="en-US" altLang="zh-CN" i="1" smtClean="0">
                              <a:latin typeface="Cambria Math" panose="02040503050406030204" pitchFamily="18" charset="0"/>
                            </a:rPr>
                            <m:t>𝑋</m:t>
                          </m:r>
                          <m:r>
                            <a:rPr lang="en-US" altLang="zh-CN" i="1" smtClean="0">
                              <a:latin typeface="Cambria Math" panose="02040503050406030204" pitchFamily="18" charset="0"/>
                            </a:rPr>
                            <m:t>,</m:t>
                          </m:r>
                          <m:r>
                            <a:rPr lang="en-US" altLang="zh-CN" i="1" smtClean="0">
                              <a:latin typeface="Cambria Math" panose="02040503050406030204" pitchFamily="18" charset="0"/>
                            </a:rPr>
                            <m:t>𝑃</m:t>
                          </m:r>
                        </m:e>
                      </m:d>
                    </m:oMath>
                  </m:oMathPara>
                </a14:m>
                <a:endParaRPr lang="en-US" altLang="zh-CN" dirty="0"/>
              </a:p>
              <a:p>
                <a:pPr>
                  <a:lnSpc>
                    <a:spcPct val="100000"/>
                  </a:lnSpc>
                </a:pPr>
                <a:r>
                  <a:rPr lang="zh-CN" altLang="en-US" dirty="0"/>
                  <a:t>半参数模型</a:t>
                </a:r>
                <a:r>
                  <a:rPr lang="en-US" altLang="zh-CN" dirty="0"/>
                  <a:t>(Robinson, 1988)</a:t>
                </a:r>
              </a:p>
              <a:p>
                <a:pPr marL="0" indent="0">
                  <a:lnSpc>
                    <a:spcPct val="100000"/>
                  </a:lnSpc>
                  <a:buNone/>
                </a:pPr>
                <a14:m>
                  <m:oMathPara xmlns:m="http://schemas.openxmlformats.org/officeDocument/2006/math">
                    <m:oMath>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𝑌</m:t>
                          </m:r>
                          <m:r>
                            <a:rPr lang="en-US" altLang="zh-CN" i="1" smtClean="0">
                              <a:latin typeface="Cambria Math" panose="02040503050406030204" pitchFamily="18" charset="0"/>
                            </a:rPr>
                            <m:t>|</m:t>
                          </m:r>
                          <m:r>
                            <a:rPr lang="en-US" altLang="zh-CN" i="1" smtClean="0">
                              <a:latin typeface="Cambria Math" panose="02040503050406030204" pitchFamily="18" charset="0"/>
                            </a:rPr>
                            <m:t>𝑃</m:t>
                          </m:r>
                        </m:e>
                      </m:d>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𝑋</m:t>
                          </m:r>
                          <m:r>
                            <a:rPr lang="en-US" altLang="zh-CN" i="1" smtClean="0">
                              <a:latin typeface="Cambria Math" panose="02040503050406030204" pitchFamily="18" charset="0"/>
                            </a:rPr>
                            <m:t>|</m:t>
                          </m:r>
                          <m:r>
                            <a:rPr lang="en-US" altLang="zh-CN" i="1" smtClean="0">
                              <a:latin typeface="Cambria Math" panose="02040503050406030204" pitchFamily="18" charset="0"/>
                            </a:rPr>
                            <m:t>𝑃</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𝑋</m:t>
                          </m:r>
                          <m:r>
                            <a:rPr lang="en-US" altLang="zh-CN" i="1" smtClean="0">
                              <a:latin typeface="Cambria Math" panose="02040503050406030204" pitchFamily="18" charset="0"/>
                            </a:rPr>
                            <m:t>|</m:t>
                          </m:r>
                          <m:r>
                            <a:rPr lang="en-US" altLang="zh-CN" i="1" smtClean="0">
                              <a:latin typeface="Cambria Math" panose="02040503050406030204" pitchFamily="18" charset="0"/>
                            </a:rPr>
                            <m:t>𝑃</m:t>
                          </m:r>
                        </m:e>
                      </m:d>
                      <m:r>
                        <a:rPr lang="en-US" altLang="zh-CN" i="1" smtClean="0">
                          <a:latin typeface="Cambria Math" panose="02040503050406030204" pitchFamily="18" charset="0"/>
                        </a:rPr>
                        <m:t>′</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1</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e>
                      </m:d>
                      <m:r>
                        <a:rPr lang="en-US" altLang="zh-CN" i="1" smtClean="0">
                          <a:latin typeface="Cambria Math" panose="02040503050406030204" pitchFamily="18" charset="0"/>
                        </a:rPr>
                        <m:t>+</m:t>
                      </m:r>
                      <m:r>
                        <a:rPr lang="en-US" altLang="zh-CN" i="1" smtClean="0">
                          <a:latin typeface="Cambria Math" panose="02040503050406030204" pitchFamily="18" charset="0"/>
                        </a:rPr>
                        <m:t>𝐾</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𝑝</m:t>
                          </m:r>
                        </m:e>
                      </m:d>
                    </m:oMath>
                  </m:oMathPara>
                </a14:m>
                <a:endParaRPr lang="en-US" altLang="zh-CN" dirty="0"/>
              </a:p>
              <a:p>
                <a:pPr>
                  <a:lnSpc>
                    <a:spcPct val="100000"/>
                  </a:lnSpc>
                </a:pPr>
                <a:r>
                  <a:rPr lang="zh-CN" altLang="en-US" dirty="0"/>
                  <a:t>上述两式作差，可以消去𝐾</a:t>
                </a:r>
                <a:r>
                  <a:rPr lang="en-US" altLang="zh-CN" dirty="0"/>
                  <a:t>(</a:t>
                </a:r>
                <a:r>
                  <a:rPr lang="zh-CN" altLang="en-US" dirty="0"/>
                  <a:t>𝑃 </a:t>
                </a:r>
                <a:r>
                  <a:rPr lang="en-US" altLang="zh-CN" dirty="0"/>
                  <a:t>)</a:t>
                </a:r>
                <a:r>
                  <a:rPr lang="zh-CN" altLang="en-US" dirty="0"/>
                  <a:t>，得</a:t>
                </a:r>
                <a:endParaRPr lang="en-US" altLang="zh-CN" dirty="0"/>
              </a:p>
              <a:p>
                <a:pPr marL="0" indent="0">
                  <a:lnSpc>
                    <a:spcPct val="100000"/>
                  </a:lnSpc>
                  <a:buNone/>
                </a:pPr>
                <a14:m>
                  <m:oMathPara xmlns:m="http://schemas.openxmlformats.org/officeDocument/2006/math">
                    <m:oMath>
                      <m:acc>
                        <m:accPr>
                          <m:chr m:val="˜"/>
                          <m:ctrlPr>
                            <a:rPr lang="en-US" altLang="zh-CN" i="1" smtClean="0">
                              <a:latin typeface="Cambria Math" panose="02040503050406030204" pitchFamily="18" charset="0"/>
                            </a:rPr>
                          </m:ctrlPr>
                        </m:accPr>
                        <m:e>
                          <m:r>
                            <a:rPr lang="en-US" altLang="zh-CN" i="1" smtClean="0">
                              <a:latin typeface="Cambria Math" panose="02040503050406030204" pitchFamily="18" charset="0"/>
                            </a:rPr>
                            <m:t>𝑌</m:t>
                          </m:r>
                        </m:e>
                      </m:acc>
                      <m:r>
                        <a:rPr lang="en-US" altLang="zh-CN" i="1" smtClean="0">
                          <a:latin typeface="Cambria Math" panose="02040503050406030204" pitchFamily="18" charset="0"/>
                        </a:rPr>
                        <m:t>=</m:t>
                      </m:r>
                      <m:acc>
                        <m:accPr>
                          <m:chr m:val="˜"/>
                          <m:ctrlPr>
                            <a:rPr lang="en-US" altLang="zh-CN" i="1" smtClean="0">
                              <a:latin typeface="Cambria Math" panose="02040503050406030204" pitchFamily="18" charset="0"/>
                            </a:rPr>
                          </m:ctrlPr>
                        </m:accPr>
                        <m:e>
                          <m:r>
                            <a:rPr lang="en-US" altLang="zh-CN" i="1" smtClean="0">
                              <a:latin typeface="Cambria Math" panose="02040503050406030204" pitchFamily="18" charset="0"/>
                            </a:rPr>
                            <m:t>𝑋</m:t>
                          </m:r>
                        </m:e>
                      </m:acc>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m:t>
                      </m:r>
                      <m:acc>
                        <m:accPr>
                          <m:chr m:val="˜"/>
                          <m:ctrlPr>
                            <a:rPr lang="en-US" altLang="zh-CN" i="1" smtClean="0">
                              <a:latin typeface="Cambria Math" panose="02040503050406030204" pitchFamily="18" charset="0"/>
                            </a:rPr>
                          </m:ctrlPr>
                        </m:accPr>
                        <m:e>
                          <m:r>
                            <a:rPr lang="en-US" altLang="zh-CN" i="1" smtClean="0">
                              <a:latin typeface="Cambria Math" panose="02040503050406030204" pitchFamily="18" charset="0"/>
                            </a:rPr>
                            <m:t>𝑋</m:t>
                          </m:r>
                        </m:e>
                      </m:acc>
                      <m:r>
                        <a:rPr lang="en-US" altLang="zh-CN" i="1" smtClean="0">
                          <a:latin typeface="Cambria Math" panose="02040503050406030204" pitchFamily="18" charset="0"/>
                        </a:rPr>
                        <m:t>′</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1</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e>
                      </m:d>
                      <m:r>
                        <a:rPr lang="en-US" altLang="zh-CN" i="1" smtClean="0">
                          <a:latin typeface="Cambria Math" panose="02040503050406030204" pitchFamily="18" charset="0"/>
                        </a:rPr>
                        <m:t>+</m:t>
                      </m:r>
                      <m:r>
                        <a:rPr lang="en-US" altLang="zh-CN" i="1" smtClean="0">
                          <a:latin typeface="Cambria Math" panose="02040503050406030204" pitchFamily="18" charset="0"/>
                        </a:rPr>
                        <m:t>𝜖</m:t>
                      </m:r>
                      <m:r>
                        <a:rPr lang="en-US" altLang="zh-CN" i="1" smtClean="0">
                          <a:latin typeface="Cambria Math" panose="02040503050406030204" pitchFamily="18" charset="0"/>
                        </a:rPr>
                        <m:t>, </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𝜖</m:t>
                          </m:r>
                          <m:r>
                            <a:rPr lang="en-US" altLang="zh-CN" i="1" smtClean="0">
                              <a:latin typeface="Cambria Math" panose="02040503050406030204" pitchFamily="18" charset="0"/>
                            </a:rPr>
                            <m:t>|</m:t>
                          </m:r>
                          <m:acc>
                            <m:accPr>
                              <m:chr m:val="˜"/>
                              <m:ctrlPr>
                                <a:rPr lang="en-US" altLang="zh-CN" i="1" smtClean="0">
                                  <a:latin typeface="Cambria Math" panose="02040503050406030204" pitchFamily="18" charset="0"/>
                                </a:rPr>
                              </m:ctrlPr>
                            </m:accPr>
                            <m:e>
                              <m:r>
                                <a:rPr lang="en-US" altLang="zh-CN" i="1" smtClean="0">
                                  <a:latin typeface="Cambria Math" panose="02040503050406030204" pitchFamily="18" charset="0"/>
                                </a:rPr>
                                <m:t>𝑋</m:t>
                              </m:r>
                            </m:e>
                          </m:acc>
                          <m:r>
                            <a:rPr lang="en-US" altLang="zh-CN" i="1" smtClean="0">
                              <a:latin typeface="Cambria Math" panose="02040503050406030204" pitchFamily="18" charset="0"/>
                            </a:rPr>
                            <m:t>,</m:t>
                          </m:r>
                          <m:r>
                            <a:rPr lang="en-US" altLang="zh-CN" i="1" smtClean="0">
                              <a:latin typeface="Cambria Math" panose="02040503050406030204" pitchFamily="18" charset="0"/>
                            </a:rPr>
                            <m:t>𝑃</m:t>
                          </m:r>
                          <m:acc>
                            <m:accPr>
                              <m:chr m:val="˜"/>
                              <m:ctrlPr>
                                <a:rPr lang="en-US" altLang="zh-CN" i="1" smtClean="0">
                                  <a:latin typeface="Cambria Math" panose="02040503050406030204" pitchFamily="18" charset="0"/>
                                </a:rPr>
                              </m:ctrlPr>
                            </m:accPr>
                            <m:e>
                              <m:r>
                                <a:rPr lang="en-US" altLang="zh-CN" i="1" smtClean="0">
                                  <a:latin typeface="Cambria Math" panose="02040503050406030204" pitchFamily="18" charset="0"/>
                                </a:rPr>
                                <m:t>𝑋</m:t>
                              </m:r>
                            </m:e>
                          </m:acc>
                        </m:e>
                      </m:d>
                      <m:r>
                        <a:rPr lang="en-US" altLang="zh-CN" i="1" smtClean="0">
                          <a:latin typeface="Cambria Math" panose="02040503050406030204" pitchFamily="18" charset="0"/>
                        </a:rPr>
                        <m:t>=0</m:t>
                      </m:r>
                    </m:oMath>
                  </m:oMathPara>
                </a14:m>
                <a:endParaRPr lang="en-US" altLang="zh-CN" dirty="0"/>
              </a:p>
              <a:p>
                <a:pPr marL="0" indent="0">
                  <a:lnSpc>
                    <a:spcPct val="100000"/>
                  </a:lnSpc>
                  <a:buNone/>
                </a:pPr>
                <a:r>
                  <a:rPr lang="zh-CN" altLang="en-US" dirty="0"/>
                  <a:t>其中</a:t>
                </a:r>
                <a14:m>
                  <m:oMath xmlns:m="http://schemas.openxmlformats.org/officeDocument/2006/math">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r>
                      <a:rPr lang="zh-CN" altLang="en-US" i="1" smtClean="0">
                        <a:latin typeface="Cambria Math" panose="02040503050406030204" pitchFamily="18" charset="0"/>
                      </a:rPr>
                      <m:t>=</m:t>
                    </m:r>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𝑃</m:t>
                        </m:r>
                      </m:e>
                    </m:d>
                    <m:r>
                      <a:rPr lang="zh-CN" altLang="en-US" i="1" smtClean="0">
                        <a:latin typeface="Cambria Math" panose="02040503050406030204" pitchFamily="18" charset="0"/>
                      </a:rPr>
                      <m:t>,</m:t>
                    </m:r>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𝑋</m:t>
                        </m:r>
                      </m:e>
                    </m:acc>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𝑃</m:t>
                        </m:r>
                      </m:e>
                    </m:d>
                  </m:oMath>
                </a14:m>
                <a:endParaRPr lang="en-US" altLang="zh-CN" dirty="0"/>
              </a:p>
              <a:p>
                <a:pPr>
                  <a:lnSpc>
                    <a:spcPct val="100000"/>
                  </a:lnSpc>
                </a:pPr>
                <a:endParaRPr lang="zh-CN" altLang="en-US" dirty="0"/>
              </a:p>
            </p:txBody>
          </p:sp>
        </mc:Choice>
        <mc:Fallback xmlns="">
          <p:sp>
            <p:nvSpPr>
              <p:cNvPr id="3" name="内容占位符 2">
                <a:extLst>
                  <a:ext uri="{FF2B5EF4-FFF2-40B4-BE49-F238E27FC236}">
                    <a16:creationId xmlns:a16="http://schemas.microsoft.com/office/drawing/2014/main" id="{56A033EF-D079-4394-36F7-D716A585D116}"/>
                  </a:ext>
                </a:extLst>
              </p:cNvPr>
              <p:cNvSpPr>
                <a:spLocks noGrp="1" noRot="1" noChangeAspect="1" noMove="1" noResize="1" noEditPoints="1" noAdjustHandles="1" noChangeArrowheads="1" noChangeShapeType="1" noTextEdit="1"/>
              </p:cNvSpPr>
              <p:nvPr>
                <p:ph idx="1"/>
              </p:nvPr>
            </p:nvSpPr>
            <p:spPr>
              <a:blipFill>
                <a:blip r:embed="rId2"/>
                <a:stretch>
                  <a:fillRect l="-1546" t="-14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AC7F39B-F208-EC4C-B684-C8CEDC05CC2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3CD285E-D92F-AAC5-0AD0-0A5F513C3FF1}"/>
              </a:ext>
            </a:extLst>
          </p:cNvPr>
          <p:cNvSpPr>
            <a:spLocks noGrp="1"/>
          </p:cNvSpPr>
          <p:nvPr>
            <p:ph type="sldNum" sz="quarter" idx="12"/>
          </p:nvPr>
        </p:nvSpPr>
        <p:spPr/>
        <p:txBody>
          <a:bodyPr/>
          <a:lstStyle/>
          <a:p>
            <a:fld id="{D41FC515-8169-4A29-AA56-DBE520D5741B}" type="slidenum">
              <a:rPr lang="zh-CN" altLang="en-US" smtClean="0"/>
              <a:t>68</a:t>
            </a:fld>
            <a:endParaRPr lang="zh-CN" altLang="en-US"/>
          </a:p>
        </p:txBody>
      </p:sp>
    </p:spTree>
    <p:extLst>
      <p:ext uri="{BB962C8B-B14F-4D97-AF65-F5344CB8AC3E}">
        <p14:creationId xmlns:p14="http://schemas.microsoft.com/office/powerpoint/2010/main" val="23928241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F12493-52CA-4E36-EC79-0EE97D27CEB2}"/>
              </a:ext>
            </a:extLst>
          </p:cNvPr>
          <p:cNvSpPr>
            <a:spLocks noGrp="1"/>
          </p:cNvSpPr>
          <p:nvPr>
            <p:ph type="title"/>
          </p:nvPr>
        </p:nvSpPr>
        <p:spPr/>
        <p:txBody>
          <a:bodyPr/>
          <a:lstStyle/>
          <a:p>
            <a:r>
              <a:rPr lang="en-US" altLang="zh-CN" dirty="0"/>
              <a:t>MTE </a:t>
            </a:r>
            <a:r>
              <a:rPr lang="zh-CN" altLang="en-US" dirty="0"/>
              <a:t>框架</a:t>
            </a:r>
            <a:br>
              <a:rPr lang="en-US" altLang="zh-CN" dirty="0"/>
            </a:br>
            <a:r>
              <a:rPr lang="en-US" altLang="zh-CN" sz="2400" dirty="0"/>
              <a:t>MTE </a:t>
            </a:r>
            <a:r>
              <a:rPr lang="zh-CN" altLang="en-US" sz="2400" dirty="0"/>
              <a:t>估计</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EFC7279-A0A3-A9B7-8C41-37C4BD17658F}"/>
                  </a:ext>
                </a:extLst>
              </p:cNvPr>
              <p:cNvSpPr>
                <a:spLocks noGrp="1"/>
              </p:cNvSpPr>
              <p:nvPr>
                <p:ph idx="1"/>
              </p:nvPr>
            </p:nvSpPr>
            <p:spPr>
              <a:xfrm>
                <a:off x="628650" y="1825624"/>
                <a:ext cx="7886700" cy="4895851"/>
              </a:xfrm>
            </p:spPr>
            <p:txBody>
              <a:bodyPr>
                <a:normAutofit fontScale="55000" lnSpcReduction="20000"/>
              </a:bodyPr>
              <a:lstStyle/>
              <a:p>
                <a:pPr>
                  <a:lnSpc>
                    <a:spcPct val="120000"/>
                  </a:lnSpc>
                </a:pPr>
                <a:r>
                  <a:rPr lang="zh-CN" altLang="en-US" dirty="0"/>
                  <a:t>半参数估计步骤</a:t>
                </a:r>
                <a:endParaRPr lang="en-US" altLang="zh-CN" dirty="0"/>
              </a:p>
              <a:p>
                <a:pPr>
                  <a:lnSpc>
                    <a:spcPct val="120000"/>
                  </a:lnSpc>
                </a:pPr>
                <a:r>
                  <a:rPr lang="zh-CN" altLang="en-US" dirty="0"/>
                  <a:t>用</a:t>
                </a:r>
                <a:r>
                  <a:rPr lang="en-US" altLang="zh-CN" dirty="0"/>
                  <a:t>logit </a:t>
                </a:r>
                <a:r>
                  <a:rPr lang="zh-CN" altLang="en-US" dirty="0"/>
                  <a:t>或</a:t>
                </a:r>
                <a:r>
                  <a:rPr lang="en-US" altLang="zh-CN" dirty="0"/>
                  <a:t>probit </a:t>
                </a:r>
                <a:r>
                  <a:rPr lang="zh-CN" altLang="en-US" dirty="0"/>
                  <a:t>估计倾向指数模型𝑃 </a:t>
                </a:r>
                <a:r>
                  <a:rPr lang="en-US" altLang="zh-CN" dirty="0"/>
                  <a:t>(</a:t>
                </a:r>
                <a:r>
                  <a:rPr lang="zh-CN" altLang="en-US" dirty="0"/>
                  <a:t>𝑍</a:t>
                </a:r>
                <a:r>
                  <a:rPr lang="en-US" altLang="zh-CN" dirty="0"/>
                  <a:t>),</a:t>
                </a:r>
                <a:r>
                  <a:rPr lang="zh-CN" altLang="en-US" dirty="0"/>
                  <a:t>̂𝑃 </a:t>
                </a:r>
                <a:r>
                  <a:rPr lang="en-US" altLang="zh-CN" dirty="0"/>
                  <a:t>(</a:t>
                </a:r>
                <a:r>
                  <a:rPr lang="zh-CN" altLang="en-US" dirty="0"/>
                  <a:t>𝑍</a:t>
                </a:r>
                <a:r>
                  <a:rPr lang="en-US" altLang="zh-CN" dirty="0"/>
                  <a:t>)</a:t>
                </a:r>
              </a:p>
              <a:p>
                <a:pPr>
                  <a:lnSpc>
                    <a:spcPct val="120000"/>
                  </a:lnSpc>
                </a:pPr>
                <a:r>
                  <a:rPr lang="zh-CN" altLang="en-US" dirty="0"/>
                  <a:t>分别用 𝑌、𝑋 对 𝑃̂</a:t>
                </a:r>
                <a:r>
                  <a:rPr lang="en-US" altLang="zh-CN" dirty="0"/>
                  <a:t>(</a:t>
                </a:r>
                <a:r>
                  <a:rPr lang="zh-CN" altLang="en-US" dirty="0"/>
                  <a:t>𝑍</a:t>
                </a:r>
                <a:r>
                  <a:rPr lang="en-US" altLang="zh-CN" dirty="0"/>
                  <a:t>) </a:t>
                </a:r>
                <a:r>
                  <a:rPr lang="zh-CN" altLang="en-US" dirty="0"/>
                  <a:t>作非参数回归，得到残差 𝑌̃ </a:t>
                </a:r>
                <a:r>
                  <a:rPr lang="en-US" altLang="zh-CN" dirty="0"/>
                  <a:t>,</a:t>
                </a:r>
                <a:r>
                  <a:rPr lang="zh-CN" altLang="en-US" dirty="0"/>
                  <a:t>𝑋̃</a:t>
                </a:r>
                <a:endParaRPr lang="en-US" altLang="zh-CN" dirty="0"/>
              </a:p>
              <a:p>
                <a:pPr>
                  <a:lnSpc>
                    <a:spcPct val="120000"/>
                  </a:lnSpc>
                </a:pPr>
                <a:r>
                  <a:rPr lang="zh-CN" altLang="en-US" dirty="0"/>
                  <a:t>用 𝑌̃ 对 𝑋̃ 和 𝑃̂𝑋̃ 回归，得到 𝛿</a:t>
                </a:r>
                <a:r>
                  <a:rPr lang="en-US" altLang="zh-CN" dirty="0"/>
                  <a:t>0</a:t>
                </a:r>
                <a:r>
                  <a:rPr lang="zh-CN" altLang="en-US" dirty="0"/>
                  <a:t>̂ </a:t>
                </a:r>
                <a:r>
                  <a:rPr lang="en-US" altLang="zh-CN" dirty="0"/>
                  <a:t>, </a:t>
                </a:r>
                <a:r>
                  <a:rPr lang="zh-CN" altLang="en-US" dirty="0"/>
                  <a:t>𝛿</a:t>
                </a:r>
                <a:r>
                  <a:rPr lang="en-US" altLang="zh-CN" dirty="0"/>
                  <a:t>1</a:t>
                </a:r>
                <a:r>
                  <a:rPr lang="zh-CN" altLang="en-US" dirty="0"/>
                  <a:t>̂</a:t>
                </a:r>
                <a:endParaRPr lang="en-US" altLang="zh-CN" dirty="0"/>
              </a:p>
              <a:p>
                <a:pPr>
                  <a:lnSpc>
                    <a:spcPct val="120000"/>
                  </a:lnSpc>
                </a:pPr>
                <a:r>
                  <a:rPr lang="zh-CN" altLang="en-US" dirty="0"/>
                  <a:t>用 𝑌 −𝑋</a:t>
                </a:r>
                <a:r>
                  <a:rPr lang="en-US" altLang="zh-CN" dirty="0"/>
                  <a:t>′</a:t>
                </a:r>
                <a:r>
                  <a:rPr lang="zh-CN" altLang="en-US" dirty="0"/>
                  <a:t>𝛿</a:t>
                </a:r>
                <a:r>
                  <a:rPr lang="en-US" altLang="zh-CN" dirty="0"/>
                  <a:t>0</a:t>
                </a:r>
                <a:r>
                  <a:rPr lang="zh-CN" altLang="en-US" dirty="0"/>
                  <a:t>̂ −𝑃̂𝑋</a:t>
                </a:r>
                <a:r>
                  <a:rPr lang="en-US" altLang="zh-CN" dirty="0"/>
                  <a:t>′(</a:t>
                </a:r>
                <a:r>
                  <a:rPr lang="zh-CN" altLang="en-US" dirty="0"/>
                  <a:t>𝛿</a:t>
                </a:r>
                <a:r>
                  <a:rPr lang="en-US" altLang="zh-CN" dirty="0"/>
                  <a:t>1</a:t>
                </a:r>
                <a:r>
                  <a:rPr lang="zh-CN" altLang="en-US" dirty="0"/>
                  <a:t>̂ −𝛿</a:t>
                </a:r>
                <a:r>
                  <a:rPr lang="en-US" altLang="zh-CN" dirty="0"/>
                  <a:t>0</a:t>
                </a:r>
                <a:r>
                  <a:rPr lang="zh-CN" altLang="en-US" dirty="0"/>
                  <a:t>̂ </a:t>
                </a:r>
                <a:r>
                  <a:rPr lang="en-US" altLang="zh-CN" dirty="0"/>
                  <a:t>) </a:t>
                </a:r>
                <a:r>
                  <a:rPr lang="zh-CN" altLang="en-US" dirty="0"/>
                  <a:t>对 𝑃̂ 进行多项式回归（非参数回归），得到 𝐾</a:t>
                </a:r>
                <a:r>
                  <a:rPr lang="en-US" altLang="zh-CN" dirty="0"/>
                  <a:t>(</a:t>
                </a:r>
                <a:r>
                  <a:rPr lang="zh-CN" altLang="en-US" dirty="0"/>
                  <a:t>𝑃</a:t>
                </a:r>
                <a:r>
                  <a:rPr lang="en-US" altLang="zh-CN" dirty="0"/>
                  <a:t>) </a:t>
                </a:r>
                <a:r>
                  <a:rPr lang="zh-CN" altLang="en-US" dirty="0"/>
                  <a:t>的估计量</a:t>
                </a:r>
                <a:endParaRPr lang="en-US" altLang="zh-CN" dirty="0"/>
              </a:p>
              <a:p>
                <a:pPr>
                  <a:lnSpc>
                    <a:spcPct val="120000"/>
                  </a:lnSpc>
                </a:pPr>
                <a:r>
                  <a:rPr lang="zh-CN" altLang="en-US" dirty="0"/>
                  <a:t>则 𝑥</a:t>
                </a:r>
                <a:r>
                  <a:rPr lang="en-US" altLang="zh-CN" dirty="0"/>
                  <a:t>′(</a:t>
                </a:r>
                <a:r>
                  <a:rPr lang="zh-CN" altLang="en-US" dirty="0"/>
                  <a:t>𝛿</a:t>
                </a:r>
                <a:r>
                  <a:rPr lang="en-US" altLang="zh-CN" dirty="0"/>
                  <a:t>1</a:t>
                </a:r>
                <a:r>
                  <a:rPr lang="zh-CN" altLang="en-US" dirty="0"/>
                  <a:t>̂ − 𝛿</a:t>
                </a:r>
                <a:r>
                  <a:rPr lang="en-US" altLang="zh-CN" dirty="0"/>
                  <a:t>0</a:t>
                </a:r>
                <a:r>
                  <a:rPr lang="zh-CN" altLang="en-US" dirty="0"/>
                  <a:t>̂ </a:t>
                </a:r>
                <a:r>
                  <a:rPr lang="en-US" altLang="zh-CN" dirty="0"/>
                  <a:t>) + </a:t>
                </a:r>
                <a:r>
                  <a:rPr lang="zh-CN" altLang="en-US" dirty="0"/>
                  <a:t>𝐾̂ </a:t>
                </a:r>
                <a:r>
                  <a:rPr lang="en-US" altLang="zh-CN" dirty="0"/>
                  <a:t>′(</a:t>
                </a:r>
                <a:r>
                  <a:rPr lang="zh-CN" altLang="en-US" dirty="0"/>
                  <a:t>𝑢</a:t>
                </a:r>
                <a:r>
                  <a:rPr lang="en-US" altLang="zh-CN" dirty="0"/>
                  <a:t>) </a:t>
                </a:r>
                <a:r>
                  <a:rPr lang="zh-CN" altLang="en-US" dirty="0"/>
                  <a:t>即是对 𝑀𝑇𝐸</a:t>
                </a:r>
                <a:r>
                  <a:rPr lang="en-US" altLang="zh-CN" dirty="0"/>
                  <a:t>(</a:t>
                </a:r>
                <a:r>
                  <a:rPr lang="zh-CN" altLang="en-US" dirty="0"/>
                  <a:t>𝑢</a:t>
                </a:r>
                <a:r>
                  <a:rPr lang="en-US" altLang="zh-CN" dirty="0"/>
                  <a:t>, </a:t>
                </a:r>
                <a:r>
                  <a:rPr lang="zh-CN" altLang="en-US" dirty="0"/>
                  <a:t>𝑥</a:t>
                </a:r>
                <a:r>
                  <a:rPr lang="en-US" altLang="zh-CN" dirty="0"/>
                  <a:t>) </a:t>
                </a:r>
                <a:r>
                  <a:rPr lang="zh-CN" altLang="en-US" dirty="0"/>
                  <a:t>的估计。</a:t>
                </a:r>
                <a:endParaRPr lang="en-US" altLang="zh-CN" dirty="0"/>
              </a:p>
              <a:p>
                <a:pPr>
                  <a:lnSpc>
                    <a:spcPct val="120000"/>
                  </a:lnSpc>
                </a:pPr>
                <a:r>
                  <a:rPr lang="zh-CN" altLang="en-US" dirty="0"/>
                  <a:t>直接利用</a:t>
                </a:r>
                <a:r>
                  <a:rPr lang="en-US" altLang="zh-CN" dirty="0"/>
                  <a:t>(28) </a:t>
                </a:r>
                <a:r>
                  <a:rPr lang="zh-CN" altLang="en-US" dirty="0"/>
                  <a:t>估计：令𝐾</a:t>
                </a:r>
                <a:r>
                  <a:rPr lang="en-US" altLang="zh-CN" dirty="0"/>
                  <a:t>(</a:t>
                </a:r>
                <a:r>
                  <a:rPr lang="zh-CN" altLang="en-US" dirty="0"/>
                  <a:t>𝑃 </a:t>
                </a:r>
                <a:r>
                  <a:rPr lang="en-US" altLang="zh-CN" dirty="0"/>
                  <a:t>) </a:t>
                </a:r>
                <a:r>
                  <a:rPr lang="zh-CN" altLang="en-US" dirty="0"/>
                  <a:t>是𝑃 的多项式</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𝑃𝑋</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𝑘</m:t>
                          </m:r>
                          <m:r>
                            <a:rPr lang="zh-CN" altLang="en-US" i="1" smtClean="0">
                              <a:latin typeface="Cambria Math" panose="02040503050406030204" pitchFamily="18" charset="0"/>
                            </a:rPr>
                            <m:t>=2</m:t>
                          </m:r>
                        </m:sub>
                        <m:sup>
                          <m:r>
                            <a:rPr lang="zh-CN" altLang="en-US" i="1" smtClean="0">
                              <a:latin typeface="Cambria Math" panose="02040503050406030204" pitchFamily="18" charset="0"/>
                            </a:rPr>
                            <m:t>𝐾</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𝑘</m:t>
                              </m:r>
                            </m:sub>
                          </m:sSub>
                        </m:e>
                      </m:nary>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𝑃</m:t>
                          </m:r>
                        </m:e>
                        <m:sup>
                          <m:r>
                            <a:rPr lang="zh-CN" altLang="en-US" i="1" smtClean="0">
                              <a:latin typeface="Cambria Math" panose="02040503050406030204" pitchFamily="18" charset="0"/>
                            </a:rPr>
                            <m:t>𝑘</m:t>
                          </m:r>
                        </m:sup>
                      </m:sSup>
                      <m:r>
                        <a:rPr lang="zh-CN" altLang="en-US" i="1" smtClean="0">
                          <a:latin typeface="Cambria Math" panose="02040503050406030204" pitchFamily="18" charset="0"/>
                        </a:rPr>
                        <m:t>+</m:t>
                      </m:r>
                      <m:r>
                        <a:rPr lang="zh-CN" altLang="en-US" i="1" smtClean="0">
                          <a:latin typeface="Cambria Math" panose="02040503050406030204" pitchFamily="18" charset="0"/>
                        </a:rPr>
                        <m:t>𝜈</m:t>
                      </m:r>
                    </m:oMath>
                  </m:oMathPara>
                </a14:m>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𝑀𝑇𝐸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𝑢</m:t>
                          </m:r>
                          <m:r>
                            <a:rPr lang="zh-CN" altLang="en-US" i="1" smtClean="0">
                              <a:latin typeface="Cambria Math" panose="02040503050406030204" pitchFamily="18" charset="0"/>
                            </a:rPr>
                            <m:t>,</m:t>
                          </m:r>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𝑘</m:t>
                          </m:r>
                          <m:r>
                            <a:rPr lang="zh-CN" altLang="en-US" i="1" smtClean="0">
                              <a:latin typeface="Cambria Math" panose="02040503050406030204" pitchFamily="18" charset="0"/>
                            </a:rPr>
                            <m:t>=2</m:t>
                          </m:r>
                        </m:sub>
                        <m:sup>
                          <m:r>
                            <a:rPr lang="zh-CN" altLang="en-US" i="1" smtClean="0">
                              <a:latin typeface="Cambria Math" panose="02040503050406030204" pitchFamily="18" charset="0"/>
                            </a:rPr>
                            <m:t>𝐾</m:t>
                          </m:r>
                        </m:sup>
                        <m:e>
                          <m:r>
                            <a:rPr lang="zh-CN" altLang="en-US" i="1" smtClean="0">
                              <a:latin typeface="Cambria Math" panose="02040503050406030204" pitchFamily="18" charset="0"/>
                            </a:rPr>
                            <m:t>𝑘</m:t>
                          </m:r>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𝑘</m:t>
                          </m:r>
                        </m:sub>
                      </m:sSub>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𝑃</m:t>
                          </m:r>
                        </m:e>
                        <m:sup>
                          <m:r>
                            <a:rPr lang="zh-CN" altLang="en-US" i="1" smtClean="0">
                              <a:latin typeface="Cambria Math" panose="02040503050406030204" pitchFamily="18" charset="0"/>
                            </a:rPr>
                            <m:t>𝑘</m:t>
                          </m:r>
                          <m:r>
                            <a:rPr lang="zh-CN" altLang="en-US" i="1" smtClean="0">
                              <a:latin typeface="Cambria Math" panose="02040503050406030204" pitchFamily="18" charset="0"/>
                            </a:rPr>
                            <m:t>−1</m:t>
                          </m:r>
                        </m:sup>
                      </m:sSup>
                    </m:oMath>
                  </m:oMathPara>
                </a14:m>
                <a:endParaRPr lang="en-US" altLang="zh-CN" dirty="0"/>
              </a:p>
              <a:p>
                <a:pPr>
                  <a:lnSpc>
                    <a:spcPct val="120000"/>
                  </a:lnSpc>
                </a:pPr>
                <a:r>
                  <a:rPr lang="zh-CN" altLang="en-US" dirty="0"/>
                  <a:t> 检验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𝐻</m:t>
                        </m:r>
                      </m:e>
                      <m:sub>
                        <m:r>
                          <a:rPr lang="en-US" altLang="zh-CN" i="1" dirty="0" smtClean="0">
                            <a:latin typeface="Cambria Math" panose="02040503050406030204" pitchFamily="18" charset="0"/>
                          </a:rPr>
                          <m:t>0</m:t>
                        </m:r>
                      </m:sub>
                    </m:sSub>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𝛼</m:t>
                        </m:r>
                      </m:e>
                      <m:sub>
                        <m:r>
                          <a:rPr lang="en-US" altLang="zh-CN" i="1" dirty="0" smtClean="0">
                            <a:latin typeface="Cambria Math" panose="02040503050406030204" pitchFamily="18" charset="0"/>
                          </a:rPr>
                          <m:t>2</m:t>
                        </m:r>
                        <m:r>
                          <a:rPr lang="en-US" altLang="zh-CN" b="0" i="1" dirty="0" smtClean="0">
                            <a:latin typeface="Cambria Math" panose="02040503050406030204" pitchFamily="18" charset="0"/>
                          </a:rPr>
                          <m:t> </m:t>
                        </m:r>
                      </m:sub>
                    </m:sSub>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𝛼</m:t>
                        </m:r>
                      </m:e>
                      <m:sub>
                        <m:r>
                          <a:rPr lang="en-US" altLang="zh-CN" i="1" dirty="0" smtClean="0">
                            <a:latin typeface="Cambria Math" panose="02040503050406030204" pitchFamily="18" charset="0"/>
                          </a:rPr>
                          <m:t>𝐾</m:t>
                        </m:r>
                      </m:sub>
                    </m:sSub>
                    <m:r>
                      <a:rPr lang="en-US" altLang="zh-CN" i="1" dirty="0" smtClean="0">
                        <a:latin typeface="Cambria Math" panose="02040503050406030204" pitchFamily="18" charset="0"/>
                      </a:rPr>
                      <m:t>=0</m:t>
                    </m:r>
                  </m:oMath>
                </a14:m>
                <a:r>
                  <a:rPr lang="zh-CN" altLang="en-US" dirty="0"/>
                  <a:t>，判断是否存在未观测异质性。</a:t>
                </a:r>
              </a:p>
            </p:txBody>
          </p:sp>
        </mc:Choice>
        <mc:Fallback xmlns="">
          <p:sp>
            <p:nvSpPr>
              <p:cNvPr id="3" name="内容占位符 2">
                <a:extLst>
                  <a:ext uri="{FF2B5EF4-FFF2-40B4-BE49-F238E27FC236}">
                    <a16:creationId xmlns:a16="http://schemas.microsoft.com/office/drawing/2014/main" id="{6EFC7279-A0A3-A9B7-8C41-37C4BD17658F}"/>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232" t="-24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244D3FE-DE51-CA02-7BFA-27553CC22F5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ECC8F9E-BF49-7963-CC9E-4C5741FCDAD6}"/>
              </a:ext>
            </a:extLst>
          </p:cNvPr>
          <p:cNvSpPr>
            <a:spLocks noGrp="1"/>
          </p:cNvSpPr>
          <p:nvPr>
            <p:ph type="sldNum" sz="quarter" idx="12"/>
          </p:nvPr>
        </p:nvSpPr>
        <p:spPr/>
        <p:txBody>
          <a:bodyPr/>
          <a:lstStyle/>
          <a:p>
            <a:fld id="{D41FC515-8169-4A29-AA56-DBE520D5741B}" type="slidenum">
              <a:rPr lang="zh-CN" altLang="en-US" smtClean="0"/>
              <a:t>69</a:t>
            </a:fld>
            <a:endParaRPr lang="zh-CN" altLang="en-US"/>
          </a:p>
        </p:txBody>
      </p:sp>
    </p:spTree>
    <p:extLst>
      <p:ext uri="{BB962C8B-B14F-4D97-AF65-F5344CB8AC3E}">
        <p14:creationId xmlns:p14="http://schemas.microsoft.com/office/powerpoint/2010/main" val="1532039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4A3411-6B63-4966-56DF-8A6A86684240}"/>
              </a:ext>
            </a:extLst>
          </p:cNvPr>
          <p:cNvSpPr>
            <a:spLocks noGrp="1"/>
          </p:cNvSpPr>
          <p:nvPr>
            <p:ph type="title"/>
          </p:nvPr>
        </p:nvSpPr>
        <p:spPr/>
        <p:txBody>
          <a:bodyPr/>
          <a:lstStyle/>
          <a:p>
            <a:r>
              <a:rPr lang="en-US" altLang="zh-CN" dirty="0"/>
              <a:t>Cornelissen et al. (2018) Who benefits from universal child care?</a:t>
            </a:r>
            <a:endParaRPr lang="zh-CN" altLang="en-US" dirty="0"/>
          </a:p>
        </p:txBody>
      </p:sp>
      <p:sp>
        <p:nvSpPr>
          <p:cNvPr id="3" name="内容占位符 2">
            <a:extLst>
              <a:ext uri="{FF2B5EF4-FFF2-40B4-BE49-F238E27FC236}">
                <a16:creationId xmlns:a16="http://schemas.microsoft.com/office/drawing/2014/main" id="{999C8F0D-61BF-D7C0-B479-6C12CA5A2AF7}"/>
              </a:ext>
            </a:extLst>
          </p:cNvPr>
          <p:cNvSpPr>
            <a:spLocks noGrp="1"/>
          </p:cNvSpPr>
          <p:nvPr>
            <p:ph idx="1"/>
          </p:nvPr>
        </p:nvSpPr>
        <p:spPr>
          <a:xfrm>
            <a:off x="628650" y="1825625"/>
            <a:ext cx="7886700" cy="1819943"/>
          </a:xfrm>
        </p:spPr>
        <p:txBody>
          <a:bodyPr>
            <a:normAutofit fontScale="47500" lnSpcReduction="20000"/>
          </a:bodyPr>
          <a:lstStyle/>
          <a:p>
            <a:pPr>
              <a:lnSpc>
                <a:spcPct val="120000"/>
              </a:lnSpc>
            </a:pPr>
            <a:r>
              <a:rPr lang="zh-CN" altLang="en-US" dirty="0"/>
              <a:t>问题：普及型的儿童照护服务，谁收益？</a:t>
            </a:r>
            <a:endParaRPr lang="en-US" altLang="zh-CN" dirty="0"/>
          </a:p>
          <a:p>
            <a:pPr>
              <a:lnSpc>
                <a:spcPct val="120000"/>
              </a:lnSpc>
            </a:pPr>
            <a:r>
              <a:rPr lang="zh-CN" altLang="en-US" dirty="0"/>
              <a:t>背景：德国针对</a:t>
            </a:r>
            <a:r>
              <a:rPr lang="en-US" altLang="zh-CN" dirty="0"/>
              <a:t>3-6 </a:t>
            </a:r>
            <a:r>
              <a:rPr lang="zh-CN" altLang="en-US" dirty="0"/>
              <a:t>岁孩子提供半天的儿童照护服务，</a:t>
            </a:r>
            <a:r>
              <a:rPr lang="en-US" altLang="zh-CN" dirty="0"/>
              <a:t>1996 </a:t>
            </a:r>
            <a:r>
              <a:rPr lang="zh-CN" altLang="en-US" dirty="0"/>
              <a:t>年</a:t>
            </a:r>
            <a:r>
              <a:rPr lang="en-US" altLang="zh-CN" dirty="0"/>
              <a:t>1 </a:t>
            </a:r>
            <a:r>
              <a:rPr lang="zh-CN" altLang="en-US" dirty="0"/>
              <a:t>日</a:t>
            </a:r>
            <a:r>
              <a:rPr lang="en-US" altLang="zh-CN" dirty="0"/>
              <a:t>1 </a:t>
            </a:r>
            <a:r>
              <a:rPr lang="zh-CN" altLang="en-US" dirty="0"/>
              <a:t>日通过一项法案，保证每个孩子在</a:t>
            </a:r>
            <a:r>
              <a:rPr lang="en-US" altLang="zh-CN" dirty="0"/>
              <a:t>3-6 </a:t>
            </a:r>
            <a:r>
              <a:rPr lang="zh-CN" altLang="en-US" dirty="0"/>
              <a:t>岁可以获得每天</a:t>
            </a:r>
            <a:r>
              <a:rPr lang="en-US" altLang="zh-CN" dirty="0"/>
              <a:t>4 </a:t>
            </a:r>
            <a:r>
              <a:rPr lang="zh-CN" altLang="en-US" dirty="0"/>
              <a:t>小时的补贴照护服务。</a:t>
            </a:r>
            <a:endParaRPr lang="en-US" altLang="zh-CN" dirty="0"/>
          </a:p>
          <a:p>
            <a:pPr>
              <a:lnSpc>
                <a:spcPct val="120000"/>
              </a:lnSpc>
            </a:pPr>
            <a:r>
              <a:rPr lang="zh-CN" altLang="en-US" dirty="0"/>
              <a:t>结果变量：小学适合入学程度</a:t>
            </a:r>
            <a:r>
              <a:rPr lang="en-US" altLang="zh-CN" dirty="0"/>
              <a:t>(school readiness)</a:t>
            </a:r>
            <a:r>
              <a:rPr lang="zh-CN" altLang="en-US" dirty="0"/>
              <a:t>，是政府儿童医生根据对小孩子面试、身体发育、协调性等方面的评估给出的分数。</a:t>
            </a:r>
            <a:endParaRPr lang="en-US" altLang="zh-CN" dirty="0"/>
          </a:p>
          <a:p>
            <a:pPr>
              <a:lnSpc>
                <a:spcPct val="120000"/>
              </a:lnSpc>
            </a:pPr>
            <a:r>
              <a:rPr lang="zh-CN" altLang="en-US" dirty="0"/>
              <a:t>干预变量：是否参与了至少</a:t>
            </a:r>
            <a:r>
              <a:rPr lang="en-US" altLang="zh-CN" dirty="0"/>
              <a:t>3 </a:t>
            </a:r>
            <a:r>
              <a:rPr lang="zh-CN" altLang="en-US" dirty="0"/>
              <a:t>年的儿童照护服务。</a:t>
            </a:r>
          </a:p>
        </p:txBody>
      </p:sp>
      <p:sp>
        <p:nvSpPr>
          <p:cNvPr id="4" name="页脚占位符 3">
            <a:extLst>
              <a:ext uri="{FF2B5EF4-FFF2-40B4-BE49-F238E27FC236}">
                <a16:creationId xmlns:a16="http://schemas.microsoft.com/office/drawing/2014/main" id="{744F1E96-27DB-D718-9086-E7B8BAB0A14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5EAECA0-829D-DCDC-F4BA-C85DD42B2310}"/>
              </a:ext>
            </a:extLst>
          </p:cNvPr>
          <p:cNvSpPr>
            <a:spLocks noGrp="1"/>
          </p:cNvSpPr>
          <p:nvPr>
            <p:ph type="sldNum" sz="quarter" idx="12"/>
          </p:nvPr>
        </p:nvSpPr>
        <p:spPr/>
        <p:txBody>
          <a:bodyPr/>
          <a:lstStyle/>
          <a:p>
            <a:fld id="{D41FC515-8169-4A29-AA56-DBE520D5741B}" type="slidenum">
              <a:rPr lang="zh-CN" altLang="en-US" smtClean="0"/>
              <a:t>70</a:t>
            </a:fld>
            <a:endParaRPr lang="zh-CN" altLang="en-US" dirty="0"/>
          </a:p>
        </p:txBody>
      </p:sp>
      <p:pic>
        <p:nvPicPr>
          <p:cNvPr id="7" name="图片 6">
            <a:extLst>
              <a:ext uri="{FF2B5EF4-FFF2-40B4-BE49-F238E27FC236}">
                <a16:creationId xmlns:a16="http://schemas.microsoft.com/office/drawing/2014/main" id="{1EF36A05-E034-AEBD-EB27-80CE84AF76A6}"/>
              </a:ext>
            </a:extLst>
          </p:cNvPr>
          <p:cNvPicPr>
            <a:picLocks noChangeAspect="1"/>
          </p:cNvPicPr>
          <p:nvPr/>
        </p:nvPicPr>
        <p:blipFill>
          <a:blip r:embed="rId2"/>
          <a:stretch>
            <a:fillRect/>
          </a:stretch>
        </p:blipFill>
        <p:spPr>
          <a:xfrm>
            <a:off x="628651" y="3662704"/>
            <a:ext cx="3738812" cy="2453595"/>
          </a:xfrm>
          <a:prstGeom prst="rect">
            <a:avLst/>
          </a:prstGeom>
        </p:spPr>
      </p:pic>
      <p:pic>
        <p:nvPicPr>
          <p:cNvPr id="9" name="图片 8">
            <a:extLst>
              <a:ext uri="{FF2B5EF4-FFF2-40B4-BE49-F238E27FC236}">
                <a16:creationId xmlns:a16="http://schemas.microsoft.com/office/drawing/2014/main" id="{69122054-0C4D-24FC-76DC-AC3A84DDF976}"/>
              </a:ext>
            </a:extLst>
          </p:cNvPr>
          <p:cNvPicPr>
            <a:picLocks noChangeAspect="1"/>
          </p:cNvPicPr>
          <p:nvPr/>
        </p:nvPicPr>
        <p:blipFill>
          <a:blip r:embed="rId3"/>
          <a:stretch>
            <a:fillRect/>
          </a:stretch>
        </p:blipFill>
        <p:spPr>
          <a:xfrm>
            <a:off x="4572000" y="4001514"/>
            <a:ext cx="4245622" cy="1998891"/>
          </a:xfrm>
          <a:prstGeom prst="rect">
            <a:avLst/>
          </a:prstGeom>
        </p:spPr>
      </p:pic>
      <p:sp>
        <p:nvSpPr>
          <p:cNvPr id="11" name="文本框 10">
            <a:extLst>
              <a:ext uri="{FF2B5EF4-FFF2-40B4-BE49-F238E27FC236}">
                <a16:creationId xmlns:a16="http://schemas.microsoft.com/office/drawing/2014/main" id="{0A4E0F0C-DB16-3D7A-AEF2-CA98CF6E00DE}"/>
              </a:ext>
            </a:extLst>
          </p:cNvPr>
          <p:cNvSpPr txBox="1"/>
          <p:nvPr/>
        </p:nvSpPr>
        <p:spPr>
          <a:xfrm>
            <a:off x="4920916" y="3537846"/>
            <a:ext cx="4572000" cy="338554"/>
          </a:xfrm>
          <a:prstGeom prst="rect">
            <a:avLst/>
          </a:prstGeom>
          <a:noFill/>
        </p:spPr>
        <p:txBody>
          <a:bodyPr wrap="square">
            <a:spAutoFit/>
          </a:bodyPr>
          <a:lstStyle/>
          <a:p>
            <a:r>
              <a:rPr lang="en-US" altLang="zh-CN" sz="1600" b="0" i="0" u="none" strike="noStrike" baseline="0" dirty="0">
                <a:solidFill>
                  <a:srgbClr val="3333B3"/>
                </a:solidFill>
                <a:latin typeface="LMRoman8-Regular-Identity-H"/>
              </a:rPr>
              <a:t>Table 1: </a:t>
            </a:r>
            <a:r>
              <a:rPr lang="zh-CN" altLang="en-US" sz="1600" b="0" i="0" u="none" strike="noStrike" baseline="0" dirty="0">
                <a:solidFill>
                  <a:srgbClr val="000000"/>
                </a:solidFill>
                <a:latin typeface="宋体" panose="02010600030101010101" pitchFamily="2" charset="-122"/>
                <a:ea typeface="宋体" panose="02010600030101010101" pitchFamily="2" charset="-122"/>
              </a:rPr>
              <a:t>描述性统计</a:t>
            </a:r>
            <a:endParaRPr lang="zh-CN" altLang="en-US" sz="1600" dirty="0"/>
          </a:p>
        </p:txBody>
      </p:sp>
    </p:spTree>
    <p:extLst>
      <p:ext uri="{BB962C8B-B14F-4D97-AF65-F5344CB8AC3E}">
        <p14:creationId xmlns:p14="http://schemas.microsoft.com/office/powerpoint/2010/main" val="16155162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D7D476-6FD1-BE65-815C-5619DB236662}"/>
              </a:ext>
            </a:extLst>
          </p:cNvPr>
          <p:cNvSpPr>
            <a:spLocks noGrp="1"/>
          </p:cNvSpPr>
          <p:nvPr>
            <p:ph type="title"/>
          </p:nvPr>
        </p:nvSpPr>
        <p:spPr/>
        <p:txBody>
          <a:bodyPr/>
          <a:lstStyle/>
          <a:p>
            <a:r>
              <a:rPr lang="en-US" altLang="zh-CN" dirty="0"/>
              <a:t>Cornelissen et al. (2018) Who benefits from universal child care?</a:t>
            </a:r>
            <a:endParaRPr lang="zh-CN" altLang="en-US" dirty="0"/>
          </a:p>
        </p:txBody>
      </p:sp>
      <p:sp>
        <p:nvSpPr>
          <p:cNvPr id="3" name="内容占位符 2">
            <a:extLst>
              <a:ext uri="{FF2B5EF4-FFF2-40B4-BE49-F238E27FC236}">
                <a16:creationId xmlns:a16="http://schemas.microsoft.com/office/drawing/2014/main" id="{B4D68D86-7B6C-90EF-DFCB-B74F44E6C30A}"/>
              </a:ext>
            </a:extLst>
          </p:cNvPr>
          <p:cNvSpPr>
            <a:spLocks noGrp="1"/>
          </p:cNvSpPr>
          <p:nvPr>
            <p:ph idx="1"/>
          </p:nvPr>
        </p:nvSpPr>
        <p:spPr/>
        <p:txBody>
          <a:bodyPr>
            <a:normAutofit/>
          </a:bodyPr>
          <a:lstStyle/>
          <a:p>
            <a:r>
              <a:rPr lang="zh-CN" altLang="en-US" sz="1600" dirty="0"/>
              <a:t>工具变量：各市的学位供给</a:t>
            </a:r>
          </a:p>
        </p:txBody>
      </p:sp>
      <p:sp>
        <p:nvSpPr>
          <p:cNvPr id="4" name="页脚占位符 3">
            <a:extLst>
              <a:ext uri="{FF2B5EF4-FFF2-40B4-BE49-F238E27FC236}">
                <a16:creationId xmlns:a16="http://schemas.microsoft.com/office/drawing/2014/main" id="{009D7B73-3F33-7933-730B-C4D80F46B9A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A4A13F8-678A-17C8-F992-58CC1EA940DC}"/>
              </a:ext>
            </a:extLst>
          </p:cNvPr>
          <p:cNvSpPr>
            <a:spLocks noGrp="1"/>
          </p:cNvSpPr>
          <p:nvPr>
            <p:ph type="sldNum" sz="quarter" idx="12"/>
          </p:nvPr>
        </p:nvSpPr>
        <p:spPr/>
        <p:txBody>
          <a:bodyPr/>
          <a:lstStyle/>
          <a:p>
            <a:fld id="{D41FC515-8169-4A29-AA56-DBE520D5741B}" type="slidenum">
              <a:rPr lang="zh-CN" altLang="en-US" smtClean="0"/>
              <a:t>71</a:t>
            </a:fld>
            <a:endParaRPr lang="zh-CN" altLang="en-US"/>
          </a:p>
        </p:txBody>
      </p:sp>
      <p:pic>
        <p:nvPicPr>
          <p:cNvPr id="7" name="图片 6">
            <a:extLst>
              <a:ext uri="{FF2B5EF4-FFF2-40B4-BE49-F238E27FC236}">
                <a16:creationId xmlns:a16="http://schemas.microsoft.com/office/drawing/2014/main" id="{C6B36FFC-994E-7F62-C979-F188937E709F}"/>
              </a:ext>
            </a:extLst>
          </p:cNvPr>
          <p:cNvPicPr>
            <a:picLocks noChangeAspect="1"/>
          </p:cNvPicPr>
          <p:nvPr/>
        </p:nvPicPr>
        <p:blipFill>
          <a:blip r:embed="rId2"/>
          <a:stretch>
            <a:fillRect/>
          </a:stretch>
        </p:blipFill>
        <p:spPr>
          <a:xfrm>
            <a:off x="1588677" y="2368896"/>
            <a:ext cx="5401670" cy="3720987"/>
          </a:xfrm>
          <a:prstGeom prst="rect">
            <a:avLst/>
          </a:prstGeom>
        </p:spPr>
      </p:pic>
    </p:spTree>
    <p:extLst>
      <p:ext uri="{BB962C8B-B14F-4D97-AF65-F5344CB8AC3E}">
        <p14:creationId xmlns:p14="http://schemas.microsoft.com/office/powerpoint/2010/main" val="40805292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72FE0C-491A-2569-FADF-9C66F32FC7B1}"/>
              </a:ext>
            </a:extLst>
          </p:cNvPr>
          <p:cNvSpPr>
            <a:spLocks noGrp="1"/>
          </p:cNvSpPr>
          <p:nvPr>
            <p:ph type="title"/>
          </p:nvPr>
        </p:nvSpPr>
        <p:spPr/>
        <p:txBody>
          <a:bodyPr/>
          <a:lstStyle/>
          <a:p>
            <a:r>
              <a:rPr lang="en-US" altLang="zh-CN" dirty="0"/>
              <a:t>Cornelissen et al. (2018) Who benefits from universal child care?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C7CE6B1-0B20-3136-9822-000ECB49DE8A}"/>
                  </a:ext>
                </a:extLst>
              </p:cNvPr>
              <p:cNvSpPr>
                <a:spLocks noGrp="1"/>
              </p:cNvSpPr>
              <p:nvPr>
                <p:ph idx="1"/>
              </p:nvPr>
            </p:nvSpPr>
            <p:spPr/>
            <p:txBody>
              <a:bodyPr>
                <a:normAutofit fontScale="55000" lnSpcReduction="20000"/>
              </a:bodyPr>
              <a:lstStyle/>
              <a:p>
                <a:pPr>
                  <a:lnSpc>
                    <a:spcPct val="120000"/>
                  </a:lnSpc>
                </a:pPr>
                <a:r>
                  <a:rPr lang="zh-CN" altLang="en-US" dirty="0"/>
                  <a:t>基本模型：</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𝑗𝑖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𝑗</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𝑅</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𝛼</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𝜏</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𝑗𝑖</m:t>
                              </m:r>
                            </m:sub>
                          </m:sSub>
                          <m:r>
                            <a:rPr lang="zh-CN" altLang="en-US" i="1" smtClean="0">
                              <a:latin typeface="Cambria Math" panose="02040503050406030204" pitchFamily="18" charset="0"/>
                            </a:rPr>
                            <m:t>, </m:t>
                          </m:r>
                          <m:r>
                            <a:rPr lang="zh-CN" altLang="en-US" i="1" smtClean="0">
                              <a:latin typeface="Cambria Math" panose="02040503050406030204" pitchFamily="18" charset="0"/>
                            </a:rPr>
                            <m:t>𝑗</m:t>
                          </m:r>
                          <m:r>
                            <a:rPr lang="zh-CN" altLang="en-US" i="1" smtClean="0">
                              <a:latin typeface="Cambria Math" panose="02040503050406030204" pitchFamily="18" charset="0"/>
                            </a:rPr>
                            <m:t>=0,1</m:t>
                          </m:r>
                        </m:e>
                      </m:eqArr>
                    </m:oMath>
                  </m:oMathPara>
                </a14:m>
                <a:endParaRPr lang="en-US" altLang="zh-CN" dirty="0"/>
              </a:p>
              <a:p>
                <a:pPr>
                  <a:lnSpc>
                    <a:spcPct val="120000"/>
                  </a:lnSpc>
                </a:pPr>
                <a:r>
                  <a:rPr lang="zh-CN" altLang="en-US" dirty="0"/>
                  <a:t>𝑌</a:t>
                </a:r>
                <a:r>
                  <a:rPr lang="en-US" altLang="zh-CN" dirty="0"/>
                  <a:t>0, </a:t>
                </a:r>
                <a:r>
                  <a:rPr lang="zh-CN" altLang="en-US" dirty="0"/>
                  <a:t>𝑌</a:t>
                </a:r>
                <a:r>
                  <a:rPr lang="en-US" altLang="zh-CN" dirty="0"/>
                  <a:t>1 </a:t>
                </a:r>
                <a:r>
                  <a:rPr lang="zh-CN" altLang="en-US" dirty="0"/>
                  <a:t>为未参与或参与儿童照护服务的孩子的入学准备分数</a:t>
                </a:r>
                <a:r>
                  <a:rPr lang="en-US" altLang="zh-CN" dirty="0"/>
                  <a:t>(0,1 </a:t>
                </a:r>
                <a:r>
                  <a:rPr lang="zh-CN" altLang="en-US" dirty="0"/>
                  <a:t>变量</a:t>
                </a:r>
                <a:r>
                  <a:rPr lang="en-US" altLang="zh-CN" dirty="0"/>
                  <a:t>)</a:t>
                </a:r>
                <a:r>
                  <a:rPr lang="zh-CN" altLang="en-US" dirty="0"/>
                  <a:t>，𝑋𝑖 为个体特征、𝑅 为城市固定效应、</a:t>
                </a:r>
                <a:r>
                  <a:rPr lang="en-US" altLang="zh-CN" dirty="0"/>
                  <a:t>T </a:t>
                </a:r>
                <a:r>
                  <a:rPr lang="zh-CN" altLang="en-US" dirty="0"/>
                  <a:t>为出生群组。</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𝟙</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𝑑</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𝑉</m:t>
                                  </m:r>
                                </m:e>
                                <m:sub>
                                  <m:r>
                                    <a:rPr lang="zh-CN" altLang="en-US" i="1" smtClean="0">
                                      <a:latin typeface="Cambria Math" panose="02040503050406030204" pitchFamily="18" charset="0"/>
                                    </a:rPr>
                                    <m:t>𝑖</m:t>
                                  </m:r>
                                </m:sub>
                              </m:sSub>
                            </m:e>
                          </m:d>
                        </m:e>
                      </m:eqArr>
                    </m:oMath>
                  </m:oMathPara>
                </a14:m>
                <a:endParaRPr lang="en-US" altLang="zh-CN" dirty="0"/>
              </a:p>
              <a:p>
                <a:pPr>
                  <a:lnSpc>
                    <a:spcPct val="120000"/>
                  </a:lnSpc>
                </a:pPr>
                <a:r>
                  <a:rPr lang="zh-CN" altLang="en-US" dirty="0"/>
                  <a:t>𝑍𝑖 </a:t>
                </a:r>
                <a:r>
                  <a:rPr lang="en-US" altLang="zh-CN" dirty="0"/>
                  <a:t>= (</a:t>
                </a:r>
                <a:r>
                  <a:rPr lang="zh-CN" altLang="en-US" dirty="0"/>
                  <a:t>𝑋</a:t>
                </a:r>
                <a:r>
                  <a:rPr lang="en-US" altLang="zh-CN" dirty="0"/>
                  <a:t>,</a:t>
                </a:r>
                <a:r>
                  <a:rPr lang="zh-CN" altLang="en-US" dirty="0"/>
                  <a:t>𝑅</a:t>
                </a:r>
                <a:r>
                  <a:rPr lang="en-US" altLang="zh-CN" dirty="0"/>
                  <a:t>, </a:t>
                </a:r>
                <a:r>
                  <a:rPr lang="zh-CN" altLang="en-US" dirty="0"/>
                  <a:t>𝑇 </a:t>
                </a:r>
                <a:r>
                  <a:rPr lang="en-US" altLang="zh-CN" dirty="0"/>
                  <a:t>,</a:t>
                </a:r>
                <a:r>
                  <a:rPr lang="zh-CN" altLang="en-US" dirty="0"/>
                  <a:t>𝑍̃</a:t>
                </a:r>
                <a:r>
                  <a:rPr lang="en-US" altLang="zh-CN" dirty="0"/>
                  <a:t>)</a:t>
                </a:r>
                <a:r>
                  <a:rPr lang="zh-CN" altLang="en-US" dirty="0"/>
                  <a:t>，𝑉𝑖 为未观测阻力 </a:t>
                </a:r>
                <a:r>
                  <a:rPr lang="en-US" altLang="zh-CN" dirty="0"/>
                  <a:t>(unobserved resistance)</a:t>
                </a:r>
                <a:r>
                  <a:rPr lang="zh-CN" altLang="en-US" dirty="0"/>
                  <a:t>。</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𝑀𝑇𝐸</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𝐷</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𝐷</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𝐷</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𝑥</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𝐷</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𝐷</m:t>
                                  </m:r>
                                </m:sub>
                              </m:sSub>
                            </m:e>
                          </m:d>
                        </m:e>
                      </m:eqArr>
                    </m:oMath>
                  </m:oMathPara>
                </a14:m>
                <a:endParaRPr lang="en-US" altLang="zh-CN" dirty="0"/>
              </a:p>
              <a:p>
                <a:pPr>
                  <a:lnSpc>
                    <a:spcPct val="120000"/>
                  </a:lnSpc>
                </a:pPr>
                <a:r>
                  <a:rPr lang="zh-CN" altLang="en-US" dirty="0"/>
                  <a:t>这里根据</a:t>
                </a:r>
                <a:r>
                  <a:rPr lang="en-US" altLang="zh-CN" dirty="0"/>
                  <a:t>Brinch et al. (2017)</a:t>
                </a:r>
                <a:r>
                  <a:rPr lang="zh-CN" altLang="en-US" dirty="0"/>
                  <a:t>，假设</a:t>
                </a:r>
                <a:r>
                  <a:rPr lang="en-US" altLang="zh-CN" dirty="0"/>
                  <a:t>MTE </a:t>
                </a:r>
                <a:r>
                  <a:rPr lang="zh-CN" altLang="en-US" dirty="0"/>
                  <a:t>是可加分离的，𝑋 只影响𝑀𝑇 𝐸</a:t>
                </a:r>
                <a:r>
                  <a:rPr lang="en-US" altLang="zh-CN" dirty="0"/>
                  <a:t>(</a:t>
                </a:r>
                <a:r>
                  <a:rPr lang="zh-CN" altLang="en-US" dirty="0"/>
                  <a:t>𝑢</a:t>
                </a:r>
                <a:r>
                  <a:rPr lang="en-US" altLang="zh-CN" dirty="0"/>
                  <a:t>) </a:t>
                </a:r>
                <a:r>
                  <a:rPr lang="zh-CN" altLang="en-US" dirty="0"/>
                  <a:t>的截距，不影响斜率。</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r>
                            <a:rPr lang="zh-CN" altLang="en-US" i="1" smtClean="0">
                              <a:latin typeface="Cambria Math" panose="02040503050406030204" pitchFamily="18" charset="0"/>
                            </a:rPr>
                            <m:t>𝑅</m:t>
                          </m:r>
                          <m:r>
                            <a:rPr lang="zh-CN" altLang="en-US" i="1" smtClean="0">
                              <a:latin typeface="Cambria Math" panose="02040503050406030204" pitchFamily="18" charset="0"/>
                            </a:rPr>
                            <m:t>=</m:t>
                          </m:r>
                          <m:r>
                            <a:rPr lang="zh-CN" altLang="en-US" i="1" smtClean="0">
                              <a:latin typeface="Cambria Math" panose="02040503050406030204" pitchFamily="18" charset="0"/>
                            </a:rPr>
                            <m:t>𝑟</m:t>
                          </m:r>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𝑡</m:t>
                          </m:r>
                          <m:r>
                            <a:rPr lang="zh-CN" altLang="en-US" i="1" smtClean="0">
                              <a:latin typeface="Cambria Math" panose="02040503050406030204" pitchFamily="18" charset="0"/>
                            </a:rPr>
                            <m:t>,</m:t>
                          </m:r>
                          <m:r>
                            <a:rPr lang="zh-CN" altLang="en-US" i="1" smtClean="0">
                              <a:latin typeface="Cambria Math" panose="02040503050406030204" pitchFamily="18" charset="0"/>
                            </a:rPr>
                            <m:t>𝑃</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𝑝</m:t>
                          </m:r>
                        </m:e>
                      </m:d>
                      <m:r>
                        <a:rPr lang="zh-CN" altLang="en-US" i="1" smtClean="0">
                          <a:latin typeface="Cambria Math" panose="02040503050406030204" pitchFamily="18" charset="0"/>
                        </a:rPr>
                        <m:t>=</m:t>
                      </m:r>
                      <m:r>
                        <a:rPr lang="zh-CN" altLang="en-US" i="1" smtClean="0">
                          <a:latin typeface="Cambria Math" panose="02040503050406030204" pitchFamily="18" charset="0"/>
                        </a:rPr>
                        <m:t>𝑋</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𝑅</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𝜏</m:t>
                      </m:r>
                      <m:r>
                        <a:rPr lang="zh-CN" altLang="en-US" i="1" smtClean="0">
                          <a:latin typeface="Cambria Math" panose="02040503050406030204" pitchFamily="18" charset="0"/>
                        </a:rPr>
                        <m:t>+</m:t>
                      </m:r>
                      <m:r>
                        <a:rPr lang="zh-CN" altLang="en-US" i="1" smtClean="0">
                          <a:latin typeface="Cambria Math" panose="02040503050406030204" pitchFamily="18" charset="0"/>
                        </a:rPr>
                        <m:t>𝑋</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𝑝</m:t>
                      </m:r>
                      <m:r>
                        <a:rPr lang="zh-CN" altLang="en-US" i="1" smtClean="0">
                          <a:latin typeface="Cambria Math" panose="02040503050406030204" pitchFamily="18" charset="0"/>
                        </a:rPr>
                        <m:t>+</m:t>
                      </m:r>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𝑝</m:t>
                          </m:r>
                        </m:e>
                      </m:d>
                    </m:oMath>
                  </m:oMathPara>
                </a14:m>
                <a:endParaRPr lang="en-US" altLang="zh-CN" dirty="0"/>
              </a:p>
              <a:p>
                <a:pPr>
                  <a:lnSpc>
                    <a:spcPct val="120000"/>
                  </a:lnSpc>
                </a:pPr>
                <a:r>
                  <a:rPr lang="zh-CN" altLang="en-US" dirty="0"/>
                  <a:t>首先估计倾向指数模型𝑝</a:t>
                </a:r>
                <a:r>
                  <a:rPr lang="en-US" altLang="zh-CN" dirty="0"/>
                  <a:t>(</a:t>
                </a:r>
                <a:r>
                  <a:rPr lang="zh-CN" altLang="en-US" dirty="0"/>
                  <a:t>𝑍</a:t>
                </a:r>
                <a:r>
                  <a:rPr lang="en-US" altLang="zh-CN" dirty="0"/>
                  <a:t>)</a:t>
                </a:r>
                <a:r>
                  <a:rPr lang="zh-CN" altLang="en-US" dirty="0"/>
                  <a:t>，然后用多项式近似𝐾</a:t>
                </a:r>
                <a:r>
                  <a:rPr lang="en-US" altLang="zh-CN" dirty="0"/>
                  <a:t>(</a:t>
                </a:r>
                <a:r>
                  <a:rPr lang="zh-CN" altLang="en-US" dirty="0"/>
                  <a:t>𝑝</a:t>
                </a:r>
                <a:r>
                  <a:rPr lang="en-US" altLang="zh-CN" dirty="0"/>
                  <a:t>)</a:t>
                </a:r>
                <a:r>
                  <a:rPr lang="zh-CN" altLang="en-US" dirty="0"/>
                  <a:t>，估计下列模型：</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𝑌</m:t>
                          </m:r>
                          <m:r>
                            <a:rPr lang="zh-CN" altLang="en-US" i="1" smtClean="0">
                              <a:latin typeface="Cambria Math" panose="02040503050406030204" pitchFamily="18" charset="0"/>
                            </a:rPr>
                            <m:t>=</m:t>
                          </m:r>
                          <m:r>
                            <a:rPr lang="zh-CN" altLang="en-US" i="1" smtClean="0">
                              <a:latin typeface="Cambria Math" panose="02040503050406030204" pitchFamily="18" charset="0"/>
                            </a:rPr>
                            <m:t>𝑋</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𝑅</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𝜏</m:t>
                          </m:r>
                          <m:r>
                            <a:rPr lang="zh-CN" altLang="en-US" i="1" smtClean="0">
                              <a:latin typeface="Cambria Math" panose="02040503050406030204" pitchFamily="18" charset="0"/>
                            </a:rPr>
                            <m:t>+</m:t>
                          </m:r>
                          <m:r>
                            <a:rPr lang="zh-CN" altLang="en-US" i="1" smtClean="0">
                              <a:latin typeface="Cambria Math" panose="02040503050406030204" pitchFamily="18" charset="0"/>
                            </a:rPr>
                            <m:t>𝑋</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0</m:t>
                                  </m:r>
                                </m:sub>
                              </m:sSub>
                            </m:e>
                          </m:d>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𝑝</m:t>
                              </m:r>
                            </m:e>
                          </m:acc>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𝑘</m:t>
                              </m:r>
                              <m:r>
                                <a:rPr lang="zh-CN" altLang="en-US" i="1" smtClean="0">
                                  <a:latin typeface="Cambria Math" panose="02040503050406030204" pitchFamily="18" charset="0"/>
                                </a:rPr>
                                <m:t>=2</m:t>
                              </m:r>
                            </m:sub>
                            <m:sup>
                              <m:r>
                                <a:rPr lang="zh-CN" altLang="en-US" i="1" smtClean="0">
                                  <a:latin typeface="Cambria Math" panose="02040503050406030204" pitchFamily="18" charset="0"/>
                                </a:rPr>
                                <m:t>𝐾</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𝑘</m:t>
                                  </m:r>
                                </m:sub>
                              </m:sSub>
                            </m:e>
                          </m:nary>
                          <m:sSup>
                            <m:sSupPr>
                              <m:ctrlPr>
                                <a:rPr lang="zh-CN" altLang="en-US" i="1" smtClean="0">
                                  <a:latin typeface="Cambria Math" panose="02040503050406030204" pitchFamily="18" charset="0"/>
                                </a:rPr>
                              </m:ctrlPr>
                            </m:sSup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𝑝</m:t>
                                  </m:r>
                                </m:e>
                              </m:acc>
                            </m:e>
                            <m:sup>
                              <m:r>
                                <a:rPr lang="zh-CN" altLang="en-US" i="1" smtClean="0">
                                  <a:latin typeface="Cambria Math" panose="02040503050406030204" pitchFamily="18" charset="0"/>
                                </a:rPr>
                                <m:t>𝑘</m:t>
                              </m:r>
                            </m:sup>
                          </m:sSup>
                          <m:r>
                            <a:rPr lang="zh-CN" altLang="en-US" i="1" smtClean="0">
                              <a:latin typeface="Cambria Math" panose="02040503050406030204" pitchFamily="18" charset="0"/>
                            </a:rPr>
                            <m:t>+</m:t>
                          </m:r>
                          <m:r>
                            <a:rPr lang="zh-CN" altLang="en-US" i="1" smtClean="0">
                              <a:latin typeface="Cambria Math" panose="02040503050406030204" pitchFamily="18" charset="0"/>
                            </a:rPr>
                            <m:t>𝜀</m:t>
                          </m:r>
                          <m:r>
                            <a:rPr lang="zh-CN" altLang="en-US" i="1" smtClean="0">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1C7CE6B1-0B20-3136-9822-000ECB49DE8A}"/>
                  </a:ext>
                </a:extLst>
              </p:cNvPr>
              <p:cNvSpPr>
                <a:spLocks noGrp="1" noRot="1" noChangeAspect="1" noMove="1" noResize="1" noEditPoints="1" noAdjustHandles="1" noChangeArrowheads="1" noChangeShapeType="1" noTextEdit="1"/>
              </p:cNvSpPr>
              <p:nvPr>
                <p:ph idx="1"/>
              </p:nvPr>
            </p:nvSpPr>
            <p:spPr>
              <a:blipFill>
                <a:blip r:embed="rId2"/>
                <a:stretch>
                  <a:fillRect l="-232" t="-280" r="-2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9F8DC78-3A4E-9568-6EE7-6C6DA7E8B95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C2B1924-F952-4917-B25F-D1CF4ACCA02E}"/>
              </a:ext>
            </a:extLst>
          </p:cNvPr>
          <p:cNvSpPr>
            <a:spLocks noGrp="1"/>
          </p:cNvSpPr>
          <p:nvPr>
            <p:ph type="sldNum" sz="quarter" idx="12"/>
          </p:nvPr>
        </p:nvSpPr>
        <p:spPr/>
        <p:txBody>
          <a:bodyPr/>
          <a:lstStyle/>
          <a:p>
            <a:fld id="{D41FC515-8169-4A29-AA56-DBE520D5741B}" type="slidenum">
              <a:rPr lang="zh-CN" altLang="en-US" smtClean="0"/>
              <a:t>72</a:t>
            </a:fld>
            <a:endParaRPr lang="zh-CN" altLang="en-US"/>
          </a:p>
        </p:txBody>
      </p:sp>
    </p:spTree>
    <p:extLst>
      <p:ext uri="{BB962C8B-B14F-4D97-AF65-F5344CB8AC3E}">
        <p14:creationId xmlns:p14="http://schemas.microsoft.com/office/powerpoint/2010/main" val="8026648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23CAA-2D3A-2C67-EF0C-5031A489FE92}"/>
              </a:ext>
            </a:extLst>
          </p:cNvPr>
          <p:cNvSpPr>
            <a:spLocks noGrp="1"/>
          </p:cNvSpPr>
          <p:nvPr>
            <p:ph type="title"/>
          </p:nvPr>
        </p:nvSpPr>
        <p:spPr/>
        <p:txBody>
          <a:bodyPr>
            <a:normAutofit/>
          </a:bodyPr>
          <a:lstStyle/>
          <a:p>
            <a:r>
              <a:rPr lang="en-US" altLang="zh-CN" dirty="0"/>
              <a:t>Cornelissen et al. (2018) Who benefits from universal child care?</a:t>
            </a:r>
            <a:endParaRPr lang="zh-CN" altLang="en-US" dirty="0"/>
          </a:p>
        </p:txBody>
      </p:sp>
      <p:pic>
        <p:nvPicPr>
          <p:cNvPr id="7" name="内容占位符 6">
            <a:extLst>
              <a:ext uri="{FF2B5EF4-FFF2-40B4-BE49-F238E27FC236}">
                <a16:creationId xmlns:a16="http://schemas.microsoft.com/office/drawing/2014/main" id="{89644AA1-4A30-2274-7C6B-666CEB793725}"/>
              </a:ext>
            </a:extLst>
          </p:cNvPr>
          <p:cNvPicPr>
            <a:picLocks noGrp="1" noChangeAspect="1"/>
          </p:cNvPicPr>
          <p:nvPr>
            <p:ph idx="1"/>
          </p:nvPr>
        </p:nvPicPr>
        <p:blipFill>
          <a:blip r:embed="rId2"/>
          <a:stretch>
            <a:fillRect/>
          </a:stretch>
        </p:blipFill>
        <p:spPr>
          <a:xfrm>
            <a:off x="1481149" y="1825625"/>
            <a:ext cx="6181701" cy="4351338"/>
          </a:xfrm>
          <a:prstGeom prst="rect">
            <a:avLst/>
          </a:prstGeom>
        </p:spPr>
      </p:pic>
      <p:sp>
        <p:nvSpPr>
          <p:cNvPr id="4" name="页脚占位符 3">
            <a:extLst>
              <a:ext uri="{FF2B5EF4-FFF2-40B4-BE49-F238E27FC236}">
                <a16:creationId xmlns:a16="http://schemas.microsoft.com/office/drawing/2014/main" id="{CD341673-92DE-8168-EFA1-22D6A6CAE14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EC2CC89-3F1A-6816-1A5D-20C67FBE1658}"/>
              </a:ext>
            </a:extLst>
          </p:cNvPr>
          <p:cNvSpPr>
            <a:spLocks noGrp="1"/>
          </p:cNvSpPr>
          <p:nvPr>
            <p:ph type="sldNum" sz="quarter" idx="12"/>
          </p:nvPr>
        </p:nvSpPr>
        <p:spPr/>
        <p:txBody>
          <a:bodyPr/>
          <a:lstStyle/>
          <a:p>
            <a:fld id="{D41FC515-8169-4A29-AA56-DBE520D5741B}" type="slidenum">
              <a:rPr lang="zh-CN" altLang="en-US" smtClean="0"/>
              <a:t>73</a:t>
            </a:fld>
            <a:endParaRPr lang="zh-CN" altLang="en-US"/>
          </a:p>
        </p:txBody>
      </p:sp>
    </p:spTree>
    <p:extLst>
      <p:ext uri="{BB962C8B-B14F-4D97-AF65-F5344CB8AC3E}">
        <p14:creationId xmlns:p14="http://schemas.microsoft.com/office/powerpoint/2010/main" val="26442429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1491AD-9A77-9FAC-28C6-44DC43E97213}"/>
              </a:ext>
            </a:extLst>
          </p:cNvPr>
          <p:cNvSpPr>
            <a:spLocks noGrp="1"/>
          </p:cNvSpPr>
          <p:nvPr>
            <p:ph type="title"/>
          </p:nvPr>
        </p:nvSpPr>
        <p:spPr/>
        <p:txBody>
          <a:bodyPr>
            <a:normAutofit fontScale="90000"/>
          </a:bodyPr>
          <a:lstStyle/>
          <a:p>
            <a:r>
              <a:rPr lang="en-US" altLang="zh-CN" dirty="0"/>
              <a:t>Cornelissen et al. (2018) Who benefits from universal child care?</a:t>
            </a:r>
            <a:endParaRPr lang="zh-CN" altLang="en-US" dirty="0"/>
          </a:p>
        </p:txBody>
      </p:sp>
      <p:pic>
        <p:nvPicPr>
          <p:cNvPr id="7" name="内容占位符 6">
            <a:extLst>
              <a:ext uri="{FF2B5EF4-FFF2-40B4-BE49-F238E27FC236}">
                <a16:creationId xmlns:a16="http://schemas.microsoft.com/office/drawing/2014/main" id="{B82D0039-0BFE-5F1D-468E-C82FF708636F}"/>
              </a:ext>
            </a:extLst>
          </p:cNvPr>
          <p:cNvPicPr>
            <a:picLocks noGrp="1" noChangeAspect="1"/>
          </p:cNvPicPr>
          <p:nvPr>
            <p:ph idx="1"/>
          </p:nvPr>
        </p:nvPicPr>
        <p:blipFill>
          <a:blip r:embed="rId2"/>
          <a:stretch>
            <a:fillRect/>
          </a:stretch>
        </p:blipFill>
        <p:spPr>
          <a:xfrm>
            <a:off x="1586144" y="1825625"/>
            <a:ext cx="5127477" cy="3736180"/>
          </a:xfrm>
          <a:prstGeom prst="rect">
            <a:avLst/>
          </a:prstGeom>
        </p:spPr>
      </p:pic>
      <p:sp>
        <p:nvSpPr>
          <p:cNvPr id="4" name="页脚占位符 3">
            <a:extLst>
              <a:ext uri="{FF2B5EF4-FFF2-40B4-BE49-F238E27FC236}">
                <a16:creationId xmlns:a16="http://schemas.microsoft.com/office/drawing/2014/main" id="{12C4BCD1-A3C2-66E2-C6B7-C6E58D32A17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22A5D96-619A-D53B-B3B3-8EA5A1209D30}"/>
              </a:ext>
            </a:extLst>
          </p:cNvPr>
          <p:cNvSpPr>
            <a:spLocks noGrp="1"/>
          </p:cNvSpPr>
          <p:nvPr>
            <p:ph type="sldNum" sz="quarter" idx="12"/>
          </p:nvPr>
        </p:nvSpPr>
        <p:spPr/>
        <p:txBody>
          <a:bodyPr/>
          <a:lstStyle/>
          <a:p>
            <a:fld id="{D41FC515-8169-4A29-AA56-DBE520D5741B}" type="slidenum">
              <a:rPr lang="zh-CN" altLang="en-US" smtClean="0"/>
              <a:t>74</a:t>
            </a:fld>
            <a:endParaRPr lang="zh-CN" altLang="en-US"/>
          </a:p>
        </p:txBody>
      </p:sp>
      <p:sp>
        <p:nvSpPr>
          <p:cNvPr id="9" name="文本框 8">
            <a:extLst>
              <a:ext uri="{FF2B5EF4-FFF2-40B4-BE49-F238E27FC236}">
                <a16:creationId xmlns:a16="http://schemas.microsoft.com/office/drawing/2014/main" id="{5318ACFA-9A28-AE12-63AD-05662869BB8E}"/>
              </a:ext>
            </a:extLst>
          </p:cNvPr>
          <p:cNvSpPr txBox="1"/>
          <p:nvPr/>
        </p:nvSpPr>
        <p:spPr>
          <a:xfrm>
            <a:off x="2634916" y="5789801"/>
            <a:ext cx="4572000" cy="338554"/>
          </a:xfrm>
          <a:prstGeom prst="rect">
            <a:avLst/>
          </a:prstGeom>
          <a:noFill/>
        </p:spPr>
        <p:txBody>
          <a:bodyPr wrap="square">
            <a:spAutoFit/>
          </a:bodyPr>
          <a:lstStyle/>
          <a:p>
            <a:pPr algn="l"/>
            <a:r>
              <a:rPr lang="en-US" altLang="zh-CN" sz="1600" b="0" i="0" u="none" strike="noStrike" baseline="0" dirty="0">
                <a:solidFill>
                  <a:srgbClr val="3333B3"/>
                </a:solidFill>
                <a:latin typeface="LMRoman8-Regular-Identity-H"/>
              </a:rPr>
              <a:t>Figure 1: </a:t>
            </a:r>
            <a:r>
              <a:rPr lang="en-US" altLang="zh-CN" sz="1600" b="0" i="0" u="none" strike="noStrike" baseline="0" dirty="0">
                <a:solidFill>
                  <a:srgbClr val="000000"/>
                </a:solidFill>
                <a:latin typeface="LMRoman8-Regular-Identity-H"/>
              </a:rPr>
              <a:t>MTE curve for school readiness</a:t>
            </a:r>
          </a:p>
        </p:txBody>
      </p:sp>
    </p:spTree>
    <p:extLst>
      <p:ext uri="{BB962C8B-B14F-4D97-AF65-F5344CB8AC3E}">
        <p14:creationId xmlns:p14="http://schemas.microsoft.com/office/powerpoint/2010/main" val="22208574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53505D-C8FC-9AE0-0CE0-3F7CD822B2AD}"/>
              </a:ext>
            </a:extLst>
          </p:cNvPr>
          <p:cNvSpPr>
            <a:spLocks noGrp="1"/>
          </p:cNvSpPr>
          <p:nvPr>
            <p:ph type="title"/>
          </p:nvPr>
        </p:nvSpPr>
        <p:spPr/>
        <p:txBody>
          <a:bodyPr>
            <a:normAutofit/>
          </a:bodyPr>
          <a:lstStyle/>
          <a:p>
            <a:r>
              <a:rPr lang="en-US" altLang="zh-CN" sz="4000" dirty="0"/>
              <a:t>Cornelissen et al. (2018) Who benefits from universal child care?</a:t>
            </a:r>
            <a:endParaRPr lang="zh-CN" altLang="en-US" sz="4000" dirty="0"/>
          </a:p>
        </p:txBody>
      </p:sp>
      <p:pic>
        <p:nvPicPr>
          <p:cNvPr id="7" name="内容占位符 6">
            <a:extLst>
              <a:ext uri="{FF2B5EF4-FFF2-40B4-BE49-F238E27FC236}">
                <a16:creationId xmlns:a16="http://schemas.microsoft.com/office/drawing/2014/main" id="{FE42F05B-8ECD-3890-93C2-FA890B7CD7CD}"/>
              </a:ext>
            </a:extLst>
          </p:cNvPr>
          <p:cNvPicPr>
            <a:picLocks noGrp="1" noChangeAspect="1"/>
          </p:cNvPicPr>
          <p:nvPr>
            <p:ph idx="1"/>
          </p:nvPr>
        </p:nvPicPr>
        <p:blipFill>
          <a:blip r:embed="rId2"/>
          <a:stretch>
            <a:fillRect/>
          </a:stretch>
        </p:blipFill>
        <p:spPr>
          <a:xfrm>
            <a:off x="1146219" y="2149956"/>
            <a:ext cx="6851561" cy="3702676"/>
          </a:xfrm>
          <a:prstGeom prst="rect">
            <a:avLst/>
          </a:prstGeom>
        </p:spPr>
      </p:pic>
      <p:sp>
        <p:nvSpPr>
          <p:cNvPr id="4" name="页脚占位符 3">
            <a:extLst>
              <a:ext uri="{FF2B5EF4-FFF2-40B4-BE49-F238E27FC236}">
                <a16:creationId xmlns:a16="http://schemas.microsoft.com/office/drawing/2014/main" id="{0FD6B429-D3C5-3309-094F-7F2E1461E1C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7C8239A-D9CF-B8CC-8928-A916775D8A2D}"/>
              </a:ext>
            </a:extLst>
          </p:cNvPr>
          <p:cNvSpPr>
            <a:spLocks noGrp="1"/>
          </p:cNvSpPr>
          <p:nvPr>
            <p:ph type="sldNum" sz="quarter" idx="12"/>
          </p:nvPr>
        </p:nvSpPr>
        <p:spPr/>
        <p:txBody>
          <a:bodyPr/>
          <a:lstStyle/>
          <a:p>
            <a:fld id="{D41FC515-8169-4A29-AA56-DBE520D5741B}" type="slidenum">
              <a:rPr lang="zh-CN" altLang="en-US" smtClean="0"/>
              <a:t>75</a:t>
            </a:fld>
            <a:endParaRPr lang="zh-CN" altLang="en-US"/>
          </a:p>
        </p:txBody>
      </p:sp>
    </p:spTree>
    <p:extLst>
      <p:ext uri="{BB962C8B-B14F-4D97-AF65-F5344CB8AC3E}">
        <p14:creationId xmlns:p14="http://schemas.microsoft.com/office/powerpoint/2010/main" val="37358222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BD6EC0-014F-C29A-3673-1742EF175C76}"/>
              </a:ext>
            </a:extLst>
          </p:cNvPr>
          <p:cNvSpPr>
            <a:spLocks noGrp="1"/>
          </p:cNvSpPr>
          <p:nvPr>
            <p:ph type="title"/>
          </p:nvPr>
        </p:nvSpPr>
        <p:spPr/>
        <p:txBody>
          <a:bodyPr>
            <a:normAutofit/>
          </a:bodyPr>
          <a:lstStyle/>
          <a:p>
            <a:r>
              <a:rPr lang="en-US" altLang="zh-CN" sz="4000" dirty="0"/>
              <a:t>Cornelissen et al. (2018) Who benefits from universal child care?</a:t>
            </a:r>
            <a:endParaRPr lang="zh-CN" altLang="en-US" sz="4000" dirty="0"/>
          </a:p>
        </p:txBody>
      </p:sp>
      <p:sp>
        <p:nvSpPr>
          <p:cNvPr id="3" name="内容占位符 2">
            <a:extLst>
              <a:ext uri="{FF2B5EF4-FFF2-40B4-BE49-F238E27FC236}">
                <a16:creationId xmlns:a16="http://schemas.microsoft.com/office/drawing/2014/main" id="{D65AA39C-EEEA-D133-1EBF-C1D01C32C772}"/>
              </a:ext>
            </a:extLst>
          </p:cNvPr>
          <p:cNvSpPr>
            <a:spLocks noGrp="1"/>
          </p:cNvSpPr>
          <p:nvPr>
            <p:ph idx="1"/>
          </p:nvPr>
        </p:nvSpPr>
        <p:spPr/>
        <p:txBody>
          <a:bodyPr/>
          <a:lstStyle/>
          <a:p>
            <a:r>
              <a:rPr lang="zh-CN" altLang="en-US" dirty="0"/>
              <a:t>稳健性</a:t>
            </a:r>
            <a:endParaRPr lang="en-US" altLang="zh-CN" dirty="0"/>
          </a:p>
          <a:p>
            <a:endParaRPr lang="zh-CN" altLang="en-US" dirty="0"/>
          </a:p>
        </p:txBody>
      </p:sp>
      <p:sp>
        <p:nvSpPr>
          <p:cNvPr id="4" name="页脚占位符 3">
            <a:extLst>
              <a:ext uri="{FF2B5EF4-FFF2-40B4-BE49-F238E27FC236}">
                <a16:creationId xmlns:a16="http://schemas.microsoft.com/office/drawing/2014/main" id="{C8B745D5-4F18-60F0-56F1-02FF6835F75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E7A0ED3-7326-81AD-3371-2884BA0DAD61}"/>
              </a:ext>
            </a:extLst>
          </p:cNvPr>
          <p:cNvSpPr>
            <a:spLocks noGrp="1"/>
          </p:cNvSpPr>
          <p:nvPr>
            <p:ph type="sldNum" sz="quarter" idx="12"/>
          </p:nvPr>
        </p:nvSpPr>
        <p:spPr/>
        <p:txBody>
          <a:bodyPr/>
          <a:lstStyle/>
          <a:p>
            <a:fld id="{D41FC515-8169-4A29-AA56-DBE520D5741B}" type="slidenum">
              <a:rPr lang="zh-CN" altLang="en-US" smtClean="0"/>
              <a:t>76</a:t>
            </a:fld>
            <a:endParaRPr lang="zh-CN" altLang="en-US"/>
          </a:p>
        </p:txBody>
      </p:sp>
      <p:pic>
        <p:nvPicPr>
          <p:cNvPr id="7" name="图片 6">
            <a:extLst>
              <a:ext uri="{FF2B5EF4-FFF2-40B4-BE49-F238E27FC236}">
                <a16:creationId xmlns:a16="http://schemas.microsoft.com/office/drawing/2014/main" id="{624C577C-3905-9AA3-076F-AADF4B319468}"/>
              </a:ext>
            </a:extLst>
          </p:cNvPr>
          <p:cNvPicPr>
            <a:picLocks noChangeAspect="1"/>
          </p:cNvPicPr>
          <p:nvPr/>
        </p:nvPicPr>
        <p:blipFill>
          <a:blip r:embed="rId2"/>
          <a:stretch>
            <a:fillRect/>
          </a:stretch>
        </p:blipFill>
        <p:spPr>
          <a:xfrm>
            <a:off x="2490198" y="2069583"/>
            <a:ext cx="4331707" cy="4197073"/>
          </a:xfrm>
          <a:prstGeom prst="rect">
            <a:avLst/>
          </a:prstGeom>
        </p:spPr>
      </p:pic>
    </p:spTree>
    <p:extLst>
      <p:ext uri="{BB962C8B-B14F-4D97-AF65-F5344CB8AC3E}">
        <p14:creationId xmlns:p14="http://schemas.microsoft.com/office/powerpoint/2010/main" val="32971984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AC00CB-5F04-8166-0F54-666E37DFEFD3}"/>
              </a:ext>
            </a:extLst>
          </p:cNvPr>
          <p:cNvSpPr>
            <a:spLocks noGrp="1"/>
          </p:cNvSpPr>
          <p:nvPr>
            <p:ph type="title"/>
          </p:nvPr>
        </p:nvSpPr>
        <p:spPr/>
        <p:txBody>
          <a:bodyPr>
            <a:normAutofit/>
          </a:bodyPr>
          <a:lstStyle/>
          <a:p>
            <a:r>
              <a:rPr lang="en-US" altLang="zh-CN" sz="4000" dirty="0"/>
              <a:t>Cornelissen et al. (2018) Who benefits from universal child care?</a:t>
            </a:r>
            <a:endParaRPr lang="zh-CN" altLang="en-US" sz="4000" dirty="0"/>
          </a:p>
        </p:txBody>
      </p:sp>
      <p:pic>
        <p:nvPicPr>
          <p:cNvPr id="7" name="内容占位符 6">
            <a:extLst>
              <a:ext uri="{FF2B5EF4-FFF2-40B4-BE49-F238E27FC236}">
                <a16:creationId xmlns:a16="http://schemas.microsoft.com/office/drawing/2014/main" id="{39A4C466-C5D0-2BCF-E1EF-957108C47D94}"/>
              </a:ext>
            </a:extLst>
          </p:cNvPr>
          <p:cNvPicPr>
            <a:picLocks noGrp="1" noChangeAspect="1"/>
          </p:cNvPicPr>
          <p:nvPr>
            <p:ph idx="1"/>
          </p:nvPr>
        </p:nvPicPr>
        <p:blipFill>
          <a:blip r:embed="rId2"/>
          <a:stretch>
            <a:fillRect/>
          </a:stretch>
        </p:blipFill>
        <p:spPr>
          <a:xfrm>
            <a:off x="759005" y="2411091"/>
            <a:ext cx="3992451" cy="2530699"/>
          </a:xfrm>
          <a:prstGeom prst="rect">
            <a:avLst/>
          </a:prstGeom>
        </p:spPr>
      </p:pic>
      <p:sp>
        <p:nvSpPr>
          <p:cNvPr id="4" name="页脚占位符 3">
            <a:extLst>
              <a:ext uri="{FF2B5EF4-FFF2-40B4-BE49-F238E27FC236}">
                <a16:creationId xmlns:a16="http://schemas.microsoft.com/office/drawing/2014/main" id="{8FC24FB6-BEAA-46C5-0ACD-A5C9A0768E0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38AE05D-B163-5C1A-1BD5-5C41C807FF2C}"/>
              </a:ext>
            </a:extLst>
          </p:cNvPr>
          <p:cNvSpPr>
            <a:spLocks noGrp="1"/>
          </p:cNvSpPr>
          <p:nvPr>
            <p:ph type="sldNum" sz="quarter" idx="12"/>
          </p:nvPr>
        </p:nvSpPr>
        <p:spPr/>
        <p:txBody>
          <a:bodyPr/>
          <a:lstStyle/>
          <a:p>
            <a:fld id="{D41FC515-8169-4A29-AA56-DBE520D5741B}" type="slidenum">
              <a:rPr lang="zh-CN" altLang="en-US" smtClean="0"/>
              <a:t>77</a:t>
            </a:fld>
            <a:endParaRPr lang="zh-CN" altLang="en-US"/>
          </a:p>
        </p:txBody>
      </p:sp>
      <p:pic>
        <p:nvPicPr>
          <p:cNvPr id="9" name="图片 8">
            <a:extLst>
              <a:ext uri="{FF2B5EF4-FFF2-40B4-BE49-F238E27FC236}">
                <a16:creationId xmlns:a16="http://schemas.microsoft.com/office/drawing/2014/main" id="{DD8F13D2-A837-6FD6-7189-DC76AF0F05AC}"/>
              </a:ext>
            </a:extLst>
          </p:cNvPr>
          <p:cNvPicPr>
            <a:picLocks noChangeAspect="1"/>
          </p:cNvPicPr>
          <p:nvPr/>
        </p:nvPicPr>
        <p:blipFill>
          <a:blip r:embed="rId3"/>
          <a:stretch>
            <a:fillRect/>
          </a:stretch>
        </p:blipFill>
        <p:spPr>
          <a:xfrm>
            <a:off x="5040488" y="2324822"/>
            <a:ext cx="3344508" cy="2616968"/>
          </a:xfrm>
          <a:prstGeom prst="rect">
            <a:avLst/>
          </a:prstGeom>
        </p:spPr>
      </p:pic>
    </p:spTree>
    <p:extLst>
      <p:ext uri="{BB962C8B-B14F-4D97-AF65-F5344CB8AC3E}">
        <p14:creationId xmlns:p14="http://schemas.microsoft.com/office/powerpoint/2010/main" val="5146710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B383D6-2531-1F13-0278-E5030419FE90}"/>
              </a:ext>
            </a:extLst>
          </p:cNvPr>
          <p:cNvSpPr>
            <a:spLocks noGrp="1"/>
          </p:cNvSpPr>
          <p:nvPr>
            <p:ph type="title"/>
          </p:nvPr>
        </p:nvSpPr>
        <p:spPr/>
        <p:txBody>
          <a:bodyPr/>
          <a:lstStyle/>
          <a:p>
            <a:r>
              <a:rPr lang="en-US" altLang="zh-CN" dirty="0"/>
              <a:t>Shift-Share IV (SSIV)</a:t>
            </a:r>
            <a:endParaRPr lang="zh-CN" altLang="en-US" dirty="0"/>
          </a:p>
        </p:txBody>
      </p:sp>
      <p:sp>
        <p:nvSpPr>
          <p:cNvPr id="3" name="内容占位符 2">
            <a:extLst>
              <a:ext uri="{FF2B5EF4-FFF2-40B4-BE49-F238E27FC236}">
                <a16:creationId xmlns:a16="http://schemas.microsoft.com/office/drawing/2014/main" id="{CC7D1268-56D4-5223-A92D-906752C0F1BA}"/>
              </a:ext>
            </a:extLst>
          </p:cNvPr>
          <p:cNvSpPr>
            <a:spLocks noGrp="1"/>
          </p:cNvSpPr>
          <p:nvPr>
            <p:ph idx="1"/>
          </p:nvPr>
        </p:nvSpPr>
        <p:spPr/>
        <p:txBody>
          <a:bodyPr/>
          <a:lstStyle/>
          <a:p>
            <a:r>
              <a:rPr lang="en-US" altLang="zh-CN" dirty="0"/>
              <a:t>Shift-Share IV (SSIV) or Bartik IV </a:t>
            </a:r>
            <a:r>
              <a:rPr lang="zh-CN" altLang="en-US" dirty="0"/>
              <a:t>在劳动经济学、贸易领域很流行，它通常是利用地区份额和行业冲击构造公式化工具变量</a:t>
            </a:r>
            <a:r>
              <a:rPr lang="en-US" altLang="zh-CN" dirty="0"/>
              <a:t>(formula IV)</a:t>
            </a:r>
            <a:r>
              <a:rPr lang="zh-CN" altLang="en-US" dirty="0"/>
              <a:t>，来识别因果效应。目前</a:t>
            </a:r>
            <a:r>
              <a:rPr lang="en-US" altLang="zh-CN" dirty="0"/>
              <a:t>NBER </a:t>
            </a:r>
            <a:r>
              <a:rPr lang="zh-CN" altLang="en-US" dirty="0"/>
              <a:t>工作论文使用工具变量的文章中约</a:t>
            </a:r>
            <a:r>
              <a:rPr lang="en-US" altLang="zh-CN" dirty="0"/>
              <a:t>1/8 </a:t>
            </a:r>
            <a:r>
              <a:rPr lang="zh-CN" altLang="en-US" dirty="0"/>
              <a:t>是</a:t>
            </a:r>
            <a:r>
              <a:rPr lang="en-US" altLang="zh-CN" dirty="0"/>
              <a:t>SSIV(</a:t>
            </a:r>
            <a:r>
              <a:rPr lang="en-US" altLang="zh-CN" dirty="0" err="1"/>
              <a:t>Borusyak</a:t>
            </a:r>
            <a:r>
              <a:rPr lang="en-US" altLang="zh-CN" dirty="0"/>
              <a:t> et al. 2025)</a:t>
            </a:r>
            <a:r>
              <a:rPr lang="zh-CN" altLang="en-US" dirty="0"/>
              <a:t>。综述文章参考：</a:t>
            </a:r>
            <a:r>
              <a:rPr lang="en-US" altLang="zh-CN" dirty="0" err="1"/>
              <a:t>Borusyak</a:t>
            </a:r>
            <a:r>
              <a:rPr lang="en-US" altLang="zh-CN" dirty="0"/>
              <a:t>(2025a;2025b)</a:t>
            </a:r>
            <a:r>
              <a:rPr lang="zh-CN" altLang="en-US" dirty="0"/>
              <a:t>。</a:t>
            </a:r>
            <a:endParaRPr lang="en-US" altLang="zh-CN" dirty="0"/>
          </a:p>
          <a:p>
            <a:r>
              <a:rPr lang="zh-CN" altLang="en-US" dirty="0"/>
              <a:t>有两种识别方法：份额外生性</a:t>
            </a:r>
            <a:r>
              <a:rPr lang="en-US" altLang="zh-CN" dirty="0"/>
              <a:t>(Goldsmith-Pinkham et al. 2020)</a:t>
            </a:r>
            <a:r>
              <a:rPr lang="zh-CN" altLang="en-US" dirty="0"/>
              <a:t>，冲击外生性（</a:t>
            </a:r>
            <a:r>
              <a:rPr lang="en-US" altLang="zh-CN" dirty="0" err="1"/>
              <a:t>Borusyak</a:t>
            </a:r>
            <a:r>
              <a:rPr lang="en-US" altLang="zh-CN" dirty="0"/>
              <a:t> et al. 2022</a:t>
            </a:r>
            <a:r>
              <a:rPr lang="zh-CN" altLang="en-US" dirty="0"/>
              <a:t>）。</a:t>
            </a:r>
          </a:p>
        </p:txBody>
      </p:sp>
      <p:sp>
        <p:nvSpPr>
          <p:cNvPr id="4" name="页脚占位符 3">
            <a:extLst>
              <a:ext uri="{FF2B5EF4-FFF2-40B4-BE49-F238E27FC236}">
                <a16:creationId xmlns:a16="http://schemas.microsoft.com/office/drawing/2014/main" id="{0CA4C55D-64F8-5411-A565-993F5D7CADF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A22C5EA-0FAC-D8B7-DC7C-CE1D4827606B}"/>
              </a:ext>
            </a:extLst>
          </p:cNvPr>
          <p:cNvSpPr>
            <a:spLocks noGrp="1"/>
          </p:cNvSpPr>
          <p:nvPr>
            <p:ph type="sldNum" sz="quarter" idx="12"/>
          </p:nvPr>
        </p:nvSpPr>
        <p:spPr/>
        <p:txBody>
          <a:bodyPr/>
          <a:lstStyle/>
          <a:p>
            <a:fld id="{D41FC515-8169-4A29-AA56-DBE520D5741B}" type="slidenum">
              <a:rPr lang="zh-CN" altLang="en-US" smtClean="0"/>
              <a:t>78</a:t>
            </a:fld>
            <a:endParaRPr lang="zh-CN" altLang="en-US"/>
          </a:p>
        </p:txBody>
      </p:sp>
    </p:spTree>
    <p:extLst>
      <p:ext uri="{BB962C8B-B14F-4D97-AF65-F5344CB8AC3E}">
        <p14:creationId xmlns:p14="http://schemas.microsoft.com/office/powerpoint/2010/main" val="26542801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73E9BD-D358-76BC-1A55-B92F2E8452AA}"/>
              </a:ext>
            </a:extLst>
          </p:cNvPr>
          <p:cNvSpPr>
            <a:spLocks noGrp="1"/>
          </p:cNvSpPr>
          <p:nvPr>
            <p:ph type="title"/>
          </p:nvPr>
        </p:nvSpPr>
        <p:spPr/>
        <p:txBody>
          <a:bodyPr/>
          <a:lstStyle/>
          <a:p>
            <a:r>
              <a:rPr lang="en-US" altLang="zh-CN" dirty="0"/>
              <a:t>SSIV</a:t>
            </a:r>
            <a:r>
              <a:rPr lang="zh-CN" altLang="en-US" dirty="0"/>
              <a:t>：几个例子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7DAF7C4-0F6F-4CB1-0EFD-EA1536B6132F}"/>
                  </a:ext>
                </a:extLst>
              </p:cNvPr>
              <p:cNvSpPr>
                <a:spLocks noGrp="1"/>
              </p:cNvSpPr>
              <p:nvPr>
                <p:ph idx="1"/>
              </p:nvPr>
            </p:nvSpPr>
            <p:spPr/>
            <p:txBody>
              <a:bodyPr>
                <a:normAutofit fontScale="70000" lnSpcReduction="20000"/>
              </a:bodyPr>
              <a:lstStyle/>
              <a:p>
                <a:pPr>
                  <a:lnSpc>
                    <a:spcPct val="120000"/>
                  </a:lnSpc>
                </a:pPr>
                <a:r>
                  <a:rPr lang="en-US" altLang="zh-CN" dirty="0"/>
                  <a:t>Bartik(1991) </a:t>
                </a:r>
                <a:r>
                  <a:rPr lang="zh-CN" altLang="en-US" dirty="0"/>
                  <a:t>（逆）劳动供给弹性</a:t>
                </a:r>
                <a:endParaRPr lang="en-US" altLang="zh-CN" dirty="0"/>
              </a:p>
              <a:p>
                <a:pPr>
                  <a:lnSpc>
                    <a:spcPct val="120000"/>
                  </a:lnSpc>
                </a:pP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𝑦</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oMath>
                </a14:m>
                <a:endParaRPr lang="en-US" altLang="zh-CN" dirty="0"/>
              </a:p>
              <a:p>
                <a:pPr>
                  <a:lnSpc>
                    <a:spcPct val="120000"/>
                  </a:lnSpc>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𝑦</m:t>
                        </m:r>
                      </m:e>
                      <m:sub>
                        <m:r>
                          <a:rPr lang="zh-CN" altLang="en-US" i="1" dirty="0" smtClean="0">
                            <a:latin typeface="Cambria Math" panose="02040503050406030204" pitchFamily="18" charset="0"/>
                          </a:rPr>
                          <m:t>𝑙</m:t>
                        </m:r>
                      </m:sub>
                    </m:sSub>
                  </m:oMath>
                </a14:m>
                <a:r>
                  <a:rPr lang="zh-CN" altLang="en-US" dirty="0"/>
                  <a:t>、</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𝑥</m:t>
                        </m:r>
                      </m:e>
                      <m:sub>
                        <m:r>
                          <a:rPr lang="zh-CN" altLang="en-US" i="1" dirty="0" smtClean="0">
                            <a:latin typeface="Cambria Math" panose="02040503050406030204" pitchFamily="18" charset="0"/>
                          </a:rPr>
                          <m:t>𝑙</m:t>
                        </m:r>
                      </m:sub>
                    </m:sSub>
                  </m:oMath>
                </a14:m>
                <a:r>
                  <a:rPr lang="zh-CN" altLang="en-US" dirty="0"/>
                  <a:t> 分别表示地区𝑙 的工资和就业增长率，要识别𝛽，需要引入</a:t>
                </a:r>
                <a:r>
                  <a:rPr lang="en-US" altLang="zh-CN" dirty="0"/>
                  <a:t>demand shifter </a:t>
                </a:r>
                <a:r>
                  <a:rPr lang="zh-CN" altLang="en-US" dirty="0"/>
                  <a:t>识别。</a:t>
                </a:r>
                <a:endParaRPr lang="en-US" altLang="zh-CN" dirty="0"/>
              </a:p>
              <a:p>
                <a:pPr>
                  <a:lnSpc>
                    <a:spcPct val="120000"/>
                  </a:lnSpc>
                </a:pPr>
                <a:r>
                  <a:rPr lang="zh-CN" altLang="en-US" dirty="0"/>
                  <a:t>工具变量</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𝑠</m:t>
                        </m:r>
                      </m:e>
                      <m:sub>
                        <m:r>
                          <a:rPr lang="en-US" altLang="zh-CN" b="0" i="1" dirty="0" smtClean="0">
                            <a:latin typeface="Cambria Math" panose="02040503050406030204" pitchFamily="18" charset="0"/>
                          </a:rPr>
                          <m:t>𝑙𝑛</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𝑙𝑛</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𝑙</m:t>
                        </m:r>
                      </m:sub>
                    </m:sSub>
                    <m:r>
                      <a:rPr lang="zh-CN" altLang="en-US" i="1" dirty="0">
                        <a:latin typeface="Cambria Math" panose="02040503050406030204" pitchFamily="18" charset="0"/>
                      </a:rPr>
                      <m:t> </m:t>
                    </m:r>
                  </m:oMath>
                </a14:m>
                <a:r>
                  <a:rPr lang="zh-CN" altLang="en-US" dirty="0"/>
                  <a:t>为滞后地区行业就业份额；</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zh-CN" altLang="en-US" i="1" dirty="0" smtClean="0">
                            <a:latin typeface="Cambria Math" panose="02040503050406030204" pitchFamily="18" charset="0"/>
                          </a:rPr>
                          <m:t>𝑛</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m:rPr>
                        <m:sty m:val="p"/>
                      </m:rPr>
                      <a:rPr lang="en-US" altLang="zh-CN" i="0" dirty="0">
                        <a:latin typeface="Cambria Math" panose="02040503050406030204" pitchFamily="18" charset="0"/>
                      </a:rPr>
                      <m:t>Δ</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𝑛</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𝑛</m:t>
                        </m:r>
                      </m:sub>
                    </m:sSub>
                  </m:oMath>
                </a14:m>
                <a:r>
                  <a:rPr lang="zh-CN" altLang="en-US" dirty="0"/>
                  <a:t> 是全国行业𝑛 的就业增长率，反映就业冲击，</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𝑧</m:t>
                        </m:r>
                      </m:e>
                      <m:sub>
                        <m:r>
                          <a:rPr lang="zh-CN" altLang="en-US" i="1" dirty="0" smtClean="0">
                            <a:latin typeface="Cambria Math" panose="02040503050406030204" pitchFamily="18" charset="0"/>
                          </a:rPr>
                          <m:t>𝑙</m:t>
                        </m:r>
                      </m:sub>
                    </m:sSub>
                    <m:r>
                      <a:rPr lang="zh-CN" altLang="en-US" i="1" dirty="0" smtClean="0">
                        <a:latin typeface="Cambria Math" panose="02040503050406030204" pitchFamily="18" charset="0"/>
                      </a:rPr>
                      <m:t> </m:t>
                    </m:r>
                  </m:oMath>
                </a14:m>
                <a:r>
                  <a:rPr lang="zh-CN" altLang="en-US" dirty="0"/>
                  <a:t>是预测的就业增长率。</a:t>
                </a:r>
                <a:endParaRPr lang="en-US" altLang="zh-CN" dirty="0"/>
              </a:p>
              <a:p>
                <a:pPr>
                  <a:lnSpc>
                    <a:spcPct val="120000"/>
                  </a:lnSpc>
                </a:pPr>
                <a:r>
                  <a:rPr lang="zh-CN" altLang="en-US" dirty="0"/>
                  <a:t>识别，全国行业增长率不会受到本地需求因素的影响。</a:t>
                </a:r>
              </a:p>
            </p:txBody>
          </p:sp>
        </mc:Choice>
        <mc:Fallback xmlns="">
          <p:sp>
            <p:nvSpPr>
              <p:cNvPr id="3" name="内容占位符 2">
                <a:extLst>
                  <a:ext uri="{FF2B5EF4-FFF2-40B4-BE49-F238E27FC236}">
                    <a16:creationId xmlns:a16="http://schemas.microsoft.com/office/drawing/2014/main" id="{E7DAF7C4-0F6F-4CB1-0EFD-EA1536B6132F}"/>
                  </a:ext>
                </a:extLst>
              </p:cNvPr>
              <p:cNvSpPr>
                <a:spLocks noGrp="1" noRot="1" noChangeAspect="1" noMove="1" noResize="1" noEditPoints="1" noAdjustHandles="1" noChangeArrowheads="1" noChangeShapeType="1" noTextEdit="1"/>
              </p:cNvSpPr>
              <p:nvPr>
                <p:ph idx="1"/>
              </p:nvPr>
            </p:nvSpPr>
            <p:spPr>
              <a:blipFill>
                <a:blip r:embed="rId2"/>
                <a:stretch>
                  <a:fillRect l="-696" t="-700" r="-15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FEC1C4F-EEDC-2010-5849-85A1CA4CA7D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36A73A4-0419-D321-13C2-BDC894F45947}"/>
              </a:ext>
            </a:extLst>
          </p:cNvPr>
          <p:cNvSpPr>
            <a:spLocks noGrp="1"/>
          </p:cNvSpPr>
          <p:nvPr>
            <p:ph type="sldNum" sz="quarter" idx="12"/>
          </p:nvPr>
        </p:nvSpPr>
        <p:spPr/>
        <p:txBody>
          <a:bodyPr/>
          <a:lstStyle/>
          <a:p>
            <a:fld id="{D41FC515-8169-4A29-AA56-DBE520D5741B}" type="slidenum">
              <a:rPr lang="zh-CN" altLang="en-US" smtClean="0"/>
              <a:t>79</a:t>
            </a:fld>
            <a:endParaRPr lang="zh-CN" altLang="en-US"/>
          </a:p>
        </p:txBody>
      </p:sp>
    </p:spTree>
    <p:extLst>
      <p:ext uri="{BB962C8B-B14F-4D97-AF65-F5344CB8AC3E}">
        <p14:creationId xmlns:p14="http://schemas.microsoft.com/office/powerpoint/2010/main" val="253976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D821C-DC4F-AF69-76CA-CCB2B25A02C0}"/>
              </a:ext>
            </a:extLst>
          </p:cNvPr>
          <p:cNvSpPr>
            <a:spLocks noGrp="1"/>
          </p:cNvSpPr>
          <p:nvPr>
            <p:ph type="title"/>
          </p:nvPr>
        </p:nvSpPr>
        <p:spPr/>
        <p:txBody>
          <a:bodyPr/>
          <a:lstStyle/>
          <a:p>
            <a:r>
              <a:rPr lang="en-US" altLang="zh-CN" dirty="0"/>
              <a:t>SSIV</a:t>
            </a:r>
            <a:r>
              <a:rPr lang="zh-CN" altLang="en-US" dirty="0"/>
              <a:t>：几个例子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57AA0CA-3BE3-BC03-5904-5AF96F1805E0}"/>
                  </a:ext>
                </a:extLst>
              </p:cNvPr>
              <p:cNvSpPr>
                <a:spLocks noGrp="1"/>
              </p:cNvSpPr>
              <p:nvPr>
                <p:ph idx="1"/>
              </p:nvPr>
            </p:nvSpPr>
            <p:spPr/>
            <p:txBody>
              <a:bodyPr>
                <a:normAutofit fontScale="55000" lnSpcReduction="20000"/>
              </a:bodyPr>
              <a:lstStyle/>
              <a:p>
                <a:pPr>
                  <a:lnSpc>
                    <a:spcPct val="120000"/>
                  </a:lnSpc>
                </a:pPr>
                <a:r>
                  <a:rPr lang="en-US" altLang="zh-CN" dirty="0"/>
                  <a:t>Card(2001) </a:t>
                </a:r>
                <a:r>
                  <a:rPr lang="zh-CN" altLang="en-US" dirty="0"/>
                  <a:t>外国移民对本地劳动力市场的影响：</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𝑦</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𝑦</m:t>
                        </m:r>
                      </m:e>
                      <m:sub>
                        <m:r>
                          <a:rPr lang="zh-CN" altLang="en-US" i="1" dirty="0" smtClean="0">
                            <a:latin typeface="Cambria Math" panose="02040503050406030204" pitchFamily="18" charset="0"/>
                          </a:rPr>
                          <m:t>𝑙</m:t>
                        </m:r>
                      </m:sub>
                    </m:sSub>
                  </m:oMath>
                </a14:m>
                <a:r>
                  <a:rPr lang="zh-CN" altLang="en-US" dirty="0"/>
                  <a:t>、</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𝑥</m:t>
                        </m:r>
                      </m:e>
                      <m:sub>
                        <m:r>
                          <a:rPr lang="zh-CN" altLang="en-US" i="1" dirty="0" smtClean="0">
                            <a:latin typeface="Cambria Math" panose="02040503050406030204" pitchFamily="18" charset="0"/>
                          </a:rPr>
                          <m:t>𝑙</m:t>
                        </m:r>
                      </m:sub>
                    </m:sSub>
                  </m:oMath>
                </a14:m>
                <a:r>
                  <a:rPr lang="zh-CN" altLang="en-US" dirty="0"/>
                  <a:t> 分别表示地区𝑙 本地人工资和外来移民份额，要识别</a:t>
                </a:r>
                <a:r>
                  <a:rPr lang="en-US" altLang="zh-CN" dirty="0"/>
                  <a:t> </a:t>
                </a:r>
                <a:r>
                  <a:rPr lang="zh-CN" altLang="en-US" dirty="0"/>
                  <a:t>𝛽，需要引入 </a:t>
                </a:r>
                <a:r>
                  <a:rPr lang="en-US" altLang="zh-CN" dirty="0"/>
                  <a:t>demand shifter </a:t>
                </a:r>
                <a:r>
                  <a:rPr lang="zh-CN" altLang="en-US" dirty="0"/>
                  <a:t>识别。</a:t>
                </a:r>
                <a:endParaRPr lang="en-US" altLang="zh-CN" dirty="0"/>
              </a:p>
              <a:p>
                <a:pPr>
                  <a:lnSpc>
                    <a:spcPct val="120000"/>
                  </a:lnSpc>
                </a:pPr>
                <a:r>
                  <a:rPr lang="zh-CN" altLang="en-US" dirty="0"/>
                  <a:t>内生性：本地经济发展好，本地就业和工资会更高，也会吸引更多外来移民。</a:t>
                </a:r>
                <a:endParaRPr lang="en-US" altLang="zh-CN" dirty="0"/>
              </a:p>
              <a:p>
                <a:pPr>
                  <a:lnSpc>
                    <a:spcPct val="120000"/>
                  </a:lnSpc>
                </a:pPr>
                <a:r>
                  <a:rPr lang="zh-CN" altLang="en-US" dirty="0"/>
                  <a:t>工具变量</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𝑛𝑙</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𝑛</m:t>
                                  </m:r>
                                </m:sub>
                              </m:sSub>
                            </m:den>
                          </m:f>
                        </m:e>
                      </m:nary>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𝑛</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𝑙</m:t>
                              </m:r>
                            </m:sub>
                          </m:sSub>
                        </m:den>
                      </m:f>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𝑛𝑙</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𝑙</m:t>
                                  </m:r>
                                </m:sub>
                              </m:sSub>
                            </m:den>
                          </m:f>
                        </m:e>
                      </m:nary>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𝑛</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𝑛</m:t>
                              </m:r>
                            </m:sub>
                          </m:sSub>
                        </m:den>
                      </m:f>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oMath>
                  </m:oMathPara>
                </a14:m>
                <a:endParaRPr lang="en-US" altLang="zh-CN" dirty="0"/>
              </a:p>
              <a:p>
                <a:pPr marL="0" indent="0">
                  <a:lnSpc>
                    <a:spcPct val="120000"/>
                  </a:lnSpc>
                  <a:buNone/>
                </a:pPr>
                <a:r>
                  <a:rPr lang="zh-CN" altLang="en-US" dirty="0"/>
                  <a:t>其中𝑠𝑙𝑛 </a:t>
                </a:r>
                <a:r>
                  <a:rPr lang="en-US" altLang="zh-CN" dirty="0"/>
                  <a:t>= </a:t>
                </a:r>
                <a:r>
                  <a:rPr lang="zh-CN" altLang="en-US" dirty="0"/>
                  <a:t>𝐿𝑙𝑛</a:t>
                </a:r>
                <a:r>
                  <a:rPr lang="en-US" altLang="zh-CN" dirty="0"/>
                  <a:t>/</a:t>
                </a:r>
                <a:r>
                  <a:rPr lang="zh-CN" altLang="en-US" dirty="0"/>
                  <a:t>𝐿𝑛 为早期移民模式，</a:t>
                </a:r>
                <a:r>
                  <a:rPr lang="en-US" altLang="zh-CN" dirty="0"/>
                  <a:t>1985 </a:t>
                </a:r>
                <a:r>
                  <a:rPr lang="zh-CN" altLang="en-US" dirty="0"/>
                  <a:t>年某来源国</a:t>
                </a:r>
                <a:r>
                  <a:rPr lang="en-US" altLang="zh-CN" dirty="0"/>
                  <a:t>(n) </a:t>
                </a:r>
                <a:r>
                  <a:rPr lang="zh-CN" altLang="en-US" dirty="0"/>
                  <a:t>移民在美国各市的分布；</a:t>
                </a:r>
                <a:r>
                  <a:rPr lang="en-US" altLang="zh-CN" dirty="0"/>
                  <a:t>Δ</a:t>
                </a:r>
                <a:r>
                  <a:rPr lang="zh-CN" altLang="en-US" dirty="0"/>
                  <a:t>𝑀𝑛</a:t>
                </a:r>
                <a:r>
                  <a:rPr lang="en-US" altLang="zh-CN" dirty="0"/>
                  <a:t>1985-1990 </a:t>
                </a:r>
                <a:r>
                  <a:rPr lang="zh-CN" altLang="en-US" dirty="0"/>
                  <a:t>年间流入到美国的（来源国为𝑛 为）外来移民数量；</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𝐿</m:t>
                        </m:r>
                      </m:e>
                      <m:sub>
                        <m:r>
                          <a:rPr lang="zh-CN" altLang="en-US" i="1" dirty="0" smtClean="0">
                            <a:latin typeface="Cambria Math" panose="02040503050406030204" pitchFamily="18" charset="0"/>
                          </a:rPr>
                          <m:t>𝑙</m:t>
                        </m:r>
                      </m:sub>
                    </m:sSub>
                    <m:r>
                      <a:rPr lang="zh-CN" altLang="en-US" i="1" dirty="0" smtClean="0">
                        <a:latin typeface="Cambria Math" panose="02040503050406030204" pitchFamily="18" charset="0"/>
                      </a:rPr>
                      <m:t> </m:t>
                    </m:r>
                  </m:oMath>
                </a14:m>
                <a:r>
                  <a:rPr lang="zh-CN" altLang="en-US" dirty="0"/>
                  <a:t>表示</a:t>
                </a:r>
                <a:r>
                  <a:rPr lang="en-US" altLang="zh-CN" dirty="0"/>
                  <a:t>1985</a:t>
                </a:r>
                <a:r>
                  <a:rPr lang="zh-CN" altLang="en-US" dirty="0"/>
                  <a:t>年时𝑙 市的就业。𝑠𝑙𝑛 表示区区 </a:t>
                </a:r>
                <a:r>
                  <a:rPr lang="en-US" altLang="zh-CN" dirty="0"/>
                  <a:t>n </a:t>
                </a:r>
                <a:r>
                  <a:rPr lang="zh-CN" altLang="en-US" dirty="0"/>
                  <a:t>来源国的移民在劳动力中的占比，</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zh-CN" altLang="en-US" i="1" dirty="0" smtClean="0">
                            <a:latin typeface="Cambria Math" panose="02040503050406030204" pitchFamily="18" charset="0"/>
                          </a:rPr>
                          <m:t>𝑛</m:t>
                        </m:r>
                      </m:sub>
                    </m:sSub>
                    <m:r>
                      <a:rPr lang="zh-CN" altLang="en-US" i="1" dirty="0" smtClean="0">
                        <a:latin typeface="Cambria Math" panose="02040503050406030204" pitchFamily="18" charset="0"/>
                      </a:rPr>
                      <m:t> </m:t>
                    </m:r>
                    <m:r>
                      <a:rPr lang="en-US" altLang="zh-CN" i="1" dirty="0" smtClean="0">
                        <a:latin typeface="Cambria Math" panose="02040503050406030204" pitchFamily="18" charset="0"/>
                      </a:rPr>
                      <m:t>= </m:t>
                    </m:r>
                    <m:r>
                      <m:rPr>
                        <m:sty m:val="p"/>
                      </m:rPr>
                      <a:rPr lang="en-US" altLang="zh-CN" i="0" dirty="0" smtClean="0">
                        <a:latin typeface="Cambria Math" panose="02040503050406030204" pitchFamily="18" charset="0"/>
                      </a:rPr>
                      <m:t>Δ</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𝑀</m:t>
                        </m:r>
                      </m:e>
                      <m:sub>
                        <m:r>
                          <a:rPr lang="zh-CN" altLang="en-US" i="1" dirty="0" smtClean="0">
                            <a:latin typeface="Cambria Math" panose="02040503050406030204" pitchFamily="18" charset="0"/>
                          </a:rPr>
                          <m:t>𝑛</m:t>
                        </m:r>
                      </m:sub>
                    </m:sSub>
                    <m:r>
                      <a:rPr lang="en-US" altLang="zh-CN" i="1" dirty="0" smtClean="0">
                        <a:latin typeface="Cambria Math" panose="02040503050406030204" pitchFamily="18" charset="0"/>
                      </a:rPr>
                      <m:t>/</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𝑀</m:t>
                        </m:r>
                      </m:e>
                      <m:sub>
                        <m:r>
                          <a:rPr lang="zh-CN" altLang="en-US" i="1" dirty="0" smtClean="0">
                            <a:latin typeface="Cambria Math" panose="02040503050406030204" pitchFamily="18" charset="0"/>
                          </a:rPr>
                          <m:t>𝑛</m:t>
                        </m:r>
                      </m:sub>
                    </m:sSub>
                  </m:oMath>
                </a14:m>
                <a:r>
                  <a:rPr lang="zh-CN" altLang="en-US" dirty="0"/>
                  <a:t>是全国行业 𝑛 的移民增长率，反映全国移民冲击，</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𝑧</m:t>
                        </m:r>
                      </m:e>
                      <m:sub>
                        <m:r>
                          <a:rPr lang="zh-CN" altLang="en-US" i="1" dirty="0" smtClean="0">
                            <a:latin typeface="Cambria Math" panose="02040503050406030204" pitchFamily="18" charset="0"/>
                          </a:rPr>
                          <m:t>𝑙</m:t>
                        </m:r>
                      </m:sub>
                    </m:sSub>
                    <m:r>
                      <a:rPr lang="zh-CN" altLang="en-US" i="1" dirty="0" smtClean="0">
                        <a:latin typeface="Cambria Math" panose="02040503050406030204" pitchFamily="18" charset="0"/>
                      </a:rPr>
                      <m:t> </m:t>
                    </m:r>
                  </m:oMath>
                </a14:m>
                <a:r>
                  <a:rPr lang="zh-CN" altLang="en-US" dirty="0"/>
                  <a:t>是预测的移民增长率。</a:t>
                </a:r>
                <a:endParaRPr lang="en-US" altLang="zh-CN" dirty="0"/>
              </a:p>
              <a:p>
                <a:pPr>
                  <a:lnSpc>
                    <a:spcPct val="120000"/>
                  </a:lnSpc>
                </a:pPr>
                <a:r>
                  <a:rPr lang="zh-CN" altLang="en-US" dirty="0"/>
                  <a:t>识别：全国移民冲击来自于来源国的供给冲击，外生于本地劳动力市场。</a:t>
                </a:r>
              </a:p>
            </p:txBody>
          </p:sp>
        </mc:Choice>
        <mc:Fallback xmlns="">
          <p:sp>
            <p:nvSpPr>
              <p:cNvPr id="3" name="内容占位符 2">
                <a:extLst>
                  <a:ext uri="{FF2B5EF4-FFF2-40B4-BE49-F238E27FC236}">
                    <a16:creationId xmlns:a16="http://schemas.microsoft.com/office/drawing/2014/main" id="{357AA0CA-3BE3-BC03-5904-5AF96F1805E0}"/>
                  </a:ext>
                </a:extLst>
              </p:cNvPr>
              <p:cNvSpPr>
                <a:spLocks noGrp="1" noRot="1" noChangeAspect="1" noMove="1" noResize="1" noEditPoints="1" noAdjustHandles="1" noChangeArrowheads="1" noChangeShapeType="1" noTextEdit="1"/>
              </p:cNvSpPr>
              <p:nvPr>
                <p:ph idx="1"/>
              </p:nvPr>
            </p:nvSpPr>
            <p:spPr>
              <a:blipFill>
                <a:blip r:embed="rId2"/>
                <a:stretch>
                  <a:fillRect l="-309" t="-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59C96C0-2253-EAEA-C324-77D8547AE5A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0B6D218-FE39-3973-F471-13B4D0E7D358}"/>
              </a:ext>
            </a:extLst>
          </p:cNvPr>
          <p:cNvSpPr>
            <a:spLocks noGrp="1"/>
          </p:cNvSpPr>
          <p:nvPr>
            <p:ph type="sldNum" sz="quarter" idx="12"/>
          </p:nvPr>
        </p:nvSpPr>
        <p:spPr/>
        <p:txBody>
          <a:bodyPr/>
          <a:lstStyle/>
          <a:p>
            <a:fld id="{D41FC515-8169-4A29-AA56-DBE520D5741B}" type="slidenum">
              <a:rPr lang="zh-CN" altLang="en-US" smtClean="0"/>
              <a:t>80</a:t>
            </a:fld>
            <a:endParaRPr lang="zh-CN" altLang="en-US"/>
          </a:p>
        </p:txBody>
      </p:sp>
    </p:spTree>
    <p:extLst>
      <p:ext uri="{BB962C8B-B14F-4D97-AF65-F5344CB8AC3E}">
        <p14:creationId xmlns:p14="http://schemas.microsoft.com/office/powerpoint/2010/main" val="18246673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6B2819-890F-17AA-BA0D-898D7CB8F9DC}"/>
              </a:ext>
            </a:extLst>
          </p:cNvPr>
          <p:cNvSpPr>
            <a:spLocks noGrp="1"/>
          </p:cNvSpPr>
          <p:nvPr>
            <p:ph type="title"/>
          </p:nvPr>
        </p:nvSpPr>
        <p:spPr/>
        <p:txBody>
          <a:bodyPr/>
          <a:lstStyle/>
          <a:p>
            <a:r>
              <a:rPr lang="en-US" altLang="zh-CN" dirty="0"/>
              <a:t>SSIV</a:t>
            </a:r>
            <a:r>
              <a:rPr lang="zh-CN" altLang="en-US" dirty="0"/>
              <a:t>：几个例子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784EEEE-E582-B31F-5F5C-F911D84E4F5E}"/>
                  </a:ext>
                </a:extLst>
              </p:cNvPr>
              <p:cNvSpPr>
                <a:spLocks noGrp="1"/>
              </p:cNvSpPr>
              <p:nvPr>
                <p:ph idx="1"/>
              </p:nvPr>
            </p:nvSpPr>
            <p:spPr>
              <a:xfrm>
                <a:off x="628650" y="1825624"/>
                <a:ext cx="7886700" cy="4667249"/>
              </a:xfrm>
            </p:spPr>
            <p:txBody>
              <a:bodyPr>
                <a:normAutofit fontScale="47500" lnSpcReduction="20000"/>
              </a:bodyPr>
              <a:lstStyle/>
              <a:p>
                <a:pPr>
                  <a:lnSpc>
                    <a:spcPct val="120000"/>
                  </a:lnSpc>
                </a:pPr>
                <a:r>
                  <a:rPr lang="en-US" altLang="zh-CN" dirty="0"/>
                  <a:t>Acemoglu and Restrepo (2020)</a:t>
                </a:r>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𝑦</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其中𝑦𝑙 表示地区𝑙 就业或工资增长率，𝑥𝑙 表示地区𝑙 的人均工业机器人数，本身没有数据，通过下列式子构造：</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𝑙𝑛</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𝑙</m:t>
                                  </m:r>
                                </m:sub>
                              </m:sSub>
                            </m:den>
                          </m:f>
                        </m:e>
                      </m:nary>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𝑛</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𝑛</m:t>
                              </m:r>
                            </m:sub>
                          </m:sSub>
                        </m:den>
                      </m:f>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𝑔</m:t>
                              </m:r>
                            </m:e>
                          </m:acc>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oMath>
                  </m:oMathPara>
                </a14:m>
                <a:endParaRPr lang="en-US" altLang="zh-CN" dirty="0"/>
              </a:p>
              <a:p>
                <a:pPr>
                  <a:lnSpc>
                    <a:spcPct val="120000"/>
                  </a:lnSpc>
                </a:pP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𝑠</m:t>
                        </m:r>
                      </m:e>
                      <m:sub>
                        <m:r>
                          <a:rPr lang="en-US" altLang="zh-CN" b="0" i="1" dirty="0" smtClean="0">
                            <a:latin typeface="Cambria Math" panose="02040503050406030204" pitchFamily="18" charset="0"/>
                          </a:rPr>
                          <m:t>𝑙𝑛</m:t>
                        </m:r>
                      </m:sub>
                    </m:sSub>
                    <m:r>
                      <a:rPr lang="zh-CN" altLang="en-US" i="1" dirty="0" smtClean="0">
                        <a:latin typeface="Cambria Math" panose="02040503050406030204" pitchFamily="18" charset="0"/>
                      </a:rPr>
                      <m:t> </m:t>
                    </m:r>
                  </m:oMath>
                </a14:m>
                <a:r>
                  <a:rPr lang="zh-CN" altLang="en-US" dirty="0"/>
                  <a:t>表示地区𝑙 的 𝑛 行业就业份额，</a:t>
                </a:r>
                <a:r>
                  <a:rPr lang="en-US" altLang="zh-CN" dirty="0"/>
                  <a:t>1990 </a:t>
                </a:r>
                <a:r>
                  <a:rPr lang="zh-CN" altLang="en-US" dirty="0"/>
                  <a:t>年；</a:t>
                </a:r>
                <a:r>
                  <a:rPr lang="en-US" altLang="zh-CN" dirty="0"/>
                  <a:t>Δ</a:t>
                </a:r>
                <a:r>
                  <a:rPr lang="zh-CN" altLang="en-US" dirty="0"/>
                  <a:t>𝑀𝑛 表示</a:t>
                </a:r>
                <a:r>
                  <a:rPr lang="en-US" altLang="zh-CN" dirty="0"/>
                  <a:t>1993-2007 </a:t>
                </a:r>
                <a:r>
                  <a:rPr lang="zh-CN" altLang="en-US" dirty="0"/>
                  <a:t>年间的机器人安装增长量；𝐿𝑛 表示 </a:t>
                </a:r>
                <a:r>
                  <a:rPr lang="en-US" altLang="zh-CN" dirty="0"/>
                  <a:t>1990 </a:t>
                </a:r>
                <a:r>
                  <a:rPr lang="zh-CN" altLang="en-US" dirty="0"/>
                  <a:t>年 𝑛 行业的全国就业量；</a:t>
                </a:r>
                <a14:m>
                  <m:oMath xmlns:m="http://schemas.openxmlformats.org/officeDocument/2006/math">
                    <m:acc>
                      <m:accPr>
                        <m:chr m:val="̃"/>
                        <m:ctrlPr>
                          <a:rPr lang="zh-CN" altLang="en-US" i="1" dirty="0" smtClean="0">
                            <a:latin typeface="Cambria Math" panose="02040503050406030204" pitchFamily="18" charset="0"/>
                          </a:rPr>
                        </m:ctrlPr>
                      </m:accPr>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zh-CN" altLang="en-US" i="1" dirty="0" smtClean="0">
                                <a:latin typeface="Cambria Math" panose="02040503050406030204" pitchFamily="18" charset="0"/>
                              </a:rPr>
                              <m:t>𝑛</m:t>
                            </m:r>
                          </m:sub>
                        </m:sSub>
                      </m:e>
                    </m:acc>
                    <m:r>
                      <a:rPr lang="zh-CN" altLang="en-US" i="1" dirty="0" smtClean="0">
                        <a:latin typeface="Cambria Math" panose="02040503050406030204" pitchFamily="18" charset="0"/>
                      </a:rPr>
                      <m:t> </m:t>
                    </m:r>
                  </m:oMath>
                </a14:m>
                <a:r>
                  <a:rPr lang="zh-CN" altLang="en-US" dirty="0"/>
                  <a:t>表示全国 𝑛 行业机器人人均增长量。</a:t>
                </a:r>
                <a:endParaRPr lang="en-US" altLang="zh-CN" dirty="0"/>
              </a:p>
              <a:p>
                <a:pPr>
                  <a:lnSpc>
                    <a:spcPct val="120000"/>
                  </a:lnSpc>
                </a:pPr>
                <a:r>
                  <a:rPr lang="zh-CN" altLang="en-US" dirty="0"/>
                  <a:t>内生性：工业机器人的采用本身会受到当地劳动力需求情况的影响。</a:t>
                </a:r>
                <a:endParaRPr lang="en-US" altLang="zh-CN" dirty="0"/>
              </a:p>
              <a:p>
                <a:pPr>
                  <a:lnSpc>
                    <a:spcPct val="120000"/>
                  </a:lnSpc>
                </a:pPr>
                <a:r>
                  <a:rPr lang="zh-CN" altLang="en-US" dirty="0"/>
                  <a:t>工具变量</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𝑙𝑛</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𝑛</m:t>
                                  </m:r>
                                </m:sub>
                              </m:sSub>
                            </m:den>
                          </m:f>
                        </m:e>
                      </m:nary>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m:rPr>
                              <m:sty m:val="p"/>
                            </m:rPr>
                            <a:rPr lang="zh-CN" altLang="en-US" i="1" smtClean="0">
                              <a:latin typeface="Cambria Math" panose="02040503050406030204" pitchFamily="18" charset="0"/>
                            </a:rPr>
                            <m:t>Δ</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𝑒</m:t>
                              </m:r>
                            </m:sup>
                          </m:sSubSup>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𝑛</m:t>
                              </m:r>
                            </m:sub>
                          </m:sSub>
                        </m:den>
                      </m:f>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zh-CN" altLang="en-US" i="1" dirty="0" smtClean="0">
                            <a:latin typeface="Cambria Math" panose="02040503050406030204" pitchFamily="18" charset="0"/>
                          </a:rPr>
                          <m:t>𝑛</m:t>
                        </m:r>
                      </m:sub>
                    </m:sSub>
                    <m:r>
                      <a:rPr lang="zh-CN" altLang="en-US" i="1" dirty="0" smtClean="0">
                        <a:latin typeface="Cambria Math" panose="02040503050406030204" pitchFamily="18" charset="0"/>
                      </a:rPr>
                      <m:t> </m:t>
                    </m:r>
                  </m:oMath>
                </a14:m>
                <a:r>
                  <a:rPr lang="zh-CN" altLang="en-US" dirty="0"/>
                  <a:t>为欧洲五国的人均机器人采用情况，</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𝑠</m:t>
                        </m:r>
                      </m:e>
                      <m:sub>
                        <m:r>
                          <a:rPr lang="en-US" altLang="zh-CN" b="0" i="1" dirty="0" smtClean="0">
                            <a:latin typeface="Cambria Math" panose="02040503050406030204" pitchFamily="18" charset="0"/>
                          </a:rPr>
                          <m:t>𝑙𝑛</m:t>
                        </m:r>
                      </m:sub>
                    </m:sSub>
                  </m:oMath>
                </a14:m>
                <a:r>
                  <a:rPr lang="zh-CN" altLang="en-US" dirty="0"/>
                  <a:t>仍然为美国地区 𝑙 行业 𝑛 的就业份额。</a:t>
                </a:r>
                <a:endParaRPr lang="en-US" altLang="zh-CN" dirty="0"/>
              </a:p>
              <a:p>
                <a:pPr>
                  <a:lnSpc>
                    <a:spcPct val="120000"/>
                  </a:lnSpc>
                </a:pPr>
                <a:r>
                  <a:rPr lang="zh-CN" altLang="en-US" dirty="0"/>
                  <a:t>识别：</a:t>
                </a:r>
                <a14:m>
                  <m:oMath xmlns:m="http://schemas.openxmlformats.org/officeDocument/2006/math">
                    <m:acc>
                      <m:accPr>
                        <m:chr m:val="̃"/>
                        <m:ctrlPr>
                          <a:rPr lang="zh-CN" altLang="en-US" i="1" dirty="0" smtClean="0">
                            <a:latin typeface="Cambria Math" panose="02040503050406030204" pitchFamily="18" charset="0"/>
                          </a:rPr>
                        </m:ctrlPr>
                      </m:accPr>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en-US" altLang="zh-CN" b="0" i="1" dirty="0" smtClean="0">
                                <a:latin typeface="Cambria Math" panose="02040503050406030204" pitchFamily="18" charset="0"/>
                              </a:rPr>
                              <m:t>𝑛</m:t>
                            </m:r>
                          </m:sub>
                        </m:sSub>
                      </m:e>
                    </m:acc>
                  </m:oMath>
                </a14:m>
                <a:r>
                  <a:rPr lang="zh-CN" altLang="en-US" dirty="0"/>
                  <a:t>   和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zh-CN" altLang="en-US" i="1" dirty="0" smtClean="0">
                            <a:latin typeface="Cambria Math" panose="02040503050406030204" pitchFamily="18" charset="0"/>
                          </a:rPr>
                          <m:t>𝑛</m:t>
                        </m:r>
                      </m:sub>
                    </m:sSub>
                  </m:oMath>
                </a14:m>
                <a:r>
                  <a:rPr lang="zh-CN" altLang="en-US" dirty="0"/>
                  <a:t> 都受到外生技术进步的影响，相关，</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zh-CN" altLang="en-US" i="1" dirty="0" smtClean="0">
                            <a:latin typeface="Cambria Math" panose="02040503050406030204" pitchFamily="18" charset="0"/>
                          </a:rPr>
                          <m:t>𝑛</m:t>
                        </m:r>
                      </m:sub>
                    </m:sSub>
                  </m:oMath>
                </a14:m>
                <a:r>
                  <a:rPr lang="zh-CN" altLang="en-US" dirty="0"/>
                  <a:t> 还受到欧洲五国国内劳动力</a:t>
                </a:r>
              </a:p>
              <a:p>
                <a:pPr>
                  <a:lnSpc>
                    <a:spcPct val="120000"/>
                  </a:lnSpc>
                </a:pPr>
                <a:r>
                  <a:rPr lang="zh-CN" altLang="en-US" dirty="0"/>
                  <a:t>市场需求因素的影响，但与美国的地方劳动力市场无关，满足外生性。</a:t>
                </a:r>
              </a:p>
            </p:txBody>
          </p:sp>
        </mc:Choice>
        <mc:Fallback xmlns="">
          <p:sp>
            <p:nvSpPr>
              <p:cNvPr id="3" name="内容占位符 2">
                <a:extLst>
                  <a:ext uri="{FF2B5EF4-FFF2-40B4-BE49-F238E27FC236}">
                    <a16:creationId xmlns:a16="http://schemas.microsoft.com/office/drawing/2014/main" id="{F784EEEE-E582-B31F-5F5C-F911D84E4F5E}"/>
                  </a:ext>
                </a:extLst>
              </p:cNvPr>
              <p:cNvSpPr>
                <a:spLocks noGrp="1" noRot="1" noChangeAspect="1" noMove="1" noResize="1" noEditPoints="1" noAdjustHandles="1" noChangeArrowheads="1" noChangeShapeType="1" noTextEdit="1"/>
              </p:cNvSpPr>
              <p:nvPr>
                <p:ph idx="1"/>
              </p:nvPr>
            </p:nvSpPr>
            <p:spPr>
              <a:xfrm>
                <a:off x="628650" y="1825624"/>
                <a:ext cx="7886700" cy="4667249"/>
              </a:xfrm>
              <a:blipFill>
                <a:blip r:embed="rId2"/>
                <a:stretch>
                  <a:fillRect t="-13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E463957-0F62-115D-957E-652940E8204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09E2C75-0F3A-CE00-25C7-D247210D45F5}"/>
              </a:ext>
            </a:extLst>
          </p:cNvPr>
          <p:cNvSpPr>
            <a:spLocks noGrp="1"/>
          </p:cNvSpPr>
          <p:nvPr>
            <p:ph type="sldNum" sz="quarter" idx="12"/>
          </p:nvPr>
        </p:nvSpPr>
        <p:spPr/>
        <p:txBody>
          <a:bodyPr/>
          <a:lstStyle/>
          <a:p>
            <a:fld id="{D41FC515-8169-4A29-AA56-DBE520D5741B}" type="slidenum">
              <a:rPr lang="zh-CN" altLang="en-US" smtClean="0"/>
              <a:t>81</a:t>
            </a:fld>
            <a:endParaRPr lang="zh-CN" altLang="en-US"/>
          </a:p>
        </p:txBody>
      </p:sp>
    </p:spTree>
    <p:extLst>
      <p:ext uri="{BB962C8B-B14F-4D97-AF65-F5344CB8AC3E}">
        <p14:creationId xmlns:p14="http://schemas.microsoft.com/office/powerpoint/2010/main" val="29926431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5E7059-5379-D159-8CF2-A80751C74820}"/>
              </a:ext>
            </a:extLst>
          </p:cNvPr>
          <p:cNvSpPr>
            <a:spLocks noGrp="1"/>
          </p:cNvSpPr>
          <p:nvPr>
            <p:ph type="title"/>
          </p:nvPr>
        </p:nvSpPr>
        <p:spPr/>
        <p:txBody>
          <a:bodyPr/>
          <a:lstStyle/>
          <a:p>
            <a:r>
              <a:rPr lang="en-US" altLang="zh-CN" dirty="0"/>
              <a:t>SSIV</a:t>
            </a:r>
            <a:r>
              <a:rPr lang="zh-CN" altLang="en-US" dirty="0"/>
              <a:t>：几个例子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7B27818-CF8D-6D7E-35CA-875D92C429D0}"/>
                  </a:ext>
                </a:extLst>
              </p:cNvPr>
              <p:cNvSpPr>
                <a:spLocks noGrp="1"/>
              </p:cNvSpPr>
              <p:nvPr>
                <p:ph idx="1"/>
              </p:nvPr>
            </p:nvSpPr>
            <p:spPr/>
            <p:txBody>
              <a:bodyPr>
                <a:normAutofit fontScale="47500" lnSpcReduction="20000"/>
              </a:bodyPr>
              <a:lstStyle/>
              <a:p>
                <a:pPr>
                  <a:lnSpc>
                    <a:spcPct val="120000"/>
                  </a:lnSpc>
                </a:pPr>
                <a:r>
                  <a:rPr lang="en-US" altLang="zh-CN" dirty="0"/>
                  <a:t>Autor et al. (2013) </a:t>
                </a:r>
                <a:r>
                  <a:rPr lang="zh-CN" altLang="en-US" dirty="0"/>
                  <a:t>中国进口竞争对美国地方制造业就业的影响</a:t>
                </a:r>
                <a:endParaRPr lang="en-US" altLang="zh-CN" dirty="0"/>
              </a:p>
              <a:p>
                <a:pPr marL="0" indent="0">
                  <a:lnSpc>
                    <a:spcPct val="120000"/>
                  </a:lnSpc>
                  <a:buNone/>
                </a:pPr>
                <a14:m>
                  <m:oMathPara xmlns:m="http://schemas.openxmlformats.org/officeDocument/2006/math">
                    <m:oMath>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𝑙</m:t>
                          </m:r>
                        </m:sub>
                      </m:sSub>
                      <m:r>
                        <a:rPr lang="zh-CN" altLang="en-US"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𝑙</m:t>
                          </m:r>
                        </m:sub>
                      </m:sSub>
                      <m:r>
                        <a:rPr lang="zh-CN" altLang="en-US" i="1">
                          <a:latin typeface="Cambria Math" panose="02040503050406030204" pitchFamily="18" charset="0"/>
                        </a:rPr>
                        <m:t>𝛽</m:t>
                      </m:r>
                      <m:r>
                        <a:rPr lang="zh-CN" altLang="en-US"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𝜀</m:t>
                          </m:r>
                        </m:e>
                        <m:sub>
                          <m:r>
                            <a:rPr lang="zh-CN" altLang="en-US" i="1">
                              <a:latin typeface="Cambria Math" panose="02040503050406030204" pitchFamily="18" charset="0"/>
                            </a:rPr>
                            <m:t>𝑙</m:t>
                          </m:r>
                        </m:sub>
                      </m:sSub>
                      <m:r>
                        <a:rPr lang="zh-CN" altLang="en-US" i="1">
                          <a:latin typeface="Cambria Math" panose="02040503050406030204" pitchFamily="18" charset="0"/>
                        </a:rPr>
                        <m:t>,</m:t>
                      </m:r>
                    </m:oMath>
                  </m:oMathPara>
                </a14:m>
                <a:endParaRPr lang="en-US" altLang="zh-CN" dirty="0"/>
              </a:p>
              <a:p>
                <a:pPr marL="0" indent="0">
                  <a:lnSpc>
                    <a:spcPct val="120000"/>
                  </a:lnSpc>
                  <a:buNone/>
                </a:pPr>
                <a:r>
                  <a:rPr lang="zh-CN" altLang="en-US" dirty="0"/>
                  <a:t>其中𝑦𝑙 表示地区𝑙 就业份额的变化（</a:t>
                </a:r>
                <a:r>
                  <a:rPr lang="en-US" altLang="zh-CN" dirty="0"/>
                  <a:t>1990-2007</a:t>
                </a:r>
                <a:r>
                  <a:rPr lang="zh-CN" altLang="en-US" dirty="0"/>
                  <a:t>），𝑥𝑙 表示地区𝑙 的人均中国进口增长量，本身没有数据，通过下列式子构造：</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𝑙𝑛</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𝑙</m:t>
                                  </m:r>
                                </m:sub>
                              </m:sSub>
                            </m:den>
                          </m:f>
                        </m:e>
                      </m:nary>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𝑛</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𝑛</m:t>
                              </m:r>
                            </m:sub>
                          </m:sSub>
                        </m:den>
                      </m:f>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𝑔</m:t>
                              </m:r>
                            </m:e>
                          </m:acc>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oMath>
                  </m:oMathPara>
                </a14:m>
                <a:endParaRPr lang="en-US" altLang="zh-CN" dirty="0"/>
              </a:p>
              <a:p>
                <a:pPr marL="0" indent="0">
                  <a:lnSpc>
                    <a:spcPct val="120000"/>
                  </a:lnSpc>
                  <a:buNone/>
                </a:pPr>
                <a:r>
                  <a:rPr lang="zh-CN" altLang="en-US" dirty="0"/>
                  <a:t>𝑠𝑙𝑛 表示地区𝑙 行业𝑛 的就业份额，</a:t>
                </a:r>
                <a:r>
                  <a:rPr lang="en-US" altLang="zh-CN" dirty="0"/>
                  <a:t>1990 </a:t>
                </a:r>
                <a:r>
                  <a:rPr lang="zh-CN" altLang="en-US" dirty="0"/>
                  <a:t>年；𝛿𝑀𝑛 表示</a:t>
                </a:r>
                <a:r>
                  <a:rPr lang="en-US" altLang="zh-CN" dirty="0"/>
                  <a:t>1990-2007 </a:t>
                </a:r>
                <a:r>
                  <a:rPr lang="zh-CN" altLang="en-US" dirty="0"/>
                  <a:t>年间行业𝑛 来自中国的进口增长量，𝐿𝑛 表示 </a:t>
                </a:r>
                <a:r>
                  <a:rPr lang="en-US" altLang="zh-CN" dirty="0"/>
                  <a:t>1990 </a:t>
                </a:r>
                <a:r>
                  <a:rPr lang="zh-CN" altLang="en-US" dirty="0"/>
                  <a:t>年行业 𝑛 的全国就业人数；𝑔𝑛̃ 表示全国行业𝑛 来自中国进口的人均增长量。</a:t>
                </a:r>
                <a:endParaRPr lang="en-US" altLang="zh-CN" dirty="0"/>
              </a:p>
              <a:p>
                <a:pPr>
                  <a:lnSpc>
                    <a:spcPct val="120000"/>
                  </a:lnSpc>
                </a:pPr>
                <a:r>
                  <a:rPr lang="zh-CN" altLang="en-US" dirty="0"/>
                  <a:t>内生性：行业进口需求冲击会同时受影响美国就业和进口。</a:t>
                </a:r>
                <a:endParaRPr lang="en-US" altLang="zh-CN" dirty="0"/>
              </a:p>
              <a:p>
                <a:pPr>
                  <a:lnSpc>
                    <a:spcPct val="120000"/>
                  </a:lnSpc>
                </a:pPr>
                <a:r>
                  <a:rPr lang="zh-CN" altLang="en-US" dirty="0"/>
                  <a:t>工具变量</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𝑙𝑛</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𝑙</m:t>
                                  </m:r>
                                </m:sub>
                              </m:sSub>
                            </m:den>
                          </m:f>
                        </m:e>
                      </m:nary>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m:rPr>
                              <m:sty m:val="p"/>
                            </m:rPr>
                            <a:rPr lang="zh-CN" altLang="en-US" i="1" smtClean="0">
                              <a:latin typeface="Cambria Math" panose="02040503050406030204" pitchFamily="18" charset="0"/>
                            </a:rPr>
                            <m:t>Δ</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𝑒</m:t>
                              </m:r>
                            </m:sup>
                          </m:sSubSup>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𝑛</m:t>
                              </m:r>
                            </m:sub>
                          </m:sSub>
                        </m:den>
                      </m:f>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oMath>
                  </m:oMathPara>
                </a14:m>
                <a:endParaRPr lang="en-US" altLang="zh-CN" dirty="0"/>
              </a:p>
              <a:p>
                <a:pPr marL="0" indent="0">
                  <a:lnSpc>
                    <a:spcPct val="120000"/>
                  </a:lnSpc>
                  <a:buNone/>
                </a:pPr>
                <a:r>
                  <a:rPr lang="zh-CN" altLang="en-US" dirty="0"/>
                  <a:t>其中𝑔𝑛 为除美国外的</a:t>
                </a:r>
                <a:r>
                  <a:rPr lang="en-US" altLang="zh-CN" dirty="0"/>
                  <a:t>8 </a:t>
                </a:r>
                <a:r>
                  <a:rPr lang="zh-CN" altLang="en-US" dirty="0"/>
                  <a:t>个发达国家的的人均中国进口增长量，𝑠𝑙𝑛 仍然为美国地区𝑙 行业𝑛 的就业份额。</a:t>
                </a:r>
                <a:endParaRPr lang="en-US" altLang="zh-CN" dirty="0"/>
              </a:p>
              <a:p>
                <a:pPr>
                  <a:lnSpc>
                    <a:spcPct val="120000"/>
                  </a:lnSpc>
                </a:pPr>
                <a:r>
                  <a:rPr lang="zh-CN" altLang="en-US" dirty="0"/>
                  <a:t>识别：𝑔𝑛̃ 和 𝑔𝑛 均受中国生产率增长的影响，相关，𝑔𝑛 还受到 </a:t>
                </a:r>
                <a:r>
                  <a:rPr lang="en-US" altLang="zh-CN" dirty="0"/>
                  <a:t>8 </a:t>
                </a:r>
                <a:r>
                  <a:rPr lang="zh-CN" altLang="en-US" dirty="0"/>
                  <a:t>个发达国家国内需求的影响，但与美国的地方产品需求没有关系，满足外生性。</a:t>
                </a:r>
                <a:endParaRPr lang="en-US" altLang="zh-CN" dirty="0"/>
              </a:p>
              <a:p>
                <a:pPr>
                  <a:lnSpc>
                    <a:spcPct val="120000"/>
                  </a:lnSpc>
                </a:pPr>
                <a:endParaRPr lang="zh-CN" altLang="en-US" dirty="0"/>
              </a:p>
            </p:txBody>
          </p:sp>
        </mc:Choice>
        <mc:Fallback xmlns="">
          <p:sp>
            <p:nvSpPr>
              <p:cNvPr id="3" name="内容占位符 2">
                <a:extLst>
                  <a:ext uri="{FF2B5EF4-FFF2-40B4-BE49-F238E27FC236}">
                    <a16:creationId xmlns:a16="http://schemas.microsoft.com/office/drawing/2014/main" id="{77B27818-CF8D-6D7E-35CA-875D92C429D0}"/>
                  </a:ext>
                </a:extLst>
              </p:cNvPr>
              <p:cNvSpPr>
                <a:spLocks noGrp="1" noRot="1" noChangeAspect="1" noMove="1" noResize="1" noEditPoints="1" noAdjustHandles="1" noChangeArrowheads="1" noChangeShapeType="1" noTextEdit="1"/>
              </p:cNvSpPr>
              <p:nvPr>
                <p:ph idx="1"/>
              </p:nvPr>
            </p:nvSpPr>
            <p:spPr>
              <a:blipFill>
                <a:blip r:embed="rId2"/>
                <a:stretch>
                  <a:fillRect l="-77" t="-1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6534D84-A879-6036-8F26-5C403DD2577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4C96DA7-9FFA-71F5-F15F-DC626392BB4C}"/>
              </a:ext>
            </a:extLst>
          </p:cNvPr>
          <p:cNvSpPr>
            <a:spLocks noGrp="1"/>
          </p:cNvSpPr>
          <p:nvPr>
            <p:ph type="sldNum" sz="quarter" idx="12"/>
          </p:nvPr>
        </p:nvSpPr>
        <p:spPr/>
        <p:txBody>
          <a:bodyPr/>
          <a:lstStyle/>
          <a:p>
            <a:fld id="{D41FC515-8169-4A29-AA56-DBE520D5741B}" type="slidenum">
              <a:rPr lang="zh-CN" altLang="en-US" smtClean="0"/>
              <a:t>82</a:t>
            </a:fld>
            <a:endParaRPr lang="zh-CN" altLang="en-US"/>
          </a:p>
        </p:txBody>
      </p:sp>
    </p:spTree>
    <p:extLst>
      <p:ext uri="{BB962C8B-B14F-4D97-AF65-F5344CB8AC3E}">
        <p14:creationId xmlns:p14="http://schemas.microsoft.com/office/powerpoint/2010/main" val="23342934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F709B-FBF5-A3F4-0E1E-2F9031BAF4FB}"/>
              </a:ext>
            </a:extLst>
          </p:cNvPr>
          <p:cNvSpPr>
            <a:spLocks noGrp="1"/>
          </p:cNvSpPr>
          <p:nvPr>
            <p:ph type="title"/>
          </p:nvPr>
        </p:nvSpPr>
        <p:spPr/>
        <p:txBody>
          <a:bodyPr/>
          <a:lstStyle/>
          <a:p>
            <a:r>
              <a:rPr lang="en-US" altLang="zh-CN" dirty="0"/>
              <a:t>SSIV</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1628A78-8EEC-C64F-A6D6-CD612BB4DEAC}"/>
                  </a:ext>
                </a:extLst>
              </p:cNvPr>
              <p:cNvSpPr>
                <a:spLocks noGrp="1"/>
              </p:cNvSpPr>
              <p:nvPr>
                <p:ph idx="1"/>
              </p:nvPr>
            </p:nvSpPr>
            <p:spPr/>
            <p:txBody>
              <a:bodyPr>
                <a:normAutofit fontScale="55000" lnSpcReduction="20000"/>
              </a:bodyPr>
              <a:lstStyle/>
              <a:p>
                <a:r>
                  <a:rPr lang="zh-CN" altLang="en-US" dirty="0"/>
                  <a:t>以</a:t>
                </a:r>
                <a:r>
                  <a:rPr lang="en-US" altLang="zh-CN" dirty="0"/>
                  <a:t>Bartik(1991) </a:t>
                </a:r>
                <a:r>
                  <a:rPr lang="zh-CN" altLang="en-US" dirty="0"/>
                  <a:t>为例，估计逆供给弹性，考虑结构方程：</a:t>
                </a:r>
                <a:endParaRPr lang="en-US" altLang="zh-CN" dirty="0"/>
              </a:p>
              <a:p>
                <a:pPr marL="0" indent="0">
                  <a:buNone/>
                </a:pPr>
                <a14:m>
                  <m:oMathPara xmlns:m="http://schemas.openxmlformats.org/officeDocument/2006/math">
                    <m:oMath>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𝑙</m:t>
                          </m:r>
                        </m:sub>
                      </m:sSub>
                      <m:r>
                        <a:rPr lang="zh-CN" altLang="en-US"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𝑙</m:t>
                          </m:r>
                        </m:sub>
                      </m:sSub>
                      <m:r>
                        <a:rPr lang="zh-CN" altLang="en-US" i="1">
                          <a:latin typeface="Cambria Math" panose="02040503050406030204" pitchFamily="18" charset="0"/>
                        </a:rPr>
                        <m:t>𝛽</m:t>
                      </m:r>
                      <m:r>
                        <a:rPr lang="zh-CN" altLang="en-US"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𝜀</m:t>
                          </m:r>
                        </m:e>
                        <m:sub>
                          <m:r>
                            <a:rPr lang="zh-CN" altLang="en-US" i="1">
                              <a:latin typeface="Cambria Math" panose="02040503050406030204" pitchFamily="18" charset="0"/>
                            </a:rPr>
                            <m:t>𝑙</m:t>
                          </m:r>
                        </m:sub>
                      </m:sSub>
                      <m:r>
                        <a:rPr lang="zh-CN" altLang="en-US" i="1">
                          <a:latin typeface="Cambria Math" panose="02040503050406030204" pitchFamily="18" charset="0"/>
                        </a:rPr>
                        <m:t>,</m:t>
                      </m:r>
                    </m:oMath>
                  </m:oMathPara>
                </a14:m>
                <a:endParaRPr lang="en-US" altLang="zh-CN" dirty="0"/>
              </a:p>
              <a:p>
                <a:pPr marL="0" indent="0">
                  <a:buNone/>
                </a:pPr>
                <a:r>
                  <a:rPr lang="zh-CN" altLang="en-US" dirty="0"/>
                  <a:t>𝑦𝑙 是工资增长率，𝑥𝑙 是劳动供给增长率。</a:t>
                </a:r>
                <a:endParaRPr lang="en-US" altLang="zh-CN" dirty="0"/>
              </a:p>
              <a:p>
                <a:r>
                  <a:rPr lang="zh-CN" altLang="en-US" dirty="0"/>
                  <a:t>𝑥𝑙 的会计恒等式：</a:t>
                </a:r>
                <a:endParaRPr lang="en-US" altLang="zh-CN" dirty="0"/>
              </a:p>
              <a:p>
                <a:pPr marL="0" indent="0">
                  <a:buNone/>
                </a:pPr>
                <a14:m>
                  <m:oMathPara xmlns:m="http://schemas.openxmlformats.org/officeDocument/2006/math">
                    <m:oMath>
                      <m:eqArr>
                        <m:eqArrPr>
                          <m:ctrlPr>
                            <a:rPr lang="zh-CN" altLang="en-US" i="1" dirty="0" smtClean="0">
                              <a:latin typeface="Cambria Math" panose="02040503050406030204" pitchFamily="18" charset="0"/>
                            </a:rPr>
                          </m:ctrlPr>
                        </m:eqArr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𝑥</m:t>
                              </m:r>
                            </m:e>
                            <m:sub>
                              <m:r>
                                <a:rPr lang="zh-CN" altLang="en-US" i="1" dirty="0">
                                  <a:latin typeface="Cambria Math" panose="02040503050406030204" pitchFamily="18" charset="0"/>
                                </a:rPr>
                                <m:t>𝑙</m:t>
                              </m:r>
                            </m:sub>
                          </m:sSub>
                          <m:r>
                            <m:rPr>
                              <m:aln/>
                            </m:rPr>
                            <a:rPr lang="zh-CN" altLang="en-US" i="0" dirty="0">
                              <a:latin typeface="Cambria Math" panose="02040503050406030204" pitchFamily="18" charset="0"/>
                            </a:rPr>
                            <m:t>&amp;</m:t>
                          </m:r>
                          <m:r>
                            <a:rPr lang="zh-CN" altLang="en-US" i="0" dirty="0">
                              <a:latin typeface="Cambria Math" panose="02040503050406030204" pitchFamily="18" charset="0"/>
                            </a:rPr>
                            <m:t>=</m:t>
                          </m:r>
                          <m:f>
                            <m:fPr>
                              <m:ctrlPr>
                                <a:rPr lang="zh-CN" altLang="en-US" i="1" dirty="0">
                                  <a:latin typeface="Cambria Math" panose="02040503050406030204" pitchFamily="18" charset="0"/>
                                </a:rPr>
                              </m:ctrlPr>
                            </m:fPr>
                            <m:num>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m:t>
                                  </m:r>
                                  <m:r>
                                    <a:rPr lang="zh-CN" altLang="en-US" i="0" dirty="0">
                                      <a:latin typeface="Cambria Math" panose="02040503050406030204" pitchFamily="18" charset="0"/>
                                    </a:rPr>
                                    <m:t>1</m:t>
                                  </m:r>
                                </m:sub>
                              </m:sSub>
                              <m:r>
                                <a:rPr lang="zh-CN" altLang="en-US" i="0"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m:t>
                                  </m:r>
                                  <m:r>
                                    <a:rPr lang="zh-CN" altLang="en-US" i="0" dirty="0">
                                      <a:latin typeface="Cambria Math" panose="02040503050406030204" pitchFamily="18" charset="0"/>
                                    </a:rPr>
                                    <m:t>0</m:t>
                                  </m:r>
                                </m:sub>
                              </m:sSub>
                            </m:num>
                            <m:den>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m:t>
                                  </m:r>
                                  <m:r>
                                    <a:rPr lang="zh-CN" altLang="en-US" i="0" dirty="0">
                                      <a:latin typeface="Cambria Math" panose="02040503050406030204" pitchFamily="18" charset="0"/>
                                    </a:rPr>
                                    <m:t>0</m:t>
                                  </m:r>
                                </m:sub>
                              </m:sSub>
                            </m:den>
                          </m:f>
                          <m:r>
                            <a:rPr lang="zh-CN" altLang="en-US" i="0" dirty="0">
                              <a:latin typeface="Cambria Math" panose="02040503050406030204" pitchFamily="18" charset="0"/>
                            </a:rPr>
                            <m:t>=</m:t>
                          </m:r>
                          <m:f>
                            <m:fPr>
                              <m:ctrlPr>
                                <a:rPr lang="zh-CN" altLang="en-US" i="1" dirty="0">
                                  <a:latin typeface="Cambria Math" panose="02040503050406030204" pitchFamily="18" charset="0"/>
                                </a:rPr>
                              </m:ctrlPr>
                            </m:fPr>
                            <m:num>
                              <m:nary>
                                <m:naryPr>
                                  <m:chr m:val="∑"/>
                                  <m:limLoc m:val="undOvr"/>
                                  <m:supHide m:val="on"/>
                                  <m:ctrlPr>
                                    <a:rPr lang="zh-CN" altLang="en-US" i="1" dirty="0">
                                      <a:latin typeface="Cambria Math" panose="02040503050406030204" pitchFamily="18" charset="0"/>
                                    </a:rPr>
                                  </m:ctrlPr>
                                </m:naryPr>
                                <m:sub>
                                  <m:r>
                                    <a:rPr lang="zh-CN" altLang="en-US" i="1" dirty="0">
                                      <a:latin typeface="Cambria Math" panose="02040503050406030204" pitchFamily="18" charset="0"/>
                                    </a:rPr>
                                    <m:t>𝑛</m:t>
                                  </m:r>
                                </m:sub>
                                <m:sup/>
                                <m:e>
                                  <m:d>
                                    <m:dPr>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𝑙𝑛</m:t>
                                          </m:r>
                                          <m:r>
                                            <a:rPr lang="zh-CN" altLang="en-US" i="0" dirty="0">
                                              <a:latin typeface="Cambria Math" panose="02040503050406030204" pitchFamily="18" charset="0"/>
                                            </a:rPr>
                                            <m:t>1</m:t>
                                          </m:r>
                                        </m:sub>
                                      </m:sSub>
                                      <m:r>
                                        <a:rPr lang="zh-CN" altLang="en-US" i="0"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𝑙𝑛</m:t>
                                          </m:r>
                                          <m:r>
                                            <a:rPr lang="zh-CN" altLang="en-US" i="0" dirty="0">
                                              <a:latin typeface="Cambria Math" panose="02040503050406030204" pitchFamily="18" charset="0"/>
                                            </a:rPr>
                                            <m:t>0</m:t>
                                          </m:r>
                                        </m:sub>
                                      </m:sSub>
                                    </m:e>
                                  </m:d>
                                </m:e>
                              </m:nary>
                            </m:num>
                            <m:den>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m:t>
                                  </m:r>
                                  <m:r>
                                    <a:rPr lang="zh-CN" altLang="en-US" i="0" dirty="0">
                                      <a:latin typeface="Cambria Math" panose="02040503050406030204" pitchFamily="18" charset="0"/>
                                    </a:rPr>
                                    <m:t>0</m:t>
                                  </m:r>
                                </m:sub>
                              </m:sSub>
                            </m:den>
                          </m:f>
                        </m:e>
                        <m:e>
                          <m:r>
                            <m:rPr>
                              <m:aln/>
                            </m:rPr>
                            <a:rPr lang="zh-CN" altLang="en-US" i="0" dirty="0">
                              <a:latin typeface="Cambria Math" panose="02040503050406030204" pitchFamily="18" charset="0"/>
                            </a:rPr>
                            <m:t>&amp;</m:t>
                          </m:r>
                          <m:r>
                            <a:rPr lang="zh-CN" altLang="en-US" i="0" dirty="0">
                              <a:latin typeface="Cambria Math" panose="02040503050406030204" pitchFamily="18" charset="0"/>
                            </a:rPr>
                            <m:t>=</m:t>
                          </m:r>
                          <m:f>
                            <m:fPr>
                              <m:ctrlPr>
                                <a:rPr lang="zh-CN" altLang="en-US" i="1" dirty="0">
                                  <a:latin typeface="Cambria Math" panose="02040503050406030204" pitchFamily="18" charset="0"/>
                                </a:rPr>
                              </m:ctrlPr>
                            </m:fPr>
                            <m:num>
                              <m:nary>
                                <m:naryPr>
                                  <m:chr m:val="∑"/>
                                  <m:limLoc m:val="undOvr"/>
                                  <m:supHide m:val="on"/>
                                  <m:ctrlPr>
                                    <a:rPr lang="zh-CN" altLang="en-US" i="1" dirty="0">
                                      <a:latin typeface="Cambria Math" panose="02040503050406030204" pitchFamily="18" charset="0"/>
                                    </a:rPr>
                                  </m:ctrlPr>
                                </m:naryPr>
                                <m:sub>
                                  <m:r>
                                    <a:rPr lang="zh-CN" altLang="en-US" i="1" dirty="0">
                                      <a:latin typeface="Cambria Math" panose="02040503050406030204" pitchFamily="18" charset="0"/>
                                    </a:rPr>
                                    <m:t>𝑛</m:t>
                                  </m:r>
                                </m:sub>
                                <m:sup/>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𝑙𝑛</m:t>
                                      </m:r>
                                      <m:r>
                                        <a:rPr lang="zh-CN" altLang="en-US" i="0" dirty="0">
                                          <a:latin typeface="Cambria Math" panose="02040503050406030204" pitchFamily="18" charset="0"/>
                                        </a:rPr>
                                        <m:t>0</m:t>
                                      </m:r>
                                    </m:sub>
                                  </m:sSub>
                                </m:e>
                              </m:nary>
                              <m:r>
                                <a:rPr lang="zh-CN" altLang="en-US" i="0" dirty="0">
                                  <a:latin typeface="Cambria Math" panose="02040503050406030204" pitchFamily="18" charset="0"/>
                                </a:rPr>
                                <m:t>⋅</m:t>
                              </m:r>
                              <m:f>
                                <m:fPr>
                                  <m:ctrlPr>
                                    <a:rPr lang="zh-CN" altLang="en-US" i="1" dirty="0">
                                      <a:latin typeface="Cambria Math" panose="02040503050406030204" pitchFamily="18" charset="0"/>
                                    </a:rPr>
                                  </m:ctrlPr>
                                </m:fPr>
                                <m:num>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𝑙𝑛</m:t>
                                      </m:r>
                                      <m:r>
                                        <a:rPr lang="zh-CN" altLang="en-US" i="0" dirty="0">
                                          <a:latin typeface="Cambria Math" panose="02040503050406030204" pitchFamily="18" charset="0"/>
                                        </a:rPr>
                                        <m:t>1</m:t>
                                      </m:r>
                                    </m:sub>
                                  </m:sSub>
                                  <m:r>
                                    <a:rPr lang="zh-CN" altLang="en-US" i="0"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𝑙𝑛</m:t>
                                      </m:r>
                                      <m:r>
                                        <a:rPr lang="zh-CN" altLang="en-US" i="0" dirty="0">
                                          <a:latin typeface="Cambria Math" panose="02040503050406030204" pitchFamily="18" charset="0"/>
                                        </a:rPr>
                                        <m:t>0</m:t>
                                      </m:r>
                                    </m:sub>
                                  </m:sSub>
                                </m:num>
                                <m:den>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𝑙𝑛</m:t>
                                      </m:r>
                                      <m:r>
                                        <a:rPr lang="zh-CN" altLang="en-US" i="0" dirty="0">
                                          <a:latin typeface="Cambria Math" panose="02040503050406030204" pitchFamily="18" charset="0"/>
                                        </a:rPr>
                                        <m:t>0</m:t>
                                      </m:r>
                                    </m:sub>
                                  </m:sSub>
                                </m:den>
                              </m:f>
                            </m:num>
                            <m:den>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m:t>
                                  </m:r>
                                  <m:r>
                                    <a:rPr lang="zh-CN" altLang="en-US" i="0" dirty="0">
                                      <a:latin typeface="Cambria Math" panose="02040503050406030204" pitchFamily="18" charset="0"/>
                                    </a:rPr>
                                    <m:t>0</m:t>
                                  </m:r>
                                </m:sub>
                              </m:sSub>
                            </m:den>
                          </m:f>
                          <m:r>
                            <a:rPr lang="zh-CN" altLang="en-US" i="0" dirty="0">
                              <a:latin typeface="Cambria Math" panose="02040503050406030204" pitchFamily="18" charset="0"/>
                            </a:rPr>
                            <m:t>=</m:t>
                          </m:r>
                          <m:nary>
                            <m:naryPr>
                              <m:chr m:val="∑"/>
                              <m:limLoc m:val="undOvr"/>
                              <m:supHide m:val="on"/>
                              <m:ctrlPr>
                                <a:rPr lang="zh-CN" altLang="en-US" i="1" dirty="0">
                                  <a:latin typeface="Cambria Math" panose="02040503050406030204" pitchFamily="18" charset="0"/>
                                </a:rPr>
                              </m:ctrlPr>
                            </m:naryPr>
                            <m:sub>
                              <m:r>
                                <a:rPr lang="zh-CN" altLang="en-US" i="1" dirty="0">
                                  <a:latin typeface="Cambria Math" panose="02040503050406030204" pitchFamily="18" charset="0"/>
                                </a:rPr>
                                <m:t>𝑛</m:t>
                              </m:r>
                            </m:sub>
                            <m:sup/>
                            <m:e>
                              <m:f>
                                <m:fPr>
                                  <m:ctrlPr>
                                    <a:rPr lang="zh-CN" altLang="en-US" i="1" dirty="0">
                                      <a:latin typeface="Cambria Math" panose="02040503050406030204" pitchFamily="18" charset="0"/>
                                    </a:rPr>
                                  </m:ctrlPr>
                                </m:fPr>
                                <m:num>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𝑙𝑛</m:t>
                                      </m:r>
                                      <m:r>
                                        <a:rPr lang="zh-CN" altLang="en-US" i="0" dirty="0">
                                          <a:latin typeface="Cambria Math" panose="02040503050406030204" pitchFamily="18" charset="0"/>
                                        </a:rPr>
                                        <m:t>0</m:t>
                                      </m:r>
                                    </m:sub>
                                  </m:sSub>
                                </m:num>
                                <m:den>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m:t>
                                      </m:r>
                                      <m:r>
                                        <a:rPr lang="zh-CN" altLang="en-US" i="0" dirty="0">
                                          <a:latin typeface="Cambria Math" panose="02040503050406030204" pitchFamily="18" charset="0"/>
                                        </a:rPr>
                                        <m:t>0</m:t>
                                      </m:r>
                                    </m:sub>
                                  </m:sSub>
                                </m:den>
                              </m:f>
                            </m:e>
                          </m:nary>
                          <m:r>
                            <a:rPr lang="zh-CN" altLang="en-US" i="0" dirty="0">
                              <a:latin typeface="Cambria Math" panose="02040503050406030204" pitchFamily="18" charset="0"/>
                            </a:rPr>
                            <m:t>⋅</m:t>
                          </m:r>
                          <m:f>
                            <m:fPr>
                              <m:ctrlPr>
                                <a:rPr lang="zh-CN" altLang="en-US" i="1" dirty="0">
                                  <a:latin typeface="Cambria Math" panose="02040503050406030204" pitchFamily="18" charset="0"/>
                                </a:rPr>
                              </m:ctrlPr>
                            </m:fPr>
                            <m:num>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𝑙𝑛</m:t>
                                  </m:r>
                                  <m:r>
                                    <a:rPr lang="zh-CN" altLang="en-US" i="0" dirty="0">
                                      <a:latin typeface="Cambria Math" panose="02040503050406030204" pitchFamily="18" charset="0"/>
                                    </a:rPr>
                                    <m:t>1</m:t>
                                  </m:r>
                                </m:sub>
                              </m:sSub>
                              <m:r>
                                <a:rPr lang="zh-CN" altLang="en-US" i="0"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𝑙𝑛</m:t>
                                  </m:r>
                                  <m:r>
                                    <a:rPr lang="zh-CN" altLang="en-US" i="0" dirty="0">
                                      <a:latin typeface="Cambria Math" panose="02040503050406030204" pitchFamily="18" charset="0"/>
                                    </a:rPr>
                                    <m:t>0</m:t>
                                  </m:r>
                                </m:sub>
                              </m:sSub>
                            </m:num>
                            <m:den>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𝑙𝑛</m:t>
                                  </m:r>
                                  <m:r>
                                    <a:rPr lang="zh-CN" altLang="en-US" i="0" dirty="0">
                                      <a:latin typeface="Cambria Math" panose="02040503050406030204" pitchFamily="18" charset="0"/>
                                    </a:rPr>
                                    <m:t>0</m:t>
                                  </m:r>
                                </m:sub>
                              </m:sSub>
                            </m:den>
                          </m:f>
                        </m:e>
                        <m:e>
                          <m:r>
                            <m:rPr>
                              <m:aln/>
                            </m:rPr>
                            <a:rPr lang="zh-CN" altLang="en-US" i="0" dirty="0">
                              <a:latin typeface="Cambria Math" panose="02040503050406030204" pitchFamily="18" charset="0"/>
                            </a:rPr>
                            <m:t>&amp;</m:t>
                          </m:r>
                          <m:r>
                            <a:rPr lang="zh-CN" altLang="en-US" i="0" dirty="0">
                              <a:latin typeface="Cambria Math" panose="02040503050406030204" pitchFamily="18" charset="0"/>
                            </a:rPr>
                            <m:t>=</m:t>
                          </m:r>
                          <m:nary>
                            <m:naryPr>
                              <m:chr m:val="∑"/>
                              <m:limLoc m:val="undOvr"/>
                              <m:supHide m:val="on"/>
                              <m:ctrlPr>
                                <a:rPr lang="zh-CN" altLang="en-US" i="1" dirty="0">
                                  <a:latin typeface="Cambria Math" panose="02040503050406030204" pitchFamily="18" charset="0"/>
                                </a:rPr>
                              </m:ctrlPr>
                            </m:naryPr>
                            <m:sub>
                              <m:r>
                                <a:rPr lang="zh-CN" altLang="en-US" i="1" dirty="0">
                                  <a:latin typeface="Cambria Math" panose="02040503050406030204" pitchFamily="18" charset="0"/>
                                </a:rPr>
                                <m:t>𝑛</m:t>
                              </m:r>
                            </m:sub>
                            <m:sup/>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𝑠</m:t>
                                  </m:r>
                                </m:e>
                                <m:sub>
                                  <m:r>
                                    <a:rPr lang="zh-CN" altLang="en-US" i="1" dirty="0">
                                      <a:latin typeface="Cambria Math" panose="02040503050406030204" pitchFamily="18" charset="0"/>
                                    </a:rPr>
                                    <m:t>𝑙𝑛</m:t>
                                  </m:r>
                                </m:sub>
                              </m:sSub>
                            </m:e>
                          </m:nary>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𝑔</m:t>
                              </m:r>
                            </m:e>
                            <m:sub>
                              <m:r>
                                <a:rPr lang="zh-CN" altLang="en-US" i="1" dirty="0">
                                  <a:latin typeface="Cambria Math" panose="02040503050406030204" pitchFamily="18" charset="0"/>
                                </a:rPr>
                                <m:t>𝑙𝑛</m:t>
                              </m:r>
                            </m:sub>
                          </m:sSub>
                          <m:r>
                            <a:rPr lang="zh-CN" altLang="en-US" i="0" dirty="0">
                              <a:latin typeface="Cambria Math" panose="02040503050406030204" pitchFamily="18" charset="0"/>
                            </a:rPr>
                            <m:t>.</m:t>
                          </m:r>
                        </m:e>
                      </m:eqArr>
                    </m:oMath>
                  </m:oMathPara>
                </a14:m>
                <a:endParaRPr lang="en-US" altLang="zh-CN" dirty="0"/>
              </a:p>
              <a:p>
                <a:r>
                  <a:rPr lang="zh-CN" altLang="en-US" dirty="0"/>
                  <a:t>去地区影响  </a:t>
                </a:r>
                <a:r>
                  <a:rPr lang="en-US" altLang="zh-CN" dirty="0"/>
                  <a:t>(</a:t>
                </a:r>
                <a:r>
                  <a:rPr lang="en-US" altLang="zh-CN" dirty="0" err="1"/>
                  <a:t>delocation</a:t>
                </a:r>
                <a:r>
                  <a:rPr lang="en-US" altLang="zh-CN" dirty="0"/>
                  <a:t>, Ferri, 2025)</a:t>
                </a:r>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𝑙𝑛</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𝑔</m:t>
                              </m:r>
                            </m:e>
                          </m:acc>
                        </m:e>
                        <m:sub>
                          <m:r>
                            <a:rPr lang="zh-CN" altLang="en-US" i="1" smtClean="0">
                              <a:latin typeface="Cambria Math" panose="02040503050406030204" pitchFamily="18" charset="0"/>
                            </a:rPr>
                            <m:t>𝑙𝑛</m:t>
                          </m:r>
                        </m:sub>
                      </m:sSub>
                    </m:oMath>
                  </m:oMathPara>
                </a14:m>
                <a:endParaRPr lang="en-US" altLang="zh-CN" dirty="0"/>
              </a:p>
              <a:p>
                <a:pPr marL="0" indent="0">
                  <a:buNone/>
                </a:pPr>
                <a:r>
                  <a:rPr lang="zh-CN" altLang="en-US" dirty="0"/>
                  <a:t>𝑔𝑛 是行业 𝑛 的全国性增长率，不受地方的影响，𝑔𝑙̃ 𝑛 为地方特异性增长率。</a:t>
                </a:r>
                <a:endParaRPr lang="en-US" altLang="zh-CN" dirty="0"/>
              </a:p>
              <a:p>
                <a:r>
                  <a:rPr lang="en-US" altLang="zh-CN" dirty="0"/>
                  <a:t>SSIV</a:t>
                </a:r>
                <a:r>
                  <a:rPr lang="zh-CN" altLang="en-US" dirty="0"/>
                  <a:t>：用全局冲击代替地方冲击</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31628A78-8EEC-C64F-A6D6-CD612BB4DEAC}"/>
                  </a:ext>
                </a:extLst>
              </p:cNvPr>
              <p:cNvSpPr>
                <a:spLocks noGrp="1" noRot="1" noChangeAspect="1" noMove="1" noResize="1" noEditPoints="1" noAdjustHandles="1" noChangeArrowheads="1" noChangeShapeType="1" noTextEdit="1"/>
              </p:cNvSpPr>
              <p:nvPr>
                <p:ph idx="1"/>
              </p:nvPr>
            </p:nvSpPr>
            <p:spPr>
              <a:blipFill>
                <a:blip r:embed="rId2"/>
                <a:stretch>
                  <a:fillRect l="-309" t="-1681" b="-2324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F9F6DB3-C927-F272-896A-BF91CC2B7B9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0736E46-9AA6-4B76-B661-AFED34E02620}"/>
              </a:ext>
            </a:extLst>
          </p:cNvPr>
          <p:cNvSpPr>
            <a:spLocks noGrp="1"/>
          </p:cNvSpPr>
          <p:nvPr>
            <p:ph type="sldNum" sz="quarter" idx="12"/>
          </p:nvPr>
        </p:nvSpPr>
        <p:spPr/>
        <p:txBody>
          <a:bodyPr/>
          <a:lstStyle/>
          <a:p>
            <a:fld id="{D41FC515-8169-4A29-AA56-DBE520D5741B}" type="slidenum">
              <a:rPr lang="zh-CN" altLang="en-US" smtClean="0"/>
              <a:t>83</a:t>
            </a:fld>
            <a:endParaRPr lang="zh-CN" altLang="en-US"/>
          </a:p>
        </p:txBody>
      </p:sp>
    </p:spTree>
    <p:extLst>
      <p:ext uri="{BB962C8B-B14F-4D97-AF65-F5344CB8AC3E}">
        <p14:creationId xmlns:p14="http://schemas.microsoft.com/office/powerpoint/2010/main" val="20876443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85DD6-94D1-C354-1700-DD629FF5EF8B}"/>
              </a:ext>
            </a:extLst>
          </p:cNvPr>
          <p:cNvSpPr>
            <a:spLocks noGrp="1"/>
          </p:cNvSpPr>
          <p:nvPr>
            <p:ph type="title"/>
          </p:nvPr>
        </p:nvSpPr>
        <p:spPr/>
        <p:txBody>
          <a:bodyPr/>
          <a:lstStyle/>
          <a:p>
            <a:r>
              <a:rPr lang="en-US" altLang="zh-CN" dirty="0"/>
              <a:t>SSIV</a:t>
            </a:r>
            <a:r>
              <a:rPr lang="zh-CN" altLang="en-US" dirty="0"/>
              <a:t>：识别</a:t>
            </a:r>
          </a:p>
        </p:txBody>
      </p:sp>
      <p:sp>
        <p:nvSpPr>
          <p:cNvPr id="3" name="内容占位符 2">
            <a:extLst>
              <a:ext uri="{FF2B5EF4-FFF2-40B4-BE49-F238E27FC236}">
                <a16:creationId xmlns:a16="http://schemas.microsoft.com/office/drawing/2014/main" id="{767F1491-799E-F954-C93A-A1D61C50EAD6}"/>
              </a:ext>
            </a:extLst>
          </p:cNvPr>
          <p:cNvSpPr>
            <a:spLocks noGrp="1"/>
          </p:cNvSpPr>
          <p:nvPr>
            <p:ph idx="1"/>
          </p:nvPr>
        </p:nvSpPr>
        <p:spPr/>
        <p:txBody>
          <a:bodyPr/>
          <a:lstStyle/>
          <a:p>
            <a:r>
              <a:rPr lang="zh-CN" altLang="en-US" dirty="0"/>
              <a:t>冲击外生性</a:t>
            </a:r>
            <a:r>
              <a:rPr lang="en-US" altLang="zh-CN" dirty="0"/>
              <a:t>(Shock Exogeneity)</a:t>
            </a:r>
            <a:r>
              <a:rPr lang="zh-CN" altLang="en-US" dirty="0"/>
              <a:t>：</a:t>
            </a:r>
            <a:r>
              <a:rPr lang="en-US" altLang="zh-CN" dirty="0" err="1"/>
              <a:t>Boryusyak</a:t>
            </a:r>
            <a:r>
              <a:rPr lang="en-US" altLang="zh-CN" dirty="0"/>
              <a:t> et al. (2022)</a:t>
            </a:r>
          </a:p>
          <a:p>
            <a:r>
              <a:rPr lang="zh-CN" altLang="en-US" dirty="0"/>
              <a:t>份额外生性</a:t>
            </a:r>
            <a:r>
              <a:rPr lang="en-US" altLang="zh-CN" dirty="0"/>
              <a:t>(Share Exogeneity)</a:t>
            </a:r>
            <a:r>
              <a:rPr lang="zh-CN" altLang="en-US" dirty="0"/>
              <a:t>：</a:t>
            </a:r>
            <a:r>
              <a:rPr lang="en-US" altLang="zh-CN" dirty="0"/>
              <a:t>Goldsmith-Pinkham et al. (2020)</a:t>
            </a:r>
            <a:endParaRPr lang="zh-CN" altLang="en-US" dirty="0"/>
          </a:p>
        </p:txBody>
      </p:sp>
      <p:sp>
        <p:nvSpPr>
          <p:cNvPr id="4" name="页脚占位符 3">
            <a:extLst>
              <a:ext uri="{FF2B5EF4-FFF2-40B4-BE49-F238E27FC236}">
                <a16:creationId xmlns:a16="http://schemas.microsoft.com/office/drawing/2014/main" id="{3D35AAA2-CE7E-E795-A471-A86DED7C6F9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B6E7209-3B40-62A8-AE11-AE87E4A191FE}"/>
              </a:ext>
            </a:extLst>
          </p:cNvPr>
          <p:cNvSpPr>
            <a:spLocks noGrp="1"/>
          </p:cNvSpPr>
          <p:nvPr>
            <p:ph type="sldNum" sz="quarter" idx="12"/>
          </p:nvPr>
        </p:nvSpPr>
        <p:spPr/>
        <p:txBody>
          <a:bodyPr/>
          <a:lstStyle/>
          <a:p>
            <a:fld id="{D41FC515-8169-4A29-AA56-DBE520D5741B}" type="slidenum">
              <a:rPr lang="zh-CN" altLang="en-US" smtClean="0"/>
              <a:t>84</a:t>
            </a:fld>
            <a:endParaRPr lang="zh-CN" altLang="en-US"/>
          </a:p>
        </p:txBody>
      </p:sp>
    </p:spTree>
    <p:extLst>
      <p:ext uri="{BB962C8B-B14F-4D97-AF65-F5344CB8AC3E}">
        <p14:creationId xmlns:p14="http://schemas.microsoft.com/office/powerpoint/2010/main" val="3820513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B1C1BC-94C5-A4D6-5F26-D2520CA3C364}"/>
              </a:ext>
            </a:extLst>
          </p:cNvPr>
          <p:cNvSpPr>
            <a:spLocks noGrp="1"/>
          </p:cNvSpPr>
          <p:nvPr>
            <p:ph type="title"/>
          </p:nvPr>
        </p:nvSpPr>
        <p:spPr/>
        <p:txBody>
          <a:bodyPr/>
          <a:lstStyle/>
          <a:p>
            <a:r>
              <a:rPr lang="en-US" altLang="zh-CN" dirty="0"/>
              <a:t>SSIV</a:t>
            </a:r>
            <a:r>
              <a:rPr lang="zh-CN" altLang="en-US" dirty="0"/>
              <a:t>：冲击外生性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0A70E37-D009-29E5-D06B-F470BB583F99}"/>
                  </a:ext>
                </a:extLst>
              </p:cNvPr>
              <p:cNvSpPr>
                <a:spLocks noGrp="1"/>
              </p:cNvSpPr>
              <p:nvPr>
                <p:ph idx="1"/>
              </p:nvPr>
            </p:nvSpPr>
            <p:spPr/>
            <p:txBody>
              <a:bodyPr/>
              <a:lstStyle/>
              <a:p>
                <a:pPr>
                  <a:lnSpc>
                    <a:spcPct val="100000"/>
                  </a:lnSpc>
                </a:pPr>
                <a:r>
                  <a:rPr lang="en-US" altLang="zh-CN" dirty="0"/>
                  <a:t>Boryusyak, Hull and </a:t>
                </a:r>
                <a:r>
                  <a:rPr lang="en-US" altLang="zh-CN" dirty="0" err="1"/>
                  <a:t>Jaravel</a:t>
                </a:r>
                <a:r>
                  <a:rPr lang="en-US" altLang="zh-CN" dirty="0"/>
                  <a:t>(2022)</a:t>
                </a:r>
              </a:p>
              <a:p>
                <a:pPr lvl="1">
                  <a:lnSpc>
                    <a:spcPct val="100000"/>
                  </a:lnSpc>
                </a:pPr>
                <a:r>
                  <a:rPr lang="zh-CN" altLang="en-US" dirty="0"/>
                  <a:t>考虑结构方程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𝑦</m:t>
                        </m:r>
                      </m:e>
                      <m:sub>
                        <m:r>
                          <a:rPr lang="en-US" altLang="zh-CN" i="1" dirty="0" err="1">
                            <a:latin typeface="Cambria Math" panose="02040503050406030204" pitchFamily="18" charset="0"/>
                          </a:rPr>
                          <m:t>𝑙</m:t>
                        </m:r>
                      </m:sub>
                    </m:sSub>
                    <m:r>
                      <a:rPr lang="en-US" altLang="zh-CN" i="1" dirty="0">
                        <a:latin typeface="Cambria Math" panose="02040503050406030204" pitchFamily="18" charset="0"/>
                      </a:rPr>
                      <m:t>=</m:t>
                    </m:r>
                    <m:r>
                      <a:rPr lang="en-US" altLang="zh-CN" i="1" dirty="0" smtClean="0">
                        <a:latin typeface="Cambria Math" panose="02040503050406030204" pitchFamily="18" charset="0"/>
                      </a:rPr>
                      <m:t>𝛽</m:t>
                    </m:r>
                    <m:r>
                      <a:rPr lang="en-US" altLang="zh-CN" i="1" dirty="0">
                        <a:latin typeface="Cambria Math" panose="02040503050406030204" pitchFamily="18" charset="0"/>
                      </a:rPr>
                      <m:t> </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𝑥</m:t>
                        </m:r>
                      </m:e>
                      <m:sub>
                        <m:r>
                          <a:rPr lang="en-US" altLang="zh-CN" i="1" dirty="0" err="1">
                            <a:latin typeface="Cambria Math" panose="02040503050406030204" pitchFamily="18" charset="0"/>
                          </a:rPr>
                          <m:t>𝑙</m:t>
                        </m:r>
                      </m:sub>
                    </m:sSub>
                    <m:r>
                      <a:rPr lang="en-US" altLang="zh-CN" i="1" dirty="0">
                        <a:latin typeface="Cambria Math" panose="02040503050406030204" pitchFamily="18" charset="0"/>
                      </a:rPr>
                      <m:t> + </m:t>
                    </m:r>
                    <m:sSubSup>
                      <m:sSubSupPr>
                        <m:ctrlPr>
                          <a:rPr lang="en-US" altLang="zh-CN" i="1" dirty="0" err="1">
                            <a:latin typeface="Cambria Math" panose="02040503050406030204" pitchFamily="18" charset="0"/>
                          </a:rPr>
                        </m:ctrlPr>
                      </m:sSubSupPr>
                      <m:e>
                        <m:r>
                          <a:rPr lang="en-US" altLang="zh-CN" i="1" dirty="0" err="1">
                            <a:latin typeface="Cambria Math" panose="02040503050406030204" pitchFamily="18" charset="0"/>
                          </a:rPr>
                          <m:t>𝑤</m:t>
                        </m:r>
                      </m:e>
                      <m:sub>
                        <m:r>
                          <a:rPr lang="en-US" altLang="zh-CN" i="1" dirty="0" err="1">
                            <a:latin typeface="Cambria Math" panose="02040503050406030204" pitchFamily="18" charset="0"/>
                          </a:rPr>
                          <m:t>𝑙</m:t>
                        </m:r>
                      </m:sub>
                      <m:sup>
                        <m:r>
                          <a:rPr lang="en-US" altLang="zh-CN" i="1" dirty="0">
                            <a:latin typeface="Cambria Math" panose="02040503050406030204" pitchFamily="18" charset="0"/>
                          </a:rPr>
                          <m:t>′</m:t>
                        </m:r>
                      </m:sup>
                    </m:sSubSup>
                    <m:r>
                      <a:rPr lang="en-US" altLang="zh-CN" i="1" dirty="0" smtClean="0">
                        <a:latin typeface="Cambria Math" panose="02040503050406030204" pitchFamily="18" charset="0"/>
                      </a:rPr>
                      <m:t>𝛾</m:t>
                    </m:r>
                    <m:r>
                      <a:rPr lang="en-US" altLang="zh-CN" i="1" dirty="0">
                        <a:latin typeface="Cambria Math" panose="02040503050406030204" pitchFamily="18" charset="0"/>
                      </a:rPr>
                      <m:t> +</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𝜀</m:t>
                        </m:r>
                      </m:e>
                      <m:sub>
                        <m:r>
                          <a:rPr lang="en-US" altLang="zh-CN" i="1" dirty="0" err="1" smtClean="0">
                            <a:latin typeface="Cambria Math" panose="02040503050406030204" pitchFamily="18" charset="0"/>
                          </a:rPr>
                          <m:t>𝑙</m:t>
                        </m:r>
                      </m:sub>
                    </m:sSub>
                  </m:oMath>
                </a14:m>
                <a:r>
                  <a:rPr lang="zh-CN" altLang="en-US" dirty="0"/>
                  <a:t>，</a:t>
                </a:r>
                <a14:m>
                  <m:oMath xmlns:m="http://schemas.openxmlformats.org/officeDocument/2006/math">
                    <m:r>
                      <a:rPr lang="en-US" altLang="zh-CN" i="1" dirty="0" smtClean="0">
                        <a:latin typeface="Cambria Math" panose="02040503050406030204" pitchFamily="18" charset="0"/>
                      </a:rPr>
                      <m:t>𝛽</m:t>
                    </m:r>
                  </m:oMath>
                </a14:m>
                <a:r>
                  <a:rPr lang="zh-CN" altLang="en-US" dirty="0"/>
                  <a:t>是目标参数，</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err="1">
                            <a:latin typeface="Cambria Math" panose="02040503050406030204" pitchFamily="18" charset="0"/>
                          </a:rPr>
                          <m:t>𝑙</m:t>
                        </m:r>
                      </m:sub>
                    </m:sSub>
                  </m:oMath>
                </a14:m>
                <a:r>
                  <a:rPr lang="zh-CN" altLang="en-US" dirty="0"/>
                  <a:t> 内生。由于</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err="1">
                            <a:latin typeface="Cambria Math" panose="02040503050406030204" pitchFamily="18" charset="0"/>
                          </a:rPr>
                          <m:t>𝑙</m:t>
                        </m:r>
                      </m:sub>
                    </m:sSub>
                    <m:r>
                      <a:rPr lang="en-US" altLang="zh-CN" i="1" dirty="0">
                        <a:latin typeface="Cambria Math" panose="02040503050406030204" pitchFamily="18" charset="0"/>
                      </a:rPr>
                      <m:t>=</m:t>
                    </m:r>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𝑛</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𝑠</m:t>
                            </m:r>
                          </m:e>
                          <m:sub>
                            <m:r>
                              <m:rPr>
                                <m:sty m:val="p"/>
                              </m:rPr>
                              <a:rPr lang="en-US" altLang="zh-CN" i="1" dirty="0">
                                <a:latin typeface="Cambria Math" panose="02040503050406030204" pitchFamily="18" charset="0"/>
                              </a:rPr>
                              <m:t>ln</m:t>
                            </m:r>
                          </m:sub>
                        </m:sSub>
                        <m:acc>
                          <m:accPr>
                            <m:chr m:val="̃"/>
                            <m:ctrlPr>
                              <a:rPr lang="en-US" altLang="zh-CN" i="1" dirty="0" err="1">
                                <a:latin typeface="Cambria Math" panose="02040503050406030204" pitchFamily="18" charset="0"/>
                              </a:rPr>
                            </m:ctrlPr>
                          </m:acc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𝑔</m:t>
                                </m:r>
                              </m:e>
                              <m:sub>
                                <m:r>
                                  <a:rPr lang="en-US" altLang="zh-CN" i="1" dirty="0" err="1">
                                    <a:latin typeface="Cambria Math" panose="02040503050406030204" pitchFamily="18" charset="0"/>
                                  </a:rPr>
                                  <m:t>𝑛</m:t>
                                </m:r>
                              </m:sub>
                            </m:sSub>
                          </m:e>
                        </m:acc>
                      </m:e>
                    </m:nary>
                  </m:oMath>
                </a14:m>
                <a:r>
                  <a:rPr lang="zh-CN" altLang="en-US" dirty="0"/>
                  <a:t>，</a:t>
                </a:r>
                <a14:m>
                  <m:oMath xmlns:m="http://schemas.openxmlformats.org/officeDocument/2006/math">
                    <m:nary>
                      <m:naryPr>
                        <m:chr m:val="∑"/>
                        <m:subHide m:val="on"/>
                        <m:supHide m:val="on"/>
                        <m:ctrlPr>
                          <a:rPr lang="en-US" altLang="zh-CN" i="1" dirty="0">
                            <a:latin typeface="Cambria Math" panose="02040503050406030204" pitchFamily="18" charset="0"/>
                          </a:rPr>
                        </m:ctrlPr>
                      </m:naryP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𝑠</m:t>
                            </m:r>
                          </m:e>
                          <m:sub>
                            <m:r>
                              <m:rPr>
                                <m:sty m:val="p"/>
                              </m:rPr>
                              <a:rPr lang="en-US" altLang="zh-CN" i="1" dirty="0">
                                <a:latin typeface="Cambria Math" panose="02040503050406030204" pitchFamily="18" charset="0"/>
                              </a:rPr>
                              <m:t>ln</m:t>
                            </m:r>
                          </m:sub>
                        </m:sSub>
                      </m:e>
                    </m:nary>
                    <m:r>
                      <a:rPr lang="en-US" altLang="zh-CN" i="1" dirty="0">
                        <a:latin typeface="Cambria Math" panose="02040503050406030204" pitchFamily="18" charset="0"/>
                      </a:rPr>
                      <m:t>=1</m:t>
                    </m:r>
                  </m:oMath>
                </a14:m>
                <a:r>
                  <a:rPr lang="zh-CN" altLang="en-US" dirty="0"/>
                  <a:t>，个体之间不是 </a:t>
                </a:r>
                <a:r>
                  <a:rPr lang="en-US" altLang="zh-CN" dirty="0" err="1"/>
                  <a:t>i.i.d.</a:t>
                </a:r>
                <a:r>
                  <a:rPr lang="zh-CN" altLang="en-US" dirty="0"/>
                  <a:t>（当个体行业份额相似时会相关），此时工具变量有效的条件不是</a:t>
                </a:r>
                <a14:m>
                  <m:oMath xmlns:m="http://schemas.openxmlformats.org/officeDocument/2006/math">
                    <m:r>
                      <a:rPr lang="en-US" altLang="zh-CN" i="1" dirty="0" smtClean="0">
                        <a:latin typeface="Cambria Math" panose="02040503050406030204" pitchFamily="18" charset="0"/>
                      </a:rPr>
                      <m:t>𝐸</m:t>
                    </m:r>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𝑧</m:t>
                        </m:r>
                      </m:e>
                      <m:sub>
                        <m:r>
                          <a:rPr lang="en-US" altLang="zh-CN" i="1" dirty="0" err="1">
                            <a:latin typeface="Cambria Math" panose="02040503050406030204" pitchFamily="18" charset="0"/>
                          </a:rPr>
                          <m:t>𝑙</m:t>
                        </m:r>
                      </m:sub>
                    </m:sSub>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𝜀</m:t>
                        </m:r>
                      </m:e>
                      <m:sub>
                        <m:r>
                          <a:rPr lang="en-US" altLang="zh-CN" i="1" dirty="0" err="1">
                            <a:latin typeface="Cambria Math" panose="02040503050406030204" pitchFamily="18" charset="0"/>
                          </a:rPr>
                          <m:t>𝑙</m:t>
                        </m:r>
                      </m:sub>
                    </m:sSub>
                    <m:r>
                      <a:rPr lang="en-US" altLang="zh-CN" i="1" dirty="0">
                        <a:latin typeface="Cambria Math" panose="02040503050406030204" pitchFamily="18" charset="0"/>
                      </a:rPr>
                      <m:t>]=0</m:t>
                    </m:r>
                  </m:oMath>
                </a14:m>
                <a:r>
                  <a:rPr lang="zh-CN" altLang="en-US" dirty="0"/>
                  <a:t>，而是需要</a:t>
                </a:r>
                <a:endParaRPr lang="en-US" altLang="zh-CN" dirty="0"/>
              </a:p>
              <a:p>
                <a:pPr lvl="1">
                  <a:lnSpc>
                    <a:spcPct val="100000"/>
                  </a:lnSpc>
                </a:pPr>
                <a14:m>
                  <m:oMath xmlns:m="http://schemas.openxmlformats.org/officeDocument/2006/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m:t>
                                </m:r>
                              </m:sub>
                            </m:sSub>
                          </m:e>
                        </m:d>
                        <m:r>
                          <a:rPr lang="zh-CN" altLang="en-US" i="1" smtClean="0">
                            <a:latin typeface="Cambria Math" panose="02040503050406030204" pitchFamily="18" charset="0"/>
                          </a:rPr>
                          <m:t>=0.</m:t>
                        </m:r>
                      </m:e>
                    </m:eqArr>
                  </m:oMath>
                </a14:m>
                <a:endParaRPr lang="en-US" altLang="zh-CN" dirty="0"/>
              </a:p>
              <a:p>
                <a:pPr lvl="1">
                  <a:lnSpc>
                    <a:spcPct val="100000"/>
                  </a:lnSpc>
                </a:pPr>
                <a:r>
                  <a:rPr lang="zh-CN" altLang="en-US" dirty="0"/>
                  <a:t>在相关性假设下，可以得到</a:t>
                </a:r>
                <a:r>
                  <a:rPr lang="en-US" altLang="zh-CN" dirty="0"/>
                  <a:t>IV </a:t>
                </a:r>
                <a:r>
                  <a:rPr lang="zh-CN" altLang="en-US" dirty="0"/>
                  <a:t>估计量</a:t>
                </a:r>
                <a:endParaRPr lang="en-US" altLang="zh-CN" dirty="0"/>
              </a:p>
              <a:p>
                <a:pPr lvl="1">
                  <a:lnSpc>
                    <a:spcPct val="100000"/>
                  </a:lnSpc>
                </a:pPr>
                <a14:m>
                  <m:oMath xmlns:m="http://schemas.openxmlformats.org/officeDocument/2006/math">
                    <m:eqArr>
                      <m:eqArrPr>
                        <m:ctrlPr>
                          <a:rPr lang="zh-CN" altLang="en-US" i="1" smtClean="0">
                            <a:latin typeface="Cambria Math" panose="02040503050406030204" pitchFamily="18" charset="0"/>
                          </a:rPr>
                        </m:ctrlPr>
                      </m:eqArr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e>
                            </m:nary>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𝑦</m:t>
                                </m:r>
                              </m:e>
                              <m:sub>
                                <m:r>
                                  <a:rPr lang="zh-CN" altLang="en-US" i="1" smtClean="0">
                                    <a:latin typeface="Cambria Math" panose="02040503050406030204" pitchFamily="18" charset="0"/>
                                  </a:rPr>
                                  <m:t>𝑙</m:t>
                                </m:r>
                              </m:sub>
                              <m:sup>
                                <m:r>
                                  <a:rPr lang="zh-CN" altLang="en-US" i="1" smtClean="0">
                                    <a:latin typeface="Cambria Math" panose="02040503050406030204" pitchFamily="18" charset="0"/>
                                  </a:rPr>
                                  <m:t>⊥</m:t>
                                </m:r>
                              </m:sup>
                            </m:sSubSup>
                          </m:num>
                          <m:den>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e>
                            </m:nary>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m:t>
                                </m:r>
                              </m:sub>
                              <m:sup>
                                <m:r>
                                  <a:rPr lang="zh-CN" altLang="en-US" i="1" smtClean="0">
                                    <a:latin typeface="Cambria Math" panose="02040503050406030204" pitchFamily="18" charset="0"/>
                                  </a:rPr>
                                  <m:t>⊥</m:t>
                                </m:r>
                              </m:sup>
                            </m:sSubSup>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𝑦</m:t>
                                </m:r>
                              </m:e>
                              <m:sub>
                                <m:r>
                                  <a:rPr lang="zh-CN" altLang="en-US" i="1" smtClean="0">
                                    <a:latin typeface="Cambria Math" panose="02040503050406030204" pitchFamily="18" charset="0"/>
                                  </a:rPr>
                                  <m:t>𝑙</m:t>
                                </m:r>
                              </m:sub>
                              <m:sup>
                                <m:r>
                                  <a:rPr lang="zh-CN" altLang="en-US" i="1" smtClean="0">
                                    <a:latin typeface="Cambria Math" panose="02040503050406030204" pitchFamily="18" charset="0"/>
                                  </a:rPr>
                                  <m:t>⊥</m:t>
                                </m:r>
                              </m:sup>
                            </m:sSubSup>
                          </m:num>
                          <m:den>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m:t>
                                </m:r>
                              </m:sub>
                              <m:sup>
                                <m:r>
                                  <a:rPr lang="zh-CN" altLang="en-US" i="1" smtClean="0">
                                    <a:latin typeface="Cambria Math" panose="02040503050406030204" pitchFamily="18" charset="0"/>
                                  </a:rPr>
                                  <m:t>⊥</m:t>
                                </m:r>
                              </m:sup>
                            </m:sSubSup>
                          </m:den>
                        </m:f>
                      </m:e>
                    </m:eqArr>
                  </m:oMath>
                </a14:m>
                <a:endParaRPr lang="en-US" altLang="zh-CN" dirty="0"/>
              </a:p>
              <a:p>
                <a:pPr lvl="1">
                  <a:lnSpc>
                    <a:spcPct val="100000"/>
                  </a:lnSpc>
                </a:pPr>
                <a:r>
                  <a:rPr lang="zh-CN" altLang="en-US" dirty="0"/>
                  <a:t>其中</a:t>
                </a:r>
                <a14:m>
                  <m:oMath xmlns:m="http://schemas.openxmlformats.org/officeDocument/2006/math">
                    <m:sSubSup>
                      <m:sSubSupPr>
                        <m:ctrlPr>
                          <a:rPr lang="en-US" altLang="zh-CN" i="1" dirty="0" smtClean="0">
                            <a:latin typeface="Cambria Math" panose="02040503050406030204" pitchFamily="18" charset="0"/>
                          </a:rPr>
                        </m:ctrlPr>
                      </m:sSubSupPr>
                      <m:e>
                        <m:r>
                          <a:rPr lang="en-US" altLang="zh-CN" i="1" dirty="0" smtClean="0">
                            <a:latin typeface="Cambria Math" panose="02040503050406030204" pitchFamily="18" charset="0"/>
                          </a:rPr>
                          <m:t>𝑣</m:t>
                        </m:r>
                      </m:e>
                      <m:sub>
                        <m:r>
                          <a:rPr lang="en-US" altLang="zh-CN" i="1" dirty="0" smtClean="0">
                            <a:latin typeface="Cambria Math" panose="02040503050406030204" pitchFamily="18" charset="0"/>
                          </a:rPr>
                          <m:t>𝑙</m:t>
                        </m:r>
                      </m:sub>
                      <m:sup>
                        <m:r>
                          <a:rPr lang="en-US" altLang="zh-CN" i="1" dirty="0" smtClean="0">
                            <a:latin typeface="Cambria Math" panose="02040503050406030204" pitchFamily="18" charset="0"/>
                          </a:rPr>
                          <m:t>⊥</m:t>
                        </m:r>
                      </m:sup>
                    </m:sSubSup>
                  </m:oMath>
                </a14:m>
                <a:r>
                  <a:rPr lang="zh-CN" altLang="en-US" dirty="0"/>
                  <a:t>表示</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𝑣</m:t>
                        </m:r>
                      </m:e>
                      <m:sub>
                        <m:r>
                          <a:rPr lang="en-US" altLang="zh-CN" i="1" dirty="0" err="1">
                            <a:latin typeface="Cambria Math" panose="02040503050406030204" pitchFamily="18" charset="0"/>
                          </a:rPr>
                          <m:t>𝑙</m:t>
                        </m:r>
                      </m:sub>
                    </m:sSub>
                  </m:oMath>
                </a14:m>
                <a:r>
                  <a:rPr lang="zh-CN" altLang="en-US" dirty="0"/>
                  <a:t>对</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𝑤</m:t>
                        </m:r>
                      </m:e>
                      <m:sub>
                        <m:r>
                          <a:rPr lang="en-US" altLang="zh-CN" i="1" dirty="0" err="1">
                            <a:latin typeface="Cambria Math" panose="02040503050406030204" pitchFamily="18" charset="0"/>
                          </a:rPr>
                          <m:t>𝑙</m:t>
                        </m:r>
                      </m:sub>
                    </m:sSub>
                  </m:oMath>
                </a14:m>
                <a:r>
                  <a:rPr lang="zh-CN" altLang="en-US" dirty="0"/>
                  <a:t>的样本回归残差。</a:t>
                </a:r>
              </a:p>
            </p:txBody>
          </p:sp>
        </mc:Choice>
        <mc:Fallback xmlns="">
          <p:sp>
            <p:nvSpPr>
              <p:cNvPr id="3" name="内容占位符 2">
                <a:extLst>
                  <a:ext uri="{FF2B5EF4-FFF2-40B4-BE49-F238E27FC236}">
                    <a16:creationId xmlns:a16="http://schemas.microsoft.com/office/drawing/2014/main" id="{B0A70E37-D009-29E5-D06B-F470BB583F99}"/>
                  </a:ext>
                </a:extLst>
              </p:cNvPr>
              <p:cNvSpPr>
                <a:spLocks noGrp="1" noRot="1" noChangeAspect="1" noMove="1" noResize="1" noEditPoints="1" noAdjustHandles="1" noChangeArrowheads="1" noChangeShapeType="1" noTextEdit="1"/>
              </p:cNvSpPr>
              <p:nvPr>
                <p:ph idx="1"/>
              </p:nvPr>
            </p:nvSpPr>
            <p:spPr>
              <a:blipFill>
                <a:blip r:embed="rId2"/>
                <a:stretch>
                  <a:fillRect l="-1391" t="-1401" r="-232" b="-9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1339A7A-1433-4DBE-6A72-2512A4DE691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54EA87B-B2F6-8C8C-1B73-D5A21B622FCD}"/>
              </a:ext>
            </a:extLst>
          </p:cNvPr>
          <p:cNvSpPr>
            <a:spLocks noGrp="1"/>
          </p:cNvSpPr>
          <p:nvPr>
            <p:ph type="sldNum" sz="quarter" idx="12"/>
          </p:nvPr>
        </p:nvSpPr>
        <p:spPr/>
        <p:txBody>
          <a:bodyPr/>
          <a:lstStyle/>
          <a:p>
            <a:fld id="{D41FC515-8169-4A29-AA56-DBE520D5741B}" type="slidenum">
              <a:rPr lang="zh-CN" altLang="en-US" smtClean="0"/>
              <a:t>85</a:t>
            </a:fld>
            <a:endParaRPr lang="zh-CN" altLang="en-US"/>
          </a:p>
        </p:txBody>
      </p:sp>
    </p:spTree>
    <p:extLst>
      <p:ext uri="{BB962C8B-B14F-4D97-AF65-F5344CB8AC3E}">
        <p14:creationId xmlns:p14="http://schemas.microsoft.com/office/powerpoint/2010/main" val="26871107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43226C-316A-6F82-C422-A303937CB70C}"/>
              </a:ext>
            </a:extLst>
          </p:cNvPr>
          <p:cNvSpPr>
            <a:spLocks noGrp="1"/>
          </p:cNvSpPr>
          <p:nvPr>
            <p:ph type="title"/>
          </p:nvPr>
        </p:nvSpPr>
        <p:spPr/>
        <p:txBody>
          <a:bodyPr/>
          <a:lstStyle/>
          <a:p>
            <a:r>
              <a:rPr lang="en-US" altLang="zh-CN" dirty="0"/>
              <a:t>SSIV</a:t>
            </a:r>
            <a:r>
              <a:rPr lang="zh-CN" altLang="en-US" dirty="0"/>
              <a:t>：冲击外生性</a:t>
            </a:r>
            <a:br>
              <a:rPr lang="zh-CN" altLang="en-US" dirty="0"/>
            </a:br>
            <a:r>
              <a:rPr lang="en-US" altLang="zh-CN" sz="2400" dirty="0"/>
              <a:t>BHJ </a:t>
            </a:r>
            <a:r>
              <a:rPr lang="zh-CN" altLang="en-US" sz="2400" dirty="0"/>
              <a:t>等价性定理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F48688-4899-C63B-5ACA-F08435B5A398}"/>
                  </a:ext>
                </a:extLst>
              </p:cNvPr>
              <p:cNvSpPr>
                <a:spLocks noGrp="1"/>
              </p:cNvSpPr>
              <p:nvPr>
                <p:ph idx="1"/>
              </p:nvPr>
            </p:nvSpPr>
            <p:spPr/>
            <p:txBody>
              <a:bodyPr>
                <a:normAutofit fontScale="70000" lnSpcReduction="20000"/>
              </a:bodyPr>
              <a:lstStyle/>
              <a:p>
                <a:pPr>
                  <a:lnSpc>
                    <a:spcPct val="120000"/>
                  </a:lnSpc>
                </a:pPr>
                <a:r>
                  <a:rPr lang="en-US" altLang="zh-CN" dirty="0"/>
                  <a:t>Borusyak et al.(2022) </a:t>
                </a:r>
                <a:r>
                  <a:rPr lang="zh-CN" altLang="en-US" dirty="0"/>
                  <a:t>证明 𝛽̂可以用冲击层面数据得到，用 𝑔𝑛 作为冲击层面“加总”干预的工具：</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nary>
                                <m:naryPr>
                                  <m:chr m:val="∑"/>
                                  <m:limLoc m:val="undOvr"/>
                                  <m:supHide m:val="on"/>
                                  <m:ctrlPr>
                                    <a:rPr lang="zh-CN" altLang="en-US" i="1" smtClean="0">
                                      <a:latin typeface="Cambria Math" panose="02040503050406030204" pitchFamily="18" charset="0"/>
                                    </a:rPr>
                                  </m:ctrlPr>
                                </m:naryPr>
                                <m:sub>
                                  <m:r>
                                    <m:rPr>
                                      <m:sty m:val="p"/>
                                    </m:rPr>
                                    <a:rPr lang="zh-CN" altLang="en-US" i="1" smtClean="0">
                                      <a:latin typeface="Cambria Math" panose="02040503050406030204" pitchFamily="18" charset="0"/>
                                    </a:rPr>
                                    <m:t>ℓ</m:t>
                                  </m:r>
                                </m:sub>
                                <m:sup/>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m:rPr>
                                              <m:sty m:val="p"/>
                                            </m:rPr>
                                            <a:rPr lang="zh-CN" altLang="en-US" i="1" smtClean="0">
                                              <a:latin typeface="Cambria Math" panose="02040503050406030204" pitchFamily="18" charset="0"/>
                                            </a:rPr>
                                            <m:t>ℓ</m:t>
                                          </m:r>
                                          <m:r>
                                            <a:rPr lang="zh-CN" altLang="en-US" i="1" smtClean="0">
                                              <a:latin typeface="Cambria Math" panose="02040503050406030204" pitchFamily="18" charset="0"/>
                                            </a:rPr>
                                            <m:t>𝑛</m:t>
                                          </m:r>
                                        </m:sub>
                                      </m:sSub>
                                    </m:e>
                                  </m:nary>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𝑦</m:t>
                                  </m:r>
                                </m:e>
                                <m:sub>
                                  <m:r>
                                    <m:rPr>
                                      <m:sty m:val="p"/>
                                    </m:rPr>
                                    <a:rPr lang="zh-CN" altLang="en-US" i="1" smtClean="0">
                                      <a:latin typeface="Cambria Math" panose="02040503050406030204" pitchFamily="18" charset="0"/>
                                    </a:rPr>
                                    <m:t>ℓ</m:t>
                                  </m:r>
                                </m:sub>
                                <m:sup>
                                  <m:r>
                                    <a:rPr lang="zh-CN" altLang="en-US" i="1" smtClean="0">
                                      <a:latin typeface="Cambria Math" panose="02040503050406030204" pitchFamily="18" charset="0"/>
                                    </a:rPr>
                                    <m:t>⊥</m:t>
                                  </m:r>
                                </m:sup>
                              </m:sSubSup>
                            </m:num>
                            <m:den>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nary>
                                <m:naryPr>
                                  <m:chr m:val="∑"/>
                                  <m:limLoc m:val="undOvr"/>
                                  <m:supHide m:val="on"/>
                                  <m:ctrlPr>
                                    <a:rPr lang="zh-CN" altLang="en-US" i="1" smtClean="0">
                                      <a:latin typeface="Cambria Math" panose="02040503050406030204" pitchFamily="18" charset="0"/>
                                    </a:rPr>
                                  </m:ctrlPr>
                                </m:naryPr>
                                <m:sub>
                                  <m:r>
                                    <m:rPr>
                                      <m:sty m:val="p"/>
                                    </m:rPr>
                                    <a:rPr lang="zh-CN" altLang="en-US" i="1" smtClean="0">
                                      <a:latin typeface="Cambria Math" panose="02040503050406030204" pitchFamily="18" charset="0"/>
                                    </a:rPr>
                                    <m:t>ℓ</m:t>
                                  </m:r>
                                </m:sub>
                                <m:sup/>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m:rPr>
                                              <m:sty m:val="p"/>
                                            </m:rPr>
                                            <a:rPr lang="zh-CN" altLang="en-US" i="1" smtClean="0">
                                              <a:latin typeface="Cambria Math" panose="02040503050406030204" pitchFamily="18" charset="0"/>
                                            </a:rPr>
                                            <m:t>ℓ</m:t>
                                          </m:r>
                                          <m:r>
                                            <a:rPr lang="zh-CN" altLang="en-US" i="1" smtClean="0">
                                              <a:latin typeface="Cambria Math" panose="02040503050406030204" pitchFamily="18" charset="0"/>
                                            </a:rPr>
                                            <m:t>𝑛</m:t>
                                          </m:r>
                                        </m:sub>
                                      </m:sSub>
                                    </m:e>
                                  </m:nary>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m:rPr>
                                      <m:sty m:val="p"/>
                                    </m:rPr>
                                    <a:rPr lang="zh-CN" altLang="en-US" i="1" smtClean="0">
                                      <a:latin typeface="Cambria Math" panose="02040503050406030204" pitchFamily="18" charset="0"/>
                                    </a:rPr>
                                    <m:t>ℓ</m:t>
                                  </m:r>
                                </m:sub>
                                <m:sup>
                                  <m:r>
                                    <a:rPr lang="zh-CN" altLang="en-US" i="1" smtClean="0">
                                      <a:latin typeface="Cambria Math" panose="02040503050406030204" pitchFamily="18" charset="0"/>
                                    </a:rPr>
                                    <m:t>⊥</m:t>
                                  </m:r>
                                </m:sup>
                              </m:sSubSup>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e>
                              </m:nary>
                              <m:nary>
                                <m:naryPr>
                                  <m:chr m:val="∑"/>
                                  <m:limLoc m:val="undOvr"/>
                                  <m:supHide m:val="on"/>
                                  <m:ctrlPr>
                                    <a:rPr lang="zh-CN" altLang="en-US" i="1" smtClean="0">
                                      <a:latin typeface="Cambria Math" panose="02040503050406030204" pitchFamily="18" charset="0"/>
                                    </a:rPr>
                                  </m:ctrlPr>
                                </m:naryPr>
                                <m:sub>
                                  <m:r>
                                    <m:rPr>
                                      <m:sty m:val="p"/>
                                    </m:rPr>
                                    <a:rPr lang="zh-CN" altLang="en-US" i="1" smtClean="0">
                                      <a:latin typeface="Cambria Math" panose="02040503050406030204" pitchFamily="18" charset="0"/>
                                    </a:rPr>
                                    <m:t>ℓ</m:t>
                                  </m:r>
                                </m:sub>
                                <m:sup/>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m:rPr>
                                      <m:sty m:val="p"/>
                                    </m:rPr>
                                    <a:rPr lang="zh-CN" altLang="en-US" i="1" smtClean="0">
                                      <a:latin typeface="Cambria Math" panose="02040503050406030204" pitchFamily="18" charset="0"/>
                                    </a:rPr>
                                    <m:t>ℓ</m:t>
                                  </m:r>
                                  <m:r>
                                    <a:rPr lang="zh-CN" altLang="en-US" i="1" smtClean="0">
                                      <a:latin typeface="Cambria Math" panose="02040503050406030204" pitchFamily="18" charset="0"/>
                                    </a:rPr>
                                    <m:t>𝑛</m:t>
                                  </m:r>
                                </m:sub>
                              </m:sSub>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𝑦</m:t>
                                  </m:r>
                                </m:e>
                                <m:sub>
                                  <m:r>
                                    <m:rPr>
                                      <m:sty m:val="p"/>
                                    </m:rPr>
                                    <a:rPr lang="zh-CN" altLang="en-US" i="1" smtClean="0">
                                      <a:latin typeface="Cambria Math" panose="02040503050406030204" pitchFamily="18" charset="0"/>
                                    </a:rPr>
                                    <m:t>ℓ</m:t>
                                  </m:r>
                                </m:sub>
                                <m:sup>
                                  <m:r>
                                    <a:rPr lang="zh-CN" altLang="en-US" i="1" smtClean="0">
                                      <a:latin typeface="Cambria Math" panose="02040503050406030204" pitchFamily="18" charset="0"/>
                                    </a:rPr>
                                    <m:t>⊥</m:t>
                                  </m:r>
                                </m:sup>
                              </m:sSubSup>
                            </m:num>
                            <m:den>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e>
                              </m:nary>
                              <m:nary>
                                <m:naryPr>
                                  <m:chr m:val="∑"/>
                                  <m:limLoc m:val="undOvr"/>
                                  <m:supHide m:val="on"/>
                                  <m:ctrlPr>
                                    <a:rPr lang="zh-CN" altLang="en-US" i="1" smtClean="0">
                                      <a:latin typeface="Cambria Math" panose="02040503050406030204" pitchFamily="18" charset="0"/>
                                    </a:rPr>
                                  </m:ctrlPr>
                                </m:naryPr>
                                <m:sub>
                                  <m:r>
                                    <m:rPr>
                                      <m:sty m:val="p"/>
                                    </m:rPr>
                                    <a:rPr lang="zh-CN" altLang="en-US" i="1" smtClean="0">
                                      <a:latin typeface="Cambria Math" panose="02040503050406030204" pitchFamily="18" charset="0"/>
                                    </a:rPr>
                                    <m:t>ℓ</m:t>
                                  </m:r>
                                </m:sub>
                                <m:sup/>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m:rPr>
                                      <m:sty m:val="p"/>
                                    </m:rPr>
                                    <a:rPr lang="zh-CN" altLang="en-US" i="1" smtClean="0">
                                      <a:latin typeface="Cambria Math" panose="02040503050406030204" pitchFamily="18" charset="0"/>
                                    </a:rPr>
                                    <m:t>ℓ</m:t>
                                  </m:r>
                                  <m:r>
                                    <a:rPr lang="zh-CN" altLang="en-US" i="1" smtClean="0">
                                      <a:latin typeface="Cambria Math" panose="02040503050406030204" pitchFamily="18" charset="0"/>
                                    </a:rPr>
                                    <m:t>𝑛</m:t>
                                  </m:r>
                                </m:sub>
                              </m:sSub>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m:rPr>
                                      <m:sty m:val="p"/>
                                    </m:rPr>
                                    <a:rPr lang="zh-CN" altLang="en-US" i="1" smtClean="0">
                                      <a:latin typeface="Cambria Math" panose="02040503050406030204" pitchFamily="18" charset="0"/>
                                    </a:rPr>
                                    <m:t>ℓ</m:t>
                                  </m:r>
                                </m:sub>
                                <m:sup>
                                  <m:r>
                                    <a:rPr lang="zh-CN" altLang="en-US" i="1" smtClean="0">
                                      <a:latin typeface="Cambria Math" panose="02040503050406030204" pitchFamily="18" charset="0"/>
                                    </a:rPr>
                                    <m:t>⊥</m:t>
                                  </m:r>
                                </m:sup>
                              </m:sSubSup>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𝑦</m:t>
                                      </m:r>
                                    </m:e>
                                  </m:acc>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num>
                            <m:den>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𝑥</m:t>
                                      </m:r>
                                    </m:e>
                                  </m:acc>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den>
                          </m:f>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其中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𝑠</m:t>
                        </m:r>
                      </m:e>
                      <m:sub>
                        <m:r>
                          <a:rPr lang="en-US" altLang="zh-CN" i="1" dirty="0" err="1">
                            <a:latin typeface="Cambria Math" panose="02040503050406030204" pitchFamily="18" charset="0"/>
                          </a:rPr>
                          <m:t>𝑛</m:t>
                        </m:r>
                      </m:sub>
                    </m:sSub>
                    <m:r>
                      <a:rPr lang="en-US" altLang="zh-CN" i="1" dirty="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m:rPr>
                            <m:sty m:val="p"/>
                          </m:rPr>
                          <a:rPr lang="en-US" altLang="zh-CN" i="1" dirty="0" smtClean="0">
                            <a:latin typeface="Cambria Math" panose="02040503050406030204" pitchFamily="18" charset="0"/>
                          </a:rPr>
                          <m:t>L</m:t>
                        </m:r>
                      </m:den>
                    </m:f>
                    <m:nary>
                      <m:naryPr>
                        <m:chr m:val="∑"/>
                        <m:supHide m:val="on"/>
                        <m:ctrlPr>
                          <a:rPr lang="en-US" altLang="zh-CN" b="0" i="1" dirty="0" smtClean="0">
                            <a:latin typeface="Cambria Math" panose="02040503050406030204" pitchFamily="18" charset="0"/>
                          </a:rPr>
                        </m:ctrlPr>
                      </m:naryPr>
                      <m:sub>
                        <m:r>
                          <m:rPr>
                            <m:sty m:val="p"/>
                          </m:rPr>
                          <a:rPr lang="en-US" altLang="zh-CN" b="0" i="1" dirty="0" smtClean="0">
                            <a:latin typeface="Cambria Math" panose="02040503050406030204" pitchFamily="18" charset="0"/>
                          </a:rPr>
                          <m:t>ℓ</m:t>
                        </m:r>
                      </m:sub>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𝑠</m:t>
                            </m:r>
                          </m:e>
                          <m:sub>
                            <m:r>
                              <m:rPr>
                                <m:sty m:val="p"/>
                              </m:rPr>
                              <a:rPr lang="en-US" altLang="zh-CN" b="0" i="1" dirty="0" smtClean="0">
                                <a:latin typeface="Cambria Math" panose="02040503050406030204" pitchFamily="18" charset="0"/>
                              </a:rPr>
                              <m:t>ℓ</m:t>
                            </m:r>
                            <m:r>
                              <a:rPr lang="en-US" altLang="zh-CN" b="0" i="1" dirty="0" smtClean="0">
                                <a:latin typeface="Cambria Math" panose="02040503050406030204" pitchFamily="18" charset="0"/>
                              </a:rPr>
                              <m:t>𝑛</m:t>
                            </m:r>
                          </m:sub>
                        </m:sSub>
                      </m:e>
                    </m:nary>
                  </m:oMath>
                </a14:m>
                <a:r>
                  <a:rPr lang="en-US" altLang="zh-CN" dirty="0"/>
                  <a:t> </a:t>
                </a:r>
                <a:r>
                  <a:rPr lang="zh-CN" altLang="en-US" dirty="0"/>
                  <a:t>是捕捉冲击 </a:t>
                </a:r>
                <a:r>
                  <a:rPr lang="en-US" altLang="zh-CN" dirty="0"/>
                  <a:t>n</a:t>
                </a:r>
                <a:r>
                  <a:rPr lang="zh-CN" altLang="en-US" dirty="0"/>
                  <a:t>平均重要性的权重，</a:t>
                </a:r>
                <a14:m>
                  <m:oMath xmlns:m="http://schemas.openxmlformats.org/officeDocument/2006/math">
                    <m:r>
                      <a:rPr lang="en-US"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𝑣</m:t>
                            </m:r>
                          </m:e>
                        </m:acc>
                      </m:e>
                      <m:sub>
                        <m:r>
                          <a:rPr lang="en-US" altLang="zh-CN" i="1" dirty="0">
                            <a:latin typeface="Cambria Math" panose="02040503050406030204" pitchFamily="18" charset="0"/>
                          </a:rPr>
                          <m:t>𝑛</m:t>
                        </m:r>
                      </m:sub>
                    </m:sSub>
                    <m:r>
                      <a:rPr lang="en-US" altLang="zh-CN" i="1" dirty="0">
                        <a:latin typeface="Cambria Math" panose="02040503050406030204" pitchFamily="18" charset="0"/>
                      </a:rPr>
                      <m:t>=</m:t>
                    </m:r>
                    <m:f>
                      <m:fPr>
                        <m:ctrlPr>
                          <a:rPr lang="en-US" altLang="zh-CN" i="1" dirty="0" smtClean="0">
                            <a:latin typeface="Cambria Math" panose="02040503050406030204" pitchFamily="18" charset="0"/>
                          </a:rPr>
                        </m:ctrlPr>
                      </m:fPr>
                      <m:num>
                        <m:sSub>
                          <m:sSubPr>
                            <m:ctrlPr>
                              <a:rPr lang="en-US" altLang="zh-CN" i="1" dirty="0" smtClean="0">
                                <a:latin typeface="Cambria Math" panose="02040503050406030204" pitchFamily="18" charset="0"/>
                              </a:rPr>
                            </m:ctrlPr>
                          </m:sSubPr>
                          <m:e>
                            <m:nary>
                              <m:naryPr>
                                <m:chr m:val="∑"/>
                                <m:supHide m:val="on"/>
                                <m:ctrlPr>
                                  <a:rPr lang="en-US" altLang="zh-CN" i="1" dirty="0" smtClean="0">
                                    <a:latin typeface="Cambria Math" panose="02040503050406030204" pitchFamily="18" charset="0"/>
                                  </a:rPr>
                                </m:ctrlPr>
                              </m:naryPr>
                              <m:sub>
                                <m:r>
                                  <m:rPr>
                                    <m:sty m:val="p"/>
                                  </m:rPr>
                                  <a:rPr lang="en-US" altLang="zh-CN" i="1" dirty="0" smtClean="0">
                                    <a:latin typeface="Cambria Math" panose="02040503050406030204" pitchFamily="18" charset="0"/>
                                  </a:rPr>
                                  <m:t>ℓ</m:t>
                                </m:r>
                              </m:sub>
                              <m:sup/>
                              <m:e>
                                <m:r>
                                  <a:rPr lang="en-US" altLang="zh-CN" i="1" dirty="0">
                                    <a:latin typeface="Cambria Math" panose="02040503050406030204" pitchFamily="18" charset="0"/>
                                  </a:rPr>
                                  <m:t>𝑠</m:t>
                                </m:r>
                              </m:e>
                            </m:nary>
                          </m:e>
                          <m:sub>
                            <m:r>
                              <m:rPr>
                                <m:sty m:val="p"/>
                              </m:rPr>
                              <a:rPr lang="en-US" altLang="zh-CN" i="1" dirty="0">
                                <a:latin typeface="Cambria Math" panose="02040503050406030204" pitchFamily="18" charset="0"/>
                              </a:rPr>
                              <m:t>ℓ</m:t>
                            </m:r>
                            <m:r>
                              <a:rPr lang="en-US" altLang="zh-CN" i="1" dirty="0">
                                <a:latin typeface="Cambria Math" panose="02040503050406030204" pitchFamily="18" charset="0"/>
                              </a:rPr>
                              <m:t> </m:t>
                            </m:r>
                            <m:r>
                              <a:rPr lang="en-US" altLang="zh-CN" i="1" dirty="0">
                                <a:latin typeface="Cambria Math" panose="02040503050406030204" pitchFamily="18" charset="0"/>
                              </a:rPr>
                              <m:t>𝑛</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m:rPr>
                                <m:sty m:val="p"/>
                              </m:rPr>
                              <a:rPr lang="en-US" altLang="zh-CN" i="1" dirty="0" smtClean="0">
                                <a:latin typeface="Cambria Math" panose="02040503050406030204" pitchFamily="18" charset="0"/>
                              </a:rPr>
                              <m:t>ℓ</m:t>
                            </m:r>
                          </m:sub>
                        </m:sSub>
                      </m:num>
                      <m:den>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𝑙</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𝑠</m:t>
                                </m:r>
                              </m:e>
                              <m:sub>
                                <m:r>
                                  <m:rPr>
                                    <m:sty m:val="p"/>
                                  </m:rPr>
                                  <a:rPr lang="en-US" altLang="zh-CN" i="1" dirty="0">
                                    <a:latin typeface="Cambria Math" panose="02040503050406030204" pitchFamily="18" charset="0"/>
                                  </a:rPr>
                                  <m:t>ℓ</m:t>
                                </m:r>
                                <m:r>
                                  <a:rPr lang="en-US" altLang="zh-CN" i="1" dirty="0">
                                    <a:latin typeface="Cambria Math" panose="02040503050406030204" pitchFamily="18" charset="0"/>
                                  </a:rPr>
                                  <m:t>𝑛</m:t>
                                </m:r>
                              </m:sub>
                            </m:sSub>
                          </m:e>
                        </m:nary>
                      </m:den>
                    </m:f>
                  </m:oMath>
                </a14:m>
                <a:r>
                  <a:rPr lang="en-US" altLang="zh-CN" dirty="0"/>
                  <a:t> </a:t>
                </a:r>
                <a:r>
                  <a:rPr lang="zh-CN" altLang="en-US" dirty="0"/>
                  <a:t>是对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𝑣</m:t>
                        </m:r>
                      </m:e>
                      <m:sub>
                        <m:r>
                          <m:rPr>
                            <m:sty m:val="p"/>
                          </m:rPr>
                          <a:rPr lang="en-US" altLang="zh-CN" i="1" dirty="0" smtClean="0">
                            <a:latin typeface="Cambria Math" panose="02040503050406030204" pitchFamily="18" charset="0"/>
                          </a:rPr>
                          <m:t>ℓ</m:t>
                        </m:r>
                      </m:sub>
                    </m:sSub>
                  </m:oMath>
                </a14:m>
                <a:r>
                  <a:rPr lang="en-US" altLang="zh-CN" dirty="0"/>
                  <a:t> </a:t>
                </a:r>
                <a:r>
                  <a:rPr lang="zh-CN" altLang="en-US" dirty="0"/>
                  <a:t>的暴露加权平均。</a:t>
                </a:r>
                <a:endParaRPr lang="en-US" altLang="zh-CN" dirty="0"/>
              </a:p>
              <a:p>
                <a:pPr>
                  <a:lnSpc>
                    <a:spcPct val="120000"/>
                  </a:lnSpc>
                </a:pPr>
                <a:r>
                  <a:rPr lang="en-US" altLang="zh-CN" dirty="0"/>
                  <a:t>IV </a:t>
                </a:r>
                <a:r>
                  <a:rPr lang="zh-CN" altLang="en-US" dirty="0"/>
                  <a:t>估计等价于下列“行业层面”加权回归，权重为𝑠𝑛：</a:t>
                </a:r>
                <a:endParaRPr lang="en-US" altLang="zh-CN" dirty="0"/>
              </a:p>
              <a:p>
                <a:pPr marL="0" indent="0">
                  <a:lnSpc>
                    <a:spcPct val="120000"/>
                  </a:lnSpc>
                  <a:buNone/>
                </a:pPr>
                <a14:m>
                  <m:oMathPara xmlns:m="http://schemas.openxmlformats.org/officeDocument/2006/math">
                    <m:oMath>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𝑦</m:t>
                              </m:r>
                            </m:e>
                          </m:acc>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𝑥</m:t>
                              </m:r>
                            </m:e>
                          </m:acc>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𝜀</m:t>
                              </m:r>
                            </m:e>
                          </m:acc>
                        </m:e>
                        <m:sub>
                          <m:r>
                            <a:rPr lang="zh-CN" altLang="en-US" i="1" smtClean="0">
                              <a:latin typeface="Cambria Math" panose="02040503050406030204" pitchFamily="18" charset="0"/>
                            </a:rPr>
                            <m:t>𝑛</m:t>
                          </m:r>
                        </m:sub>
                      </m:sSub>
                    </m:oMath>
                  </m:oMathPara>
                </a14:m>
                <a:endParaRPr lang="en-US" altLang="zh-CN" dirty="0"/>
              </a:p>
              <a:p>
                <a:pPr>
                  <a:lnSpc>
                    <a:spcPct val="120000"/>
                  </a:lnSpc>
                </a:pPr>
                <a14:m>
                  <m:oMath xmlns:m="http://schemas.openxmlformats.org/officeDocument/2006/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𝛽</m:t>
                        </m:r>
                      </m:e>
                    </m:acc>
                  </m:oMath>
                </a14:m>
                <a:r>
                  <a:rPr lang="zh-CN" altLang="en-US" dirty="0"/>
                  <a:t>是一致估计如果满足下面两个识别条件</a:t>
                </a:r>
                <a:r>
                  <a:rPr lang="en-US" altLang="zh-CN" dirty="0"/>
                  <a:t>……</a:t>
                </a:r>
                <a:endParaRPr lang="zh-CN" altLang="en-US" dirty="0"/>
              </a:p>
            </p:txBody>
          </p:sp>
        </mc:Choice>
        <mc:Fallback xmlns="">
          <p:sp>
            <p:nvSpPr>
              <p:cNvPr id="3" name="内容占位符 2">
                <a:extLst>
                  <a:ext uri="{FF2B5EF4-FFF2-40B4-BE49-F238E27FC236}">
                    <a16:creationId xmlns:a16="http://schemas.microsoft.com/office/drawing/2014/main" id="{56F48688-4899-C63B-5ACA-F08435B5A398}"/>
                  </a:ext>
                </a:extLst>
              </p:cNvPr>
              <p:cNvSpPr>
                <a:spLocks noGrp="1" noRot="1" noChangeAspect="1" noMove="1" noResize="1" noEditPoints="1" noAdjustHandles="1" noChangeArrowheads="1" noChangeShapeType="1" noTextEdit="1"/>
              </p:cNvSpPr>
              <p:nvPr>
                <p:ph idx="1"/>
              </p:nvPr>
            </p:nvSpPr>
            <p:spPr>
              <a:blipFill>
                <a:blip r:embed="rId2"/>
                <a:stretch>
                  <a:fillRect l="-773" t="-8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D46A6F6-DF93-F473-4EC6-635C055D0A0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B7B639F-C5C8-58D7-E5DC-658D6BC147E3}"/>
              </a:ext>
            </a:extLst>
          </p:cNvPr>
          <p:cNvSpPr>
            <a:spLocks noGrp="1"/>
          </p:cNvSpPr>
          <p:nvPr>
            <p:ph type="sldNum" sz="quarter" idx="12"/>
          </p:nvPr>
        </p:nvSpPr>
        <p:spPr/>
        <p:txBody>
          <a:bodyPr/>
          <a:lstStyle/>
          <a:p>
            <a:fld id="{D41FC515-8169-4A29-AA56-DBE520D5741B}" type="slidenum">
              <a:rPr lang="zh-CN" altLang="en-US" smtClean="0"/>
              <a:t>86</a:t>
            </a:fld>
            <a:endParaRPr lang="zh-CN" altLang="en-US"/>
          </a:p>
        </p:txBody>
      </p:sp>
    </p:spTree>
    <p:extLst>
      <p:ext uri="{BB962C8B-B14F-4D97-AF65-F5344CB8AC3E}">
        <p14:creationId xmlns:p14="http://schemas.microsoft.com/office/powerpoint/2010/main" val="42327041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74C20E-4FAB-476D-C225-752B288E9A91}"/>
              </a:ext>
            </a:extLst>
          </p:cNvPr>
          <p:cNvSpPr>
            <a:spLocks noGrp="1"/>
          </p:cNvSpPr>
          <p:nvPr>
            <p:ph type="title"/>
          </p:nvPr>
        </p:nvSpPr>
        <p:spPr/>
        <p:txBody>
          <a:bodyPr/>
          <a:lstStyle/>
          <a:p>
            <a:r>
              <a:rPr lang="en-US" altLang="zh-CN" dirty="0"/>
              <a:t>SSIV</a:t>
            </a:r>
            <a:r>
              <a:rPr lang="zh-CN" altLang="en-US" dirty="0"/>
              <a:t>：冲击外生性</a:t>
            </a:r>
            <a:br>
              <a:rPr lang="zh-CN" altLang="en-US" dirty="0"/>
            </a:br>
            <a:r>
              <a:rPr lang="zh-CN" altLang="en-US" sz="2400" dirty="0"/>
              <a:t>识别假设</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E4044C5-A4E6-E88B-210C-F33577EB7D03}"/>
                  </a:ext>
                </a:extLst>
              </p:cNvPr>
              <p:cNvSpPr>
                <a:spLocks noGrp="1"/>
              </p:cNvSpPr>
              <p:nvPr>
                <p:ph idx="1"/>
              </p:nvPr>
            </p:nvSpPr>
            <p:spPr/>
            <p:txBody>
              <a:bodyPr>
                <a:normAutofit fontScale="70000" lnSpcReduction="20000"/>
              </a:bodyPr>
              <a:lstStyle/>
              <a:p>
                <a:pPr>
                  <a:lnSpc>
                    <a:spcPct val="110000"/>
                  </a:lnSpc>
                </a:pPr>
                <a:r>
                  <a:rPr lang="en-US" altLang="zh-CN" dirty="0"/>
                  <a:t>A1 (Quasi-random shock assignment)</a:t>
                </a:r>
                <a:r>
                  <a:rPr lang="zh-CN" altLang="en-US" dirty="0"/>
                  <a:t>：</a:t>
                </a:r>
                <a14:m>
                  <m:oMath xmlns:m="http://schemas.openxmlformats.org/officeDocument/2006/math">
                    <m:r>
                      <a:rPr lang="pt-BR" altLang="zh-CN" i="1">
                        <a:latin typeface="Cambria Math" panose="02040503050406030204" pitchFamily="18" charset="0"/>
                      </a:rPr>
                      <m:t>𝐸</m:t>
                    </m:r>
                    <m:d>
                      <m:dPr>
                        <m:begChr m:val="["/>
                        <m:endChr m:val="]"/>
                        <m:ctrlPr>
                          <a:rPr lang="pt-BR" altLang="zh-CN" i="1">
                            <a:latin typeface="Cambria Math" panose="02040503050406030204" pitchFamily="18" charset="0"/>
                          </a:rPr>
                        </m:ctrlPr>
                      </m:dPr>
                      <m:e>
                        <m:sSub>
                          <m:sSubPr>
                            <m:ctrlPr>
                              <a:rPr lang="pt-BR" altLang="zh-CN" i="1">
                                <a:latin typeface="Cambria Math" panose="02040503050406030204" pitchFamily="18" charset="0"/>
                              </a:rPr>
                            </m:ctrlPr>
                          </m:sSubPr>
                          <m:e>
                            <m:r>
                              <a:rPr lang="pt-BR" altLang="zh-CN" i="1">
                                <a:latin typeface="Cambria Math" panose="02040503050406030204" pitchFamily="18" charset="0"/>
                              </a:rPr>
                              <m:t>𝑔</m:t>
                            </m:r>
                          </m:e>
                          <m:sub>
                            <m:r>
                              <a:rPr lang="pt-BR" altLang="zh-CN" i="1">
                                <a:latin typeface="Cambria Math" panose="02040503050406030204" pitchFamily="18" charset="0"/>
                              </a:rPr>
                              <m:t>𝑛</m:t>
                            </m:r>
                          </m:sub>
                        </m:sSub>
                      </m:e>
                      <m:e>
                        <m:acc>
                          <m:accPr>
                            <m:chr m:val="̅"/>
                            <m:ctrlPr>
                              <a:rPr lang="pt-BR" altLang="zh-CN" i="1" smtClean="0">
                                <a:latin typeface="Cambria Math" panose="02040503050406030204" pitchFamily="18" charset="0"/>
                              </a:rPr>
                            </m:ctrlPr>
                          </m:accPr>
                          <m:e>
                            <m:sSub>
                              <m:sSubPr>
                                <m:ctrlPr>
                                  <a:rPr lang="pt-BR" altLang="zh-CN" i="1" smtClean="0">
                                    <a:latin typeface="Cambria Math" panose="02040503050406030204" pitchFamily="18" charset="0"/>
                                  </a:rPr>
                                </m:ctrlPr>
                              </m:sSubPr>
                              <m:e>
                                <m:r>
                                  <a:rPr lang="pt-BR" altLang="zh-CN" i="1" smtClean="0">
                                    <a:latin typeface="Cambria Math" panose="02040503050406030204" pitchFamily="18" charset="0"/>
                                  </a:rPr>
                                  <m:t>𝜀</m:t>
                                </m:r>
                              </m:e>
                              <m:sub>
                                <m:r>
                                  <a:rPr lang="pt-BR" altLang="zh-CN" i="1">
                                    <a:latin typeface="Cambria Math" panose="02040503050406030204" pitchFamily="18" charset="0"/>
                                  </a:rPr>
                                  <m:t>𝑛</m:t>
                                </m:r>
                              </m:sub>
                            </m:sSub>
                          </m:e>
                        </m:acc>
                        <m:r>
                          <a:rPr lang="pt-BR" altLang="zh-CN" i="1">
                            <a:latin typeface="Cambria Math" panose="02040503050406030204" pitchFamily="18" charset="0"/>
                          </a:rPr>
                          <m:t>,</m:t>
                        </m:r>
                        <m:sSub>
                          <m:sSubPr>
                            <m:ctrlPr>
                              <a:rPr lang="pt-BR" altLang="zh-CN" i="1">
                                <a:latin typeface="Cambria Math" panose="02040503050406030204" pitchFamily="18" charset="0"/>
                              </a:rPr>
                            </m:ctrlPr>
                          </m:sSubPr>
                          <m:e>
                            <m:r>
                              <a:rPr lang="pt-BR" altLang="zh-CN" i="1">
                                <a:latin typeface="Cambria Math" panose="02040503050406030204" pitchFamily="18" charset="0"/>
                              </a:rPr>
                              <m:t>𝑠</m:t>
                            </m:r>
                          </m:e>
                          <m:sub>
                            <m:r>
                              <a:rPr lang="pt-BR" altLang="zh-CN" i="1">
                                <a:latin typeface="Cambria Math" panose="02040503050406030204" pitchFamily="18" charset="0"/>
                              </a:rPr>
                              <m:t>𝑛</m:t>
                            </m:r>
                          </m:sub>
                        </m:sSub>
                      </m:e>
                    </m:d>
                    <m:r>
                      <a:rPr lang="pt-BR" altLang="zh-CN" i="1">
                        <a:latin typeface="Cambria Math" panose="02040503050406030204" pitchFamily="18" charset="0"/>
                      </a:rPr>
                      <m:t>=</m:t>
                    </m:r>
                    <m:r>
                      <a:rPr lang="pt-BR" altLang="zh-CN" i="1" smtClean="0">
                        <a:latin typeface="Cambria Math" panose="02040503050406030204" pitchFamily="18" charset="0"/>
                      </a:rPr>
                      <m:t>𝜇</m:t>
                    </m:r>
                    <m:r>
                      <a:rPr lang="pt-BR" altLang="zh-CN" i="1">
                        <a:latin typeface="Cambria Math" panose="02040503050406030204" pitchFamily="18" charset="0"/>
                      </a:rPr>
                      <m:t> </m:t>
                    </m:r>
                    <m:r>
                      <a:rPr lang="pt-BR" altLang="zh-CN" i="1">
                        <a:latin typeface="Cambria Math" panose="02040503050406030204" pitchFamily="18" charset="0"/>
                      </a:rPr>
                      <m:t>𝑓𝑜𝑟</m:t>
                    </m:r>
                    <m:r>
                      <a:rPr lang="pt-BR" altLang="zh-CN" i="1">
                        <a:latin typeface="Cambria Math" panose="02040503050406030204" pitchFamily="18" charset="0"/>
                      </a:rPr>
                      <m:t> </m:t>
                    </m:r>
                    <m:r>
                      <a:rPr lang="pt-BR" altLang="zh-CN" i="1">
                        <a:latin typeface="Cambria Math" panose="02040503050406030204" pitchFamily="18" charset="0"/>
                      </a:rPr>
                      <m:t>𝑎𝑙𝑙</m:t>
                    </m:r>
                    <m:r>
                      <a:rPr lang="pt-BR" altLang="zh-CN" i="1">
                        <a:latin typeface="Cambria Math" panose="02040503050406030204" pitchFamily="18" charset="0"/>
                      </a:rPr>
                      <m:t> </m:t>
                    </m:r>
                    <m:r>
                      <a:rPr lang="pt-BR" altLang="zh-CN" i="1">
                        <a:latin typeface="Cambria Math" panose="02040503050406030204" pitchFamily="18" charset="0"/>
                      </a:rPr>
                      <m:t>𝑛</m:t>
                    </m:r>
                    <m:r>
                      <a:rPr lang="en-US" altLang="zh-CN" b="0" i="1" smtClean="0">
                        <a:latin typeface="Cambria Math" panose="02040503050406030204" pitchFamily="18" charset="0"/>
                      </a:rPr>
                      <m:t>.</m:t>
                    </m:r>
                  </m:oMath>
                </a14:m>
                <a:endParaRPr lang="en-US" altLang="zh-CN" dirty="0"/>
              </a:p>
              <a:p>
                <a:pPr>
                  <a:lnSpc>
                    <a:spcPct val="110000"/>
                  </a:lnSpc>
                </a:pPr>
                <a:r>
                  <a:rPr lang="zh-CN" altLang="en-US" dirty="0"/>
                  <a:t>意味着</a:t>
                </a:r>
                <a:r>
                  <a:rPr lang="en-US" altLang="zh-CN" dirty="0"/>
                  <a:t>SSIV </a:t>
                </a:r>
                <a:r>
                  <a:rPr lang="zh-CN" altLang="en-US" dirty="0"/>
                  <a:t>外生性，</a:t>
                </a:r>
                <a:endParaRPr lang="en-US" altLang="zh-CN" dirty="0"/>
              </a:p>
              <a:p>
                <a:pPr>
                  <a:lnSpc>
                    <a:spcPct val="110000"/>
                  </a:lnSpc>
                </a:pP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𝜇</m:t>
                    </m:r>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𝜇</m:t>
                        </m:r>
                      </m:e>
                    </m:d>
                    <m:r>
                      <a:rPr lang="zh-CN" altLang="en-US" i="1" smtClean="0">
                        <a:latin typeface="Cambria Math" panose="02040503050406030204" pitchFamily="18" charset="0"/>
                      </a:rPr>
                      <m:t>=</m:t>
                    </m:r>
                    <m:r>
                      <a:rPr lang="zh-CN" altLang="en-US" i="1" smtClean="0">
                        <a:latin typeface="Cambria Math" panose="02040503050406030204" pitchFamily="18" charset="0"/>
                      </a:rPr>
                      <m:t>𝜇</m:t>
                    </m:r>
                    <m:r>
                      <a:rPr lang="zh-CN" altLang="en-US" i="1" smtClean="0">
                        <a:latin typeface="Cambria Math" panose="02040503050406030204" pitchFamily="18" charset="0"/>
                      </a:rPr>
                      <m:t>+</m:t>
                    </m:r>
                    <m:r>
                      <m:rPr>
                        <m:nor/>
                      </m:rPr>
                      <a:rPr lang="zh-CN" altLang="en-US" i="0" smtClean="0">
                        <a:latin typeface="Cambria Math" panose="02040503050406030204" pitchFamily="18" charset="0"/>
                      </a:rPr>
                      <m:t>``noise′′</m:t>
                    </m:r>
                  </m:oMath>
                </a14:m>
                <a:endParaRPr lang="en-US" altLang="zh-CN" dirty="0"/>
              </a:p>
              <a:p>
                <a:pPr>
                  <a:lnSpc>
                    <a:spcPct val="110000"/>
                  </a:lnSpc>
                </a:pPr>
                <a14:m>
                  <m:oMath xmlns:m="http://schemas.openxmlformats.org/officeDocument/2006/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e>
                            </m:nary>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𝑛</m:t>
                                </m:r>
                              </m:sub>
                            </m:sSub>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𝜀</m:t>
                                    </m:r>
                                  </m:e>
                                </m:acc>
                              </m:e>
                              <m:sub>
                                <m:r>
                                  <a:rPr lang="zh-CN" altLang="en-US" i="1" smtClean="0">
                                    <a:latin typeface="Cambria Math" panose="02040503050406030204" pitchFamily="18" charset="0"/>
                                  </a:rPr>
                                  <m:t>𝑛</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r>
                                  <a:rPr lang="zh-CN" altLang="en-US" i="1" smtClean="0">
                                    <a:latin typeface="Cambria Math" panose="02040503050406030204" pitchFamily="18" charset="0"/>
                                  </a:rPr>
                                  <m:t>𝐸</m:t>
                                </m:r>
                              </m:e>
                            </m:nary>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𝜀</m:t>
                                        </m:r>
                                      </m:e>
                                    </m:acc>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𝑛</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𝑛</m:t>
                                </m:r>
                              </m:sub>
                            </m:sSub>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𝜀</m:t>
                                    </m:r>
                                  </m:e>
                                </m:acc>
                              </m:e>
                              <m:sub>
                                <m:r>
                                  <a:rPr lang="zh-CN" altLang="en-US" i="1" smtClean="0">
                                    <a:latin typeface="Cambria Math" panose="02040503050406030204" pitchFamily="18" charset="0"/>
                                  </a:rPr>
                                  <m:t>𝑛</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𝜇</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𝑛</m:t>
                                    </m:r>
                                  </m:sub>
                                </m:sSub>
                              </m:e>
                            </m:nary>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𝜀</m:t>
                                    </m:r>
                                  </m:e>
                                </m:acc>
                              </m:e>
                              <m:sub>
                                <m:r>
                                  <a:rPr lang="zh-CN" altLang="en-US" i="1" smtClean="0">
                                    <a:latin typeface="Cambria Math" panose="02040503050406030204" pitchFamily="18" charset="0"/>
                                  </a:rPr>
                                  <m:t>𝑛</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𝜇</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f>
                              <m:fPr>
                                <m:ctrlPr>
                                  <a:rPr lang="zh-CN" altLang="en-US" i="1" smtClean="0">
                                    <a:latin typeface="Cambria Math" panose="02040503050406030204" pitchFamily="18" charset="0"/>
                                  </a:rPr>
                                </m:ctrlPr>
                              </m:fPr>
                              <m:num>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m:t>
                                    </m:r>
                                  </m:sub>
                                </m:sSub>
                              </m:num>
                              <m:den>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den>
                            </m:f>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𝜇</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e>
                            </m:nary>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𝜇</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𝐿</m:t>
                                </m:r>
                              </m:den>
                            </m:f>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m:t>
                                    </m:r>
                                  </m:sub>
                                </m:sSub>
                              </m:e>
                            </m:nary>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sub>
                                </m:sSub>
                              </m:e>
                            </m:nary>
                          </m:e>
                        </m:d>
                        <m:r>
                          <a:rPr lang="zh-CN" altLang="en-US" i="1" smtClean="0">
                            <a:latin typeface="Cambria Math" panose="02040503050406030204" pitchFamily="18" charset="0"/>
                          </a:rPr>
                          <m:t>=0</m:t>
                        </m:r>
                      </m:e>
                    </m:eqArr>
                  </m:oMath>
                </a14:m>
                <a:endParaRPr lang="en-US" altLang="zh-CN" dirty="0"/>
              </a:p>
              <a:p>
                <a:pPr>
                  <a:lnSpc>
                    <a:spcPct val="110000"/>
                  </a:lnSpc>
                </a:pPr>
                <a:r>
                  <a:rPr lang="zh-CN" altLang="en-US" dirty="0"/>
                  <a:t>因为</a:t>
                </a:r>
                <a14:m>
                  <m:oMath xmlns:m="http://schemas.openxmlformats.org/officeDocument/2006/math">
                    <m:nary>
                      <m:naryPr>
                        <m:chr m:val="∑"/>
                        <m:supHide m:val="on"/>
                        <m:ctrlPr>
                          <a:rPr lang="en-US" altLang="zh-CN" i="1" dirty="0" err="1">
                            <a:latin typeface="Cambria Math" panose="02040503050406030204" pitchFamily="18" charset="0"/>
                          </a:rPr>
                        </m:ctrlPr>
                      </m:naryPr>
                      <m:sub>
                        <m:r>
                          <a:rPr lang="en-US" altLang="zh-CN" i="1" dirty="0" err="1">
                            <a:latin typeface="Cambria Math" panose="02040503050406030204" pitchFamily="18" charset="0"/>
                          </a:rPr>
                          <m:t>𝑛</m:t>
                        </m:r>
                      </m:sub>
                      <m:sup/>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𝑠</m:t>
                            </m:r>
                          </m:e>
                          <m:sub>
                            <m:r>
                              <m:rPr>
                                <m:sty m:val="p"/>
                              </m:rPr>
                              <a:rPr lang="en-US" altLang="zh-CN" i="1" dirty="0">
                                <a:latin typeface="Cambria Math" panose="02040503050406030204" pitchFamily="18" charset="0"/>
                              </a:rPr>
                              <m:t>ln</m:t>
                            </m:r>
                          </m:sub>
                        </m:sSub>
                      </m:e>
                    </m:nary>
                    <m:r>
                      <a:rPr lang="en-US" altLang="zh-CN" i="1" dirty="0">
                        <a:latin typeface="Cambria Math" panose="02040503050406030204" pitchFamily="18" charset="0"/>
                      </a:rPr>
                      <m:t>=1</m:t>
                    </m:r>
                  </m:oMath>
                </a14:m>
                <a:r>
                  <a:rPr lang="zh-CN" altLang="en-US" dirty="0"/>
                  <a:t>，</a:t>
                </a:r>
                <a14:m>
                  <m:oMath xmlns:m="http://schemas.openxmlformats.org/officeDocument/2006/math">
                    <m:r>
                      <a:rPr lang="en-US" altLang="zh-CN" i="1" dirty="0" smtClean="0">
                        <a:latin typeface="Cambria Math" panose="02040503050406030204" pitchFamily="18" charset="0"/>
                      </a:rPr>
                      <m:t>𝐸</m:t>
                    </m:r>
                    <m:r>
                      <a:rPr lang="en-US" altLang="zh-CN" i="1" dirty="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𝜀</m:t>
                        </m:r>
                      </m:e>
                      <m:sub>
                        <m:r>
                          <a:rPr lang="en-US" altLang="zh-CN" i="1" dirty="0" err="1">
                            <a:latin typeface="Cambria Math" panose="02040503050406030204" pitchFamily="18" charset="0"/>
                          </a:rPr>
                          <m:t>𝑙</m:t>
                        </m:r>
                      </m:sub>
                    </m:sSub>
                    <m:r>
                      <a:rPr lang="en-US" altLang="zh-CN" i="1" dirty="0">
                        <a:latin typeface="Cambria Math" panose="02040503050406030204" pitchFamily="18" charset="0"/>
                      </a:rPr>
                      <m:t>]=0</m:t>
                    </m:r>
                  </m:oMath>
                </a14:m>
                <a:r>
                  <a:rPr lang="zh-CN" altLang="en-US" dirty="0"/>
                  <a:t>。</a:t>
                </a:r>
              </a:p>
            </p:txBody>
          </p:sp>
        </mc:Choice>
        <mc:Fallback xmlns="">
          <p:sp>
            <p:nvSpPr>
              <p:cNvPr id="3" name="内容占位符 2">
                <a:extLst>
                  <a:ext uri="{FF2B5EF4-FFF2-40B4-BE49-F238E27FC236}">
                    <a16:creationId xmlns:a16="http://schemas.microsoft.com/office/drawing/2014/main" id="{9E4044C5-A4E6-E88B-210C-F33577EB7D03}"/>
                  </a:ext>
                </a:extLst>
              </p:cNvPr>
              <p:cNvSpPr>
                <a:spLocks noGrp="1" noRot="1" noChangeAspect="1" noMove="1" noResize="1" noEditPoints="1" noAdjustHandles="1" noChangeArrowheads="1" noChangeShapeType="1" noTextEdit="1"/>
              </p:cNvSpPr>
              <p:nvPr>
                <p:ph idx="1"/>
              </p:nvPr>
            </p:nvSpPr>
            <p:spPr>
              <a:blipFill>
                <a:blip r:embed="rId2"/>
                <a:stretch>
                  <a:fillRect l="-696" t="-1401" b="-476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383DA5F-401A-18AF-8D33-30FBACD916C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B1779A5-518F-8D1A-0187-6CE8A94FB629}"/>
              </a:ext>
            </a:extLst>
          </p:cNvPr>
          <p:cNvSpPr>
            <a:spLocks noGrp="1"/>
          </p:cNvSpPr>
          <p:nvPr>
            <p:ph type="sldNum" sz="quarter" idx="12"/>
          </p:nvPr>
        </p:nvSpPr>
        <p:spPr/>
        <p:txBody>
          <a:bodyPr/>
          <a:lstStyle/>
          <a:p>
            <a:fld id="{D41FC515-8169-4A29-AA56-DBE520D5741B}" type="slidenum">
              <a:rPr lang="zh-CN" altLang="en-US" smtClean="0"/>
              <a:t>87</a:t>
            </a:fld>
            <a:endParaRPr lang="zh-CN" altLang="en-US"/>
          </a:p>
        </p:txBody>
      </p:sp>
    </p:spTree>
    <p:extLst>
      <p:ext uri="{BB962C8B-B14F-4D97-AF65-F5344CB8AC3E}">
        <p14:creationId xmlns:p14="http://schemas.microsoft.com/office/powerpoint/2010/main" val="3979842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65C946-688B-6FC4-3569-33EC6D4D0683}"/>
              </a:ext>
            </a:extLst>
          </p:cNvPr>
          <p:cNvSpPr>
            <a:spLocks noGrp="1"/>
          </p:cNvSpPr>
          <p:nvPr>
            <p:ph type="title"/>
          </p:nvPr>
        </p:nvSpPr>
        <p:spPr/>
        <p:txBody>
          <a:bodyPr/>
          <a:lstStyle/>
          <a:p>
            <a:r>
              <a:rPr lang="en-US" altLang="zh-CN" dirty="0"/>
              <a:t>SSIV</a:t>
            </a:r>
            <a:r>
              <a:rPr lang="zh-CN" altLang="en-US" dirty="0"/>
              <a:t>：冲击外生性</a:t>
            </a:r>
            <a:br>
              <a:rPr lang="zh-CN" altLang="en-US" dirty="0"/>
            </a:br>
            <a:r>
              <a:rPr lang="zh-CN" altLang="en-US" sz="2400" dirty="0"/>
              <a:t>识别假设</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035CFDD-9E45-427C-BAAA-6A733A0CB6B2}"/>
                  </a:ext>
                </a:extLst>
              </p:cNvPr>
              <p:cNvSpPr>
                <a:spLocks noGrp="1"/>
              </p:cNvSpPr>
              <p:nvPr>
                <p:ph idx="1"/>
              </p:nvPr>
            </p:nvSpPr>
            <p:spPr/>
            <p:txBody>
              <a:bodyPr/>
              <a:lstStyle/>
              <a:p>
                <a:pPr>
                  <a:lnSpc>
                    <a:spcPct val="100000"/>
                  </a:lnSpc>
                </a:pPr>
                <a:r>
                  <a:rPr lang="en-US" altLang="zh-CN" dirty="0"/>
                  <a:t>A2 (Many uncorrelated shocks):</a:t>
                </a:r>
              </a:p>
              <a:p>
                <a:pPr lvl="1">
                  <a:lnSpc>
                    <a:spcPct val="100000"/>
                  </a:lnSpc>
                </a:pPr>
                <a14:m>
                  <m:oMath xmlns:m="http://schemas.openxmlformats.org/officeDocument/2006/math">
                    <m:r>
                      <a:rPr lang="en-US" altLang="zh-CN" i="1" dirty="0" smtClean="0">
                        <a:latin typeface="Cambria Math" panose="02040503050406030204" pitchFamily="18" charset="0"/>
                      </a:rPr>
                      <m:t>𝐸</m:t>
                    </m:r>
                    <m:d>
                      <m:dPr>
                        <m:begChr m:val="["/>
                        <m:endChr m:val="]"/>
                        <m:ctrlPr>
                          <a:rPr lang="en-US" altLang="zh-CN" i="1" dirty="0" err="1">
                            <a:latin typeface="Cambria Math" panose="02040503050406030204" pitchFamily="18" charset="0"/>
                          </a:rPr>
                        </m:ctrlPr>
                      </m:dPr>
                      <m:e>
                        <m:nary>
                          <m:naryPr>
                            <m:chr m:val="∑"/>
                            <m:supHide m:val="on"/>
                            <m:ctrlPr>
                              <a:rPr lang="en-US" altLang="zh-CN" i="1" dirty="0" err="1">
                                <a:latin typeface="Cambria Math" panose="02040503050406030204" pitchFamily="18" charset="0"/>
                              </a:rPr>
                            </m:ctrlPr>
                          </m:naryPr>
                          <m:sub>
                            <m:r>
                              <a:rPr lang="en-US" altLang="zh-CN" i="1" dirty="0" err="1">
                                <a:latin typeface="Cambria Math" panose="02040503050406030204" pitchFamily="18" charset="0"/>
                              </a:rPr>
                              <m:t>𝑛</m:t>
                            </m:r>
                          </m:sub>
                          <m:sup/>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𝑠</m:t>
                                </m:r>
                              </m:e>
                              <m:sub>
                                <m:r>
                                  <a:rPr lang="en-US" altLang="zh-CN" i="1" dirty="0">
                                    <a:latin typeface="Cambria Math" panose="02040503050406030204" pitchFamily="18" charset="0"/>
                                  </a:rPr>
                                  <m:t>𝑛</m:t>
                                </m:r>
                              </m:sub>
                              <m:sup>
                                <m:r>
                                  <a:rPr lang="en-US" altLang="zh-CN" i="1" dirty="0">
                                    <a:latin typeface="Cambria Math" panose="02040503050406030204" pitchFamily="18" charset="0"/>
                                  </a:rPr>
                                  <m:t>2</m:t>
                                </m:r>
                              </m:sup>
                            </m:sSubSup>
                          </m:e>
                        </m:nary>
                      </m:e>
                    </m:d>
                    <m:r>
                      <a:rPr lang="en-US" altLang="zh-CN" i="1" dirty="0" smtClean="0">
                        <a:latin typeface="Cambria Math" panose="02040503050406030204" pitchFamily="18" charset="0"/>
                      </a:rPr>
                      <m:t>→</m:t>
                    </m:r>
                    <m:r>
                      <a:rPr lang="en-US" altLang="zh-CN" i="1" dirty="0">
                        <a:latin typeface="Cambria Math" panose="02040503050406030204" pitchFamily="18" charset="0"/>
                      </a:rPr>
                      <m:t> 0</m:t>
                    </m:r>
                  </m:oMath>
                </a14:m>
                <a:r>
                  <a:rPr lang="zh-CN" altLang="en-US" dirty="0"/>
                  <a:t>（</a:t>
                </a:r>
                <a:r>
                  <a:rPr lang="en-US" altLang="zh-CN" dirty="0"/>
                  <a:t>Herfindal</a:t>
                </a:r>
                <a:r>
                  <a:rPr lang="zh-CN" altLang="en-US" dirty="0"/>
                  <a:t>指数趋近于</a:t>
                </a:r>
                <a:r>
                  <a:rPr lang="en-US" altLang="zh-CN" dirty="0"/>
                  <a:t>0</a:t>
                </a:r>
                <a:r>
                  <a:rPr lang="zh-CN" altLang="en-US" dirty="0"/>
                  <a:t>）；</a:t>
                </a:r>
                <a:endParaRPr lang="en-US" altLang="zh-CN" dirty="0"/>
              </a:p>
              <a:p>
                <a:pPr lvl="1">
                  <a:lnSpc>
                    <a:spcPct val="100000"/>
                  </a:lnSpc>
                </a:pPr>
                <a14:m>
                  <m:oMath xmlns:m="http://schemas.openxmlformats.org/officeDocument/2006/math">
                    <m:r>
                      <a:rPr lang="pt-BR" altLang="zh-CN" i="1">
                        <a:latin typeface="Cambria Math" panose="02040503050406030204" pitchFamily="18" charset="0"/>
                      </a:rPr>
                      <m:t>𝐶𝑜𝑣</m:t>
                    </m:r>
                    <m:r>
                      <a:rPr lang="pt-BR" altLang="zh-CN" i="1">
                        <a:latin typeface="Cambria Math" panose="02040503050406030204" pitchFamily="18" charset="0"/>
                      </a:rPr>
                      <m:t>(</m:t>
                    </m:r>
                    <m:sSub>
                      <m:sSubPr>
                        <m:ctrlPr>
                          <a:rPr lang="pt-BR" altLang="zh-CN" i="1">
                            <a:latin typeface="Cambria Math" panose="02040503050406030204" pitchFamily="18" charset="0"/>
                          </a:rPr>
                        </m:ctrlPr>
                      </m:sSubPr>
                      <m:e>
                        <m:r>
                          <a:rPr lang="pt-BR" altLang="zh-CN" i="1">
                            <a:latin typeface="Cambria Math" panose="02040503050406030204" pitchFamily="18" charset="0"/>
                          </a:rPr>
                          <m:t>𝑔</m:t>
                        </m:r>
                      </m:e>
                      <m:sub>
                        <m:r>
                          <a:rPr lang="pt-BR" altLang="zh-CN" i="1">
                            <a:latin typeface="Cambria Math" panose="02040503050406030204" pitchFamily="18" charset="0"/>
                          </a:rPr>
                          <m:t>𝑛</m:t>
                        </m:r>
                      </m:sub>
                    </m:sSub>
                    <m:r>
                      <a:rPr lang="pt-BR" altLang="zh-CN" i="1">
                        <a:latin typeface="Cambria Math" panose="02040503050406030204" pitchFamily="18" charset="0"/>
                      </a:rPr>
                      <m:t>, </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𝑛</m:t>
                        </m:r>
                      </m:sub>
                      <m:sup>
                        <m:r>
                          <a:rPr lang="en-US" altLang="zh-CN" b="0" i="1" smtClean="0">
                            <a:latin typeface="Cambria Math" panose="02040503050406030204" pitchFamily="18" charset="0"/>
                          </a:rPr>
                          <m:t>′</m:t>
                        </m:r>
                      </m:sup>
                    </m:sSubSup>
                    <m:r>
                      <a:rPr lang="pt-BR" altLang="zh-CN" i="1">
                        <a:latin typeface="Cambria Math" panose="02040503050406030204" pitchFamily="18" charset="0"/>
                      </a:rPr>
                      <m:t>|</m:t>
                    </m:r>
                    <m:acc>
                      <m:accPr>
                        <m:chr m:val="̅"/>
                        <m:ctrlPr>
                          <a:rPr lang="pt-BR" altLang="zh-CN" i="1" smtClean="0">
                            <a:latin typeface="Cambria Math" panose="02040503050406030204" pitchFamily="18" charset="0"/>
                          </a:rPr>
                        </m:ctrlPr>
                      </m:accPr>
                      <m:e>
                        <m:sSub>
                          <m:sSubPr>
                            <m:ctrlPr>
                              <a:rPr lang="pt-BR" altLang="zh-CN" i="1" smtClean="0">
                                <a:latin typeface="Cambria Math" panose="02040503050406030204" pitchFamily="18" charset="0"/>
                              </a:rPr>
                            </m:ctrlPr>
                          </m:sSubPr>
                          <m:e>
                            <m:r>
                              <a:rPr lang="pt-BR" altLang="zh-CN" i="1" smtClean="0">
                                <a:latin typeface="Cambria Math" panose="02040503050406030204" pitchFamily="18" charset="0"/>
                              </a:rPr>
                              <m:t>𝜀</m:t>
                            </m:r>
                          </m:e>
                          <m:sub>
                            <m:r>
                              <a:rPr lang="pt-BR" altLang="zh-CN" i="1">
                                <a:latin typeface="Cambria Math" panose="02040503050406030204" pitchFamily="18" charset="0"/>
                              </a:rPr>
                              <m:t>𝑛</m:t>
                            </m:r>
                          </m:sub>
                        </m:sSub>
                      </m:e>
                    </m:acc>
                    <m:r>
                      <a:rPr lang="pt-BR" altLang="zh-CN" i="1">
                        <a:latin typeface="Cambria Math" panose="02040503050406030204" pitchFamily="18" charset="0"/>
                      </a:rPr>
                      <m:t>,</m:t>
                    </m:r>
                    <m:sSub>
                      <m:sSubPr>
                        <m:ctrlPr>
                          <a:rPr lang="pt-BR" altLang="zh-CN" i="1">
                            <a:latin typeface="Cambria Math" panose="02040503050406030204" pitchFamily="18" charset="0"/>
                          </a:rPr>
                        </m:ctrlPr>
                      </m:sSubPr>
                      <m:e>
                        <m:r>
                          <a:rPr lang="pt-BR" altLang="zh-CN" i="1">
                            <a:latin typeface="Cambria Math" panose="02040503050406030204" pitchFamily="18" charset="0"/>
                          </a:rPr>
                          <m:t>𝑠</m:t>
                        </m:r>
                      </m:e>
                      <m:sub>
                        <m:r>
                          <a:rPr lang="pt-BR" altLang="zh-CN" i="1">
                            <a:latin typeface="Cambria Math" panose="02040503050406030204" pitchFamily="18" charset="0"/>
                          </a:rPr>
                          <m:t>𝑛</m:t>
                        </m:r>
                      </m:sub>
                    </m:sSub>
                    <m:r>
                      <a:rPr lang="pt-BR" altLang="zh-CN" i="1">
                        <a:latin typeface="Cambria Math" panose="02040503050406030204" pitchFamily="18" charset="0"/>
                      </a:rPr>
                      <m:t>)=0</m:t>
                    </m:r>
                    <m:r>
                      <a:rPr lang="en-US" altLang="zh-CN" b="0" i="1" smtClean="0">
                        <a:latin typeface="Cambria Math" panose="02040503050406030204" pitchFamily="18" charset="0"/>
                      </a:rPr>
                      <m:t> </m:t>
                    </m:r>
                    <m:r>
                      <a:rPr lang="pt-BR" altLang="zh-CN" i="1">
                        <a:latin typeface="Cambria Math" panose="02040503050406030204" pitchFamily="18" charset="0"/>
                      </a:rPr>
                      <m:t>𝑓𝑜𝑟</m:t>
                    </m:r>
                    <m:r>
                      <a:rPr lang="pt-BR" altLang="zh-CN" i="1">
                        <a:latin typeface="Cambria Math" panose="02040503050406030204" pitchFamily="18" charset="0"/>
                      </a:rPr>
                      <m:t> </m:t>
                    </m:r>
                    <m:r>
                      <a:rPr lang="pt-BR" altLang="zh-CN" i="1">
                        <a:latin typeface="Cambria Math" panose="02040503050406030204" pitchFamily="18" charset="0"/>
                      </a:rPr>
                      <m:t>𝑎𝑙𝑙</m:t>
                    </m:r>
                    <m:r>
                      <a:rPr lang="pt-BR" altLang="zh-CN" i="1">
                        <a:latin typeface="Cambria Math" panose="02040503050406030204" pitchFamily="18" charset="0"/>
                      </a:rPr>
                      <m:t>  </m:t>
                    </m:r>
                    <m:r>
                      <a:rPr lang="pt-BR" altLang="zh-CN" i="1">
                        <a:latin typeface="Cambria Math" panose="02040503050406030204" pitchFamily="18" charset="0"/>
                      </a:rPr>
                      <m:t>𝑛</m:t>
                    </m:r>
                    <m:r>
                      <a:rPr lang="pt-BR" altLang="zh-CN" i="1" smtClean="0">
                        <a:latin typeface="Cambria Math" panose="02040503050406030204" pitchFamily="18" charset="0"/>
                      </a:rPr>
                      <m:t>‘≠</m:t>
                    </m:r>
                    <m:r>
                      <a:rPr lang="pt-BR" altLang="zh-CN" i="1">
                        <a:latin typeface="Cambria Math" panose="02040503050406030204" pitchFamily="18" charset="0"/>
                      </a:rPr>
                      <m:t> </m:t>
                    </m:r>
                    <m:r>
                      <a:rPr lang="pt-BR" altLang="zh-CN" i="1">
                        <a:latin typeface="Cambria Math" panose="02040503050406030204" pitchFamily="18" charset="0"/>
                      </a:rPr>
                      <m:t>𝑛</m:t>
                    </m:r>
                  </m:oMath>
                </a14:m>
                <a:r>
                  <a:rPr lang="zh-CN" altLang="en-US" dirty="0"/>
                  <a:t>。</a:t>
                </a:r>
                <a:endParaRPr lang="en-US" altLang="zh-CN" dirty="0"/>
              </a:p>
              <a:p>
                <a:pPr marL="457200" lvl="1" indent="0">
                  <a:lnSpc>
                    <a:spcPct val="100000"/>
                  </a:lnSpc>
                  <a:buNone/>
                </a:pPr>
                <a:r>
                  <a:rPr lang="zh-CN" altLang="en-US" dirty="0"/>
                  <a:t>从而保证冲击层面的大数定律成立，从而</a:t>
                </a:r>
                <a14:m>
                  <m:oMath xmlns:m="http://schemas.openxmlformats.org/officeDocument/2006/math">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𝑛</m:t>
                        </m:r>
                      </m: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𝑛</m:t>
                            </m:r>
                          </m:sub>
                        </m:sSub>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𝜀</m:t>
                                </m:r>
                              </m:e>
                              <m:sub>
                                <m:r>
                                  <a:rPr lang="en-US" altLang="zh-CN" i="1">
                                    <a:latin typeface="Cambria Math" panose="02040503050406030204" pitchFamily="18" charset="0"/>
                                  </a:rPr>
                                  <m:t>𝑛</m:t>
                                </m:r>
                              </m:sub>
                            </m:sSub>
                          </m:e>
                        </m:acc>
                      </m:e>
                    </m:nary>
                    <m:sSup>
                      <m:sSupPr>
                        <m:ctrlPr>
                          <a:rPr lang="en-US" altLang="zh-CN" i="1" smtClean="0">
                            <a:latin typeface="Cambria Math" panose="02040503050406030204" pitchFamily="18" charset="0"/>
                          </a:rPr>
                        </m:ctrlPr>
                      </m:sSupPr>
                      <m:e>
                        <m:r>
                          <a:rPr lang="en-US" altLang="zh-CN" i="1" smtClean="0">
                            <a:latin typeface="Cambria Math" panose="02040503050406030204" pitchFamily="18" charset="0"/>
                          </a:rPr>
                          <m:t>→</m:t>
                        </m:r>
                      </m:e>
                      <m:sup>
                        <m:r>
                          <a:rPr lang="en-US" altLang="zh-CN" b="0" i="1" smtClean="0">
                            <a:latin typeface="Cambria Math" panose="02040503050406030204" pitchFamily="18" charset="0"/>
                          </a:rPr>
                          <m:t>𝑝</m:t>
                        </m:r>
                      </m:sup>
                    </m:sSup>
                    <m:r>
                      <a:rPr lang="en-US" altLang="zh-CN" i="1">
                        <a:latin typeface="Cambria Math" panose="02040503050406030204" pitchFamily="18" charset="0"/>
                      </a:rPr>
                      <m:t>0</m:t>
                    </m:r>
                  </m:oMath>
                </a14:m>
                <a:r>
                  <a:rPr lang="zh-CN" altLang="en-US" dirty="0"/>
                  <a:t>。</a:t>
                </a:r>
              </a:p>
            </p:txBody>
          </p:sp>
        </mc:Choice>
        <mc:Fallback xmlns="">
          <p:sp>
            <p:nvSpPr>
              <p:cNvPr id="3" name="内容占位符 2">
                <a:extLst>
                  <a:ext uri="{FF2B5EF4-FFF2-40B4-BE49-F238E27FC236}">
                    <a16:creationId xmlns:a16="http://schemas.microsoft.com/office/drawing/2014/main" id="{6035CFDD-9E45-427C-BAAA-6A733A0CB6B2}"/>
                  </a:ext>
                </a:extLst>
              </p:cNvPr>
              <p:cNvSpPr>
                <a:spLocks noGrp="1" noRot="1" noChangeAspect="1" noMove="1" noResize="1" noEditPoints="1" noAdjustHandles="1" noChangeArrowheads="1" noChangeShapeType="1" noTextEdit="1"/>
              </p:cNvSpPr>
              <p:nvPr>
                <p:ph idx="1"/>
              </p:nvPr>
            </p:nvSpPr>
            <p:spPr>
              <a:blipFill>
                <a:blip r:embed="rId2"/>
                <a:stretch>
                  <a:fillRect l="-1391" t="-238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1522D27-1858-02E9-5CF3-30412CAE245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6E93D78-4090-A1EE-AEF5-C31F8D93DD2B}"/>
              </a:ext>
            </a:extLst>
          </p:cNvPr>
          <p:cNvSpPr>
            <a:spLocks noGrp="1"/>
          </p:cNvSpPr>
          <p:nvPr>
            <p:ph type="sldNum" sz="quarter" idx="12"/>
          </p:nvPr>
        </p:nvSpPr>
        <p:spPr/>
        <p:txBody>
          <a:bodyPr/>
          <a:lstStyle/>
          <a:p>
            <a:fld id="{D41FC515-8169-4A29-AA56-DBE520D5741B}" type="slidenum">
              <a:rPr lang="zh-CN" altLang="en-US" smtClean="0"/>
              <a:t>88</a:t>
            </a:fld>
            <a:endParaRPr lang="zh-CN" altLang="en-US"/>
          </a:p>
        </p:txBody>
      </p:sp>
    </p:spTree>
    <p:extLst>
      <p:ext uri="{BB962C8B-B14F-4D97-AF65-F5344CB8AC3E}">
        <p14:creationId xmlns:p14="http://schemas.microsoft.com/office/powerpoint/2010/main" val="12075217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8ECB9B-55ED-C1DE-CE34-11F7F39D2FF1}"/>
              </a:ext>
            </a:extLst>
          </p:cNvPr>
          <p:cNvSpPr>
            <a:spLocks noGrp="1"/>
          </p:cNvSpPr>
          <p:nvPr>
            <p:ph type="title"/>
          </p:nvPr>
        </p:nvSpPr>
        <p:spPr/>
        <p:txBody>
          <a:bodyPr/>
          <a:lstStyle/>
          <a:p>
            <a:r>
              <a:rPr lang="en-US" altLang="zh-CN" dirty="0"/>
              <a:t>SSIV</a:t>
            </a:r>
            <a:r>
              <a:rPr lang="zh-CN" altLang="en-US" dirty="0"/>
              <a:t>：冲击外生性</a:t>
            </a:r>
            <a:br>
              <a:rPr lang="zh-CN" altLang="en-US" dirty="0"/>
            </a:br>
            <a:r>
              <a:rPr lang="zh-CN" altLang="en-US" sz="2400" dirty="0"/>
              <a:t>不完全份额问题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44314E2-A899-E2EC-BA1B-B2BD803F4E78}"/>
                  </a:ext>
                </a:extLst>
              </p:cNvPr>
              <p:cNvSpPr>
                <a:spLocks noGrp="1"/>
              </p:cNvSpPr>
              <p:nvPr>
                <p:ph idx="1"/>
              </p:nvPr>
            </p:nvSpPr>
            <p:spPr/>
            <p:txBody>
              <a:bodyPr>
                <a:normAutofit fontScale="77500" lnSpcReduction="20000"/>
              </a:bodyPr>
              <a:lstStyle/>
              <a:p>
                <a:pPr>
                  <a:lnSpc>
                    <a:spcPct val="120000"/>
                  </a:lnSpc>
                </a:pPr>
                <a:r>
                  <a:rPr lang="zh-CN" altLang="en-US" dirty="0"/>
                  <a:t>不完全份额：到目前为止，我们假</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𝑆</m:t>
                        </m:r>
                      </m:e>
                      <m:sub>
                        <m:r>
                          <m:rPr>
                            <m:sty m:val="p"/>
                          </m:rPr>
                          <a:rPr lang="en-US" altLang="zh-CN" i="1" dirty="0" smtClean="0">
                            <a:latin typeface="Cambria Math" panose="02040503050406030204" pitchFamily="18" charset="0"/>
                          </a:rPr>
                          <m:t>ℓ</m:t>
                        </m:r>
                      </m:sub>
                    </m:sSub>
                    <m:r>
                      <a:rPr lang="en-US" altLang="zh-CN" i="1" dirty="0" smtClean="0">
                        <a:latin typeface="Cambria Math" panose="02040503050406030204" pitchFamily="18" charset="0"/>
                      </a:rPr>
                      <m:t>≡</m:t>
                    </m:r>
                    <m:nary>
                      <m:naryPr>
                        <m:chr m:val="∑"/>
                        <m:supHide m:val="on"/>
                        <m:ctrlPr>
                          <a:rPr lang="en-US" altLang="zh-CN" i="1" dirty="0" err="1">
                            <a:latin typeface="Cambria Math" panose="02040503050406030204" pitchFamily="18" charset="0"/>
                          </a:rPr>
                        </m:ctrlPr>
                      </m:naryPr>
                      <m:sub>
                        <m:r>
                          <a:rPr lang="en-US" altLang="zh-CN" i="1" dirty="0" err="1">
                            <a:latin typeface="Cambria Math" panose="02040503050406030204" pitchFamily="18" charset="0"/>
                          </a:rPr>
                          <m:t>𝑛</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𝑠</m:t>
                            </m:r>
                          </m:e>
                          <m:sub>
                            <m:r>
                              <m:rPr>
                                <m:sty m:val="p"/>
                              </m:rPr>
                              <a:rPr lang="en-US" altLang="zh-CN" i="1" dirty="0">
                                <a:latin typeface="Cambria Math" panose="02040503050406030204" pitchFamily="18" charset="0"/>
                              </a:rPr>
                              <m:t>ℓ</m:t>
                            </m:r>
                            <m:r>
                              <a:rPr lang="en-US" altLang="zh-CN" i="1" dirty="0">
                                <a:latin typeface="Cambria Math" panose="02040503050406030204" pitchFamily="18" charset="0"/>
                              </a:rPr>
                              <m:t>𝑛</m:t>
                            </m:r>
                          </m:sub>
                        </m:sSub>
                      </m:e>
                    </m:nary>
                    <m:r>
                      <a:rPr lang="en-US" altLang="zh-CN" i="1" dirty="0">
                        <a:latin typeface="Cambria Math" panose="02040503050406030204" pitchFamily="18" charset="0"/>
                      </a:rPr>
                      <m:t> =</m:t>
                    </m:r>
                    <m:r>
                      <a:rPr lang="en-US" altLang="zh-CN" i="1" dirty="0" smtClean="0">
                        <a:latin typeface="Cambria Math" panose="02040503050406030204" pitchFamily="18" charset="0"/>
                      </a:rPr>
                      <m:t>1</m:t>
                    </m:r>
                  </m:oMath>
                </a14:m>
                <a:r>
                  <a:rPr lang="zh-CN" altLang="en-US" dirty="0"/>
                  <a:t>，但有些情况下，</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𝑆</m:t>
                        </m:r>
                      </m:e>
                      <m:sub>
                        <m:r>
                          <a:rPr lang="en-US" altLang="zh-CN" i="1" dirty="0" err="1">
                            <a:latin typeface="Cambria Math" panose="02040503050406030204" pitchFamily="18" charset="0"/>
                          </a:rPr>
                          <m:t>𝑙</m:t>
                        </m:r>
                      </m:sub>
                    </m:sSub>
                  </m:oMath>
                </a14:m>
                <a:r>
                  <a:rPr lang="zh-CN" altLang="en-US" dirty="0"/>
                  <a:t>会随</a:t>
                </a:r>
                <a14:m>
                  <m:oMath xmlns:m="http://schemas.openxmlformats.org/officeDocument/2006/math">
                    <m:r>
                      <a:rPr lang="en-US" altLang="zh-CN" i="1" dirty="0" smtClean="0">
                        <a:latin typeface="Cambria Math" panose="02040503050406030204" pitchFamily="18" charset="0"/>
                      </a:rPr>
                      <m:t>𝑙</m:t>
                    </m:r>
                  </m:oMath>
                </a14:m>
                <a:r>
                  <a:rPr lang="zh-CN" altLang="en-US" dirty="0"/>
                  <a:t>而变化，比如</a:t>
                </a:r>
                <a:r>
                  <a:rPr lang="en-US" altLang="zh-CN" dirty="0"/>
                  <a:t>Autor et al.(2013)</a:t>
                </a:r>
                <a:r>
                  <a:rPr lang="zh-CN" altLang="en-US" dirty="0"/>
                  <a:t>中，地区</a:t>
                </a:r>
                <a14:m>
                  <m:oMath xmlns:m="http://schemas.openxmlformats.org/officeDocument/2006/math">
                    <m:r>
                      <a:rPr lang="en-US" altLang="zh-CN" i="1" dirty="0" smtClean="0">
                        <a:latin typeface="Cambria Math" panose="02040503050406030204" pitchFamily="18" charset="0"/>
                      </a:rPr>
                      <m:t>𝑙</m:t>
                    </m:r>
                  </m:oMath>
                </a14:m>
                <a:r>
                  <a:rPr lang="zh-CN" altLang="en-US" dirty="0"/>
                  <a:t>的</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𝑆</m:t>
                        </m:r>
                      </m:e>
                      <m:sub>
                        <m:r>
                          <a:rPr lang="en-US" altLang="zh-CN" i="1" dirty="0" err="1">
                            <a:latin typeface="Cambria Math" panose="02040503050406030204" pitchFamily="18" charset="0"/>
                          </a:rPr>
                          <m:t>𝑙</m:t>
                        </m:r>
                      </m:sub>
                    </m:sSub>
                  </m:oMath>
                </a14:m>
                <a:r>
                  <a:rPr lang="zh-CN" altLang="en-US" dirty="0"/>
                  <a:t>是制造业就业份额。</a:t>
                </a:r>
                <a:endParaRPr lang="en-US" altLang="zh-CN" dirty="0"/>
              </a:p>
              <a:p>
                <a:pPr>
                  <a:lnSpc>
                    <a:spcPct val="120000"/>
                  </a:lnSpc>
                </a:pPr>
                <a:r>
                  <a:rPr lang="en-US" altLang="zh-CN" dirty="0"/>
                  <a:t>BHJ </a:t>
                </a:r>
                <a:r>
                  <a:rPr lang="zh-CN" altLang="en-US" dirty="0"/>
                  <a:t>证明在</a:t>
                </a:r>
                <a:r>
                  <a:rPr lang="en-US" altLang="zh-CN" dirty="0"/>
                  <a:t>A1/A2 </a:t>
                </a:r>
                <a:r>
                  <a:rPr lang="zh-CN" altLang="en-US" dirty="0"/>
                  <a:t>假设下，这种情况下𝑍𝑙 不是定是有效的：因为</a:t>
                </a:r>
                <a:endParaRPr lang="en-US" altLang="zh-CN" dirty="0"/>
              </a:p>
              <a:p>
                <a:pPr>
                  <a:lnSpc>
                    <a:spcPct val="120000"/>
                  </a:lnSpc>
                </a:pP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m:rPr>
                            <m:sty m:val="p"/>
                          </m:rPr>
                          <a:rPr lang="zh-CN" altLang="en-US" i="1" smtClean="0">
                            <a:latin typeface="Cambria Math" panose="02040503050406030204" pitchFamily="18" charset="0"/>
                          </a:rPr>
                          <m:t>ℓ</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m:rPr>
                                <m:sty m:val="p"/>
                              </m:rPr>
                              <a:rPr lang="zh-CN" altLang="en-US" i="1" smtClean="0">
                                <a:latin typeface="Cambria Math" panose="02040503050406030204" pitchFamily="18" charset="0"/>
                              </a:rPr>
                              <m:t>ℓ</m:t>
                            </m:r>
                            <m:r>
                              <a:rPr lang="zh-CN" altLang="en-US" i="1" smtClean="0">
                                <a:latin typeface="Cambria Math" panose="02040503050406030204" pitchFamily="18" charset="0"/>
                              </a:rPr>
                              <m:t>𝑛</m:t>
                            </m:r>
                          </m:sub>
                        </m:sSub>
                      </m:e>
                    </m:nary>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𝜇</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𝜇</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𝑆</m:t>
                        </m:r>
                      </m:e>
                      <m:sub>
                        <m:r>
                          <m:rPr>
                            <m:sty m:val="p"/>
                          </m:rPr>
                          <a:rPr lang="zh-CN" altLang="en-US" i="1" smtClean="0">
                            <a:latin typeface="Cambria Math" panose="02040503050406030204" pitchFamily="18" charset="0"/>
                          </a:rPr>
                          <m:t>ℓ</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m:rPr>
                                <m:sty m:val="p"/>
                              </m:rPr>
                              <a:rPr lang="zh-CN" altLang="en-US" i="1" smtClean="0">
                                <a:latin typeface="Cambria Math" panose="02040503050406030204" pitchFamily="18" charset="0"/>
                              </a:rPr>
                              <m:t>ℓ</m:t>
                            </m:r>
                            <m:r>
                              <a:rPr lang="zh-CN" altLang="en-US" i="1" smtClean="0">
                                <a:latin typeface="Cambria Math" panose="02040503050406030204" pitchFamily="18" charset="0"/>
                              </a:rPr>
                              <m:t>𝑛</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𝜇</m:t>
                        </m:r>
                      </m:e>
                    </m:d>
                  </m:oMath>
                </a14:m>
                <a:endParaRPr lang="en-US" altLang="zh-CN" dirty="0"/>
              </a:p>
              <a:p>
                <a:pPr>
                  <a:lnSpc>
                    <a:spcPct val="120000"/>
                  </a:lnSpc>
                </a:pPr>
                <a:r>
                  <a:rPr lang="zh-CN" altLang="en-US" dirty="0"/>
                  <a:t>𝑧𝑙 和𝑆𝑙 相关，而𝑆𝑙 有可能内生。解决办法也容易，只要控制𝑆𝑙 即可。在面板数据中，要控制𝑆𝑙 和时间效应的交互项：</a:t>
                </a:r>
                <a:endParaRPr lang="en-US" altLang="zh-CN" dirty="0"/>
              </a:p>
              <a:p>
                <a:pPr>
                  <a:lnSpc>
                    <a:spcPct val="120000"/>
                  </a:lnSpc>
                </a:pP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m:rPr>
                            <m:sty m:val="p"/>
                          </m:rPr>
                          <a:rPr lang="zh-CN" altLang="en-US" i="1" smtClean="0">
                            <a:latin typeface="Cambria Math" panose="02040503050406030204" pitchFamily="18" charset="0"/>
                          </a:rPr>
                          <m:t>ℓ</m:t>
                        </m:r>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m:rPr>
                                <m:sty m:val="p"/>
                              </m:rPr>
                              <a:rPr lang="zh-CN" altLang="en-US" i="1" smtClean="0">
                                <a:latin typeface="Cambria Math" panose="02040503050406030204" pitchFamily="18" charset="0"/>
                              </a:rPr>
                              <m:t>ℓ</m:t>
                            </m:r>
                            <m:r>
                              <a:rPr lang="zh-CN" altLang="en-US" i="1" smtClean="0">
                                <a:latin typeface="Cambria Math" panose="02040503050406030204" pitchFamily="18" charset="0"/>
                              </a:rPr>
                              <m:t>𝑛</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𝑡</m:t>
                                </m:r>
                              </m:sub>
                            </m:sSub>
                          </m:e>
                        </m:d>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𝑆</m:t>
                        </m:r>
                      </m:e>
                      <m:sub>
                        <m:r>
                          <m:rPr>
                            <m:sty m:val="p"/>
                          </m:rPr>
                          <a:rPr lang="zh-CN" altLang="en-US" i="1" smtClean="0">
                            <a:latin typeface="Cambria Math" panose="02040503050406030204" pitchFamily="18" charset="0"/>
                          </a:rPr>
                          <m:t>ℓ</m:t>
                        </m:r>
                      </m:sub>
                    </m:sSub>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m:rPr>
                                        <m:sty m:val="p"/>
                                      </m:rPr>
                                      <a:rPr lang="zh-CN" altLang="en-US" i="1" smtClean="0">
                                        <a:latin typeface="Cambria Math" panose="02040503050406030204" pitchFamily="18" charset="0"/>
                                      </a:rPr>
                                      <m:t>ℓ</m:t>
                                    </m:r>
                                    <m:r>
                                      <a:rPr lang="zh-CN" altLang="en-US" i="1" smtClean="0">
                                        <a:latin typeface="Cambria Math" panose="02040503050406030204" pitchFamily="18" charset="0"/>
                                      </a:rPr>
                                      <m:t>𝑛</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𝑡</m:t>
                                    </m:r>
                                  </m:sub>
                                </m:sSub>
                              </m:e>
                            </m:d>
                          </m:e>
                        </m:groupChr>
                      </m:e>
                      <m:lim>
                        <m:r>
                          <m:rPr>
                            <m:nor/>
                          </m:rPr>
                          <a:rPr lang="zh-CN" altLang="en-US" i="0" smtClean="0">
                            <a:latin typeface="Cambria Math" panose="02040503050406030204" pitchFamily="18" charset="0"/>
                          </a:rPr>
                          <m:t>Clean Shock Variation</m:t>
                        </m:r>
                      </m:lim>
                    </m:limLow>
                  </m:oMath>
                </a14:m>
                <a:endParaRPr lang="zh-CN" altLang="en-US" dirty="0"/>
              </a:p>
            </p:txBody>
          </p:sp>
        </mc:Choice>
        <mc:Fallback xmlns="">
          <p:sp>
            <p:nvSpPr>
              <p:cNvPr id="3" name="内容占位符 2">
                <a:extLst>
                  <a:ext uri="{FF2B5EF4-FFF2-40B4-BE49-F238E27FC236}">
                    <a16:creationId xmlns:a16="http://schemas.microsoft.com/office/drawing/2014/main" id="{544314E2-A899-E2EC-BA1B-B2BD803F4E78}"/>
                  </a:ext>
                </a:extLst>
              </p:cNvPr>
              <p:cNvSpPr>
                <a:spLocks noGrp="1" noRot="1" noChangeAspect="1" noMove="1" noResize="1" noEditPoints="1" noAdjustHandles="1" noChangeArrowheads="1" noChangeShapeType="1" noTextEdit="1"/>
              </p:cNvSpPr>
              <p:nvPr>
                <p:ph idx="1"/>
              </p:nvPr>
            </p:nvSpPr>
            <p:spPr>
              <a:blipFill>
                <a:blip r:embed="rId2"/>
                <a:stretch>
                  <a:fillRect l="-850" t="-12465" b="-840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80ABCC6-C3A2-F2BF-F3C1-8F9C7B63D77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5EB9D8E-2691-BEE6-2EC0-8AC3632CBEBA}"/>
              </a:ext>
            </a:extLst>
          </p:cNvPr>
          <p:cNvSpPr>
            <a:spLocks noGrp="1"/>
          </p:cNvSpPr>
          <p:nvPr>
            <p:ph type="sldNum" sz="quarter" idx="12"/>
          </p:nvPr>
        </p:nvSpPr>
        <p:spPr/>
        <p:txBody>
          <a:bodyPr/>
          <a:lstStyle/>
          <a:p>
            <a:fld id="{D41FC515-8169-4A29-AA56-DBE520D5741B}" type="slidenum">
              <a:rPr lang="zh-CN" altLang="en-US" smtClean="0"/>
              <a:t>89</a:t>
            </a:fld>
            <a:endParaRPr lang="zh-CN" altLang="en-US"/>
          </a:p>
        </p:txBody>
      </p:sp>
    </p:spTree>
    <p:extLst>
      <p:ext uri="{BB962C8B-B14F-4D97-AF65-F5344CB8AC3E}">
        <p14:creationId xmlns:p14="http://schemas.microsoft.com/office/powerpoint/2010/main" val="1742659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CEEF8B-4CBB-4E06-FB95-EBA292F6C603}"/>
              </a:ext>
            </a:extLst>
          </p:cNvPr>
          <p:cNvSpPr>
            <a:spLocks noGrp="1"/>
          </p:cNvSpPr>
          <p:nvPr>
            <p:ph type="title"/>
          </p:nvPr>
        </p:nvSpPr>
        <p:spPr/>
        <p:txBody>
          <a:bodyPr/>
          <a:lstStyle/>
          <a:p>
            <a:r>
              <a:rPr lang="en-US" altLang="zh-CN" dirty="0"/>
              <a:t>SSIV</a:t>
            </a:r>
            <a:r>
              <a:rPr lang="zh-CN" altLang="en-US" dirty="0"/>
              <a:t>：冲击外生性</a:t>
            </a:r>
            <a:br>
              <a:rPr lang="zh-CN" altLang="en-US" dirty="0"/>
            </a:br>
            <a:r>
              <a:rPr lang="zh-CN" altLang="en-US" sz="2400" dirty="0"/>
              <a:t>暴露聚类问题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6CD5E96-2843-58B9-956B-A2F23A95B6A0}"/>
                  </a:ext>
                </a:extLst>
              </p:cNvPr>
              <p:cNvSpPr>
                <a:spLocks noGrp="1"/>
              </p:cNvSpPr>
              <p:nvPr>
                <p:ph idx="1"/>
              </p:nvPr>
            </p:nvSpPr>
            <p:spPr/>
            <p:txBody>
              <a:bodyPr>
                <a:normAutofit fontScale="70000" lnSpcReduction="20000"/>
              </a:bodyPr>
              <a:lstStyle/>
              <a:p>
                <a:pPr>
                  <a:lnSpc>
                    <a:spcPct val="120000"/>
                  </a:lnSpc>
                </a:pPr>
                <a:r>
                  <a:rPr lang="en-US" altLang="zh-CN" dirty="0"/>
                  <a:t>Adao et al.(2019) </a:t>
                </a:r>
                <a:r>
                  <a:rPr lang="zh-CN" altLang="en-US" dirty="0"/>
                  <a:t>考察了</a:t>
                </a:r>
                <a:r>
                  <a:rPr lang="en-US" altLang="zh-CN" dirty="0"/>
                  <a:t>SSIV </a:t>
                </a:r>
                <a:r>
                  <a:rPr lang="zh-CN" altLang="en-US" dirty="0"/>
                  <a:t>利用冲击外生性识别时面临的统计推断挑战：因为相似份额</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𝑠</m:t>
                        </m:r>
                      </m:e>
                      <m:sub>
                        <m:r>
                          <m:rPr>
                            <m:sty m:val="p"/>
                          </m:rPr>
                          <a:rPr lang="en-US" altLang="zh-CN" i="1" dirty="0">
                            <a:latin typeface="Cambria Math" panose="02040503050406030204" pitchFamily="18" charset="0"/>
                          </a:rPr>
                          <m:t>ℓ</m:t>
                        </m:r>
                        <m:r>
                          <a:rPr lang="en-US" altLang="zh-CN" i="1" dirty="0">
                            <a:latin typeface="Cambria Math" panose="02040503050406030204" pitchFamily="18" charset="0"/>
                          </a:rPr>
                          <m:t>1</m:t>
                        </m:r>
                      </m:sub>
                    </m:sSub>
                    <m:r>
                      <a:rPr lang="en-US" altLang="zh-CN" i="1" dirty="0">
                        <a:latin typeface="Cambria Math" panose="02040503050406030204" pitchFamily="18" charset="0"/>
                      </a:rPr>
                      <m:t>,, …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𝑠</m:t>
                        </m:r>
                      </m:e>
                      <m:sub>
                        <m:r>
                          <m:rPr>
                            <m:sty m:val="p"/>
                          </m:rPr>
                          <a:rPr lang="en-US" altLang="zh-CN" i="1" dirty="0">
                            <a:latin typeface="Cambria Math" panose="02040503050406030204" pitchFamily="18" charset="0"/>
                          </a:rPr>
                          <m:t>ℓ</m:t>
                        </m:r>
                        <m:r>
                          <a:rPr lang="zh-CN" altLang="en-US" i="1" dirty="0">
                            <a:latin typeface="Cambria Math" panose="02040503050406030204" pitchFamily="18" charset="0"/>
                          </a:rPr>
                          <m:t>𝑁</m:t>
                        </m:r>
                      </m:sub>
                    </m:sSub>
                    <m:r>
                      <a:rPr lang="zh-CN" altLang="en-US" i="1" dirty="0">
                        <a:latin typeface="Cambria Math" panose="02040503050406030204" pitchFamily="18" charset="0"/>
                      </a:rPr>
                      <m:t> </m:t>
                    </m:r>
                  </m:oMath>
                </a14:m>
                <a:r>
                  <a:rPr lang="zh-CN" altLang="en-US" dirty="0"/>
                  <a:t>的样本点（地区）会使𝑧𝑙 相关。他们发展了一种新的标准误度量方法强调”暴露聚类”问题（</a:t>
                </a:r>
                <a:r>
                  <a:rPr lang="en-US" altLang="zh-CN" dirty="0"/>
                  <a:t>exposure clustering)</a:t>
                </a:r>
                <a:r>
                  <a:rPr lang="zh-CN" altLang="en-US" dirty="0"/>
                  <a:t>。</a:t>
                </a:r>
                <a:endParaRPr lang="en-US" altLang="zh-CN" dirty="0"/>
              </a:p>
              <a:p>
                <a:pPr>
                  <a:lnSpc>
                    <a:spcPct val="120000"/>
                  </a:lnSpc>
                </a:pPr>
                <a:r>
                  <a:rPr lang="en-US" altLang="zh-CN" dirty="0"/>
                  <a:t>BHJ </a:t>
                </a:r>
                <a:r>
                  <a:rPr lang="zh-CN" altLang="en-US" dirty="0"/>
                  <a:t>提出可以用行业层面回归估计估计量的不确定性，根据等价性定理，可以用下列行业回归估计𝛽：</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𝑦</m:t>
                                  </m:r>
                                </m:e>
                              </m:acc>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𝑥</m:t>
                                  </m:r>
                                </m:e>
                              </m:acc>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𝑞</m:t>
                              </m:r>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𝜏</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𝜀</m:t>
                                  </m:r>
                                </m:e>
                              </m:acc>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用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zh-CN" altLang="en-US" i="1" dirty="0" smtClean="0">
                            <a:latin typeface="Cambria Math" panose="02040503050406030204" pitchFamily="18" charset="0"/>
                          </a:rPr>
                          <m:t>𝑛</m:t>
                        </m:r>
                      </m:sub>
                    </m:sSub>
                    <m:r>
                      <a:rPr lang="zh-CN" altLang="en-US" i="1" dirty="0" smtClean="0">
                        <a:latin typeface="Cambria Math" panose="02040503050406030204" pitchFamily="18" charset="0"/>
                      </a:rPr>
                      <m:t> </m:t>
                    </m:r>
                  </m:oMath>
                </a14:m>
                <a:r>
                  <a:rPr lang="zh-CN" altLang="en-US" dirty="0"/>
                  <a:t>作为</a:t>
                </a:r>
                <a14:m>
                  <m:oMath xmlns:m="http://schemas.openxmlformats.org/officeDocument/2006/math">
                    <m:r>
                      <a:rPr lang="zh-CN" altLang="en-US" i="1" dirty="0" smtClean="0">
                        <a:latin typeface="Cambria Math" panose="02040503050406030204" pitchFamily="18" charset="0"/>
                      </a:rPr>
                      <m:t>  </m:t>
                    </m:r>
                    <m:sSubSup>
                      <m:sSubSupPr>
                        <m:ctrlPr>
                          <a:rPr lang="zh-CN" altLang="en-US" i="1" dirty="0" smtClean="0">
                            <a:latin typeface="Cambria Math" panose="02040503050406030204" pitchFamily="18" charset="0"/>
                          </a:rPr>
                        </m:ctrlPr>
                      </m:sSubSupPr>
                      <m:e>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𝑥</m:t>
                            </m:r>
                          </m:e>
                        </m:acc>
                      </m:e>
                      <m:sub>
                        <m:r>
                          <a:rPr lang="zh-CN" altLang="en-US" i="1" dirty="0" smtClean="0">
                            <a:latin typeface="Cambria Math" panose="02040503050406030204" pitchFamily="18" charset="0"/>
                          </a:rPr>
                          <m:t>𝑛</m:t>
                        </m:r>
                      </m:sub>
                      <m:sup>
                        <m:r>
                          <a:rPr lang="zh-CN" altLang="en-US" i="1" dirty="0" smtClean="0">
                            <a:latin typeface="Cambria Math" panose="02040503050406030204" pitchFamily="18" charset="0"/>
                          </a:rPr>
                          <m:t>⟂</m:t>
                        </m:r>
                      </m:sup>
                    </m:sSubSup>
                  </m:oMath>
                </a14:m>
                <a:r>
                  <a:rPr lang="zh-CN" altLang="en-US" dirty="0"/>
                  <a:t>的工具，权重为</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𝑠</m:t>
                        </m:r>
                      </m:e>
                      <m:sub>
                        <m:r>
                          <a:rPr lang="zh-CN" altLang="en-US" i="1" dirty="0" smtClean="0">
                            <a:latin typeface="Cambria Math" panose="02040503050406030204" pitchFamily="18" charset="0"/>
                          </a:rPr>
                          <m:t>𝑛</m:t>
                        </m:r>
                      </m:sub>
                    </m:sSub>
                  </m:oMath>
                </a14:m>
                <a:r>
                  <a:rPr lang="zh-CN" altLang="en-US" dirty="0"/>
                  <a:t>。</a:t>
                </a:r>
                <a:endParaRPr lang="en-US" altLang="zh-CN" dirty="0"/>
              </a:p>
              <a:p>
                <a:pPr>
                  <a:lnSpc>
                    <a:spcPct val="120000"/>
                  </a:lnSpc>
                </a:pPr>
                <a:r>
                  <a:rPr lang="en-US" altLang="zh-CN" dirty="0"/>
                  <a:t>BHJ </a:t>
                </a:r>
                <a:r>
                  <a:rPr lang="zh-CN" altLang="en-US" dirty="0"/>
                  <a:t>提供了</a:t>
                </a:r>
                <a:r>
                  <a:rPr lang="en-US" altLang="zh-CN" dirty="0"/>
                  <a:t>Stata </a:t>
                </a:r>
                <a:r>
                  <a:rPr lang="zh-CN" altLang="en-US" dirty="0"/>
                  <a:t>命令</a:t>
                </a:r>
                <a:r>
                  <a:rPr lang="en-US" altLang="zh-CN" dirty="0" err="1"/>
                  <a:t>ssaggregate</a:t>
                </a:r>
                <a:r>
                  <a:rPr lang="en-US" altLang="zh-CN" dirty="0"/>
                  <a:t> </a:t>
                </a:r>
                <a:r>
                  <a:rPr lang="zh-CN" altLang="en-US" dirty="0"/>
                  <a:t>将个体层面数据转化为冲击层面的加总数据，</a:t>
                </a:r>
              </a:p>
              <a:p>
                <a:pPr>
                  <a:lnSpc>
                    <a:spcPct val="120000"/>
                  </a:lnSpc>
                </a:pPr>
                <a:r>
                  <a:rPr lang="zh-CN" altLang="en-US" dirty="0"/>
                  <a:t>可以估计</a:t>
                </a:r>
                <a:r>
                  <a:rPr lang="en-US" altLang="zh-CN" dirty="0"/>
                  <a:t>IV </a:t>
                </a:r>
                <a:r>
                  <a:rPr lang="zh-CN" altLang="en-US" dirty="0"/>
                  <a:t>估计量和正确的标准误差。</a:t>
                </a:r>
              </a:p>
            </p:txBody>
          </p:sp>
        </mc:Choice>
        <mc:Fallback xmlns="">
          <p:sp>
            <p:nvSpPr>
              <p:cNvPr id="3" name="内容占位符 2">
                <a:extLst>
                  <a:ext uri="{FF2B5EF4-FFF2-40B4-BE49-F238E27FC236}">
                    <a16:creationId xmlns:a16="http://schemas.microsoft.com/office/drawing/2014/main" id="{F6CD5E96-2843-58B9-956B-A2F23A95B6A0}"/>
                  </a:ext>
                </a:extLst>
              </p:cNvPr>
              <p:cNvSpPr>
                <a:spLocks noGrp="1" noRot="1" noChangeAspect="1" noMove="1" noResize="1" noEditPoints="1" noAdjustHandles="1" noChangeArrowheads="1" noChangeShapeType="1" noTextEdit="1"/>
              </p:cNvSpPr>
              <p:nvPr>
                <p:ph idx="1"/>
              </p:nvPr>
            </p:nvSpPr>
            <p:spPr>
              <a:blipFill>
                <a:blip r:embed="rId2"/>
                <a:stretch>
                  <a:fillRect l="-773" t="-700" r="-30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8B45042-6AC6-49E6-D554-58C11A9F93A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5CEEE19-22BB-0FB5-80A9-D393F074A515}"/>
              </a:ext>
            </a:extLst>
          </p:cNvPr>
          <p:cNvSpPr>
            <a:spLocks noGrp="1"/>
          </p:cNvSpPr>
          <p:nvPr>
            <p:ph type="sldNum" sz="quarter" idx="12"/>
          </p:nvPr>
        </p:nvSpPr>
        <p:spPr/>
        <p:txBody>
          <a:bodyPr/>
          <a:lstStyle/>
          <a:p>
            <a:fld id="{D41FC515-8169-4A29-AA56-DBE520D5741B}" type="slidenum">
              <a:rPr lang="zh-CN" altLang="en-US" smtClean="0"/>
              <a:t>90</a:t>
            </a:fld>
            <a:endParaRPr lang="zh-CN" altLang="en-US"/>
          </a:p>
        </p:txBody>
      </p:sp>
    </p:spTree>
    <p:extLst>
      <p:ext uri="{BB962C8B-B14F-4D97-AF65-F5344CB8AC3E}">
        <p14:creationId xmlns:p14="http://schemas.microsoft.com/office/powerpoint/2010/main" val="37445256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63FD31-0F04-8577-B3A5-671EF56D21AE}"/>
              </a:ext>
            </a:extLst>
          </p:cNvPr>
          <p:cNvSpPr>
            <a:spLocks noGrp="1"/>
          </p:cNvSpPr>
          <p:nvPr>
            <p:ph type="title"/>
          </p:nvPr>
        </p:nvSpPr>
        <p:spPr/>
        <p:txBody>
          <a:bodyPr/>
          <a:lstStyle/>
          <a:p>
            <a:r>
              <a:rPr lang="en-US" altLang="zh-CN" dirty="0"/>
              <a:t>SSIV</a:t>
            </a:r>
            <a:r>
              <a:rPr lang="zh-CN" altLang="en-US" dirty="0"/>
              <a:t>：份额外生性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CB05971-7968-8AE1-2E37-713EF387A9BE}"/>
                  </a:ext>
                </a:extLst>
              </p:cNvPr>
              <p:cNvSpPr>
                <a:spLocks noGrp="1"/>
              </p:cNvSpPr>
              <p:nvPr>
                <p:ph idx="1"/>
              </p:nvPr>
            </p:nvSpPr>
            <p:spPr/>
            <p:txBody>
              <a:bodyPr/>
              <a:lstStyle/>
              <a:p>
                <a:pPr>
                  <a:lnSpc>
                    <a:spcPct val="100000"/>
                  </a:lnSpc>
                </a:pPr>
                <a:r>
                  <a:rPr lang="en-US" altLang="zh-CN" dirty="0"/>
                  <a:t>Goldsmith-Pinkham et al. (2020)</a:t>
                </a:r>
              </a:p>
              <a:p>
                <a:pPr lvl="1">
                  <a:lnSpc>
                    <a:spcPct val="100000"/>
                  </a:lnSpc>
                </a:pPr>
                <a:r>
                  <a:rPr lang="zh-CN" altLang="en-US" dirty="0"/>
                  <a:t>回到前面考虑的模型：</a:t>
                </a:r>
                <a:endParaRPr lang="en-US" altLang="zh-CN" dirty="0"/>
              </a:p>
              <a:p>
                <a:pPr lvl="1">
                  <a:lnSpc>
                    <a:spcPct val="100000"/>
                  </a:lnSpc>
                </a:pP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𝑦</m:t>
                        </m:r>
                      </m:e>
                      <m:sub>
                        <m:r>
                          <a:rPr lang="zh-CN" altLang="en-US" i="1" smtClean="0">
                            <a:latin typeface="Cambria Math" panose="02040503050406030204" pitchFamily="18" charset="0"/>
                          </a:rPr>
                          <m:t>𝑙𝑡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𝑙𝑡</m:t>
                        </m:r>
                      </m:sub>
                    </m:sSub>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𝑙𝑡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𝛾</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𝑙𝑡</m:t>
                        </m:r>
                      </m:sub>
                    </m:sSub>
                    <m:r>
                      <a:rPr lang="zh-CN" altLang="en-US" i="1" smtClean="0">
                        <a:latin typeface="Cambria Math" panose="02040503050406030204" pitchFamily="18" charset="0"/>
                      </a:rPr>
                      <m:t>,</m:t>
                    </m:r>
                  </m:oMath>
                </a14:m>
                <a:endParaRPr lang="en-US" altLang="zh-CN" dirty="0"/>
              </a:p>
              <a:p>
                <a:pPr lvl="1">
                  <a:lnSpc>
                    <a:spcPct val="100000"/>
                  </a:lnSpc>
                </a:pPr>
                <a:r>
                  <a:rPr lang="zh-CN" altLang="en-US" dirty="0"/>
                  <a:t>工具为</a:t>
                </a:r>
                <a:endParaRPr lang="en-US" altLang="zh-CN" dirty="0"/>
              </a:p>
              <a:p>
                <a:pPr lvl="1">
                  <a:lnSpc>
                    <a:spcPct val="100000"/>
                  </a:lnSpc>
                </a:pP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𝑙𝑡</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r>
                              <a:rPr lang="zh-CN" altLang="en-US" i="1" smtClean="0">
                                <a:latin typeface="Cambria Math" panose="02040503050406030204" pitchFamily="18" charset="0"/>
                              </a:rPr>
                              <m:t>0</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𝑛𝑡</m:t>
                        </m:r>
                      </m:sub>
                    </m:sSub>
                    <m:r>
                      <a:rPr lang="zh-CN" altLang="en-US" i="1" smtClean="0">
                        <a:latin typeface="Cambria Math" panose="02040503050406030204" pitchFamily="18" charset="0"/>
                      </a:rPr>
                      <m:t>.</m:t>
                    </m:r>
                  </m:oMath>
                </a14:m>
                <a:endParaRPr lang="en-US" altLang="zh-CN" dirty="0"/>
              </a:p>
              <a:p>
                <a:pPr lvl="1">
                  <a:lnSpc>
                    <a:spcPct val="100000"/>
                  </a:lnSpc>
                </a:pPr>
                <a:r>
                  <a:rPr lang="en-US" altLang="zh-CN" dirty="0"/>
                  <a:t>IV</a:t>
                </a:r>
                <a:r>
                  <a:rPr lang="zh-CN" altLang="en-US" dirty="0"/>
                  <a:t>有基本要求：外生</a:t>
                </a:r>
                <a14:m>
                  <m:oMath xmlns:m="http://schemas.openxmlformats.org/officeDocument/2006/math">
                    <m:r>
                      <a:rPr lang="zh-CN" altLang="en-US" i="1" dirty="0" smtClean="0">
                        <a:latin typeface="Cambria Math" panose="02040503050406030204" pitchFamily="18" charset="0"/>
                      </a:rPr>
                      <m:t>性 </m:t>
                    </m:r>
                    <m:r>
                      <a:rPr lang="en-US" altLang="zh-CN" i="1" dirty="0">
                        <a:latin typeface="Cambria Math" panose="02040503050406030204" pitchFamily="18" charset="0"/>
                      </a:rPr>
                      <m:t>𝐸</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𝑧</m:t>
                        </m:r>
                      </m:e>
                      <m:sub>
                        <m:r>
                          <a:rPr lang="en-US" altLang="zh-CN" i="1" dirty="0">
                            <a:latin typeface="Cambria Math" panose="02040503050406030204" pitchFamily="18" charset="0"/>
                          </a:rPr>
                          <m:t>𝑙𝑡</m:t>
                        </m:r>
                      </m:sub>
                    </m:sSub>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𝜀</m:t>
                        </m:r>
                      </m:e>
                      <m:sub>
                        <m:r>
                          <a:rPr lang="en-US" altLang="zh-CN" i="1" dirty="0" err="1">
                            <a:latin typeface="Cambria Math" panose="02040503050406030204" pitchFamily="18" charset="0"/>
                          </a:rPr>
                          <m:t>𝑙𝑡</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err="1">
                            <a:latin typeface="Cambria Math" panose="02040503050406030204" pitchFamily="18" charset="0"/>
                          </a:rPr>
                          <m:t>𝑙𝑡</m:t>
                        </m:r>
                      </m:sub>
                    </m:sSub>
                    <m:r>
                      <a:rPr lang="en-US" altLang="zh-CN" i="1" dirty="0">
                        <a:latin typeface="Cambria Math" panose="02040503050406030204" pitchFamily="18" charset="0"/>
                      </a:rPr>
                      <m:t>]=0</m:t>
                    </m:r>
                  </m:oMath>
                </a14:m>
                <a:r>
                  <a:rPr lang="zh-CN" altLang="en-US" dirty="0"/>
                  <a:t>，和相关性</a:t>
                </a:r>
                <a14:m>
                  <m:oMath xmlns:m="http://schemas.openxmlformats.org/officeDocument/2006/math">
                    <m:r>
                      <a:rPr lang="en-US" altLang="zh-CN" i="1" dirty="0" smtClean="0">
                        <a:latin typeface="Cambria Math" panose="02040503050406030204" pitchFamily="18" charset="0"/>
                      </a:rPr>
                      <m:t>𝐶𝑜𝑣</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𝑧</m:t>
                        </m:r>
                      </m:e>
                      <m:sub>
                        <m:r>
                          <a:rPr lang="en-US" altLang="zh-CN" i="1" dirty="0" err="1">
                            <a:latin typeface="Cambria Math" panose="02040503050406030204" pitchFamily="18" charset="0"/>
                          </a:rPr>
                          <m:t>𝑙𝑡</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err="1">
                            <a:latin typeface="Cambria Math" panose="02040503050406030204" pitchFamily="18" charset="0"/>
                          </a:rPr>
                          <m:t>𝑙𝑡</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err="1">
                            <a:latin typeface="Cambria Math" panose="02040503050406030204" pitchFamily="18" charset="0"/>
                          </a:rPr>
                          <m:t>𝑙𝑡</m:t>
                        </m:r>
                      </m:sub>
                    </m:sSub>
                    <m:r>
                      <a:rPr lang="en-US" altLang="zh-CN" i="1" dirty="0">
                        <a:latin typeface="Cambria Math" panose="02040503050406030204" pitchFamily="18" charset="0"/>
                      </a:rPr>
                      <m:t>)</m:t>
                    </m:r>
                    <m:r>
                      <a:rPr lang="en-US" altLang="zh-CN" i="1" dirty="0" smtClean="0">
                        <a:latin typeface="Cambria Math" panose="02040503050406030204" pitchFamily="18" charset="0"/>
                      </a:rPr>
                      <m:t>≠</m:t>
                    </m:r>
                    <m:r>
                      <a:rPr lang="en-US" altLang="zh-CN" i="1" dirty="0">
                        <a:latin typeface="Cambria Math" panose="02040503050406030204" pitchFamily="18" charset="0"/>
                      </a:rPr>
                      <m:t> 0</m:t>
                    </m:r>
                  </m:oMath>
                </a14:m>
                <a:r>
                  <a:rPr lang="zh-CN" altLang="en-US" dirty="0"/>
                  <a:t>。考虑份额外生性</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𝑠</m:t>
                        </m:r>
                      </m:e>
                      <m:sub>
                        <m:r>
                          <m:rPr>
                            <m:sty m:val="p"/>
                          </m:rPr>
                          <a:rPr lang="en-US" altLang="zh-CN" i="1" dirty="0" smtClean="0">
                            <a:latin typeface="Cambria Math" panose="02040503050406030204" pitchFamily="18" charset="0"/>
                          </a:rPr>
                          <m:t>ln</m:t>
                        </m:r>
                        <m:r>
                          <a:rPr lang="en-US" altLang="zh-CN" i="1" dirty="0" smtClean="0">
                            <a:latin typeface="Cambria Math" panose="02040503050406030204" pitchFamily="18" charset="0"/>
                          </a:rPr>
                          <m:t>0</m:t>
                        </m:r>
                      </m:sub>
                    </m:sSub>
                  </m:oMath>
                </a14:m>
                <a:r>
                  <a:rPr lang="zh-CN" altLang="en-US" dirty="0"/>
                  <a:t>。</a:t>
                </a:r>
              </a:p>
            </p:txBody>
          </p:sp>
        </mc:Choice>
        <mc:Fallback xmlns="">
          <p:sp>
            <p:nvSpPr>
              <p:cNvPr id="3" name="内容占位符 2">
                <a:extLst>
                  <a:ext uri="{FF2B5EF4-FFF2-40B4-BE49-F238E27FC236}">
                    <a16:creationId xmlns:a16="http://schemas.microsoft.com/office/drawing/2014/main" id="{FCB05971-7968-8AE1-2E37-713EF387A9BE}"/>
                  </a:ext>
                </a:extLst>
              </p:cNvPr>
              <p:cNvSpPr>
                <a:spLocks noGrp="1" noRot="1" noChangeAspect="1" noMove="1" noResize="1" noEditPoints="1" noAdjustHandles="1" noChangeArrowheads="1" noChangeShapeType="1" noTextEdit="1"/>
              </p:cNvSpPr>
              <p:nvPr>
                <p:ph idx="1"/>
              </p:nvPr>
            </p:nvSpPr>
            <p:spPr>
              <a:blipFill>
                <a:blip r:embed="rId2"/>
                <a:stretch>
                  <a:fillRect l="-1391" t="-14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ACDAC23-DAB0-83B7-165D-09600661DA2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59A894E-7C8E-D785-FE77-A4EE815476D7}"/>
              </a:ext>
            </a:extLst>
          </p:cNvPr>
          <p:cNvSpPr>
            <a:spLocks noGrp="1"/>
          </p:cNvSpPr>
          <p:nvPr>
            <p:ph type="sldNum" sz="quarter" idx="12"/>
          </p:nvPr>
        </p:nvSpPr>
        <p:spPr/>
        <p:txBody>
          <a:bodyPr/>
          <a:lstStyle/>
          <a:p>
            <a:fld id="{D41FC515-8169-4A29-AA56-DBE520D5741B}" type="slidenum">
              <a:rPr lang="zh-CN" altLang="en-US" smtClean="0"/>
              <a:t>91</a:t>
            </a:fld>
            <a:endParaRPr lang="zh-CN" altLang="en-US"/>
          </a:p>
        </p:txBody>
      </p:sp>
    </p:spTree>
    <p:extLst>
      <p:ext uri="{BB962C8B-B14F-4D97-AF65-F5344CB8AC3E}">
        <p14:creationId xmlns:p14="http://schemas.microsoft.com/office/powerpoint/2010/main" val="15304627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5A4121-53D0-0A95-A229-B9BBC0AB06AE}"/>
              </a:ext>
            </a:extLst>
          </p:cNvPr>
          <p:cNvSpPr>
            <a:spLocks noGrp="1"/>
          </p:cNvSpPr>
          <p:nvPr>
            <p:ph type="title"/>
          </p:nvPr>
        </p:nvSpPr>
        <p:spPr/>
        <p:txBody>
          <a:bodyPr/>
          <a:lstStyle/>
          <a:p>
            <a:r>
              <a:rPr lang="en-US" altLang="zh-CN" dirty="0"/>
              <a:t>SSIV</a:t>
            </a:r>
            <a:r>
              <a:rPr lang="zh-CN" altLang="en-US" dirty="0"/>
              <a:t>：份额外生性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6F1FC55-274F-6FA7-34AC-7F220FC725C1}"/>
                  </a:ext>
                </a:extLst>
              </p:cNvPr>
              <p:cNvSpPr>
                <a:spLocks noGrp="1"/>
              </p:cNvSpPr>
              <p:nvPr>
                <p:ph idx="1"/>
              </p:nvPr>
            </p:nvSpPr>
            <p:spPr/>
            <p:txBody>
              <a:bodyPr>
                <a:normAutofit/>
              </a:bodyPr>
              <a:lstStyle/>
              <a:p>
                <a:pPr>
                  <a:lnSpc>
                    <a:spcPct val="100000"/>
                  </a:lnSpc>
                </a:pPr>
                <a:r>
                  <a:rPr lang="zh-CN" altLang="en-US" dirty="0"/>
                  <a:t>第一种情况：</a:t>
                </a:r>
                <a:r>
                  <a:rPr lang="en-US" altLang="zh-CN" dirty="0"/>
                  <a:t>1 </a:t>
                </a:r>
                <a:r>
                  <a:rPr lang="zh-CN" altLang="en-US" dirty="0"/>
                  <a:t>期</a:t>
                </a:r>
                <a:r>
                  <a:rPr lang="en-US" altLang="zh-CN" dirty="0"/>
                  <a:t>2 </a:t>
                </a:r>
                <a:r>
                  <a:rPr lang="zh-CN" altLang="en-US" dirty="0"/>
                  <a:t>个行业</a:t>
                </a:r>
                <a:endParaRPr lang="en-US" altLang="zh-CN" dirty="0"/>
              </a:p>
              <a:p>
                <a:pPr>
                  <a:lnSpc>
                    <a:spcPct val="100000"/>
                  </a:lnSpc>
                </a:pP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𝑠</m:t>
                        </m:r>
                      </m:e>
                      <m:sub>
                        <m:r>
                          <a:rPr lang="zh-CN" altLang="en-US" i="1" dirty="0" smtClean="0">
                            <a:latin typeface="Cambria Math" panose="02040503050406030204" pitchFamily="18" charset="0"/>
                          </a:rPr>
                          <m:t>𝑙</m:t>
                        </m:r>
                        <m:r>
                          <a:rPr lang="en-US" altLang="zh-CN" i="1" dirty="0">
                            <a:latin typeface="Cambria Math" panose="02040503050406030204" pitchFamily="18" charset="0"/>
                          </a:rPr>
                          <m:t>2</m:t>
                        </m:r>
                      </m:sub>
                    </m:sSub>
                    <m:r>
                      <a:rPr lang="en-US" altLang="zh-CN" i="1" dirty="0">
                        <a:latin typeface="Cambria Math" panose="02040503050406030204" pitchFamily="18" charset="0"/>
                      </a:rPr>
                      <m:t> = 1 −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𝑠</m:t>
                        </m:r>
                      </m:e>
                      <m:sub>
                        <m:r>
                          <a:rPr lang="zh-CN" altLang="en-US" i="1" dirty="0">
                            <a:latin typeface="Cambria Math" panose="02040503050406030204" pitchFamily="18" charset="0"/>
                          </a:rPr>
                          <m:t>𝑙</m:t>
                        </m:r>
                        <m:r>
                          <a:rPr lang="en-US" altLang="zh-CN" i="1" dirty="0">
                            <a:latin typeface="Cambria Math" panose="02040503050406030204" pitchFamily="18" charset="0"/>
                          </a:rPr>
                          <m:t>1</m:t>
                        </m:r>
                      </m:sub>
                    </m:sSub>
                  </m:oMath>
                </a14:m>
                <a:r>
                  <a:rPr lang="zh-CN" altLang="en-US" dirty="0"/>
                  <a:t>，工具</a:t>
                </a:r>
                <a:endParaRPr lang="en-US" altLang="zh-CN" dirty="0"/>
              </a:p>
              <a:p>
                <a:pPr marL="0" indent="0">
                  <a:lnSpc>
                    <a:spcPct val="10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m:t>
                          </m:r>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2</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Sub>
                        </m:e>
                      </m:d>
                      <m:r>
                        <a:rPr lang="zh-CN" altLang="en-US" i="1" smtClean="0">
                          <a:latin typeface="Cambria Math" panose="02040503050406030204" pitchFamily="18" charset="0"/>
                        </a:rPr>
                        <m:t>𝑔</m:t>
                      </m:r>
                      <m:r>
                        <a:rPr lang="zh-CN" altLang="en-US" i="1" smtClean="0">
                          <a:latin typeface="Cambria Math" panose="02040503050406030204" pitchFamily="18" charset="0"/>
                        </a:rPr>
                        <m:t>2=</m:t>
                      </m:r>
                      <m:r>
                        <a:rPr lang="zh-CN" altLang="en-US" i="1" smtClean="0">
                          <a:latin typeface="Cambria Math" panose="02040503050406030204" pitchFamily="18" charset="0"/>
                        </a:rPr>
                        <m:t>𝑔</m:t>
                      </m:r>
                      <m:r>
                        <a:rPr lang="zh-CN" altLang="en-US" i="1" smtClean="0">
                          <a:latin typeface="Cambria Math" panose="02040503050406030204" pitchFamily="18" charset="0"/>
                        </a:rPr>
                        <m:t>2+</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𝑔</m:t>
                          </m:r>
                          <m:r>
                            <a:rPr lang="zh-CN" altLang="en-US" i="1" smtClean="0">
                              <a:latin typeface="Cambria Math" panose="02040503050406030204" pitchFamily="18" charset="0"/>
                            </a:rPr>
                            <m:t>1−</m:t>
                          </m:r>
                          <m:r>
                            <a:rPr lang="zh-CN" altLang="en-US" i="1" smtClean="0">
                              <a:latin typeface="Cambria Math" panose="02040503050406030204" pitchFamily="18" charset="0"/>
                            </a:rPr>
                            <m:t>𝑔</m:t>
                          </m:r>
                          <m:r>
                            <a:rPr lang="zh-CN" altLang="en-US" i="1" smtClean="0">
                              <a:latin typeface="Cambria Math" panose="02040503050406030204" pitchFamily="18" charset="0"/>
                            </a:rPr>
                            <m:t>2</m:t>
                          </m:r>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oMath>
                  </m:oMathPara>
                </a14:m>
                <a:endParaRPr lang="en-US" altLang="zh-CN" dirty="0"/>
              </a:p>
              <a:p>
                <a:pPr marL="0" indent="0">
                  <a:lnSpc>
                    <a:spcPct val="100000"/>
                  </a:lnSpc>
                  <a:buNone/>
                </a:pPr>
                <a:r>
                  <a:rPr lang="zh-CN" altLang="en-US" dirty="0"/>
                  <a:t>第一阶段：</a:t>
                </a:r>
                <a:endParaRPr lang="en-US" altLang="zh-CN" dirty="0"/>
              </a:p>
              <a:p>
                <a:pPr marL="0" indent="0">
                  <a:lnSpc>
                    <a:spcPct val="10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𝛾</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𝑧</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𝜂</m:t>
                              </m:r>
                            </m:e>
                            <m:sub>
                              <m:r>
                                <a:rPr lang="zh-CN" altLang="en-US" i="1" smtClean="0">
                                  <a:latin typeface="Cambria Math" panose="02040503050406030204" pitchFamily="18" charset="0"/>
                                </a:rPr>
                                <m:t>𝑙</m:t>
                              </m:r>
                            </m:sub>
                          </m:sSub>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𝛾</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2</m:t>
                                      </m:r>
                                    </m:sub>
                                  </m:sSub>
                                </m:e>
                              </m:groupChr>
                            </m:e>
                            <m:lim>
                              <m:r>
                                <m:rPr>
                                  <m:nor/>
                                </m:rPr>
                                <a:rPr lang="zh-CN" altLang="en-US" i="0" smtClean="0">
                                  <a:latin typeface="Cambria Math" panose="02040503050406030204" pitchFamily="18" charset="0"/>
                                </a:rPr>
                                <m:t>常数项</m:t>
                              </m:r>
                            </m:lim>
                          </m:limLow>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r>
                                    <a:rPr lang="zh-CN" altLang="en-US" i="1" smtClean="0">
                                      <a:latin typeface="Cambria Math" panose="02040503050406030204" pitchFamily="18" charset="0"/>
                                    </a:rPr>
                                    <m:t>𝛾</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2</m:t>
                                          </m:r>
                                        </m:sub>
                                      </m:sSub>
                                    </m:e>
                                  </m:d>
                                </m:e>
                              </m:groupChr>
                            </m:e>
                            <m:lim>
                              <m:r>
                                <m:rPr>
                                  <m:nor/>
                                </m:rPr>
                                <a:rPr lang="zh-CN" altLang="en-US" i="0" smtClean="0">
                                  <a:latin typeface="Cambria Math" panose="02040503050406030204" pitchFamily="18" charset="0"/>
                                </a:rPr>
                                <m:t>系数</m:t>
                              </m:r>
                            </m:lim>
                          </m:limLow>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𝜂</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e>
                      </m:eqArr>
                    </m:oMath>
                  </m:oMathPara>
                </a14:m>
                <a:endParaRPr lang="en-US" altLang="zh-CN" dirty="0"/>
              </a:p>
              <a:p>
                <a:pPr marL="0" indent="0">
                  <a:lnSpc>
                    <a:spcPct val="100000"/>
                  </a:lnSpc>
                  <a:buNone/>
                </a:pPr>
                <a:r>
                  <a:rPr lang="zh-CN" altLang="en-US" dirty="0"/>
                  <a:t>相当于</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𝑠</m:t>
                        </m:r>
                      </m:e>
                      <m:sub>
                        <m:r>
                          <a:rPr lang="zh-CN" altLang="en-US" i="1" dirty="0" smtClean="0">
                            <a:latin typeface="Cambria Math" panose="02040503050406030204" pitchFamily="18" charset="0"/>
                          </a:rPr>
                          <m:t>𝑙</m:t>
                        </m:r>
                        <m:r>
                          <a:rPr lang="en-US" altLang="zh-CN" i="1" dirty="0">
                            <a:latin typeface="Cambria Math" panose="02040503050406030204" pitchFamily="18" charset="0"/>
                          </a:rPr>
                          <m:t>1</m:t>
                        </m:r>
                      </m:sub>
                    </m:sSub>
                  </m:oMath>
                </a14:m>
                <a:r>
                  <a:rPr lang="en-US" altLang="zh-CN" dirty="0"/>
                  <a:t> </a:t>
                </a:r>
                <a:r>
                  <a:rPr lang="zh-CN" altLang="en-US" dirty="0"/>
                  <a:t>是工具，</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zh-CN" altLang="en-US" i="1" dirty="0" smtClean="0">
                            <a:latin typeface="Cambria Math" panose="02040503050406030204" pitchFamily="18" charset="0"/>
                          </a:rPr>
                          <m:t>𝑛</m:t>
                        </m:r>
                      </m:sub>
                    </m:sSub>
                  </m:oMath>
                </a14:m>
                <a:r>
                  <a:rPr lang="zh-CN" altLang="en-US" dirty="0"/>
                  <a:t> 影响相关性。</a:t>
                </a:r>
              </a:p>
            </p:txBody>
          </p:sp>
        </mc:Choice>
        <mc:Fallback xmlns="">
          <p:sp>
            <p:nvSpPr>
              <p:cNvPr id="3" name="内容占位符 2">
                <a:extLst>
                  <a:ext uri="{FF2B5EF4-FFF2-40B4-BE49-F238E27FC236}">
                    <a16:creationId xmlns:a16="http://schemas.microsoft.com/office/drawing/2014/main" id="{F6F1FC55-274F-6FA7-34AC-7F220FC725C1}"/>
                  </a:ext>
                </a:extLst>
              </p:cNvPr>
              <p:cNvSpPr>
                <a:spLocks noGrp="1" noRot="1" noChangeAspect="1" noMove="1" noResize="1" noEditPoints="1" noAdjustHandles="1" noChangeArrowheads="1" noChangeShapeType="1" noTextEdit="1"/>
              </p:cNvSpPr>
              <p:nvPr>
                <p:ph idx="1"/>
              </p:nvPr>
            </p:nvSpPr>
            <p:spPr>
              <a:blipFill>
                <a:blip r:embed="rId2"/>
                <a:stretch>
                  <a:fillRect l="-1546" t="-1401" b="-294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16AE281-6A96-6B6A-2A32-66D8AE65272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0713D4F-2436-200C-C3CA-8E01D3BDDCEE}"/>
              </a:ext>
            </a:extLst>
          </p:cNvPr>
          <p:cNvSpPr>
            <a:spLocks noGrp="1"/>
          </p:cNvSpPr>
          <p:nvPr>
            <p:ph type="sldNum" sz="quarter" idx="12"/>
          </p:nvPr>
        </p:nvSpPr>
        <p:spPr/>
        <p:txBody>
          <a:bodyPr/>
          <a:lstStyle/>
          <a:p>
            <a:fld id="{D41FC515-8169-4A29-AA56-DBE520D5741B}" type="slidenum">
              <a:rPr lang="zh-CN" altLang="en-US" smtClean="0"/>
              <a:t>92</a:t>
            </a:fld>
            <a:endParaRPr lang="zh-CN" altLang="en-US"/>
          </a:p>
        </p:txBody>
      </p:sp>
    </p:spTree>
    <p:extLst>
      <p:ext uri="{BB962C8B-B14F-4D97-AF65-F5344CB8AC3E}">
        <p14:creationId xmlns:p14="http://schemas.microsoft.com/office/powerpoint/2010/main" val="33669623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F0D5DA-659C-AA4D-2030-5C7C435C7BC1}"/>
              </a:ext>
            </a:extLst>
          </p:cNvPr>
          <p:cNvSpPr>
            <a:spLocks noGrp="1"/>
          </p:cNvSpPr>
          <p:nvPr>
            <p:ph type="title"/>
          </p:nvPr>
        </p:nvSpPr>
        <p:spPr/>
        <p:txBody>
          <a:bodyPr/>
          <a:lstStyle/>
          <a:p>
            <a:r>
              <a:rPr lang="en-US" altLang="zh-CN" dirty="0"/>
              <a:t>SSIV</a:t>
            </a:r>
            <a:r>
              <a:rPr lang="zh-CN" altLang="en-US" dirty="0"/>
              <a:t>：份额外生性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9EB9863-E066-225F-3855-447819C463D0}"/>
                  </a:ext>
                </a:extLst>
              </p:cNvPr>
              <p:cNvSpPr>
                <a:spLocks noGrp="1"/>
              </p:cNvSpPr>
              <p:nvPr>
                <p:ph idx="1"/>
              </p:nvPr>
            </p:nvSpPr>
            <p:spPr/>
            <p:txBody>
              <a:bodyPr>
                <a:normAutofit fontScale="77500" lnSpcReduction="20000"/>
              </a:bodyPr>
              <a:lstStyle/>
              <a:p>
                <a:pPr>
                  <a:lnSpc>
                    <a:spcPct val="120000"/>
                  </a:lnSpc>
                </a:pPr>
                <a:r>
                  <a:rPr lang="zh-CN" altLang="en-US" dirty="0"/>
                  <a:t>第二种情况：</a:t>
                </a:r>
                <a:r>
                  <a:rPr lang="en-US" altLang="zh-CN" dirty="0"/>
                  <a:t>2 </a:t>
                </a:r>
                <a:r>
                  <a:rPr lang="zh-CN" altLang="en-US" dirty="0"/>
                  <a:t>期</a:t>
                </a:r>
                <a:r>
                  <a:rPr lang="en-US" altLang="zh-CN" dirty="0"/>
                  <a:t>2 </a:t>
                </a:r>
                <a:r>
                  <a:rPr lang="zh-CN" altLang="en-US" dirty="0"/>
                  <a:t>行业</a:t>
                </a:r>
                <a:endParaRPr lang="en-US" altLang="zh-CN" dirty="0"/>
              </a:p>
              <a:p>
                <a:pPr>
                  <a:lnSpc>
                    <a:spcPct val="120000"/>
                  </a:lnSpc>
                </a:pPr>
                <a:r>
                  <a:rPr lang="zh-CN" altLang="en-US" dirty="0"/>
                  <a:t>面板</a:t>
                </a:r>
                <a:r>
                  <a:rPr lang="en-US" altLang="zh-CN" dirty="0"/>
                  <a:t>SSIV</a:t>
                </a:r>
                <a:r>
                  <a:rPr lang="zh-CN" altLang="en-US" dirty="0"/>
                  <a:t>：</a:t>
                </a:r>
                <a:endParaRPr lang="en-US" altLang="zh-CN" dirty="0"/>
              </a:p>
              <a:p>
                <a:pPr marL="0" indent="0">
                  <a:lnSpc>
                    <a:spcPct val="120000"/>
                  </a:lnSpc>
                  <a:buNone/>
                </a:pPr>
                <a14:m>
                  <m:oMathPara xmlns:m="http://schemas.openxmlformats.org/officeDocument/2006/math">
                    <m:o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𝑧</m:t>
                          </m:r>
                        </m:e>
                        <m:sub>
                          <m:r>
                            <a:rPr lang="en-US" altLang="zh-CN" i="1" smtClean="0">
                              <a:latin typeface="Cambria Math" panose="02040503050406030204" pitchFamily="18" charset="0"/>
                            </a:rPr>
                            <m:t>𝑙𝑡</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𝑠</m:t>
                          </m:r>
                        </m:e>
                        <m:sub>
                          <m:r>
                            <a:rPr lang="en-US" altLang="zh-CN" i="1" smtClean="0">
                              <a:latin typeface="Cambria Math" panose="02040503050406030204" pitchFamily="18" charset="0"/>
                            </a:rPr>
                            <m:t>𝑙</m:t>
                          </m:r>
                          <m:r>
                            <a:rPr lang="en-US" altLang="zh-CN" i="1" smtClean="0">
                              <a:latin typeface="Cambria Math" panose="02040503050406030204" pitchFamily="18" charset="0"/>
                            </a:rPr>
                            <m:t>10</m:t>
                          </m:r>
                        </m:sub>
                      </m:sSub>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𝑔</m:t>
                          </m:r>
                        </m:e>
                        <m:sub>
                          <m:r>
                            <a:rPr lang="en-US" altLang="zh-CN" i="1" smtClean="0">
                              <a:latin typeface="Cambria Math" panose="02040503050406030204" pitchFamily="18" charset="0"/>
                            </a:rPr>
                            <m:t>1</m:t>
                          </m:r>
                          <m:r>
                            <a:rPr lang="en-US" altLang="zh-CN" i="1" smtClean="0">
                              <a:latin typeface="Cambria Math" panose="02040503050406030204" pitchFamily="18" charset="0"/>
                            </a:rPr>
                            <m:t>𝑡</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𝑠</m:t>
                          </m:r>
                        </m:e>
                        <m:sub>
                          <m:r>
                            <a:rPr lang="en-US" altLang="zh-CN" i="1" smtClean="0">
                              <a:latin typeface="Cambria Math" panose="02040503050406030204" pitchFamily="18" charset="0"/>
                            </a:rPr>
                            <m:t>𝑙</m:t>
                          </m:r>
                          <m:r>
                            <a:rPr lang="en-US" altLang="zh-CN" i="1" smtClean="0">
                              <a:latin typeface="Cambria Math" panose="02040503050406030204" pitchFamily="18" charset="0"/>
                            </a:rPr>
                            <m:t>20</m:t>
                          </m:r>
                        </m:sub>
                      </m:sSub>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𝑔</m:t>
                          </m:r>
                        </m:e>
                        <m:sub>
                          <m:r>
                            <a:rPr lang="en-US" altLang="zh-CN" i="1" smtClean="0">
                              <a:latin typeface="Cambria Math" panose="02040503050406030204" pitchFamily="18" charset="0"/>
                            </a:rPr>
                            <m:t>2</m:t>
                          </m:r>
                          <m:r>
                            <a:rPr lang="en-US" altLang="zh-CN" i="1" smtClean="0">
                              <a:latin typeface="Cambria Math" panose="02040503050406030204" pitchFamily="18" charset="0"/>
                            </a:rPr>
                            <m:t>𝑡</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𝑔</m:t>
                          </m:r>
                        </m:e>
                        <m:sub>
                          <m:r>
                            <a:rPr lang="en-US" altLang="zh-CN" i="1" smtClean="0">
                              <a:latin typeface="Cambria Math" panose="02040503050406030204" pitchFamily="18" charset="0"/>
                            </a:rPr>
                            <m:t>2</m:t>
                          </m:r>
                          <m:r>
                            <a:rPr lang="en-US" altLang="zh-CN" i="1" smtClean="0">
                              <a:latin typeface="Cambria Math" panose="02040503050406030204" pitchFamily="18" charset="0"/>
                            </a:rPr>
                            <m:t>𝑡</m:t>
                          </m:r>
                        </m:sub>
                      </m:sSub>
                      <m:r>
                        <a:rPr lang="en-US" altLang="zh-CN" i="1" smtClean="0">
                          <a:latin typeface="Cambria Math" panose="02040503050406030204" pitchFamily="18" charset="0"/>
                        </a:rPr>
                        <m:t>+</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𝑔</m:t>
                              </m:r>
                            </m:e>
                            <m:sub>
                              <m:r>
                                <a:rPr lang="en-US" altLang="zh-CN" i="1" smtClean="0">
                                  <a:latin typeface="Cambria Math" panose="02040503050406030204" pitchFamily="18" charset="0"/>
                                </a:rPr>
                                <m:t>1</m:t>
                              </m:r>
                              <m:r>
                                <a:rPr lang="en-US" altLang="zh-CN" i="1" smtClean="0">
                                  <a:latin typeface="Cambria Math" panose="02040503050406030204" pitchFamily="18" charset="0"/>
                                </a:rPr>
                                <m:t>𝑡</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𝑔</m:t>
                              </m:r>
                            </m:e>
                            <m:sub>
                              <m:r>
                                <a:rPr lang="en-US" altLang="zh-CN" i="1" smtClean="0">
                                  <a:latin typeface="Cambria Math" panose="02040503050406030204" pitchFamily="18" charset="0"/>
                                </a:rPr>
                                <m:t>2</m:t>
                              </m:r>
                              <m:r>
                                <a:rPr lang="en-US" altLang="zh-CN" i="1" smtClean="0">
                                  <a:latin typeface="Cambria Math" panose="02040503050406030204" pitchFamily="18" charset="0"/>
                                </a:rPr>
                                <m:t>𝑡</m:t>
                              </m:r>
                            </m:sub>
                          </m:sSub>
                        </m:e>
                      </m:d>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𝑠</m:t>
                          </m:r>
                        </m:e>
                        <m:sub>
                          <m:r>
                            <a:rPr lang="en-US" altLang="zh-CN" i="1" smtClean="0">
                              <a:latin typeface="Cambria Math" panose="02040503050406030204" pitchFamily="18" charset="0"/>
                            </a:rPr>
                            <m:t>𝑙</m:t>
                          </m:r>
                          <m:r>
                            <a:rPr lang="en-US" altLang="zh-CN" i="1" smtClean="0">
                              <a:latin typeface="Cambria Math" panose="02040503050406030204" pitchFamily="18" charset="0"/>
                            </a:rPr>
                            <m:t>10</m:t>
                          </m:r>
                        </m:sub>
                      </m:sSub>
                      <m:r>
                        <a:rPr lang="en-US" altLang="zh-CN" i="1" smtClean="0">
                          <a:latin typeface="Cambria Math" panose="02040503050406030204" pitchFamily="18" charset="0"/>
                        </a:rPr>
                        <m:t>.</m:t>
                      </m:r>
                    </m:oMath>
                  </m:oMathPara>
                </a14:m>
                <a:endParaRPr lang="en-US" altLang="zh-CN" dirty="0"/>
              </a:p>
              <a:p>
                <a:pPr>
                  <a:lnSpc>
                    <a:spcPct val="120000"/>
                  </a:lnSpc>
                </a:pPr>
                <a:r>
                  <a:rPr lang="zh-CN" altLang="en-US" dirty="0"/>
                  <a:t>第一阶段：</a:t>
                </a:r>
                <a:endParaRPr lang="en-US" altLang="zh-CN" dirty="0"/>
              </a:p>
              <a:p>
                <a:pPr marL="0" indent="0">
                  <a:lnSpc>
                    <a:spcPct val="120000"/>
                  </a:lnSpc>
                  <a:buNone/>
                </a:pPr>
                <a14:m>
                  <m:oMathPara xmlns:m="http://schemas.openxmlformats.org/officeDocument/2006/math">
                    <m:oMath>
                      <m:eqArr>
                        <m:eqArrPr>
                          <m:ctrlPr>
                            <a:rPr lang="en-US" altLang="zh-CN" i="1" smtClean="0">
                              <a:latin typeface="Cambria Math" panose="02040503050406030204" pitchFamily="18" charset="0"/>
                            </a:rPr>
                          </m:ctrlPr>
                        </m:eqArr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𝑥</m:t>
                              </m:r>
                            </m:e>
                            <m:sub>
                              <m:r>
                                <a:rPr lang="en-US" altLang="zh-CN" i="1" smtClean="0">
                                  <a:latin typeface="Cambria Math" panose="02040503050406030204" pitchFamily="18" charset="0"/>
                                </a:rPr>
                                <m:t>𝑙𝑡</m:t>
                              </m:r>
                            </m:sub>
                          </m:sSub>
                          <m:r>
                            <m:rPr>
                              <m:aln/>
                            </m:rPr>
                            <a:rPr lang="en-US" altLang="zh-CN" i="1" smtClean="0">
                              <a:latin typeface="Cambria Math" panose="02040503050406030204" pitchFamily="18" charset="0"/>
                            </a:rPr>
                            <m:t>&amp;</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𝜇</m:t>
                              </m:r>
                            </m:e>
                            <m:sub>
                              <m:r>
                                <a:rPr lang="en-US" altLang="zh-CN" i="1" smtClean="0">
                                  <a:latin typeface="Cambria Math" panose="02040503050406030204" pitchFamily="18" charset="0"/>
                                </a:rPr>
                                <m:t>𝑙</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𝜆</m:t>
                              </m:r>
                            </m:e>
                            <m:sub>
                              <m:r>
                                <a:rPr lang="en-US" altLang="zh-CN" i="1" smtClean="0">
                                  <a:latin typeface="Cambria Math" panose="02040503050406030204" pitchFamily="18" charset="0"/>
                                </a:rPr>
                                <m:t>𝑡</m:t>
                              </m:r>
                            </m:sub>
                          </m:sSub>
                          <m:r>
                            <a:rPr lang="en-US" altLang="zh-CN" i="1" smtClean="0">
                              <a:latin typeface="Cambria Math" panose="02040503050406030204" pitchFamily="18" charset="0"/>
                            </a:rPr>
                            <m:t>+</m:t>
                          </m:r>
                          <m:r>
                            <a:rPr lang="en-US" altLang="zh-CN" i="1" smtClean="0">
                              <a:latin typeface="Cambria Math" panose="02040503050406030204" pitchFamily="18" charset="0"/>
                            </a:rPr>
                            <m:t>𝛾</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𝑧</m:t>
                              </m:r>
                            </m:e>
                            <m:sub>
                              <m:r>
                                <a:rPr lang="en-US" altLang="zh-CN" i="1" smtClean="0">
                                  <a:latin typeface="Cambria Math" panose="02040503050406030204" pitchFamily="18" charset="0"/>
                                </a:rPr>
                                <m:t>𝑙𝑡</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𝜂</m:t>
                              </m:r>
                            </m:e>
                            <m:sub>
                              <m:r>
                                <a:rPr lang="en-US" altLang="zh-CN" i="1" smtClean="0">
                                  <a:latin typeface="Cambria Math" panose="02040503050406030204" pitchFamily="18" charset="0"/>
                                </a:rPr>
                                <m:t>𝑙𝑡</m:t>
                              </m:r>
                            </m:sub>
                          </m:sSub>
                          <m:r>
                            <a:rPr lang="en-US" altLang="zh-CN" i="1" smtClean="0">
                              <a:latin typeface="Cambria Math" panose="02040503050406030204" pitchFamily="18" charset="0"/>
                            </a:rPr>
                            <m:t>,</m:t>
                          </m:r>
                        </m:e>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𝑥</m:t>
                              </m:r>
                            </m:e>
                            <m:sub>
                              <m:r>
                                <a:rPr lang="en-US" altLang="zh-CN" i="1" smtClean="0">
                                  <a:latin typeface="Cambria Math" panose="02040503050406030204" pitchFamily="18" charset="0"/>
                                </a:rPr>
                                <m:t>𝑙𝑡</m:t>
                              </m:r>
                            </m:sub>
                          </m:sSub>
                          <m:r>
                            <m:rPr>
                              <m:aln/>
                            </m:rPr>
                            <a:rPr lang="en-US" altLang="zh-CN" i="1" smtClean="0">
                              <a:latin typeface="Cambria Math" panose="02040503050406030204" pitchFamily="18" charset="0"/>
                            </a:rPr>
                            <m:t>&amp;</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𝜇</m:t>
                              </m:r>
                            </m:e>
                            <m:sub>
                              <m:r>
                                <a:rPr lang="en-US" altLang="zh-CN" i="1" smtClean="0">
                                  <a:latin typeface="Cambria Math" panose="02040503050406030204" pitchFamily="18" charset="0"/>
                                </a:rPr>
                                <m:t>𝑙</m:t>
                              </m:r>
                            </m:sub>
                          </m:sSub>
                          <m:r>
                            <a:rPr lang="en-US" altLang="zh-CN" i="1" smtClean="0">
                              <a:latin typeface="Cambria Math" panose="02040503050406030204" pitchFamily="18" charset="0"/>
                            </a:rPr>
                            <m:t>+</m:t>
                          </m:r>
                          <m:limLow>
                            <m:limLowPr>
                              <m:ctrlPr>
                                <a:rPr lang="en-US" altLang="zh-CN" i="1" smtClean="0">
                                  <a:latin typeface="Cambria Math" panose="02040503050406030204" pitchFamily="18" charset="0"/>
                                </a:rPr>
                              </m:ctrlPr>
                            </m:limLowPr>
                            <m:e>
                              <m:groupChr>
                                <m:groupChrPr>
                                  <m:chr m:val="⏟"/>
                                  <m:pos m:val="bot"/>
                                  <m:vertJc m:val="top"/>
                                  <m:ctrlPr>
                                    <a:rPr lang="en-US" altLang="zh-CN" i="1" smtClean="0">
                                      <a:latin typeface="Cambria Math" panose="02040503050406030204" pitchFamily="18" charset="0"/>
                                    </a:rPr>
                                  </m:ctrlPr>
                                </m:groupChrPr>
                                <m:e>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𝜆</m:t>
                                          </m:r>
                                        </m:e>
                                        <m:sub>
                                          <m:r>
                                            <a:rPr lang="en-US" altLang="zh-CN" i="1" smtClean="0">
                                              <a:latin typeface="Cambria Math" panose="02040503050406030204" pitchFamily="18" charset="0"/>
                                            </a:rPr>
                                            <m:t>𝑡</m:t>
                                          </m:r>
                                        </m:sub>
                                      </m:sSub>
                                      <m:r>
                                        <a:rPr lang="en-US" altLang="zh-CN" i="1" smtClean="0">
                                          <a:latin typeface="Cambria Math" panose="02040503050406030204" pitchFamily="18" charset="0"/>
                                        </a:rPr>
                                        <m:t>+</m:t>
                                      </m:r>
                                      <m:r>
                                        <a:rPr lang="en-US" altLang="zh-CN" i="1" smtClean="0">
                                          <a:latin typeface="Cambria Math" panose="02040503050406030204" pitchFamily="18" charset="0"/>
                                        </a:rPr>
                                        <m:t>𝛾</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𝑔</m:t>
                                          </m:r>
                                        </m:e>
                                        <m:sub>
                                          <m:r>
                                            <a:rPr lang="en-US" altLang="zh-CN" i="1" smtClean="0">
                                              <a:latin typeface="Cambria Math" panose="02040503050406030204" pitchFamily="18" charset="0"/>
                                            </a:rPr>
                                            <m:t>2</m:t>
                                          </m:r>
                                          <m:r>
                                            <a:rPr lang="en-US" altLang="zh-CN" i="1" smtClean="0">
                                              <a:latin typeface="Cambria Math" panose="02040503050406030204" pitchFamily="18" charset="0"/>
                                            </a:rPr>
                                            <m:t>𝑡</m:t>
                                          </m:r>
                                        </m:sub>
                                      </m:sSub>
                                    </m:e>
                                  </m:d>
                                </m:e>
                              </m:groupChr>
                            </m:e>
                            <m:lim>
                              <m:sSub>
                                <m:sSubPr>
                                  <m:ctrlPr>
                                    <a:rPr lang="en-US" altLang="zh-CN" i="1" smtClean="0">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i="1" smtClean="0">
                                          <a:latin typeface="Cambria Math" panose="02040503050406030204" pitchFamily="18" charset="0"/>
                                        </a:rPr>
                                        <m:t>𝜆</m:t>
                                      </m:r>
                                    </m:e>
                                  </m:acc>
                                </m:e>
                                <m:sub>
                                  <m:r>
                                    <a:rPr lang="en-US" altLang="zh-CN" i="1" smtClean="0">
                                      <a:latin typeface="Cambria Math" panose="02040503050406030204" pitchFamily="18" charset="0"/>
                                    </a:rPr>
                                    <m:t>𝑡</m:t>
                                  </m:r>
                                </m:sub>
                              </m:sSub>
                            </m:lim>
                          </m:limLow>
                          <m:r>
                            <a:rPr lang="en-US" altLang="zh-CN" i="1" smtClean="0">
                              <a:latin typeface="Cambria Math" panose="02040503050406030204" pitchFamily="18" charset="0"/>
                            </a:rPr>
                            <m:t>+</m:t>
                          </m:r>
                          <m:limLow>
                            <m:limLowPr>
                              <m:ctrlPr>
                                <a:rPr lang="en-US" altLang="zh-CN" i="1" smtClean="0">
                                  <a:latin typeface="Cambria Math" panose="02040503050406030204" pitchFamily="18" charset="0"/>
                                </a:rPr>
                              </m:ctrlPr>
                            </m:limLowPr>
                            <m:e>
                              <m:groupChr>
                                <m:groupChrPr>
                                  <m:chr m:val="⏟"/>
                                  <m:pos m:val="bot"/>
                                  <m:vertJc m:val="top"/>
                                  <m:ctrlPr>
                                    <a:rPr lang="en-US" altLang="zh-CN" i="1" smtClean="0">
                                      <a:latin typeface="Cambria Math" panose="02040503050406030204" pitchFamily="18" charset="0"/>
                                    </a:rPr>
                                  </m:ctrlPr>
                                </m:groupChrPr>
                                <m:e>
                                  <m:r>
                                    <a:rPr lang="en-US" altLang="zh-CN" i="1" smtClean="0">
                                      <a:latin typeface="Cambria Math" panose="02040503050406030204" pitchFamily="18" charset="0"/>
                                    </a:rPr>
                                    <m:t>𝛾</m:t>
                                  </m:r>
                                  <m:r>
                                    <m:rPr>
                                      <m:sty m:val="p"/>
                                    </m:rPr>
                                    <a:rPr lang="en-US" altLang="zh-CN" i="1" smtClean="0">
                                      <a:latin typeface="Cambria Math" panose="02040503050406030204" pitchFamily="18" charset="0"/>
                                    </a:rPr>
                                    <m:t>Δ</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𝑔</m:t>
                                      </m:r>
                                    </m:e>
                                    <m:sub>
                                      <m:r>
                                        <a:rPr lang="en-US" altLang="zh-CN" i="1" smtClean="0">
                                          <a:latin typeface="Cambria Math" panose="02040503050406030204" pitchFamily="18" charset="0"/>
                                        </a:rPr>
                                        <m:t>𝑡</m:t>
                                      </m:r>
                                    </m:sub>
                                  </m:sSub>
                                </m:e>
                              </m:groupChr>
                            </m:e>
                            <m:lim>
                              <m:sSub>
                                <m:sSubPr>
                                  <m:ctrlPr>
                                    <a:rPr lang="en-US" altLang="zh-CN" i="1" smtClean="0">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i="1" smtClean="0">
                                          <a:latin typeface="Cambria Math" panose="02040503050406030204" pitchFamily="18" charset="0"/>
                                        </a:rPr>
                                        <m:t>𝛾</m:t>
                                      </m:r>
                                    </m:e>
                                  </m:acc>
                                </m:e>
                                <m:sub>
                                  <m:r>
                                    <a:rPr lang="en-US" altLang="zh-CN" i="1" smtClean="0">
                                      <a:latin typeface="Cambria Math" panose="02040503050406030204" pitchFamily="18" charset="0"/>
                                    </a:rPr>
                                    <m:t>𝑡</m:t>
                                  </m:r>
                                </m:sub>
                              </m:sSub>
                            </m:lim>
                          </m:limLow>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𝑠</m:t>
                              </m:r>
                            </m:e>
                            <m:sub>
                              <m:r>
                                <a:rPr lang="en-US" altLang="zh-CN" i="1" smtClean="0">
                                  <a:latin typeface="Cambria Math" panose="02040503050406030204" pitchFamily="18" charset="0"/>
                                </a:rPr>
                                <m:t>𝑙</m:t>
                              </m:r>
                              <m:r>
                                <a:rPr lang="en-US" altLang="zh-CN" i="1" smtClean="0">
                                  <a:latin typeface="Cambria Math" panose="02040503050406030204" pitchFamily="18" charset="0"/>
                                </a:rPr>
                                <m:t>10</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𝜂</m:t>
                              </m:r>
                            </m:e>
                            <m:sub>
                              <m:r>
                                <a:rPr lang="en-US" altLang="zh-CN" i="1" smtClean="0">
                                  <a:latin typeface="Cambria Math" panose="02040503050406030204" pitchFamily="18" charset="0"/>
                                </a:rPr>
                                <m:t>𝑙𝑡</m:t>
                              </m:r>
                            </m:sub>
                          </m:sSub>
                          <m:r>
                            <a:rPr lang="en-US" altLang="zh-CN"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其中</a:t>
                </a:r>
                <a14:m>
                  <m:oMath xmlns:m="http://schemas.openxmlformats.org/officeDocument/2006/math">
                    <m:r>
                      <m:rPr>
                        <m:sty m:val="p"/>
                      </m:rPr>
                      <a:rPr lang="el-GR" altLang="zh-CN" i="0" dirty="0" smtClean="0">
                        <a:latin typeface="Cambria Math" panose="02040503050406030204" pitchFamily="18" charset="0"/>
                      </a:rPr>
                      <m:t>Δ</m:t>
                    </m:r>
                    <m:sSub>
                      <m:sSubPr>
                        <m:ctrlPr>
                          <a:rPr lang="zh-CN" altLang="el-GR" i="1" dirty="0">
                            <a:latin typeface="Cambria Math" panose="02040503050406030204" pitchFamily="18" charset="0"/>
                          </a:rPr>
                        </m:ctrlPr>
                      </m:sSubPr>
                      <m:e>
                        <m:r>
                          <a:rPr lang="zh-CN" altLang="el-GR" i="1" dirty="0">
                            <a:latin typeface="Cambria Math" panose="02040503050406030204" pitchFamily="18" charset="0"/>
                          </a:rPr>
                          <m:t>𝑔</m:t>
                        </m:r>
                      </m:e>
                      <m:sub>
                        <m:r>
                          <a:rPr lang="zh-CN" altLang="el-GR" i="1" dirty="0">
                            <a:latin typeface="Cambria Math" panose="02040503050406030204" pitchFamily="18" charset="0"/>
                          </a:rPr>
                          <m:t>𝑡</m:t>
                        </m:r>
                      </m:sub>
                    </m:sSub>
                    <m:r>
                      <a:rPr lang="zh-CN" altLang="el-GR" i="1" dirty="0">
                        <a:latin typeface="Cambria Math" panose="02040503050406030204" pitchFamily="18" charset="0"/>
                      </a:rPr>
                      <m:t> </m:t>
                    </m:r>
                    <m:r>
                      <a:rPr lang="el-GR" altLang="zh-CN" i="1" dirty="0">
                        <a:latin typeface="Cambria Math" panose="02040503050406030204" pitchFamily="18" charset="0"/>
                      </a:rPr>
                      <m:t>= </m:t>
                    </m:r>
                    <m:sSub>
                      <m:sSubPr>
                        <m:ctrlPr>
                          <a:rPr lang="zh-CN" altLang="el-GR" i="1" dirty="0">
                            <a:latin typeface="Cambria Math" panose="02040503050406030204" pitchFamily="18" charset="0"/>
                          </a:rPr>
                        </m:ctrlPr>
                      </m:sSubPr>
                      <m:e>
                        <m:r>
                          <a:rPr lang="zh-CN" altLang="el-GR" i="1" dirty="0">
                            <a:latin typeface="Cambria Math" panose="02040503050406030204" pitchFamily="18" charset="0"/>
                          </a:rPr>
                          <m:t>𝑔</m:t>
                        </m:r>
                      </m:e>
                      <m:sub>
                        <m:r>
                          <a:rPr lang="el-GR" altLang="zh-CN" i="1" dirty="0">
                            <a:latin typeface="Cambria Math" panose="02040503050406030204" pitchFamily="18" charset="0"/>
                          </a:rPr>
                          <m:t>1</m:t>
                        </m:r>
                        <m:r>
                          <a:rPr lang="zh-CN" altLang="el-GR" i="1" dirty="0">
                            <a:latin typeface="Cambria Math" panose="02040503050406030204" pitchFamily="18" charset="0"/>
                          </a:rPr>
                          <m:t>𝑡</m:t>
                        </m:r>
                      </m:sub>
                    </m:sSub>
                    <m:r>
                      <a:rPr lang="zh-CN" altLang="el-GR" i="1" dirty="0">
                        <a:latin typeface="Cambria Math" panose="02040503050406030204" pitchFamily="18" charset="0"/>
                      </a:rPr>
                      <m:t> </m:t>
                    </m:r>
                    <m:r>
                      <a:rPr lang="el-GR" altLang="zh-CN" i="1" dirty="0">
                        <a:latin typeface="Cambria Math" panose="02040503050406030204" pitchFamily="18" charset="0"/>
                      </a:rPr>
                      <m:t>− </m:t>
                    </m:r>
                    <m:sSub>
                      <m:sSubPr>
                        <m:ctrlPr>
                          <a:rPr lang="zh-CN" altLang="el-GR" i="1" dirty="0">
                            <a:latin typeface="Cambria Math" panose="02040503050406030204" pitchFamily="18" charset="0"/>
                          </a:rPr>
                        </m:ctrlPr>
                      </m:sSubPr>
                      <m:e>
                        <m:r>
                          <a:rPr lang="zh-CN" altLang="el-GR" i="1" dirty="0">
                            <a:latin typeface="Cambria Math" panose="02040503050406030204" pitchFamily="18" charset="0"/>
                          </a:rPr>
                          <m:t>𝑔</m:t>
                        </m:r>
                      </m:e>
                      <m:sub>
                        <m:r>
                          <a:rPr lang="el-GR" altLang="zh-CN" i="1" dirty="0">
                            <a:latin typeface="Cambria Math" panose="02040503050406030204" pitchFamily="18" charset="0"/>
                          </a:rPr>
                          <m:t>2</m:t>
                        </m:r>
                        <m:r>
                          <a:rPr lang="zh-CN" altLang="el-GR" i="1" dirty="0">
                            <a:latin typeface="Cambria Math" panose="02040503050406030204" pitchFamily="18" charset="0"/>
                          </a:rPr>
                          <m:t>𝑡</m:t>
                        </m:r>
                      </m:sub>
                    </m:sSub>
                  </m:oMath>
                </a14:m>
                <a:r>
                  <a:rPr lang="zh-CN" altLang="el-GR" dirty="0"/>
                  <a:t>。</a:t>
                </a:r>
                <a:endParaRPr lang="en-US" altLang="zh-CN" dirty="0"/>
              </a:p>
              <a:p>
                <a:pPr marL="0" indent="0">
                  <a:lnSpc>
                    <a:spcPct val="120000"/>
                  </a:lnSpc>
                  <a:buNone/>
                </a:pPr>
                <a:r>
                  <a:rPr lang="zh-CN" altLang="en-US" dirty="0"/>
                  <a:t>行业份额和时间效应的交互项是工具。等价于连续</a:t>
                </a:r>
                <a:r>
                  <a:rPr lang="en-US" altLang="zh-CN" dirty="0"/>
                  <a:t>DID</a:t>
                </a:r>
                <a:r>
                  <a:rPr lang="zh-CN" altLang="en-US" dirty="0"/>
                  <a:t>：</a:t>
                </a:r>
                <a14:m>
                  <m:oMath xmlns:m="http://schemas.openxmlformats.org/officeDocument/2006/math">
                    <m:r>
                      <m:rPr>
                        <m:sty m:val="p"/>
                      </m:rPr>
                      <a:rPr lang="en-US" altLang="zh-CN" i="0" dirty="0" smtClean="0">
                        <a:latin typeface="Cambria Math" panose="02040503050406030204" pitchFamily="18" charset="0"/>
                      </a:rPr>
                      <m:t>Δ</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𝑔</m:t>
                        </m:r>
                      </m:e>
                      <m:sub>
                        <m:r>
                          <a:rPr lang="zh-CN" altLang="en-US" i="1" dirty="0">
                            <a:latin typeface="Cambria Math" panose="02040503050406030204" pitchFamily="18" charset="0"/>
                          </a:rPr>
                          <m:t>𝑡</m:t>
                        </m:r>
                      </m:sub>
                    </m:sSub>
                    <m:r>
                      <a:rPr lang="zh-CN" altLang="en-US" i="1" dirty="0">
                        <a:latin typeface="Cambria Math" panose="02040503050406030204" pitchFamily="18" charset="0"/>
                      </a:rPr>
                      <m:t> </m:t>
                    </m:r>
                  </m:oMath>
                </a14:m>
                <a:r>
                  <a:rPr lang="zh-CN" altLang="en-US" dirty="0"/>
                  <a:t>是政策强度，</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𝑠</m:t>
                        </m:r>
                      </m:e>
                      <m:sub>
                        <m:r>
                          <a:rPr lang="zh-CN" altLang="en-US" i="1" dirty="0" smtClean="0">
                            <a:latin typeface="Cambria Math" panose="02040503050406030204" pitchFamily="18" charset="0"/>
                          </a:rPr>
                          <m:t>𝑙</m:t>
                        </m:r>
                        <m:r>
                          <a:rPr lang="en-US" altLang="zh-CN" i="1" dirty="0">
                            <a:latin typeface="Cambria Math" panose="02040503050406030204" pitchFamily="18" charset="0"/>
                          </a:rPr>
                          <m:t>10</m:t>
                        </m:r>
                      </m:sub>
                    </m:sSub>
                    <m:r>
                      <a:rPr lang="en-US" altLang="zh-CN" i="1" dirty="0">
                        <a:latin typeface="Cambria Math" panose="02040503050406030204" pitchFamily="18" charset="0"/>
                      </a:rPr>
                      <m:t> </m:t>
                    </m:r>
                  </m:oMath>
                </a14:m>
                <a:r>
                  <a:rPr lang="zh-CN" altLang="en-US" dirty="0"/>
                  <a:t>是分组变量。</a:t>
                </a:r>
                <a:endParaRPr lang="en-US" altLang="zh-CN" dirty="0"/>
              </a:p>
              <a:p>
                <a:pPr>
                  <a:lnSpc>
                    <a:spcPct val="120000"/>
                  </a:lnSpc>
                </a:pPr>
                <a:endParaRPr lang="zh-CN" altLang="en-US" dirty="0"/>
              </a:p>
            </p:txBody>
          </p:sp>
        </mc:Choice>
        <mc:Fallback xmlns="">
          <p:sp>
            <p:nvSpPr>
              <p:cNvPr id="3" name="内容占位符 2">
                <a:extLst>
                  <a:ext uri="{FF2B5EF4-FFF2-40B4-BE49-F238E27FC236}">
                    <a16:creationId xmlns:a16="http://schemas.microsoft.com/office/drawing/2014/main" id="{F9EB9863-E066-225F-3855-447819C463D0}"/>
                  </a:ext>
                </a:extLst>
              </p:cNvPr>
              <p:cNvSpPr>
                <a:spLocks noGrp="1" noRot="1" noChangeAspect="1" noMove="1" noResize="1" noEditPoints="1" noAdjustHandles="1" noChangeArrowheads="1" noChangeShapeType="1" noTextEdit="1"/>
              </p:cNvSpPr>
              <p:nvPr>
                <p:ph idx="1"/>
              </p:nvPr>
            </p:nvSpPr>
            <p:spPr>
              <a:blipFill>
                <a:blip r:embed="rId2"/>
                <a:stretch>
                  <a:fillRect l="-1005" t="-840" r="-10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286DEF2-C6B3-54AC-E1B9-B0CC13214FC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2015F97-FFA7-CF05-4038-F073C643BA22}"/>
              </a:ext>
            </a:extLst>
          </p:cNvPr>
          <p:cNvSpPr>
            <a:spLocks noGrp="1"/>
          </p:cNvSpPr>
          <p:nvPr>
            <p:ph type="sldNum" sz="quarter" idx="12"/>
          </p:nvPr>
        </p:nvSpPr>
        <p:spPr/>
        <p:txBody>
          <a:bodyPr/>
          <a:lstStyle/>
          <a:p>
            <a:fld id="{D41FC515-8169-4A29-AA56-DBE520D5741B}" type="slidenum">
              <a:rPr lang="zh-CN" altLang="en-US" smtClean="0"/>
              <a:t>93</a:t>
            </a:fld>
            <a:endParaRPr lang="zh-CN" altLang="en-US"/>
          </a:p>
        </p:txBody>
      </p:sp>
    </p:spTree>
    <p:extLst>
      <p:ext uri="{BB962C8B-B14F-4D97-AF65-F5344CB8AC3E}">
        <p14:creationId xmlns:p14="http://schemas.microsoft.com/office/powerpoint/2010/main" val="31384128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895CF5-C39F-DFDA-1FDA-0FBC0963EB07}"/>
              </a:ext>
            </a:extLst>
          </p:cNvPr>
          <p:cNvSpPr>
            <a:spLocks noGrp="1"/>
          </p:cNvSpPr>
          <p:nvPr>
            <p:ph type="title"/>
          </p:nvPr>
        </p:nvSpPr>
        <p:spPr/>
        <p:txBody>
          <a:bodyPr/>
          <a:lstStyle/>
          <a:p>
            <a:r>
              <a:rPr lang="en-US" altLang="zh-CN" dirty="0"/>
              <a:t>SSIV</a:t>
            </a:r>
            <a:r>
              <a:rPr lang="zh-CN" altLang="en-US" dirty="0"/>
              <a:t>：份额外生性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52D763E-D505-EF0B-D5E4-EC4322C0992B}"/>
                  </a:ext>
                </a:extLst>
              </p:cNvPr>
              <p:cNvSpPr>
                <a:spLocks noGrp="1"/>
              </p:cNvSpPr>
              <p:nvPr>
                <p:ph idx="1"/>
              </p:nvPr>
            </p:nvSpPr>
            <p:spPr/>
            <p:txBody>
              <a:bodyPr>
                <a:normAutofit fontScale="92500" lnSpcReduction="20000"/>
              </a:bodyPr>
              <a:lstStyle/>
              <a:p>
                <a:pPr>
                  <a:lnSpc>
                    <a:spcPct val="100000"/>
                  </a:lnSpc>
                </a:pPr>
                <a:r>
                  <a:rPr lang="zh-CN" altLang="en-US" dirty="0"/>
                  <a:t>第三种情况：</a:t>
                </a:r>
                <a:r>
                  <a:rPr lang="en-US" altLang="zh-CN" dirty="0"/>
                  <a:t>1 </a:t>
                </a:r>
                <a:r>
                  <a:rPr lang="zh-CN" altLang="en-US" dirty="0"/>
                  <a:t>期</a:t>
                </a:r>
                <a:r>
                  <a:rPr lang="en-US" altLang="zh-CN" dirty="0"/>
                  <a:t>K </a:t>
                </a:r>
                <a:r>
                  <a:rPr lang="zh-CN" altLang="en-US" dirty="0"/>
                  <a:t>行业</a:t>
                </a:r>
                <a:endParaRPr lang="en-US" altLang="zh-CN" dirty="0"/>
              </a:p>
              <a:p>
                <a:pPr>
                  <a:lnSpc>
                    <a:spcPct val="100000"/>
                  </a:lnSpc>
                </a:pPr>
                <a:r>
                  <a:rPr lang="zh-CN" altLang="en-US" dirty="0"/>
                  <a:t>𝐺</a:t>
                </a:r>
                <a:r>
                  <a:rPr lang="en-US" altLang="zh-CN" dirty="0"/>
                  <a:t>: </a:t>
                </a:r>
                <a:r>
                  <a:rPr lang="zh-CN" altLang="en-US" dirty="0"/>
                  <a:t>𝐾 </a:t>
                </a:r>
                <a:r>
                  <a:rPr lang="en-US" altLang="zh-CN" dirty="0"/>
                  <a:t>× 1 vector of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zh-CN" altLang="en-US" i="1" dirty="0" smtClean="0">
                            <a:latin typeface="Cambria Math" panose="02040503050406030204" pitchFamily="18" charset="0"/>
                          </a:rPr>
                          <m:t>𝑘</m:t>
                        </m:r>
                      </m:sub>
                    </m:sSub>
                  </m:oMath>
                </a14:m>
                <a:endParaRPr lang="en-US" altLang="zh-CN" dirty="0"/>
              </a:p>
              <a:p>
                <a:pPr>
                  <a:lnSpc>
                    <a:spcPct val="100000"/>
                  </a:lnSpc>
                </a:pPr>
                <a:r>
                  <a:rPr lang="zh-CN" altLang="en-US" dirty="0"/>
                  <a:t>𝑍</a:t>
                </a:r>
                <a:r>
                  <a:rPr lang="en-US" altLang="zh-CN" dirty="0"/>
                  <a:t>: </a:t>
                </a:r>
                <a:r>
                  <a:rPr lang="zh-CN" altLang="en-US" dirty="0"/>
                  <a:t>𝐿 </a:t>
                </a:r>
                <a:r>
                  <a:rPr lang="en-US" altLang="zh-CN" dirty="0"/>
                  <a:t>× </a:t>
                </a:r>
                <a:r>
                  <a:rPr lang="zh-CN" altLang="en-US" dirty="0"/>
                  <a:t>𝐾</a:t>
                </a:r>
                <a:r>
                  <a:rPr lang="en-US" altLang="zh-CN" dirty="0"/>
                  <a:t>, matrix of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𝑍</m:t>
                        </m:r>
                      </m:e>
                      <m:sub>
                        <m:r>
                          <a:rPr lang="zh-CN" altLang="en-US" i="1" dirty="0" smtClean="0">
                            <a:latin typeface="Cambria Math" panose="02040503050406030204" pitchFamily="18" charset="0"/>
                          </a:rPr>
                          <m:t>𝑙</m:t>
                        </m:r>
                      </m:sub>
                    </m:sSub>
                  </m:oMath>
                </a14:m>
                <a:endParaRPr lang="en-US" altLang="zh-CN" dirty="0"/>
              </a:p>
              <a:p>
                <a:pPr>
                  <a:lnSpc>
                    <a:spcPct val="100000"/>
                  </a:lnSpc>
                </a:pPr>
                <a:r>
                  <a:rPr lang="zh-CN" altLang="en-US" dirty="0"/>
                  <a:t>𝑌 </a:t>
                </a:r>
                <a:r>
                  <a:rPr lang="en-US" altLang="zh-CN" dirty="0"/>
                  <a:t>⟂, </a:t>
                </a:r>
                <a:r>
                  <a:rPr lang="zh-CN" altLang="en-US" dirty="0"/>
                  <a:t>𝑋</a:t>
                </a:r>
                <a:r>
                  <a:rPr lang="en-US" altLang="zh-CN" dirty="0"/>
                  <a:t>⟂, </a:t>
                </a:r>
                <a:r>
                  <a:rPr lang="zh-CN" altLang="en-US" dirty="0"/>
                  <a:t>𝐵 </a:t>
                </a:r>
                <a:r>
                  <a:rPr lang="en-US" altLang="zh-CN" dirty="0"/>
                  <a:t>= (</a:t>
                </a:r>
                <a:r>
                  <a:rPr lang="zh-CN" altLang="en-US" dirty="0"/>
                  <a:t>𝑍𝐺</a:t>
                </a:r>
                <a:r>
                  <a:rPr lang="en-US" altLang="zh-CN" dirty="0"/>
                  <a:t>): </a:t>
                </a:r>
                <a:r>
                  <a:rPr lang="zh-CN" altLang="en-US" dirty="0"/>
                  <a:t>𝐿 </a:t>
                </a:r>
                <a:r>
                  <a:rPr lang="en-US" altLang="zh-CN" dirty="0"/>
                  <a:t>× 1, vectors of </a:t>
                </a:r>
                <a:r>
                  <a:rPr lang="zh-CN" altLang="en-US" dirty="0"/>
                  <a:t>𝑦</a:t>
                </a:r>
                <a:r>
                  <a:rPr lang="en-US" altLang="zh-CN" dirty="0"/>
                  <a:t>⟂</a:t>
                </a:r>
                <a:r>
                  <a:rPr lang="zh-CN" altLang="en-US" dirty="0"/>
                  <a:t>𝑙 </a:t>
                </a:r>
                <a:r>
                  <a:rPr lang="en-US" altLang="zh-CN" dirty="0"/>
                  <a:t>, </a:t>
                </a:r>
                <a:r>
                  <a:rPr lang="zh-CN" altLang="en-US" dirty="0"/>
                  <a:t>𝑥⟂𝑙 </a:t>
                </a:r>
                <a:r>
                  <a:rPr lang="en-US" altLang="zh-CN" dirty="0"/>
                  <a:t>and </a:t>
                </a:r>
                <a:r>
                  <a:rPr lang="zh-CN" altLang="en-US" dirty="0"/>
                  <a:t>𝐵𝑙</a:t>
                </a:r>
                <a:endParaRPr lang="en-US" altLang="zh-CN" dirty="0"/>
              </a:p>
              <a:p>
                <a:pPr>
                  <a:lnSpc>
                    <a:spcPct val="100000"/>
                  </a:lnSpc>
                </a:pPr>
                <a:r>
                  <a:rPr lang="el-GR" altLang="zh-CN" dirty="0"/>
                  <a:t>Ω: </a:t>
                </a:r>
                <a:r>
                  <a:rPr lang="zh-CN" altLang="el-GR" dirty="0"/>
                  <a:t>𝐾 </a:t>
                </a:r>
                <a:r>
                  <a:rPr lang="el-GR" altLang="zh-CN" dirty="0"/>
                  <a:t>× </a:t>
                </a:r>
                <a:r>
                  <a:rPr lang="zh-CN" altLang="el-GR" dirty="0"/>
                  <a:t>𝐾</a:t>
                </a:r>
                <a:endParaRPr lang="en-US" altLang="zh-CN" dirty="0"/>
              </a:p>
              <a:p>
                <a:pPr>
                  <a:lnSpc>
                    <a:spcPct val="100000"/>
                  </a:lnSpc>
                </a:pPr>
                <a14:m>
                  <m:oMath xmlns:m="http://schemas.openxmlformats.org/officeDocument/2006/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e>
                          <m:sub>
                            <m:r>
                              <a:rPr lang="zh-CN" altLang="en-US" i="1" smtClean="0">
                                <a:latin typeface="Cambria Math" panose="02040503050406030204" pitchFamily="18" charset="0"/>
                              </a:rPr>
                              <m:t>𝐵𝑎𝑟𝑡𝑖𝑘</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𝐵</m:t>
                                </m:r>
                              </m:e>
                              <m:sup>
                                <m:r>
                                  <a:rPr lang="zh-CN" altLang="en-US" i="1" smtClean="0">
                                    <a:latin typeface="Cambria Math" panose="02040503050406030204" pitchFamily="18" charset="0"/>
                                  </a:rPr>
                                  <m:t>′</m:t>
                                </m:r>
                              </m:sup>
                            </m:sSup>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𝑌</m:t>
                                </m:r>
                              </m:e>
                              <m:sup>
                                <m:r>
                                  <a:rPr lang="zh-CN" altLang="en-US" i="1" smtClean="0">
                                    <a:latin typeface="Cambria Math" panose="02040503050406030204" pitchFamily="18" charset="0"/>
                                  </a:rPr>
                                  <m:t>⊥</m:t>
                                </m:r>
                              </m:sup>
                            </m:sSup>
                          </m:num>
                          <m:den>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𝐵</m:t>
                                </m:r>
                              </m:e>
                              <m:sup>
                                <m:r>
                                  <a:rPr lang="zh-CN" altLang="en-US" i="1" smtClean="0">
                                    <a:latin typeface="Cambria Math" panose="02040503050406030204" pitchFamily="18" charset="0"/>
                                  </a:rPr>
                                  <m:t>′</m:t>
                                </m:r>
                              </m:sup>
                            </m:sSup>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𝑋</m:t>
                                </m:r>
                              </m:e>
                              <m:sup>
                                <m:r>
                                  <a:rPr lang="zh-CN" altLang="en-US" i="1" smtClean="0">
                                    <a:latin typeface="Cambria Math" panose="02040503050406030204" pitchFamily="18" charset="0"/>
                                  </a:rPr>
                                  <m:t>⊥</m:t>
                                </m:r>
                              </m:sup>
                            </m:sSup>
                          </m:den>
                        </m:f>
                      </m:e>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e>
                          <m:sub>
                            <m:r>
                              <a:rPr lang="zh-CN" altLang="en-US" i="1" smtClean="0">
                                <a:latin typeface="Cambria Math" panose="02040503050406030204" pitchFamily="18" charset="0"/>
                              </a:rPr>
                              <m:t>𝐺𝑀𝑀</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d>
                              <m:dPr>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𝑋</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𝑍</m:t>
                                </m:r>
                              </m:e>
                            </m:d>
                            <m:r>
                              <m:rPr>
                                <m:sty m:val="p"/>
                              </m:rPr>
                              <a:rPr lang="zh-CN" altLang="en-US" i="1" smtClean="0">
                                <a:latin typeface="Cambria Math" panose="02040503050406030204" pitchFamily="18" charset="0"/>
                              </a:rPr>
                              <m:t>Ω</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𝑌</m:t>
                                    </m:r>
                                  </m:e>
                                  <m:sup>
                                    <m:r>
                                      <a:rPr lang="zh-CN" altLang="en-US" i="1" smtClean="0">
                                        <a:latin typeface="Cambria Math" panose="02040503050406030204" pitchFamily="18" charset="0"/>
                                      </a:rPr>
                                      <m:t>⊥</m:t>
                                    </m:r>
                                  </m:sup>
                                </m:sSup>
                              </m:e>
                            </m:d>
                          </m:num>
                          <m:den>
                            <m:d>
                              <m:dPr>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𝑋</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𝑍</m:t>
                                </m:r>
                              </m:e>
                            </m:d>
                            <m:r>
                              <m:rPr>
                                <m:sty m:val="p"/>
                              </m:rPr>
                              <a:rPr lang="zh-CN" altLang="en-US" i="1" smtClean="0">
                                <a:latin typeface="Cambria Math" panose="02040503050406030204" pitchFamily="18" charset="0"/>
                              </a:rPr>
                              <m:t>Ω</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𝑍</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𝑋</m:t>
                                    </m:r>
                                  </m:e>
                                  <m:sup>
                                    <m:r>
                                      <a:rPr lang="zh-CN" altLang="en-US" i="1" smtClean="0">
                                        <a:latin typeface="Cambria Math" panose="02040503050406030204" pitchFamily="18" charset="0"/>
                                      </a:rPr>
                                      <m:t>⊥</m:t>
                                    </m:r>
                                  </m:sup>
                                </m:sSup>
                              </m:e>
                            </m:d>
                          </m:den>
                        </m:f>
                      </m:e>
                    </m:eqArr>
                  </m:oMath>
                </a14:m>
                <a:endParaRPr lang="en-US" altLang="zh-CN" dirty="0"/>
              </a:p>
              <a:p>
                <a:pPr>
                  <a:lnSpc>
                    <a:spcPct val="100000"/>
                  </a:lnSpc>
                </a:pPr>
                <a:r>
                  <a:rPr lang="en-US" altLang="zh-CN" dirty="0"/>
                  <a:t>If </a:t>
                </a:r>
                <a14:m>
                  <m:oMath xmlns:m="http://schemas.openxmlformats.org/officeDocument/2006/math">
                    <m:r>
                      <m:rPr>
                        <m:sty m:val="p"/>
                      </m:rPr>
                      <a:rPr lang="en-US" altLang="zh-CN" i="0" dirty="0" smtClean="0">
                        <a:latin typeface="Cambria Math" panose="02040503050406030204" pitchFamily="18" charset="0"/>
                      </a:rPr>
                      <m:t>Ω</m:t>
                    </m:r>
                    <m:r>
                      <a:rPr lang="en-US" altLang="zh-CN" i="1" dirty="0" smtClean="0">
                        <a:latin typeface="Cambria Math" panose="02040503050406030204" pitchFamily="18" charset="0"/>
                      </a:rPr>
                      <m:t> = </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𝐺</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𝐺</m:t>
                            </m:r>
                          </m:e>
                          <m:sup>
                            <m:r>
                              <a:rPr lang="en-US" altLang="zh-CN" b="0" i="1" dirty="0" smtClean="0">
                                <a:latin typeface="Cambria Math" panose="02040503050406030204" pitchFamily="18" charset="0"/>
                              </a:rPr>
                              <m:t>′</m:t>
                            </m:r>
                          </m:sup>
                        </m:sSup>
                      </m:e>
                    </m:d>
                  </m:oMath>
                </a14:m>
                <a:r>
                  <a:rPr lang="zh-CN" altLang="en-US" dirty="0"/>
                  <a:t>，</a:t>
                </a:r>
                <a:r>
                  <a:rPr lang="en-US" altLang="zh-CN" dirty="0"/>
                  <a:t>the</a:t>
                </a:r>
                <a14:m>
                  <m:oMath xmlns:m="http://schemas.openxmlformats.org/officeDocument/2006/math">
                    <m:r>
                      <m:rPr>
                        <m:sty m:val="p"/>
                      </m:rPr>
                      <a:rPr lang="en-US" altLang="zh-CN" b="0" i="0" dirty="0" smtClean="0">
                        <a:latin typeface="Cambria Math" panose="02040503050406030204" pitchFamily="18" charset="0"/>
                      </a:rPr>
                      <m:t>n</m:t>
                    </m:r>
                    <m:r>
                      <a:rPr lang="en-US" altLang="zh-CN" b="0" i="0"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acc>
                          <m:accPr>
                            <m:chr m:val="̂"/>
                            <m:ctrlPr>
                              <a:rPr lang="en-US" altLang="zh-CN" i="1" dirty="0" smtClean="0">
                                <a:latin typeface="Cambria Math" panose="02040503050406030204" pitchFamily="18" charset="0"/>
                              </a:rPr>
                            </m:ctrlPr>
                          </m:accPr>
                          <m:e>
                            <m:r>
                              <a:rPr lang="en-US" altLang="zh-CN" i="1" dirty="0" smtClean="0">
                                <a:latin typeface="Cambria Math" panose="02040503050406030204" pitchFamily="18" charset="0"/>
                              </a:rPr>
                              <m:t>𝛽</m:t>
                            </m:r>
                          </m:e>
                        </m:acc>
                      </m:e>
                      <m:sub>
                        <m:r>
                          <a:rPr lang="en-US" altLang="zh-CN" i="1" dirty="0">
                            <a:latin typeface="Cambria Math" panose="02040503050406030204" pitchFamily="18" charset="0"/>
                          </a:rPr>
                          <m:t>𝐵𝑎𝑟𝑡𝑖𝑘</m:t>
                        </m:r>
                      </m:sub>
                    </m:sSub>
                    <m:r>
                      <a:rPr lang="en-US" altLang="zh-CN" i="1" dirty="0">
                        <a:latin typeface="Cambria Math" panose="02040503050406030204" pitchFamily="18" charset="0"/>
                      </a:rPr>
                      <m:t>=</m:t>
                    </m:r>
                    <m:sSub>
                      <m:sSubPr>
                        <m:ctrlPr>
                          <a:rPr lang="en-US" altLang="zh-CN" i="1" dirty="0" smtClean="0">
                            <a:latin typeface="Cambria Math" panose="02040503050406030204" pitchFamily="18" charset="0"/>
                          </a:rPr>
                        </m:ctrlPr>
                      </m:sSubPr>
                      <m:e>
                        <m:acc>
                          <m:accPr>
                            <m:chr m:val="̂"/>
                            <m:ctrlPr>
                              <a:rPr lang="en-US" altLang="zh-CN" i="1" dirty="0" smtClean="0">
                                <a:latin typeface="Cambria Math" panose="02040503050406030204" pitchFamily="18" charset="0"/>
                              </a:rPr>
                            </m:ctrlPr>
                          </m:accPr>
                          <m:e>
                            <m:r>
                              <a:rPr lang="en-US" altLang="zh-CN" i="1" dirty="0" smtClean="0">
                                <a:latin typeface="Cambria Math" panose="02040503050406030204" pitchFamily="18" charset="0"/>
                              </a:rPr>
                              <m:t>𝛽</m:t>
                            </m:r>
                          </m:e>
                        </m:acc>
                      </m:e>
                      <m:sub>
                        <m:r>
                          <a:rPr lang="en-US" altLang="zh-CN" i="1" dirty="0">
                            <a:latin typeface="Cambria Math" panose="02040503050406030204" pitchFamily="18" charset="0"/>
                          </a:rPr>
                          <m:t>𝐺𝑀𝑀</m:t>
                        </m:r>
                      </m:sub>
                    </m:sSub>
                  </m:oMath>
                </a14:m>
                <a:endParaRPr lang="en-US" altLang="zh-CN" dirty="0"/>
              </a:p>
              <a:p>
                <a:pPr>
                  <a:lnSpc>
                    <a:spcPct val="100000"/>
                  </a:lnSpc>
                </a:pPr>
                <a:endParaRPr lang="zh-CN" altLang="en-US" dirty="0"/>
              </a:p>
            </p:txBody>
          </p:sp>
        </mc:Choice>
        <mc:Fallback xmlns="">
          <p:sp>
            <p:nvSpPr>
              <p:cNvPr id="3" name="内容占位符 2">
                <a:extLst>
                  <a:ext uri="{FF2B5EF4-FFF2-40B4-BE49-F238E27FC236}">
                    <a16:creationId xmlns:a16="http://schemas.microsoft.com/office/drawing/2014/main" id="{952D763E-D505-EF0B-D5E4-EC4322C0992B}"/>
                  </a:ext>
                </a:extLst>
              </p:cNvPr>
              <p:cNvSpPr>
                <a:spLocks noGrp="1" noRot="1" noChangeAspect="1" noMove="1" noResize="1" noEditPoints="1" noAdjustHandles="1" noChangeArrowheads="1" noChangeShapeType="1" noTextEdit="1"/>
              </p:cNvSpPr>
              <p:nvPr>
                <p:ph idx="1"/>
              </p:nvPr>
            </p:nvSpPr>
            <p:spPr>
              <a:blipFill>
                <a:blip r:embed="rId2"/>
                <a:stretch>
                  <a:fillRect l="-1159" t="-308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C84D22BF-7FFE-3E80-08D4-DF7349076DA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7341717-E112-4D28-CE2C-CA1F0058930E}"/>
              </a:ext>
            </a:extLst>
          </p:cNvPr>
          <p:cNvSpPr>
            <a:spLocks noGrp="1"/>
          </p:cNvSpPr>
          <p:nvPr>
            <p:ph type="sldNum" sz="quarter" idx="12"/>
          </p:nvPr>
        </p:nvSpPr>
        <p:spPr/>
        <p:txBody>
          <a:bodyPr/>
          <a:lstStyle/>
          <a:p>
            <a:fld id="{D41FC515-8169-4A29-AA56-DBE520D5741B}" type="slidenum">
              <a:rPr lang="zh-CN" altLang="en-US" smtClean="0"/>
              <a:t>94</a:t>
            </a:fld>
            <a:endParaRPr lang="zh-CN" altLang="en-US"/>
          </a:p>
        </p:txBody>
      </p:sp>
    </p:spTree>
    <p:extLst>
      <p:ext uri="{BB962C8B-B14F-4D97-AF65-F5344CB8AC3E}">
        <p14:creationId xmlns:p14="http://schemas.microsoft.com/office/powerpoint/2010/main" val="34541447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E0ABB-7704-C92B-1E64-0F4859674E4D}"/>
              </a:ext>
            </a:extLst>
          </p:cNvPr>
          <p:cNvSpPr>
            <a:spLocks noGrp="1"/>
          </p:cNvSpPr>
          <p:nvPr>
            <p:ph type="title"/>
          </p:nvPr>
        </p:nvSpPr>
        <p:spPr/>
        <p:txBody>
          <a:bodyPr/>
          <a:lstStyle/>
          <a:p>
            <a:r>
              <a:rPr lang="en-US" altLang="zh-CN" dirty="0"/>
              <a:t>SSIV</a:t>
            </a:r>
            <a:r>
              <a:rPr lang="zh-CN" altLang="en-US" dirty="0"/>
              <a:t>：份额外生性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AC64735-4586-158A-EA12-0108B92F9D9F}"/>
                  </a:ext>
                </a:extLst>
              </p:cNvPr>
              <p:cNvSpPr>
                <a:spLocks noGrp="1"/>
              </p:cNvSpPr>
              <p:nvPr>
                <p:ph idx="1"/>
              </p:nvPr>
            </p:nvSpPr>
            <p:spPr/>
            <p:txBody>
              <a:bodyPr>
                <a:normAutofit fontScale="85000" lnSpcReduction="20000"/>
              </a:bodyPr>
              <a:lstStyle/>
              <a:p>
                <a:r>
                  <a:rPr lang="zh-CN" altLang="en-US" dirty="0"/>
                  <a:t>第四种情况：</a:t>
                </a:r>
                <a:r>
                  <a:rPr lang="en-US" altLang="zh-CN" dirty="0"/>
                  <a:t>T </a:t>
                </a:r>
                <a:r>
                  <a:rPr lang="zh-CN" altLang="en-US" dirty="0"/>
                  <a:t>期</a:t>
                </a:r>
                <a:r>
                  <a:rPr lang="en-US" altLang="zh-CN" dirty="0"/>
                  <a:t>K </a:t>
                </a:r>
                <a:r>
                  <a:rPr lang="zh-CN" altLang="en-US" dirty="0"/>
                  <a:t>行业</a:t>
                </a:r>
                <a:endParaRPr lang="en-US" altLang="zh-CN" dirty="0"/>
              </a:p>
              <a:p>
                <a:r>
                  <a:rPr lang="en-US" altLang="zh-CN" dirty="0"/>
                  <a:t>TSLS with Bartik instrument</a:t>
                </a:r>
              </a:p>
              <a:p>
                <a:r>
                  <a:rPr lang="en-US" altLang="zh-CN" dirty="0"/>
                  <a:t>GMM with industry shares × time period as instruments and a particular weight matrix</a:t>
                </a:r>
              </a:p>
              <a:p>
                <a14:m>
                  <m:oMath xmlns:m="http://schemas.openxmlformats.org/officeDocument/2006/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e>
                          <m:sub>
                            <m:r>
                              <a:rPr lang="zh-CN" altLang="en-US" i="1" smtClean="0">
                                <a:latin typeface="Cambria Math" panose="02040503050406030204" pitchFamily="18" charset="0"/>
                              </a:rPr>
                              <m:t>𝐵𝑎𝑟𝑡𝑖𝑘</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b="1" i="1" smtClean="0">
                                <a:latin typeface="Cambria Math" panose="02040503050406030204" pitchFamily="18" charset="0"/>
                              </a:rPr>
                            </m:ctrlPr>
                          </m:fPr>
                          <m:num>
                            <m:sSup>
                              <m:sSupPr>
                                <m:ctrlPr>
                                  <a:rPr lang="zh-CN" altLang="en-US" b="1" i="1" smtClean="0">
                                    <a:latin typeface="Cambria Math" panose="02040503050406030204" pitchFamily="18" charset="0"/>
                                  </a:rPr>
                                </m:ctrlPr>
                              </m:sSupPr>
                              <m:e>
                                <m:r>
                                  <a:rPr lang="zh-CN" altLang="en-US" b="1" i="1" smtClean="0">
                                    <a:latin typeface="Cambria Math" panose="02040503050406030204" pitchFamily="18" charset="0"/>
                                  </a:rPr>
                                  <m:t>𝐁</m:t>
                                </m:r>
                              </m:e>
                              <m:sup>
                                <m:r>
                                  <a:rPr lang="zh-CN" altLang="en-US" b="0" i="1" smtClean="0">
                                    <a:latin typeface="Cambria Math" panose="02040503050406030204" pitchFamily="18" charset="0"/>
                                  </a:rPr>
                                  <m:t>′</m:t>
                                </m:r>
                              </m:sup>
                            </m:sSup>
                            <m:sSup>
                              <m:sSupPr>
                                <m:ctrlPr>
                                  <a:rPr lang="zh-CN" altLang="en-US" b="1" i="1" smtClean="0">
                                    <a:latin typeface="Cambria Math" panose="02040503050406030204" pitchFamily="18" charset="0"/>
                                  </a:rPr>
                                </m:ctrlPr>
                              </m:sSupPr>
                              <m:e>
                                <m:acc>
                                  <m:accPr>
                                    <m:chr m:val="̃"/>
                                    <m:ctrlPr>
                                      <a:rPr lang="zh-CN" altLang="en-US" b="1" i="1" smtClean="0">
                                        <a:latin typeface="Cambria Math" panose="02040503050406030204" pitchFamily="18" charset="0"/>
                                      </a:rPr>
                                    </m:ctrlPr>
                                  </m:accPr>
                                  <m:e>
                                    <m:r>
                                      <a:rPr lang="zh-CN" altLang="en-US" b="1" i="1" smtClean="0">
                                        <a:latin typeface="Cambria Math" panose="02040503050406030204" pitchFamily="18" charset="0"/>
                                      </a:rPr>
                                      <m:t>𝐘</m:t>
                                    </m:r>
                                  </m:e>
                                </m:acc>
                              </m:e>
                              <m:sup>
                                <m:r>
                                  <a:rPr lang="zh-CN" altLang="en-US" b="0" i="1" smtClean="0">
                                    <a:latin typeface="Cambria Math" panose="02040503050406030204" pitchFamily="18" charset="0"/>
                                  </a:rPr>
                                  <m:t>⊥</m:t>
                                </m:r>
                              </m:sup>
                            </m:sSup>
                          </m:num>
                          <m:den>
                            <m:sSup>
                              <m:sSupPr>
                                <m:ctrlPr>
                                  <a:rPr lang="zh-CN" altLang="en-US" b="1" i="1" smtClean="0">
                                    <a:latin typeface="Cambria Math" panose="02040503050406030204" pitchFamily="18" charset="0"/>
                                  </a:rPr>
                                </m:ctrlPr>
                              </m:sSupPr>
                              <m:e>
                                <m:r>
                                  <a:rPr lang="zh-CN" altLang="en-US" b="1" i="1" smtClean="0">
                                    <a:latin typeface="Cambria Math" panose="02040503050406030204" pitchFamily="18" charset="0"/>
                                  </a:rPr>
                                  <m:t>𝐁</m:t>
                                </m:r>
                              </m:e>
                              <m:sup>
                                <m:r>
                                  <a:rPr lang="zh-CN" altLang="en-US" b="0" i="1" smtClean="0">
                                    <a:latin typeface="Cambria Math" panose="02040503050406030204" pitchFamily="18" charset="0"/>
                                  </a:rPr>
                                  <m:t>′</m:t>
                                </m:r>
                              </m:sup>
                            </m:sSup>
                            <m:sSup>
                              <m:sSupPr>
                                <m:ctrlPr>
                                  <a:rPr lang="zh-CN" altLang="en-US" b="1" i="1" smtClean="0">
                                    <a:latin typeface="Cambria Math" panose="02040503050406030204" pitchFamily="18" charset="0"/>
                                  </a:rPr>
                                </m:ctrlPr>
                              </m:sSupPr>
                              <m:e>
                                <m:acc>
                                  <m:accPr>
                                    <m:chr m:val="̃"/>
                                    <m:ctrlPr>
                                      <a:rPr lang="zh-CN" altLang="en-US" b="1" i="1" smtClean="0">
                                        <a:latin typeface="Cambria Math" panose="02040503050406030204" pitchFamily="18" charset="0"/>
                                      </a:rPr>
                                    </m:ctrlPr>
                                  </m:accPr>
                                  <m:e>
                                    <m:r>
                                      <a:rPr lang="zh-CN" altLang="en-US" b="1" i="1" smtClean="0">
                                        <a:latin typeface="Cambria Math" panose="02040503050406030204" pitchFamily="18" charset="0"/>
                                      </a:rPr>
                                      <m:t>𝐗</m:t>
                                    </m:r>
                                  </m:e>
                                </m:acc>
                              </m:e>
                              <m:sup>
                                <m:r>
                                  <a:rPr lang="zh-CN" altLang="en-US" b="0" i="1" smtClean="0">
                                    <a:latin typeface="Cambria Math" panose="02040503050406030204" pitchFamily="18" charset="0"/>
                                  </a:rPr>
                                  <m:t>⊥</m:t>
                                </m:r>
                              </m:sup>
                            </m:sSup>
                          </m:den>
                        </m:f>
                      </m:e>
                      <m:e>
                        <m:sSub>
                          <m:sSubPr>
                            <m:ctrlPr>
                              <a:rPr lang="zh-CN" altLang="en-US" b="0" i="1" smtClean="0">
                                <a:latin typeface="Cambria Math" panose="02040503050406030204" pitchFamily="18" charset="0"/>
                              </a:rPr>
                            </m:ctrlPr>
                          </m:sSubPr>
                          <m:e>
                            <m:acc>
                              <m:accPr>
                                <m:chr m:val="ˆ"/>
                                <m:ctrlPr>
                                  <a:rPr lang="zh-CN" altLang="en-US" b="0" i="1" smtClean="0">
                                    <a:latin typeface="Cambria Math" panose="02040503050406030204" pitchFamily="18" charset="0"/>
                                  </a:rPr>
                                </m:ctrlPr>
                              </m:accPr>
                              <m:e>
                                <m:r>
                                  <a:rPr lang="zh-CN" altLang="en-US" b="0" i="1" smtClean="0">
                                    <a:latin typeface="Cambria Math" panose="02040503050406030204" pitchFamily="18" charset="0"/>
                                  </a:rPr>
                                  <m:t>𝛽</m:t>
                                </m:r>
                              </m:e>
                            </m:acc>
                          </m:e>
                          <m:sub>
                            <m:r>
                              <a:rPr lang="zh-CN" altLang="en-US" b="0" i="1" smtClean="0">
                                <a:latin typeface="Cambria Math" panose="02040503050406030204" pitchFamily="18" charset="0"/>
                              </a:rPr>
                              <m:t>𝐺𝑀𝑀</m:t>
                            </m:r>
                          </m:sub>
                        </m:sSub>
                        <m:r>
                          <m:rPr>
                            <m:aln/>
                          </m:rPr>
                          <a:rPr lang="zh-CN" altLang="en-US" b="0" i="1" smtClean="0">
                            <a:latin typeface="Cambria Math" panose="02040503050406030204" pitchFamily="18" charset="0"/>
                          </a:rPr>
                          <m:t>&amp;</m:t>
                        </m:r>
                        <m:r>
                          <a:rPr lang="zh-CN" altLang="en-US" b="0" i="1" smtClean="0">
                            <a:latin typeface="Cambria Math" panose="02040503050406030204" pitchFamily="18" charset="0"/>
                          </a:rPr>
                          <m:t>=</m:t>
                        </m:r>
                        <m:f>
                          <m:fPr>
                            <m:ctrlPr>
                              <a:rPr lang="zh-CN" altLang="en-US" b="0" i="1" smtClean="0">
                                <a:latin typeface="Cambria Math" panose="02040503050406030204" pitchFamily="18" charset="0"/>
                              </a:rPr>
                            </m:ctrlPr>
                          </m:fPr>
                          <m:num>
                            <m:d>
                              <m:dPr>
                                <m:ctrlPr>
                                  <a:rPr lang="zh-CN" altLang="en-US" b="1" i="1" smtClean="0">
                                    <a:latin typeface="Cambria Math" panose="02040503050406030204" pitchFamily="18" charset="0"/>
                                  </a:rPr>
                                </m:ctrlPr>
                              </m:dPr>
                              <m:e>
                                <m:sSup>
                                  <m:sSupPr>
                                    <m:ctrlPr>
                                      <a:rPr lang="zh-CN" altLang="en-US" b="1" i="1" smtClean="0">
                                        <a:latin typeface="Cambria Math" panose="02040503050406030204" pitchFamily="18" charset="0"/>
                                      </a:rPr>
                                    </m:ctrlPr>
                                  </m:sSupPr>
                                  <m:e>
                                    <m:r>
                                      <a:rPr lang="zh-CN" altLang="en-US" b="1" i="1" smtClean="0">
                                        <a:latin typeface="Cambria Math" panose="02040503050406030204" pitchFamily="18" charset="0"/>
                                      </a:rPr>
                                      <m:t>𝐗</m:t>
                                    </m:r>
                                  </m:e>
                                  <m:sup>
                                    <m:r>
                                      <a:rPr lang="zh-CN" altLang="en-US" b="0" i="1" smtClean="0">
                                        <a:latin typeface="Cambria Math" panose="02040503050406030204" pitchFamily="18" charset="0"/>
                                      </a:rPr>
                                      <m:t>⊥′</m:t>
                                    </m:r>
                                  </m:sup>
                                </m:sSup>
                                <m:acc>
                                  <m:accPr>
                                    <m:chr m:val="̃"/>
                                    <m:ctrlPr>
                                      <a:rPr lang="zh-CN" altLang="en-US" b="1" i="1" smtClean="0">
                                        <a:latin typeface="Cambria Math" panose="02040503050406030204" pitchFamily="18" charset="0"/>
                                      </a:rPr>
                                    </m:ctrlPr>
                                  </m:accPr>
                                  <m:e>
                                    <m:r>
                                      <a:rPr lang="zh-CN" altLang="en-US" b="1" i="1" smtClean="0">
                                        <a:latin typeface="Cambria Math" panose="02040503050406030204" pitchFamily="18" charset="0"/>
                                      </a:rPr>
                                      <m:t>𝐙</m:t>
                                    </m:r>
                                  </m:e>
                                </m:acc>
                              </m:e>
                            </m:d>
                            <m:r>
                              <m:rPr>
                                <m:sty m:val="p"/>
                              </m:rPr>
                              <a:rPr lang="zh-CN" altLang="en-US" b="0" i="1" smtClean="0">
                                <a:latin typeface="Cambria Math" panose="02040503050406030204" pitchFamily="18" charset="0"/>
                              </a:rPr>
                              <m:t>Ω</m:t>
                            </m:r>
                            <m:d>
                              <m:dPr>
                                <m:ctrlPr>
                                  <a:rPr lang="zh-CN" altLang="en-US" b="1" i="1" smtClean="0">
                                    <a:latin typeface="Cambria Math" panose="02040503050406030204" pitchFamily="18" charset="0"/>
                                  </a:rPr>
                                </m:ctrlPr>
                              </m:dPr>
                              <m:e>
                                <m:acc>
                                  <m:accPr>
                                    <m:chr m:val="̃"/>
                                    <m:ctrlPr>
                                      <a:rPr lang="zh-CN" altLang="en-US" b="1" i="1" smtClean="0">
                                        <a:latin typeface="Cambria Math" panose="02040503050406030204" pitchFamily="18" charset="0"/>
                                      </a:rPr>
                                    </m:ctrlPr>
                                  </m:accPr>
                                  <m:e>
                                    <m:r>
                                      <a:rPr lang="zh-CN" altLang="en-US" b="1" i="1" smtClean="0">
                                        <a:latin typeface="Cambria Math" panose="02040503050406030204" pitchFamily="18" charset="0"/>
                                      </a:rPr>
                                      <m:t>𝐙</m:t>
                                    </m:r>
                                  </m:e>
                                </m:acc>
                                <m:r>
                                  <a:rPr lang="zh-CN" altLang="en-US" b="0" i="1" smtClean="0">
                                    <a:latin typeface="Cambria Math" panose="02040503050406030204" pitchFamily="18" charset="0"/>
                                  </a:rPr>
                                  <m:t>′</m:t>
                                </m:r>
                                <m:sSup>
                                  <m:sSupPr>
                                    <m:ctrlPr>
                                      <a:rPr lang="zh-CN" altLang="en-US" b="1" i="1" smtClean="0">
                                        <a:latin typeface="Cambria Math" panose="02040503050406030204" pitchFamily="18" charset="0"/>
                                      </a:rPr>
                                    </m:ctrlPr>
                                  </m:sSupPr>
                                  <m:e>
                                    <m:r>
                                      <a:rPr lang="zh-CN" altLang="en-US" b="1" i="1" smtClean="0">
                                        <a:latin typeface="Cambria Math" panose="02040503050406030204" pitchFamily="18" charset="0"/>
                                      </a:rPr>
                                      <m:t>𝐘</m:t>
                                    </m:r>
                                  </m:e>
                                  <m:sup>
                                    <m:r>
                                      <a:rPr lang="zh-CN" altLang="en-US" b="0" i="1" smtClean="0">
                                        <a:latin typeface="Cambria Math" panose="02040503050406030204" pitchFamily="18" charset="0"/>
                                      </a:rPr>
                                      <m:t>⊥</m:t>
                                    </m:r>
                                  </m:sup>
                                </m:sSup>
                              </m:e>
                            </m:d>
                          </m:num>
                          <m:den>
                            <m:d>
                              <m:dPr>
                                <m:ctrlPr>
                                  <a:rPr lang="zh-CN" altLang="en-US" b="1" i="1" smtClean="0">
                                    <a:latin typeface="Cambria Math" panose="02040503050406030204" pitchFamily="18" charset="0"/>
                                  </a:rPr>
                                </m:ctrlPr>
                              </m:dPr>
                              <m:e>
                                <m:sSup>
                                  <m:sSupPr>
                                    <m:ctrlPr>
                                      <a:rPr lang="zh-CN" altLang="en-US" b="1" i="1" smtClean="0">
                                        <a:latin typeface="Cambria Math" panose="02040503050406030204" pitchFamily="18" charset="0"/>
                                      </a:rPr>
                                    </m:ctrlPr>
                                  </m:sSupPr>
                                  <m:e>
                                    <m:r>
                                      <a:rPr lang="zh-CN" altLang="en-US" b="1" i="1" smtClean="0">
                                        <a:latin typeface="Cambria Math" panose="02040503050406030204" pitchFamily="18" charset="0"/>
                                      </a:rPr>
                                      <m:t>𝐗</m:t>
                                    </m:r>
                                  </m:e>
                                  <m:sup>
                                    <m:r>
                                      <a:rPr lang="zh-CN" altLang="en-US" b="0" i="1" smtClean="0">
                                        <a:latin typeface="Cambria Math" panose="02040503050406030204" pitchFamily="18" charset="0"/>
                                      </a:rPr>
                                      <m:t>⊥′</m:t>
                                    </m:r>
                                  </m:sup>
                                </m:sSup>
                                <m:acc>
                                  <m:accPr>
                                    <m:chr m:val="̃"/>
                                    <m:ctrlPr>
                                      <a:rPr lang="zh-CN" altLang="en-US" b="1" i="1" smtClean="0">
                                        <a:latin typeface="Cambria Math" panose="02040503050406030204" pitchFamily="18" charset="0"/>
                                      </a:rPr>
                                    </m:ctrlPr>
                                  </m:accPr>
                                  <m:e>
                                    <m:r>
                                      <a:rPr lang="zh-CN" altLang="en-US" b="1" i="1" smtClean="0">
                                        <a:latin typeface="Cambria Math" panose="02040503050406030204" pitchFamily="18" charset="0"/>
                                      </a:rPr>
                                      <m:t>𝐙</m:t>
                                    </m:r>
                                  </m:e>
                                </m:acc>
                              </m:e>
                            </m:d>
                            <m:r>
                              <m:rPr>
                                <m:sty m:val="p"/>
                              </m:rPr>
                              <a:rPr lang="zh-CN" altLang="en-US" b="0" i="1" smtClean="0">
                                <a:latin typeface="Cambria Math" panose="02040503050406030204" pitchFamily="18" charset="0"/>
                              </a:rPr>
                              <m:t>Ω</m:t>
                            </m:r>
                            <m:d>
                              <m:dPr>
                                <m:ctrlPr>
                                  <a:rPr lang="zh-CN" altLang="en-US" b="1" i="1" smtClean="0">
                                    <a:latin typeface="Cambria Math" panose="02040503050406030204" pitchFamily="18" charset="0"/>
                                  </a:rPr>
                                </m:ctrlPr>
                              </m:dPr>
                              <m:e>
                                <m:acc>
                                  <m:accPr>
                                    <m:chr m:val="̃"/>
                                    <m:ctrlPr>
                                      <a:rPr lang="zh-CN" altLang="en-US" b="1" i="1" smtClean="0">
                                        <a:latin typeface="Cambria Math" panose="02040503050406030204" pitchFamily="18" charset="0"/>
                                      </a:rPr>
                                    </m:ctrlPr>
                                  </m:accPr>
                                  <m:e>
                                    <m:r>
                                      <a:rPr lang="zh-CN" altLang="en-US" b="1" i="1" smtClean="0">
                                        <a:latin typeface="Cambria Math" panose="02040503050406030204" pitchFamily="18" charset="0"/>
                                      </a:rPr>
                                      <m:t>𝐙</m:t>
                                    </m:r>
                                  </m:e>
                                </m:acc>
                                <m:r>
                                  <a:rPr lang="zh-CN" altLang="en-US" b="0" i="1" smtClean="0">
                                    <a:latin typeface="Cambria Math" panose="02040503050406030204" pitchFamily="18" charset="0"/>
                                  </a:rPr>
                                  <m:t>′</m:t>
                                </m:r>
                                <m:sSup>
                                  <m:sSupPr>
                                    <m:ctrlPr>
                                      <a:rPr lang="zh-CN" altLang="en-US" b="1" i="1" smtClean="0">
                                        <a:latin typeface="Cambria Math" panose="02040503050406030204" pitchFamily="18" charset="0"/>
                                      </a:rPr>
                                    </m:ctrlPr>
                                  </m:sSupPr>
                                  <m:e>
                                    <m:r>
                                      <a:rPr lang="zh-CN" altLang="en-US" b="1" i="1" smtClean="0">
                                        <a:latin typeface="Cambria Math" panose="02040503050406030204" pitchFamily="18" charset="0"/>
                                      </a:rPr>
                                      <m:t>𝐗</m:t>
                                    </m:r>
                                  </m:e>
                                  <m:sup>
                                    <m:r>
                                      <a:rPr lang="zh-CN" altLang="en-US" b="0" i="1" smtClean="0">
                                        <a:latin typeface="Cambria Math" panose="02040503050406030204" pitchFamily="18" charset="0"/>
                                      </a:rPr>
                                      <m:t>⊥</m:t>
                                    </m:r>
                                  </m:sup>
                                </m:sSup>
                              </m:e>
                            </m:d>
                          </m:den>
                        </m:f>
                      </m:e>
                    </m:eqArr>
                  </m:oMath>
                </a14:m>
                <a:endParaRPr lang="en-US" altLang="zh-CN" dirty="0"/>
              </a:p>
              <a:p>
                <a:r>
                  <a:rPr lang="en-US" altLang="zh-CN" dirty="0"/>
                  <a:t>$\Omega = (\</a:t>
                </a:r>
                <a:r>
                  <a:rPr lang="en-US" altLang="zh-CN" dirty="0" err="1"/>
                  <a:t>textcolor</a:t>
                </a:r>
                <a:r>
                  <a:rPr lang="en-US" altLang="zh-CN" dirty="0"/>
                  <a:t>{blue}{\</a:t>
                </a:r>
                <a:r>
                  <a:rPr lang="en-US" altLang="zh-CN" dirty="0" err="1"/>
                  <a:t>mathbf</a:t>
                </a:r>
                <a:r>
                  <a:rPr lang="en-US" altLang="zh-CN" dirty="0"/>
                  <a:t>{G}}</a:t>
                </a:r>
              </a:p>
              <a:p>
                <a14:m>
                  <m:oMath xmlns:m="http://schemas.openxmlformats.org/officeDocument/2006/math">
                    <m:r>
                      <m:rPr>
                        <m:sty m:val="p"/>
                      </m:rPr>
                      <a:rPr lang="en-US" altLang="zh-CN" b="0" i="0" smtClean="0">
                        <a:latin typeface="Cambria Math" panose="02040503050406030204" pitchFamily="18" charset="0"/>
                      </a:rPr>
                      <m:t>Ω</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𝐺</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𝐺</m:t>
                            </m:r>
                          </m:e>
                          <m:sup>
                            <m:r>
                              <a:rPr lang="en-US" altLang="zh-CN" b="0" i="1" smtClean="0">
                                <a:latin typeface="Cambria Math" panose="02040503050406030204" pitchFamily="18" charset="0"/>
                              </a:rPr>
                              <m:t>′</m:t>
                            </m:r>
                          </m:sup>
                        </m:sSup>
                      </m:e>
                    </m:d>
                  </m:oMath>
                </a14:m>
                <a:r>
                  <a:rPr lang="zh-CN" altLang="en-US" dirty="0"/>
                  <a:t>，</a:t>
                </a:r>
                <a:r>
                  <a:rPr lang="en-US" altLang="zh-CN" dirty="0"/>
                  <a:t>and </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𝑍</m:t>
                        </m:r>
                      </m:e>
                    </m:acc>
                  </m:oMath>
                </a14:m>
                <a:r>
                  <a:rPr lang="en-US" altLang="zh-CN" dirty="0"/>
                  <a:t> is</a:t>
                </a:r>
              </a:p>
              <a:p>
                <a:r>
                  <a:rPr lang="en-US" altLang="zh-CN" dirty="0"/>
                  <a:t>an </a:t>
                </a:r>
                <a14:m>
                  <m:oMath xmlns:m="http://schemas.openxmlformats.org/officeDocument/2006/math">
                    <m:r>
                      <a:rPr lang="en-US" altLang="zh-CN" i="1" dirty="0" smtClean="0">
                        <a:latin typeface="Cambria Math" panose="02040503050406030204" pitchFamily="18" charset="0"/>
                      </a:rPr>
                      <m:t>𝐿𝑇</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𝐾𝑇</m:t>
                    </m:r>
                  </m:oMath>
                </a14:m>
                <a:r>
                  <a:rPr lang="en-US" altLang="zh-CN" dirty="0"/>
                  <a:t> stacked vector of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𝑍</m:t>
                        </m:r>
                      </m:e>
                      <m:sub>
                        <m:r>
                          <a:rPr lang="en-US" altLang="zh-CN" i="1" dirty="0">
                            <a:latin typeface="Cambria Math" panose="02040503050406030204" pitchFamily="18" charset="0"/>
                          </a:rPr>
                          <m:t>0</m:t>
                        </m:r>
                      </m:sub>
                    </m:sSub>
                  </m:oMath>
                </a14:m>
                <a:r>
                  <a:rPr lang="en-US" altLang="zh-CN" dirty="0"/>
                  <a:t> interacted with time fixed</a:t>
                </a:r>
              </a:p>
              <a:p>
                <a:r>
                  <a:rPr lang="en-US" altLang="zh-CN" dirty="0"/>
                  <a:t>effects and </a:t>
                </a:r>
                <a14:m>
                  <m:oMath xmlns:m="http://schemas.openxmlformats.org/officeDocument/2006/math">
                    <m:r>
                      <a:rPr lang="en-US" altLang="zh-CN" b="1" i="1" dirty="0">
                        <a:latin typeface="Cambria Math" panose="02040503050406030204" pitchFamily="18" charset="0"/>
                      </a:rPr>
                      <m:t>𝑮</m:t>
                    </m:r>
                  </m:oMath>
                </a14:m>
                <a:r>
                  <a:rPr lang="en-US" altLang="zh-CN" dirty="0"/>
                  <a:t> is a </a:t>
                </a:r>
                <a14:m>
                  <m:oMath xmlns:m="http://schemas.openxmlformats.org/officeDocument/2006/math">
                    <m:r>
                      <a:rPr lang="en-US" altLang="zh-CN" i="1" dirty="0" smtClean="0">
                        <a:latin typeface="Cambria Math" panose="02040503050406030204" pitchFamily="18" charset="0"/>
                      </a:rPr>
                      <m:t>𝐾𝑇</m:t>
                    </m:r>
                    <m:r>
                      <a:rPr lang="en-US" altLang="zh-CN" i="1" dirty="0" smtClean="0">
                        <a:latin typeface="Cambria Math" panose="02040503050406030204" pitchFamily="18" charset="0"/>
                      </a:rPr>
                      <m:t>× 1</m:t>
                    </m:r>
                  </m:oMath>
                </a14:m>
                <a:r>
                  <a:rPr lang="en-US" altLang="zh-CN" dirty="0"/>
                  <a:t> stacked vector of growth rates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𝑔</m:t>
                        </m:r>
                      </m:e>
                      <m:sub>
                        <m:r>
                          <a:rPr lang="en-US" altLang="zh-CN" i="1" dirty="0">
                            <a:latin typeface="Cambria Math" panose="02040503050406030204" pitchFamily="18" charset="0"/>
                          </a:rPr>
                          <m:t>𝑘𝑡</m:t>
                        </m:r>
                      </m:sub>
                    </m:sSub>
                  </m:oMath>
                </a14:m>
                <a:r>
                  <a:rPr lang="en-US" altLang="zh-CN" dirty="0"/>
                  <a:t>.</a:t>
                </a:r>
                <a:endParaRPr lang="zh-CN" altLang="en-US" dirty="0"/>
              </a:p>
            </p:txBody>
          </p:sp>
        </mc:Choice>
        <mc:Fallback xmlns="">
          <p:sp>
            <p:nvSpPr>
              <p:cNvPr id="3" name="内容占位符 2">
                <a:extLst>
                  <a:ext uri="{FF2B5EF4-FFF2-40B4-BE49-F238E27FC236}">
                    <a16:creationId xmlns:a16="http://schemas.microsoft.com/office/drawing/2014/main" id="{EAC64735-4586-158A-EA12-0108B92F9D9F}"/>
                  </a:ext>
                </a:extLst>
              </p:cNvPr>
              <p:cNvSpPr>
                <a:spLocks noGrp="1" noRot="1" noChangeAspect="1" noMove="1" noResize="1" noEditPoints="1" noAdjustHandles="1" noChangeArrowheads="1" noChangeShapeType="1" noTextEdit="1"/>
              </p:cNvSpPr>
              <p:nvPr>
                <p:ph idx="1"/>
              </p:nvPr>
            </p:nvSpPr>
            <p:spPr>
              <a:blipFill>
                <a:blip r:embed="rId2"/>
                <a:stretch>
                  <a:fillRect l="-1005" t="-3361" b="-546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5568916-D87E-7BD9-A539-84630CEA234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D740432-F526-183C-6CBB-3857AF2F66CC}"/>
              </a:ext>
            </a:extLst>
          </p:cNvPr>
          <p:cNvSpPr>
            <a:spLocks noGrp="1"/>
          </p:cNvSpPr>
          <p:nvPr>
            <p:ph type="sldNum" sz="quarter" idx="12"/>
          </p:nvPr>
        </p:nvSpPr>
        <p:spPr/>
        <p:txBody>
          <a:bodyPr/>
          <a:lstStyle/>
          <a:p>
            <a:fld id="{D41FC515-8169-4A29-AA56-DBE520D5741B}" type="slidenum">
              <a:rPr lang="zh-CN" altLang="en-US" smtClean="0"/>
              <a:t>95</a:t>
            </a:fld>
            <a:endParaRPr lang="zh-CN" altLang="en-US"/>
          </a:p>
        </p:txBody>
      </p:sp>
    </p:spTree>
    <p:extLst>
      <p:ext uri="{BB962C8B-B14F-4D97-AF65-F5344CB8AC3E}">
        <p14:creationId xmlns:p14="http://schemas.microsoft.com/office/powerpoint/2010/main" val="10491100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DC8705-94E9-3F8A-97FB-A1C4E0321FCC}"/>
              </a:ext>
            </a:extLst>
          </p:cNvPr>
          <p:cNvSpPr>
            <a:spLocks noGrp="1"/>
          </p:cNvSpPr>
          <p:nvPr>
            <p:ph type="title"/>
          </p:nvPr>
        </p:nvSpPr>
        <p:spPr/>
        <p:txBody>
          <a:bodyPr/>
          <a:lstStyle/>
          <a:p>
            <a:r>
              <a:rPr lang="en-US" altLang="zh-CN" dirty="0"/>
              <a:t>SSIV</a:t>
            </a:r>
            <a:r>
              <a:rPr lang="zh-CN" altLang="en-US" dirty="0"/>
              <a:t>：份额外性性</a:t>
            </a:r>
            <a:br>
              <a:rPr lang="zh-CN" altLang="en-US" dirty="0"/>
            </a:br>
            <a:r>
              <a:rPr lang="zh-CN" altLang="en-US" sz="2400" dirty="0"/>
              <a:t>识别条件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AA224E5-7A2B-C2B3-E965-17C4F53C88AC}"/>
                  </a:ext>
                </a:extLst>
              </p:cNvPr>
              <p:cNvSpPr>
                <a:spLocks noGrp="1"/>
              </p:cNvSpPr>
              <p:nvPr>
                <p:ph idx="1"/>
              </p:nvPr>
            </p:nvSpPr>
            <p:spPr/>
            <p:txBody>
              <a:bodyPr>
                <a:normAutofit/>
              </a:bodyPr>
              <a:lstStyle/>
              <a:p>
                <a:pPr>
                  <a:lnSpc>
                    <a:spcPct val="100000"/>
                  </a:lnSpc>
                </a:pPr>
                <a:r>
                  <a:rPr lang="en-US" altLang="zh-CN" dirty="0"/>
                  <a:t>A1</a:t>
                </a:r>
                <a:r>
                  <a:rPr lang="zh-CN" altLang="en-US" dirty="0"/>
                  <a:t>（相关性）：对于任意𝑛 ∈ </a:t>
                </a:r>
                <a:r>
                  <a:rPr lang="en-US" altLang="zh-CN" dirty="0"/>
                  <a:t>{1, … , </a:t>
                </a:r>
                <a:r>
                  <a:rPr lang="zh-CN" altLang="en-US" dirty="0"/>
                  <a:t>𝑁 </a:t>
                </a:r>
                <a:r>
                  <a:rPr lang="en-US" altLang="zh-CN" dirty="0"/>
                  <a:t>}</a:t>
                </a:r>
                <a:r>
                  <a:rPr lang="zh-CN" altLang="en-US" dirty="0"/>
                  <a:t>，𝑠 ∈ </a:t>
                </a:r>
                <a:r>
                  <a:rPr lang="en-US" altLang="zh-CN" dirty="0"/>
                  <a:t>{1, … , </a:t>
                </a:r>
                <a:r>
                  <a:rPr lang="zh-CN" altLang="en-US" dirty="0"/>
                  <a:t>𝑇 </a:t>
                </a:r>
                <a:r>
                  <a:rPr lang="en-US" altLang="zh-CN" dirty="0"/>
                  <a:t>}</a:t>
                </a:r>
                <a:r>
                  <a:rPr lang="zh-CN" altLang="en-US" dirty="0"/>
                  <a:t>，</a:t>
                </a:r>
                <a:endParaRPr lang="en-US" altLang="zh-CN" dirty="0"/>
              </a:p>
              <a:p>
                <a:pPr>
                  <a:lnSpc>
                    <a:spcPct val="100000"/>
                  </a:lnSpc>
                </a:pP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𝑙𝑡</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𝑠</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𝑠</m:t>
                                </m:r>
                              </m:e>
                              <m:sub>
                                <m:r>
                                  <a:rPr lang="zh-CN" altLang="en-US" i="1" smtClean="0">
                                    <a:latin typeface="Cambria Math" panose="02040503050406030204" pitchFamily="18" charset="0"/>
                                  </a:rPr>
                                  <m:t>𝑙𝑛</m:t>
                                </m:r>
                                <m:r>
                                  <a:rPr lang="zh-CN" altLang="en-US" i="1" smtClean="0">
                                    <a:latin typeface="Cambria Math" panose="02040503050406030204" pitchFamily="18" charset="0"/>
                                  </a:rPr>
                                  <m:t>0</m:t>
                                </m:r>
                              </m:sub>
                            </m:sSub>
                          </m:e>
                        </m:nary>
                      </m:e>
                    </m:nary>
                    <m:r>
                      <a:rPr lang="zh-CN" altLang="en-US" i="1" smtClean="0">
                        <a:latin typeface="Cambria Math" panose="02040503050406030204" pitchFamily="18" charset="0"/>
                      </a:rPr>
                      <m:t>𝟙</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𝑡</m:t>
                        </m:r>
                        <m:r>
                          <a:rPr lang="zh-CN" altLang="en-US" i="1" smtClean="0">
                            <a:latin typeface="Cambria Math" panose="02040503050406030204" pitchFamily="18" charset="0"/>
                          </a:rPr>
                          <m:t>=</m:t>
                        </m:r>
                        <m:r>
                          <a:rPr lang="zh-CN" altLang="en-US" i="1" smtClean="0">
                            <a:latin typeface="Cambria Math" panose="02040503050406030204" pitchFamily="18" charset="0"/>
                          </a:rPr>
                          <m:t>𝑠</m:t>
                        </m:r>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𝐶</m:t>
                        </m:r>
                      </m:e>
                      <m:sub>
                        <m:r>
                          <a:rPr lang="zh-CN" altLang="en-US" i="1" smtClean="0">
                            <a:latin typeface="Cambria Math" panose="02040503050406030204" pitchFamily="18" charset="0"/>
                          </a:rPr>
                          <m:t>𝑛</m:t>
                        </m:r>
                        <m:r>
                          <a:rPr lang="zh-CN" altLang="en-US" i="1" smtClean="0">
                            <a:latin typeface="Cambria Math" panose="02040503050406030204" pitchFamily="18" charset="0"/>
                          </a:rPr>
                          <m:t>,</m:t>
                        </m:r>
                        <m:r>
                          <a:rPr lang="zh-CN" altLang="en-US" i="1" smtClean="0">
                            <a:latin typeface="Cambria Math" panose="02040503050406030204" pitchFamily="18" charset="0"/>
                          </a:rPr>
                          <m:t>𝑠</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𝑙𝑡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𝜂</m:t>
                        </m:r>
                      </m:e>
                      <m:sub>
                        <m:r>
                          <a:rPr lang="zh-CN" altLang="en-US" i="1" smtClean="0">
                            <a:latin typeface="Cambria Math" panose="02040503050406030204" pitchFamily="18" charset="0"/>
                          </a:rPr>
                          <m:t>𝑙𝑡</m:t>
                        </m:r>
                      </m:sub>
                    </m:sSub>
                    <m:r>
                      <a:rPr lang="zh-CN" altLang="en-US" i="1" smtClean="0">
                        <a:latin typeface="Cambria Math" panose="02040503050406030204" pitchFamily="18" charset="0"/>
                      </a:rPr>
                      <m:t>,</m:t>
                    </m:r>
                  </m:oMath>
                </a14:m>
                <a:endParaRPr lang="en-US" altLang="zh-CN" dirty="0"/>
              </a:p>
              <a:p>
                <a:pPr marL="0" indent="0">
                  <a:lnSpc>
                    <a:spcPct val="100000"/>
                  </a:lnSpc>
                  <a:buNone/>
                </a:pPr>
                <a:r>
                  <a:rPr lang="zh-CN" altLang="en-US" dirty="0"/>
                  <a:t>其中</a:t>
                </a:r>
                <a:r>
                  <a:rPr lang="en-US" altLang="zh-CN" dirty="0"/>
                  <a:t> </a:t>
                </a:r>
                <a14:m>
                  <m:oMath xmlns:m="http://schemas.openxmlformats.org/officeDocument/2006/math">
                    <m:r>
                      <a:rPr lang="en-US" altLang="zh-CN" i="1" dirty="0" smtClean="0">
                        <a:latin typeface="Cambria Math" panose="02040503050406030204" pitchFamily="18" charset="0"/>
                      </a:rPr>
                      <m:t>𝐸</m:t>
                    </m:r>
                    <m:r>
                      <a:rPr lang="en-US" altLang="zh-CN" i="1" dirty="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𝜂</m:t>
                        </m:r>
                      </m:e>
                      <m:sub>
                        <m:r>
                          <a:rPr lang="en-US" altLang="zh-CN" i="1" dirty="0" err="1">
                            <a:latin typeface="Cambria Math" panose="02040503050406030204" pitchFamily="18" charset="0"/>
                          </a:rPr>
                          <m:t>𝑙𝑡</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𝑠</m:t>
                        </m:r>
                      </m:e>
                      <m:sub>
                        <m:r>
                          <a:rPr lang="en-US" altLang="zh-CN" i="1" dirty="0">
                            <a:latin typeface="Cambria Math" panose="02040503050406030204" pitchFamily="18" charset="0"/>
                          </a:rPr>
                          <m:t>𝑙𝑘</m:t>
                        </m:r>
                        <m:r>
                          <a:rPr lang="en-US" altLang="zh-CN" i="1" dirty="0">
                            <a:latin typeface="Cambria Math" panose="02040503050406030204" pitchFamily="18" charset="0"/>
                          </a:rPr>
                          <m:t>0</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err="1">
                            <a:latin typeface="Cambria Math" panose="02040503050406030204" pitchFamily="18" charset="0"/>
                          </a:rPr>
                          <m:t>𝑙𝑡</m:t>
                        </m:r>
                      </m:sub>
                    </m:sSub>
                    <m:r>
                      <a:rPr lang="en-US" altLang="zh-CN" i="1" dirty="0">
                        <a:latin typeface="Cambria Math" panose="02040503050406030204" pitchFamily="18" charset="0"/>
                      </a:rPr>
                      <m:t>]=0</m:t>
                    </m:r>
                  </m:oMath>
                </a14:m>
                <a:r>
                  <a:rPr lang="zh-CN" altLang="en-US" dirty="0"/>
                  <a:t>，系数</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err="1">
                            <a:latin typeface="Cambria Math" panose="02040503050406030204" pitchFamily="18" charset="0"/>
                          </a:rPr>
                          <m:t>𝑛</m:t>
                        </m:r>
                        <m:r>
                          <a:rPr lang="en-US" altLang="zh-CN" i="1" dirty="0">
                            <a:latin typeface="Cambria Math" panose="02040503050406030204" pitchFamily="18" charset="0"/>
                          </a:rPr>
                          <m:t>,</m:t>
                        </m:r>
                        <m:r>
                          <a:rPr lang="en-US" altLang="zh-CN" i="1" dirty="0">
                            <a:latin typeface="Cambria Math" panose="02040503050406030204" pitchFamily="18" charset="0"/>
                          </a:rPr>
                          <m:t>𝑠</m:t>
                        </m:r>
                      </m:sub>
                    </m:sSub>
                  </m:oMath>
                </a14:m>
                <a:r>
                  <a:rPr lang="zh-CN" altLang="en-US" dirty="0"/>
                  <a:t>是有限的，且</a:t>
                </a:r>
                <a14:m>
                  <m:oMath xmlns:m="http://schemas.openxmlformats.org/officeDocument/2006/math">
                    <m:nary>
                      <m:naryPr>
                        <m:chr m:val="∑"/>
                        <m:supHide m:val="on"/>
                        <m:ctrlPr>
                          <a:rPr lang="en-US" altLang="zh-CN" i="1" dirty="0">
                            <a:latin typeface="Cambria Math" panose="02040503050406030204" pitchFamily="18" charset="0"/>
                          </a:rPr>
                        </m:ctrlPr>
                      </m:naryPr>
                      <m:sub>
                        <m:r>
                          <a:rPr lang="en-US" altLang="zh-CN" i="1" dirty="0">
                            <a:latin typeface="Cambria Math" panose="02040503050406030204" pitchFamily="18" charset="0"/>
                          </a:rPr>
                          <m:t>𝑠</m:t>
                        </m:r>
                      </m:sub>
                      <m:sup/>
                      <m:e>
                        <m:nary>
                          <m:naryPr>
                            <m:chr m:val="∑"/>
                            <m:supHide m:val="on"/>
                            <m:ctrlPr>
                              <a:rPr lang="en-US" altLang="zh-CN" i="1" dirty="0" err="1">
                                <a:latin typeface="Cambria Math" panose="02040503050406030204" pitchFamily="18" charset="0"/>
                              </a:rPr>
                            </m:ctrlPr>
                          </m:naryPr>
                          <m:sub>
                            <m:r>
                              <a:rPr lang="en-US" altLang="zh-CN" i="1" dirty="0" err="1">
                                <a:latin typeface="Cambria Math" panose="02040503050406030204" pitchFamily="18" charset="0"/>
                              </a:rPr>
                              <m:t>𝑛</m:t>
                            </m:r>
                          </m:sub>
                          <m:sup/>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𝑔</m:t>
                                </m:r>
                              </m:e>
                              <m:sub>
                                <m:r>
                                  <a:rPr lang="en-US" altLang="zh-CN" i="1" dirty="0">
                                    <a:latin typeface="Cambria Math" panose="02040503050406030204" pitchFamily="18" charset="0"/>
                                  </a:rPr>
                                  <m:t>𝑛𝑠</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𝐶</m:t>
                                </m:r>
                              </m:e>
                              <m:sub>
                                <m:r>
                                  <a:rPr lang="en-US" altLang="zh-CN" i="1" dirty="0">
                                    <a:latin typeface="Cambria Math" panose="02040503050406030204" pitchFamily="18" charset="0"/>
                                  </a:rPr>
                                  <m:t>𝑛𝑠</m:t>
                                </m:r>
                              </m:sub>
                            </m:sSub>
                          </m:e>
                        </m:nary>
                      </m:e>
                    </m:nary>
                    <m:r>
                      <a:rPr lang="en-US" altLang="zh-CN" b="0" i="1" dirty="0" smtClean="0">
                        <a:latin typeface="Cambria Math" panose="02040503050406030204" pitchFamily="18" charset="0"/>
                      </a:rPr>
                      <m:t>≠</m:t>
                    </m:r>
                    <m:r>
                      <a:rPr lang="en-US" altLang="zh-CN" i="1" dirty="0">
                        <a:latin typeface="Cambria Math" panose="02040503050406030204" pitchFamily="18" charset="0"/>
                      </a:rPr>
                      <m:t> 0</m:t>
                    </m:r>
                  </m:oMath>
                </a14:m>
                <a:r>
                  <a:rPr lang="zh-CN" altLang="en-US" dirty="0"/>
                  <a:t>。说明行业份额对</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err="1">
                            <a:latin typeface="Cambria Math" panose="02040503050406030204" pitchFamily="18" charset="0"/>
                          </a:rPr>
                          <m:t>𝑙𝑡</m:t>
                        </m:r>
                      </m:sub>
                    </m:sSub>
                  </m:oMath>
                </a14:m>
                <a:r>
                  <a:rPr lang="zh-CN" altLang="en-US" dirty="0"/>
                  <a:t>具有预测力，并且增长率加权不会使</a:t>
                </a:r>
                <a14:m>
                  <m:oMath xmlns:m="http://schemas.openxmlformats.org/officeDocument/2006/math">
                    <m:r>
                      <a:rPr lang="en-US" altLang="zh-CN" i="1" dirty="0" smtClean="0">
                        <a:latin typeface="Cambria Math" panose="02040503050406030204" pitchFamily="18" charset="0"/>
                      </a:rPr>
                      <m:t>𝑥</m:t>
                    </m:r>
                  </m:oMath>
                </a14:m>
                <a:r>
                  <a:rPr lang="zh-CN" altLang="en-US" dirty="0"/>
                  <a:t>和份额的相关性完全抵销掉。</a:t>
                </a:r>
                <a:endParaRPr lang="en-US" altLang="zh-CN" dirty="0"/>
              </a:p>
              <a:p>
                <a:pPr marL="0" indent="0">
                  <a:lnSpc>
                    <a:spcPct val="100000"/>
                  </a:lnSpc>
                  <a:buNone/>
                </a:pPr>
                <a:r>
                  <a:rPr lang="en-US" altLang="zh-CN" dirty="0"/>
                  <a:t>A2</a:t>
                </a:r>
                <a:r>
                  <a:rPr lang="zh-CN" altLang="en-US" dirty="0"/>
                  <a:t>（外生性）：对于任意行业𝑛 和𝑔𝑛 ≠ </a:t>
                </a:r>
                <a:r>
                  <a:rPr lang="en-US" altLang="zh-CN" dirty="0"/>
                  <a:t>0</a:t>
                </a:r>
                <a:r>
                  <a:rPr lang="zh-CN" altLang="en-US" dirty="0"/>
                  <a:t>，有</a:t>
                </a:r>
                <a14:m>
                  <m:oMath xmlns:m="http://schemas.openxmlformats.org/officeDocument/2006/math">
                    <m:r>
                      <a:rPr lang="zh-CN" altLang="en-US" i="1" dirty="0" smtClean="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m:rPr>
                            <m:sty m:val="p"/>
                          </m:rPr>
                          <a:rPr lang="en-US" altLang="zh-CN" b="0" i="1" dirty="0" smtClean="0">
                            <a:latin typeface="Cambria Math" panose="02040503050406030204" pitchFamily="18" charset="0"/>
                          </a:rPr>
                          <m:t>ℓ</m:t>
                        </m:r>
                        <m:r>
                          <a:rPr lang="en-US" altLang="zh-CN" b="0" i="1" dirty="0" smtClean="0">
                            <a:latin typeface="Cambria Math" panose="02040503050406030204" pitchFamily="18" charset="0"/>
                          </a:rPr>
                          <m:t>𝑛</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𝑠</m:t>
                        </m:r>
                      </m:e>
                      <m:sub>
                        <m:r>
                          <a:rPr lang="zh-CN" altLang="en-US" i="1" dirty="0">
                            <a:latin typeface="Cambria Math" panose="02040503050406030204" pitchFamily="18" charset="0"/>
                          </a:rPr>
                          <m:t>𝑙𝑘</m:t>
                        </m:r>
                        <m:r>
                          <a:rPr lang="en-US" altLang="zh-CN" i="1" dirty="0">
                            <a:latin typeface="Cambria Math" panose="02040503050406030204" pitchFamily="18" charset="0"/>
                          </a:rPr>
                          <m:t>0</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𝑤</m:t>
                        </m:r>
                      </m:e>
                      <m:sub>
                        <m:r>
                          <a:rPr lang="zh-CN" altLang="en-US" i="1" dirty="0">
                            <a:latin typeface="Cambria Math" panose="02040503050406030204" pitchFamily="18" charset="0"/>
                          </a:rPr>
                          <m:t>𝑙𝑡</m:t>
                        </m:r>
                      </m:sub>
                    </m:sSub>
                    <m:r>
                      <a:rPr lang="en-US" altLang="zh-CN" i="1" dirty="0">
                        <a:latin typeface="Cambria Math" panose="02040503050406030204" pitchFamily="18" charset="0"/>
                      </a:rPr>
                      <m:t>] = 0</m:t>
                    </m:r>
                  </m:oMath>
                </a14:m>
                <a:r>
                  <a:rPr lang="zh-CN" altLang="en-US" dirty="0"/>
                  <a:t>。</a:t>
                </a:r>
              </a:p>
            </p:txBody>
          </p:sp>
        </mc:Choice>
        <mc:Fallback xmlns="">
          <p:sp>
            <p:nvSpPr>
              <p:cNvPr id="3" name="内容占位符 2">
                <a:extLst>
                  <a:ext uri="{FF2B5EF4-FFF2-40B4-BE49-F238E27FC236}">
                    <a16:creationId xmlns:a16="http://schemas.microsoft.com/office/drawing/2014/main" id="{3AA224E5-7A2B-C2B3-E965-17C4F53C88AC}"/>
                  </a:ext>
                </a:extLst>
              </p:cNvPr>
              <p:cNvSpPr>
                <a:spLocks noGrp="1" noRot="1" noChangeAspect="1" noMove="1" noResize="1" noEditPoints="1" noAdjustHandles="1" noChangeArrowheads="1" noChangeShapeType="1" noTextEdit="1"/>
              </p:cNvSpPr>
              <p:nvPr>
                <p:ph idx="1"/>
              </p:nvPr>
            </p:nvSpPr>
            <p:spPr>
              <a:blipFill>
                <a:blip r:embed="rId2"/>
                <a:stretch>
                  <a:fillRect l="-1546" t="-1541" r="-773" b="-392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FA13161D-1F8B-675A-319E-81C9A5F08E6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7788D3D-96FA-49D2-8080-04C35142A51F}"/>
              </a:ext>
            </a:extLst>
          </p:cNvPr>
          <p:cNvSpPr>
            <a:spLocks noGrp="1"/>
          </p:cNvSpPr>
          <p:nvPr>
            <p:ph type="sldNum" sz="quarter" idx="12"/>
          </p:nvPr>
        </p:nvSpPr>
        <p:spPr/>
        <p:txBody>
          <a:bodyPr/>
          <a:lstStyle/>
          <a:p>
            <a:fld id="{D41FC515-8169-4A29-AA56-DBE520D5741B}" type="slidenum">
              <a:rPr lang="zh-CN" altLang="en-US" smtClean="0"/>
              <a:t>96</a:t>
            </a:fld>
            <a:endParaRPr lang="zh-CN" altLang="en-US"/>
          </a:p>
        </p:txBody>
      </p:sp>
    </p:spTree>
    <p:extLst>
      <p:ext uri="{BB962C8B-B14F-4D97-AF65-F5344CB8AC3E}">
        <p14:creationId xmlns:p14="http://schemas.microsoft.com/office/powerpoint/2010/main" val="32761994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B9B3A1-D9C8-BD12-1FAE-902A182D88F3}"/>
              </a:ext>
            </a:extLst>
          </p:cNvPr>
          <p:cNvSpPr>
            <a:spLocks noGrp="1"/>
          </p:cNvSpPr>
          <p:nvPr>
            <p:ph type="title"/>
          </p:nvPr>
        </p:nvSpPr>
        <p:spPr/>
        <p:txBody>
          <a:bodyPr/>
          <a:lstStyle/>
          <a:p>
            <a:r>
              <a:rPr lang="en-US" altLang="zh-CN" dirty="0"/>
              <a:t>Decomposing Bartik</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E4BF3AB-D44C-0212-DEBE-5FDC7D202EAA}"/>
                  </a:ext>
                </a:extLst>
              </p:cNvPr>
              <p:cNvSpPr>
                <a:spLocks noGrp="1"/>
              </p:cNvSpPr>
              <p:nvPr>
                <p:ph idx="1"/>
              </p:nvPr>
            </p:nvSpPr>
            <p:spPr/>
            <p:txBody>
              <a:bodyPr>
                <a:normAutofit fontScale="47500" lnSpcReduction="20000"/>
              </a:bodyPr>
              <a:lstStyle/>
              <a:p>
                <a:pPr>
                  <a:lnSpc>
                    <a:spcPct val="120000"/>
                  </a:lnSpc>
                </a:pPr>
                <a:r>
                  <a:rPr lang="zh-CN" altLang="en-US" dirty="0"/>
                  <a:t>分解</a:t>
                </a:r>
                <a:r>
                  <a:rPr lang="en-US" altLang="zh-CN" dirty="0" err="1"/>
                  <a:t>Bartiv</a:t>
                </a:r>
                <a:r>
                  <a:rPr lang="en-US" altLang="zh-CN" dirty="0"/>
                  <a:t> IV(GPSS,2020):</a:t>
                </a:r>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e>
                        <m:sub>
                          <m:r>
                            <a:rPr lang="zh-CN" altLang="en-US" i="1" smtClean="0">
                              <a:latin typeface="Cambria Math" panose="02040503050406030204" pitchFamily="18" charset="0"/>
                            </a:rPr>
                            <m:t>𝐵𝑎𝑟𝑡𝑖𝑘</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𝛼</m:t>
                                  </m:r>
                                </m:e>
                              </m:acc>
                            </m:e>
                            <m:sub>
                              <m:r>
                                <a:rPr lang="zh-CN" altLang="en-US" i="1" smtClean="0">
                                  <a:latin typeface="Cambria Math" panose="02040503050406030204" pitchFamily="18" charset="0"/>
                                </a:rPr>
                                <m:t>𝑛</m:t>
                              </m:r>
                            </m:sub>
                          </m:sSub>
                        </m:e>
                      </m:nary>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r>
                        <m:rPr>
                          <m:nor/>
                        </m:rPr>
                        <a:rPr lang="zh-CN" altLang="en-US" i="0" smtClean="0">
                          <a:latin typeface="Cambria Math" panose="02040503050406030204" pitchFamily="18" charset="0"/>
                        </a:rPr>
                        <m:t> </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sub>
                        <m:sup/>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𝛼</m:t>
                                  </m:r>
                                </m:e>
                              </m:acc>
                            </m:e>
                            <m:sub>
                              <m:r>
                                <a:rPr lang="zh-CN" altLang="en-US" i="1" smtClean="0">
                                  <a:latin typeface="Cambria Math" panose="02040503050406030204" pitchFamily="18" charset="0"/>
                                </a:rPr>
                                <m:t>𝑛</m:t>
                              </m:r>
                            </m:sub>
                          </m:sSub>
                        </m:e>
                      </m:nary>
                      <m:r>
                        <a:rPr lang="zh-CN" altLang="en-US" i="1" smtClean="0">
                          <a:latin typeface="Cambria Math" panose="02040503050406030204" pitchFamily="18" charset="0"/>
                        </a:rPr>
                        <m:t>=1</m:t>
                      </m:r>
                    </m:oMath>
                  </m:oMathPara>
                </a14:m>
                <a:endParaRPr lang="en-US" altLang="zh-CN" dirty="0"/>
              </a:p>
              <a:p>
                <a:pPr>
                  <a:lnSpc>
                    <a:spcPct val="120000"/>
                  </a:lnSpc>
                </a:pPr>
                <a:r>
                  <a:rPr lang="zh-CN" altLang="en-US" dirty="0"/>
                  <a:t>只有𝑛𝑡</a:t>
                </a:r>
                <a:r>
                  <a:rPr lang="en-US" altLang="zh-CN" dirty="0"/>
                  <a:t>ℎ </a:t>
                </a:r>
                <a:r>
                  <a:rPr lang="zh-CN" altLang="en-US" dirty="0"/>
                  <a:t>工具的</a:t>
                </a:r>
                <a:r>
                  <a:rPr lang="en-US" altLang="zh-CN" dirty="0"/>
                  <a:t>IV </a:t>
                </a:r>
                <a:r>
                  <a:rPr lang="zh-CN" altLang="en-US" dirty="0"/>
                  <a:t>估计量：</a:t>
                </a:r>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𝑋</m:t>
                              </m:r>
                            </m:e>
                          </m:d>
                        </m:e>
                        <m:sup>
                          <m:r>
                            <a:rPr lang="zh-CN" altLang="en-US" i="1" smtClean="0">
                              <a:latin typeface="Cambria Math" panose="02040503050406030204" pitchFamily="18" charset="0"/>
                            </a:rPr>
                            <m:t>−1</m:t>
                          </m:r>
                        </m:sup>
                      </m:sSup>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𝑌</m:t>
                      </m:r>
                    </m:oMath>
                  </m:oMathPara>
                </a14:m>
                <a:endParaRPr lang="en-US" altLang="zh-CN" dirty="0"/>
              </a:p>
              <a:p>
                <a:pPr>
                  <a:lnSpc>
                    <a:spcPct val="120000"/>
                  </a:lnSpc>
                </a:pPr>
                <a:r>
                  <a:rPr lang="en-US" altLang="zh-CN" dirty="0"/>
                  <a:t>“</a:t>
                </a:r>
                <a:r>
                  <a:rPr lang="en-US" altLang="zh-CN" dirty="0" err="1"/>
                  <a:t>Rotemberg</a:t>
                </a:r>
                <a:r>
                  <a:rPr lang="en-US" altLang="zh-CN" dirty="0"/>
                  <a:t>” weight</a:t>
                </a:r>
                <a:r>
                  <a:rPr lang="zh-CN" altLang="en-US" dirty="0"/>
                  <a:t>（</a:t>
                </a:r>
                <a:r>
                  <a:rPr lang="en-US" altLang="zh-CN" dirty="0" err="1"/>
                  <a:t>Rotemberg</a:t>
                </a:r>
                <a:r>
                  <a:rPr lang="en-US" altLang="zh-CN" dirty="0"/>
                  <a:t>, 1983):</a:t>
                </a:r>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𝛼</m:t>
                              </m:r>
                            </m:e>
                          </m:acc>
                        </m:e>
                        <m:sub>
                          <m:r>
                            <a:rPr lang="zh-CN" altLang="en-US" i="1" smtClean="0">
                              <a:latin typeface="Cambria Math" panose="02040503050406030204" pitchFamily="18" charset="0"/>
                            </a:rPr>
                            <m:t>𝑛</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𝑋</m:t>
                          </m:r>
                        </m:num>
                        <m:den>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𝑛</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a:rPr lang="zh-CN" altLang="en-US" i="1" smtClean="0">
                                      <a:latin typeface="Cambria Math" panose="02040503050406030204" pitchFamily="18" charset="0"/>
                                    </a:rPr>
                                    <m:t>𝑛</m:t>
                                  </m:r>
                                </m:sub>
                              </m:sSub>
                            </m:e>
                          </m:nary>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𝑛</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𝑋</m:t>
                          </m:r>
                        </m:den>
                      </m:f>
                    </m:oMath>
                  </m:oMathPara>
                </a14:m>
                <a:endParaRPr lang="en-US" altLang="zh-CN" dirty="0"/>
              </a:p>
              <a:p>
                <a:pPr>
                  <a:lnSpc>
                    <a:spcPct val="120000"/>
                  </a:lnSpc>
                </a:pPr>
                <a:r>
                  <a:rPr lang="en-US" altLang="zh-CN" dirty="0" err="1"/>
                  <a:t>Rotemberg</a:t>
                </a:r>
                <a:r>
                  <a:rPr lang="en-US" altLang="zh-CN" dirty="0"/>
                  <a:t> </a:t>
                </a:r>
                <a:r>
                  <a:rPr lang="zh-CN" altLang="en-US" dirty="0"/>
                  <a:t>权重 </a:t>
                </a:r>
                <a14:m>
                  <m:oMath xmlns:m="http://schemas.openxmlformats.org/officeDocument/2006/math">
                    <m:acc>
                      <m:accPr>
                        <m:chr m:val="̂"/>
                        <m:ctrlPr>
                          <a:rPr lang="zh-CN" altLang="en-US" i="1" dirty="0">
                            <a:latin typeface="Cambria Math" panose="02040503050406030204" pitchFamily="18" charset="0"/>
                          </a:rPr>
                        </m:ctrlPr>
                      </m:acc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𝛼</m:t>
                            </m:r>
                          </m:e>
                          <m:sub>
                            <m:r>
                              <a:rPr lang="en-US" altLang="zh-CN" i="1" dirty="0">
                                <a:latin typeface="Cambria Math" panose="02040503050406030204" pitchFamily="18" charset="0"/>
                              </a:rPr>
                              <m:t>𝑛</m:t>
                            </m:r>
                          </m:sub>
                        </m:sSub>
                      </m:e>
                    </m:acc>
                  </m:oMath>
                </a14:m>
                <a:r>
                  <a:rPr lang="zh-CN" altLang="en-US" dirty="0"/>
                  <a:t> 度量了行业重要性，它可能为负。在常数效应下没有影响，但异质性效应时可能有问题。建议报告  </a:t>
                </a:r>
                <a14:m>
                  <m:oMath xmlns:m="http://schemas.openxmlformats.org/officeDocument/2006/math">
                    <m:acc>
                      <m:accPr>
                        <m:chr m:val="̂"/>
                        <m:ctrlPr>
                          <a:rPr lang="zh-CN" altLang="en-US" i="1" dirty="0">
                            <a:latin typeface="Cambria Math" panose="02040503050406030204" pitchFamily="18" charset="0"/>
                          </a:rPr>
                        </m:ctrlPr>
                      </m:acc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𝛼</m:t>
                            </m:r>
                          </m:e>
                          <m:sub>
                            <m:r>
                              <a:rPr lang="en-US" altLang="zh-CN" i="1" dirty="0">
                                <a:latin typeface="Cambria Math" panose="02040503050406030204" pitchFamily="18" charset="0"/>
                              </a:rPr>
                              <m:t>𝑛</m:t>
                            </m:r>
                          </m:sub>
                        </m:sSub>
                      </m:e>
                    </m:acc>
                  </m:oMath>
                </a14:m>
                <a:r>
                  <a:rPr lang="zh-CN" altLang="en-US" dirty="0"/>
                  <a:t>  比较大的工具，考虑对应行业工具的有效性，因为权重大，该对应工具对偏差的影响较大。</a:t>
                </a:r>
                <a:endParaRPr lang="en-US" altLang="zh-CN" dirty="0"/>
              </a:p>
              <a:p>
                <a:pPr>
                  <a:lnSpc>
                    <a:spcPct val="120000"/>
                  </a:lnSpc>
                </a:pPr>
                <a:r>
                  <a:rPr lang="zh-CN" altLang="en-US" dirty="0"/>
                  <a:t>工具有效性相关检验：</a:t>
                </a:r>
                <a:endParaRPr lang="en-US" altLang="zh-CN" dirty="0"/>
              </a:p>
              <a:p>
                <a:pPr lvl="1">
                  <a:lnSpc>
                    <a:spcPct val="120000"/>
                  </a:lnSpc>
                </a:pPr>
                <a:r>
                  <a:rPr lang="zh-CN" altLang="en-US" dirty="0"/>
                  <a:t>检验份额</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𝑠</m:t>
                        </m:r>
                      </m:e>
                      <m:sub>
                        <m:r>
                          <a:rPr lang="zh-CN" altLang="en-US" i="1" dirty="0" smtClean="0">
                            <a:latin typeface="Cambria Math" panose="02040503050406030204" pitchFamily="18" charset="0"/>
                          </a:rPr>
                          <m:t>𝑙𝑛</m:t>
                        </m:r>
                        <m:r>
                          <a:rPr lang="en-US" altLang="zh-CN" i="1" dirty="0">
                            <a:latin typeface="Cambria Math" panose="02040503050406030204" pitchFamily="18" charset="0"/>
                          </a:rPr>
                          <m:t>0</m:t>
                        </m:r>
                      </m:sub>
                    </m:sSub>
                    <m:r>
                      <a:rPr lang="en-US" altLang="zh-CN" i="1" dirty="0">
                        <a:latin typeface="Cambria Math" panose="02040503050406030204" pitchFamily="18" charset="0"/>
                      </a:rPr>
                      <m:t> </m:t>
                    </m:r>
                  </m:oMath>
                </a14:m>
                <a:r>
                  <a:rPr lang="zh-CN" altLang="en-US" dirty="0"/>
                  <a:t>与行业初始特征的相关性</a:t>
                </a:r>
                <a:endParaRPr lang="en-US" altLang="zh-CN" dirty="0"/>
              </a:p>
              <a:p>
                <a:pPr lvl="1">
                  <a:lnSpc>
                    <a:spcPct val="120000"/>
                  </a:lnSpc>
                </a:pPr>
                <a:r>
                  <a:rPr lang="zh-CN" altLang="en-US" dirty="0"/>
                  <a:t>平行趋势检验</a:t>
                </a:r>
                <a:endParaRPr lang="en-US" altLang="zh-CN" dirty="0"/>
              </a:p>
              <a:p>
                <a:pPr lvl="1">
                  <a:lnSpc>
                    <a:spcPct val="120000"/>
                  </a:lnSpc>
                </a:pPr>
                <a:r>
                  <a:rPr lang="zh-CN" altLang="en-US" dirty="0"/>
                  <a:t>其他估计量和过度识别检验</a:t>
                </a:r>
              </a:p>
            </p:txBody>
          </p:sp>
        </mc:Choice>
        <mc:Fallback xmlns="">
          <p:sp>
            <p:nvSpPr>
              <p:cNvPr id="3" name="内容占位符 2">
                <a:extLst>
                  <a:ext uri="{FF2B5EF4-FFF2-40B4-BE49-F238E27FC236}">
                    <a16:creationId xmlns:a16="http://schemas.microsoft.com/office/drawing/2014/main" id="{2E4BF3AB-D44C-0212-DEBE-5FDC7D202EAA}"/>
                  </a:ext>
                </a:extLst>
              </p:cNvPr>
              <p:cNvSpPr>
                <a:spLocks noGrp="1" noRot="1" noChangeAspect="1" noMove="1" noResize="1" noEditPoints="1" noAdjustHandles="1" noChangeArrowheads="1" noChangeShapeType="1" noTextEdit="1"/>
              </p:cNvSpPr>
              <p:nvPr>
                <p:ph idx="1"/>
              </p:nvPr>
            </p:nvSpPr>
            <p:spPr>
              <a:blipFill>
                <a:blip r:embed="rId2"/>
                <a:stretch>
                  <a:fillRect t="-1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8BF350F-3D80-E2E8-B2D3-40C05990E61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AD37E58-ECB0-89B4-E6EE-AB8A198C1271}"/>
              </a:ext>
            </a:extLst>
          </p:cNvPr>
          <p:cNvSpPr>
            <a:spLocks noGrp="1"/>
          </p:cNvSpPr>
          <p:nvPr>
            <p:ph type="sldNum" sz="quarter" idx="12"/>
          </p:nvPr>
        </p:nvSpPr>
        <p:spPr/>
        <p:txBody>
          <a:bodyPr/>
          <a:lstStyle/>
          <a:p>
            <a:fld id="{D41FC515-8169-4A29-AA56-DBE520D5741B}" type="slidenum">
              <a:rPr lang="zh-CN" altLang="en-US" smtClean="0"/>
              <a:t>97</a:t>
            </a:fld>
            <a:endParaRPr lang="zh-CN" altLang="en-US"/>
          </a:p>
        </p:txBody>
      </p:sp>
    </p:spTree>
    <p:extLst>
      <p:ext uri="{BB962C8B-B14F-4D97-AF65-F5344CB8AC3E}">
        <p14:creationId xmlns:p14="http://schemas.microsoft.com/office/powerpoint/2010/main" val="29094418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7AA79A-D876-C3E5-ADCC-75946DDAF529}"/>
              </a:ext>
            </a:extLst>
          </p:cNvPr>
          <p:cNvSpPr>
            <a:spLocks noGrp="1"/>
          </p:cNvSpPr>
          <p:nvPr>
            <p:ph type="title"/>
          </p:nvPr>
        </p:nvSpPr>
        <p:spPr/>
        <p:txBody>
          <a:bodyPr/>
          <a:lstStyle/>
          <a:p>
            <a:r>
              <a:rPr lang="zh-CN" altLang="en-US" dirty="0"/>
              <a:t>两种视角的比较</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5A2DE9B-6F81-0BE9-72E2-02C94B981747}"/>
                  </a:ext>
                </a:extLst>
              </p:cNvPr>
              <p:cNvSpPr>
                <a:spLocks noGrp="1"/>
              </p:cNvSpPr>
              <p:nvPr>
                <p:ph idx="1"/>
              </p:nvPr>
            </p:nvSpPr>
            <p:spPr/>
            <p:txBody>
              <a:bodyPr/>
              <a:lstStyle/>
              <a:p>
                <a:pPr>
                  <a:lnSpc>
                    <a:spcPct val="100000"/>
                  </a:lnSpc>
                </a:pPr>
                <a:r>
                  <a:rPr lang="zh-CN" altLang="en-US" dirty="0"/>
                  <a:t>份额外生性：假设</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𝑠</m:t>
                        </m:r>
                      </m:e>
                      <m:sub>
                        <m:r>
                          <a:rPr lang="zh-CN" altLang="en-US" i="1" dirty="0" smtClean="0">
                            <a:latin typeface="Cambria Math" panose="02040503050406030204" pitchFamily="18" charset="0"/>
                          </a:rPr>
                          <m:t>𝑙𝑛𝑡</m:t>
                        </m:r>
                      </m:sub>
                    </m:sSub>
                    <m:r>
                      <a:rPr lang="zh-CN" altLang="en-US" i="1" dirty="0" smtClean="0">
                        <a:latin typeface="Cambria Math" panose="02040503050406030204" pitchFamily="18" charset="0"/>
                      </a:rPr>
                      <m:t> </m:t>
                    </m:r>
                  </m:oMath>
                </a14:m>
                <a:r>
                  <a:rPr lang="zh-CN" altLang="en-US" dirty="0"/>
                  <a:t>外生，在多期情形中类似于</a:t>
                </a:r>
                <a:r>
                  <a:rPr lang="en-US" altLang="zh-CN" dirty="0"/>
                  <a:t>DID</a:t>
                </a:r>
                <a:r>
                  <a:rPr lang="zh-CN" altLang="en-US" dirty="0"/>
                  <a:t>，更加接近于模型为基础的方法。</a:t>
                </a:r>
                <a:endParaRPr lang="en-US" altLang="zh-CN" dirty="0"/>
              </a:p>
              <a:p>
                <a:pPr>
                  <a:lnSpc>
                    <a:spcPct val="100000"/>
                  </a:lnSpc>
                </a:pPr>
                <a:r>
                  <a:rPr lang="zh-CN" altLang="en-US" dirty="0"/>
                  <a:t>冲击外生性：假设</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𝑔</m:t>
                        </m:r>
                      </m:e>
                      <m:sub>
                        <m:r>
                          <a:rPr lang="zh-CN" altLang="en-US" i="1" dirty="0" smtClean="0">
                            <a:latin typeface="Cambria Math" panose="02040503050406030204" pitchFamily="18" charset="0"/>
                          </a:rPr>
                          <m:t>𝑛𝑡</m:t>
                        </m:r>
                      </m:sub>
                    </m:sSub>
                    <m:r>
                      <a:rPr lang="zh-CN" altLang="en-US" i="1" dirty="0" smtClean="0">
                        <a:latin typeface="Cambria Math" panose="02040503050406030204" pitchFamily="18" charset="0"/>
                      </a:rPr>
                      <m:t> </m:t>
                    </m:r>
                  </m:oMath>
                </a14:m>
                <a:r>
                  <a:rPr lang="zh-CN" altLang="en-US" dirty="0"/>
                  <a:t>外生，行业要多，利用行业层面的大样本近似。接近于设计为基础的方法。</a:t>
                </a:r>
              </a:p>
            </p:txBody>
          </p:sp>
        </mc:Choice>
        <mc:Fallback xmlns="">
          <p:sp>
            <p:nvSpPr>
              <p:cNvPr id="3" name="内容占位符 2">
                <a:extLst>
                  <a:ext uri="{FF2B5EF4-FFF2-40B4-BE49-F238E27FC236}">
                    <a16:creationId xmlns:a16="http://schemas.microsoft.com/office/drawing/2014/main" id="{05A2DE9B-6F81-0BE9-72E2-02C94B981747}"/>
                  </a:ext>
                </a:extLst>
              </p:cNvPr>
              <p:cNvSpPr>
                <a:spLocks noGrp="1" noRot="1" noChangeAspect="1" noMove="1" noResize="1" noEditPoints="1" noAdjustHandles="1" noChangeArrowheads="1" noChangeShapeType="1" noTextEdit="1"/>
              </p:cNvSpPr>
              <p:nvPr>
                <p:ph idx="1"/>
              </p:nvPr>
            </p:nvSpPr>
            <p:spPr>
              <a:blipFill>
                <a:blip r:embed="rId2"/>
                <a:stretch>
                  <a:fillRect l="-1391" t="-1401" r="-77"/>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9176BC6-269E-7ED9-AB05-6C599831D00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3F5EA09-AE17-B23C-B284-C82808853BF4}"/>
              </a:ext>
            </a:extLst>
          </p:cNvPr>
          <p:cNvSpPr>
            <a:spLocks noGrp="1"/>
          </p:cNvSpPr>
          <p:nvPr>
            <p:ph type="sldNum" sz="quarter" idx="12"/>
          </p:nvPr>
        </p:nvSpPr>
        <p:spPr/>
        <p:txBody>
          <a:bodyPr/>
          <a:lstStyle/>
          <a:p>
            <a:fld id="{D41FC515-8169-4A29-AA56-DBE520D5741B}" type="slidenum">
              <a:rPr lang="zh-CN" altLang="en-US" smtClean="0"/>
              <a:t>98</a:t>
            </a:fld>
            <a:endParaRPr lang="zh-CN" altLang="en-US"/>
          </a:p>
        </p:txBody>
      </p:sp>
    </p:spTree>
    <p:extLst>
      <p:ext uri="{BB962C8B-B14F-4D97-AF65-F5344CB8AC3E}">
        <p14:creationId xmlns:p14="http://schemas.microsoft.com/office/powerpoint/2010/main" val="4337683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3DA5ED-FE35-21A2-136E-018BA04FA9E3}"/>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FA1C68D1-69AE-DAE2-74AB-D1FA5E6FF919}"/>
              </a:ext>
            </a:extLst>
          </p:cNvPr>
          <p:cNvSpPr>
            <a:spLocks noGrp="1"/>
          </p:cNvSpPr>
          <p:nvPr>
            <p:ph idx="1"/>
          </p:nvPr>
        </p:nvSpPr>
        <p:spPr/>
        <p:txBody>
          <a:bodyPr/>
          <a:lstStyle/>
          <a:p>
            <a:r>
              <a:rPr lang="zh-CN" altLang="en-US" dirty="0"/>
              <a:t>未观测异质性是普遍地</a:t>
            </a:r>
            <a:endParaRPr lang="en-US" altLang="zh-CN" dirty="0"/>
          </a:p>
          <a:p>
            <a:r>
              <a:rPr lang="zh-CN" altLang="en-US" dirty="0"/>
              <a:t>完全参数选择模型（正态假设）可以描述它，但不一定可信</a:t>
            </a:r>
            <a:endParaRPr lang="en-US" altLang="zh-CN" dirty="0"/>
          </a:p>
          <a:p>
            <a:r>
              <a:rPr lang="zh-CN" altLang="en-US" dirty="0"/>
              <a:t>线性化的工具变量</a:t>
            </a:r>
            <a:r>
              <a:rPr lang="en-US" altLang="zh-CN" dirty="0"/>
              <a:t>(LATE) </a:t>
            </a:r>
            <a:r>
              <a:rPr lang="zh-CN" altLang="en-US" dirty="0"/>
              <a:t>得到的估计可能并不能回答感兴趣的政策问题</a:t>
            </a:r>
            <a:endParaRPr lang="en-US" altLang="zh-CN" dirty="0"/>
          </a:p>
          <a:p>
            <a:r>
              <a:rPr lang="en-US" altLang="zh-CN" dirty="0"/>
              <a:t>MTE </a:t>
            </a:r>
            <a:r>
              <a:rPr lang="zh-CN" altLang="en-US" dirty="0"/>
              <a:t>提供了定义政策相关参数的一个有用的框架，但很多参数不一定可以点估计。</a:t>
            </a:r>
          </a:p>
        </p:txBody>
      </p:sp>
      <p:sp>
        <p:nvSpPr>
          <p:cNvPr id="4" name="页脚占位符 3">
            <a:extLst>
              <a:ext uri="{FF2B5EF4-FFF2-40B4-BE49-F238E27FC236}">
                <a16:creationId xmlns:a16="http://schemas.microsoft.com/office/drawing/2014/main" id="{D752BA71-380A-D885-CF13-501D4A799AF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F6960D2-C0E6-C562-AD0A-D7075D073FEF}"/>
              </a:ext>
            </a:extLst>
          </p:cNvPr>
          <p:cNvSpPr>
            <a:spLocks noGrp="1"/>
          </p:cNvSpPr>
          <p:nvPr>
            <p:ph type="sldNum" sz="quarter" idx="12"/>
          </p:nvPr>
        </p:nvSpPr>
        <p:spPr/>
        <p:txBody>
          <a:bodyPr/>
          <a:lstStyle/>
          <a:p>
            <a:fld id="{D41FC515-8169-4A29-AA56-DBE520D5741B}" type="slidenum">
              <a:rPr lang="zh-CN" altLang="en-US" smtClean="0"/>
              <a:t>99</a:t>
            </a:fld>
            <a:endParaRPr lang="zh-CN" altLang="en-US"/>
          </a:p>
        </p:txBody>
      </p:sp>
    </p:spTree>
    <p:extLst>
      <p:ext uri="{BB962C8B-B14F-4D97-AF65-F5344CB8AC3E}">
        <p14:creationId xmlns:p14="http://schemas.microsoft.com/office/powerpoint/2010/main" val="119853698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7819B8-852E-D8EC-5E15-5216DCEBE657}"/>
              </a:ext>
            </a:extLst>
          </p:cNvPr>
          <p:cNvSpPr>
            <a:spLocks noGrp="1"/>
          </p:cNvSpPr>
          <p:nvPr>
            <p:ph type="title"/>
          </p:nvPr>
        </p:nvSpPr>
        <p:spPr/>
        <p:txBody>
          <a:bodyPr/>
          <a:lstStyle/>
          <a:p>
            <a:r>
              <a:rPr lang="zh-CN" altLang="en-US" dirty="0"/>
              <a:t>参考文献</a:t>
            </a:r>
          </a:p>
        </p:txBody>
      </p:sp>
      <p:sp>
        <p:nvSpPr>
          <p:cNvPr id="3" name="内容占位符 2">
            <a:extLst>
              <a:ext uri="{FF2B5EF4-FFF2-40B4-BE49-F238E27FC236}">
                <a16:creationId xmlns:a16="http://schemas.microsoft.com/office/drawing/2014/main" id="{64949B4A-B41F-3403-B1F1-2297438BF32B}"/>
              </a:ext>
            </a:extLst>
          </p:cNvPr>
          <p:cNvSpPr>
            <a:spLocks noGrp="1"/>
          </p:cNvSpPr>
          <p:nvPr>
            <p:ph idx="1"/>
          </p:nvPr>
        </p:nvSpPr>
        <p:spPr/>
        <p:txBody>
          <a:bodyPr>
            <a:noAutofit/>
          </a:bodyPr>
          <a:lstStyle/>
          <a:p>
            <a:pPr>
              <a:lnSpc>
                <a:spcPct val="120000"/>
              </a:lnSpc>
            </a:pPr>
            <a:r>
              <a:rPr lang="en-US" altLang="zh-CN" sz="1600" dirty="0"/>
              <a:t>1 Adao, R., Kolesár, M., and Morales, E. (2019). Shift-share designs: Theory and inference. The Quarterly Journal of Economics, 134(4), 1949-2010.</a:t>
            </a:r>
          </a:p>
          <a:p>
            <a:pPr>
              <a:lnSpc>
                <a:spcPct val="120000"/>
              </a:lnSpc>
            </a:pPr>
            <a:r>
              <a:rPr lang="en-US" altLang="zh-CN" sz="1600" dirty="0"/>
              <a:t>2 Angrist, Joshua D., and Alan B. </a:t>
            </a:r>
            <a:r>
              <a:rPr lang="en-US" altLang="zh-CN" sz="1600" dirty="0" err="1"/>
              <a:t>Keueger</a:t>
            </a:r>
            <a:r>
              <a:rPr lang="en-US" altLang="zh-CN" sz="1600" dirty="0"/>
              <a:t>. ”Does compulsory school attendance affect schooling and earnings?.” The Quarterly Journal of Economics 106.4 (1991): 979-1014.</a:t>
            </a:r>
          </a:p>
          <a:p>
            <a:pPr>
              <a:lnSpc>
                <a:spcPct val="120000"/>
              </a:lnSpc>
            </a:pPr>
            <a:r>
              <a:rPr lang="en-US" altLang="zh-CN" sz="1600" dirty="0"/>
              <a:t>3 Angrist, Joshua D. ”Lifetime earnings and the Vietnam era draft lottery: evidence from social security administrative records.” The </a:t>
            </a:r>
            <a:r>
              <a:rPr lang="en-US" altLang="zh-CN" sz="1600" dirty="0" err="1"/>
              <a:t>american</a:t>
            </a:r>
            <a:r>
              <a:rPr lang="en-US" altLang="zh-CN" sz="1600" dirty="0"/>
              <a:t> economic review (1990): 313-336.</a:t>
            </a:r>
          </a:p>
          <a:p>
            <a:pPr>
              <a:lnSpc>
                <a:spcPct val="120000"/>
              </a:lnSpc>
            </a:pPr>
            <a:r>
              <a:rPr lang="en-US" altLang="zh-CN" sz="1600" dirty="0"/>
              <a:t>4 Angrist, Joshua D., and William N. Evans. ”Children and their parents’ labor supply: evidence from exogenous variation in family size.” The American Economic Review 88.3 (1998): 450-477.</a:t>
            </a:r>
          </a:p>
          <a:p>
            <a:pPr>
              <a:lnSpc>
                <a:spcPct val="120000"/>
              </a:lnSpc>
            </a:pPr>
            <a:r>
              <a:rPr lang="en-US" altLang="zh-CN" sz="1600" dirty="0"/>
              <a:t>5 Angrist, Joshua D., Guido W. </a:t>
            </a:r>
            <a:r>
              <a:rPr lang="en-US" altLang="zh-CN" sz="1600" dirty="0" err="1"/>
              <a:t>Imbens</a:t>
            </a:r>
            <a:r>
              <a:rPr lang="en-US" altLang="zh-CN" sz="1600" dirty="0"/>
              <a:t>, and Donald B. Rubin. ”Identification of causal effects using instrumental variables.” Journal of the American statistical Association 91.434 (1996): 444-455.</a:t>
            </a:r>
          </a:p>
        </p:txBody>
      </p:sp>
      <p:sp>
        <p:nvSpPr>
          <p:cNvPr id="4" name="页脚占位符 3">
            <a:extLst>
              <a:ext uri="{FF2B5EF4-FFF2-40B4-BE49-F238E27FC236}">
                <a16:creationId xmlns:a16="http://schemas.microsoft.com/office/drawing/2014/main" id="{580A2A68-8C71-4A2F-A32B-B06D61E84E7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05837EE-4CF8-7EF0-D850-DD6F7FFA9B92}"/>
              </a:ext>
            </a:extLst>
          </p:cNvPr>
          <p:cNvSpPr>
            <a:spLocks noGrp="1"/>
          </p:cNvSpPr>
          <p:nvPr>
            <p:ph type="sldNum" sz="quarter" idx="12"/>
          </p:nvPr>
        </p:nvSpPr>
        <p:spPr/>
        <p:txBody>
          <a:bodyPr/>
          <a:lstStyle/>
          <a:p>
            <a:fld id="{D41FC515-8169-4A29-AA56-DBE520D5741B}" type="slidenum">
              <a:rPr lang="zh-CN" altLang="en-US" smtClean="0"/>
              <a:t>100</a:t>
            </a:fld>
            <a:endParaRPr lang="zh-CN" altLang="en-US"/>
          </a:p>
        </p:txBody>
      </p:sp>
    </p:spTree>
    <p:extLst>
      <p:ext uri="{BB962C8B-B14F-4D97-AF65-F5344CB8AC3E}">
        <p14:creationId xmlns:p14="http://schemas.microsoft.com/office/powerpoint/2010/main" val="21504432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F9583A2-6FCE-4C53-D94A-33AD3470627D}"/>
              </a:ext>
            </a:extLst>
          </p:cNvPr>
          <p:cNvSpPr>
            <a:spLocks noGrp="1"/>
          </p:cNvSpPr>
          <p:nvPr>
            <p:ph idx="1"/>
          </p:nvPr>
        </p:nvSpPr>
        <p:spPr>
          <a:xfrm>
            <a:off x="628650" y="365126"/>
            <a:ext cx="7886700" cy="5811837"/>
          </a:xfrm>
        </p:spPr>
        <p:txBody>
          <a:bodyPr>
            <a:noAutofit/>
          </a:bodyPr>
          <a:lstStyle/>
          <a:p>
            <a:pPr>
              <a:lnSpc>
                <a:spcPct val="120000"/>
              </a:lnSpc>
            </a:pPr>
            <a:r>
              <a:rPr lang="en-US" altLang="zh-CN" sz="1600" dirty="0"/>
              <a:t>6 Björklund, Anders, and Robert Moffitt. “The Estimation of Wage Gains and Welfare Gains in Self-Selection </a:t>
            </a:r>
            <a:r>
              <a:rPr lang="en-US" altLang="zh-CN" sz="1600" dirty="0" err="1"/>
              <a:t>Models.”The</a:t>
            </a:r>
            <a:r>
              <a:rPr lang="en-US" altLang="zh-CN" sz="1600" dirty="0"/>
              <a:t> Review of Economics and Statistics 69, no. 1 (1987): 42–49.</a:t>
            </a:r>
          </a:p>
          <a:p>
            <a:pPr>
              <a:lnSpc>
                <a:spcPct val="120000"/>
              </a:lnSpc>
            </a:pPr>
            <a:r>
              <a:rPr lang="en-US" altLang="zh-CN" sz="1600" dirty="0"/>
              <a:t>7 </a:t>
            </a:r>
            <a:r>
              <a:rPr lang="en-US" altLang="zh-CN" sz="1600" dirty="0" err="1"/>
              <a:t>Blandhol</a:t>
            </a:r>
            <a:r>
              <a:rPr lang="en-US" altLang="zh-CN" sz="1600" dirty="0"/>
              <a:t>, C., Bonney, J., Mogstad, M., and </a:t>
            </a:r>
            <a:r>
              <a:rPr lang="en-US" altLang="zh-CN" sz="1600" dirty="0" err="1"/>
              <a:t>Torgovitsky</a:t>
            </a:r>
            <a:r>
              <a:rPr lang="en-US" altLang="zh-CN" sz="1600" dirty="0"/>
              <a:t>, A. (2024). When is TSLS actually late? (No. w29709). Cambridge, The Review of </a:t>
            </a:r>
            <a:r>
              <a:rPr lang="en-US" altLang="zh-CN" sz="1600" dirty="0" err="1"/>
              <a:t>Econoimc</a:t>
            </a:r>
            <a:r>
              <a:rPr lang="en-US" altLang="zh-CN" sz="1600" dirty="0"/>
              <a:t> Studies, forthcoming.</a:t>
            </a:r>
          </a:p>
          <a:p>
            <a:r>
              <a:rPr lang="en-US" altLang="zh-CN" sz="1600" dirty="0"/>
              <a:t>8 </a:t>
            </a:r>
            <a:r>
              <a:rPr lang="en-US" altLang="zh-CN" sz="1600" dirty="0" err="1"/>
              <a:t>Borusyak</a:t>
            </a:r>
            <a:r>
              <a:rPr lang="en-US" altLang="zh-CN" sz="1600" dirty="0"/>
              <a:t>, K., Hull, P., and </a:t>
            </a:r>
            <a:r>
              <a:rPr lang="en-US" altLang="zh-CN" sz="1600" dirty="0" err="1"/>
              <a:t>Jaravel</a:t>
            </a:r>
            <a:r>
              <a:rPr lang="en-US" altLang="zh-CN" sz="1600" dirty="0"/>
              <a:t>, X. (2022). Quasi-experimental shift-</a:t>
            </a:r>
            <a:r>
              <a:rPr lang="en-US" altLang="zh-CN" sz="1600" dirty="0" err="1"/>
              <a:t>shareresearch</a:t>
            </a:r>
            <a:r>
              <a:rPr lang="en-US" altLang="zh-CN" sz="1600" dirty="0"/>
              <a:t> designs. The Review of economic studies, 89(1), 181-213.</a:t>
            </a:r>
          </a:p>
          <a:p>
            <a:r>
              <a:rPr lang="en-US" altLang="zh-CN" sz="1600" dirty="0"/>
              <a:t>9 </a:t>
            </a:r>
            <a:r>
              <a:rPr lang="en-US" altLang="zh-CN" sz="1600" dirty="0" err="1"/>
              <a:t>Borusyak</a:t>
            </a:r>
            <a:r>
              <a:rPr lang="en-US" altLang="zh-CN" sz="1600" dirty="0"/>
              <a:t>, K., and Hull, P. (2023). Nonrandom exposure to exogenous </a:t>
            </a:r>
            <a:r>
              <a:rPr lang="en-US" altLang="zh-CN" sz="1600" dirty="0" err="1"/>
              <a:t>shocks.Econometrica</a:t>
            </a:r>
            <a:r>
              <a:rPr lang="en-US" altLang="zh-CN" sz="1600" dirty="0"/>
              <a:t>, 91(6), 2155-2185.</a:t>
            </a:r>
          </a:p>
          <a:p>
            <a:r>
              <a:rPr lang="en-US" altLang="zh-CN" sz="1600" dirty="0"/>
              <a:t>10 </a:t>
            </a:r>
            <a:r>
              <a:rPr lang="en-US" altLang="zh-CN" sz="1600" dirty="0" err="1"/>
              <a:t>Borusyak</a:t>
            </a:r>
            <a:r>
              <a:rPr lang="en-US" altLang="zh-CN" sz="1600" dirty="0"/>
              <a:t>, K., Hull, P., and </a:t>
            </a:r>
            <a:r>
              <a:rPr lang="en-US" altLang="zh-CN" sz="1600" dirty="0" err="1"/>
              <a:t>Jaravel</a:t>
            </a:r>
            <a:r>
              <a:rPr lang="en-US" altLang="zh-CN" sz="1600" dirty="0"/>
              <a:t>, X. (2025). A practical guide to shift-share instruments. Journal of Economic Perspectives, 39(1), 181-204.</a:t>
            </a:r>
          </a:p>
          <a:p>
            <a:r>
              <a:rPr lang="en-US" altLang="zh-CN" sz="1600" dirty="0"/>
              <a:t>11 </a:t>
            </a:r>
            <a:r>
              <a:rPr lang="en-US" altLang="zh-CN" sz="1600" dirty="0" err="1"/>
              <a:t>Borusyak</a:t>
            </a:r>
            <a:r>
              <a:rPr lang="en-US" altLang="zh-CN" sz="1600" dirty="0"/>
              <a:t>, K., Hull, P., and </a:t>
            </a:r>
            <a:r>
              <a:rPr lang="en-US" altLang="zh-CN" sz="1600" dirty="0" err="1"/>
              <a:t>Jaravel</a:t>
            </a:r>
            <a:r>
              <a:rPr lang="en-US" altLang="zh-CN" sz="1600" dirty="0"/>
              <a:t>, X. (2025). Design-based identification with formula instruments: A review. The Econometrics Journal, 28(1), 83-108.</a:t>
            </a:r>
          </a:p>
          <a:p>
            <a:r>
              <a:rPr lang="en-US" altLang="zh-CN" sz="1600" dirty="0"/>
              <a:t>12 Brinch, Christian N., Magne Mogstad, and Matthew Wiswall. ”Beyond LATE with a discrete instrument.” Journal of Political Economy 125.4 (2017): 985-1039.</a:t>
            </a:r>
          </a:p>
          <a:p>
            <a:r>
              <a:rPr lang="en-US" altLang="zh-CN" sz="1600" dirty="0"/>
              <a:t>13 Cornelissen, Thomas, et al. ”Who benefits from universal child care? Estimating marginal returns to early child care attendance.” Journal of Political Economy 126.6 (2018): 2356-2409.</a:t>
            </a:r>
          </a:p>
          <a:p>
            <a:r>
              <a:rPr lang="en-US" altLang="zh-CN" sz="1600" dirty="0"/>
              <a:t>14 Goldsmith-Pinkham, P., Sorkin, I., and Swift, H. (2020). Bartik instruments: What, when, why, and how. American Economic Review, 110(8), 2586-2624.</a:t>
            </a:r>
          </a:p>
        </p:txBody>
      </p:sp>
      <p:sp>
        <p:nvSpPr>
          <p:cNvPr id="4" name="页脚占位符 3">
            <a:extLst>
              <a:ext uri="{FF2B5EF4-FFF2-40B4-BE49-F238E27FC236}">
                <a16:creationId xmlns:a16="http://schemas.microsoft.com/office/drawing/2014/main" id="{7CF2B78B-234A-3186-BC53-7B29ED16FBC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A8C3641-2B5E-1922-9C0E-330F92E6C22B}"/>
              </a:ext>
            </a:extLst>
          </p:cNvPr>
          <p:cNvSpPr>
            <a:spLocks noGrp="1"/>
          </p:cNvSpPr>
          <p:nvPr>
            <p:ph type="sldNum" sz="quarter" idx="12"/>
          </p:nvPr>
        </p:nvSpPr>
        <p:spPr/>
        <p:txBody>
          <a:bodyPr/>
          <a:lstStyle/>
          <a:p>
            <a:fld id="{D41FC515-8169-4A29-AA56-DBE520D5741B}" type="slidenum">
              <a:rPr lang="zh-CN" altLang="en-US" smtClean="0"/>
              <a:t>101</a:t>
            </a:fld>
            <a:endParaRPr lang="zh-CN" altLang="en-US"/>
          </a:p>
        </p:txBody>
      </p:sp>
    </p:spTree>
    <p:extLst>
      <p:ext uri="{BB962C8B-B14F-4D97-AF65-F5344CB8AC3E}">
        <p14:creationId xmlns:p14="http://schemas.microsoft.com/office/powerpoint/2010/main" val="25165492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B9F6CA5-60CB-B887-0624-0C5C8246E897}"/>
              </a:ext>
            </a:extLst>
          </p:cNvPr>
          <p:cNvSpPr>
            <a:spLocks noGrp="1"/>
          </p:cNvSpPr>
          <p:nvPr>
            <p:ph idx="1"/>
          </p:nvPr>
        </p:nvSpPr>
        <p:spPr>
          <a:xfrm>
            <a:off x="628650" y="532435"/>
            <a:ext cx="7886700" cy="5644528"/>
          </a:xfrm>
        </p:spPr>
        <p:txBody>
          <a:bodyPr>
            <a:noAutofit/>
          </a:bodyPr>
          <a:lstStyle/>
          <a:p>
            <a:r>
              <a:rPr lang="en-US" altLang="zh-CN" sz="1500" dirty="0"/>
              <a:t>15 Heckman, James J., and Edward </a:t>
            </a:r>
            <a:r>
              <a:rPr lang="en-US" altLang="zh-CN" sz="1500" dirty="0" err="1"/>
              <a:t>Vytlacil</a:t>
            </a:r>
            <a:r>
              <a:rPr lang="en-US" altLang="zh-CN" sz="1500" dirty="0"/>
              <a:t>. ”Structural equations, treatment effects, and econometric policy evaluation” </a:t>
            </a:r>
            <a:r>
              <a:rPr lang="en-US" altLang="zh-CN" sz="1500" dirty="0" err="1"/>
              <a:t>Econometrica</a:t>
            </a:r>
            <a:r>
              <a:rPr lang="en-US" altLang="zh-CN" sz="1500" dirty="0"/>
              <a:t> 73.3 (2005): 669-738.</a:t>
            </a:r>
          </a:p>
          <a:p>
            <a:r>
              <a:rPr lang="en-US" altLang="zh-CN" sz="1500" dirty="0"/>
              <a:t>16 Heckman, James J., and Edward J. </a:t>
            </a:r>
            <a:r>
              <a:rPr lang="en-US" altLang="zh-CN" sz="1500" dirty="0" err="1"/>
              <a:t>Vytlacil</a:t>
            </a:r>
            <a:r>
              <a:rPr lang="en-US" altLang="zh-CN" sz="1500" dirty="0"/>
              <a:t>. ”Local instrumental variables and latent variable models for identifying and bounding treatment effects.” Proceedings of the national Academy of Sciences 96.8 (1999): 4730-4734.</a:t>
            </a:r>
          </a:p>
          <a:p>
            <a:r>
              <a:rPr lang="en-US" altLang="zh-CN" sz="1500" dirty="0"/>
              <a:t>17 </a:t>
            </a:r>
            <a:r>
              <a:rPr lang="en-US" altLang="zh-CN" sz="1500" dirty="0" err="1"/>
              <a:t>Imbens</a:t>
            </a:r>
            <a:r>
              <a:rPr lang="en-US" altLang="zh-CN" sz="1500" dirty="0"/>
              <a:t>, Guido W., and Joshua D. Angrist. ”Identification and Estimation of Local Average Treatment Effects.” </a:t>
            </a:r>
            <a:r>
              <a:rPr lang="en-US" altLang="zh-CN" sz="1500" dirty="0" err="1"/>
              <a:t>Econometrica</a:t>
            </a:r>
            <a:r>
              <a:rPr lang="en-US" altLang="zh-CN" sz="1500" dirty="0"/>
              <a:t> 62.2 (1994): 467-475.</a:t>
            </a:r>
          </a:p>
          <a:p>
            <a:r>
              <a:rPr lang="en-US" altLang="zh-CN" sz="1500" dirty="0"/>
              <a:t>18 </a:t>
            </a:r>
            <a:r>
              <a:rPr lang="en-US" altLang="zh-CN" sz="1500" dirty="0" err="1"/>
              <a:t>Imbens</a:t>
            </a:r>
            <a:r>
              <a:rPr lang="en-US" altLang="zh-CN" sz="1500" dirty="0"/>
              <a:t> G, Rubin D. Estimating Outcome Distributions for Compliers </a:t>
            </a:r>
            <a:r>
              <a:rPr lang="en-US" altLang="zh-CN" sz="1500" dirty="0" err="1"/>
              <a:t>inInstrumental</a:t>
            </a:r>
            <a:r>
              <a:rPr lang="en-US" altLang="zh-CN" sz="1500" dirty="0"/>
              <a:t> Variable Models. Review of Economic Studies, 199</a:t>
            </a:r>
            <a:endParaRPr lang="zh-CN" altLang="en-US" sz="1500" dirty="0"/>
          </a:p>
          <a:p>
            <a:r>
              <a:rPr lang="en-US" altLang="zh-CN" sz="1500" dirty="0"/>
              <a:t>19 Kline, Patrick, Christopher R. Walters, Evaluating Public Programs with Close Substitutes: The Case of Head Start, The Quarterly Journal of Economics, Volume 131, Issue 4, November 2016, Pages 1795–1848, https://doi.org/10.1093/qje/qjw027</a:t>
            </a:r>
          </a:p>
          <a:p>
            <a:r>
              <a:rPr lang="en-US" altLang="zh-CN" sz="1500" dirty="0"/>
              <a:t>20 Mogstad, Magne, Andres Santos, and Alexander </a:t>
            </a:r>
            <a:r>
              <a:rPr lang="en-US" altLang="zh-CN" sz="1500" dirty="0" err="1"/>
              <a:t>Torgovitsky</a:t>
            </a:r>
            <a:r>
              <a:rPr lang="en-US" altLang="zh-CN" sz="1500" dirty="0"/>
              <a:t>. ”Using instrumental variables for inference about policy relevant treatment parameters.” </a:t>
            </a:r>
            <a:r>
              <a:rPr lang="en-US" altLang="zh-CN" sz="1500" dirty="0" err="1"/>
              <a:t>Econometrica</a:t>
            </a:r>
            <a:r>
              <a:rPr lang="en-US" altLang="zh-CN" sz="1500" dirty="0"/>
              <a:t> 86.5 (2018): 1589-1619.</a:t>
            </a:r>
          </a:p>
          <a:p>
            <a:r>
              <a:rPr lang="en-US" altLang="zh-CN" sz="1500" dirty="0"/>
              <a:t>21 Mogstad, Magne, and Alexander </a:t>
            </a:r>
            <a:r>
              <a:rPr lang="en-US" altLang="zh-CN" sz="1500" dirty="0" err="1"/>
              <a:t>Torgovitsky</a:t>
            </a:r>
            <a:r>
              <a:rPr lang="en-US" altLang="zh-CN" sz="1500" dirty="0"/>
              <a:t>. ”Identification and extrapolation of causal effects with instrumental variables.” Annual Review of Economics 10 (2018): 577-613.</a:t>
            </a:r>
          </a:p>
          <a:p>
            <a:r>
              <a:rPr lang="en-US" altLang="zh-CN" sz="1500" dirty="0"/>
              <a:t>22 Mogstad, Magne, and Alexander </a:t>
            </a:r>
            <a:r>
              <a:rPr lang="en-US" altLang="zh-CN" sz="1500" dirty="0" err="1"/>
              <a:t>Torgovitsky</a:t>
            </a:r>
            <a:r>
              <a:rPr lang="en-US" altLang="zh-CN" sz="1500" dirty="0"/>
              <a:t>. Instrumental Variables with Unobserved Heterogeneity in Treatment Effects. No. w32927. National Bureau of Economic Research, 2024.</a:t>
            </a:r>
          </a:p>
          <a:p>
            <a:r>
              <a:rPr lang="en-US" altLang="zh-CN" sz="1500" dirty="0"/>
              <a:t>23 </a:t>
            </a:r>
            <a:r>
              <a:rPr lang="en-US" altLang="zh-CN" sz="1500" dirty="0" err="1"/>
              <a:t>Słoczyński</a:t>
            </a:r>
            <a:r>
              <a:rPr lang="en-US" altLang="zh-CN" sz="1500" dirty="0"/>
              <a:t>, Tymon. “When should we (not) interpret linear iv </a:t>
            </a:r>
            <a:r>
              <a:rPr lang="en-US" altLang="zh-CN" sz="1500" dirty="0" err="1"/>
              <a:t>estimands</a:t>
            </a:r>
            <a:r>
              <a:rPr lang="en-US" altLang="zh-CN" sz="1500" dirty="0"/>
              <a:t> as late?.” </a:t>
            </a:r>
            <a:r>
              <a:rPr lang="en-US" altLang="zh-CN" sz="1500" dirty="0" err="1"/>
              <a:t>arXiv</a:t>
            </a:r>
            <a:r>
              <a:rPr lang="en-US" altLang="zh-CN" sz="1500" dirty="0"/>
              <a:t> preprint arXiv:2011.06695 (2024).</a:t>
            </a:r>
          </a:p>
          <a:p>
            <a:r>
              <a:rPr lang="en-US" altLang="zh-CN" sz="1500" dirty="0"/>
              <a:t>24 </a:t>
            </a:r>
            <a:r>
              <a:rPr lang="en-US" altLang="zh-CN" sz="1500" dirty="0" err="1"/>
              <a:t>Vytlacil</a:t>
            </a:r>
            <a:r>
              <a:rPr lang="en-US" altLang="zh-CN" sz="1500" dirty="0"/>
              <a:t>, Edward. ”Independence, monotonicity, and latent index models: An equivalence result.” </a:t>
            </a:r>
            <a:r>
              <a:rPr lang="en-US" altLang="zh-CN" sz="1500" dirty="0" err="1"/>
              <a:t>Econometrica</a:t>
            </a:r>
            <a:r>
              <a:rPr lang="en-US" altLang="zh-CN" sz="1500" dirty="0"/>
              <a:t> 70.1 (2002): 331-341.</a:t>
            </a:r>
            <a:endParaRPr lang="zh-CN" altLang="en-US" sz="1500" dirty="0"/>
          </a:p>
        </p:txBody>
      </p:sp>
      <p:sp>
        <p:nvSpPr>
          <p:cNvPr id="4" name="页脚占位符 3">
            <a:extLst>
              <a:ext uri="{FF2B5EF4-FFF2-40B4-BE49-F238E27FC236}">
                <a16:creationId xmlns:a16="http://schemas.microsoft.com/office/drawing/2014/main" id="{3583C0A4-5195-F64B-8DC9-6F3A765DB77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CAB974F-FF06-D5AA-8D42-7512E562ED46}"/>
              </a:ext>
            </a:extLst>
          </p:cNvPr>
          <p:cNvSpPr>
            <a:spLocks noGrp="1"/>
          </p:cNvSpPr>
          <p:nvPr>
            <p:ph type="sldNum" sz="quarter" idx="12"/>
          </p:nvPr>
        </p:nvSpPr>
        <p:spPr/>
        <p:txBody>
          <a:bodyPr/>
          <a:lstStyle/>
          <a:p>
            <a:fld id="{D41FC515-8169-4A29-AA56-DBE520D5741B}" type="slidenum">
              <a:rPr lang="zh-CN" altLang="en-US" smtClean="0"/>
              <a:t>102</a:t>
            </a:fld>
            <a:endParaRPr lang="zh-CN" altLang="en-US"/>
          </a:p>
        </p:txBody>
      </p:sp>
    </p:spTree>
    <p:extLst>
      <p:ext uri="{BB962C8B-B14F-4D97-AF65-F5344CB8AC3E}">
        <p14:creationId xmlns:p14="http://schemas.microsoft.com/office/powerpoint/2010/main" val="3284202767"/>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思源宋体 Heavy"/>
        <a:cs typeface=""/>
      </a:majorFont>
      <a:minorFont>
        <a:latin typeface="Times New Roman"/>
        <a:ea typeface="思源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1504</TotalTime>
  <Words>13197</Words>
  <Application>Microsoft Office PowerPoint</Application>
  <PresentationFormat>全屏显示(4:3)</PresentationFormat>
  <Paragraphs>892</Paragraphs>
  <Slides>102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102</vt:i4>
      </vt:variant>
    </vt:vector>
  </HeadingPairs>
  <TitlesOfParts>
    <vt:vector size="109" baseType="lpstr">
      <vt:lpstr>LMRoman8-Regular-Identity-H</vt:lpstr>
      <vt:lpstr>等线</vt:lpstr>
      <vt:lpstr>宋体</vt:lpstr>
      <vt:lpstr>Arial</vt:lpstr>
      <vt:lpstr>Cambria Math</vt:lpstr>
      <vt:lpstr>Times New Roman</vt:lpstr>
      <vt:lpstr>Office 主题​​</vt:lpstr>
      <vt:lpstr>工具变量法</vt:lpstr>
      <vt:lpstr>目录</vt:lpstr>
      <vt:lpstr>工具变量法</vt:lpstr>
      <vt:lpstr>经典工具变量法</vt:lpstr>
      <vt:lpstr>经典工具变量法</vt:lpstr>
      <vt:lpstr>经典工具变量法</vt:lpstr>
      <vt:lpstr>经典工具变量法</vt:lpstr>
      <vt:lpstr>经典工具变量法</vt:lpstr>
      <vt:lpstr>经典工具变量法</vt:lpstr>
      <vt:lpstr>经典工具变量法</vt:lpstr>
      <vt:lpstr>经典工具变量法</vt:lpstr>
      <vt:lpstr>经典工具变量法</vt:lpstr>
      <vt:lpstr>经典工具变量法</vt:lpstr>
      <vt:lpstr>经典工具变量法</vt:lpstr>
      <vt:lpstr>经典工具变量法</vt:lpstr>
      <vt:lpstr>经典工具变量法</vt:lpstr>
      <vt:lpstr>经典工具变量法 有效工具变量的条件检验</vt:lpstr>
      <vt:lpstr>经典工具变量法</vt:lpstr>
      <vt:lpstr>经典工具变量法</vt:lpstr>
      <vt:lpstr>经典工具变量法</vt:lpstr>
      <vt:lpstr>经典工具变量法</vt:lpstr>
      <vt:lpstr>经典工具变量法 控制函数法</vt:lpstr>
      <vt:lpstr>经典工具变量法</vt:lpstr>
      <vt:lpstr>LATE 框架</vt:lpstr>
      <vt:lpstr>LATE 框架 LATE 定理</vt:lpstr>
      <vt:lpstr>LATE 框架 LATE 定理</vt:lpstr>
      <vt:lpstr>LATE 框架 LATE 定理</vt:lpstr>
      <vt:lpstr>LATE 框架 LATE 定理</vt:lpstr>
      <vt:lpstr>LATE 框架 LATE 定理</vt:lpstr>
      <vt:lpstr>LATE 框架 1. 谁是依从者</vt:lpstr>
      <vt:lpstr>LATE 框架 1. 谁是依从者</vt:lpstr>
      <vt:lpstr>LATE 框架 1. 谁是依从者</vt:lpstr>
      <vt:lpstr>LATE 框架 1. 谁是依从者</vt:lpstr>
      <vt:lpstr>LATE 框架 1. 谁是依从者</vt:lpstr>
      <vt:lpstr>LATE 框架 1. 谁是依从者</vt:lpstr>
      <vt:lpstr>LATE 框架 2. 引入协变量</vt:lpstr>
      <vt:lpstr>LATE 框架 2. 引入协变量</vt:lpstr>
      <vt:lpstr>LATE 框架 2. 引入协变量</vt:lpstr>
      <vt:lpstr>LATE 框架 2. 引入协变量</vt:lpstr>
      <vt:lpstr>LATE 框架 2. 引入协变量：Abadie’s 𝜅</vt:lpstr>
      <vt:lpstr>LATE 框架 2. 引入协变量：TSLS</vt:lpstr>
      <vt:lpstr>LATE 框架：Sloczynski(2024) 2. 引入协变量：TSLS</vt:lpstr>
      <vt:lpstr>LATE 框架：Blandhol et al. (2024) 2. 引入协变量：TSLS</vt:lpstr>
      <vt:lpstr>LATE 框架：Blandhol et al. (2024) 2. 引入协变量：TSLS</vt:lpstr>
      <vt:lpstr>LATE 框架 3. 随机化实验与工具变量法：单边非依从</vt:lpstr>
      <vt:lpstr>LATE 框架 3. 随机化实验与工具变量法：双边非依从</vt:lpstr>
      <vt:lpstr>LATE 框架 子女数量与父母劳动供给</vt:lpstr>
      <vt:lpstr>LATE 框架 子女数量与父母劳动供给</vt:lpstr>
      <vt:lpstr>LATE 框架 子女数量与父母劳动供给</vt:lpstr>
      <vt:lpstr>LATE 框架 子女数量与父母劳动供给</vt:lpstr>
      <vt:lpstr>LATE 框架 子女数量与父母劳动供给</vt:lpstr>
      <vt:lpstr>小结</vt:lpstr>
      <vt:lpstr>MTE 框架(Marginal Treatment Effect Framework)</vt:lpstr>
      <vt:lpstr>选择方程和单调性</vt:lpstr>
      <vt:lpstr>MTE 框架(Marginal Treatment Effect Framework)</vt:lpstr>
      <vt:lpstr>MTE 框架(Marginal Treatment Effect Framework)</vt:lpstr>
      <vt:lpstr>MTE 框架(Marginal Treatment Effect Framework)</vt:lpstr>
      <vt:lpstr>MTE 框架(Marginal Treatment Effect Framework)</vt:lpstr>
      <vt:lpstr>MTE 框架(Marginal Treatment Effect Framework)</vt:lpstr>
      <vt:lpstr>MTE 框架 政策相关参数(Policy relevant treatment parameters)</vt:lpstr>
      <vt:lpstr>MTE 框架 政策相关参数(Policy relevant treatment parameters)</vt:lpstr>
      <vt:lpstr>MTE 框架 政策相关参数(Policy relevant treatment parameters)</vt:lpstr>
      <vt:lpstr>MTE 框架 工具变量估计什么</vt:lpstr>
      <vt:lpstr>MTE 框架 工具变量估计什么</vt:lpstr>
      <vt:lpstr>MTE 框架 MTE 估计</vt:lpstr>
      <vt:lpstr>MTE 框架 MTE 估计</vt:lpstr>
      <vt:lpstr>MTE 框架 MTE 估计</vt:lpstr>
      <vt:lpstr>MTE 框架 MTE 估计</vt:lpstr>
      <vt:lpstr>MTE 框架 MTE 估计</vt:lpstr>
      <vt:lpstr>Cornelissen et al. (2018) Who benefits from universal child care?</vt:lpstr>
      <vt:lpstr>Cornelissen et al. (2018) Who benefits from universal child care?</vt:lpstr>
      <vt:lpstr>Cornelissen et al. (2018) Who benefits from universal child care?</vt:lpstr>
      <vt:lpstr>Cornelissen et al. (2018) Who benefits from universal child care?</vt:lpstr>
      <vt:lpstr>Cornelissen et al. (2018) Who benefits from universal child care?</vt:lpstr>
      <vt:lpstr>Cornelissen et al. (2018) Who benefits from universal child care?</vt:lpstr>
      <vt:lpstr>Cornelissen et al. (2018) Who benefits from universal child care?</vt:lpstr>
      <vt:lpstr>Cornelissen et al. (2018) Who benefits from universal child care?</vt:lpstr>
      <vt:lpstr>Shift-Share IV (SSIV)</vt:lpstr>
      <vt:lpstr>SSIV：几个例子</vt:lpstr>
      <vt:lpstr>SSIV：几个例子</vt:lpstr>
      <vt:lpstr>SSIV：几个例子</vt:lpstr>
      <vt:lpstr>SSIV：几个例子</vt:lpstr>
      <vt:lpstr>SSIV</vt:lpstr>
      <vt:lpstr>SSIV：识别</vt:lpstr>
      <vt:lpstr>SSIV：冲击外生性</vt:lpstr>
      <vt:lpstr>SSIV：冲击外生性 BHJ 等价性定理</vt:lpstr>
      <vt:lpstr>SSIV：冲击外生性 识别假设</vt:lpstr>
      <vt:lpstr>SSIV：冲击外生性 识别假设</vt:lpstr>
      <vt:lpstr>SSIV：冲击外生性 不完全份额问题</vt:lpstr>
      <vt:lpstr>SSIV：冲击外生性 暴露聚类问题</vt:lpstr>
      <vt:lpstr>SSIV：份额外生性</vt:lpstr>
      <vt:lpstr>SSIV：份额外生性</vt:lpstr>
      <vt:lpstr>SSIV：份额外生性</vt:lpstr>
      <vt:lpstr>SSIV：份额外生性</vt:lpstr>
      <vt:lpstr>SSIV：份额外生性</vt:lpstr>
      <vt:lpstr>SSIV：份额外性性 识别条件</vt:lpstr>
      <vt:lpstr>Decomposing Bartik</vt:lpstr>
      <vt:lpstr>两种视角的比较</vt:lpstr>
      <vt:lpstr>小结</vt:lpstr>
      <vt:lpstr>参考文献</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Xiliang ZHAO</dc:creator>
  <cp:lastModifiedBy>Xiliang ZHAO</cp:lastModifiedBy>
  <cp:revision>26</cp:revision>
  <dcterms:created xsi:type="dcterms:W3CDTF">2026-08-07T12:10:34Z</dcterms:created>
  <dcterms:modified xsi:type="dcterms:W3CDTF">2026-08-15T14:51:00Z</dcterms:modified>
</cp:coreProperties>
</file>
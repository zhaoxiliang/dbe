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74"/>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324"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5" r:id="rId69"/>
    <p:sldId id="326" r:id="rId70"/>
    <p:sldId id="327" r:id="rId71"/>
    <p:sldId id="328" r:id="rId72"/>
    <p:sldId id="329" r:id="rId7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3" d="100"/>
          <a:sy n="73" d="100"/>
        </p:scale>
        <p:origin x="17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F3004A-1035-4AD2-BC4A-DB230EAABF41}" type="datetimeFigureOut">
              <a:rPr lang="zh-CN" altLang="en-US" smtClean="0"/>
              <a:t>2026/8/24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55C349-FD8F-4A61-B7BE-408729C94B71}" type="slidenum">
              <a:rPr lang="zh-CN" altLang="en-US" smtClean="0"/>
              <a:t>‹#›</a:t>
            </a:fld>
            <a:endParaRPr lang="zh-CN" altLang="en-US"/>
          </a:p>
        </p:txBody>
      </p:sp>
    </p:spTree>
    <p:extLst>
      <p:ext uri="{BB962C8B-B14F-4D97-AF65-F5344CB8AC3E}">
        <p14:creationId xmlns:p14="http://schemas.microsoft.com/office/powerpoint/2010/main" val="56546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b="0"/>
            </a:lvl1pPr>
          </a:lstStyle>
          <a:p>
            <a:r>
              <a:rPr lang="zh-CN" altLang="en-US" dirty="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9A4515A7-CEAA-43FE-A0C6-C344D2E1C420}" type="datetime1">
              <a:rPr lang="zh-CN" altLang="en-US" smtClean="0"/>
              <a:t>2026/8/24</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409680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Date Placeholder 3"/>
          <p:cNvSpPr>
            <a:spLocks noGrp="1"/>
          </p:cNvSpPr>
          <p:nvPr>
            <p:ph type="dt" sz="half" idx="10"/>
          </p:nvPr>
        </p:nvSpPr>
        <p:spPr/>
        <p:txBody>
          <a:bodyPr/>
          <a:lstStyle/>
          <a:p>
            <a:fld id="{F1CD9CB9-29D0-4350-825D-C0AA5096F718}" type="datetime1">
              <a:rPr lang="zh-CN" altLang="en-US" smtClean="0"/>
              <a:t>2026/8/24</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112358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CDDCF1F-4D82-4E39-A2A2-35E2A1D1799F}" type="datetime1">
              <a:rPr lang="zh-CN" altLang="en-US" smtClean="0"/>
              <a:t>2026/8/24</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423829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8DD3615-B586-42F4-9872-6C720AA0F56E}" type="datetime1">
              <a:rPr lang="zh-CN" altLang="en-US" smtClean="0"/>
              <a:t>2026/8/24</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311557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C0A3562-2CF1-4137-BC7A-0E1D3AD82A62}" type="datetime1">
              <a:rPr lang="zh-CN" altLang="en-US" smtClean="0"/>
              <a:t>2026/8/24</a:t>
            </a:fld>
            <a:endParaRPr lang="zh-CN" altLang="en-US"/>
          </a:p>
        </p:txBody>
      </p:sp>
      <p:sp>
        <p:nvSpPr>
          <p:cNvPr id="8" name="Footer Placeholder 7"/>
          <p:cNvSpPr>
            <a:spLocks noGrp="1"/>
          </p:cNvSpPr>
          <p:nvPr>
            <p:ph type="ftr" sz="quarter" idx="11"/>
          </p:nvPr>
        </p:nvSpPr>
        <p:spPr/>
        <p:txBody>
          <a:bodyPr/>
          <a:lstStyle/>
          <a:p>
            <a:r>
              <a:rPr lang="zh-CN" altLang="en-US"/>
              <a:t>ⓒ 赵西亮</a:t>
            </a:r>
          </a:p>
        </p:txBody>
      </p:sp>
      <p:sp>
        <p:nvSpPr>
          <p:cNvPr id="9" name="Slide Number Placeholder 8"/>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584099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3246C70-57B0-4FDE-A935-0B961BFE496D}" type="datetime1">
              <a:rPr lang="zh-CN" altLang="en-US" smtClean="0"/>
              <a:t>2026/8/24</a:t>
            </a:fld>
            <a:endParaRPr lang="zh-CN" altLang="en-US"/>
          </a:p>
        </p:txBody>
      </p:sp>
      <p:sp>
        <p:nvSpPr>
          <p:cNvPr id="4" name="Footer Placeholder 3"/>
          <p:cNvSpPr>
            <a:spLocks noGrp="1"/>
          </p:cNvSpPr>
          <p:nvPr>
            <p:ph type="ftr" sz="quarter" idx="11"/>
          </p:nvPr>
        </p:nvSpPr>
        <p:spPr/>
        <p:txBody>
          <a:bodyPr/>
          <a:lstStyle/>
          <a:p>
            <a:r>
              <a:rPr lang="zh-CN" altLang="en-US"/>
              <a:t>ⓒ 赵西亮</a:t>
            </a:r>
          </a:p>
        </p:txBody>
      </p:sp>
      <p:sp>
        <p:nvSpPr>
          <p:cNvPr id="5" name="Slide Number Placeholder 4"/>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67662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94AC03-C0A7-4889-9992-72A6D2628D14}" type="datetime1">
              <a:rPr lang="zh-CN" altLang="en-US" smtClean="0"/>
              <a:t>2026/8/24</a:t>
            </a:fld>
            <a:endParaRPr lang="zh-CN" altLang="en-US"/>
          </a:p>
        </p:txBody>
      </p:sp>
      <p:sp>
        <p:nvSpPr>
          <p:cNvPr id="3" name="Footer Placeholder 2"/>
          <p:cNvSpPr>
            <a:spLocks noGrp="1"/>
          </p:cNvSpPr>
          <p:nvPr>
            <p:ph type="ftr" sz="quarter" idx="11"/>
          </p:nvPr>
        </p:nvSpPr>
        <p:spPr/>
        <p:txBody>
          <a:bodyPr/>
          <a:lstStyle/>
          <a:p>
            <a:r>
              <a:rPr lang="zh-CN" altLang="en-US"/>
              <a:t>ⓒ 赵西亮</a:t>
            </a:r>
          </a:p>
        </p:txBody>
      </p:sp>
      <p:sp>
        <p:nvSpPr>
          <p:cNvPr id="4" name="Slide Number Placeholder 3"/>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4096729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F954344-EBCE-46E1-8116-31474348F6BE}" type="datetime1">
              <a:rPr lang="zh-CN" altLang="en-US" smtClean="0"/>
              <a:t>2026/8/24</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100183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E4BE525-4771-468B-A8FB-DAB2047A4270}" type="datetime1">
              <a:rPr lang="zh-CN" altLang="en-US" smtClean="0"/>
              <a:t>2026/8/24</a:t>
            </a:fld>
            <a:endParaRPr lang="zh-CN" altLang="en-US"/>
          </a:p>
        </p:txBody>
      </p:sp>
      <p:sp>
        <p:nvSpPr>
          <p:cNvPr id="6" name="Footer Placeholder 5"/>
          <p:cNvSpPr>
            <a:spLocks noGrp="1"/>
          </p:cNvSpPr>
          <p:nvPr>
            <p:ph type="ftr" sz="quarter" idx="11"/>
          </p:nvPr>
        </p:nvSpPr>
        <p:spPr/>
        <p:txBody>
          <a:bodyPr/>
          <a:lstStyle/>
          <a:p>
            <a:r>
              <a:rPr lang="zh-CN" altLang="en-US"/>
              <a:t>ⓒ 赵西亮</a:t>
            </a:r>
          </a:p>
        </p:txBody>
      </p:sp>
      <p:sp>
        <p:nvSpPr>
          <p:cNvPr id="7" name="Slide Number Placeholder 6"/>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2398654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188E2B5-2348-4A45-A5B7-02B2B64364E4}" type="datetime1">
              <a:rPr lang="zh-CN" altLang="en-US" smtClean="0"/>
              <a:t>2026/8/24</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3404451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705BAB9-886B-4640-A228-FB1A92425BDE}" type="datetime1">
              <a:rPr lang="zh-CN" altLang="en-US" smtClean="0"/>
              <a:t>2026/8/24</a:t>
            </a:fld>
            <a:endParaRPr lang="zh-CN" altLang="en-US"/>
          </a:p>
        </p:txBody>
      </p:sp>
      <p:sp>
        <p:nvSpPr>
          <p:cNvPr id="5" name="Footer Placeholder 4"/>
          <p:cNvSpPr>
            <a:spLocks noGrp="1"/>
          </p:cNvSpPr>
          <p:nvPr>
            <p:ph type="ftr" sz="quarter" idx="11"/>
          </p:nvPr>
        </p:nvSpPr>
        <p:spPr/>
        <p:txBody>
          <a:bodyPr/>
          <a:lstStyle/>
          <a:p>
            <a:r>
              <a:rPr lang="zh-CN" altLang="en-US"/>
              <a:t>ⓒ 赵西亮</a:t>
            </a:r>
          </a:p>
        </p:txBody>
      </p:sp>
      <p:sp>
        <p:nvSpPr>
          <p:cNvPr id="6" name="Slide Number Placeholder 5"/>
          <p:cNvSpPr>
            <a:spLocks noGrp="1"/>
          </p:cNvSpPr>
          <p:nvPr>
            <p:ph type="sldNum" sz="quarter" idx="12"/>
          </p:nvPr>
        </p:nvSpPr>
        <p:spPr/>
        <p:txBody>
          <a:body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509966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D44183-C876-422B-881A-B6A8D40A16EE}" type="datetime1">
              <a:rPr lang="zh-CN" altLang="en-US" smtClean="0"/>
              <a:t>2026/8/24</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 赵西亮</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1FC515-8169-4A29-AA56-DBE520D5741B}" type="slidenum">
              <a:rPr lang="zh-CN" altLang="en-US" smtClean="0"/>
              <a:t>‹#›</a:t>
            </a:fld>
            <a:endParaRPr lang="zh-CN" altLang="en-US"/>
          </a:p>
        </p:txBody>
      </p:sp>
    </p:spTree>
    <p:extLst>
      <p:ext uri="{BB962C8B-B14F-4D97-AF65-F5344CB8AC3E}">
        <p14:creationId xmlns:p14="http://schemas.microsoft.com/office/powerpoint/2010/main" val="15104984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8F58E5-B2B8-FEBB-8A41-24F534B6F746}"/>
              </a:ext>
            </a:extLst>
          </p:cNvPr>
          <p:cNvSpPr>
            <a:spLocks noGrp="1"/>
          </p:cNvSpPr>
          <p:nvPr>
            <p:ph type="ctrTitle"/>
          </p:nvPr>
        </p:nvSpPr>
        <p:spPr/>
        <p:txBody>
          <a:bodyPr/>
          <a:lstStyle/>
          <a:p>
            <a:r>
              <a:rPr lang="zh-CN" altLang="en-US" dirty="0"/>
              <a:t>非混杂性假设下的因果推断</a:t>
            </a:r>
          </a:p>
        </p:txBody>
      </p:sp>
      <p:sp>
        <p:nvSpPr>
          <p:cNvPr id="3" name="副标题 2">
            <a:extLst>
              <a:ext uri="{FF2B5EF4-FFF2-40B4-BE49-F238E27FC236}">
                <a16:creationId xmlns:a16="http://schemas.microsoft.com/office/drawing/2014/main" id="{D2A12E75-A8A7-EF47-8BB0-5705F1BDB078}"/>
              </a:ext>
            </a:extLst>
          </p:cNvPr>
          <p:cNvSpPr>
            <a:spLocks noGrp="1"/>
          </p:cNvSpPr>
          <p:nvPr>
            <p:ph type="subTitle" idx="1"/>
          </p:nvPr>
        </p:nvSpPr>
        <p:spPr/>
        <p:txBody>
          <a:bodyPr/>
          <a:lstStyle/>
          <a:p>
            <a:r>
              <a:rPr lang="zh-CN" altLang="en-US" dirty="0"/>
              <a:t>赵西亮</a:t>
            </a:r>
            <a:endParaRPr lang="en-US" altLang="zh-CN" dirty="0"/>
          </a:p>
          <a:p>
            <a:r>
              <a:rPr lang="zh-CN" altLang="en-US" dirty="0"/>
              <a:t>厦门大学经济学院</a:t>
            </a:r>
            <a:endParaRPr lang="en-US" altLang="zh-CN" dirty="0"/>
          </a:p>
          <a:p>
            <a:r>
              <a:rPr lang="zh-CN" altLang="en-US" dirty="0"/>
              <a:t>王亚南经济研究院</a:t>
            </a:r>
          </a:p>
        </p:txBody>
      </p:sp>
    </p:spTree>
    <p:extLst>
      <p:ext uri="{BB962C8B-B14F-4D97-AF65-F5344CB8AC3E}">
        <p14:creationId xmlns:p14="http://schemas.microsoft.com/office/powerpoint/2010/main" val="4083691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D81A2-358D-6CB1-545E-12B2A3A56902}"/>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DDE61F38-3F8B-BE50-2030-AE050B3675CF}"/>
              </a:ext>
            </a:extLst>
          </p:cNvPr>
          <p:cNvSpPr>
            <a:spLocks noGrp="1"/>
          </p:cNvSpPr>
          <p:nvPr>
            <p:ph idx="1"/>
          </p:nvPr>
        </p:nvSpPr>
        <p:spPr/>
        <p:txBody>
          <a:bodyPr>
            <a:normAutofit fontScale="47500" lnSpcReduction="20000"/>
          </a:bodyPr>
          <a:lstStyle/>
          <a:p>
            <a:r>
              <a:rPr lang="zh-CN" altLang="en-US" dirty="0"/>
              <a:t>非混杂性</a:t>
            </a:r>
            <a:endParaRPr lang="en-US" altLang="zh-CN" dirty="0"/>
          </a:p>
          <a:p>
            <a:r>
              <a:rPr lang="en-US" altLang="zh-CN" dirty="0"/>
              <a:t>ATE </a:t>
            </a:r>
            <a:r>
              <a:rPr lang="zh-CN" altLang="en-US" dirty="0"/>
              <a:t>参数估计</a:t>
            </a:r>
            <a:endParaRPr lang="en-US" altLang="zh-CN" dirty="0"/>
          </a:p>
          <a:p>
            <a:pPr lvl="1"/>
            <a:r>
              <a:rPr lang="zh-CN" altLang="en-US" dirty="0"/>
              <a:t>分层</a:t>
            </a:r>
            <a:endParaRPr lang="en-US" altLang="zh-CN" dirty="0"/>
          </a:p>
          <a:p>
            <a:pPr lvl="1"/>
            <a:r>
              <a:rPr lang="zh-CN" altLang="en-US" dirty="0"/>
              <a:t>回归</a:t>
            </a:r>
            <a:endParaRPr lang="en-US" altLang="zh-CN" dirty="0"/>
          </a:p>
          <a:p>
            <a:pPr lvl="1"/>
            <a:r>
              <a:rPr lang="zh-CN" altLang="en-US" dirty="0"/>
              <a:t>使用倾向得分</a:t>
            </a:r>
            <a:endParaRPr lang="en-US" altLang="zh-CN" dirty="0"/>
          </a:p>
          <a:p>
            <a:pPr lvl="2"/>
            <a:r>
              <a:rPr lang="zh-CN" altLang="en-US" dirty="0"/>
              <a:t>分层</a:t>
            </a:r>
            <a:endParaRPr lang="en-US" altLang="zh-CN" dirty="0"/>
          </a:p>
          <a:p>
            <a:pPr lvl="2"/>
            <a:r>
              <a:rPr lang="zh-CN" altLang="en-US" dirty="0"/>
              <a:t>加权</a:t>
            </a:r>
            <a:endParaRPr lang="en-US" altLang="zh-CN" dirty="0"/>
          </a:p>
          <a:p>
            <a:pPr lvl="2"/>
            <a:r>
              <a:rPr lang="zh-CN" altLang="en-US" dirty="0"/>
              <a:t>回归</a:t>
            </a:r>
            <a:endParaRPr lang="en-US" altLang="zh-CN" dirty="0"/>
          </a:p>
          <a:p>
            <a:pPr lvl="2"/>
            <a:r>
              <a:rPr lang="zh-CN" altLang="en-US" dirty="0"/>
              <a:t>双重稳健估计量</a:t>
            </a:r>
            <a:endParaRPr lang="en-US" altLang="zh-CN" dirty="0"/>
          </a:p>
          <a:p>
            <a:r>
              <a:rPr lang="en-US" altLang="zh-CN" dirty="0"/>
              <a:t>ATT</a:t>
            </a:r>
            <a:r>
              <a:rPr lang="zh-CN" altLang="en-US" dirty="0"/>
              <a:t>的参数估计</a:t>
            </a:r>
            <a:endParaRPr lang="en-US" altLang="zh-CN" dirty="0"/>
          </a:p>
          <a:p>
            <a:pPr lvl="1"/>
            <a:r>
              <a:rPr lang="zh-CN" altLang="en-US" dirty="0"/>
              <a:t>分层</a:t>
            </a:r>
            <a:endParaRPr lang="en-US" altLang="zh-CN" dirty="0"/>
          </a:p>
          <a:p>
            <a:pPr lvl="1"/>
            <a:r>
              <a:rPr lang="zh-CN" altLang="en-US" dirty="0"/>
              <a:t>回归</a:t>
            </a:r>
            <a:endParaRPr lang="en-US" altLang="zh-CN" dirty="0"/>
          </a:p>
          <a:p>
            <a:pPr lvl="1"/>
            <a:r>
              <a:rPr lang="zh-CN" altLang="en-US" dirty="0"/>
              <a:t>加权</a:t>
            </a:r>
            <a:endParaRPr lang="en-US" altLang="zh-CN" dirty="0"/>
          </a:p>
          <a:p>
            <a:r>
              <a:rPr lang="zh-CN" altLang="en-US" dirty="0"/>
              <a:t>匹配</a:t>
            </a:r>
            <a:endParaRPr lang="en-US" altLang="zh-CN" dirty="0"/>
          </a:p>
          <a:p>
            <a:pPr lvl="1"/>
            <a:r>
              <a:rPr lang="zh-CN" altLang="en-US" dirty="0"/>
              <a:t>匹配作为一种设计方法 </a:t>
            </a:r>
            <a:endParaRPr lang="en-US" altLang="zh-CN" dirty="0"/>
          </a:p>
          <a:p>
            <a:r>
              <a:rPr lang="zh-CN" altLang="en-US" dirty="0"/>
              <a:t>双重机器学习</a:t>
            </a:r>
            <a:endParaRPr lang="en-US" altLang="zh-CN" dirty="0"/>
          </a:p>
          <a:p>
            <a:r>
              <a:rPr lang="zh-CN" altLang="en-US" dirty="0"/>
              <a:t>敏感性分析</a:t>
            </a:r>
            <a:endParaRPr lang="en-US" altLang="zh-CN" dirty="0"/>
          </a:p>
          <a:p>
            <a:r>
              <a:rPr lang="zh-CN" altLang="en-US" dirty="0"/>
              <a:t>非混杂性假设安慰剂检验</a:t>
            </a:r>
          </a:p>
        </p:txBody>
      </p:sp>
      <p:sp>
        <p:nvSpPr>
          <p:cNvPr id="4" name="页脚占位符 3">
            <a:extLst>
              <a:ext uri="{FF2B5EF4-FFF2-40B4-BE49-F238E27FC236}">
                <a16:creationId xmlns:a16="http://schemas.microsoft.com/office/drawing/2014/main" id="{1C4D69FA-16D8-B9E4-9704-48D16CF2444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5F0E822-7633-1022-915A-6F3241C131C0}"/>
              </a:ext>
            </a:extLst>
          </p:cNvPr>
          <p:cNvSpPr>
            <a:spLocks noGrp="1"/>
          </p:cNvSpPr>
          <p:nvPr>
            <p:ph type="sldNum" sz="quarter" idx="12"/>
          </p:nvPr>
        </p:nvSpPr>
        <p:spPr/>
        <p:txBody>
          <a:bodyPr/>
          <a:lstStyle/>
          <a:p>
            <a:fld id="{D41FC515-8169-4A29-AA56-DBE520D5741B}" type="slidenum">
              <a:rPr lang="zh-CN" altLang="en-US" smtClean="0"/>
              <a:t>2</a:t>
            </a:fld>
            <a:endParaRPr lang="zh-CN" altLang="en-US"/>
          </a:p>
        </p:txBody>
      </p:sp>
    </p:spTree>
    <p:extLst>
      <p:ext uri="{BB962C8B-B14F-4D97-AF65-F5344CB8AC3E}">
        <p14:creationId xmlns:p14="http://schemas.microsoft.com/office/powerpoint/2010/main" val="792565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39F4E9-C494-352E-BFD5-488878C1B431}"/>
              </a:ext>
            </a:extLst>
          </p:cNvPr>
          <p:cNvSpPr>
            <a:spLocks noGrp="1"/>
          </p:cNvSpPr>
          <p:nvPr>
            <p:ph type="title"/>
          </p:nvPr>
        </p:nvSpPr>
        <p:spPr/>
        <p:txBody>
          <a:bodyPr/>
          <a:lstStyle/>
          <a:p>
            <a:r>
              <a:rPr lang="zh-CN" altLang="en-US" dirty="0"/>
              <a:t>观测研究</a:t>
            </a:r>
            <a:r>
              <a:rPr lang="en-US" altLang="zh-CN" dirty="0"/>
              <a:t>(Observational Studies)</a:t>
            </a:r>
            <a:endParaRPr lang="zh-CN" altLang="en-US" dirty="0"/>
          </a:p>
        </p:txBody>
      </p:sp>
      <p:sp>
        <p:nvSpPr>
          <p:cNvPr id="3" name="内容占位符 2">
            <a:extLst>
              <a:ext uri="{FF2B5EF4-FFF2-40B4-BE49-F238E27FC236}">
                <a16:creationId xmlns:a16="http://schemas.microsoft.com/office/drawing/2014/main" id="{82D21C56-36D3-2A14-A1FD-221209FA6619}"/>
              </a:ext>
            </a:extLst>
          </p:cNvPr>
          <p:cNvSpPr>
            <a:spLocks noGrp="1"/>
          </p:cNvSpPr>
          <p:nvPr>
            <p:ph idx="1"/>
          </p:nvPr>
        </p:nvSpPr>
        <p:spPr/>
        <p:txBody>
          <a:bodyPr/>
          <a:lstStyle/>
          <a:p>
            <a:r>
              <a:rPr lang="zh-CN" altLang="en-US" dirty="0"/>
              <a:t>在观测研究中，不知道分配机制。</a:t>
            </a:r>
            <a:endParaRPr lang="en-US" altLang="zh-CN" dirty="0"/>
          </a:p>
          <a:p>
            <a:r>
              <a:rPr lang="zh-CN" altLang="en-US" dirty="0"/>
              <a:t>会出现观测到的和未观测到的混杂因素：干预组和控制组特征不平衡。</a:t>
            </a:r>
            <a:endParaRPr lang="en-US" altLang="zh-CN" dirty="0"/>
          </a:p>
          <a:p>
            <a:r>
              <a:rPr lang="zh-CN" altLang="en-US" dirty="0"/>
              <a:t>观测到的混杂因素：通常称为协变量、干预前变量或控制变量。协变量不平衡应该是常态。</a:t>
            </a:r>
            <a:endParaRPr lang="en-US" altLang="zh-CN" dirty="0"/>
          </a:p>
          <a:p>
            <a:r>
              <a:rPr lang="zh-CN" altLang="en-US" dirty="0"/>
              <a:t>为了识别因果效应，需要引入合理的识别条件。</a:t>
            </a:r>
          </a:p>
        </p:txBody>
      </p:sp>
      <p:sp>
        <p:nvSpPr>
          <p:cNvPr id="4" name="页脚占位符 3">
            <a:extLst>
              <a:ext uri="{FF2B5EF4-FFF2-40B4-BE49-F238E27FC236}">
                <a16:creationId xmlns:a16="http://schemas.microsoft.com/office/drawing/2014/main" id="{36756D41-BB1E-AD34-0E36-E5958E9D95A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40290EE-A565-6B03-92CD-3193C199FD91}"/>
              </a:ext>
            </a:extLst>
          </p:cNvPr>
          <p:cNvSpPr>
            <a:spLocks noGrp="1"/>
          </p:cNvSpPr>
          <p:nvPr>
            <p:ph type="sldNum" sz="quarter" idx="12"/>
          </p:nvPr>
        </p:nvSpPr>
        <p:spPr/>
        <p:txBody>
          <a:bodyPr/>
          <a:lstStyle/>
          <a:p>
            <a:fld id="{D41FC515-8169-4A29-AA56-DBE520D5741B}" type="slidenum">
              <a:rPr lang="zh-CN" altLang="en-US" smtClean="0"/>
              <a:t>3</a:t>
            </a:fld>
            <a:endParaRPr lang="zh-CN" altLang="en-US"/>
          </a:p>
        </p:txBody>
      </p:sp>
    </p:spTree>
    <p:extLst>
      <p:ext uri="{BB962C8B-B14F-4D97-AF65-F5344CB8AC3E}">
        <p14:creationId xmlns:p14="http://schemas.microsoft.com/office/powerpoint/2010/main" val="385240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21A21B-1E76-E56A-5D22-34B16E7B899C}"/>
              </a:ext>
            </a:extLst>
          </p:cNvPr>
          <p:cNvSpPr>
            <a:spLocks noGrp="1"/>
          </p:cNvSpPr>
          <p:nvPr>
            <p:ph type="title"/>
          </p:nvPr>
        </p:nvSpPr>
        <p:spPr/>
        <p:txBody>
          <a:bodyPr/>
          <a:lstStyle/>
          <a:p>
            <a:r>
              <a:rPr lang="zh-CN" altLang="en-US" dirty="0"/>
              <a:t>非混杂性</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E1DA79F-D0CE-8F8E-C529-CC9F379989EB}"/>
                  </a:ext>
                </a:extLst>
              </p:cNvPr>
              <p:cNvSpPr>
                <a:spLocks noGrp="1"/>
              </p:cNvSpPr>
              <p:nvPr>
                <p:ph idx="1"/>
              </p:nvPr>
            </p:nvSpPr>
            <p:spPr>
              <a:xfrm>
                <a:off x="628650" y="1825624"/>
                <a:ext cx="7886700" cy="4895851"/>
              </a:xfrm>
            </p:spPr>
            <p:txBody>
              <a:bodyPr>
                <a:normAutofit fontScale="55000" lnSpcReduction="20000"/>
              </a:bodyPr>
              <a:lstStyle/>
              <a:p>
                <a:pPr>
                  <a:lnSpc>
                    <a:spcPct val="120000"/>
                  </a:lnSpc>
                </a:pPr>
                <a:r>
                  <a:rPr lang="zh-CN" altLang="en-US" dirty="0"/>
                  <a:t>第一种的识别假设就是非混杂性假设</a:t>
                </a:r>
                <a:r>
                  <a:rPr lang="en-US" altLang="zh-CN" dirty="0"/>
                  <a:t>(</a:t>
                </a:r>
                <a:r>
                  <a:rPr lang="en-US" altLang="zh-CN" dirty="0" err="1"/>
                  <a:t>unconfoundedness</a:t>
                </a:r>
                <a:r>
                  <a:rPr lang="en-US" altLang="zh-CN" dirty="0"/>
                  <a:t>)</a:t>
                </a:r>
                <a:r>
                  <a:rPr lang="zh-CN" altLang="en-US" dirty="0"/>
                  <a:t>，也称条件独立性假设</a:t>
                </a:r>
                <a:r>
                  <a:rPr lang="en-US" altLang="zh-CN" dirty="0"/>
                  <a:t>(conditional independence assumption, CIA)</a:t>
                </a:r>
              </a:p>
              <a:p>
                <a:pPr>
                  <a:lnSpc>
                    <a:spcPct val="120000"/>
                  </a:lnSpc>
                </a:pPr>
                <a:r>
                  <a:rPr lang="zh-CN" altLang="en-US" dirty="0"/>
                  <a:t>假设</a:t>
                </a:r>
                <a:r>
                  <a:rPr lang="en-US" altLang="zh-CN" dirty="0"/>
                  <a:t>1</a:t>
                </a:r>
                <a:r>
                  <a:rPr lang="zh-CN" altLang="en-US" dirty="0"/>
                  <a:t>：非混杂性非混杂性条件是指以协变量𝑋𝑖 为条件，潜在结果</a:t>
                </a:r>
                <a14:m>
                  <m:oMath xmlns:m="http://schemas.openxmlformats.org/officeDocument/2006/math">
                    <m:r>
                      <a:rPr lang="en-US" altLang="zh-CN" i="1" dirty="0" smtClean="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m:t>
                    </m:r>
                    <m:r>
                      <a:rPr lang="en-US" altLang="zh-CN" i="1" dirty="0" smtClean="0">
                        <a:latin typeface="Cambria Math" panose="02040503050406030204" pitchFamily="18" charset="0"/>
                      </a:rPr>
                      <m:t>)}</m:t>
                    </m:r>
                  </m:oMath>
                </a14:m>
                <a:r>
                  <a:rPr lang="zh-CN" altLang="en-US" dirty="0"/>
                  <a:t>独立于干预的分配</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oMath>
                </a14:m>
                <a:r>
                  <a:rPr lang="zh-CN" altLang="en-US" dirty="0"/>
                  <a:t>，即</a:t>
                </a:r>
                <a:endParaRPr lang="en-US" altLang="zh-CN" dirty="0"/>
              </a:p>
              <a:p>
                <a:pPr marL="0" indent="0">
                  <a:lnSpc>
                    <a:spcPct val="120000"/>
                  </a:lnSpc>
                  <a:buNone/>
                </a:pPr>
                <a14:m>
                  <m:oMathPara xmlns:m="http://schemas.openxmlformats.org/officeDocument/2006/math">
                    <m:oMath>
                      <m:r>
                        <a:rPr lang="en-US" altLang="zh-CN" i="1" dirty="0" smtClean="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r>
                        <a:rPr lang="en-US" altLang="zh-CN" b="0" i="1" dirty="0" smtClean="0">
                          <a:latin typeface="Cambria Math" panose="02040503050406030204" pitchFamily="18" charset="0"/>
                        </a:rPr>
                        <m:t>         (1)</m:t>
                      </m:r>
                    </m:oMath>
                  </m:oMathPara>
                </a14:m>
                <a:endParaRPr lang="en-US" altLang="zh-CN" dirty="0"/>
              </a:p>
              <a:p>
                <a:pPr>
                  <a:lnSpc>
                    <a:spcPct val="120000"/>
                  </a:lnSpc>
                </a:pPr>
                <a:r>
                  <a:rPr lang="zh-CN" altLang="en-US" dirty="0"/>
                  <a:t>非混杂性</a:t>
                </a:r>
                <a:r>
                  <a:rPr lang="en-US" altLang="zh-CN" dirty="0"/>
                  <a:t>(CIA) </a:t>
                </a:r>
                <a:r>
                  <a:rPr lang="zh-CN" altLang="en-US" dirty="0"/>
                  <a:t>的合理性</a:t>
                </a: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en-US" altLang="zh-CN" dirty="0"/>
              </a:p>
              <a:p>
                <a:pPr>
                  <a:lnSpc>
                    <a:spcPct val="120000"/>
                  </a:lnSpc>
                </a:pPr>
                <a:r>
                  <a:rPr lang="zh-CN" altLang="en-US" dirty="0"/>
                  <a:t>相应结构式：</a:t>
                </a:r>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𝜙</m:t>
                          </m:r>
                        </m:e>
                        <m:sub>
                          <m:r>
                            <a:rPr lang="en-US" altLang="zh-CN" b="0" i="1" dirty="0" smtClean="0">
                              <a:latin typeface="Cambria Math" panose="02040503050406030204" pitchFamily="18" charset="0"/>
                            </a:rPr>
                            <m:t>𝑌</m:t>
                          </m:r>
                        </m:sub>
                      </m:sSub>
                      <m:r>
                        <a:rPr lang="en-US" altLang="zh-CN" i="1" dirty="0">
                          <a:latin typeface="Cambria Math" panose="02040503050406030204" pitchFamily="18" charset="0"/>
                        </a:rPr>
                        <m:t>(</m:t>
                      </m:r>
                      <m:r>
                        <a:rPr lang="zh-CN" altLang="en-US" i="1" dirty="0">
                          <a:latin typeface="Cambria Math" panose="02040503050406030204" pitchFamily="18" charset="0"/>
                        </a:rPr>
                        <m:t>𝐷</m:t>
                      </m:r>
                      <m:r>
                        <a:rPr lang="en-US" altLang="zh-CN" i="1" dirty="0">
                          <a:latin typeface="Cambria Math" panose="02040503050406030204" pitchFamily="18" charset="0"/>
                        </a:rPr>
                        <m:t>, </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𝑌</m:t>
                          </m:r>
                        </m:sub>
                      </m:sSub>
                      <m:r>
                        <a:rPr lang="zh-CN" altLang="en-US" i="1" dirty="0">
                          <a:latin typeface="Cambria Math" panose="02040503050406030204" pitchFamily="18" charset="0"/>
                        </a:rPr>
                        <m:t> </m:t>
                      </m:r>
                      <m:r>
                        <a:rPr lang="en-US" altLang="zh-CN" i="1" dirty="0">
                          <a:latin typeface="Cambria Math" panose="02040503050406030204" pitchFamily="18" charset="0"/>
                        </a:rPr>
                        <m:t>),</m:t>
                      </m:r>
                    </m:oMath>
                  </m:oMathPara>
                </a14:m>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𝜙</m:t>
                          </m:r>
                        </m:e>
                        <m:sub>
                          <m:r>
                            <a:rPr lang="zh-CN" altLang="en-US" i="1" dirty="0">
                              <a:latin typeface="Cambria Math" panose="02040503050406030204" pitchFamily="18" charset="0"/>
                            </a:rPr>
                            <m:t>𝐷</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𝐷</m:t>
                          </m:r>
                        </m:sub>
                      </m:sSub>
                      <m:r>
                        <a:rPr lang="en-US" altLang="zh-CN" i="1" dirty="0" smtClean="0">
                          <a:latin typeface="Cambria Math" panose="02040503050406030204" pitchFamily="18" charset="0"/>
                        </a:rPr>
                        <m:t>),</m:t>
                      </m:r>
                    </m:oMath>
                  </m:oMathPara>
                </a14:m>
                <a:endParaRPr lang="en-US" altLang="zh-CN" dirty="0"/>
              </a:p>
              <a:p>
                <a:pPr marL="0" indent="0" algn="ctr">
                  <a:lnSpc>
                    <a:spcPct val="120000"/>
                  </a:lnSpc>
                  <a:buNone/>
                </a:pPr>
                <a14:m>
                  <m:oMath xmlns:m="http://schemas.openxmlformats.org/officeDocument/2006/math">
                    <m:r>
                      <a:rPr lang="zh-CN" altLang="en-US" i="1" dirty="0" smtClean="0">
                        <a:latin typeface="Cambria Math" panose="02040503050406030204" pitchFamily="18" charset="0"/>
                      </a:rPr>
                      <m:t>𝑋</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𝜀</m:t>
                        </m:r>
                      </m:e>
                      <m:sub>
                        <m:r>
                          <a:rPr lang="zh-CN" altLang="en-US" i="1" dirty="0">
                            <a:latin typeface="Cambria Math" panose="02040503050406030204" pitchFamily="18" charset="0"/>
                          </a:rPr>
                          <m:t>𝑋</m:t>
                        </m:r>
                      </m:sub>
                    </m:sSub>
                  </m:oMath>
                </a14:m>
                <a:r>
                  <a:rPr lang="en-US" altLang="zh-CN" dirty="0"/>
                  <a:t>.</a:t>
                </a:r>
              </a:p>
              <a:p>
                <a:pPr>
                  <a:lnSpc>
                    <a:spcPct val="120000"/>
                  </a:lnSpc>
                </a:pPr>
                <a:r>
                  <a:rPr lang="zh-CN" altLang="en-US" dirty="0"/>
                  <a:t>非混杂性是不可检验的，需要利用先验知识去支持，也许尽量控制丰富的协变量，比如</a:t>
                </a:r>
                <a:r>
                  <a:rPr lang="en-US" altLang="zh-CN" dirty="0"/>
                  <a:t>DML</a:t>
                </a:r>
                <a:r>
                  <a:rPr lang="zh-CN" altLang="en-US" dirty="0"/>
                  <a:t>。</a:t>
                </a:r>
              </a:p>
            </p:txBody>
          </p:sp>
        </mc:Choice>
        <mc:Fallback xmlns="">
          <p:sp>
            <p:nvSpPr>
              <p:cNvPr id="3" name="内容占位符 2">
                <a:extLst>
                  <a:ext uri="{FF2B5EF4-FFF2-40B4-BE49-F238E27FC236}">
                    <a16:creationId xmlns:a16="http://schemas.microsoft.com/office/drawing/2014/main" id="{EE1DA79F-D0CE-8F8E-C529-CC9F379989EB}"/>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l="-232" t="-249" r="-15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8411B894-7486-01EA-E1C2-761E2A8E47F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41EB5F8-37CA-918C-A4D3-593670EC5F3C}"/>
              </a:ext>
            </a:extLst>
          </p:cNvPr>
          <p:cNvSpPr>
            <a:spLocks noGrp="1"/>
          </p:cNvSpPr>
          <p:nvPr>
            <p:ph type="sldNum" sz="quarter" idx="12"/>
          </p:nvPr>
        </p:nvSpPr>
        <p:spPr/>
        <p:txBody>
          <a:bodyPr/>
          <a:lstStyle/>
          <a:p>
            <a:fld id="{D41FC515-8169-4A29-AA56-DBE520D5741B}" type="slidenum">
              <a:rPr lang="zh-CN" altLang="en-US" smtClean="0"/>
              <a:t>4</a:t>
            </a:fld>
            <a:endParaRPr lang="zh-CN" altLang="en-US"/>
          </a:p>
        </p:txBody>
      </p:sp>
      <p:pic>
        <p:nvPicPr>
          <p:cNvPr id="7" name="图片 6">
            <a:extLst>
              <a:ext uri="{FF2B5EF4-FFF2-40B4-BE49-F238E27FC236}">
                <a16:creationId xmlns:a16="http://schemas.microsoft.com/office/drawing/2014/main" id="{2CE9F0E8-E163-2B9C-2C0F-1FC39CB53BF8}"/>
              </a:ext>
            </a:extLst>
          </p:cNvPr>
          <p:cNvPicPr>
            <a:picLocks noChangeAspect="1"/>
          </p:cNvPicPr>
          <p:nvPr/>
        </p:nvPicPr>
        <p:blipFill>
          <a:blip r:embed="rId3"/>
          <a:stretch>
            <a:fillRect/>
          </a:stretch>
        </p:blipFill>
        <p:spPr>
          <a:xfrm>
            <a:off x="3544425" y="3169993"/>
            <a:ext cx="1838582" cy="1095528"/>
          </a:xfrm>
          <a:prstGeom prst="rect">
            <a:avLst/>
          </a:prstGeom>
        </p:spPr>
      </p:pic>
    </p:spTree>
    <p:extLst>
      <p:ext uri="{BB962C8B-B14F-4D97-AF65-F5344CB8AC3E}">
        <p14:creationId xmlns:p14="http://schemas.microsoft.com/office/powerpoint/2010/main" val="4028403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42ED34-3807-A627-5372-65A12EAB9B2D}"/>
              </a:ext>
            </a:extLst>
          </p:cNvPr>
          <p:cNvSpPr>
            <a:spLocks noGrp="1"/>
          </p:cNvSpPr>
          <p:nvPr>
            <p:ph type="title"/>
          </p:nvPr>
        </p:nvSpPr>
        <p:spPr/>
        <p:txBody>
          <a:bodyPr/>
          <a:lstStyle/>
          <a:p>
            <a:r>
              <a:rPr lang="zh-CN" altLang="en-US" dirty="0"/>
              <a:t>非混杂性</a:t>
            </a:r>
          </a:p>
        </p:txBody>
      </p:sp>
      <p:sp>
        <p:nvSpPr>
          <p:cNvPr id="3" name="内容占位符 2">
            <a:extLst>
              <a:ext uri="{FF2B5EF4-FFF2-40B4-BE49-F238E27FC236}">
                <a16:creationId xmlns:a16="http://schemas.microsoft.com/office/drawing/2014/main" id="{7BF6832B-612C-8DC5-273D-171E970B4CC7}"/>
              </a:ext>
            </a:extLst>
          </p:cNvPr>
          <p:cNvSpPr>
            <a:spLocks noGrp="1"/>
          </p:cNvSpPr>
          <p:nvPr>
            <p:ph idx="1"/>
          </p:nvPr>
        </p:nvSpPr>
        <p:spPr/>
        <p:txBody>
          <a:bodyPr>
            <a:normAutofit fontScale="77500" lnSpcReduction="20000"/>
          </a:bodyPr>
          <a:lstStyle/>
          <a:p>
            <a:pPr>
              <a:lnSpc>
                <a:spcPct val="120000"/>
              </a:lnSpc>
            </a:pPr>
            <a:r>
              <a:rPr lang="zh-CN" altLang="en-US" dirty="0"/>
              <a:t>在非混杂性假设下，我们有</a:t>
            </a:r>
            <a:endParaRPr lang="en-US" altLang="zh-CN" dirty="0"/>
          </a:p>
          <a:p>
            <a:pPr marL="0" indent="0" algn="ctr">
              <a:lnSpc>
                <a:spcPct val="120000"/>
              </a:lnSpc>
              <a:buNone/>
            </a:pPr>
            <a:r>
              <a:rPr lang="en-US" altLang="zh-CN" dirty="0" err="1"/>
              <a:t>Pr</a:t>
            </a:r>
            <a:r>
              <a:rPr lang="en-US" altLang="zh-CN" dirty="0"/>
              <a:t>[</a:t>
            </a:r>
            <a:r>
              <a:rPr lang="zh-CN" altLang="en-US" dirty="0"/>
              <a:t>𝑌 </a:t>
            </a:r>
            <a:r>
              <a:rPr lang="en-US" altLang="zh-CN" dirty="0"/>
              <a:t>(</a:t>
            </a:r>
            <a:r>
              <a:rPr lang="zh-CN" altLang="en-US" dirty="0"/>
              <a:t>𝑑</a:t>
            </a:r>
            <a:r>
              <a:rPr lang="en-US" altLang="zh-CN" dirty="0"/>
              <a:t>)|</a:t>
            </a:r>
            <a:r>
              <a:rPr lang="zh-CN" altLang="en-US" dirty="0"/>
              <a:t>𝑋</a:t>
            </a:r>
            <a:r>
              <a:rPr lang="en-US" altLang="zh-CN" dirty="0"/>
              <a:t>] = </a:t>
            </a:r>
            <a:r>
              <a:rPr lang="en-US" altLang="zh-CN" dirty="0" err="1"/>
              <a:t>Pr</a:t>
            </a:r>
            <a:r>
              <a:rPr lang="en-US" altLang="zh-CN" dirty="0"/>
              <a:t>[</a:t>
            </a:r>
            <a:r>
              <a:rPr lang="zh-CN" altLang="en-US" dirty="0"/>
              <a:t>𝑌 </a:t>
            </a:r>
            <a:r>
              <a:rPr lang="en-US" altLang="zh-CN" dirty="0"/>
              <a:t>|</a:t>
            </a:r>
            <a:r>
              <a:rPr lang="zh-CN" altLang="en-US" dirty="0"/>
              <a:t>𝐷 </a:t>
            </a:r>
            <a:r>
              <a:rPr lang="en-US" altLang="zh-CN" dirty="0"/>
              <a:t>= </a:t>
            </a:r>
            <a:r>
              <a:rPr lang="zh-CN" altLang="en-US" dirty="0"/>
              <a:t>𝑑</a:t>
            </a:r>
            <a:r>
              <a:rPr lang="en-US" altLang="zh-CN" dirty="0"/>
              <a:t>, </a:t>
            </a:r>
            <a:r>
              <a:rPr lang="zh-CN" altLang="en-US" dirty="0"/>
              <a:t>𝑋</a:t>
            </a:r>
            <a:r>
              <a:rPr lang="en-US" altLang="zh-CN" dirty="0"/>
              <a:t>], </a:t>
            </a:r>
            <a:r>
              <a:rPr lang="zh-CN" altLang="en-US" dirty="0"/>
              <a:t>𝑑 </a:t>
            </a:r>
            <a:r>
              <a:rPr lang="en-US" altLang="zh-CN" dirty="0"/>
              <a:t>= 0, 1.</a:t>
            </a:r>
          </a:p>
          <a:p>
            <a:pPr>
              <a:lnSpc>
                <a:spcPct val="120000"/>
              </a:lnSpc>
            </a:pPr>
            <a:r>
              <a:rPr lang="zh-CN" altLang="en-US" dirty="0"/>
              <a:t>干预𝐷 </a:t>
            </a:r>
            <a:r>
              <a:rPr lang="en-US" altLang="zh-CN" dirty="0"/>
              <a:t>= </a:t>
            </a:r>
            <a:r>
              <a:rPr lang="zh-CN" altLang="en-US" dirty="0"/>
              <a:t>𝑑 的观测结果𝑌 的分布等于潜在结果𝑌 </a:t>
            </a:r>
            <a:r>
              <a:rPr lang="en-US" altLang="zh-CN" dirty="0"/>
              <a:t>(</a:t>
            </a:r>
            <a:r>
              <a:rPr lang="zh-CN" altLang="en-US" dirty="0"/>
              <a:t>𝑑</a:t>
            </a:r>
            <a:r>
              <a:rPr lang="en-US" altLang="zh-CN" dirty="0"/>
              <a:t>) </a:t>
            </a:r>
            <a:r>
              <a:rPr lang="zh-CN" altLang="en-US" dirty="0"/>
              <a:t>的分布。或</a:t>
            </a:r>
            <a:endParaRPr lang="en-US" altLang="zh-CN" dirty="0"/>
          </a:p>
          <a:p>
            <a:pPr marL="0" indent="0" algn="ctr">
              <a:lnSpc>
                <a:spcPct val="120000"/>
              </a:lnSpc>
              <a:buNone/>
            </a:pPr>
            <a:r>
              <a:rPr lang="zh-CN" altLang="en-US" dirty="0"/>
              <a:t>𝐸</a:t>
            </a:r>
            <a:r>
              <a:rPr lang="en-US" altLang="zh-CN" dirty="0"/>
              <a:t>[</a:t>
            </a:r>
            <a:r>
              <a:rPr lang="zh-CN" altLang="en-US" dirty="0"/>
              <a:t>𝑌 </a:t>
            </a:r>
            <a:r>
              <a:rPr lang="en-US" altLang="zh-CN" dirty="0"/>
              <a:t>(1)|</a:t>
            </a:r>
            <a:r>
              <a:rPr lang="zh-CN" altLang="en-US" dirty="0"/>
              <a:t>𝑋</a:t>
            </a:r>
            <a:r>
              <a:rPr lang="en-US" altLang="zh-CN" dirty="0"/>
              <a:t>, </a:t>
            </a:r>
            <a:r>
              <a:rPr lang="zh-CN" altLang="en-US" dirty="0"/>
              <a:t>𝐷 </a:t>
            </a:r>
            <a:r>
              <a:rPr lang="en-US" altLang="zh-CN" dirty="0"/>
              <a:t>= 1] = </a:t>
            </a:r>
            <a:r>
              <a:rPr lang="zh-CN" altLang="en-US" dirty="0"/>
              <a:t>𝐸</a:t>
            </a:r>
            <a:r>
              <a:rPr lang="en-US" altLang="zh-CN" dirty="0"/>
              <a:t>[</a:t>
            </a:r>
            <a:r>
              <a:rPr lang="zh-CN" altLang="en-US" dirty="0"/>
              <a:t>𝑌 </a:t>
            </a:r>
            <a:r>
              <a:rPr lang="en-US" altLang="zh-CN" dirty="0"/>
              <a:t>(1)|</a:t>
            </a:r>
            <a:r>
              <a:rPr lang="zh-CN" altLang="en-US" dirty="0"/>
              <a:t>𝑋</a:t>
            </a:r>
            <a:r>
              <a:rPr lang="en-US" altLang="zh-CN" dirty="0"/>
              <a:t>], </a:t>
            </a:r>
            <a:r>
              <a:rPr lang="zh-CN" altLang="en-US" dirty="0"/>
              <a:t>𝐸</a:t>
            </a:r>
            <a:r>
              <a:rPr lang="en-US" altLang="zh-CN" dirty="0"/>
              <a:t>[</a:t>
            </a:r>
            <a:r>
              <a:rPr lang="zh-CN" altLang="en-US" dirty="0"/>
              <a:t>𝑌 </a:t>
            </a:r>
            <a:r>
              <a:rPr lang="en-US" altLang="zh-CN" dirty="0"/>
              <a:t>(0)|</a:t>
            </a:r>
            <a:r>
              <a:rPr lang="zh-CN" altLang="en-US" dirty="0"/>
              <a:t>𝑋</a:t>
            </a:r>
            <a:r>
              <a:rPr lang="en-US" altLang="zh-CN" dirty="0"/>
              <a:t>, </a:t>
            </a:r>
            <a:r>
              <a:rPr lang="zh-CN" altLang="en-US" dirty="0"/>
              <a:t>𝐷 </a:t>
            </a:r>
            <a:r>
              <a:rPr lang="en-US" altLang="zh-CN" dirty="0"/>
              <a:t>= 1] = </a:t>
            </a:r>
            <a:r>
              <a:rPr lang="zh-CN" altLang="en-US" dirty="0"/>
              <a:t>𝐸</a:t>
            </a:r>
            <a:r>
              <a:rPr lang="en-US" altLang="zh-CN" dirty="0"/>
              <a:t>[</a:t>
            </a:r>
            <a:r>
              <a:rPr lang="zh-CN" altLang="en-US" dirty="0"/>
              <a:t>𝑌 </a:t>
            </a:r>
            <a:r>
              <a:rPr lang="en-US" altLang="zh-CN" dirty="0"/>
              <a:t>(0)|</a:t>
            </a:r>
            <a:r>
              <a:rPr lang="zh-CN" altLang="en-US" dirty="0"/>
              <a:t>𝑋</a:t>
            </a:r>
            <a:r>
              <a:rPr lang="en-US" altLang="zh-CN" dirty="0"/>
              <a:t>].</a:t>
            </a:r>
          </a:p>
          <a:p>
            <a:pPr>
              <a:lnSpc>
                <a:spcPct val="120000"/>
              </a:lnSpc>
            </a:pPr>
            <a:r>
              <a:rPr lang="zh-CN" altLang="en-US" dirty="0"/>
              <a:t>根据协变量分层，每层内干预分配𝐷 独立于潜在结果</a:t>
            </a:r>
            <a:r>
              <a:rPr lang="en-US" altLang="zh-CN" dirty="0"/>
              <a:t>{</a:t>
            </a:r>
            <a:r>
              <a:rPr lang="zh-CN" altLang="en-US" dirty="0"/>
              <a:t>𝑌 </a:t>
            </a:r>
            <a:r>
              <a:rPr lang="en-US" altLang="zh-CN" dirty="0"/>
              <a:t>(1), </a:t>
            </a:r>
            <a:r>
              <a:rPr lang="zh-CN" altLang="en-US" dirty="0"/>
              <a:t>𝑌 </a:t>
            </a:r>
            <a:r>
              <a:rPr lang="en-US" altLang="zh-CN" dirty="0"/>
              <a:t>(0)}</a:t>
            </a:r>
            <a:r>
              <a:rPr lang="zh-CN" altLang="en-US" dirty="0"/>
              <a:t>，层内为完全随机化实验！不存在选择偏差！（观测研究中，是很强的假设！）</a:t>
            </a:r>
            <a:endParaRPr lang="en-US" altLang="zh-CN" dirty="0"/>
          </a:p>
          <a:p>
            <a:pPr>
              <a:lnSpc>
                <a:spcPct val="120000"/>
              </a:lnSpc>
            </a:pPr>
            <a:r>
              <a:rPr lang="zh-CN" altLang="en-US" dirty="0"/>
              <a:t>协变量𝑋 包含了所有的混杂因素，切断了所有的后门路径，不存在混杂偏差</a:t>
            </a:r>
            <a:r>
              <a:rPr lang="en-US" altLang="zh-CN" dirty="0"/>
              <a:t>(no confounders)</a:t>
            </a:r>
            <a:r>
              <a:rPr lang="zh-CN" altLang="en-US" dirty="0"/>
              <a:t>。</a:t>
            </a:r>
          </a:p>
        </p:txBody>
      </p:sp>
      <p:sp>
        <p:nvSpPr>
          <p:cNvPr id="4" name="页脚占位符 3">
            <a:extLst>
              <a:ext uri="{FF2B5EF4-FFF2-40B4-BE49-F238E27FC236}">
                <a16:creationId xmlns:a16="http://schemas.microsoft.com/office/drawing/2014/main" id="{EE9075AE-0528-5730-FB3A-5DF1199AC05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BE2F0D1-23E6-38AF-99B3-F9A96A44D271}"/>
              </a:ext>
            </a:extLst>
          </p:cNvPr>
          <p:cNvSpPr>
            <a:spLocks noGrp="1"/>
          </p:cNvSpPr>
          <p:nvPr>
            <p:ph type="sldNum" sz="quarter" idx="12"/>
          </p:nvPr>
        </p:nvSpPr>
        <p:spPr/>
        <p:txBody>
          <a:bodyPr/>
          <a:lstStyle/>
          <a:p>
            <a:fld id="{D41FC515-8169-4A29-AA56-DBE520D5741B}" type="slidenum">
              <a:rPr lang="zh-CN" altLang="en-US" smtClean="0"/>
              <a:t>5</a:t>
            </a:fld>
            <a:endParaRPr lang="zh-CN" altLang="en-US"/>
          </a:p>
        </p:txBody>
      </p:sp>
    </p:spTree>
    <p:extLst>
      <p:ext uri="{BB962C8B-B14F-4D97-AF65-F5344CB8AC3E}">
        <p14:creationId xmlns:p14="http://schemas.microsoft.com/office/powerpoint/2010/main" val="156126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45126F-6587-45A6-C27D-9EA92E805140}"/>
              </a:ext>
            </a:extLst>
          </p:cNvPr>
          <p:cNvSpPr>
            <a:spLocks noGrp="1"/>
          </p:cNvSpPr>
          <p:nvPr>
            <p:ph type="title"/>
          </p:nvPr>
        </p:nvSpPr>
        <p:spPr/>
        <p:txBody>
          <a:bodyPr/>
          <a:lstStyle/>
          <a:p>
            <a:r>
              <a:rPr lang="zh-CN" altLang="en-US" dirty="0"/>
              <a:t>非混杂性</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9C4500E-0FB0-1A51-D1A6-E7D709EF4901}"/>
                  </a:ext>
                </a:extLst>
              </p:cNvPr>
              <p:cNvSpPr>
                <a:spLocks noGrp="1"/>
              </p:cNvSpPr>
              <p:nvPr>
                <p:ph idx="1"/>
              </p:nvPr>
            </p:nvSpPr>
            <p:spPr/>
            <p:txBody>
              <a:bodyPr/>
              <a:lstStyle/>
              <a:p>
                <a:r>
                  <a:rPr lang="zh-CN" altLang="en-US" dirty="0"/>
                  <a:t>假设</a:t>
                </a:r>
                <a:r>
                  <a:rPr lang="en-US" altLang="zh-CN" dirty="0"/>
                  <a:t>2 </a:t>
                </a:r>
                <a:r>
                  <a:rPr lang="zh-CN" altLang="en-US" dirty="0"/>
                  <a:t>共同区间</a:t>
                </a:r>
                <a:r>
                  <a:rPr lang="en-US" altLang="zh-CN" dirty="0"/>
                  <a:t>(overlap)</a:t>
                </a:r>
                <a:r>
                  <a:rPr lang="zh-CN" altLang="en-US" dirty="0"/>
                  <a:t>：</a:t>
                </a:r>
                <a:endParaRPr lang="en-US" altLang="zh-CN" dirty="0"/>
              </a:p>
              <a:p>
                <a:pPr marL="0" indent="0">
                  <a:buNone/>
                </a:pPr>
                <a14:m>
                  <m:oMathPara xmlns:m="http://schemas.openxmlformats.org/officeDocument/2006/math">
                    <m:oMath>
                      <m:r>
                        <a:rPr lang="en-US" altLang="zh-CN" i="1" dirty="0" smtClean="0">
                          <a:latin typeface="Cambria Math" panose="02040503050406030204" pitchFamily="18" charset="0"/>
                        </a:rPr>
                        <m:t>0 &lt; </m:t>
                      </m:r>
                      <m:r>
                        <m:rPr>
                          <m:sty m:val="p"/>
                        </m:rPr>
                        <a:rPr lang="en-US" altLang="zh-CN" i="1" dirty="0" err="1">
                          <a:latin typeface="Cambria Math" panose="02040503050406030204" pitchFamily="18" charset="0"/>
                        </a:rPr>
                        <m:t>Pr</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1|</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&lt; 1, (2</m:t>
                      </m:r>
                      <m:r>
                        <a:rPr lang="en-US" altLang="zh-CN" i="1" dirty="0" smtClean="0">
                          <a:latin typeface="Cambria Math" panose="02040503050406030204" pitchFamily="18" charset="0"/>
                        </a:rPr>
                        <m:t>)</m:t>
                      </m:r>
                    </m:oMath>
                  </m:oMathPara>
                </a14:m>
                <a:endParaRPr lang="en-US" altLang="zh-CN" dirty="0"/>
              </a:p>
              <a:p>
                <a:pPr marL="0" indent="0">
                  <a:buNone/>
                </a:pPr>
                <a:r>
                  <a:rPr lang="zh-CN" altLang="en-US" dirty="0"/>
                  <a:t>其中𝑒</a:t>
                </a:r>
                <a:r>
                  <a:rPr lang="en-US" altLang="zh-CN" dirty="0"/>
                  <a:t>(</a:t>
                </a:r>
                <a:r>
                  <a:rPr lang="zh-CN" altLang="en-US" dirty="0"/>
                  <a:t>𝑥</a:t>
                </a:r>
                <a:r>
                  <a:rPr lang="en-US" altLang="zh-CN" dirty="0"/>
                  <a:t>) = </a:t>
                </a:r>
                <a:r>
                  <a:rPr lang="en-US" altLang="zh-CN" dirty="0" err="1"/>
                  <a:t>Pr</a:t>
                </a:r>
                <a:r>
                  <a:rPr lang="en-US" altLang="zh-CN" dirty="0"/>
                  <a:t>[</a:t>
                </a:r>
                <a:r>
                  <a:rPr lang="zh-CN" altLang="en-US" dirty="0"/>
                  <a:t>𝐷𝑖 </a:t>
                </a:r>
                <a:r>
                  <a:rPr lang="en-US" altLang="zh-CN" dirty="0"/>
                  <a:t>= 1|</a:t>
                </a:r>
                <a:r>
                  <a:rPr lang="zh-CN" altLang="en-US" dirty="0"/>
                  <a:t>𝑋𝑖 </a:t>
                </a:r>
                <a:r>
                  <a:rPr lang="en-US" altLang="zh-CN" dirty="0"/>
                  <a:t>= </a:t>
                </a:r>
                <a:r>
                  <a:rPr lang="zh-CN" altLang="en-US" dirty="0"/>
                  <a:t>𝑥</a:t>
                </a:r>
                <a:r>
                  <a:rPr lang="en-US" altLang="zh-CN" dirty="0"/>
                  <a:t>] </a:t>
                </a:r>
                <a:r>
                  <a:rPr lang="zh-CN" altLang="en-US" dirty="0"/>
                  <a:t>为倾向指数或倾向得分</a:t>
                </a:r>
                <a:r>
                  <a:rPr lang="en-US" altLang="zh-CN" dirty="0"/>
                  <a:t>(propensity score, Rosenbaum and Rubin, 1983)</a:t>
                </a:r>
                <a:r>
                  <a:rPr lang="zh-CN" altLang="en-US" dirty="0"/>
                  <a:t>。</a:t>
                </a:r>
                <a:endParaRPr lang="en-US" altLang="zh-CN" dirty="0"/>
              </a:p>
              <a:p>
                <a:r>
                  <a:rPr lang="zh-CN" altLang="en-US" dirty="0"/>
                  <a:t>非混杂性和共同区间合起来一般称为“强可忽略性”</a:t>
                </a:r>
                <a:r>
                  <a:rPr lang="en-US" altLang="zh-CN" dirty="0"/>
                  <a:t>(Strong </a:t>
                </a:r>
                <a:r>
                  <a:rPr lang="en-US" altLang="zh-CN" dirty="0" err="1"/>
                  <a:t>ignorability</a:t>
                </a:r>
                <a:r>
                  <a:rPr lang="en-US" altLang="zh-CN" dirty="0"/>
                  <a:t>)(Rosenbaum and Rubin, 1983)</a:t>
                </a:r>
                <a:r>
                  <a:rPr lang="zh-CN" altLang="en-US" dirty="0"/>
                  <a:t>。</a:t>
                </a:r>
              </a:p>
            </p:txBody>
          </p:sp>
        </mc:Choice>
        <mc:Fallback xmlns="">
          <p:sp>
            <p:nvSpPr>
              <p:cNvPr id="3" name="内容占位符 2">
                <a:extLst>
                  <a:ext uri="{FF2B5EF4-FFF2-40B4-BE49-F238E27FC236}">
                    <a16:creationId xmlns:a16="http://schemas.microsoft.com/office/drawing/2014/main" id="{D9C4500E-0FB0-1A51-D1A6-E7D709EF4901}"/>
                  </a:ext>
                </a:extLst>
              </p:cNvPr>
              <p:cNvSpPr>
                <a:spLocks noGrp="1" noRot="1" noChangeAspect="1" noMove="1" noResize="1" noEditPoints="1" noAdjustHandles="1" noChangeArrowheads="1" noChangeShapeType="1" noTextEdit="1"/>
              </p:cNvSpPr>
              <p:nvPr>
                <p:ph idx="1"/>
              </p:nvPr>
            </p:nvSpPr>
            <p:spPr>
              <a:blipFill>
                <a:blip r:embed="rId2"/>
                <a:stretch>
                  <a:fillRect l="-1546" t="-1401" r="-115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7E48F01-B3A7-D528-E9DA-65DB439D40B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E823A02-2C00-24F6-1172-A1AC9890953A}"/>
              </a:ext>
            </a:extLst>
          </p:cNvPr>
          <p:cNvSpPr>
            <a:spLocks noGrp="1"/>
          </p:cNvSpPr>
          <p:nvPr>
            <p:ph type="sldNum" sz="quarter" idx="12"/>
          </p:nvPr>
        </p:nvSpPr>
        <p:spPr/>
        <p:txBody>
          <a:bodyPr/>
          <a:lstStyle/>
          <a:p>
            <a:fld id="{D41FC515-8169-4A29-AA56-DBE520D5741B}" type="slidenum">
              <a:rPr lang="zh-CN" altLang="en-US" smtClean="0"/>
              <a:t>6</a:t>
            </a:fld>
            <a:endParaRPr lang="zh-CN" altLang="en-US"/>
          </a:p>
        </p:txBody>
      </p:sp>
    </p:spTree>
    <p:extLst>
      <p:ext uri="{BB962C8B-B14F-4D97-AF65-F5344CB8AC3E}">
        <p14:creationId xmlns:p14="http://schemas.microsoft.com/office/powerpoint/2010/main" val="3630705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39CDEF-7328-A459-C234-D43EBB365E45}"/>
              </a:ext>
            </a:extLst>
          </p:cNvPr>
          <p:cNvSpPr>
            <a:spLocks noGrp="1"/>
          </p:cNvSpPr>
          <p:nvPr>
            <p:ph type="title"/>
          </p:nvPr>
        </p:nvSpPr>
        <p:spPr/>
        <p:txBody>
          <a:bodyPr/>
          <a:lstStyle/>
          <a:p>
            <a:r>
              <a:rPr lang="zh-CN" altLang="en-US" dirty="0"/>
              <a:t>非混杂性</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36F4FFE-8BED-7783-EB5D-2E268FC44CEB}"/>
                  </a:ext>
                </a:extLst>
              </p:cNvPr>
              <p:cNvSpPr>
                <a:spLocks noGrp="1"/>
              </p:cNvSpPr>
              <p:nvPr>
                <p:ph idx="1"/>
              </p:nvPr>
            </p:nvSpPr>
            <p:spPr/>
            <p:txBody>
              <a:bodyPr>
                <a:normAutofit fontScale="62500" lnSpcReduction="20000"/>
              </a:bodyPr>
              <a:lstStyle/>
              <a:p>
                <a:r>
                  <a:rPr lang="zh-CN" altLang="en-US" b="1" dirty="0"/>
                  <a:t>定义</a:t>
                </a:r>
                <a:r>
                  <a:rPr lang="en-US" altLang="zh-CN" b="1" dirty="0"/>
                  <a:t>1 (</a:t>
                </a:r>
                <a:r>
                  <a:rPr lang="zh-CN" altLang="en-US" b="1" dirty="0"/>
                  <a:t>识别</a:t>
                </a:r>
                <a:r>
                  <a:rPr lang="en-US" altLang="zh-CN" b="1" dirty="0"/>
                  <a:t>)</a:t>
                </a:r>
                <a:r>
                  <a:rPr lang="zh-CN" altLang="en-US" b="1" dirty="0"/>
                  <a:t>：</a:t>
                </a:r>
                <a:r>
                  <a:rPr lang="zh-CN" altLang="en-US" dirty="0"/>
                  <a:t>一个参数𝜃 是可以识别的，如果在某模型假设下，它可以写成观测数据的一个函数。一个参数𝜃 可以非参数识别，如果它可以在不引入任何参数函数假设的情况下，可以写成观测数据的一个函数。</a:t>
                </a:r>
                <a:endParaRPr lang="en-US" altLang="zh-CN" dirty="0"/>
              </a:p>
              <a:p>
                <a:r>
                  <a:rPr lang="zh-CN" altLang="en-US" dirty="0"/>
                  <a:t>在非混杂性和共同区间假设下，总体平均因果效应参数</a:t>
                </a:r>
                <a:r>
                  <a:rPr lang="en-US" altLang="zh-CN" dirty="0"/>
                  <a:t>(ATE) </a:t>
                </a:r>
                <a:r>
                  <a:rPr lang="zh-CN" altLang="en-US" dirty="0"/>
                  <a:t>可以因果识别：</a:t>
                </a:r>
                <a:endParaRPr lang="en-US" altLang="zh-CN" dirty="0"/>
              </a:p>
              <a:p>
                <a:pPr marL="0" indent="0">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𝐴𝑇𝐸</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𝑌</m:t>
                      </m:r>
                      <m:r>
                        <a:rPr lang="zh-CN" altLang="en-US" i="1" dirty="0">
                          <a:latin typeface="Cambria Math" panose="02040503050406030204" pitchFamily="18" charset="0"/>
                        </a:rPr>
                        <m:t> (1) − </m:t>
                      </m:r>
                      <m:r>
                        <a:rPr lang="zh-CN" altLang="en-US" i="1" dirty="0">
                          <a:latin typeface="Cambria Math" panose="02040503050406030204" pitchFamily="18" charset="0"/>
                        </a:rPr>
                        <m:t>𝑌</m:t>
                      </m:r>
                      <m:r>
                        <a:rPr lang="zh-CN" altLang="en-US" i="1" dirty="0">
                          <a:latin typeface="Cambria Math" panose="02040503050406030204" pitchFamily="18" charset="0"/>
                        </a:rPr>
                        <m:t> (0)] =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𝑌</m:t>
                      </m:r>
                      <m:r>
                        <a:rPr lang="zh-CN" altLang="en-US" i="1" dirty="0">
                          <a:latin typeface="Cambria Math" panose="02040503050406030204" pitchFamily="18" charset="0"/>
                        </a:rPr>
                        <m:t> (1) − </m:t>
                      </m:r>
                      <m:r>
                        <a:rPr lang="zh-CN" altLang="en-US" i="1" dirty="0">
                          <a:latin typeface="Cambria Math" panose="02040503050406030204" pitchFamily="18" charset="0"/>
                        </a:rPr>
                        <m:t>𝑌</m:t>
                      </m:r>
                      <m:r>
                        <a:rPr lang="zh-CN" altLang="en-US" i="1" dirty="0">
                          <a:latin typeface="Cambria Math" panose="02040503050406030204" pitchFamily="18" charset="0"/>
                        </a:rPr>
                        <m:t> (0)|</m:t>
                      </m:r>
                      <m:r>
                        <a:rPr lang="zh-CN" altLang="en-US" i="1" dirty="0">
                          <a:latin typeface="Cambria Math" panose="02040503050406030204" pitchFamily="18" charset="0"/>
                        </a:rPr>
                        <m:t>𝑋</m:t>
                      </m:r>
                      <m:r>
                        <a:rPr lang="en-US" altLang="zh-CN" i="1" dirty="0">
                          <a:latin typeface="Cambria Math" panose="02040503050406030204" pitchFamily="18" charset="0"/>
                        </a:rPr>
                        <m:t>]]</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𝐸</m:t>
                      </m:r>
                      <m:r>
                        <a:rPr lang="zh-CN" altLang="en-US" i="1" dirty="0" smtClean="0">
                          <a:latin typeface="Cambria Math" panose="02040503050406030204" pitchFamily="18" charset="0"/>
                        </a:rPr>
                        <m:t> [</m:t>
                      </m:r>
                      <m:r>
                        <a:rPr lang="zh-CN" altLang="en-US" i="1" dirty="0" smtClean="0">
                          <a:latin typeface="Cambria Math" panose="02040503050406030204" pitchFamily="18" charset="0"/>
                        </a:rPr>
                        <m:t>𝐸</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(1)|</m:t>
                      </m:r>
                      <m:r>
                        <a:rPr lang="zh-CN" altLang="en-US" i="1" dirty="0" smtClean="0">
                          <a:latin typeface="Cambria Math" panose="02040503050406030204" pitchFamily="18" charset="0"/>
                        </a:rPr>
                        <m:t>𝑋</m:t>
                      </m:r>
                      <m:r>
                        <a:rPr lang="en-US" altLang="zh-CN" i="1" dirty="0" smtClean="0">
                          <a:latin typeface="Cambria Math" panose="02040503050406030204" pitchFamily="18" charset="0"/>
                        </a:rPr>
                        <m:t>] − </m:t>
                      </m:r>
                      <m:r>
                        <a:rPr lang="zh-CN" altLang="en-US" i="1" dirty="0" smtClean="0">
                          <a:latin typeface="Cambria Math" panose="02040503050406030204" pitchFamily="18" charset="0"/>
                        </a:rPr>
                        <m:t>𝐸</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(0)|</m:t>
                      </m:r>
                      <m:r>
                        <a:rPr lang="zh-CN" altLang="en-US" i="1" dirty="0" smtClean="0">
                          <a:latin typeface="Cambria Math" panose="02040503050406030204" pitchFamily="18" charset="0"/>
                        </a:rPr>
                        <m:t>𝑋</m:t>
                      </m:r>
                      <m:r>
                        <a:rPr lang="en-US" altLang="zh-CN" i="1" dirty="0" smtClean="0">
                          <a:latin typeface="Cambria Math" panose="02040503050406030204" pitchFamily="18" charset="0"/>
                        </a:rPr>
                        <m:t>]]</m:t>
                      </m:r>
                    </m:oMath>
                    <m:oMath>
                      <m:r>
                        <a:rPr lang="en-US" altLang="zh-CN" i="1" dirty="0" smtClean="0">
                          <a:latin typeface="Cambria Math" panose="02040503050406030204" pitchFamily="18" charset="0"/>
                        </a:rPr>
                        <m:t>= </m:t>
                      </m:r>
                      <m:r>
                        <a:rPr lang="zh-CN" altLang="en-US" i="1" dirty="0" smtClean="0">
                          <a:latin typeface="Cambria Math" panose="02040503050406030204" pitchFamily="18" charset="0"/>
                        </a:rPr>
                        <m:t>𝐸</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𝐸</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(1)|</m:t>
                      </m:r>
                      <m:r>
                        <a:rPr lang="zh-CN" altLang="en-US" i="1" dirty="0" smtClean="0">
                          <a:latin typeface="Cambria Math" panose="02040503050406030204" pitchFamily="18" charset="0"/>
                        </a:rPr>
                        <m:t>𝑋</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1] − </m:t>
                      </m:r>
                      <m:r>
                        <a:rPr lang="zh-CN" altLang="en-US" i="1" dirty="0" smtClean="0">
                          <a:latin typeface="Cambria Math" panose="02040503050406030204" pitchFamily="18" charset="0"/>
                        </a:rPr>
                        <m:t>𝐸</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(0)|</m:t>
                      </m:r>
                      <m:r>
                        <a:rPr lang="zh-CN" altLang="en-US" i="1" dirty="0" smtClean="0">
                          <a:latin typeface="Cambria Math" panose="02040503050406030204" pitchFamily="18" charset="0"/>
                        </a:rPr>
                        <m:t>𝑋</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0]]=</m:t>
                      </m:r>
                      <m:r>
                        <a:rPr lang="en-US" altLang="zh-CN" b="0" i="1" dirty="0" smtClean="0">
                          <a:latin typeface="Cambria Math" panose="02040503050406030204" pitchFamily="18" charset="0"/>
                        </a:rPr>
                        <m:t>𝐸</m:t>
                      </m:r>
                      <m:d>
                        <m:dPr>
                          <m:begChr m:val="["/>
                          <m:endChr m:val="]"/>
                          <m:ctrlPr>
                            <a:rPr lang="en-US" altLang="zh-CN" b="0" i="1" dirty="0" smtClean="0">
                              <a:latin typeface="Cambria Math" panose="02040503050406030204" pitchFamily="18" charset="0"/>
                            </a:rPr>
                          </m:ctrlPr>
                        </m:dPr>
                        <m:e>
                          <m:limLow>
                            <m:limLowPr>
                              <m:ctrlPr>
                                <a:rPr lang="en-US" altLang="zh-CN" b="0" i="1" dirty="0" smtClean="0">
                                  <a:latin typeface="Cambria Math" panose="02040503050406030204" pitchFamily="18" charset="0"/>
                                </a:rPr>
                              </m:ctrlPr>
                            </m:limLowPr>
                            <m:e>
                              <m:groupChr>
                                <m:groupChrPr>
                                  <m:chr m:val="⏟"/>
                                  <m:pos m:val="bot"/>
                                  <m:vertJc m:val="top"/>
                                  <m:ctrlPr>
                                    <a:rPr lang="en-US" altLang="zh-CN" b="0" i="1" dirty="0" smtClean="0">
                                      <a:latin typeface="Cambria Math" panose="02040503050406030204" pitchFamily="18" charset="0"/>
                                    </a:rPr>
                                  </m:ctrlPr>
                                </m:groupChrPr>
                                <m:e>
                                  <m:r>
                                    <a:rPr lang="en-US" altLang="zh-CN" b="0" i="1" dirty="0" smtClean="0">
                                      <a:latin typeface="Cambria Math" panose="02040503050406030204" pitchFamily="18" charset="0"/>
                                    </a:rPr>
                                    <m:t>𝐸</m:t>
                                  </m:r>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𝑌</m:t>
                                      </m:r>
                                    </m:e>
                                    <m:e>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𝐷</m:t>
                                      </m:r>
                                      <m:r>
                                        <a:rPr lang="en-US" altLang="zh-CN" b="0" i="1" dirty="0" smtClean="0">
                                          <a:latin typeface="Cambria Math" panose="02040503050406030204" pitchFamily="18" charset="0"/>
                                        </a:rPr>
                                        <m:t>=1</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𝐸</m:t>
                                  </m:r>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𝑌</m:t>
                                      </m:r>
                                    </m:e>
                                    <m:e>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𝐷</m:t>
                                      </m:r>
                                      <m:r>
                                        <a:rPr lang="en-US" altLang="zh-CN" b="0" i="1" dirty="0" smtClean="0">
                                          <a:latin typeface="Cambria Math" panose="02040503050406030204" pitchFamily="18" charset="0"/>
                                        </a:rPr>
                                        <m:t>=0</m:t>
                                      </m:r>
                                    </m:e>
                                  </m:d>
                                </m:e>
                              </m:groupChr>
                            </m:e>
                            <m:lim>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𝜏</m:t>
                                  </m:r>
                                </m:e>
                                <m:sub>
                                  <m:r>
                                    <a:rPr lang="en-US" altLang="zh-CN" b="0" i="1" dirty="0" smtClean="0">
                                      <a:latin typeface="Cambria Math" panose="02040503050406030204" pitchFamily="18" charset="0"/>
                                    </a:rPr>
                                    <m:t>𝑋</m:t>
                                  </m:r>
                                </m:sub>
                              </m:sSub>
                            </m:lim>
                          </m:limLow>
                        </m:e>
                      </m:d>
                    </m:oMath>
                    <m:oMath>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𝑥</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𝜏</m:t>
                              </m:r>
                            </m:e>
                            <m:sub>
                              <m:r>
                                <a:rPr lang="en-US" altLang="zh-CN" b="0" i="1" smtClean="0">
                                  <a:latin typeface="Cambria Math" panose="02040503050406030204" pitchFamily="18" charset="0"/>
                                </a:rPr>
                                <m:t>𝑥</m:t>
                              </m:r>
                            </m:sub>
                          </m:sSub>
                          <m:func>
                            <m:funcPr>
                              <m:ctrlPr>
                                <a:rPr lang="en-US" altLang="zh-CN" b="0" i="0" smtClean="0">
                                  <a:latin typeface="Cambria Math" panose="02040503050406030204" pitchFamily="18" charset="0"/>
                                </a:rPr>
                              </m:ctrlPr>
                            </m:funcPr>
                            <m:fName>
                              <m:r>
                                <m:rPr>
                                  <m:sty m:val="p"/>
                                </m:rPr>
                                <a:rPr lang="en-US" altLang="zh-CN" b="0" i="0" smtClean="0">
                                  <a:latin typeface="Cambria Math" panose="02040503050406030204" pitchFamily="18" charset="0"/>
                                </a:rPr>
                                <m:t>Pr</m:t>
                              </m:r>
                            </m:fName>
                            <m:e>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e>
                          </m:func>
                        </m:e>
                      </m:nary>
                    </m:oMath>
                  </m:oMathPara>
                </a14:m>
                <a:endParaRPr lang="en-US" altLang="zh-CN" dirty="0"/>
              </a:p>
              <a:p>
                <a:pPr marL="0" indent="0">
                  <a:buNone/>
                </a:pPr>
                <a:r>
                  <a:rPr lang="zh-CN" altLang="en-US" dirty="0"/>
                  <a:t>    第三行来自于非混杂性假设，共同区间保证𝜏𝑋 有定义。</a:t>
                </a:r>
                <a:endParaRPr lang="en-US" altLang="zh-CN" dirty="0"/>
              </a:p>
              <a:p>
                <a:r>
                  <a:rPr lang="zh-CN" altLang="en-US" dirty="0"/>
                  <a:t>通过引入非混杂性假设，将目标参数转化为可观测数据的函数（第四行或第五行），实现了因果识别。结果的可信性依赖于非混杂性假设的合理性。</a:t>
                </a:r>
              </a:p>
            </p:txBody>
          </p:sp>
        </mc:Choice>
        <mc:Fallback xmlns="">
          <p:sp>
            <p:nvSpPr>
              <p:cNvPr id="3" name="内容占位符 2">
                <a:extLst>
                  <a:ext uri="{FF2B5EF4-FFF2-40B4-BE49-F238E27FC236}">
                    <a16:creationId xmlns:a16="http://schemas.microsoft.com/office/drawing/2014/main" id="{336F4FFE-8BED-7783-EB5D-2E268FC44CEB}"/>
                  </a:ext>
                </a:extLst>
              </p:cNvPr>
              <p:cNvSpPr>
                <a:spLocks noGrp="1" noRot="1" noChangeAspect="1" noMove="1" noResize="1" noEditPoints="1" noAdjustHandles="1" noChangeArrowheads="1" noChangeShapeType="1" noTextEdit="1"/>
              </p:cNvSpPr>
              <p:nvPr>
                <p:ph idx="1"/>
              </p:nvPr>
            </p:nvSpPr>
            <p:spPr>
              <a:blipFill>
                <a:blip r:embed="rId2"/>
                <a:stretch>
                  <a:fillRect l="-618" t="-2101" b="-434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E0FA07E-D992-CECE-3C76-30B6A96F5339}"/>
              </a:ext>
            </a:extLst>
          </p:cNvPr>
          <p:cNvSpPr>
            <a:spLocks noGrp="1"/>
          </p:cNvSpPr>
          <p:nvPr>
            <p:ph type="ftr" sz="quarter" idx="11"/>
          </p:nvPr>
        </p:nvSpPr>
        <p:spPr/>
        <p:txBody>
          <a:bodyPr/>
          <a:lstStyle/>
          <a:p>
            <a:r>
              <a:rPr lang="zh-CN" altLang="en-US" dirty="0"/>
              <a:t>ⓒ 赵西亮</a:t>
            </a:r>
          </a:p>
        </p:txBody>
      </p:sp>
      <p:sp>
        <p:nvSpPr>
          <p:cNvPr id="5" name="灯片编号占位符 4">
            <a:extLst>
              <a:ext uri="{FF2B5EF4-FFF2-40B4-BE49-F238E27FC236}">
                <a16:creationId xmlns:a16="http://schemas.microsoft.com/office/drawing/2014/main" id="{6C08418B-2FA1-ADFE-5B4F-DB1860783D11}"/>
              </a:ext>
            </a:extLst>
          </p:cNvPr>
          <p:cNvSpPr>
            <a:spLocks noGrp="1"/>
          </p:cNvSpPr>
          <p:nvPr>
            <p:ph type="sldNum" sz="quarter" idx="12"/>
          </p:nvPr>
        </p:nvSpPr>
        <p:spPr/>
        <p:txBody>
          <a:bodyPr/>
          <a:lstStyle/>
          <a:p>
            <a:fld id="{D41FC515-8169-4A29-AA56-DBE520D5741B}" type="slidenum">
              <a:rPr lang="zh-CN" altLang="en-US" smtClean="0"/>
              <a:t>7</a:t>
            </a:fld>
            <a:endParaRPr lang="zh-CN" altLang="en-US"/>
          </a:p>
        </p:txBody>
      </p:sp>
    </p:spTree>
    <p:extLst>
      <p:ext uri="{BB962C8B-B14F-4D97-AF65-F5344CB8AC3E}">
        <p14:creationId xmlns:p14="http://schemas.microsoft.com/office/powerpoint/2010/main" val="4019336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F05EE8-0499-0EB9-F6FC-D00100869BD7}"/>
              </a:ext>
            </a:extLst>
          </p:cNvPr>
          <p:cNvSpPr>
            <a:spLocks noGrp="1"/>
          </p:cNvSpPr>
          <p:nvPr>
            <p:ph type="title"/>
          </p:nvPr>
        </p:nvSpPr>
        <p:spPr/>
        <p:txBody>
          <a:bodyPr/>
          <a:lstStyle/>
          <a:p>
            <a:r>
              <a:rPr lang="zh-CN" altLang="en-US" dirty="0"/>
              <a:t>非混杂性</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6908E30-2A24-41C5-B95A-4AD4805D8BB0}"/>
                  </a:ext>
                </a:extLst>
              </p:cNvPr>
              <p:cNvSpPr>
                <a:spLocks noGrp="1"/>
              </p:cNvSpPr>
              <p:nvPr>
                <p:ph idx="1"/>
              </p:nvPr>
            </p:nvSpPr>
            <p:spPr/>
            <p:txBody>
              <a:bodyPr>
                <a:normAutofit fontScale="62500" lnSpcReduction="20000"/>
              </a:bodyPr>
              <a:lstStyle/>
              <a:p>
                <a:pPr>
                  <a:lnSpc>
                    <a:spcPct val="110000"/>
                  </a:lnSpc>
                </a:pPr>
                <a:r>
                  <a:rPr lang="zh-CN" altLang="en-US" dirty="0"/>
                  <a:t>识别干预组平均因果效应</a:t>
                </a:r>
                <a:r>
                  <a:rPr lang="en-US" altLang="zh-CN" dirty="0"/>
                  <a:t>(ATT)</a:t>
                </a:r>
                <a:r>
                  <a:rPr lang="zh-CN" altLang="en-US" dirty="0"/>
                  <a:t>，假设可以放松：</a:t>
                </a:r>
                <a:endParaRPr lang="en-US" altLang="zh-CN" dirty="0"/>
              </a:p>
              <a:p>
                <a:pPr lvl="1">
                  <a:lnSpc>
                    <a:spcPct val="110000"/>
                  </a:lnSpc>
                </a:pPr>
                <a:r>
                  <a:rPr lang="zh-CN" altLang="en-US" dirty="0"/>
                  <a:t>假设</a:t>
                </a:r>
                <a:r>
                  <a:rPr lang="en-US" altLang="zh-CN" dirty="0"/>
                  <a:t>3 </a:t>
                </a:r>
                <a:r>
                  <a:rPr lang="zh-CN" altLang="en-US" dirty="0"/>
                  <a:t>基线控制潜在结果非混杂性：𝑌𝑖</a:t>
                </a:r>
                <a:r>
                  <a:rPr lang="en-US" altLang="zh-CN" dirty="0"/>
                  <a:t>(0) ⟂⟂ </a:t>
                </a:r>
                <a:r>
                  <a:rPr lang="zh-CN" altLang="en-US" dirty="0"/>
                  <a:t>𝐷𝑖</a:t>
                </a:r>
                <a:r>
                  <a:rPr lang="en-US" altLang="zh-CN" dirty="0"/>
                  <a:t>|</a:t>
                </a:r>
                <a:r>
                  <a:rPr lang="zh-CN" altLang="en-US" dirty="0"/>
                  <a:t>𝑋𝑖</a:t>
                </a:r>
                <a:endParaRPr lang="en-US" altLang="zh-CN" dirty="0"/>
              </a:p>
              <a:p>
                <a:pPr lvl="1">
                  <a:lnSpc>
                    <a:spcPct val="110000"/>
                  </a:lnSpc>
                </a:pPr>
                <a:r>
                  <a:rPr lang="zh-CN" altLang="en-US" dirty="0"/>
                  <a:t>假设</a:t>
                </a:r>
                <a:r>
                  <a:rPr lang="en-US" altLang="zh-CN" dirty="0"/>
                  <a:t>4 </a:t>
                </a:r>
                <a:r>
                  <a:rPr lang="zh-CN" altLang="en-US" dirty="0"/>
                  <a:t>弱公共区间：</a:t>
                </a:r>
                <a:r>
                  <a:rPr lang="en-US" altLang="zh-CN" dirty="0" err="1"/>
                  <a:t>Pr</a:t>
                </a:r>
                <a:r>
                  <a:rPr lang="en-US" altLang="zh-CN" dirty="0"/>
                  <a:t>[</a:t>
                </a:r>
                <a:r>
                  <a:rPr lang="zh-CN" altLang="en-US" dirty="0"/>
                  <a:t>𝐷𝑖 </a:t>
                </a:r>
                <a:r>
                  <a:rPr lang="en-US" altLang="zh-CN" dirty="0"/>
                  <a:t>= 1|</a:t>
                </a:r>
                <a:r>
                  <a:rPr lang="zh-CN" altLang="en-US" dirty="0"/>
                  <a:t>𝑋𝑖</a:t>
                </a:r>
                <a:r>
                  <a:rPr lang="en-US" altLang="zh-CN" dirty="0"/>
                  <a:t>] &lt; 1</a:t>
                </a:r>
              </a:p>
              <a:p>
                <a:pPr marL="0" indent="0">
                  <a:lnSpc>
                    <a:spcPct val="110000"/>
                  </a:lnSpc>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𝐴𝑇𝑇</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𝑌</m:t>
                      </m:r>
                      <m:r>
                        <a:rPr lang="zh-CN" altLang="en-US" i="1" dirty="0">
                          <a:latin typeface="Cambria Math" panose="02040503050406030204" pitchFamily="18" charset="0"/>
                        </a:rPr>
                        <m:t> (1) − </m:t>
                      </m:r>
                      <m:r>
                        <a:rPr lang="zh-CN" altLang="en-US" i="1" dirty="0">
                          <a:latin typeface="Cambria Math" panose="02040503050406030204" pitchFamily="18" charset="0"/>
                        </a:rPr>
                        <m:t>𝑌</m:t>
                      </m:r>
                      <m:r>
                        <a:rPr lang="zh-CN" altLang="en-US" i="1" dirty="0">
                          <a:latin typeface="Cambria Math" panose="02040503050406030204" pitchFamily="18" charset="0"/>
                        </a:rPr>
                        <m:t> (0)|</m:t>
                      </m:r>
                      <m:r>
                        <a:rPr lang="zh-CN" altLang="en-US" i="1" dirty="0">
                          <a:latin typeface="Cambria Math" panose="02040503050406030204" pitchFamily="18" charset="0"/>
                        </a:rPr>
                        <m:t>𝐷</m:t>
                      </m:r>
                      <m:r>
                        <a:rPr lang="zh-CN" altLang="en-US" i="1" dirty="0">
                          <a:latin typeface="Cambria Math" panose="02040503050406030204" pitchFamily="18" charset="0"/>
                        </a:rPr>
                        <m:t> = 1] =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𝑌</m:t>
                      </m:r>
                      <m:r>
                        <a:rPr lang="zh-CN" altLang="en-US" i="1" dirty="0">
                          <a:latin typeface="Cambria Math" panose="02040503050406030204" pitchFamily="18" charset="0"/>
                        </a:rPr>
                        <m:t> (1) − </m:t>
                      </m:r>
                      <m:r>
                        <a:rPr lang="zh-CN" altLang="en-US" i="1" dirty="0">
                          <a:latin typeface="Cambria Math" panose="02040503050406030204" pitchFamily="18" charset="0"/>
                        </a:rPr>
                        <m:t>𝑌</m:t>
                      </m:r>
                      <m:r>
                        <a:rPr lang="zh-CN" altLang="en-US" i="1" dirty="0">
                          <a:latin typeface="Cambria Math" panose="02040503050406030204" pitchFamily="18" charset="0"/>
                        </a:rPr>
                        <m:t> (0)|</m:t>
                      </m:r>
                      <m:r>
                        <a:rPr lang="zh-CN" altLang="en-US" i="1" dirty="0">
                          <a:latin typeface="Cambria Math" panose="02040503050406030204" pitchFamily="18" charset="0"/>
                        </a:rPr>
                        <m:t>𝑋</m:t>
                      </m:r>
                      <m:r>
                        <a:rPr lang="en-US" altLang="zh-CN" i="1" dirty="0">
                          <a:latin typeface="Cambria Math" panose="02040503050406030204" pitchFamily="18" charset="0"/>
                        </a:rPr>
                        <m:t>, </m:t>
                      </m:r>
                      <m:r>
                        <a:rPr lang="zh-CN" altLang="en-US" i="1" dirty="0">
                          <a:latin typeface="Cambria Math" panose="02040503050406030204" pitchFamily="18" charset="0"/>
                        </a:rPr>
                        <m:t>𝐷</m:t>
                      </m:r>
                      <m:r>
                        <a:rPr lang="zh-CN" altLang="en-US" i="1" dirty="0">
                          <a:latin typeface="Cambria Math" panose="02040503050406030204" pitchFamily="18" charset="0"/>
                        </a:rPr>
                        <m:t> = 1]|</m:t>
                      </m:r>
                      <m:r>
                        <a:rPr lang="zh-CN" altLang="en-US" i="1" dirty="0">
                          <a:latin typeface="Cambria Math" panose="02040503050406030204" pitchFamily="18" charset="0"/>
                        </a:rPr>
                        <m:t>𝐷</m:t>
                      </m:r>
                      <m:r>
                        <a:rPr lang="zh-CN" altLang="en-US" i="1" dirty="0">
                          <a:latin typeface="Cambria Math" panose="02040503050406030204" pitchFamily="18" charset="0"/>
                        </a:rPr>
                        <m:t> = 1]</m:t>
                      </m:r>
                    </m:oMath>
                  </m:oMathPara>
                </a14:m>
                <a:endParaRPr lang="en-US" altLang="zh-CN" dirty="0"/>
              </a:p>
              <a:p>
                <a:pPr marL="0" indent="0">
                  <a:lnSpc>
                    <a:spcPct val="110000"/>
                  </a:lnSpc>
                  <a:buNone/>
                </a:pPr>
                <a14:m>
                  <m:oMathPara xmlns:m="http://schemas.openxmlformats.org/officeDocument/2006/math">
                    <m:oMath>
                      <m:r>
                        <a:rPr lang="en-US" altLang="zh-CN" i="1" dirty="0" smtClean="0">
                          <a:latin typeface="Cambria Math" panose="02040503050406030204" pitchFamily="18" charset="0"/>
                        </a:rPr>
                        <m:t>= </m:t>
                      </m:r>
                      <m:r>
                        <a:rPr lang="zh-CN" altLang="en-US" i="1" dirty="0" smtClean="0">
                          <a:latin typeface="Cambria Math" panose="02040503050406030204" pitchFamily="18" charset="0"/>
                        </a:rPr>
                        <m:t>𝐸</m:t>
                      </m:r>
                      <m:r>
                        <a:rPr lang="zh-CN" altLang="en-US" i="1" dirty="0" smtClean="0">
                          <a:latin typeface="Cambria Math" panose="02040503050406030204" pitchFamily="18" charset="0"/>
                        </a:rPr>
                        <m:t> [</m:t>
                      </m:r>
                      <m:r>
                        <a:rPr lang="zh-CN" altLang="en-US" i="1" dirty="0" smtClean="0">
                          <a:latin typeface="Cambria Math" panose="02040503050406030204" pitchFamily="18" charset="0"/>
                        </a:rPr>
                        <m:t>𝐸</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(1)|</m:t>
                      </m:r>
                      <m:r>
                        <a:rPr lang="zh-CN" altLang="en-US" i="1" dirty="0" smtClean="0">
                          <a:latin typeface="Cambria Math" panose="02040503050406030204" pitchFamily="18" charset="0"/>
                        </a:rPr>
                        <m:t>𝑋</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1] − </m:t>
                      </m:r>
                      <m:r>
                        <a:rPr lang="zh-CN" altLang="en-US" i="1" dirty="0" smtClean="0">
                          <a:latin typeface="Cambria Math" panose="02040503050406030204" pitchFamily="18" charset="0"/>
                        </a:rPr>
                        <m:t>𝐸</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(0)|</m:t>
                      </m:r>
                      <m:r>
                        <a:rPr lang="zh-CN" altLang="en-US" i="1" dirty="0" smtClean="0">
                          <a:latin typeface="Cambria Math" panose="02040503050406030204" pitchFamily="18" charset="0"/>
                        </a:rPr>
                        <m:t>𝑋</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1]|</m:t>
                      </m:r>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1]</m:t>
                      </m:r>
                    </m:oMath>
                  </m:oMathPara>
                </a14:m>
                <a:endParaRPr lang="en-US" altLang="zh-CN" dirty="0"/>
              </a:p>
              <a:p>
                <a:pPr marL="0" indent="0">
                  <a:lnSpc>
                    <a:spcPct val="110000"/>
                  </a:lnSpc>
                  <a:buNone/>
                </a:pPr>
                <a14:m>
                  <m:oMathPara xmlns:m="http://schemas.openxmlformats.org/officeDocument/2006/math">
                    <m:oMath>
                      <m:r>
                        <a:rPr lang="en-US" altLang="zh-CN" i="1" dirty="0" smtClean="0">
                          <a:latin typeface="Cambria Math" panose="02040503050406030204" pitchFamily="18" charset="0"/>
                        </a:rPr>
                        <m:t>= </m:t>
                      </m:r>
                      <m:r>
                        <a:rPr lang="zh-CN" altLang="en-US" i="1" dirty="0" smtClean="0">
                          <a:latin typeface="Cambria Math" panose="02040503050406030204" pitchFamily="18" charset="0"/>
                        </a:rPr>
                        <m:t>𝐸</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𝐸</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(1)|</m:t>
                      </m:r>
                      <m:r>
                        <a:rPr lang="zh-CN" altLang="en-US" i="1" dirty="0" smtClean="0">
                          <a:latin typeface="Cambria Math" panose="02040503050406030204" pitchFamily="18" charset="0"/>
                        </a:rPr>
                        <m:t>𝑋</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1] − </m:t>
                      </m:r>
                      <m:r>
                        <a:rPr lang="zh-CN" altLang="en-US" i="1" dirty="0" smtClean="0">
                          <a:latin typeface="Cambria Math" panose="02040503050406030204" pitchFamily="18" charset="0"/>
                        </a:rPr>
                        <m:t>𝐸</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(0)|</m:t>
                      </m:r>
                      <m:r>
                        <a:rPr lang="zh-CN" altLang="en-US" i="1" dirty="0" smtClean="0">
                          <a:latin typeface="Cambria Math" panose="02040503050406030204" pitchFamily="18" charset="0"/>
                        </a:rPr>
                        <m:t>𝑋</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0]|</m:t>
                      </m:r>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1]</m:t>
                      </m:r>
                    </m:oMath>
                    <m:oMath>
                      <m:r>
                        <a:rPr lang="en-US" altLang="zh-CN" b="0" i="1" smtClean="0">
                          <a:latin typeface="Cambria Math" panose="02040503050406030204" pitchFamily="18" charset="0"/>
                        </a:rPr>
                        <m:t>=</m:t>
                      </m:r>
                      <m:r>
                        <a:rPr lang="en-US" altLang="zh-CN" b="0" i="1" smtClean="0">
                          <a:latin typeface="Cambria Math" panose="02040503050406030204" pitchFamily="18" charset="0"/>
                        </a:rPr>
                        <m:t>𝐸</m:t>
                      </m:r>
                      <m:r>
                        <a:rPr lang="en-US" altLang="zh-CN" b="0" i="1" smtClean="0">
                          <a:latin typeface="Cambria Math" panose="02040503050406030204" pitchFamily="18" charset="0"/>
                        </a:rPr>
                        <m:t>[</m:t>
                      </m:r>
                      <m:limLow>
                        <m:limLowPr>
                          <m:ctrlPr>
                            <a:rPr lang="en-US" altLang="zh-CN" b="0" i="1" smtClean="0">
                              <a:latin typeface="Cambria Math" panose="02040503050406030204" pitchFamily="18" charset="0"/>
                            </a:rPr>
                          </m:ctrlPr>
                        </m:limLowPr>
                        <m:e>
                          <m:groupChr>
                            <m:groupChrPr>
                              <m:chr m:val="⏟"/>
                              <m:pos m:val="bot"/>
                              <m:vertJc m:val="top"/>
                              <m:ctrlPr>
                                <a:rPr lang="en-US" altLang="zh-CN" b="0" i="1" smtClean="0">
                                  <a:latin typeface="Cambria Math" panose="02040503050406030204" pitchFamily="18" charset="0"/>
                                </a:rPr>
                              </m:ctrlPr>
                            </m:groupChrPr>
                            <m:e>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e>
                                <m:e>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e>
                                <m:e>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=0</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=1</m:t>
                              </m:r>
                            </m:e>
                          </m:groupChr>
                          <m:r>
                            <a:rPr lang="en-US" altLang="zh-CN" b="0" i="1" smtClean="0">
                              <a:latin typeface="Cambria Math" panose="02040503050406030204" pitchFamily="18" charset="0"/>
                            </a:rPr>
                            <m:t>] </m:t>
                          </m:r>
                        </m:e>
                        <m:li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𝜏</m:t>
                              </m:r>
                            </m:e>
                            <m:sub>
                              <m:r>
                                <a:rPr lang="en-US" altLang="zh-CN" b="0" i="1" smtClean="0">
                                  <a:latin typeface="Cambria Math" panose="02040503050406030204" pitchFamily="18" charset="0"/>
                                </a:rPr>
                                <m:t>𝑋</m:t>
                              </m:r>
                            </m:sub>
                          </m:sSub>
                        </m:lim>
                      </m:limLow>
                    </m:oMath>
                    <m:oMath>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𝑥</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𝜏</m:t>
                              </m:r>
                            </m:e>
                            <m:sub>
                              <m:r>
                                <a:rPr lang="en-US" altLang="zh-CN" b="0" i="1" smtClean="0">
                                  <a:latin typeface="Cambria Math" panose="02040503050406030204" pitchFamily="18" charset="0"/>
                                </a:rPr>
                                <m:t>𝑥</m:t>
                              </m:r>
                            </m:sub>
                          </m:sSub>
                          <m:func>
                            <m:funcPr>
                              <m:ctrlPr>
                                <a:rPr lang="en-US" altLang="zh-CN" b="0" i="0" smtClean="0">
                                  <a:latin typeface="Cambria Math" panose="02040503050406030204" pitchFamily="18" charset="0"/>
                                </a:rPr>
                              </m:ctrlPr>
                            </m:funcPr>
                            <m:fName>
                              <m:r>
                                <m:rPr>
                                  <m:sty m:val="p"/>
                                </m:rPr>
                                <a:rPr lang="en-US" altLang="zh-CN" b="0" i="0" smtClean="0">
                                  <a:latin typeface="Cambria Math" panose="02040503050406030204" pitchFamily="18" charset="0"/>
                                </a:rPr>
                                <m:t>Pr</m:t>
                              </m:r>
                            </m:fName>
                            <m:e>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=1]</m:t>
                              </m:r>
                            </m:e>
                          </m:func>
                          <m:r>
                            <a:rPr lang="en-US" altLang="zh-CN" b="0" i="1" smtClean="0">
                              <a:latin typeface="Cambria Math" panose="02040503050406030204" pitchFamily="18" charset="0"/>
                            </a:rPr>
                            <m:t>.                                  (4)</m:t>
                          </m:r>
                        </m:e>
                      </m:nary>
                    </m:oMath>
                  </m:oMathPara>
                </a14:m>
                <a:endParaRPr lang="en-US" altLang="zh-CN" dirty="0"/>
              </a:p>
              <a:p>
                <a:pPr>
                  <a:lnSpc>
                    <a:spcPct val="110000"/>
                  </a:lnSpc>
                </a:pPr>
                <a:r>
                  <a:rPr lang="zh-CN" altLang="en-US" dirty="0"/>
                  <a:t>第三行来自于非混杂性假设，共同区间保证𝜏𝑋 有定义。</a:t>
                </a:r>
                <a:endParaRPr lang="en-US" altLang="zh-CN" dirty="0"/>
              </a:p>
              <a:p>
                <a:pPr>
                  <a:lnSpc>
                    <a:spcPct val="110000"/>
                  </a:lnSpc>
                </a:pPr>
                <a:r>
                  <a:rPr lang="zh-CN" altLang="en-US" dirty="0"/>
                  <a:t>同样，结果的可信性依赖于识别假设的合理性。</a:t>
                </a:r>
              </a:p>
            </p:txBody>
          </p:sp>
        </mc:Choice>
        <mc:Fallback xmlns="">
          <p:sp>
            <p:nvSpPr>
              <p:cNvPr id="3" name="内容占位符 2">
                <a:extLst>
                  <a:ext uri="{FF2B5EF4-FFF2-40B4-BE49-F238E27FC236}">
                    <a16:creationId xmlns:a16="http://schemas.microsoft.com/office/drawing/2014/main" id="{66908E30-2A24-41C5-B95A-4AD4805D8BB0}"/>
                  </a:ext>
                </a:extLst>
              </p:cNvPr>
              <p:cNvSpPr>
                <a:spLocks noGrp="1" noRot="1" noChangeAspect="1" noMove="1" noResize="1" noEditPoints="1" noAdjustHandles="1" noChangeArrowheads="1" noChangeShapeType="1" noTextEdit="1"/>
              </p:cNvSpPr>
              <p:nvPr>
                <p:ph idx="1"/>
              </p:nvPr>
            </p:nvSpPr>
            <p:spPr>
              <a:blipFill>
                <a:blip r:embed="rId2"/>
                <a:stretch>
                  <a:fillRect l="-464" t="-12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95DC497-184B-8829-EA61-8985B95EC0B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328B300-DD9E-0407-F201-BAF40D2F87E9}"/>
              </a:ext>
            </a:extLst>
          </p:cNvPr>
          <p:cNvSpPr>
            <a:spLocks noGrp="1"/>
          </p:cNvSpPr>
          <p:nvPr>
            <p:ph type="sldNum" sz="quarter" idx="12"/>
          </p:nvPr>
        </p:nvSpPr>
        <p:spPr/>
        <p:txBody>
          <a:bodyPr/>
          <a:lstStyle/>
          <a:p>
            <a:fld id="{D41FC515-8169-4A29-AA56-DBE520D5741B}" type="slidenum">
              <a:rPr lang="zh-CN" altLang="en-US" smtClean="0"/>
              <a:t>8</a:t>
            </a:fld>
            <a:endParaRPr lang="zh-CN" altLang="en-US"/>
          </a:p>
        </p:txBody>
      </p:sp>
    </p:spTree>
    <p:extLst>
      <p:ext uri="{BB962C8B-B14F-4D97-AF65-F5344CB8AC3E}">
        <p14:creationId xmlns:p14="http://schemas.microsoft.com/office/powerpoint/2010/main" val="2164689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600F4D-DC9E-6B84-0E34-3BE6EF526EC6}"/>
              </a:ext>
            </a:extLst>
          </p:cNvPr>
          <p:cNvSpPr>
            <a:spLocks noGrp="1"/>
          </p:cNvSpPr>
          <p:nvPr>
            <p:ph type="title"/>
          </p:nvPr>
        </p:nvSpPr>
        <p:spPr/>
        <p:txBody>
          <a:bodyPr/>
          <a:lstStyle/>
          <a:p>
            <a:r>
              <a:rPr lang="zh-CN" altLang="en-US" dirty="0"/>
              <a:t>分层</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8EEDAEC-E919-9037-B33A-0289BF1BD092}"/>
                  </a:ext>
                </a:extLst>
              </p:cNvPr>
              <p:cNvSpPr>
                <a:spLocks noGrp="1"/>
              </p:cNvSpPr>
              <p:nvPr>
                <p:ph idx="1"/>
              </p:nvPr>
            </p:nvSpPr>
            <p:spPr/>
            <p:txBody>
              <a:bodyPr>
                <a:normAutofit fontScale="85000" lnSpcReduction="20000"/>
              </a:bodyPr>
              <a:lstStyle/>
              <a:p>
                <a:pPr>
                  <a:lnSpc>
                    <a:spcPct val="110000"/>
                  </a:lnSpc>
                </a:pPr>
                <a:r>
                  <a:rPr lang="zh-CN" altLang="en-US" dirty="0"/>
                  <a:t>满足非混杂性条件，可以将数据看作分层随机化实验，可以利用分配分层随机化实验的方法进行参数估计。</a:t>
                </a:r>
                <a:endParaRPr lang="en-US" altLang="zh-CN" dirty="0"/>
              </a:p>
              <a:p>
                <a:pPr>
                  <a:lnSpc>
                    <a:spcPct val="110000"/>
                  </a:lnSpc>
                </a:pPr>
                <a:r>
                  <a:rPr lang="zh-CN" altLang="en-US" dirty="0"/>
                  <a:t>假设协变量为离散变量，</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𝑋</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zh-CN" altLang="en-US" i="1" dirty="0">
                        <a:latin typeface="Cambria Math" panose="02040503050406030204" pitchFamily="18" charset="0"/>
                      </a:rPr>
                      <m:t>∈ </m:t>
                    </m:r>
                    <m:r>
                      <a:rPr lang="en-US" altLang="zh-CN" i="1" dirty="0">
                        <a:latin typeface="Cambria Math" panose="02040503050406030204" pitchFamily="18" charset="0"/>
                      </a:rPr>
                      <m:t>{1, … , </m:t>
                    </m:r>
                    <m:r>
                      <a:rPr lang="zh-CN" altLang="en-US" i="1" dirty="0">
                        <a:latin typeface="Cambria Math" panose="02040503050406030204" pitchFamily="18" charset="0"/>
                      </a:rPr>
                      <m:t>𝐾</m:t>
                    </m:r>
                    <m:r>
                      <a:rPr lang="en-US" altLang="zh-CN" i="1" dirty="0">
                        <a:latin typeface="Cambria Math" panose="02040503050406030204" pitchFamily="18" charset="0"/>
                      </a:rPr>
                      <m:t>}</m:t>
                    </m:r>
                  </m:oMath>
                </a14:m>
                <a:r>
                  <a:rPr lang="zh-CN" altLang="en-US" dirty="0"/>
                  <a:t>，则非混杂性可表示为：</a:t>
                </a:r>
                <a:endParaRPr lang="en-US" altLang="zh-CN" dirty="0"/>
              </a:p>
              <a:p>
                <a:pPr>
                  <a:lnSpc>
                    <a:spcPct val="110000"/>
                  </a:lnSpc>
                </a:pPr>
                <a:r>
                  <a:rPr lang="zh-CN" altLang="en-US" dirty="0"/>
                  <a:t>𝑌 </a:t>
                </a:r>
                <a:r>
                  <a:rPr lang="en-US" altLang="zh-CN" dirty="0"/>
                  <a:t>(</a:t>
                </a:r>
                <a:r>
                  <a:rPr lang="zh-CN" altLang="en-US" dirty="0"/>
                  <a:t>𝑑</a:t>
                </a:r>
                <a:r>
                  <a:rPr lang="en-US" altLang="zh-CN" dirty="0"/>
                  <a:t>) ⟂ </a:t>
                </a:r>
                <a:r>
                  <a:rPr lang="zh-CN" altLang="en-US" dirty="0"/>
                  <a:t>𝐷</a:t>
                </a:r>
                <a:r>
                  <a:rPr lang="en-US" altLang="zh-CN" dirty="0"/>
                  <a:t>|</a:t>
                </a:r>
                <a:r>
                  <a:rPr lang="zh-CN" altLang="en-US" dirty="0"/>
                  <a:t>𝑋 </a:t>
                </a:r>
                <a:r>
                  <a:rPr lang="en-US" altLang="zh-CN" dirty="0"/>
                  <a:t>= </a:t>
                </a:r>
                <a:r>
                  <a:rPr lang="zh-CN" altLang="en-US" dirty="0"/>
                  <a:t>𝑘</a:t>
                </a:r>
                <a:r>
                  <a:rPr lang="en-US" altLang="zh-CN" dirty="0"/>
                  <a:t>, </a:t>
                </a:r>
                <a:r>
                  <a:rPr lang="zh-CN" altLang="en-US" dirty="0"/>
                  <a:t>𝑑 </a:t>
                </a:r>
                <a:r>
                  <a:rPr lang="en-US" altLang="zh-CN" dirty="0"/>
                  <a:t>= 0, 1, </a:t>
                </a:r>
                <a:r>
                  <a:rPr lang="zh-CN" altLang="en-US" dirty="0"/>
                  <a:t>𝑘 </a:t>
                </a:r>
                <a:r>
                  <a:rPr lang="en-US" altLang="zh-CN" dirty="0"/>
                  <a:t>= 1, … , </a:t>
                </a:r>
                <a:r>
                  <a:rPr lang="zh-CN" altLang="en-US" dirty="0"/>
                  <a:t>𝐾</a:t>
                </a:r>
                <a:r>
                  <a:rPr lang="en-US" altLang="zh-CN" dirty="0"/>
                  <a:t>.</a:t>
                </a:r>
              </a:p>
              <a:p>
                <a:pPr>
                  <a:lnSpc>
                    <a:spcPct val="110000"/>
                  </a:lnSpc>
                </a:pPr>
                <a:r>
                  <a:rPr lang="en-US" altLang="zh-CN" dirty="0"/>
                  <a:t>ATE </a:t>
                </a:r>
                <a:r>
                  <a:rPr lang="zh-CN" altLang="en-US" dirty="0"/>
                  <a:t>的估计量：</a:t>
                </a:r>
                <a:endParaRPr lang="en-US" altLang="zh-CN" dirty="0"/>
              </a:p>
              <a:p>
                <a:pPr>
                  <a:lnSpc>
                    <a:spcPct val="110000"/>
                  </a:lnSpc>
                </a:pP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r>
                      <a:rPr lang="en-US" altLang="zh-CN" b="0" i="1" dirty="0" smtClean="0">
                        <a:latin typeface="Cambria Math" panose="02040503050406030204" pitchFamily="18" charset="0"/>
                      </a:rPr>
                      <m:t>=</m:t>
                    </m:r>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𝑘</m:t>
                        </m:r>
                      </m:sub>
                      <m:sup>
                        <m:r>
                          <a:rPr lang="en-US" altLang="zh-CN" b="0" i="1" dirty="0" smtClean="0">
                            <a:latin typeface="Cambria Math" panose="02040503050406030204" pitchFamily="18" charset="0"/>
                          </a:rPr>
                          <m:t>𝐾</m:t>
                        </m:r>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𝜋</m:t>
                            </m:r>
                          </m:e>
                          <m:sub>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bar>
                                  <m:barPr>
                                    <m:pos m:val="top"/>
                                    <m:ctrlPr>
                                      <a:rPr lang="en-US" altLang="zh-CN" b="0" i="1" dirty="0" smtClean="0">
                                        <a:latin typeface="Cambria Math" panose="02040503050406030204" pitchFamily="18" charset="0"/>
                                      </a:rPr>
                                    </m:ctrlPr>
                                  </m:barPr>
                                  <m:e>
                                    <m:r>
                                      <a:rPr lang="en-US" altLang="zh-CN" b="0" i="1" dirty="0" smtClean="0">
                                        <a:latin typeface="Cambria Math" panose="02040503050406030204" pitchFamily="18" charset="0"/>
                                      </a:rPr>
                                      <m:t>𝑌</m:t>
                                    </m:r>
                                  </m:e>
                                </m:bar>
                              </m:e>
                              <m:sub>
                                <m:r>
                                  <a:rPr lang="en-US" altLang="zh-CN" b="0" i="1" dirty="0" smtClean="0">
                                    <a:latin typeface="Cambria Math" panose="02040503050406030204" pitchFamily="18" charset="0"/>
                                  </a:rPr>
                                  <m:t>𝑡𝑘</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bar>
                                  <m:barPr>
                                    <m:pos m:val="top"/>
                                    <m:ctrlPr>
                                      <a:rPr lang="en-US" altLang="zh-CN" b="0" i="1" dirty="0" smtClean="0">
                                        <a:latin typeface="Cambria Math" panose="02040503050406030204" pitchFamily="18" charset="0"/>
                                      </a:rPr>
                                    </m:ctrlPr>
                                  </m:barPr>
                                  <m:e>
                                    <m:r>
                                      <a:rPr lang="en-US" altLang="zh-CN" b="0" i="1" dirty="0" smtClean="0">
                                        <a:latin typeface="Cambria Math" panose="02040503050406030204" pitchFamily="18" charset="0"/>
                                      </a:rPr>
                                      <m:t>𝑌</m:t>
                                    </m:r>
                                  </m:e>
                                </m:bar>
                              </m:e>
                              <m:sub>
                                <m:r>
                                  <a:rPr lang="en-US" altLang="zh-CN" b="0" i="1" dirty="0" smtClean="0">
                                    <a:latin typeface="Cambria Math" panose="02040503050406030204" pitchFamily="18" charset="0"/>
                                  </a:rPr>
                                  <m:t>𝑐𝑘</m:t>
                                </m:r>
                              </m:sub>
                            </m:sSub>
                          </m:e>
                        </m:d>
                        <m:r>
                          <a:rPr lang="en-US" altLang="zh-CN" b="0" i="1" dirty="0" smtClean="0">
                            <a:latin typeface="Cambria Math" panose="02040503050406030204" pitchFamily="18" charset="0"/>
                          </a:rPr>
                          <m:t>.</m:t>
                        </m:r>
                      </m:e>
                    </m:nary>
                  </m:oMath>
                </a14:m>
                <a:endParaRPr lang="en-US" altLang="zh-CN" b="0" dirty="0"/>
              </a:p>
              <a:p>
                <a:pPr>
                  <a:lnSpc>
                    <a:spcPct val="110000"/>
                  </a:lnSpc>
                </a:pPr>
                <a:r>
                  <a:rPr lang="zh-CN" altLang="en-US" dirty="0"/>
                  <a:t>其中</a:t>
                </a:r>
                <a:endParaRPr lang="en-US" altLang="zh-CN" dirty="0"/>
              </a:p>
              <a:p>
                <a:pPr>
                  <a:lnSpc>
                    <a:spcPct val="110000"/>
                  </a:lnSpc>
                </a:pP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𝑘</m:t>
                            </m:r>
                          </m:sub>
                        </m:sSub>
                      </m:num>
                      <m:den>
                        <m:r>
                          <a:rPr lang="en-US" altLang="zh-CN" b="0" i="1" smtClean="0">
                            <a:latin typeface="Cambria Math" panose="02040503050406030204" pitchFamily="18" charset="0"/>
                          </a:rPr>
                          <m:t>𝑛</m:t>
                        </m:r>
                      </m:den>
                    </m:f>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bar>
                          <m:barPr>
                            <m:pos m:val="top"/>
                            <m:ctrlPr>
                              <a:rPr lang="en-US" altLang="zh-CN" b="0" i="1" smtClean="0">
                                <a:latin typeface="Cambria Math" panose="02040503050406030204" pitchFamily="18" charset="0"/>
                              </a:rPr>
                            </m:ctrlPr>
                          </m:barPr>
                          <m:e>
                            <m:r>
                              <a:rPr lang="en-US" altLang="zh-CN" b="0" i="1" smtClean="0">
                                <a:latin typeface="Cambria Math" panose="02040503050406030204" pitchFamily="18" charset="0"/>
                              </a:rPr>
                              <m:t>𝑌</m:t>
                            </m:r>
                          </m:e>
                        </m:bar>
                      </m:e>
                      <m:sub>
                        <m:r>
                          <a:rPr lang="en-US" altLang="zh-CN" b="0" i="1" smtClean="0">
                            <a:latin typeface="Cambria Math" panose="02040503050406030204" pitchFamily="18" charset="0"/>
                          </a:rPr>
                          <m:t>𝑡𝑘</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1</m:t>
                                </m:r>
                              </m:e>
                            </m:nary>
                            <m:r>
                              <a:rPr lang="en-US" altLang="zh-CN" b="0" i="1" smtClean="0">
                                <a:latin typeface="Cambria Math" panose="02040503050406030204" pitchFamily="18" charset="0"/>
                              </a:rPr>
                              <m:t>[</m:t>
                            </m:r>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m:t>
                            </m:r>
                          </m:sub>
                        </m:sSub>
                      </m:num>
                      <m:den>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e>
                        </m:nary>
                      </m:den>
                    </m:f>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bar>
                          <m:barPr>
                            <m:pos m:val="top"/>
                            <m:ctrlPr>
                              <a:rPr lang="en-US" altLang="zh-CN" i="1">
                                <a:latin typeface="Cambria Math" panose="02040503050406030204" pitchFamily="18" charset="0"/>
                              </a:rPr>
                            </m:ctrlPr>
                          </m:barPr>
                          <m:e>
                            <m:r>
                              <a:rPr lang="en-US" altLang="zh-CN" i="1">
                                <a:latin typeface="Cambria Math" panose="02040503050406030204" pitchFamily="18" charset="0"/>
                              </a:rPr>
                              <m:t>𝑌</m:t>
                            </m:r>
                          </m:e>
                        </m:bar>
                      </m:e>
                      <m:sub>
                        <m:r>
                          <a:rPr lang="en-US" altLang="zh-CN" b="0" i="1" smtClean="0">
                            <a:latin typeface="Cambria Math" panose="02040503050406030204" pitchFamily="18" charset="0"/>
                          </a:rPr>
                          <m:t>𝑐</m:t>
                        </m:r>
                        <m:r>
                          <a:rPr lang="en-US" altLang="zh-CN" i="1">
                            <a:latin typeface="Cambria Math" panose="02040503050406030204" pitchFamily="18" charset="0"/>
                          </a:rPr>
                          <m:t>𝑘</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𝑖</m:t>
                                </m:r>
                              </m:sub>
                              <m:sup>
                                <m:r>
                                  <a:rPr lang="en-US" altLang="zh-CN" i="1">
                                    <a:latin typeface="Cambria Math" panose="02040503050406030204" pitchFamily="18" charset="0"/>
                                  </a:rPr>
                                  <m:t>𝑛</m:t>
                                </m:r>
                              </m:sup>
                              <m:e>
                                <m:r>
                                  <a:rPr lang="en-US" altLang="zh-CN" i="1">
                                    <a:latin typeface="Cambria Math" panose="02040503050406030204" pitchFamily="18" charset="0"/>
                                  </a:rPr>
                                  <m:t>1</m:t>
                                </m:r>
                              </m:e>
                            </m:nary>
                            <m:r>
                              <a:rPr lang="en-US" altLang="zh-CN" i="1">
                                <a:latin typeface="Cambria Math" panose="02040503050406030204" pitchFamily="18" charset="0"/>
                              </a:rPr>
                              <m:t>[</m:t>
                            </m:r>
                            <m:r>
                              <a:rPr lang="en-US" altLang="zh-CN" i="1">
                                <a:latin typeface="Cambria Math" panose="02040503050406030204" pitchFamily="18" charset="0"/>
                              </a:rPr>
                              <m:t>𝐷</m:t>
                            </m:r>
                          </m:e>
                          <m:sub>
                            <m:r>
                              <a:rPr lang="en-US" altLang="zh-CN" i="1">
                                <a:latin typeface="Cambria Math" panose="02040503050406030204" pitchFamily="18" charset="0"/>
                              </a:rPr>
                              <m:t>𝑖</m:t>
                            </m:r>
                          </m:sub>
                        </m:sSub>
                        <m:r>
                          <a:rPr lang="en-US" altLang="zh-CN" i="1">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𝑖</m:t>
                            </m:r>
                          </m:sub>
                        </m:sSub>
                      </m:num>
                      <m:den>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𝑖</m:t>
                            </m:r>
                          </m:sub>
                          <m:sup>
                            <m:r>
                              <a:rPr lang="en-US" altLang="zh-CN" i="1">
                                <a:latin typeface="Cambria Math" panose="02040503050406030204" pitchFamily="18" charset="0"/>
                              </a:rPr>
                              <m:t>𝑛</m:t>
                            </m:r>
                          </m:sup>
                          <m:e>
                            <m:r>
                              <a:rPr lang="en-US" altLang="zh-CN" i="1">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r>
                              <a:rPr lang="en-US" altLang="zh-CN" i="1">
                                <a:latin typeface="Cambria Math" panose="02040503050406030204" pitchFamily="18" charset="0"/>
                              </a:rPr>
                              <m:t>=1,</m:t>
                            </m:r>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i="1">
                                <a:latin typeface="Cambria Math" panose="02040503050406030204" pitchFamily="18" charset="0"/>
                              </a:rPr>
                              <m:t>]</m:t>
                            </m:r>
                          </m:e>
                        </m:nary>
                      </m:den>
                    </m:f>
                  </m:oMath>
                </a14:m>
                <a:r>
                  <a:rPr lang="en-US" altLang="zh-CN" dirty="0"/>
                  <a:t>.</a:t>
                </a:r>
                <a:endParaRPr lang="zh-CN" altLang="en-US" dirty="0"/>
              </a:p>
            </p:txBody>
          </p:sp>
        </mc:Choice>
        <mc:Fallback xmlns="">
          <p:sp>
            <p:nvSpPr>
              <p:cNvPr id="3" name="内容占位符 2">
                <a:extLst>
                  <a:ext uri="{FF2B5EF4-FFF2-40B4-BE49-F238E27FC236}">
                    <a16:creationId xmlns:a16="http://schemas.microsoft.com/office/drawing/2014/main" id="{98EEDAEC-E919-9037-B33A-0289BF1BD092}"/>
                  </a:ext>
                </a:extLst>
              </p:cNvPr>
              <p:cNvSpPr>
                <a:spLocks noGrp="1" noRot="1" noChangeAspect="1" noMove="1" noResize="1" noEditPoints="1" noAdjustHandles="1" noChangeArrowheads="1" noChangeShapeType="1" noTextEdit="1"/>
              </p:cNvSpPr>
              <p:nvPr>
                <p:ph idx="1"/>
              </p:nvPr>
            </p:nvSpPr>
            <p:spPr>
              <a:blipFill>
                <a:blip r:embed="rId2"/>
                <a:stretch>
                  <a:fillRect l="-1005" t="-1961" r="-10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4B78772-CE98-758B-8D3B-3D4BEBC045D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A6CFEB5-C6C8-F630-E142-74AE411B6A0A}"/>
              </a:ext>
            </a:extLst>
          </p:cNvPr>
          <p:cNvSpPr>
            <a:spLocks noGrp="1"/>
          </p:cNvSpPr>
          <p:nvPr>
            <p:ph type="sldNum" sz="quarter" idx="12"/>
          </p:nvPr>
        </p:nvSpPr>
        <p:spPr/>
        <p:txBody>
          <a:bodyPr/>
          <a:lstStyle/>
          <a:p>
            <a:fld id="{D41FC515-8169-4A29-AA56-DBE520D5741B}" type="slidenum">
              <a:rPr lang="zh-CN" altLang="en-US" smtClean="0"/>
              <a:t>9</a:t>
            </a:fld>
            <a:endParaRPr lang="zh-CN" altLang="en-US"/>
          </a:p>
        </p:txBody>
      </p:sp>
    </p:spTree>
    <p:extLst>
      <p:ext uri="{BB962C8B-B14F-4D97-AF65-F5344CB8AC3E}">
        <p14:creationId xmlns:p14="http://schemas.microsoft.com/office/powerpoint/2010/main" val="202991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4FDC94-89F3-A8A6-7B59-8D7A1640C7ED}"/>
              </a:ext>
            </a:extLst>
          </p:cNvPr>
          <p:cNvSpPr>
            <a:spLocks noGrp="1"/>
          </p:cNvSpPr>
          <p:nvPr>
            <p:ph type="title"/>
          </p:nvPr>
        </p:nvSpPr>
        <p:spPr/>
        <p:txBody>
          <a:bodyPr/>
          <a:lstStyle/>
          <a:p>
            <a:r>
              <a:rPr lang="zh-CN" altLang="en-US" dirty="0"/>
              <a:t>回归</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DC8962B-1DD2-4E90-0FE9-579D345B3D9A}"/>
                  </a:ext>
                </a:extLst>
              </p:cNvPr>
              <p:cNvSpPr>
                <a:spLocks noGrp="1"/>
              </p:cNvSpPr>
              <p:nvPr>
                <p:ph idx="1"/>
              </p:nvPr>
            </p:nvSpPr>
            <p:spPr>
              <a:xfrm>
                <a:off x="628650" y="1825625"/>
                <a:ext cx="7886700" cy="1472774"/>
              </a:xfrm>
            </p:spPr>
            <p:txBody>
              <a:bodyPr>
                <a:normAutofit fontScale="62500" lnSpcReduction="20000"/>
              </a:bodyPr>
              <a:lstStyle/>
              <a:p>
                <a:r>
                  <a:rPr lang="zh-CN" altLang="en-US" dirty="0"/>
                  <a:t>考虑下列饱和回归模型，将𝑋 进行离散化分组，定义</a:t>
                </a:r>
                <a14:m>
                  <m:oMath xmlns:m="http://schemas.openxmlformats.org/officeDocument/2006/math">
                    <m:r>
                      <a:rPr lang="zh-CN" altLang="en-US" i="1" dirty="0" smtClean="0">
                        <a:latin typeface="Cambria Math" panose="02040503050406030204" pitchFamily="18" charset="0"/>
                      </a:rPr>
                      <m:t>𝑑𝑥</m:t>
                    </m:r>
                    <m:r>
                      <a:rPr lang="zh-CN" altLang="en-US" i="1" dirty="0" smtClean="0">
                        <a:latin typeface="Cambria Math" panose="02040503050406030204" pitchFamily="18" charset="0"/>
                      </a:rPr>
                      <m:t> = </m:t>
                    </m:r>
                    <m:r>
                      <a:rPr lang="zh-CN" altLang="en-US" i="1" dirty="0">
                        <a:latin typeface="Cambria Math" panose="02040503050406030204" pitchFamily="18" charset="0"/>
                      </a:rPr>
                      <m:t>𝟙</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𝑥</m:t>
                    </m:r>
                    <m:r>
                      <a:rPr lang="en-US" altLang="zh-CN" i="1" dirty="0">
                        <a:latin typeface="Cambria Math" panose="02040503050406030204" pitchFamily="18" charset="0"/>
                      </a:rPr>
                      <m:t>)</m:t>
                    </m:r>
                  </m:oMath>
                </a14:m>
                <a:r>
                  <a:rPr lang="zh-CN" altLang="en-US" dirty="0"/>
                  <a:t>：</a:t>
                </a:r>
                <a:endParaRPr lang="en-US" altLang="zh-CN" dirty="0"/>
              </a:p>
              <a:p>
                <a:pPr marL="0" indent="0">
                  <a:buNone/>
                </a:pPr>
                <a14:m>
                  <m:oMathPara xmlns:m="http://schemas.openxmlformats.org/officeDocument/2006/math">
                    <m:o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𝜏</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𝑥</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𝛼</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𝑑𝑥</m:t>
                          </m:r>
                        </m:e>
                      </m:nary>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𝜀</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              (6)</m:t>
                      </m:r>
                    </m:oMath>
                  </m:oMathPara>
                </a14:m>
                <a:endParaRPr lang="en-US" altLang="zh-CN" dirty="0"/>
              </a:p>
              <a:p>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𝐷</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oMath>
                </a14:m>
                <a:r>
                  <a:rPr lang="zh-CN" altLang="en-US" dirty="0"/>
                  <a:t>的总体回归系数</a:t>
                </a:r>
                <a:r>
                  <a:rPr lang="en-US" altLang="zh-CN" dirty="0"/>
                  <a:t>(Angrist and Pischke, 2009) </a:t>
                </a:r>
                <a:r>
                  <a:rPr lang="zh-CN" altLang="en-US" dirty="0"/>
                  <a:t>为</a:t>
                </a:r>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DDC8962B-1DD2-4E90-0FE9-579D345B3D9A}"/>
                  </a:ext>
                </a:extLst>
              </p:cNvPr>
              <p:cNvSpPr>
                <a:spLocks noGrp="1" noRot="1" noChangeAspect="1" noMove="1" noResize="1" noEditPoints="1" noAdjustHandles="1" noChangeArrowheads="1" noChangeShapeType="1" noTextEdit="1"/>
              </p:cNvSpPr>
              <p:nvPr>
                <p:ph idx="1"/>
              </p:nvPr>
            </p:nvSpPr>
            <p:spPr>
              <a:xfrm>
                <a:off x="628650" y="1825625"/>
                <a:ext cx="7886700" cy="1472774"/>
              </a:xfrm>
              <a:blipFill>
                <a:blip r:embed="rId2"/>
                <a:stretch>
                  <a:fillRect l="-464" t="-6198"/>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6521627-83F0-BACD-AC81-2BD5E8D6C9A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32963AC-D52C-3849-8694-B46D68140A0A}"/>
              </a:ext>
            </a:extLst>
          </p:cNvPr>
          <p:cNvSpPr>
            <a:spLocks noGrp="1"/>
          </p:cNvSpPr>
          <p:nvPr>
            <p:ph type="sldNum" sz="quarter" idx="12"/>
          </p:nvPr>
        </p:nvSpPr>
        <p:spPr/>
        <p:txBody>
          <a:bodyPr/>
          <a:lstStyle/>
          <a:p>
            <a:fld id="{D41FC515-8169-4A29-AA56-DBE520D5741B}" type="slidenum">
              <a:rPr lang="zh-CN" altLang="en-US" smtClean="0"/>
              <a:t>10</a:t>
            </a:fld>
            <a:endParaRPr lang="zh-CN" altLang="en-US"/>
          </a:p>
        </p:txBody>
      </p:sp>
      <p:pic>
        <p:nvPicPr>
          <p:cNvPr id="7" name="图片 6">
            <a:extLst>
              <a:ext uri="{FF2B5EF4-FFF2-40B4-BE49-F238E27FC236}">
                <a16:creationId xmlns:a16="http://schemas.microsoft.com/office/drawing/2014/main" id="{33E1E421-E8B8-61E9-31EB-B4E39807E259}"/>
              </a:ext>
            </a:extLst>
          </p:cNvPr>
          <p:cNvPicPr>
            <a:picLocks noChangeAspect="1"/>
          </p:cNvPicPr>
          <p:nvPr/>
        </p:nvPicPr>
        <p:blipFill>
          <a:blip r:embed="rId3"/>
          <a:stretch>
            <a:fillRect/>
          </a:stretch>
        </p:blipFill>
        <p:spPr>
          <a:xfrm>
            <a:off x="1082116" y="3219665"/>
            <a:ext cx="6811326" cy="3057952"/>
          </a:xfrm>
          <a:prstGeom prst="rect">
            <a:avLst/>
          </a:prstGeom>
        </p:spPr>
      </p:pic>
      <p:sp>
        <p:nvSpPr>
          <p:cNvPr id="8" name="文本框 7">
            <a:extLst>
              <a:ext uri="{FF2B5EF4-FFF2-40B4-BE49-F238E27FC236}">
                <a16:creationId xmlns:a16="http://schemas.microsoft.com/office/drawing/2014/main" id="{5B51BB4D-43FE-867D-178B-46FA4365D609}"/>
              </a:ext>
            </a:extLst>
          </p:cNvPr>
          <p:cNvSpPr txBox="1"/>
          <p:nvPr/>
        </p:nvSpPr>
        <p:spPr>
          <a:xfrm>
            <a:off x="8061380" y="5908285"/>
            <a:ext cx="453970" cy="369332"/>
          </a:xfrm>
          <a:prstGeom prst="rect">
            <a:avLst/>
          </a:prstGeom>
          <a:noFill/>
        </p:spPr>
        <p:txBody>
          <a:bodyPr wrap="none" rtlCol="0">
            <a:spAutoFit/>
          </a:bodyPr>
          <a:lstStyle/>
          <a:p>
            <a:r>
              <a:rPr lang="en-US" altLang="zh-CN" dirty="0"/>
              <a:t>(7)</a:t>
            </a:r>
            <a:endParaRPr lang="zh-CN" altLang="en-US" dirty="0"/>
          </a:p>
        </p:txBody>
      </p:sp>
    </p:spTree>
    <p:extLst>
      <p:ext uri="{BB962C8B-B14F-4D97-AF65-F5344CB8AC3E}">
        <p14:creationId xmlns:p14="http://schemas.microsoft.com/office/powerpoint/2010/main" val="2458298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3D1B30-75F8-8244-8779-0BA432FFD117}"/>
              </a:ext>
            </a:extLst>
          </p:cNvPr>
          <p:cNvSpPr>
            <a:spLocks noGrp="1"/>
          </p:cNvSpPr>
          <p:nvPr>
            <p:ph type="title"/>
          </p:nvPr>
        </p:nvSpPr>
        <p:spPr/>
        <p:txBody>
          <a:bodyPr/>
          <a:lstStyle/>
          <a:p>
            <a:r>
              <a:rPr lang="zh-CN" altLang="en-US" dirty="0"/>
              <a:t>回归</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39C7393-F6CE-B4AF-473B-1D0DE90DCE23}"/>
                  </a:ext>
                </a:extLst>
              </p:cNvPr>
              <p:cNvSpPr>
                <a:spLocks noGrp="1"/>
              </p:cNvSpPr>
              <p:nvPr>
                <p:ph idx="1"/>
              </p:nvPr>
            </p:nvSpPr>
            <p:spPr/>
            <p:txBody>
              <a:bodyPr>
                <a:normAutofit fontScale="70000" lnSpcReduction="20000"/>
              </a:bodyPr>
              <a:lstStyle/>
              <a:p>
                <a:r>
                  <a:rPr lang="zh-CN" altLang="en-US" dirty="0"/>
                  <a:t>做下列线性回归，𝐷 的回归系数估计的是什么？</a:t>
                </a:r>
                <a:endParaRPr lang="en-US" altLang="zh-CN" dirty="0"/>
              </a:p>
              <a:p>
                <a:pPr marL="0" indent="0">
                  <a:buNone/>
                </a:pPr>
                <a14:m>
                  <m:oMathPara xmlns:m="http://schemas.openxmlformats.org/officeDocument/2006/math">
                    <m:oMath>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𝛽</m:t>
                          </m:r>
                        </m:e>
                        <m:sub>
                          <m:r>
                            <a:rPr lang="zh-CN" altLang="en-US" i="1" dirty="0">
                              <a:latin typeface="Cambria Math" panose="02040503050406030204" pitchFamily="18" charset="0"/>
                            </a:rPr>
                            <m:t>𝑑</m:t>
                          </m:r>
                        </m:sub>
                      </m:sSub>
                      <m:r>
                        <a:rPr lang="zh-CN" altLang="en-US" i="1" dirty="0">
                          <a:latin typeface="Cambria Math" panose="02040503050406030204" pitchFamily="18" charset="0"/>
                        </a:rPr>
                        <m:t>𝐷</m:t>
                      </m:r>
                      <m:r>
                        <a:rPr lang="zh-CN" altLang="en-US" i="1" dirty="0">
                          <a:latin typeface="Cambria Math" panose="02040503050406030204" pitchFamily="18" charset="0"/>
                        </a:rPr>
                        <m:t> + </m:t>
                      </m:r>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𝑋</m:t>
                          </m:r>
                        </m:e>
                        <m:sup>
                          <m:r>
                            <a:rPr lang="en-US" altLang="zh-CN" i="1" dirty="0">
                              <a:latin typeface="Cambria Math" panose="02040503050406030204" pitchFamily="18" charset="0"/>
                            </a:rPr>
                            <m:t>′</m:t>
                          </m:r>
                        </m:sup>
                      </m:sSup>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𝛽</m:t>
                          </m:r>
                        </m:e>
                        <m:sub>
                          <m:r>
                            <a:rPr lang="zh-CN" altLang="en-US" i="1" dirty="0">
                              <a:latin typeface="Cambria Math" panose="02040503050406030204" pitchFamily="18" charset="0"/>
                            </a:rPr>
                            <m:t>𝑥</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𝜀</m:t>
                      </m:r>
                      <m:r>
                        <a:rPr lang="en-US" altLang="zh-CN" i="1" dirty="0">
                          <a:latin typeface="Cambria Math" panose="02040503050406030204" pitchFamily="18" charset="0"/>
                        </a:rPr>
                        <m:t>,</m:t>
                      </m:r>
                    </m:oMath>
                  </m:oMathPara>
                </a14:m>
                <a:endParaRPr lang="en-US" altLang="zh-CN" dirty="0"/>
              </a:p>
              <a:p>
                <a:r>
                  <a:rPr lang="en-US" altLang="zh-CN" dirty="0" err="1"/>
                  <a:t>Słoczyński</a:t>
                </a:r>
                <a:r>
                  <a:rPr lang="en-US" altLang="zh-CN" dirty="0"/>
                  <a:t>(2022) </a:t>
                </a:r>
                <a:r>
                  <a:rPr lang="zh-CN" altLang="en-US" dirty="0"/>
                  <a:t>证明：在非混杂性和潜在结果是协变量线性模型假设下，回归系数为：</a:t>
                </a:r>
                <a:endParaRPr lang="en-US" altLang="zh-CN" dirty="0"/>
              </a:p>
              <a:p>
                <a:pPr marL="0" indent="0">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𝑜𝑙𝑠</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𝑤</m:t>
                          </m:r>
                        </m:e>
                        <m:sub>
                          <m:r>
                            <a:rPr lang="en-US" altLang="zh-CN" i="1" dirty="0">
                              <a:latin typeface="Cambria Math" panose="02040503050406030204" pitchFamily="18" charset="0"/>
                            </a:rPr>
                            <m:t>1</m:t>
                          </m:r>
                        </m:sub>
                      </m:s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𝐴𝑇𝑇</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𝑤</m:t>
                          </m:r>
                        </m:e>
                        <m:sub>
                          <m:r>
                            <a:rPr lang="en-US" altLang="zh-CN" i="1" dirty="0">
                              <a:latin typeface="Cambria Math" panose="02040503050406030204" pitchFamily="18" charset="0"/>
                            </a:rPr>
                            <m:t>0</m:t>
                          </m:r>
                        </m:sub>
                      </m:s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𝐴𝑇𝐶</m:t>
                          </m:r>
                        </m:sub>
                      </m:sSub>
                      <m:r>
                        <a:rPr lang="en-US" altLang="zh-CN" i="1" dirty="0">
                          <a:latin typeface="Cambria Math" panose="02040503050406030204" pitchFamily="18" charset="0"/>
                        </a:rPr>
                        <m:t>,</m:t>
                      </m:r>
                      <m:r>
                        <a:rPr lang="en-US" altLang="zh-CN" b="0" i="1" dirty="0" smtClean="0">
                          <a:latin typeface="Cambria Math" panose="02040503050406030204" pitchFamily="18" charset="0"/>
                        </a:rPr>
                        <m:t>              (8)</m:t>
                      </m:r>
                    </m:oMath>
                  </m:oMathPara>
                </a14:m>
                <a:endParaRPr lang="en-US" altLang="zh-CN" dirty="0"/>
              </a:p>
              <a:p>
                <a:pPr marL="0" indent="0">
                  <a:buNone/>
                </a:pPr>
                <a:r>
                  <a:rPr lang="zh-CN" altLang="en-US" dirty="0"/>
                  <a:t>   其中</a:t>
                </a:r>
                <a14:m>
                  <m:oMath xmlns:m="http://schemas.openxmlformats.org/officeDocument/2006/math">
                    <m:r>
                      <a:rPr lang="en-US" altLang="zh-CN" b="0" i="1" smtClean="0">
                        <a:latin typeface="Cambria Math" panose="02040503050406030204" pitchFamily="18" charset="0"/>
                      </a:rPr>
                      <m:t>𝑝</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Pr</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=1]</m:t>
                    </m:r>
                  </m:oMath>
                </a14:m>
                <a:endParaRPr lang="en-US" altLang="zh-CN" dirty="0"/>
              </a:p>
              <a:p>
                <a:pPr marL="0" indent="0">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𝑤</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(1 − </m:t>
                          </m:r>
                          <m:r>
                            <a:rPr lang="zh-CN" altLang="en-US" i="1" dirty="0">
                              <a:latin typeface="Cambria Math" panose="02040503050406030204" pitchFamily="18" charset="0"/>
                            </a:rPr>
                            <m:t>𝑝</m:t>
                          </m:r>
                          <m:r>
                            <a:rPr lang="en-US" altLang="zh-CN" i="1" dirty="0">
                              <a:latin typeface="Cambria Math" panose="02040503050406030204" pitchFamily="18" charset="0"/>
                            </a:rPr>
                            <m:t>)</m:t>
                          </m:r>
                          <m:r>
                            <a:rPr lang="zh-CN" altLang="en-US" i="1" dirty="0">
                              <a:latin typeface="Cambria Math" panose="02040503050406030204" pitchFamily="18" charset="0"/>
                            </a:rPr>
                            <m:t>𝑉</m:t>
                          </m:r>
                          <m:r>
                            <a:rPr lang="zh-CN" altLang="en-US" i="1" dirty="0">
                              <a:latin typeface="Cambria Math" panose="02040503050406030204" pitchFamily="18" charset="0"/>
                            </a:rPr>
                            <m:t> [</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zh-CN" altLang="en-US" i="1" dirty="0">
                              <a:latin typeface="Cambria Math" panose="02040503050406030204" pitchFamily="18" charset="0"/>
                            </a:rPr>
                            <m:t> = 0]</m:t>
                          </m:r>
                        </m:num>
                        <m:den>
                          <m:r>
                            <a:rPr lang="zh-CN" altLang="en-US" i="1" dirty="0">
                              <a:latin typeface="Cambria Math" panose="02040503050406030204" pitchFamily="18" charset="0"/>
                            </a:rPr>
                            <m:t>𝑝𝑉</m:t>
                          </m:r>
                          <m:r>
                            <a:rPr lang="zh-CN" altLang="en-US" i="1" dirty="0">
                              <a:latin typeface="Cambria Math" panose="02040503050406030204" pitchFamily="18" charset="0"/>
                            </a:rPr>
                            <m:t> [</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zh-CN" altLang="en-US" i="1" dirty="0">
                              <a:latin typeface="Cambria Math" panose="02040503050406030204" pitchFamily="18" charset="0"/>
                            </a:rPr>
                            <m:t> = 1] + (1 − </m:t>
                          </m:r>
                          <m:r>
                            <a:rPr lang="zh-CN" altLang="en-US" i="1" dirty="0">
                              <a:latin typeface="Cambria Math" panose="02040503050406030204" pitchFamily="18" charset="0"/>
                            </a:rPr>
                            <m:t>𝑝</m:t>
                          </m:r>
                          <m:r>
                            <a:rPr lang="en-US" altLang="zh-CN" i="1" dirty="0">
                              <a:latin typeface="Cambria Math" panose="02040503050406030204" pitchFamily="18" charset="0"/>
                            </a:rPr>
                            <m:t>)</m:t>
                          </m:r>
                          <m:r>
                            <a:rPr lang="zh-CN" altLang="en-US" i="1" dirty="0">
                              <a:latin typeface="Cambria Math" panose="02040503050406030204" pitchFamily="18" charset="0"/>
                            </a:rPr>
                            <m:t>𝑉</m:t>
                          </m:r>
                          <m:r>
                            <a:rPr lang="zh-CN" altLang="en-US" i="1" dirty="0">
                              <a:latin typeface="Cambria Math" panose="02040503050406030204" pitchFamily="18" charset="0"/>
                            </a:rPr>
                            <m:t> [</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zh-CN" altLang="en-US" i="1" dirty="0">
                              <a:latin typeface="Cambria Math" panose="02040503050406030204" pitchFamily="18" charset="0"/>
                            </a:rPr>
                            <m:t> = 0]</m:t>
                          </m:r>
                          <m:r>
                            <m:rPr>
                              <m:nor/>
                            </m:rPr>
                            <a:rPr lang="en-US" altLang="zh-CN" i="0" dirty="0"/>
                            <m:t> </m:t>
                          </m:r>
                        </m:den>
                      </m:f>
                    </m:oMath>
                  </m:oMathPara>
                </a14:m>
                <a:endParaRPr lang="en-US" altLang="zh-CN" dirty="0"/>
              </a:p>
              <a:p>
                <a:pPr marL="0" indent="0">
                  <a:buNone/>
                </a:pPr>
                <a14:m>
                  <m:oMathPara xmlns:m="http://schemas.openxmlformats.org/officeDocument/2006/math">
                    <m:o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𝑤</m:t>
                          </m:r>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=1−</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𝑝</m:t>
                          </m:r>
                          <m:r>
                            <a:rPr lang="zh-CN" altLang="en-US" i="1" dirty="0">
                              <a:latin typeface="Cambria Math" panose="02040503050406030204" pitchFamily="18" charset="0"/>
                            </a:rPr>
                            <m:t>𝑉</m:t>
                          </m:r>
                          <m:r>
                            <a:rPr lang="zh-CN" altLang="en-US" i="1" dirty="0">
                              <a:latin typeface="Cambria Math" panose="02040503050406030204" pitchFamily="18" charset="0"/>
                            </a:rPr>
                            <m:t> [</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zh-CN" altLang="en-US" i="1" dirty="0">
                              <a:latin typeface="Cambria Math" panose="02040503050406030204" pitchFamily="18" charset="0"/>
                            </a:rPr>
                            <m:t> =1]</m:t>
                          </m:r>
                        </m:num>
                        <m:den>
                          <m:r>
                            <a:rPr lang="zh-CN" altLang="en-US" i="1" dirty="0">
                              <a:latin typeface="Cambria Math" panose="02040503050406030204" pitchFamily="18" charset="0"/>
                            </a:rPr>
                            <m:t>𝑝𝑉</m:t>
                          </m:r>
                          <m:r>
                            <a:rPr lang="zh-CN" altLang="en-US" i="1" dirty="0">
                              <a:latin typeface="Cambria Math" panose="02040503050406030204" pitchFamily="18" charset="0"/>
                            </a:rPr>
                            <m:t> [</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zh-CN" altLang="en-US" i="1" dirty="0">
                              <a:latin typeface="Cambria Math" panose="02040503050406030204" pitchFamily="18" charset="0"/>
                            </a:rPr>
                            <m:t> = 1] + (1 − </m:t>
                          </m:r>
                          <m:r>
                            <a:rPr lang="zh-CN" altLang="en-US" i="1" dirty="0">
                              <a:latin typeface="Cambria Math" panose="02040503050406030204" pitchFamily="18" charset="0"/>
                            </a:rPr>
                            <m:t>𝑝</m:t>
                          </m:r>
                          <m:r>
                            <a:rPr lang="en-US" altLang="zh-CN" i="1" dirty="0">
                              <a:latin typeface="Cambria Math" panose="02040503050406030204" pitchFamily="18" charset="0"/>
                            </a:rPr>
                            <m:t>)</m:t>
                          </m:r>
                          <m:r>
                            <a:rPr lang="zh-CN" altLang="en-US" i="1" dirty="0">
                              <a:latin typeface="Cambria Math" panose="02040503050406030204" pitchFamily="18" charset="0"/>
                            </a:rPr>
                            <m:t>𝑉</m:t>
                          </m:r>
                          <m:r>
                            <a:rPr lang="zh-CN" altLang="en-US" i="1" dirty="0">
                              <a:latin typeface="Cambria Math" panose="02040503050406030204" pitchFamily="18" charset="0"/>
                            </a:rPr>
                            <m:t> [</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zh-CN" altLang="en-US" i="1" dirty="0">
                              <a:latin typeface="Cambria Math" panose="02040503050406030204" pitchFamily="18" charset="0"/>
                            </a:rPr>
                            <m:t> = 0]</m:t>
                          </m:r>
                          <m:r>
                            <m:rPr>
                              <m:nor/>
                            </m:rPr>
                            <a:rPr lang="en-US" altLang="zh-CN" i="0" dirty="0"/>
                            <m:t> </m:t>
                          </m:r>
                        </m:den>
                      </m:f>
                    </m:oMath>
                  </m:oMathPara>
                </a14:m>
                <a:endParaRPr lang="en-US" altLang="zh-CN" dirty="0"/>
              </a:p>
              <a:p>
                <a:r>
                  <a:rPr lang="zh-CN" altLang="en-US" dirty="0"/>
                  <a:t>如果𝑉 </a:t>
                </a:r>
                <a:r>
                  <a:rPr lang="en-US" altLang="zh-CN" dirty="0"/>
                  <a:t>[</a:t>
                </a:r>
                <a:r>
                  <a:rPr lang="zh-CN" altLang="en-US" dirty="0"/>
                  <a:t>𝑒</a:t>
                </a:r>
                <a:r>
                  <a:rPr lang="en-US" altLang="zh-CN" dirty="0"/>
                  <a:t>(</a:t>
                </a:r>
                <a:r>
                  <a:rPr lang="zh-CN" altLang="en-US" dirty="0"/>
                  <a:t>𝑋</a:t>
                </a:r>
                <a:r>
                  <a:rPr lang="en-US" altLang="zh-CN" dirty="0"/>
                  <a:t>)|</a:t>
                </a:r>
                <a:r>
                  <a:rPr lang="zh-CN" altLang="en-US" dirty="0"/>
                  <a:t>𝐷 </a:t>
                </a:r>
                <a:r>
                  <a:rPr lang="en-US" altLang="zh-CN" dirty="0"/>
                  <a:t>= 1] = </a:t>
                </a:r>
                <a:r>
                  <a:rPr lang="zh-CN" altLang="en-US" dirty="0"/>
                  <a:t>𝑉 </a:t>
                </a:r>
                <a:r>
                  <a:rPr lang="en-US" altLang="zh-CN" dirty="0"/>
                  <a:t>[</a:t>
                </a:r>
                <a:r>
                  <a:rPr lang="zh-CN" altLang="en-US" dirty="0"/>
                  <a:t>𝑒</a:t>
                </a:r>
                <a:r>
                  <a:rPr lang="en-US" altLang="zh-CN" dirty="0"/>
                  <a:t>(</a:t>
                </a:r>
                <a:r>
                  <a:rPr lang="zh-CN" altLang="en-US" dirty="0"/>
                  <a:t>𝑋</a:t>
                </a:r>
                <a:r>
                  <a:rPr lang="en-US" altLang="zh-CN" dirty="0"/>
                  <a:t>)|</a:t>
                </a:r>
                <a:r>
                  <a:rPr lang="zh-CN" altLang="en-US" dirty="0"/>
                  <a:t>𝐷 </a:t>
                </a:r>
                <a:r>
                  <a:rPr lang="en-US" altLang="zh-CN" dirty="0"/>
                  <a:t>= 0]</a:t>
                </a:r>
                <a:r>
                  <a:rPr lang="zh-CN" altLang="en-US" dirty="0"/>
                  <a:t>，则</a:t>
                </a:r>
                <a:endParaRPr lang="en-US" altLang="zh-CN" dirty="0"/>
              </a:p>
              <a:p>
                <a:pPr marL="0" indent="0">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𝑜𝑙𝑠</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1 − </m:t>
                          </m:r>
                          <m:r>
                            <a:rPr lang="zh-CN" altLang="en-US" i="1" dirty="0">
                              <a:latin typeface="Cambria Math" panose="02040503050406030204" pitchFamily="18" charset="0"/>
                            </a:rPr>
                            <m:t>𝑝</m:t>
                          </m:r>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𝐴𝑇𝑇</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𝑝</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𝐴𝑇𝐶</m:t>
                          </m:r>
                        </m:sub>
                      </m:sSub>
                      <m:r>
                        <a:rPr lang="en-US" altLang="zh-CN" i="1" dirty="0" smtClean="0">
                          <a:latin typeface="Cambria Math" panose="02040503050406030204" pitchFamily="18" charset="0"/>
                        </a:rPr>
                        <m:t>.</m:t>
                      </m:r>
                    </m:oMath>
                  </m:oMathPara>
                </a14:m>
                <a:endParaRPr lang="en-US" altLang="zh-CN" dirty="0"/>
              </a:p>
              <a:p>
                <a:pPr marL="0" indent="0">
                  <a:buNone/>
                </a:pPr>
                <a:r>
                  <a:rPr lang="zh-CN" altLang="en-US" dirty="0"/>
                  <a:t>   所以</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𝑜𝑙𝑠</m:t>
                        </m:r>
                      </m:sub>
                    </m:sSub>
                    <m:r>
                      <a:rPr lang="zh-CN" altLang="en-US" i="1" dirty="0" smtClean="0">
                        <a:latin typeface="Cambria Math" panose="02040503050406030204" pitchFamily="18" charset="0"/>
                      </a:rPr>
                      <m:t> ≠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𝐴𝑇𝐸</m:t>
                        </m:r>
                      </m:sub>
                    </m:sSub>
                  </m:oMath>
                </a14:m>
                <a:r>
                  <a:rPr lang="zh-CN" altLang="en-US" dirty="0"/>
                  <a:t>，除非𝑝 </a:t>
                </a:r>
                <a:r>
                  <a:rPr lang="en-US" altLang="zh-CN" dirty="0"/>
                  <a:t>= 0.5</a:t>
                </a:r>
                <a:r>
                  <a:rPr lang="zh-CN" altLang="en-US" dirty="0"/>
                  <a:t>。</a:t>
                </a:r>
              </a:p>
            </p:txBody>
          </p:sp>
        </mc:Choice>
        <mc:Fallback xmlns="">
          <p:sp>
            <p:nvSpPr>
              <p:cNvPr id="3" name="内容占位符 2">
                <a:extLst>
                  <a:ext uri="{FF2B5EF4-FFF2-40B4-BE49-F238E27FC236}">
                    <a16:creationId xmlns:a16="http://schemas.microsoft.com/office/drawing/2014/main" id="{339C7393-F6CE-B4AF-473B-1D0DE90DCE23}"/>
                  </a:ext>
                </a:extLst>
              </p:cNvPr>
              <p:cNvSpPr>
                <a:spLocks noGrp="1" noRot="1" noChangeAspect="1" noMove="1" noResize="1" noEditPoints="1" noAdjustHandles="1" noChangeArrowheads="1" noChangeShapeType="1" noTextEdit="1"/>
              </p:cNvSpPr>
              <p:nvPr>
                <p:ph idx="1"/>
              </p:nvPr>
            </p:nvSpPr>
            <p:spPr>
              <a:blipFill>
                <a:blip r:embed="rId2"/>
                <a:stretch>
                  <a:fillRect l="-696" t="-2241" r="-696" b="-14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73909BC4-AD28-D83D-256E-53940320820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487A45C-8FA5-9A39-D034-BCD1E268F505}"/>
              </a:ext>
            </a:extLst>
          </p:cNvPr>
          <p:cNvSpPr>
            <a:spLocks noGrp="1"/>
          </p:cNvSpPr>
          <p:nvPr>
            <p:ph type="sldNum" sz="quarter" idx="12"/>
          </p:nvPr>
        </p:nvSpPr>
        <p:spPr/>
        <p:txBody>
          <a:bodyPr/>
          <a:lstStyle/>
          <a:p>
            <a:fld id="{D41FC515-8169-4A29-AA56-DBE520D5741B}" type="slidenum">
              <a:rPr lang="zh-CN" altLang="en-US" smtClean="0"/>
              <a:t>11</a:t>
            </a:fld>
            <a:endParaRPr lang="zh-CN" altLang="en-US"/>
          </a:p>
        </p:txBody>
      </p:sp>
    </p:spTree>
    <p:extLst>
      <p:ext uri="{BB962C8B-B14F-4D97-AF65-F5344CB8AC3E}">
        <p14:creationId xmlns:p14="http://schemas.microsoft.com/office/powerpoint/2010/main" val="2851694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439C0B-AE93-F492-2737-915ECA693034}"/>
              </a:ext>
            </a:extLst>
          </p:cNvPr>
          <p:cNvSpPr>
            <a:spLocks noGrp="1"/>
          </p:cNvSpPr>
          <p:nvPr>
            <p:ph type="title"/>
          </p:nvPr>
        </p:nvSpPr>
        <p:spPr/>
        <p:txBody>
          <a:bodyPr/>
          <a:lstStyle/>
          <a:p>
            <a:r>
              <a:rPr lang="zh-CN" altLang="en-US" dirty="0"/>
              <a:t>回归</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DA5406A-9861-20B7-14ED-08E774504CBF}"/>
                  </a:ext>
                </a:extLst>
              </p:cNvPr>
              <p:cNvSpPr>
                <a:spLocks noGrp="1"/>
              </p:cNvSpPr>
              <p:nvPr>
                <p:ph idx="1"/>
              </p:nvPr>
            </p:nvSpPr>
            <p:spPr>
              <a:xfrm>
                <a:off x="628650" y="1825625"/>
                <a:ext cx="7886700" cy="4530726"/>
              </a:xfrm>
            </p:spPr>
            <p:txBody>
              <a:bodyPr>
                <a:normAutofit/>
              </a:bodyPr>
              <a:lstStyle/>
              <a:p>
                <a:r>
                  <a:rPr lang="en-US" altLang="zh-CN" dirty="0"/>
                  <a:t>Słoczyński(2022) </a:t>
                </a:r>
                <a:r>
                  <a:rPr lang="zh-CN" altLang="en-US" dirty="0"/>
                  <a:t>证明：在非混杂性和潜在结果是协变量线性模型假设下</a:t>
                </a:r>
                <a:endParaRPr lang="en-US" altLang="zh-CN" dirty="0"/>
              </a:p>
              <a:p>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𝑜𝑙𝑠</m:t>
                        </m:r>
                      </m:sub>
                    </m:sSub>
                    <m:r>
                      <a:rPr lang="zh-CN" altLang="en-US" i="1" dirty="0" smtClean="0">
                        <a:latin typeface="Cambria Math" panose="02040503050406030204" pitchFamily="18" charset="0"/>
                      </a:rPr>
                      <m:t> −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𝐴𝑇𝐸</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𝛿</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𝐴𝑇𝐶</m:t>
                        </m:r>
                      </m:sub>
                    </m:sSub>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𝐴𝑇𝑇</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en-US" altLang="zh-CN" b="0" i="1" dirty="0" smtClean="0">
                        <a:latin typeface="Cambria Math" panose="02040503050406030204" pitchFamily="18" charset="0"/>
                      </a:rPr>
                      <m:t>            </m:t>
                    </m:r>
                    <m:r>
                      <a:rPr lang="en-US" altLang="zh-CN" i="1" dirty="0">
                        <a:latin typeface="Cambria Math" panose="02040503050406030204" pitchFamily="18" charset="0"/>
                      </a:rPr>
                      <m:t>(</m:t>
                    </m:r>
                    <m:r>
                      <a:rPr lang="en-US" altLang="zh-CN" b="0" i="1" dirty="0" smtClean="0">
                        <a:latin typeface="Cambria Math" panose="02040503050406030204" pitchFamily="18" charset="0"/>
                      </a:rPr>
                      <m:t>9</m:t>
                    </m:r>
                    <m:r>
                      <a:rPr lang="en-US" altLang="zh-CN" i="1" dirty="0" smtClean="0">
                        <a:latin typeface="Cambria Math" panose="02040503050406030204" pitchFamily="18" charset="0"/>
                      </a:rPr>
                      <m:t>)</m:t>
                    </m:r>
                  </m:oMath>
                </a14:m>
                <a:endParaRPr lang="en-US" altLang="zh-CN" dirty="0"/>
              </a:p>
              <a:p>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𝑜𝑙𝑠</m:t>
                        </m:r>
                      </m:sub>
                    </m:sSub>
                    <m:r>
                      <a:rPr lang="zh-CN" altLang="en-US" i="1" dirty="0" smtClean="0">
                        <a:latin typeface="Cambria Math" panose="02040503050406030204" pitchFamily="18" charset="0"/>
                      </a:rPr>
                      <m:t> −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𝐴𝑇𝑇</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𝑤</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𝐴𝑇𝐶</m:t>
                        </m:r>
                      </m:sub>
                    </m:sSub>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𝐴𝑇𝑇</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r>
                      <a:rPr lang="en-US" altLang="zh-CN" b="0" i="1" dirty="0" smtClean="0">
                        <a:latin typeface="Cambria Math" panose="02040503050406030204" pitchFamily="18" charset="0"/>
                      </a:rPr>
                      <m:t>           </m:t>
                    </m:r>
                    <m:r>
                      <a:rPr lang="en-US" altLang="zh-CN" i="1" dirty="0">
                        <a:latin typeface="Cambria Math" panose="02040503050406030204" pitchFamily="18" charset="0"/>
                      </a:rPr>
                      <m:t>(1</m:t>
                    </m:r>
                    <m:r>
                      <a:rPr lang="en-US" altLang="zh-CN" b="0" i="1" dirty="0" smtClean="0">
                        <a:latin typeface="Cambria Math" panose="02040503050406030204" pitchFamily="18" charset="0"/>
                      </a:rPr>
                      <m:t>0</m:t>
                    </m:r>
                    <m:r>
                      <a:rPr lang="en-US" altLang="zh-CN" i="1" dirty="0" smtClean="0">
                        <a:latin typeface="Cambria Math" panose="02040503050406030204" pitchFamily="18" charset="0"/>
                      </a:rPr>
                      <m:t>)</m:t>
                    </m:r>
                  </m:oMath>
                </a14:m>
                <a:endParaRPr lang="en-US" altLang="zh-CN" dirty="0"/>
              </a:p>
              <a:p>
                <a:r>
                  <a:rPr lang="zh-CN" altLang="en-US" dirty="0"/>
                  <a:t>其中</a:t>
                </a:r>
                <a14:m>
                  <m:oMath xmlns:m="http://schemas.openxmlformats.org/officeDocument/2006/math">
                    <m:r>
                      <a:rPr lang="zh-CN" altLang="en-US" i="1" dirty="0" smtClean="0">
                        <a:latin typeface="Cambria Math" panose="02040503050406030204" pitchFamily="18" charset="0"/>
                      </a:rPr>
                      <m:t>𝛿</m:t>
                    </m:r>
                    <m:r>
                      <a:rPr lang="zh-CN" altLang="en-US" i="1" dirty="0" smtClean="0">
                        <a:latin typeface="Cambria Math" panose="02040503050406030204" pitchFamily="18" charset="0"/>
                      </a:rPr>
                      <m:t> = </m:t>
                    </m:r>
                    <m:r>
                      <a:rPr lang="zh-CN" altLang="en-US" i="1" dirty="0">
                        <a:latin typeface="Cambria Math" panose="02040503050406030204" pitchFamily="18" charset="0"/>
                      </a:rPr>
                      <m:t>𝑝</m:t>
                    </m:r>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𝑤</m:t>
                        </m:r>
                      </m:e>
                      <m:sub>
                        <m:r>
                          <a:rPr lang="en-US" altLang="zh-CN" i="1" dirty="0">
                            <a:latin typeface="Cambria Math" panose="02040503050406030204" pitchFamily="18" charset="0"/>
                          </a:rPr>
                          <m:t>1</m:t>
                        </m:r>
                      </m:sub>
                    </m:sSub>
                  </m:oMath>
                </a14:m>
                <a:r>
                  <a:rPr lang="en-US" altLang="zh-CN" dirty="0"/>
                  <a:t>.</a:t>
                </a:r>
              </a:p>
              <a:p>
                <a:r>
                  <a:rPr lang="zh-CN" altLang="en-US" dirty="0"/>
                  <a:t>他提供了一个</a:t>
                </a:r>
                <a:r>
                  <a:rPr lang="en-US" altLang="zh-CN" dirty="0"/>
                  <a:t>Stata/R </a:t>
                </a:r>
                <a:r>
                  <a:rPr lang="zh-CN" altLang="en-US" dirty="0"/>
                  <a:t>命令：</a:t>
                </a:r>
                <a:r>
                  <a:rPr lang="en-US" altLang="zh-CN" dirty="0" err="1"/>
                  <a:t>hettreatreg</a:t>
                </a:r>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BDA5406A-9861-20B7-14ED-08E774504CBF}"/>
                  </a:ext>
                </a:extLst>
              </p:cNvPr>
              <p:cNvSpPr>
                <a:spLocks noGrp="1" noRot="1" noChangeAspect="1" noMove="1" noResize="1" noEditPoints="1" noAdjustHandles="1" noChangeArrowheads="1" noChangeShapeType="1" noTextEdit="1"/>
              </p:cNvSpPr>
              <p:nvPr>
                <p:ph idx="1"/>
              </p:nvPr>
            </p:nvSpPr>
            <p:spPr>
              <a:xfrm>
                <a:off x="628650" y="1825625"/>
                <a:ext cx="7886700" cy="4530726"/>
              </a:xfrm>
              <a:blipFill>
                <a:blip r:embed="rId2"/>
                <a:stretch>
                  <a:fillRect l="-1391" t="-1344"/>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F24BA39-B843-F149-D2E0-3A85429660D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571CD59-D6ED-A37F-2F05-BC053B5433AD}"/>
              </a:ext>
            </a:extLst>
          </p:cNvPr>
          <p:cNvSpPr>
            <a:spLocks noGrp="1"/>
          </p:cNvSpPr>
          <p:nvPr>
            <p:ph type="sldNum" sz="quarter" idx="12"/>
          </p:nvPr>
        </p:nvSpPr>
        <p:spPr/>
        <p:txBody>
          <a:bodyPr/>
          <a:lstStyle/>
          <a:p>
            <a:fld id="{D41FC515-8169-4A29-AA56-DBE520D5741B}" type="slidenum">
              <a:rPr lang="zh-CN" altLang="en-US" smtClean="0"/>
              <a:t>12</a:t>
            </a:fld>
            <a:endParaRPr lang="zh-CN" altLang="en-US"/>
          </a:p>
        </p:txBody>
      </p:sp>
    </p:spTree>
    <p:extLst>
      <p:ext uri="{BB962C8B-B14F-4D97-AF65-F5344CB8AC3E}">
        <p14:creationId xmlns:p14="http://schemas.microsoft.com/office/powerpoint/2010/main" val="3444411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385829-6ED3-4D57-CF50-081591377223}"/>
              </a:ext>
            </a:extLst>
          </p:cNvPr>
          <p:cNvSpPr>
            <a:spLocks noGrp="1"/>
          </p:cNvSpPr>
          <p:nvPr>
            <p:ph type="title"/>
          </p:nvPr>
        </p:nvSpPr>
        <p:spPr/>
        <p:txBody>
          <a:bodyPr/>
          <a:lstStyle/>
          <a:p>
            <a:r>
              <a:rPr lang="zh-CN" altLang="en-US" dirty="0"/>
              <a:t>回归</a:t>
            </a:r>
          </a:p>
        </p:txBody>
      </p:sp>
      <p:sp>
        <p:nvSpPr>
          <p:cNvPr id="4" name="页脚占位符 3">
            <a:extLst>
              <a:ext uri="{FF2B5EF4-FFF2-40B4-BE49-F238E27FC236}">
                <a16:creationId xmlns:a16="http://schemas.microsoft.com/office/drawing/2014/main" id="{67890E14-562D-BDA4-DDBF-B18BE73D977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027D82D-31B5-1B55-828C-0491E249E730}"/>
              </a:ext>
            </a:extLst>
          </p:cNvPr>
          <p:cNvSpPr>
            <a:spLocks noGrp="1"/>
          </p:cNvSpPr>
          <p:nvPr>
            <p:ph type="sldNum" sz="quarter" idx="12"/>
          </p:nvPr>
        </p:nvSpPr>
        <p:spPr/>
        <p:txBody>
          <a:bodyPr/>
          <a:lstStyle/>
          <a:p>
            <a:fld id="{D41FC515-8169-4A29-AA56-DBE520D5741B}" type="slidenum">
              <a:rPr lang="zh-CN" altLang="en-US" smtClean="0"/>
              <a:t>13</a:t>
            </a:fld>
            <a:endParaRPr lang="zh-CN" altLang="en-US"/>
          </a:p>
        </p:txBody>
      </p:sp>
      <p:pic>
        <p:nvPicPr>
          <p:cNvPr id="7" name="内容占位符 6">
            <a:extLst>
              <a:ext uri="{FF2B5EF4-FFF2-40B4-BE49-F238E27FC236}">
                <a16:creationId xmlns:a16="http://schemas.microsoft.com/office/drawing/2014/main" id="{BBA4956A-FEF5-AF2E-FF31-D7D0B09096BE}"/>
              </a:ext>
            </a:extLst>
          </p:cNvPr>
          <p:cNvPicPr>
            <a:picLocks noGrp="1" noChangeAspect="1"/>
          </p:cNvPicPr>
          <p:nvPr>
            <p:ph idx="1"/>
          </p:nvPr>
        </p:nvPicPr>
        <p:blipFill>
          <a:blip r:embed="rId2"/>
          <a:stretch>
            <a:fillRect/>
          </a:stretch>
        </p:blipFill>
        <p:spPr>
          <a:xfrm>
            <a:off x="1352281" y="1873060"/>
            <a:ext cx="6439437" cy="4256468"/>
          </a:xfrm>
          <a:prstGeom prst="rect">
            <a:avLst/>
          </a:prstGeom>
        </p:spPr>
      </p:pic>
    </p:spTree>
    <p:extLst>
      <p:ext uri="{BB962C8B-B14F-4D97-AF65-F5344CB8AC3E}">
        <p14:creationId xmlns:p14="http://schemas.microsoft.com/office/powerpoint/2010/main" val="3457040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613FD-4072-1D39-5378-2DFE5E0000B7}"/>
              </a:ext>
            </a:extLst>
          </p:cNvPr>
          <p:cNvSpPr>
            <a:spLocks noGrp="1"/>
          </p:cNvSpPr>
          <p:nvPr>
            <p:ph type="title"/>
          </p:nvPr>
        </p:nvSpPr>
        <p:spPr/>
        <p:txBody>
          <a:bodyPr/>
          <a:lstStyle/>
          <a:p>
            <a:r>
              <a:rPr lang="zh-CN" altLang="en-US" dirty="0"/>
              <a:t>回归</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1560F45-CEBA-E12E-394E-767B6E37DB26}"/>
                  </a:ext>
                </a:extLst>
              </p:cNvPr>
              <p:cNvSpPr>
                <a:spLocks noGrp="1"/>
              </p:cNvSpPr>
              <p:nvPr>
                <p:ph idx="1"/>
              </p:nvPr>
            </p:nvSpPr>
            <p:spPr>
              <a:xfrm>
                <a:off x="628650" y="1825624"/>
                <a:ext cx="7886700" cy="4895851"/>
              </a:xfrm>
            </p:spPr>
            <p:txBody>
              <a:bodyPr>
                <a:normAutofit fontScale="47500" lnSpcReduction="20000"/>
              </a:bodyPr>
              <a:lstStyle/>
              <a:p>
                <a:pPr>
                  <a:lnSpc>
                    <a:spcPct val="120000"/>
                  </a:lnSpc>
                </a:pPr>
                <a:r>
                  <a:rPr lang="zh-CN" altLang="en-US" dirty="0"/>
                  <a:t>更一般地，注意到</a:t>
                </a:r>
                <a:r>
                  <a:rPr lang="en-US" altLang="zh-CN" dirty="0"/>
                  <a:t>(3) </a:t>
                </a:r>
                <a:r>
                  <a:rPr lang="zh-CN" altLang="en-US" dirty="0"/>
                  <a:t>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𝑋</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𝑌</m:t>
                    </m:r>
                    <m:r>
                      <a:rPr lang="zh-CN" altLang="en-US" i="1" dirty="0">
                        <a:latin typeface="Cambria Math" panose="02040503050406030204" pitchFamily="18" charset="0"/>
                      </a:rPr>
                      <m:t> |</m:t>
                    </m:r>
                    <m:r>
                      <a:rPr lang="zh-CN" altLang="en-US" i="1" dirty="0">
                        <a:latin typeface="Cambria Math" panose="02040503050406030204" pitchFamily="18" charset="0"/>
                      </a:rPr>
                      <m:t>𝑋</m:t>
                    </m:r>
                    <m:r>
                      <a:rPr lang="en-US" altLang="zh-CN" i="1" dirty="0">
                        <a:latin typeface="Cambria Math" panose="02040503050406030204" pitchFamily="18" charset="0"/>
                      </a:rPr>
                      <m:t>, </m:t>
                    </m:r>
                    <m:r>
                      <a:rPr lang="zh-CN" altLang="en-US" i="1" dirty="0">
                        <a:latin typeface="Cambria Math" panose="02040503050406030204" pitchFamily="18" charset="0"/>
                      </a:rPr>
                      <m:t>𝐷</m:t>
                    </m:r>
                    <m:r>
                      <a:rPr lang="zh-CN" altLang="en-US" i="1" dirty="0">
                        <a:latin typeface="Cambria Math" panose="02040503050406030204" pitchFamily="18" charset="0"/>
                      </a:rPr>
                      <m:t> = 1] −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𝑌</m:t>
                    </m:r>
                    <m:r>
                      <a:rPr lang="zh-CN" altLang="en-US" i="1" dirty="0">
                        <a:latin typeface="Cambria Math" panose="02040503050406030204" pitchFamily="18" charset="0"/>
                      </a:rPr>
                      <m:t> |</m:t>
                    </m:r>
                    <m:r>
                      <a:rPr lang="zh-CN" altLang="en-US" i="1" dirty="0">
                        <a:latin typeface="Cambria Math" panose="02040503050406030204" pitchFamily="18" charset="0"/>
                      </a:rPr>
                      <m:t>𝑋</m:t>
                    </m:r>
                    <m:r>
                      <a:rPr lang="en-US" altLang="zh-CN" i="1" dirty="0">
                        <a:latin typeface="Cambria Math" panose="02040503050406030204" pitchFamily="18" charset="0"/>
                      </a:rPr>
                      <m:t>, </m:t>
                    </m:r>
                    <m:r>
                      <a:rPr lang="zh-CN" altLang="en-US" i="1" dirty="0">
                        <a:latin typeface="Cambria Math" panose="02040503050406030204" pitchFamily="18" charset="0"/>
                      </a:rPr>
                      <m:t>𝐷</m:t>
                    </m:r>
                    <m:r>
                      <a:rPr lang="zh-CN" altLang="en-US" i="1" dirty="0">
                        <a:latin typeface="Cambria Math" panose="02040503050406030204" pitchFamily="18" charset="0"/>
                      </a:rPr>
                      <m:t> = 0]</m:t>
                    </m:r>
                  </m:oMath>
                </a14:m>
                <a:r>
                  <a:rPr lang="zh-CN" altLang="en-US" dirty="0"/>
                  <a:t>，因而，可以用一般的方法（包括机器学习方法）去估计两个条件期望，记估计量分别为 </a:t>
                </a:r>
                <a14:m>
                  <m:oMath xmlns:m="http://schemas.openxmlformats.org/officeDocument/2006/math">
                    <m:acc>
                      <m:accPr>
                        <m:chr m:val="̂"/>
                        <m:ctrlPr>
                          <a:rPr lang="zh-CN" altLang="en-US" i="1" dirty="0" smtClean="0">
                            <a:latin typeface="Cambria Math" panose="02040503050406030204" pitchFamily="18" charset="0"/>
                          </a:rPr>
                        </m:ctrlPr>
                      </m:accPr>
                      <m:e>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𝜇</m:t>
                            </m:r>
                          </m:e>
                          <m:sub>
                            <m:r>
                              <a:rPr lang="en-US" altLang="zh-CN" i="1" dirty="0">
                                <a:latin typeface="Cambria Math" panose="02040503050406030204" pitchFamily="18" charset="0"/>
                              </a:rPr>
                              <m:t>1</m:t>
                            </m:r>
                          </m:sub>
                        </m:sSub>
                      </m:e>
                    </m:acc>
                    <m:r>
                      <a:rPr lang="zh-CN" altLang="en-US" i="1" dirty="0">
                        <a:latin typeface="Cambria Math" panose="02040503050406030204" pitchFamily="18" charset="0"/>
                      </a:rPr>
                      <m:t> </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oMath>
                </a14:m>
                <a:r>
                  <a:rPr lang="zh-CN" altLang="en-US" dirty="0"/>
                  <a:t>和</a:t>
                </a:r>
                <a14:m>
                  <m:oMath xmlns:m="http://schemas.openxmlformats.org/officeDocument/2006/math">
                    <m:acc>
                      <m:accPr>
                        <m:chr m:val="̂"/>
                        <m:ctrlPr>
                          <a:rPr lang="zh-CN" altLang="en-US" i="1" dirty="0" smtClean="0">
                            <a:latin typeface="Cambria Math" panose="02040503050406030204" pitchFamily="18" charset="0"/>
                          </a:rPr>
                        </m:ctrlPr>
                      </m:accPr>
                      <m:e>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𝜇</m:t>
                            </m:r>
                          </m:e>
                          <m:sub>
                            <m:r>
                              <a:rPr lang="en-US" altLang="zh-CN" i="1" dirty="0">
                                <a:latin typeface="Cambria Math" panose="02040503050406030204" pitchFamily="18" charset="0"/>
                              </a:rPr>
                              <m:t>0</m:t>
                            </m:r>
                          </m:sub>
                        </m:sSub>
                      </m:e>
                    </m:acc>
                    <m:r>
                      <a:rPr lang="zh-CN" altLang="en-US" i="1" dirty="0">
                        <a:latin typeface="Cambria Math" panose="02040503050406030204" pitchFamily="18" charset="0"/>
                      </a:rPr>
                      <m:t> </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oMath>
                </a14:m>
                <a:r>
                  <a:rPr lang="zh-CN" altLang="en-US" dirty="0"/>
                  <a:t>，则</a:t>
                </a:r>
                <a:endParaRPr lang="en-US" altLang="zh-CN" dirty="0"/>
              </a:p>
              <a:p>
                <a:pPr marL="0" indent="0">
                  <a:lnSpc>
                    <a:spcPct val="120000"/>
                  </a:lnSpc>
                  <a:buNone/>
                </a:pPr>
                <a14:m>
                  <m:oMathPara xmlns:m="http://schemas.openxmlformats.org/officeDocument/2006/math">
                    <m:oMath>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𝜏</m:t>
                          </m:r>
                        </m:e>
                      </m:acc>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 </m:t>
                      </m:r>
                      <m:acc>
                        <m:accPr>
                          <m:chr m:val="̂"/>
                          <m:ctrlPr>
                            <a:rPr lang="zh-CN" altLang="en-US" i="1" dirty="0">
                              <a:latin typeface="Cambria Math" panose="02040503050406030204" pitchFamily="18" charset="0"/>
                            </a:rPr>
                          </m:ctrlPr>
                        </m:acc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1</m:t>
                              </m:r>
                            </m:sub>
                          </m:sSub>
                        </m:e>
                      </m:acc>
                      <m:r>
                        <a:rPr lang="zh-CN" altLang="en-US" i="1" dirty="0">
                          <a:latin typeface="Cambria Math" panose="02040503050406030204" pitchFamily="18" charset="0"/>
                        </a:rPr>
                        <m:t> </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 </m:t>
                      </m:r>
                      <m:acc>
                        <m:accPr>
                          <m:chr m:val="̂"/>
                          <m:ctrlPr>
                            <a:rPr lang="zh-CN" altLang="en-US" i="1" dirty="0">
                              <a:latin typeface="Cambria Math" panose="02040503050406030204" pitchFamily="18" charset="0"/>
                            </a:rPr>
                          </m:ctrlPr>
                        </m:acc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0</m:t>
                              </m:r>
                            </m:sub>
                          </m:sSub>
                        </m:e>
                      </m:acc>
                      <m:r>
                        <a:rPr lang="zh-CN" altLang="en-US" i="1" dirty="0">
                          <a:latin typeface="Cambria Math" panose="02040503050406030204" pitchFamily="18" charset="0"/>
                        </a:rPr>
                        <m:t> </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oMath>
                  </m:oMathPara>
                </a14:m>
                <a:endParaRPr lang="en-US" altLang="zh-CN" dirty="0"/>
              </a:p>
              <a:p>
                <a:pPr>
                  <a:lnSpc>
                    <a:spcPct val="120000"/>
                  </a:lnSpc>
                </a:pPr>
                <a:r>
                  <a:rPr lang="en-US" altLang="zh-CN" dirty="0"/>
                  <a:t>ATE </a:t>
                </a:r>
                <a:r>
                  <a:rPr lang="zh-CN" altLang="en-US" dirty="0"/>
                  <a:t>的估计量为</a:t>
                </a:r>
                <a:endParaRPr lang="en-US" altLang="zh-CN" dirty="0"/>
              </a:p>
              <a:p>
                <a:pPr marL="0" indent="0">
                  <a:lnSpc>
                    <a:spcPct val="120000"/>
                  </a:lnSpc>
                  <a:buNone/>
                </a:pPr>
                <a14:m>
                  <m:oMathPara xmlns:m="http://schemas.openxmlformats.org/officeDocument/2006/math">
                    <m:o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𝑛</m:t>
                          </m:r>
                        </m:den>
                      </m:f>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𝑛</m:t>
                          </m:r>
                        </m:sup>
                        <m:e>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𝜇</m:t>
                                  </m:r>
                                </m:e>
                              </m:acc>
                            </m:e>
                            <m:sub>
                              <m:r>
                                <a:rPr lang="en-US" altLang="zh-CN" b="0" i="1" dirty="0" smtClean="0">
                                  <a:latin typeface="Cambria Math" panose="02040503050406030204" pitchFamily="18" charset="0"/>
                                </a:rPr>
                                <m:t>1</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𝑋</m:t>
                              </m:r>
                            </m:e>
                          </m:d>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𝜇</m:t>
                                  </m:r>
                                </m:e>
                              </m:acc>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e>
                      </m:nary>
                      <m:r>
                        <a:rPr lang="en-US" altLang="zh-CN" b="0" i="1" dirty="0" smtClean="0">
                          <a:latin typeface="Cambria Math" panose="02040503050406030204" pitchFamily="18" charset="0"/>
                        </a:rPr>
                        <m:t>.</m:t>
                      </m:r>
                    </m:oMath>
                  </m:oMathPara>
                </a14:m>
                <a:endParaRPr lang="en-US" altLang="zh-CN" b="0" dirty="0"/>
              </a:p>
              <a:p>
                <a:pPr>
                  <a:lnSpc>
                    <a:spcPct val="120000"/>
                  </a:lnSpc>
                </a:pPr>
                <a:r>
                  <a:rPr lang="zh-CN" altLang="en-US" dirty="0"/>
                  <a:t>称为结果填补方法</a:t>
                </a:r>
                <a:r>
                  <a:rPr lang="en-US" altLang="zh-CN" dirty="0"/>
                  <a:t>(outcome imputation estimator)</a:t>
                </a:r>
                <a:r>
                  <a:rPr lang="zh-CN" altLang="en-US" dirty="0"/>
                  <a:t>，等价于</a:t>
                </a:r>
                <a:endParaRPr lang="en-US" altLang="zh-CN" dirty="0"/>
              </a:p>
              <a:p>
                <a:pPr>
                  <a:lnSpc>
                    <a:spcPct val="120000"/>
                  </a:lnSpc>
                </a:pP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𝑌</m:t>
                        </m:r>
                      </m:e>
                    </m:acc>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m:t>
                        </m:r>
                      </m:e>
                    </m:d>
                    <m:r>
                      <a:rPr lang="en-US" altLang="zh-CN" b="0" i="1" dirty="0" smtClean="0">
                        <a:latin typeface="Cambria Math" panose="02040503050406030204" pitchFamily="18" charset="0"/>
                      </a:rPr>
                      <m:t>=</m:t>
                    </m:r>
                    <m:d>
                      <m:dPr>
                        <m:begChr m:val="{"/>
                        <m:endChr m:val=""/>
                        <m:ctrlPr>
                          <a:rPr lang="zh-CN" altLang="en-US" b="0" i="1" dirty="0" smtClean="0">
                            <a:latin typeface="Cambria Math" panose="02040503050406030204" pitchFamily="18" charset="0"/>
                          </a:rPr>
                        </m:ctrlPr>
                      </m:dPr>
                      <m:e>
                        <m:eqArr>
                          <m:eqArrPr>
                            <m:ctrlPr>
                              <a:rPr lang="zh-CN" altLang="en-US" b="0" i="1" dirty="0" smtClean="0">
                                <a:latin typeface="Cambria Math" panose="02040503050406030204" pitchFamily="18" charset="0"/>
                              </a:rPr>
                            </m:ctrlPr>
                          </m:eqArrPr>
                          <m:e>
                            <m:m>
                              <m:mPr>
                                <m:mcs>
                                  <m:mc>
                                    <m:mcPr>
                                      <m:count m:val="2"/>
                                      <m:mcJc m:val="center"/>
                                    </m:mcPr>
                                  </m:mc>
                                </m:mcs>
                                <m:ctrlPr>
                                  <a:rPr lang="zh-CN" altLang="en-US" b="0" i="1" dirty="0" smtClean="0">
                                    <a:latin typeface="Cambria Math" panose="02040503050406030204" pitchFamily="18" charset="0"/>
                                  </a:rPr>
                                </m:ctrlPr>
                              </m:mPr>
                              <m:mr>
                                <m:e>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𝑌</m:t>
                                      </m:r>
                                    </m:e>
                                    <m:sub>
                                      <m:r>
                                        <m:rPr>
                                          <m:brk m:alnAt="7"/>
                                        </m:rPr>
                                        <a:rPr lang="en-US" altLang="zh-CN" b="0" i="1" dirty="0" smtClean="0">
                                          <a:latin typeface="Cambria Math" panose="02040503050406030204" pitchFamily="18" charset="0"/>
                                        </a:rPr>
                                        <m:t>𝑖</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sub>
                                  </m:sSub>
                                </m:e>
                                <m:e>
                                  <m:r>
                                    <a:rPr lang="zh-CN" altLang="en-US" i="1" dirty="0">
                                      <a:latin typeface="Cambria Math" panose="02040503050406030204" pitchFamily="18" charset="0"/>
                                    </a:rPr>
                                    <m:t>如果</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=0</m:t>
                                  </m:r>
                                </m:e>
                              </m:mr>
                            </m:m>
                          </m:e>
                          <m:e>
                            <m:m>
                              <m:mPr>
                                <m:mcs>
                                  <m:mc>
                                    <m:mcPr>
                                      <m:count m:val="2"/>
                                      <m:mcJc m:val="center"/>
                                    </m:mcPr>
                                  </m:mc>
                                </m:mcs>
                                <m:ctrlPr>
                                  <a:rPr lang="zh-CN" altLang="en-US" b="0" i="1" dirty="0" smtClean="0">
                                    <a:latin typeface="Cambria Math" panose="02040503050406030204" pitchFamily="18" charset="0"/>
                                  </a:rPr>
                                </m:ctrlPr>
                              </m:mPr>
                              <m:m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𝜇</m:t>
                                          </m:r>
                                        </m:e>
                                      </m:acc>
                                    </m:e>
                                    <m:sub>
                                      <m:r>
                                        <a:rPr lang="en-US" altLang="zh-CN" b="0" i="1" dirty="0" smtClean="0">
                                          <a:latin typeface="Cambria Math" panose="02040503050406030204" pitchFamily="18" charset="0"/>
                                        </a:rPr>
                                        <m:t>0</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e>
                                <m:e>
                                  <m:r>
                                    <a:rPr lang="zh-CN" altLang="en-US" i="1" dirty="0">
                                      <a:latin typeface="Cambria Math" panose="02040503050406030204" pitchFamily="18" charset="0"/>
                                    </a:rPr>
                                    <m:t>如果</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=1</m:t>
                                  </m:r>
                                </m:e>
                              </m:mr>
                            </m:m>
                          </m:e>
                        </m:eqArr>
                      </m:e>
                    </m:d>
                    <m:r>
                      <a:rPr lang="en-US" altLang="zh-CN" b="0" i="1" dirty="0" smtClean="0">
                        <a:latin typeface="Cambria Math" panose="02040503050406030204" pitchFamily="18" charset="0"/>
                      </a:rPr>
                      <m:t>, </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1</m:t>
                        </m:r>
                      </m:e>
                    </m:d>
                    <m:r>
                      <a:rPr lang="en-US" altLang="zh-CN" b="0" i="1" dirty="0" smtClean="0">
                        <a:latin typeface="Cambria Math" panose="02040503050406030204" pitchFamily="18" charset="0"/>
                      </a:rPr>
                      <m:t>=</m:t>
                    </m:r>
                    <m:d>
                      <m:dPr>
                        <m:begChr m:val="{"/>
                        <m:endChr m:val=""/>
                        <m:ctrlPr>
                          <a:rPr lang="zh-CN" altLang="en-US" b="0" i="1" dirty="0" smtClean="0">
                            <a:latin typeface="Cambria Math" panose="02040503050406030204" pitchFamily="18" charset="0"/>
                          </a:rPr>
                        </m:ctrlPr>
                      </m:dPr>
                      <m:e>
                        <m:eqArr>
                          <m:eqArrPr>
                            <m:ctrlPr>
                              <a:rPr lang="zh-CN" altLang="en-US" b="0" i="1" dirty="0" smtClean="0">
                                <a:latin typeface="Cambria Math" panose="02040503050406030204" pitchFamily="18" charset="0"/>
                              </a:rPr>
                            </m:ctrlPr>
                          </m:eqArrPr>
                          <m:e>
                            <m:m>
                              <m:mPr>
                                <m:mcs>
                                  <m:mc>
                                    <m:mcPr>
                                      <m:count m:val="2"/>
                                      <m:mcJc m:val="center"/>
                                    </m:mcPr>
                                  </m:mc>
                                </m:mcs>
                                <m:ctrlPr>
                                  <a:rPr lang="zh-CN" altLang="en-US" b="0" i="1" dirty="0" smtClean="0">
                                    <a:latin typeface="Cambria Math" panose="02040503050406030204" pitchFamily="18" charset="0"/>
                                  </a:rPr>
                                </m:ctrlPr>
                              </m:mPr>
                              <m:mr>
                                <m:e>
                                  <m:acc>
                                    <m:accPr>
                                      <m:chr m:val="̂"/>
                                      <m:ctrlPr>
                                        <a:rPr lang="en-US" altLang="zh-CN" b="0" i="1" dirty="0" smtClean="0">
                                          <a:latin typeface="Cambria Math" panose="02040503050406030204" pitchFamily="18" charset="0"/>
                                        </a:rPr>
                                      </m:ctrlPr>
                                    </m:acc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𝜇</m:t>
                                          </m:r>
                                        </m:e>
                                        <m:sub>
                                          <m:r>
                                            <a:rPr lang="en-US" altLang="zh-CN" b="0" i="1" dirty="0" smtClean="0">
                                              <a:latin typeface="Cambria Math" panose="02040503050406030204" pitchFamily="18" charset="0"/>
                                            </a:rPr>
                                            <m:t>1</m:t>
                                          </m:r>
                                        </m:sub>
                                      </m:sSub>
                                    </m:e>
                                  </m:acc>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e>
                                <m:e>
                                  <m:r>
                                    <a:rPr lang="zh-CN" altLang="en-US" i="1" dirty="0">
                                      <a:latin typeface="Cambria Math" panose="02040503050406030204" pitchFamily="18" charset="0"/>
                                    </a:rPr>
                                    <m:t>如果</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=0</m:t>
                                  </m:r>
                                </m:e>
                              </m:mr>
                            </m:m>
                          </m:e>
                          <m:e>
                            <m:m>
                              <m:mPr>
                                <m:mcs>
                                  <m:mc>
                                    <m:mcPr>
                                      <m:count m:val="2"/>
                                      <m:mcJc m:val="center"/>
                                    </m:mcPr>
                                  </m:mc>
                                </m:mcs>
                                <m:ctrlPr>
                                  <a:rPr lang="zh-CN" altLang="en-US" b="0" i="1" dirty="0" smtClean="0">
                                    <a:latin typeface="Cambria Math" panose="02040503050406030204" pitchFamily="18" charset="0"/>
                                  </a:rPr>
                                </m:ctrlPr>
                              </m:mPr>
                              <m:mr>
                                <m:e>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𝑌</m:t>
                                      </m:r>
                                    </m:e>
                                    <m:sub>
                                      <m:r>
                                        <m:rPr>
                                          <m:brk m:alnAt="7"/>
                                        </m:rP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         </m:t>
                                  </m:r>
                                </m:e>
                                <m:e>
                                  <m:r>
                                    <a:rPr lang="zh-CN" altLang="en-US" i="1" dirty="0">
                                      <a:latin typeface="Cambria Math" panose="02040503050406030204" pitchFamily="18" charset="0"/>
                                    </a:rPr>
                                    <m:t>如果</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=1</m:t>
                                  </m:r>
                                </m:e>
                              </m:mr>
                            </m:m>
                          </m:e>
                        </m:eqArr>
                      </m:e>
                    </m:d>
                  </m:oMath>
                </a14:m>
                <a:endParaRPr lang="en-US" altLang="zh-CN" dirty="0"/>
              </a:p>
              <a:p>
                <a:pPr>
                  <a:lnSpc>
                    <a:spcPct val="120000"/>
                  </a:lnSpc>
                </a:pPr>
                <a:r>
                  <a:rPr lang="zh-CN" altLang="en-US" dirty="0"/>
                  <a:t>或者写为</a:t>
                </a:r>
                <a:endParaRPr lang="en-US" altLang="zh-CN" dirty="0"/>
              </a:p>
              <a:p>
                <a:pPr>
                  <a:lnSpc>
                    <a:spcPct val="120000"/>
                  </a:lnSpc>
                </a:pPr>
                <a14:m>
                  <m:oMath xmlns:m="http://schemas.openxmlformats.org/officeDocument/2006/math">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𝑌</m:t>
                        </m:r>
                      </m:e>
                    </m:acc>
                    <m:r>
                      <a:rPr lang="en-US" altLang="zh-CN" i="1" dirty="0">
                        <a:latin typeface="Cambria Math" panose="02040503050406030204" pitchFamily="18" charset="0"/>
                      </a:rPr>
                      <m:t>(0)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acc>
                      <m:accPr>
                        <m:chr m:val="̂"/>
                        <m:ctrlPr>
                          <a:rPr lang="zh-CN" altLang="en-US" i="1" dirty="0">
                            <a:latin typeface="Cambria Math" panose="02040503050406030204" pitchFamily="18" charset="0"/>
                          </a:rPr>
                        </m:ctrlPr>
                      </m:acc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0</m:t>
                            </m:r>
                          </m:sub>
                        </m:sSub>
                      </m:e>
                    </m:acc>
                    <m:r>
                      <a:rPr lang="zh-CN" altLang="en-US" i="1" dirty="0">
                        <a:latin typeface="Cambria Math" panose="02040503050406030204" pitchFamily="18" charset="0"/>
                      </a:rPr>
                      <m:t> </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1 −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e>
                    </m:d>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𝑌</m:t>
                        </m:r>
                      </m:e>
                    </m:acc>
                    <m:r>
                      <a:rPr lang="en-US" altLang="zh-CN" i="1" dirty="0">
                        <a:latin typeface="Cambria Math" panose="02040503050406030204" pitchFamily="18" charset="0"/>
                      </a:rPr>
                      <m:t>(1)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1 −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e>
                    </m:d>
                    <m:acc>
                      <m:accPr>
                        <m:chr m:val="̂"/>
                        <m:ctrlPr>
                          <a:rPr lang="zh-CN" altLang="en-US" i="1" dirty="0">
                            <a:latin typeface="Cambria Math" panose="02040503050406030204" pitchFamily="18" charset="0"/>
                          </a:rPr>
                        </m:ctrlPr>
                      </m:acc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zh-CN" altLang="en-US" i="1" dirty="0">
                                <a:latin typeface="Cambria Math" panose="02040503050406030204" pitchFamily="18" charset="0"/>
                              </a:rPr>
                              <m:t>𝑖</m:t>
                            </m:r>
                          </m:sub>
                        </m:sSub>
                      </m:e>
                    </m:acc>
                    <m:r>
                      <a:rPr lang="zh-CN" altLang="en-US" i="1" dirty="0">
                        <a:latin typeface="Cambria Math" panose="02040503050406030204" pitchFamily="18" charset="0"/>
                      </a:rPr>
                      <m:t> </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oMath>
                </a14:m>
                <a:endParaRPr lang="en-US" altLang="zh-CN" dirty="0"/>
              </a:p>
              <a:p>
                <a:pPr>
                  <a:lnSpc>
                    <a:spcPct val="120000"/>
                  </a:lnSpc>
                </a:pPr>
                <a:r>
                  <a:rPr lang="zh-CN" altLang="en-US" dirty="0"/>
                  <a:t>估计量</a:t>
                </a:r>
                <a:endParaRPr lang="en-US" altLang="zh-CN" dirty="0"/>
              </a:p>
              <a:p>
                <a:pPr>
                  <a:lnSpc>
                    <a:spcPct val="120000"/>
                  </a:lnSpc>
                </a:pP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𝑛</m:t>
                        </m:r>
                      </m:den>
                    </m:f>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𝑛</m:t>
                        </m:r>
                      </m:sup>
                      <m:e>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1</m:t>
                                </m:r>
                              </m:e>
                            </m:d>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m:t>
                                </m:r>
                              </m:e>
                            </m:d>
                          </m:e>
                        </m:d>
                        <m:r>
                          <a:rPr lang="en-US" altLang="zh-CN" b="0" i="1" dirty="0" smtClean="0">
                            <a:latin typeface="Cambria Math" panose="02040503050406030204" pitchFamily="18" charset="0"/>
                          </a:rPr>
                          <m:t>.</m:t>
                        </m:r>
                      </m:e>
                    </m:nary>
                  </m:oMath>
                </a14:m>
                <a:endParaRPr lang="en-US" altLang="zh-CN" dirty="0"/>
              </a:p>
              <a:p>
                <a:pPr>
                  <a:lnSpc>
                    <a:spcPct val="120000"/>
                  </a:lnSpc>
                </a:pPr>
                <a:r>
                  <a:rPr lang="zh-CN" altLang="en-US" dirty="0"/>
                  <a:t>如果设定两个条件期望为线性模型，则上述填补估计量等价于回归估计量。</a:t>
                </a:r>
              </a:p>
            </p:txBody>
          </p:sp>
        </mc:Choice>
        <mc:Fallback xmlns="">
          <p:sp>
            <p:nvSpPr>
              <p:cNvPr id="3" name="内容占位符 2">
                <a:extLst>
                  <a:ext uri="{FF2B5EF4-FFF2-40B4-BE49-F238E27FC236}">
                    <a16:creationId xmlns:a16="http://schemas.microsoft.com/office/drawing/2014/main" id="{41560F45-CEBA-E12E-394E-767B6E37DB26}"/>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t="-124"/>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4B101F0-F4FE-BEE4-4DF9-509CC69F51F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8AB987D-FF09-AEC1-BE9D-9EC2418A9EE5}"/>
              </a:ext>
            </a:extLst>
          </p:cNvPr>
          <p:cNvSpPr>
            <a:spLocks noGrp="1"/>
          </p:cNvSpPr>
          <p:nvPr>
            <p:ph type="sldNum" sz="quarter" idx="12"/>
          </p:nvPr>
        </p:nvSpPr>
        <p:spPr/>
        <p:txBody>
          <a:bodyPr/>
          <a:lstStyle/>
          <a:p>
            <a:fld id="{D41FC515-8169-4A29-AA56-DBE520D5741B}" type="slidenum">
              <a:rPr lang="zh-CN" altLang="en-US" smtClean="0"/>
              <a:t>14</a:t>
            </a:fld>
            <a:endParaRPr lang="zh-CN" altLang="en-US"/>
          </a:p>
        </p:txBody>
      </p:sp>
    </p:spTree>
    <p:extLst>
      <p:ext uri="{BB962C8B-B14F-4D97-AF65-F5344CB8AC3E}">
        <p14:creationId xmlns:p14="http://schemas.microsoft.com/office/powerpoint/2010/main" val="67226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89121D-9524-BD05-0D1C-3F427AD89933}"/>
              </a:ext>
            </a:extLst>
          </p:cNvPr>
          <p:cNvSpPr>
            <a:spLocks noGrp="1"/>
          </p:cNvSpPr>
          <p:nvPr>
            <p:ph type="title"/>
          </p:nvPr>
        </p:nvSpPr>
        <p:spPr/>
        <p:txBody>
          <a:bodyPr/>
          <a:lstStyle/>
          <a:p>
            <a:r>
              <a:rPr lang="zh-CN" altLang="en-US" dirty="0"/>
              <a:t>回归</a:t>
            </a:r>
          </a:p>
        </p:txBody>
      </p:sp>
      <p:sp>
        <p:nvSpPr>
          <p:cNvPr id="3" name="内容占位符 2">
            <a:extLst>
              <a:ext uri="{FF2B5EF4-FFF2-40B4-BE49-F238E27FC236}">
                <a16:creationId xmlns:a16="http://schemas.microsoft.com/office/drawing/2014/main" id="{D30526EB-A815-5DF5-9B8B-B48D79CF8DE3}"/>
              </a:ext>
            </a:extLst>
          </p:cNvPr>
          <p:cNvSpPr>
            <a:spLocks noGrp="1"/>
          </p:cNvSpPr>
          <p:nvPr>
            <p:ph idx="1"/>
          </p:nvPr>
        </p:nvSpPr>
        <p:spPr>
          <a:xfrm>
            <a:off x="628650" y="4331368"/>
            <a:ext cx="7886700" cy="1845594"/>
          </a:xfrm>
        </p:spPr>
        <p:txBody>
          <a:bodyPr>
            <a:normAutofit fontScale="77500" lnSpcReduction="20000"/>
          </a:bodyPr>
          <a:lstStyle/>
          <a:p>
            <a:pPr>
              <a:lnSpc>
                <a:spcPct val="120000"/>
              </a:lnSpc>
            </a:pPr>
            <a:r>
              <a:rPr lang="zh-CN" altLang="en-US" dirty="0"/>
              <a:t>回归估计量依赖于外推</a:t>
            </a:r>
            <a:r>
              <a:rPr lang="en-US" altLang="zh-CN" dirty="0"/>
              <a:t>(extrapolation)(</a:t>
            </a:r>
            <a:r>
              <a:rPr lang="en-US" altLang="zh-CN" dirty="0" err="1"/>
              <a:t>Imbens</a:t>
            </a:r>
            <a:r>
              <a:rPr lang="en-US" altLang="zh-CN" dirty="0"/>
              <a:t>, 2004)</a:t>
            </a:r>
            <a:r>
              <a:rPr lang="zh-CN" altLang="en-US" dirty="0"/>
              <a:t>，从其他观测点借取信息</a:t>
            </a:r>
            <a:r>
              <a:rPr lang="en-US" altLang="zh-CN" dirty="0"/>
              <a:t>(Hernán and Robins, 2020)</a:t>
            </a:r>
            <a:r>
              <a:rPr lang="zh-CN" altLang="en-US" dirty="0"/>
              <a:t>。</a:t>
            </a:r>
            <a:endParaRPr lang="en-US" altLang="zh-CN" dirty="0"/>
          </a:p>
          <a:p>
            <a:pPr>
              <a:lnSpc>
                <a:spcPct val="120000"/>
              </a:lnSpc>
            </a:pPr>
            <a:r>
              <a:rPr lang="zh-CN" altLang="en-US" dirty="0"/>
              <a:t>非参数回归：满足公共区间部分可以估计，机器学习方法。</a:t>
            </a:r>
            <a:endParaRPr lang="en-US" altLang="zh-CN" dirty="0"/>
          </a:p>
          <a:p>
            <a:pPr>
              <a:lnSpc>
                <a:spcPct val="120000"/>
              </a:lnSpc>
            </a:pPr>
            <a:r>
              <a:rPr lang="en-US" altLang="zh-CN" dirty="0"/>
              <a:t>Stata: </a:t>
            </a:r>
            <a:r>
              <a:rPr lang="en-US" altLang="zh-CN" dirty="0" err="1"/>
              <a:t>teffects</a:t>
            </a:r>
            <a:r>
              <a:rPr lang="en-US" altLang="zh-CN" dirty="0"/>
              <a:t> </a:t>
            </a:r>
            <a:r>
              <a:rPr lang="en-US" altLang="zh-CN" dirty="0" err="1"/>
              <a:t>ra</a:t>
            </a:r>
            <a:endParaRPr lang="zh-CN" altLang="en-US" dirty="0"/>
          </a:p>
        </p:txBody>
      </p:sp>
      <p:sp>
        <p:nvSpPr>
          <p:cNvPr id="4" name="页脚占位符 3">
            <a:extLst>
              <a:ext uri="{FF2B5EF4-FFF2-40B4-BE49-F238E27FC236}">
                <a16:creationId xmlns:a16="http://schemas.microsoft.com/office/drawing/2014/main" id="{D4AD105D-05B3-C6B0-9B1F-7821173E6D7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8CFFA84-A66A-C057-A6D8-A15EFA077299}"/>
              </a:ext>
            </a:extLst>
          </p:cNvPr>
          <p:cNvSpPr>
            <a:spLocks noGrp="1"/>
          </p:cNvSpPr>
          <p:nvPr>
            <p:ph type="sldNum" sz="quarter" idx="12"/>
          </p:nvPr>
        </p:nvSpPr>
        <p:spPr/>
        <p:txBody>
          <a:bodyPr/>
          <a:lstStyle/>
          <a:p>
            <a:fld id="{D41FC515-8169-4A29-AA56-DBE520D5741B}" type="slidenum">
              <a:rPr lang="zh-CN" altLang="en-US" smtClean="0"/>
              <a:t>15</a:t>
            </a:fld>
            <a:endParaRPr lang="zh-CN" altLang="en-US"/>
          </a:p>
        </p:txBody>
      </p:sp>
      <p:pic>
        <p:nvPicPr>
          <p:cNvPr id="7" name="图片 6">
            <a:extLst>
              <a:ext uri="{FF2B5EF4-FFF2-40B4-BE49-F238E27FC236}">
                <a16:creationId xmlns:a16="http://schemas.microsoft.com/office/drawing/2014/main" id="{C4560FDC-A9D6-EF41-3E6F-17D064DD7525}"/>
              </a:ext>
            </a:extLst>
          </p:cNvPr>
          <p:cNvPicPr>
            <a:picLocks noChangeAspect="1"/>
          </p:cNvPicPr>
          <p:nvPr/>
        </p:nvPicPr>
        <p:blipFill>
          <a:blip r:embed="rId2"/>
          <a:stretch>
            <a:fillRect/>
          </a:stretch>
        </p:blipFill>
        <p:spPr>
          <a:xfrm>
            <a:off x="1388037" y="1646237"/>
            <a:ext cx="3183963" cy="2282231"/>
          </a:xfrm>
          <a:prstGeom prst="rect">
            <a:avLst/>
          </a:prstGeom>
        </p:spPr>
      </p:pic>
      <p:pic>
        <p:nvPicPr>
          <p:cNvPr id="9" name="图片 8">
            <a:extLst>
              <a:ext uri="{FF2B5EF4-FFF2-40B4-BE49-F238E27FC236}">
                <a16:creationId xmlns:a16="http://schemas.microsoft.com/office/drawing/2014/main" id="{9CAE0823-F23C-03FE-83A1-DF359A21E4F7}"/>
              </a:ext>
            </a:extLst>
          </p:cNvPr>
          <p:cNvPicPr>
            <a:picLocks noChangeAspect="1"/>
          </p:cNvPicPr>
          <p:nvPr/>
        </p:nvPicPr>
        <p:blipFill>
          <a:blip r:embed="rId3"/>
          <a:stretch>
            <a:fillRect/>
          </a:stretch>
        </p:blipFill>
        <p:spPr>
          <a:xfrm>
            <a:off x="4865968" y="1622963"/>
            <a:ext cx="3183963" cy="2305505"/>
          </a:xfrm>
          <a:prstGeom prst="rect">
            <a:avLst/>
          </a:prstGeom>
        </p:spPr>
      </p:pic>
    </p:spTree>
    <p:extLst>
      <p:ext uri="{BB962C8B-B14F-4D97-AF65-F5344CB8AC3E}">
        <p14:creationId xmlns:p14="http://schemas.microsoft.com/office/powerpoint/2010/main" val="2176012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A4836A-0E76-B023-4B03-AD111D44724F}"/>
              </a:ext>
            </a:extLst>
          </p:cNvPr>
          <p:cNvSpPr>
            <a:spLocks noGrp="1"/>
          </p:cNvSpPr>
          <p:nvPr>
            <p:ph type="title"/>
          </p:nvPr>
        </p:nvSpPr>
        <p:spPr/>
        <p:txBody>
          <a:bodyPr/>
          <a:lstStyle/>
          <a:p>
            <a:r>
              <a:rPr lang="zh-CN" altLang="en-US" dirty="0"/>
              <a:t>使用倾向得分</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BD2F24A-AE5F-5739-9730-2EBF95DE8688}"/>
                  </a:ext>
                </a:extLst>
              </p:cNvPr>
              <p:cNvSpPr>
                <a:spLocks noGrp="1"/>
              </p:cNvSpPr>
              <p:nvPr>
                <p:ph idx="1"/>
              </p:nvPr>
            </p:nvSpPr>
            <p:spPr>
              <a:xfrm>
                <a:off x="628650" y="1825624"/>
                <a:ext cx="7886700" cy="4310481"/>
              </a:xfrm>
            </p:spPr>
            <p:txBody>
              <a:bodyPr>
                <a:normAutofit fontScale="55000" lnSpcReduction="20000"/>
              </a:bodyPr>
              <a:lstStyle/>
              <a:p>
                <a:pPr>
                  <a:lnSpc>
                    <a:spcPct val="120000"/>
                  </a:lnSpc>
                </a:pPr>
                <a:r>
                  <a:rPr lang="zh-CN" altLang="en-US" b="1" dirty="0"/>
                  <a:t>定义</a:t>
                </a:r>
                <a:r>
                  <a:rPr lang="en-US" altLang="zh-CN" b="1" dirty="0"/>
                  <a:t>2 (</a:t>
                </a:r>
                <a:r>
                  <a:rPr lang="zh-CN" altLang="en-US" b="1" dirty="0"/>
                  <a:t>倾向得分</a:t>
                </a:r>
                <a:r>
                  <a:rPr lang="en-US" altLang="zh-CN" b="1" dirty="0"/>
                  <a:t>)</a:t>
                </a:r>
                <a:r>
                  <a:rPr lang="zh-CN" altLang="en-US" b="1" dirty="0"/>
                  <a:t>：</a:t>
                </a:r>
                <a:r>
                  <a:rPr lang="zh-CN" altLang="en-US" dirty="0"/>
                  <a:t>倾向得分</a:t>
                </a:r>
                <a:r>
                  <a:rPr lang="en-US" altLang="zh-CN" i="1" dirty="0"/>
                  <a:t>(propensity score) </a:t>
                </a:r>
                <a:r>
                  <a:rPr lang="zh-CN" altLang="en-US" dirty="0"/>
                  <a:t>为</a:t>
                </a:r>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𝑒</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𝑋</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(1), </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(0)) = </m:t>
                      </m:r>
                      <m:r>
                        <m:rPr>
                          <m:sty m:val="p"/>
                        </m:rPr>
                        <a:rPr lang="en-US" altLang="zh-CN" i="1" dirty="0" err="1" smtClean="0">
                          <a:latin typeface="Cambria Math" panose="02040503050406030204" pitchFamily="18" charset="0"/>
                        </a:rPr>
                        <m:t>Pr</m:t>
                      </m:r>
                      <m:r>
                        <a:rPr lang="en-US" altLang="zh-CN" i="1" dirty="0" smtClean="0">
                          <a:latin typeface="Cambria Math" panose="02040503050406030204" pitchFamily="18" charset="0"/>
                        </a:rPr>
                        <m:t>⁡[</m:t>
                      </m:r>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1|</m:t>
                      </m:r>
                      <m:r>
                        <a:rPr lang="zh-CN" altLang="en-US" i="1" dirty="0" smtClean="0">
                          <a:latin typeface="Cambria Math" panose="02040503050406030204" pitchFamily="18" charset="0"/>
                        </a:rPr>
                        <m:t>𝑋</m:t>
                      </m:r>
                      <m:r>
                        <a:rPr lang="en-US" altLang="zh-CN" i="1" dirty="0" smtClean="0">
                          <a:latin typeface="Cambria Math" panose="02040503050406030204" pitchFamily="18" charset="0"/>
                        </a:rPr>
                        <m:t>, </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(1), </m:t>
                      </m:r>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(0)].</m:t>
                      </m:r>
                    </m:oMath>
                  </m:oMathPara>
                </a14:m>
                <a:endParaRPr lang="en-US" altLang="zh-CN" dirty="0"/>
              </a:p>
              <a:p>
                <a:pPr>
                  <a:lnSpc>
                    <a:spcPct val="120000"/>
                  </a:lnSpc>
                </a:pPr>
                <a:r>
                  <a:rPr lang="zh-CN" altLang="en-US" dirty="0"/>
                  <a:t>在强可忽略性假设下，有</a:t>
                </a:r>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r>
                        <a:rPr lang="zh-CN" altLang="en-US" i="1" dirty="0">
                          <a:latin typeface="Cambria Math" panose="02040503050406030204" pitchFamily="18" charset="0"/>
                        </a:rPr>
                        <m:t>𝑌</m:t>
                      </m:r>
                      <m:r>
                        <a:rPr lang="en-US" altLang="zh-CN" i="1" dirty="0">
                          <a:latin typeface="Cambria Math" panose="02040503050406030204" pitchFamily="18" charset="0"/>
                        </a:rPr>
                        <m:t>(1), </m:t>
                      </m:r>
                      <m:r>
                        <a:rPr lang="zh-CN" altLang="en-US" i="1" dirty="0">
                          <a:latin typeface="Cambria Math" panose="02040503050406030204" pitchFamily="18" charset="0"/>
                        </a:rPr>
                        <m:t>𝑌</m:t>
                      </m:r>
                      <m:r>
                        <a:rPr lang="en-US" altLang="zh-CN" i="1" dirty="0">
                          <a:latin typeface="Cambria Math" panose="02040503050406030204" pitchFamily="18" charset="0"/>
                        </a:rPr>
                        <m:t>(0)) = </m:t>
                      </m:r>
                      <m:r>
                        <m:rPr>
                          <m:sty m:val="p"/>
                        </m:rPr>
                        <a:rPr lang="en-US" altLang="zh-CN" i="1" dirty="0" err="1">
                          <a:latin typeface="Cambria Math" panose="02040503050406030204" pitchFamily="18" charset="0"/>
                        </a:rPr>
                        <m:t>Pr</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en-US" altLang="zh-CN" i="1" dirty="0">
                          <a:latin typeface="Cambria Math" panose="02040503050406030204" pitchFamily="18" charset="0"/>
                        </a:rPr>
                        <m:t>=1|</m:t>
                      </m:r>
                      <m:r>
                        <a:rPr lang="zh-CN" altLang="en-US" i="1" dirty="0">
                          <a:latin typeface="Cambria Math" panose="02040503050406030204" pitchFamily="18" charset="0"/>
                        </a:rPr>
                        <m:t>𝑋</m:t>
                      </m:r>
                      <m:r>
                        <a:rPr lang="en-US" altLang="zh-CN" i="1" dirty="0">
                          <a:latin typeface="Cambria Math" panose="02040503050406030204" pitchFamily="18" charset="0"/>
                        </a:rPr>
                        <m:t>, </m:t>
                      </m:r>
                      <m:r>
                        <a:rPr lang="zh-CN" altLang="en-US" i="1" dirty="0">
                          <a:latin typeface="Cambria Math" panose="02040503050406030204" pitchFamily="18" charset="0"/>
                        </a:rPr>
                        <m:t>𝑌</m:t>
                      </m:r>
                      <m:r>
                        <a:rPr lang="en-US" altLang="zh-CN" i="1" dirty="0">
                          <a:latin typeface="Cambria Math" panose="02040503050406030204" pitchFamily="18" charset="0"/>
                        </a:rPr>
                        <m:t>(1), </m:t>
                      </m:r>
                      <m:r>
                        <a:rPr lang="zh-CN" altLang="en-US" i="1" dirty="0">
                          <a:latin typeface="Cambria Math" panose="02040503050406030204" pitchFamily="18" charset="0"/>
                        </a:rPr>
                        <m:t>𝑌</m:t>
                      </m:r>
                      <m:r>
                        <a:rPr lang="en-US" altLang="zh-CN" i="1" dirty="0">
                          <a:latin typeface="Cambria Math" panose="02040503050406030204" pitchFamily="18" charset="0"/>
                        </a:rPr>
                        <m:t>(0)] = </m:t>
                      </m:r>
                      <m:r>
                        <m:rPr>
                          <m:sty m:val="p"/>
                        </m:rPr>
                        <a:rPr lang="en-US" altLang="zh-CN" i="1" dirty="0" err="1">
                          <a:latin typeface="Cambria Math" panose="02040503050406030204" pitchFamily="18" charset="0"/>
                        </a:rPr>
                        <m:t>Pr</m:t>
                      </m:r>
                      <m:r>
                        <a:rPr lang="en-US" altLang="zh-CN" i="1" dirty="0">
                          <a:latin typeface="Cambria Math" panose="02040503050406030204" pitchFamily="18" charset="0"/>
                        </a:rPr>
                        <m:t>⁡[</m:t>
                      </m:r>
                      <m:r>
                        <a:rPr lang="zh-CN" altLang="en-US" i="1" dirty="0">
                          <a:latin typeface="Cambria Math" panose="02040503050406030204" pitchFamily="18" charset="0"/>
                        </a:rPr>
                        <m:t>𝐷</m:t>
                      </m:r>
                      <m:r>
                        <a:rPr lang="en-US" altLang="zh-CN" i="1" dirty="0">
                          <a:latin typeface="Cambria Math" panose="02040503050406030204" pitchFamily="18" charset="0"/>
                        </a:rPr>
                        <m:t>=1|</m:t>
                      </m:r>
                      <m:r>
                        <a:rPr lang="zh-CN" altLang="en-US" i="1" dirty="0">
                          <a:latin typeface="Cambria Math" panose="02040503050406030204" pitchFamily="18" charset="0"/>
                        </a:rPr>
                        <m:t>𝑋</m:t>
                      </m:r>
                      <m:r>
                        <a:rPr lang="en-US" altLang="zh-CN" i="1" dirty="0">
                          <a:latin typeface="Cambria Math" panose="02040503050406030204" pitchFamily="18" charset="0"/>
                        </a:rPr>
                        <m:t>] ≡ </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oMath>
                  </m:oMathPara>
                </a14:m>
                <a:endParaRPr lang="en-US" altLang="zh-CN" b="1" dirty="0"/>
              </a:p>
              <a:p>
                <a:pPr>
                  <a:lnSpc>
                    <a:spcPct val="120000"/>
                  </a:lnSpc>
                </a:pPr>
                <a:r>
                  <a:rPr lang="zh-CN" altLang="en-US" dirty="0"/>
                  <a:t>定理</a:t>
                </a:r>
                <a:r>
                  <a:rPr lang="en-US" altLang="zh-CN" dirty="0"/>
                  <a:t>1 (</a:t>
                </a:r>
                <a:r>
                  <a:rPr lang="zh-CN" altLang="en-US" dirty="0"/>
                  <a:t>倾向指数定理</a:t>
                </a:r>
                <a:r>
                  <a:rPr lang="en-US" altLang="zh-CN" dirty="0"/>
                  <a:t>(Rosenbaum and Rubin(1983))</a:t>
                </a:r>
              </a:p>
              <a:p>
                <a:pPr lvl="1">
                  <a:lnSpc>
                    <a:spcPct val="120000"/>
                  </a:lnSpc>
                </a:pPr>
                <a:r>
                  <a:rPr lang="zh-CN" altLang="en-US" dirty="0"/>
                  <a:t>如果分配机制是非混杂的，那么分配机制也是根据倾向指数非混杂的，即</a:t>
                </a:r>
                <a:endParaRPr lang="en-US" altLang="zh-CN" dirty="0"/>
              </a:p>
              <a:p>
                <a:pPr lvl="1">
                  <a:lnSpc>
                    <a:spcPct val="120000"/>
                  </a:lnSpc>
                </a:pPr>
                <a14:m>
                  <m:oMath xmlns:m="http://schemas.openxmlformats.org/officeDocument/2006/math">
                    <m:r>
                      <a:rPr lang="en-US" altLang="zh-CN" i="1" dirty="0" smtClean="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 </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r>
                      <a:rPr lang="zh-CN" altLang="en-US" i="1" dirty="0">
                        <a:latin typeface="Cambria Math" panose="02040503050406030204" pitchFamily="18" charset="0"/>
                      </a:rPr>
                      <m:t>𝑒</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oMath>
                </a14:m>
                <a:endParaRPr lang="en-US" altLang="zh-CN" b="1" dirty="0"/>
              </a:p>
              <a:p>
                <a:pPr>
                  <a:lnSpc>
                    <a:spcPct val="120000"/>
                  </a:lnSpc>
                </a:pPr>
                <a:r>
                  <a:rPr lang="zh-CN" altLang="en-US" dirty="0"/>
                  <a:t>证明：给定倾向指数非混杂性等价于</a:t>
                </a:r>
                <a14:m>
                  <m:oMath xmlns:m="http://schemas.openxmlformats.org/officeDocument/2006/math">
                    <m:r>
                      <m:rPr>
                        <m:sty m:val="p"/>
                      </m:rPr>
                      <a:rPr lang="en-US" altLang="zh-CN" i="1" dirty="0" smtClean="0">
                        <a:latin typeface="Cambria Math" panose="02040503050406030204" pitchFamily="18" charset="0"/>
                      </a:rPr>
                      <m:t>Pr</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1|</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m:t>
                    </m:r>
                    <m:r>
                      <a:rPr lang="zh-CN" altLang="en-US" i="1" dirty="0">
                        <a:latin typeface="Cambria Math" panose="02040503050406030204" pitchFamily="18" charset="0"/>
                      </a:rPr>
                      <m:t>𝑒</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r>
                      <m:rPr>
                        <m:sty m:val="p"/>
                      </m:rPr>
                      <a:rPr lang="en-US" altLang="zh-CN" i="1" dirty="0" err="1">
                        <a:latin typeface="Cambria Math" panose="02040503050406030204" pitchFamily="18" charset="0"/>
                      </a:rPr>
                      <m:t>Pr</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1|</m:t>
                    </m:r>
                    <m:r>
                      <a:rPr lang="zh-CN" altLang="en-US" i="1" dirty="0">
                        <a:latin typeface="Cambria Math" panose="02040503050406030204" pitchFamily="18" charset="0"/>
                      </a:rPr>
                      <m:t>𝑒</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r>
                      <a:rPr lang="zh-CN" altLang="en-US" i="1" dirty="0">
                        <a:latin typeface="Cambria Math" panose="02040503050406030204" pitchFamily="18" charset="0"/>
                      </a:rPr>
                      <m:t>，</m:t>
                    </m:r>
                  </m:oMath>
                </a14:m>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𝐿𝐻𝑆</m:t>
                      </m:r>
                      <m:r>
                        <a:rPr lang="zh-CN" altLang="en-US" i="1" dirty="0" smtClean="0">
                          <a:latin typeface="Cambria Math" panose="02040503050406030204" pitchFamily="18" charset="0"/>
                        </a:rPr>
                        <m:t> = </m:t>
                      </m:r>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e>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1</m:t>
                              </m:r>
                            </m:e>
                          </m:d>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0</m:t>
                              </m:r>
                            </m:e>
                          </m:d>
                          <m:r>
                            <a:rPr lang="en-US" altLang="zh-CN" i="1" dirty="0">
                              <a:latin typeface="Cambria Math" panose="02040503050406030204" pitchFamily="18" charset="0"/>
                            </a:rPr>
                            <m:t>, </m:t>
                          </m:r>
                          <m:r>
                            <a:rPr lang="zh-CN" altLang="en-US" i="1" dirty="0">
                              <a:latin typeface="Cambria Math" panose="02040503050406030204" pitchFamily="18" charset="0"/>
                            </a:rPr>
                            <m:t>𝑒</m:t>
                          </m:r>
                          <m:d>
                            <m:dPr>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e>
                          </m:d>
                        </m:e>
                      </m:d>
                    </m:oMath>
                    <m:oMath>
                      <m:r>
                        <a:rPr lang="en-US" altLang="zh-CN" i="1" dirty="0" smtClean="0">
                          <a:latin typeface="Cambria Math" panose="02040503050406030204" pitchFamily="18" charset="0"/>
                        </a:rPr>
                        <m:t>= </m:t>
                      </m:r>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e>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1</m:t>
                                  </m:r>
                                </m:e>
                              </m:d>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0</m:t>
                                  </m:r>
                                </m:e>
                              </m:d>
                              <m:r>
                                <a:rPr lang="en-US" altLang="zh-CN" i="1" dirty="0">
                                  <a:latin typeface="Cambria Math" panose="02040503050406030204" pitchFamily="18" charset="0"/>
                                </a:rPr>
                                <m:t>, </m:t>
                              </m:r>
                              <m:r>
                                <a:rPr lang="zh-CN" altLang="en-US" i="1" dirty="0">
                                  <a:latin typeface="Cambria Math" panose="02040503050406030204" pitchFamily="18" charset="0"/>
                                </a:rPr>
                                <m:t>𝑒</m:t>
                              </m:r>
                              <m:d>
                                <m:dPr>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e>
                              </m:d>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e>
                          </m:d>
                        </m:e>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1</m:t>
                              </m:r>
                            </m:e>
                          </m:d>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0</m:t>
                              </m:r>
                            </m:e>
                          </m:d>
                          <m:r>
                            <a:rPr lang="en-US" altLang="zh-CN" i="1" dirty="0">
                              <a:latin typeface="Cambria Math" panose="02040503050406030204" pitchFamily="18" charset="0"/>
                            </a:rPr>
                            <m:t>, </m:t>
                          </m:r>
                          <m:r>
                            <a:rPr lang="zh-CN" altLang="en-US" i="1" dirty="0">
                              <a:latin typeface="Cambria Math" panose="02040503050406030204" pitchFamily="18" charset="0"/>
                            </a:rPr>
                            <m:t>𝑒</m:t>
                          </m:r>
                          <m:d>
                            <m:dPr>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e>
                          </m:d>
                        </m:e>
                      </m:d>
                    </m:oMath>
                    <m:oMath>
                      <m:r>
                        <a:rPr lang="en-US" altLang="zh-CN" i="1" dirty="0" smtClean="0">
                          <a:latin typeface="Cambria Math" panose="02040503050406030204" pitchFamily="18" charset="0"/>
                        </a:rPr>
                        <m:t>= </m:t>
                      </m:r>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𝐸</m:t>
                          </m:r>
                          <m:d>
                            <m:dPr>
                              <m:begChr m:val="["/>
                              <m:endChr m:val="]"/>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e>
                            <m:e>
                              <m:r>
                                <a:rPr lang="zh-CN" altLang="en-US" i="1" dirty="0">
                                  <a:latin typeface="Cambria Math" panose="02040503050406030204" pitchFamily="18" charset="0"/>
                                </a:rPr>
                                <m:t>𝑒</m:t>
                              </m:r>
                              <m:d>
                                <m:dPr>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e>
                              </m:d>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e>
                          </m:d>
                        </m:e>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1</m:t>
                              </m:r>
                            </m:e>
                          </m:d>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0</m:t>
                              </m:r>
                            </m:e>
                          </m:d>
                          <m:r>
                            <a:rPr lang="en-US" altLang="zh-CN" i="1" dirty="0">
                              <a:latin typeface="Cambria Math" panose="02040503050406030204" pitchFamily="18" charset="0"/>
                            </a:rPr>
                            <m:t>, </m:t>
                          </m:r>
                          <m:r>
                            <a:rPr lang="zh-CN" altLang="en-US" i="1" dirty="0">
                              <a:latin typeface="Cambria Math" panose="02040503050406030204" pitchFamily="18" charset="0"/>
                            </a:rPr>
                            <m:t>𝑒</m:t>
                          </m:r>
                          <m:d>
                            <m:dPr>
                              <m:ctrlPr>
                                <a:rPr lang="zh-CN" altLang="en-US" i="1" dirty="0">
                                  <a:latin typeface="Cambria Math" panose="02040503050406030204" pitchFamily="18" charset="0"/>
                                </a:rPr>
                              </m:ctrlPr>
                            </m:dPr>
                            <m:e>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e>
                          </m:d>
                        </m:e>
                      </m:d>
                    </m:oMath>
                    <m:oMath>
                      <m:r>
                        <a:rPr lang="en-US" altLang="zh-CN" i="1" dirty="0" smtClean="0">
                          <a:latin typeface="Cambria Math" panose="02040503050406030204" pitchFamily="18" charset="0"/>
                        </a:rPr>
                        <m:t>=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(1),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(0), </m:t>
                      </m:r>
                      <m:r>
                        <a:rPr lang="zh-CN" altLang="en-US" i="1" dirty="0">
                          <a:latin typeface="Cambria Math" panose="02040503050406030204" pitchFamily="18" charset="0"/>
                        </a:rPr>
                        <m:t>𝑒</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r>
                        <a:rPr lang="zh-CN" altLang="en-US" i="1" dirty="0">
                          <a:latin typeface="Cambria Math" panose="02040503050406030204" pitchFamily="18" charset="0"/>
                        </a:rPr>
                        <m:t>𝑒</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en-US" altLang="zh-CN" b="0" i="1" dirty="0" smtClean="0">
                              <a:latin typeface="Cambria Math" panose="02040503050406030204" pitchFamily="18" charset="0"/>
                            </a:rPr>
                            <m:t>𝑖</m:t>
                          </m:r>
                        </m:sub>
                      </m:sSub>
                      <m:r>
                        <a:rPr lang="en-US" altLang="zh-CN" i="1" dirty="0">
                          <a:latin typeface="Cambria Math" panose="02040503050406030204" pitchFamily="18" charset="0"/>
                        </a:rPr>
                        <m:t>),</m:t>
                      </m:r>
                    </m:oMath>
                  </m:oMathPara>
                </a14:m>
                <a:endParaRPr lang="en-US" altLang="zh-CN" dirty="0"/>
              </a:p>
              <a:p>
                <a:pPr marL="0" indent="0">
                  <a:lnSpc>
                    <a:spcPct val="120000"/>
                  </a:lnSpc>
                  <a:buNone/>
                </a:pPr>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𝑅𝐻𝑆</m:t>
                      </m:r>
                      <m:r>
                        <a:rPr lang="zh-CN" altLang="en-US" i="1" dirty="0" smtClean="0">
                          <a:latin typeface="Cambria Math" panose="02040503050406030204" pitchFamily="18" charset="0"/>
                        </a:rPr>
                        <m:t> = </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r>
                        <a:rPr lang="zh-CN" altLang="en-US" i="1" dirty="0">
                          <a:latin typeface="Cambria Math" panose="02040503050406030204" pitchFamily="18" charset="0"/>
                        </a:rPr>
                        <m:t>𝑒</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r>
                        <a:rPr lang="zh-CN" altLang="en-US" i="1" dirty="0">
                          <a:latin typeface="Cambria Math" panose="02040503050406030204" pitchFamily="18" charset="0"/>
                        </a:rPr>
                        <m:t>𝑒</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r>
                        <a:rPr lang="zh-CN" altLang="en-US" i="1" dirty="0">
                          <a:latin typeface="Cambria Math" panose="02040503050406030204" pitchFamily="18" charset="0"/>
                        </a:rPr>
                        <m:t>𝑒</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𝑒</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r>
                        <a:rPr lang="zh-CN" altLang="en-US" i="1" dirty="0">
                          <a:latin typeface="Cambria Math" panose="02040503050406030204" pitchFamily="18" charset="0"/>
                        </a:rPr>
                        <m:t>𝑒</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 </m:t>
                      </m:r>
                      <m:r>
                        <a:rPr lang="zh-CN" altLang="en-US" i="1" dirty="0">
                          <a:latin typeface="Cambria Math" panose="02040503050406030204" pitchFamily="18" charset="0"/>
                        </a:rPr>
                        <m:t>𝑒</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oMath>
                  </m:oMathPara>
                </a14:m>
                <a:endParaRPr lang="zh-CN" altLang="en-US" b="1" dirty="0"/>
              </a:p>
            </p:txBody>
          </p:sp>
        </mc:Choice>
        <mc:Fallback xmlns="">
          <p:sp>
            <p:nvSpPr>
              <p:cNvPr id="3" name="内容占位符 2">
                <a:extLst>
                  <a:ext uri="{FF2B5EF4-FFF2-40B4-BE49-F238E27FC236}">
                    <a16:creationId xmlns:a16="http://schemas.microsoft.com/office/drawing/2014/main" id="{2BD2F24A-AE5F-5739-9730-2EBF95DE8688}"/>
                  </a:ext>
                </a:extLst>
              </p:cNvPr>
              <p:cNvSpPr>
                <a:spLocks noGrp="1" noRot="1" noChangeAspect="1" noMove="1" noResize="1" noEditPoints="1" noAdjustHandles="1" noChangeArrowheads="1" noChangeShapeType="1" noTextEdit="1"/>
              </p:cNvSpPr>
              <p:nvPr>
                <p:ph idx="1"/>
              </p:nvPr>
            </p:nvSpPr>
            <p:spPr>
              <a:xfrm>
                <a:off x="628650" y="1825624"/>
                <a:ext cx="7886700" cy="4310481"/>
              </a:xfrm>
              <a:blipFill>
                <a:blip r:embed="rId2"/>
                <a:stretch>
                  <a:fillRect l="-232" t="-28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963822E-0C26-3129-D9F3-42D5583DF65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761AF8B-FD19-A063-9B21-2457A6C086BB}"/>
              </a:ext>
            </a:extLst>
          </p:cNvPr>
          <p:cNvSpPr>
            <a:spLocks noGrp="1"/>
          </p:cNvSpPr>
          <p:nvPr>
            <p:ph type="sldNum" sz="quarter" idx="12"/>
          </p:nvPr>
        </p:nvSpPr>
        <p:spPr/>
        <p:txBody>
          <a:bodyPr/>
          <a:lstStyle/>
          <a:p>
            <a:fld id="{D41FC515-8169-4A29-AA56-DBE520D5741B}" type="slidenum">
              <a:rPr lang="zh-CN" altLang="en-US" smtClean="0"/>
              <a:t>16</a:t>
            </a:fld>
            <a:endParaRPr lang="zh-CN" altLang="en-US"/>
          </a:p>
        </p:txBody>
      </p:sp>
    </p:spTree>
    <p:extLst>
      <p:ext uri="{BB962C8B-B14F-4D97-AF65-F5344CB8AC3E}">
        <p14:creationId xmlns:p14="http://schemas.microsoft.com/office/powerpoint/2010/main" val="3622364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35383-07AC-B564-EE04-CC66BD0E265D}"/>
              </a:ext>
            </a:extLst>
          </p:cNvPr>
          <p:cNvSpPr>
            <a:spLocks noGrp="1"/>
          </p:cNvSpPr>
          <p:nvPr>
            <p:ph type="title"/>
          </p:nvPr>
        </p:nvSpPr>
        <p:spPr/>
        <p:txBody>
          <a:bodyPr/>
          <a:lstStyle/>
          <a:p>
            <a:r>
              <a:rPr lang="zh-CN" altLang="en-US" dirty="0"/>
              <a:t>使用倾向得分</a:t>
            </a:r>
          </a:p>
        </p:txBody>
      </p:sp>
      <p:pic>
        <p:nvPicPr>
          <p:cNvPr id="7" name="内容占位符 6">
            <a:extLst>
              <a:ext uri="{FF2B5EF4-FFF2-40B4-BE49-F238E27FC236}">
                <a16:creationId xmlns:a16="http://schemas.microsoft.com/office/drawing/2014/main" id="{E51170C4-579D-F97E-DCA5-7F6ABE8780DD}"/>
              </a:ext>
            </a:extLst>
          </p:cNvPr>
          <p:cNvPicPr>
            <a:picLocks noGrp="1" noChangeAspect="1"/>
          </p:cNvPicPr>
          <p:nvPr>
            <p:ph idx="1"/>
          </p:nvPr>
        </p:nvPicPr>
        <p:blipFill>
          <a:blip r:embed="rId2"/>
          <a:stretch>
            <a:fillRect/>
          </a:stretch>
        </p:blipFill>
        <p:spPr>
          <a:xfrm>
            <a:off x="2713389" y="2338517"/>
            <a:ext cx="4170200" cy="2180966"/>
          </a:xfrm>
          <a:prstGeom prst="rect">
            <a:avLst/>
          </a:prstGeom>
        </p:spPr>
      </p:pic>
      <p:sp>
        <p:nvSpPr>
          <p:cNvPr id="4" name="页脚占位符 3">
            <a:extLst>
              <a:ext uri="{FF2B5EF4-FFF2-40B4-BE49-F238E27FC236}">
                <a16:creationId xmlns:a16="http://schemas.microsoft.com/office/drawing/2014/main" id="{B1CA302C-F726-9F93-F486-67796AA4E81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D17E5A3-BF46-7B86-5A90-0B2E4D4A1CA2}"/>
              </a:ext>
            </a:extLst>
          </p:cNvPr>
          <p:cNvSpPr>
            <a:spLocks noGrp="1"/>
          </p:cNvSpPr>
          <p:nvPr>
            <p:ph type="sldNum" sz="quarter" idx="12"/>
          </p:nvPr>
        </p:nvSpPr>
        <p:spPr/>
        <p:txBody>
          <a:bodyPr/>
          <a:lstStyle/>
          <a:p>
            <a:fld id="{D41FC515-8169-4A29-AA56-DBE520D5741B}" type="slidenum">
              <a:rPr lang="zh-CN" altLang="en-US" smtClean="0"/>
              <a:t>17</a:t>
            </a:fld>
            <a:endParaRPr lang="zh-CN" altLang="en-US"/>
          </a:p>
        </p:txBody>
      </p:sp>
    </p:spTree>
    <p:extLst>
      <p:ext uri="{BB962C8B-B14F-4D97-AF65-F5344CB8AC3E}">
        <p14:creationId xmlns:p14="http://schemas.microsoft.com/office/powerpoint/2010/main" val="2674000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D7AA74-A20E-9091-1A01-71A7ED3CD5E4}"/>
              </a:ext>
            </a:extLst>
          </p:cNvPr>
          <p:cNvSpPr>
            <a:spLocks noGrp="1"/>
          </p:cNvSpPr>
          <p:nvPr>
            <p:ph type="title"/>
          </p:nvPr>
        </p:nvSpPr>
        <p:spPr/>
        <p:txBody>
          <a:bodyPr/>
          <a:lstStyle/>
          <a:p>
            <a:r>
              <a:rPr lang="zh-CN" altLang="en-US" dirty="0"/>
              <a:t>根据倾向得分分层</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7E47972-BDFA-C988-BDF0-695C5B62DF07}"/>
                  </a:ext>
                </a:extLst>
              </p:cNvPr>
              <p:cNvSpPr>
                <a:spLocks noGrp="1"/>
              </p:cNvSpPr>
              <p:nvPr>
                <p:ph idx="1"/>
              </p:nvPr>
            </p:nvSpPr>
            <p:spPr/>
            <p:txBody>
              <a:bodyPr>
                <a:normAutofit lnSpcReduction="10000"/>
              </a:bodyPr>
              <a:lstStyle/>
              <a:p>
                <a:r>
                  <a:rPr lang="zh-CN" altLang="en-US" sz="1600" dirty="0"/>
                  <a:t>根据倾向得分定理，假设真实倾向得分已知并且只有离散值</a:t>
                </a:r>
                <a14:m>
                  <m:oMath xmlns:m="http://schemas.openxmlformats.org/officeDocument/2006/math">
                    <m:r>
                      <a:rPr lang="en-US" altLang="zh-CN" sz="1600" i="1" dirty="0" smtClean="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 …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𝐾</m:t>
                        </m:r>
                      </m:sub>
                    </m:sSub>
                    <m:r>
                      <a:rPr lang="zh-CN" altLang="en-US" sz="1600" i="1" dirty="0">
                        <a:latin typeface="Cambria Math" panose="02040503050406030204" pitchFamily="18" charset="0"/>
                      </a:rPr>
                      <m:t> </m:t>
                    </m:r>
                    <m:r>
                      <a:rPr lang="en-US" altLang="zh-CN" sz="1600" i="1" dirty="0">
                        <a:latin typeface="Cambria Math" panose="02040503050406030204" pitchFamily="18" charset="0"/>
                      </a:rPr>
                      <m:t>}</m:t>
                    </m:r>
                  </m:oMath>
                </a14:m>
                <a:r>
                  <a:rPr lang="zh-CN" altLang="en-US" sz="1600" dirty="0"/>
                  <a:t>，则有</a:t>
                </a:r>
                <a:endParaRPr lang="en-US" altLang="zh-CN" sz="1600" dirty="0"/>
              </a:p>
              <a:p>
                <a:pPr marL="0" indent="0">
                  <a:buNone/>
                </a:pPr>
                <a14:m>
                  <m:oMathPara xmlns:m="http://schemas.openxmlformats.org/officeDocument/2006/math">
                    <m:oMath>
                      <m:r>
                        <a:rPr lang="en-US" altLang="zh-CN" sz="1600" i="1" dirty="0" smtClean="0">
                          <a:latin typeface="Cambria Math" panose="02040503050406030204" pitchFamily="18" charset="0"/>
                        </a:rPr>
                        <m:t>(</m:t>
                      </m:r>
                      <m:r>
                        <a:rPr lang="zh-CN" altLang="en-US" sz="1600" i="1" dirty="0">
                          <a:latin typeface="Cambria Math" panose="02040503050406030204" pitchFamily="18" charset="0"/>
                        </a:rPr>
                        <m:t>𝑌</m:t>
                      </m:r>
                      <m:r>
                        <a:rPr lang="zh-CN" altLang="en-US" sz="1600" i="1" dirty="0">
                          <a:latin typeface="Cambria Math" panose="02040503050406030204" pitchFamily="18" charset="0"/>
                        </a:rPr>
                        <m:t> (1), </m:t>
                      </m:r>
                      <m:r>
                        <a:rPr lang="zh-CN" altLang="en-US" sz="1600" i="1" dirty="0">
                          <a:latin typeface="Cambria Math" panose="02040503050406030204" pitchFamily="18" charset="0"/>
                        </a:rPr>
                        <m:t>𝑌</m:t>
                      </m:r>
                      <m:r>
                        <a:rPr lang="zh-CN" altLang="en-US" sz="1600" i="1" dirty="0">
                          <a:latin typeface="Cambria Math" panose="02040503050406030204" pitchFamily="18" charset="0"/>
                        </a:rPr>
                        <m:t> (0)) ⟂ </m:t>
                      </m:r>
                      <m:r>
                        <a:rPr lang="zh-CN" altLang="en-US" sz="1600" i="1" dirty="0">
                          <a:latin typeface="Cambria Math" panose="02040503050406030204" pitchFamily="18" charset="0"/>
                        </a:rPr>
                        <m:t>𝐷</m:t>
                      </m:r>
                      <m:r>
                        <a:rPr lang="en-US" altLang="zh-CN" sz="1600" i="1" dirty="0">
                          <a:latin typeface="Cambria Math" panose="02040503050406030204" pitchFamily="18" charset="0"/>
                        </a:rPr>
                        <m:t>|</m:t>
                      </m:r>
                      <m:r>
                        <a:rPr lang="zh-CN" altLang="en-US" sz="1600" i="1" dirty="0">
                          <a:latin typeface="Cambria Math" panose="02040503050406030204" pitchFamily="18" charset="0"/>
                        </a:rPr>
                        <m:t>𝑒</m:t>
                      </m:r>
                      <m:r>
                        <a:rPr lang="en-US" altLang="zh-CN" sz="1600" i="1" dirty="0">
                          <a:latin typeface="Cambria Math" panose="02040503050406030204" pitchFamily="18" charset="0"/>
                        </a:rPr>
                        <m:t>(</m:t>
                      </m:r>
                      <m:r>
                        <a:rPr lang="zh-CN" altLang="en-US" sz="1600" i="1" dirty="0">
                          <a:latin typeface="Cambria Math" panose="02040503050406030204" pitchFamily="18" charset="0"/>
                        </a:rPr>
                        <m:t>𝑋</m:t>
                      </m:r>
                      <m:r>
                        <a:rPr lang="en-US" altLang="zh-CN"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𝑘</m:t>
                          </m:r>
                        </m:sub>
                      </m:sSub>
                      <m:r>
                        <a:rPr lang="en-US" altLang="zh-CN" sz="1600" i="1" dirty="0">
                          <a:latin typeface="Cambria Math" panose="02040503050406030204" pitchFamily="18" charset="0"/>
                        </a:rPr>
                        <m:t>, </m:t>
                      </m:r>
                      <m:r>
                        <a:rPr lang="zh-CN" altLang="en-US" sz="1600" i="1" dirty="0">
                          <a:latin typeface="Cambria Math" panose="02040503050406030204" pitchFamily="18" charset="0"/>
                        </a:rPr>
                        <m:t>𝑘</m:t>
                      </m:r>
                      <m:r>
                        <a:rPr lang="zh-CN" altLang="en-US" sz="1600" i="1" dirty="0">
                          <a:latin typeface="Cambria Math" panose="02040503050406030204" pitchFamily="18" charset="0"/>
                        </a:rPr>
                        <m:t> = 1, … ,</m:t>
                      </m:r>
                      <m:r>
                        <a:rPr lang="en-US" altLang="zh-CN" sz="1600" i="1" dirty="0">
                          <a:latin typeface="Cambria Math" panose="02040503050406030204" pitchFamily="18" charset="0"/>
                        </a:rPr>
                        <m:t> </m:t>
                      </m:r>
                      <m:r>
                        <a:rPr lang="zh-CN" altLang="en-US" sz="1600" i="1" dirty="0">
                          <a:latin typeface="Cambria Math" panose="02040503050406030204" pitchFamily="18" charset="0"/>
                        </a:rPr>
                        <m:t>𝐾</m:t>
                      </m:r>
                      <m:r>
                        <a:rPr lang="en-US" altLang="zh-CN" sz="1600" i="1" dirty="0" smtClean="0">
                          <a:latin typeface="Cambria Math" panose="02040503050406030204" pitchFamily="18" charset="0"/>
                        </a:rPr>
                        <m:t>.</m:t>
                      </m:r>
                    </m:oMath>
                  </m:oMathPara>
                </a14:m>
                <a:endParaRPr lang="en-US" altLang="zh-CN" sz="1600" dirty="0"/>
              </a:p>
              <a:p>
                <a:r>
                  <a:rPr lang="zh-CN" altLang="en-US" sz="1600" dirty="0"/>
                  <a:t>因而，可以按分层随机化实验的方法进行参数估计。</a:t>
                </a:r>
                <a:endParaRPr lang="en-US" altLang="zh-CN" sz="1600" dirty="0"/>
              </a:p>
              <a:p>
                <a:r>
                  <a:rPr lang="zh-CN" altLang="en-US" sz="1600" dirty="0"/>
                  <a:t>应用中，可以首先估计出倾向得分 </a:t>
                </a:r>
                <a14:m>
                  <m:oMath xmlns:m="http://schemas.openxmlformats.org/officeDocument/2006/math">
                    <m:acc>
                      <m:accPr>
                        <m:chr m:val="̂"/>
                        <m:ctrlPr>
                          <a:rPr lang="zh-CN" altLang="en-US" sz="1600" i="1" dirty="0" smtClean="0">
                            <a:latin typeface="Cambria Math" panose="02040503050406030204" pitchFamily="18" charset="0"/>
                          </a:rPr>
                        </m:ctrlPr>
                      </m:accPr>
                      <m:e>
                        <m:r>
                          <a:rPr lang="zh-CN" altLang="en-US" sz="1600" i="1" dirty="0" smtClean="0">
                            <a:latin typeface="Cambria Math" panose="02040503050406030204" pitchFamily="18" charset="0"/>
                          </a:rPr>
                          <m:t>𝑒</m:t>
                        </m:r>
                      </m:e>
                    </m:acc>
                    <m:r>
                      <a:rPr lang="en-US" altLang="zh-CN" sz="1600" i="1" dirty="0">
                        <a:latin typeface="Cambria Math" panose="02040503050406030204" pitchFamily="18" charset="0"/>
                      </a:rPr>
                      <m:t>(</m:t>
                    </m:r>
                    <m:r>
                      <a:rPr lang="zh-CN" altLang="en-US" sz="1600" i="1" dirty="0">
                        <a:latin typeface="Cambria Math" panose="02040503050406030204" pitchFamily="18" charset="0"/>
                      </a:rPr>
                      <m:t>𝑋</m:t>
                    </m:r>
                    <m:r>
                      <a:rPr lang="en-US" altLang="zh-CN" sz="1600" i="1" dirty="0">
                        <a:latin typeface="Cambria Math" panose="02040503050406030204" pitchFamily="18" charset="0"/>
                      </a:rPr>
                      <m:t>)</m:t>
                    </m:r>
                  </m:oMath>
                </a14:m>
                <a:r>
                  <a:rPr lang="zh-CN" altLang="en-US" sz="1600" dirty="0"/>
                  <a:t>，然后将倾向得分离散化，利用其分位数将</a:t>
                </a:r>
              </a:p>
              <a:p>
                <a:r>
                  <a:rPr lang="zh-CN" altLang="en-US" sz="1600" dirty="0"/>
                  <a:t>其分成𝐾 个区间，第𝑘 个区间对应倾向得分记为其𝑘</a:t>
                </a:r>
                <a:r>
                  <a:rPr lang="en-US" altLang="zh-CN" sz="1600" dirty="0"/>
                  <a:t>/</a:t>
                </a:r>
                <a:r>
                  <a:rPr lang="zh-CN" altLang="en-US" sz="1600" dirty="0"/>
                  <a:t>𝐾 分位的倾向得分</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𝑒</m:t>
                        </m:r>
                      </m:e>
                      <m:sub>
                        <m:r>
                          <a:rPr lang="zh-CN" altLang="en-US" sz="1600" i="1" dirty="0" smtClean="0">
                            <a:latin typeface="Cambria Math" panose="02040503050406030204" pitchFamily="18" charset="0"/>
                          </a:rPr>
                          <m:t>𝑘</m:t>
                        </m:r>
                      </m:sub>
                    </m:sSub>
                  </m:oMath>
                </a14:m>
                <a:r>
                  <a:rPr lang="zh-CN" altLang="en-US" sz="1600" dirty="0"/>
                  <a:t>，则</a:t>
                </a:r>
              </a:p>
              <a:p>
                <a:pPr marL="0" indent="0">
                  <a:buNone/>
                </a:pPr>
                <a14:m>
                  <m:oMathPara xmlns:m="http://schemas.openxmlformats.org/officeDocument/2006/math">
                    <m:oMath>
                      <m:r>
                        <a:rPr lang="en-US" altLang="zh-CN" sz="1600" i="1" dirty="0" smtClean="0">
                          <a:latin typeface="Cambria Math" panose="02040503050406030204" pitchFamily="18" charset="0"/>
                        </a:rPr>
                        <m:t>(</m:t>
                      </m:r>
                      <m:r>
                        <a:rPr lang="zh-CN" altLang="en-US" sz="1600" i="1" dirty="0">
                          <a:latin typeface="Cambria Math" panose="02040503050406030204" pitchFamily="18" charset="0"/>
                        </a:rPr>
                        <m:t>𝑌</m:t>
                      </m:r>
                      <m:r>
                        <a:rPr lang="zh-CN" altLang="en-US" sz="1600" i="1" dirty="0">
                          <a:latin typeface="Cambria Math" panose="02040503050406030204" pitchFamily="18" charset="0"/>
                        </a:rPr>
                        <m:t> (1), </m:t>
                      </m:r>
                      <m:r>
                        <a:rPr lang="zh-CN" altLang="en-US" sz="1600" i="1" dirty="0">
                          <a:latin typeface="Cambria Math" panose="02040503050406030204" pitchFamily="18" charset="0"/>
                        </a:rPr>
                        <m:t>𝑌</m:t>
                      </m:r>
                      <m:r>
                        <a:rPr lang="zh-CN" altLang="en-US" sz="1600" i="1" dirty="0">
                          <a:latin typeface="Cambria Math" panose="02040503050406030204" pitchFamily="18" charset="0"/>
                        </a:rPr>
                        <m:t> (0)) ⟂ </m:t>
                      </m:r>
                      <m:r>
                        <a:rPr lang="zh-CN" altLang="en-US" sz="1600" i="1" dirty="0">
                          <a:latin typeface="Cambria Math" panose="02040503050406030204" pitchFamily="18" charset="0"/>
                        </a:rPr>
                        <m:t>𝐷</m:t>
                      </m:r>
                      <m:r>
                        <a:rPr lang="en-US" altLang="zh-CN" sz="1600" i="1" dirty="0">
                          <a:latin typeface="Cambria Math" panose="02040503050406030204" pitchFamily="18" charset="0"/>
                        </a:rPr>
                        <m:t>|</m:t>
                      </m:r>
                      <m:acc>
                        <m:accPr>
                          <m:chr m:val="̂"/>
                          <m:ctrlPr>
                            <a:rPr lang="zh-CN" altLang="en-US" sz="1600" i="1" dirty="0">
                              <a:latin typeface="Cambria Math" panose="02040503050406030204" pitchFamily="18" charset="0"/>
                            </a:rPr>
                          </m:ctrlPr>
                        </m:accPr>
                        <m:e>
                          <m:r>
                            <a:rPr lang="zh-CN" altLang="en-US" sz="1600" i="1" dirty="0">
                              <a:latin typeface="Cambria Math" panose="02040503050406030204" pitchFamily="18" charset="0"/>
                            </a:rPr>
                            <m:t>𝑒</m:t>
                          </m:r>
                        </m:e>
                      </m:acc>
                      <m:r>
                        <a:rPr lang="en-US" altLang="zh-CN" sz="1600" i="1" dirty="0">
                          <a:latin typeface="Cambria Math" panose="02040503050406030204" pitchFamily="18" charset="0"/>
                        </a:rPr>
                        <m:t>(</m:t>
                      </m:r>
                      <m:r>
                        <a:rPr lang="zh-CN" altLang="en-US" sz="1600" i="1" dirty="0">
                          <a:latin typeface="Cambria Math" panose="02040503050406030204" pitchFamily="18" charset="0"/>
                        </a:rPr>
                        <m:t>𝑋</m:t>
                      </m:r>
                      <m:r>
                        <a:rPr lang="en-US" altLang="zh-CN" sz="1600" i="1" dirty="0">
                          <a:latin typeface="Cambria Math" panose="02040503050406030204" pitchFamily="18" charset="0"/>
                        </a:rPr>
                        <m:t>)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𝑒</m:t>
                          </m:r>
                        </m:e>
                        <m:sub>
                          <m:r>
                            <a:rPr lang="zh-CN" altLang="en-US" sz="1600" i="1" dirty="0">
                              <a:latin typeface="Cambria Math" panose="02040503050406030204" pitchFamily="18" charset="0"/>
                            </a:rPr>
                            <m:t>𝑘</m:t>
                          </m:r>
                        </m:sub>
                      </m:sSub>
                      <m:r>
                        <a:rPr lang="en-US" altLang="zh-CN" sz="1600" i="1" dirty="0">
                          <a:latin typeface="Cambria Math" panose="02040503050406030204" pitchFamily="18" charset="0"/>
                        </a:rPr>
                        <m:t>, </m:t>
                      </m:r>
                      <m:r>
                        <a:rPr lang="zh-CN" altLang="en-US" sz="1600" i="1" dirty="0">
                          <a:latin typeface="Cambria Math" panose="02040503050406030204" pitchFamily="18" charset="0"/>
                        </a:rPr>
                        <m:t>𝑘</m:t>
                      </m:r>
                      <m:r>
                        <a:rPr lang="zh-CN" altLang="en-US" sz="1600" i="1" dirty="0">
                          <a:latin typeface="Cambria Math" panose="02040503050406030204" pitchFamily="18" charset="0"/>
                        </a:rPr>
                        <m:t> = 1,…,</m:t>
                      </m:r>
                      <m:r>
                        <a:rPr lang="zh-CN" altLang="en-US" sz="1600" i="1" dirty="0">
                          <a:latin typeface="Cambria Math" panose="02040503050406030204" pitchFamily="18" charset="0"/>
                        </a:rPr>
                        <m:t>𝐾</m:t>
                      </m:r>
                      <m:r>
                        <a:rPr lang="en-US" altLang="zh-CN" sz="1600" i="1" dirty="0" smtClean="0">
                          <a:latin typeface="Cambria Math" panose="02040503050406030204" pitchFamily="18" charset="0"/>
                        </a:rPr>
                        <m:t>.</m:t>
                      </m:r>
                    </m:oMath>
                  </m:oMathPara>
                </a14:m>
                <a:endParaRPr lang="en-US" altLang="zh-CN" sz="1600" dirty="0"/>
              </a:p>
              <a:p>
                <a:r>
                  <a:rPr lang="zh-CN" altLang="en-US" sz="1600" dirty="0"/>
                  <a:t>近似成立，在层内可以进一步利用回归调整以消除估计偏差并提高估计精度。</a:t>
                </a:r>
                <a:endParaRPr lang="en-US" altLang="zh-CN" sz="1600" dirty="0"/>
              </a:p>
              <a:p>
                <a:endParaRPr lang="en-US" altLang="zh-CN" sz="1600" dirty="0"/>
              </a:p>
              <a:p>
                <a:endParaRPr lang="en-US" altLang="zh-CN" sz="1600" dirty="0"/>
              </a:p>
              <a:p>
                <a:endParaRPr lang="en-US" altLang="zh-CN" sz="1600" dirty="0"/>
              </a:p>
              <a:p>
                <a:endParaRPr lang="en-US" altLang="zh-CN" sz="1600" dirty="0"/>
              </a:p>
              <a:p>
                <a:pPr marL="0" indent="0">
                  <a:buNone/>
                </a:pPr>
                <a:r>
                  <a:rPr lang="en-US" altLang="zh-CN" sz="1600" dirty="0"/>
                  <a:t>__________________________________</a:t>
                </a:r>
              </a:p>
              <a:p>
                <a:pPr marL="0" indent="0">
                  <a:buNone/>
                </a:pPr>
                <a:r>
                  <a:rPr lang="en-US" altLang="zh-CN" sz="1600" baseline="30000" dirty="0"/>
                  <a:t>2</a:t>
                </a:r>
                <a:r>
                  <a:rPr lang="en-US" altLang="zh-CN" sz="1600" dirty="0"/>
                  <a:t> </a:t>
                </a:r>
                <a:r>
                  <a:rPr lang="zh-CN" altLang="en-US" sz="1600" dirty="0"/>
                  <a:t>倾向得分小于</a:t>
                </a:r>
                <a:r>
                  <a:rPr lang="en-US" altLang="zh-CN" sz="1600" dirty="0"/>
                  <a:t>0.05</a:t>
                </a:r>
                <a:r>
                  <a:rPr lang="zh-CN" altLang="en-US" sz="1600" dirty="0"/>
                  <a:t>截尾</a:t>
                </a:r>
                <a:endParaRPr lang="en-US" altLang="zh-CN" sz="1600" dirty="0"/>
              </a:p>
              <a:p>
                <a:endParaRPr lang="en-US" altLang="zh-CN" sz="1600" dirty="0"/>
              </a:p>
              <a:p>
                <a:endParaRPr lang="zh-CN" altLang="en-US" sz="1600" dirty="0"/>
              </a:p>
            </p:txBody>
          </p:sp>
        </mc:Choice>
        <mc:Fallback xmlns="">
          <p:sp>
            <p:nvSpPr>
              <p:cNvPr id="3" name="内容占位符 2">
                <a:extLst>
                  <a:ext uri="{FF2B5EF4-FFF2-40B4-BE49-F238E27FC236}">
                    <a16:creationId xmlns:a16="http://schemas.microsoft.com/office/drawing/2014/main" id="{47E47972-BDFA-C988-BDF0-695C5B62DF07}"/>
                  </a:ext>
                </a:extLst>
              </p:cNvPr>
              <p:cNvSpPr>
                <a:spLocks noGrp="1" noRot="1" noChangeAspect="1" noMove="1" noResize="1" noEditPoints="1" noAdjustHandles="1" noChangeArrowheads="1" noChangeShapeType="1" noTextEdit="1"/>
              </p:cNvSpPr>
              <p:nvPr>
                <p:ph idx="1"/>
              </p:nvPr>
            </p:nvSpPr>
            <p:spPr>
              <a:blipFill>
                <a:blip r:embed="rId2"/>
                <a:stretch>
                  <a:fillRect l="-386" t="-9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9203B05-08BB-CC48-2B4B-7B1BA8DADF1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9D91E00-5E85-9FD2-4EAB-B0F107DC287C}"/>
              </a:ext>
            </a:extLst>
          </p:cNvPr>
          <p:cNvSpPr>
            <a:spLocks noGrp="1"/>
          </p:cNvSpPr>
          <p:nvPr>
            <p:ph type="sldNum" sz="quarter" idx="12"/>
          </p:nvPr>
        </p:nvSpPr>
        <p:spPr/>
        <p:txBody>
          <a:bodyPr/>
          <a:lstStyle/>
          <a:p>
            <a:fld id="{D41FC515-8169-4A29-AA56-DBE520D5741B}" type="slidenum">
              <a:rPr lang="zh-CN" altLang="en-US" smtClean="0"/>
              <a:t>18</a:t>
            </a:fld>
            <a:endParaRPr lang="zh-CN" altLang="en-US" dirty="0"/>
          </a:p>
        </p:txBody>
      </p:sp>
      <p:pic>
        <p:nvPicPr>
          <p:cNvPr id="7" name="图片 6">
            <a:extLst>
              <a:ext uri="{FF2B5EF4-FFF2-40B4-BE49-F238E27FC236}">
                <a16:creationId xmlns:a16="http://schemas.microsoft.com/office/drawing/2014/main" id="{95908E02-55D5-D89E-2B89-D880186D29CA}"/>
              </a:ext>
            </a:extLst>
          </p:cNvPr>
          <p:cNvPicPr>
            <a:picLocks noChangeAspect="1"/>
          </p:cNvPicPr>
          <p:nvPr/>
        </p:nvPicPr>
        <p:blipFill>
          <a:blip r:embed="rId3"/>
          <a:stretch>
            <a:fillRect/>
          </a:stretch>
        </p:blipFill>
        <p:spPr>
          <a:xfrm>
            <a:off x="1693233" y="4251282"/>
            <a:ext cx="4996325" cy="1405217"/>
          </a:xfrm>
          <a:prstGeom prst="rect">
            <a:avLst/>
          </a:prstGeom>
        </p:spPr>
      </p:pic>
    </p:spTree>
    <p:extLst>
      <p:ext uri="{BB962C8B-B14F-4D97-AF65-F5344CB8AC3E}">
        <p14:creationId xmlns:p14="http://schemas.microsoft.com/office/powerpoint/2010/main" val="3728196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609A8C-83CC-6E68-6A7B-924A1738CD52}"/>
              </a:ext>
            </a:extLst>
          </p:cNvPr>
          <p:cNvSpPr>
            <a:spLocks noGrp="1"/>
          </p:cNvSpPr>
          <p:nvPr>
            <p:ph type="title"/>
          </p:nvPr>
        </p:nvSpPr>
        <p:spPr/>
        <p:txBody>
          <a:bodyPr/>
          <a:lstStyle/>
          <a:p>
            <a:r>
              <a:rPr lang="en-US" altLang="zh-CN" dirty="0"/>
              <a:t>IPW</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40654A9-A495-248A-54F6-7FDCDBC2F83C}"/>
                  </a:ext>
                </a:extLst>
              </p:cNvPr>
              <p:cNvSpPr>
                <a:spLocks noGrp="1"/>
              </p:cNvSpPr>
              <p:nvPr>
                <p:ph idx="1"/>
              </p:nvPr>
            </p:nvSpPr>
            <p:spPr/>
            <p:txBody>
              <a:bodyPr>
                <a:normAutofit/>
              </a:bodyPr>
              <a:lstStyle/>
              <a:p>
                <a:r>
                  <a:rPr lang="zh-CN" altLang="en-US" sz="1400" b="1" dirty="0"/>
                  <a:t>定理</a:t>
                </a:r>
                <a:r>
                  <a:rPr lang="en-US" altLang="zh-CN" sz="1400" b="1" dirty="0"/>
                  <a:t>2</a:t>
                </a:r>
                <a:r>
                  <a:rPr lang="zh-CN" altLang="en-US" sz="1400" b="1" dirty="0"/>
                  <a:t>：</a:t>
                </a:r>
                <a:r>
                  <a:rPr lang="zh-CN" altLang="en-US" sz="1400" dirty="0"/>
                  <a:t>如果满足非混杂性</a:t>
                </a:r>
                <a:r>
                  <a:rPr lang="en-US" altLang="zh-CN" sz="1400" dirty="0"/>
                  <a:t>(</a:t>
                </a:r>
                <a:r>
                  <a:rPr lang="zh-CN" altLang="en-US" sz="1400" dirty="0"/>
                  <a:t>𝑌 </a:t>
                </a:r>
                <a:r>
                  <a:rPr lang="en-US" altLang="zh-CN" sz="1400" dirty="0"/>
                  <a:t>(1), </a:t>
                </a:r>
                <a:r>
                  <a:rPr lang="zh-CN" altLang="en-US" sz="1400" dirty="0"/>
                  <a:t>𝑌 </a:t>
                </a:r>
                <a:r>
                  <a:rPr lang="en-US" altLang="zh-CN" sz="1400" dirty="0"/>
                  <a:t>(0)) ⟂ </a:t>
                </a:r>
                <a:r>
                  <a:rPr lang="zh-CN" altLang="en-US" sz="1400" dirty="0"/>
                  <a:t>𝐷</a:t>
                </a:r>
                <a:r>
                  <a:rPr lang="en-US" altLang="zh-CN" sz="1400" dirty="0"/>
                  <a:t>|</a:t>
                </a:r>
                <a:r>
                  <a:rPr lang="zh-CN" altLang="en-US" sz="1400" dirty="0"/>
                  <a:t>𝑋，并且</a:t>
                </a:r>
                <a:r>
                  <a:rPr lang="en-US" altLang="zh-CN" sz="1400" dirty="0"/>
                  <a:t>0 &lt; </a:t>
                </a:r>
                <a:r>
                  <a:rPr lang="zh-CN" altLang="en-US" sz="1400" dirty="0"/>
                  <a:t>𝑒</a:t>
                </a:r>
                <a:r>
                  <a:rPr lang="en-US" altLang="zh-CN" sz="1400" dirty="0"/>
                  <a:t>(</a:t>
                </a:r>
                <a:r>
                  <a:rPr lang="zh-CN" altLang="en-US" sz="1400" dirty="0"/>
                  <a:t>𝑋</a:t>
                </a:r>
                <a:r>
                  <a:rPr lang="en-US" altLang="zh-CN" sz="1400" dirty="0"/>
                  <a:t>) &lt; 1</a:t>
                </a:r>
                <a:r>
                  <a:rPr lang="zh-CN" altLang="en-US" sz="1400" dirty="0"/>
                  <a:t>，则有：</a:t>
                </a:r>
                <a:endParaRPr lang="en-US" altLang="zh-CN" sz="1400" dirty="0"/>
              </a:p>
              <a:p>
                <a:pPr marL="0" indent="0">
                  <a:buNone/>
                </a:pPr>
                <a14:m>
                  <m:oMathPara xmlns:m="http://schemas.openxmlformats.org/officeDocument/2006/math">
                    <m:oMath>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𝑌</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1</m:t>
                              </m:r>
                            </m:e>
                          </m:d>
                        </m:e>
                      </m:d>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𝐷𝑌</m:t>
                              </m:r>
                            </m:num>
                            <m:den>
                              <m:r>
                                <a:rPr lang="en-US" altLang="zh-CN" sz="1400" b="0" i="1" smtClean="0">
                                  <a:latin typeface="Cambria Math" panose="02040503050406030204" pitchFamily="18" charset="0"/>
                                </a:rPr>
                                <m:t>𝑒</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𝑋</m:t>
                                  </m:r>
                                </m:e>
                              </m:d>
                            </m:den>
                          </m:f>
                        </m:e>
                      </m:d>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𝑌</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0</m:t>
                              </m:r>
                            </m:e>
                          </m:d>
                        </m:e>
                      </m:d>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f>
                            <m:fPr>
                              <m:ctrlPr>
                                <a:rPr lang="en-US" altLang="zh-CN" sz="1400" b="0" i="1" smtClean="0">
                                  <a:latin typeface="Cambria Math" panose="02040503050406030204" pitchFamily="18" charset="0"/>
                                </a:rPr>
                              </m:ctrlPr>
                            </m:fPr>
                            <m:num>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1−</m:t>
                                  </m:r>
                                  <m:r>
                                    <a:rPr lang="en-US" altLang="zh-CN" sz="1400" b="0" i="1" smtClean="0">
                                      <a:latin typeface="Cambria Math" panose="02040503050406030204" pitchFamily="18" charset="0"/>
                                    </a:rPr>
                                    <m:t>𝐷</m:t>
                                  </m:r>
                                </m:e>
                              </m:d>
                              <m:r>
                                <a:rPr lang="en-US" altLang="zh-CN" sz="1400" b="0" i="1" smtClean="0">
                                  <a:latin typeface="Cambria Math" panose="02040503050406030204" pitchFamily="18" charset="0"/>
                                </a:rPr>
                                <m:t>𝑌</m:t>
                              </m:r>
                            </m:num>
                            <m:den>
                              <m:r>
                                <a:rPr lang="en-US" altLang="zh-CN" sz="1400" b="0" i="1" smtClean="0">
                                  <a:latin typeface="Cambria Math" panose="02040503050406030204" pitchFamily="18" charset="0"/>
                                </a:rPr>
                                <m:t>1−</m:t>
                              </m:r>
                              <m:r>
                                <a:rPr lang="en-US" altLang="zh-CN" sz="1400" b="0" i="1" smtClean="0">
                                  <a:latin typeface="Cambria Math" panose="02040503050406030204" pitchFamily="18" charset="0"/>
                                </a:rPr>
                                <m:t>𝑒</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𝑋</m:t>
                                  </m:r>
                                </m:e>
                              </m:d>
                            </m:den>
                          </m:f>
                        </m:e>
                      </m:d>
                      <m:r>
                        <a:rPr lang="en-US" altLang="zh-CN" sz="1400" b="0" i="1" smtClean="0">
                          <a:latin typeface="Cambria Math" panose="02040503050406030204" pitchFamily="18" charset="0"/>
                        </a:rPr>
                        <m:t>,</m:t>
                      </m:r>
                    </m:oMath>
                  </m:oMathPara>
                </a14:m>
                <a:endParaRPr lang="en-US" altLang="zh-CN" sz="1400" dirty="0"/>
              </a:p>
              <a:p>
                <a:pPr marL="0" indent="0">
                  <a:buNone/>
                </a:pPr>
                <a:r>
                  <a:rPr lang="zh-CN" altLang="en-US" sz="1400" dirty="0"/>
                  <a:t>     并且</a:t>
                </a:r>
                <a:endParaRPr lang="en-US" altLang="zh-CN" sz="1400" dirty="0"/>
              </a:p>
              <a:p>
                <a:pPr marL="0" indent="0">
                  <a:buNone/>
                </a:pPr>
                <a14:m>
                  <m:oMathPara xmlns:m="http://schemas.openxmlformats.org/officeDocument/2006/math">
                    <m:oMath>
                      <m:r>
                        <a:rPr lang="en-US" altLang="zh-CN" sz="1400" b="0" i="1" smtClean="0">
                          <a:latin typeface="Cambria Math" panose="02040503050406030204" pitchFamily="18" charset="0"/>
                        </a:rPr>
                        <m:t>𝜏</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𝑌</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1</m:t>
                              </m:r>
                            </m:e>
                          </m:d>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𝑌</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0</m:t>
                              </m:r>
                            </m:e>
                          </m:d>
                        </m:e>
                      </m:d>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𝐷𝑌</m:t>
                              </m:r>
                            </m:num>
                            <m:den>
                              <m:r>
                                <a:rPr lang="en-US" altLang="zh-CN" sz="1400" b="0" i="1" smtClean="0">
                                  <a:latin typeface="Cambria Math" panose="02040503050406030204" pitchFamily="18" charset="0"/>
                                </a:rPr>
                                <m:t>𝑒</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𝑋</m:t>
                                  </m:r>
                                </m:e>
                              </m:d>
                            </m:den>
                          </m:f>
                          <m:r>
                            <a:rPr lang="en-US" altLang="zh-CN" sz="1400" b="0" i="1" smtClean="0">
                              <a:latin typeface="Cambria Math" panose="02040503050406030204" pitchFamily="18" charset="0"/>
                            </a:rPr>
                            <m:t>−</m:t>
                          </m:r>
                          <m:f>
                            <m:fPr>
                              <m:ctrlPr>
                                <a:rPr lang="en-US" altLang="zh-CN" sz="1400" b="0" i="1" smtClean="0">
                                  <a:latin typeface="Cambria Math" panose="02040503050406030204" pitchFamily="18" charset="0"/>
                                </a:rPr>
                              </m:ctrlPr>
                            </m:fPr>
                            <m:num>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1−</m:t>
                                  </m:r>
                                  <m:r>
                                    <a:rPr lang="en-US" altLang="zh-CN" sz="1400" b="0" i="1" smtClean="0">
                                      <a:latin typeface="Cambria Math" panose="02040503050406030204" pitchFamily="18" charset="0"/>
                                    </a:rPr>
                                    <m:t>𝐷</m:t>
                                  </m:r>
                                </m:e>
                              </m:d>
                              <m:r>
                                <a:rPr lang="en-US" altLang="zh-CN" sz="1400" b="0" i="1" smtClean="0">
                                  <a:latin typeface="Cambria Math" panose="02040503050406030204" pitchFamily="18" charset="0"/>
                                </a:rPr>
                                <m:t>𝑌</m:t>
                              </m:r>
                            </m:num>
                            <m:den>
                              <m:r>
                                <a:rPr lang="en-US" altLang="zh-CN" sz="1400" b="0" i="1" smtClean="0">
                                  <a:latin typeface="Cambria Math" panose="02040503050406030204" pitchFamily="18" charset="0"/>
                                </a:rPr>
                                <m:t>1−</m:t>
                              </m:r>
                              <m:r>
                                <a:rPr lang="en-US" altLang="zh-CN" sz="1400" b="0" i="1" smtClean="0">
                                  <a:latin typeface="Cambria Math" panose="02040503050406030204" pitchFamily="18" charset="0"/>
                                </a:rPr>
                                <m:t>𝑒</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𝑋</m:t>
                                  </m:r>
                                </m:e>
                              </m:d>
                            </m:den>
                          </m:f>
                        </m:e>
                      </m:d>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𝐻𝑌</m:t>
                          </m:r>
                        </m:e>
                      </m:d>
                      <m:r>
                        <a:rPr lang="en-US" altLang="zh-CN" sz="1400" b="0" i="1" smtClean="0">
                          <a:latin typeface="Cambria Math" panose="02040503050406030204" pitchFamily="18" charset="0"/>
                        </a:rPr>
                        <m:t>,</m:t>
                      </m:r>
                    </m:oMath>
                  </m:oMathPara>
                </a14:m>
                <a:endParaRPr lang="en-US" altLang="zh-CN" sz="1400" dirty="0"/>
              </a:p>
              <a:p>
                <a:pPr marL="0" indent="0">
                  <a:buNone/>
                </a:pPr>
                <a:r>
                  <a:rPr lang="zh-CN" altLang="en-US" sz="1400" dirty="0"/>
                  <a:t>    其中</a:t>
                </a:r>
                <a:endParaRPr lang="en-US" altLang="zh-CN" sz="1400" dirty="0"/>
              </a:p>
              <a:p>
                <a:pPr marL="0" indent="0">
                  <a:buNone/>
                </a:pPr>
                <a14:m>
                  <m:oMathPara xmlns:m="http://schemas.openxmlformats.org/officeDocument/2006/math">
                    <m:oMath>
                      <m:r>
                        <a:rPr lang="en-US" altLang="zh-CN" sz="1400" b="0" i="1" smtClean="0">
                          <a:latin typeface="Cambria Math" panose="02040503050406030204" pitchFamily="18" charset="0"/>
                        </a:rPr>
                        <m:t>𝐻</m:t>
                      </m:r>
                      <m:r>
                        <a:rPr lang="en-US" altLang="zh-CN" sz="1400" b="0" i="1" smtClean="0">
                          <a:latin typeface="Cambria Math" panose="02040503050406030204" pitchFamily="18" charset="0"/>
                        </a:rPr>
                        <m:t>=</m:t>
                      </m:r>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𝐷</m:t>
                          </m:r>
                        </m:num>
                        <m:den>
                          <m:r>
                            <a:rPr lang="en-US" altLang="zh-CN" sz="1400" b="0" i="1" smtClean="0">
                              <a:latin typeface="Cambria Math" panose="02040503050406030204" pitchFamily="18" charset="0"/>
                            </a:rPr>
                            <m:t>𝑒</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𝑋</m:t>
                              </m:r>
                            </m:e>
                          </m:d>
                        </m:den>
                      </m:f>
                      <m:r>
                        <a:rPr lang="en-US" altLang="zh-CN" sz="1400" b="0" i="1" smtClean="0">
                          <a:latin typeface="Cambria Math" panose="02040503050406030204" pitchFamily="18" charset="0"/>
                        </a:rPr>
                        <m:t>−</m:t>
                      </m:r>
                      <m:f>
                        <m:fPr>
                          <m:ctrlPr>
                            <a:rPr lang="en-US" altLang="zh-CN" sz="1400" i="1">
                              <a:latin typeface="Cambria Math" panose="02040503050406030204" pitchFamily="18" charset="0"/>
                            </a:rPr>
                          </m:ctrlPr>
                        </m:fPr>
                        <m:num>
                          <m:r>
                            <a:rPr lang="en-US" altLang="zh-CN" sz="1400" i="1">
                              <a:latin typeface="Cambria Math" panose="02040503050406030204" pitchFamily="18" charset="0"/>
                            </a:rPr>
                            <m:t>1−</m:t>
                          </m:r>
                          <m:r>
                            <a:rPr lang="en-US" altLang="zh-CN" sz="1400" b="0" i="1" smtClean="0">
                              <a:latin typeface="Cambria Math" panose="02040503050406030204" pitchFamily="18" charset="0"/>
                            </a:rPr>
                            <m:t>𝐷</m:t>
                          </m:r>
                        </m:num>
                        <m:den>
                          <m:r>
                            <a:rPr lang="en-US" altLang="zh-CN" sz="1400" b="0" i="1" smtClean="0">
                              <a:latin typeface="Cambria Math" panose="02040503050406030204" pitchFamily="18" charset="0"/>
                            </a:rPr>
                            <m:t>1−</m:t>
                          </m:r>
                          <m:r>
                            <a:rPr lang="en-US" altLang="zh-CN" sz="1400" b="0" i="1" smtClean="0">
                              <a:latin typeface="Cambria Math" panose="02040503050406030204" pitchFamily="18" charset="0"/>
                            </a:rPr>
                            <m:t>𝑒</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𝑋</m:t>
                              </m:r>
                            </m:e>
                          </m:d>
                        </m:den>
                      </m:f>
                      <m:r>
                        <a:rPr lang="en-US" altLang="zh-CN" sz="1400" b="0" i="1" smtClean="0">
                          <a:latin typeface="Cambria Math" panose="02040503050406030204" pitchFamily="18" charset="0"/>
                        </a:rPr>
                        <m:t>.</m:t>
                      </m:r>
                    </m:oMath>
                  </m:oMathPara>
                </a14:m>
                <a:endParaRPr lang="en-US" altLang="zh-CN" sz="1400" dirty="0"/>
              </a:p>
              <a:p>
                <a:r>
                  <a:rPr lang="zh-CN" altLang="en-US" sz="1400" dirty="0"/>
                  <a:t>证明：</a:t>
                </a:r>
                <a:endParaRPr lang="en-US" altLang="zh-CN" sz="1400" dirty="0"/>
              </a:p>
              <a:p>
                <a:pPr marL="0" indent="0">
                  <a:buNone/>
                </a:pPr>
                <a14:m>
                  <m:oMathPara xmlns:m="http://schemas.openxmlformats.org/officeDocument/2006/math">
                    <m:oMath>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𝐷𝑌</m:t>
                              </m:r>
                            </m:num>
                            <m:den>
                              <m:r>
                                <a:rPr lang="en-US" altLang="zh-CN" sz="1400" b="0" i="1" smtClean="0">
                                  <a:latin typeface="Cambria Math" panose="02040503050406030204" pitchFamily="18" charset="0"/>
                                </a:rPr>
                                <m:t>𝑒</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𝑋</m:t>
                                  </m:r>
                                </m:e>
                              </m:d>
                            </m:den>
                          </m:f>
                        </m:e>
                      </m:d>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𝐷𝑌</m:t>
                                  </m:r>
                                </m:num>
                                <m:den>
                                  <m:r>
                                    <a:rPr lang="en-US" altLang="zh-CN" sz="1400" b="0" i="1" smtClean="0">
                                      <a:latin typeface="Cambria Math" panose="02040503050406030204" pitchFamily="18" charset="0"/>
                                    </a:rPr>
                                    <m:t>𝑒</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𝑋</m:t>
                                      </m:r>
                                    </m:e>
                                  </m:d>
                                </m:den>
                              </m:f>
                            </m:e>
                            <m:e>
                              <m:r>
                                <a:rPr lang="en-US" altLang="zh-CN" sz="1400" b="0" i="1" smtClean="0">
                                  <a:latin typeface="Cambria Math" panose="02040503050406030204" pitchFamily="18" charset="0"/>
                                </a:rPr>
                                <m:t>𝑋</m:t>
                              </m:r>
                            </m:e>
                          </m:d>
                        </m:e>
                      </m:d>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1</m:t>
                              </m:r>
                            </m:num>
                            <m:den>
                              <m:r>
                                <a:rPr lang="en-US" altLang="zh-CN" sz="1400" b="0" i="1" smtClean="0">
                                  <a:latin typeface="Cambria Math" panose="02040503050406030204" pitchFamily="18" charset="0"/>
                                </a:rPr>
                                <m:t>𝑒</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𝑋</m:t>
                                  </m:r>
                                </m:e>
                              </m:d>
                            </m:den>
                          </m:f>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𝐷𝑌</m:t>
                              </m:r>
                            </m:e>
                            <m:e>
                              <m:r>
                                <a:rPr lang="en-US" altLang="zh-CN" sz="1400" b="0" i="1" smtClean="0">
                                  <a:latin typeface="Cambria Math" panose="02040503050406030204" pitchFamily="18" charset="0"/>
                                </a:rPr>
                                <m:t>𝑋</m:t>
                              </m:r>
                            </m:e>
                          </m:d>
                        </m:e>
                      </m:d>
                    </m:oMath>
                    <m:oMath>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1</m:t>
                              </m:r>
                            </m:num>
                            <m:den>
                              <m:r>
                                <a:rPr lang="en-US" altLang="zh-CN" sz="1400" b="0" i="1" smtClean="0">
                                  <a:latin typeface="Cambria Math" panose="02040503050406030204" pitchFamily="18" charset="0"/>
                                </a:rPr>
                                <m:t>𝑒</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𝑋</m:t>
                                  </m:r>
                                </m:e>
                              </m:d>
                            </m:den>
                          </m:f>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𝑌</m:t>
                              </m:r>
                            </m:e>
                            <m:e>
                              <m:r>
                                <a:rPr lang="en-US" altLang="zh-CN" sz="1400" b="0" i="1" smtClean="0">
                                  <a:latin typeface="Cambria Math" panose="02040503050406030204" pitchFamily="18" charset="0"/>
                                </a:rPr>
                                <m:t>𝐷</m:t>
                              </m:r>
                              <m:r>
                                <a:rPr lang="en-US" altLang="zh-CN" sz="1400" b="0" i="1" smtClean="0">
                                  <a:latin typeface="Cambria Math" panose="02040503050406030204" pitchFamily="18" charset="0"/>
                                </a:rPr>
                                <m:t>=1,</m:t>
                              </m:r>
                              <m:r>
                                <a:rPr lang="en-US" altLang="zh-CN" sz="1400" b="0" i="1" smtClean="0">
                                  <a:latin typeface="Cambria Math" panose="02040503050406030204" pitchFamily="18" charset="0"/>
                                </a:rPr>
                                <m:t>𝑋</m:t>
                              </m:r>
                            </m:e>
                          </m:d>
                          <m:r>
                            <a:rPr lang="en-US" altLang="zh-CN" sz="1400" b="0" i="1" smtClean="0">
                              <a:latin typeface="Cambria Math" panose="02040503050406030204" pitchFamily="18" charset="0"/>
                            </a:rPr>
                            <m:t>𝑒</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𝑋</m:t>
                              </m:r>
                            </m:e>
                          </m:d>
                        </m:e>
                      </m:d>
                    </m:oMath>
                    <m:oMath>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𝑌</m:t>
                              </m:r>
                            </m:e>
                            <m:e>
                              <m:r>
                                <a:rPr lang="en-US" altLang="zh-CN" sz="1400" b="0" i="1" smtClean="0">
                                  <a:latin typeface="Cambria Math" panose="02040503050406030204" pitchFamily="18" charset="0"/>
                                </a:rPr>
                                <m:t>𝐷</m:t>
                              </m:r>
                              <m:r>
                                <a:rPr lang="en-US" altLang="zh-CN" sz="1400" b="0" i="1" smtClean="0">
                                  <a:latin typeface="Cambria Math" panose="02040503050406030204" pitchFamily="18" charset="0"/>
                                </a:rPr>
                                <m:t>=1,</m:t>
                              </m:r>
                              <m:r>
                                <a:rPr lang="en-US" altLang="zh-CN" sz="1400" b="0" i="1" smtClean="0">
                                  <a:latin typeface="Cambria Math" panose="02040503050406030204" pitchFamily="18" charset="0"/>
                                </a:rPr>
                                <m:t>𝑋</m:t>
                              </m:r>
                            </m:e>
                          </m:d>
                        </m:e>
                      </m:d>
                    </m:oMath>
                    <m:oMath>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𝐸</m:t>
                          </m:r>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𝑌</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1</m:t>
                                  </m:r>
                                </m:e>
                              </m:d>
                            </m:e>
                            <m:e>
                              <m:r>
                                <a:rPr lang="en-US" altLang="zh-CN" sz="1400" b="0" i="1" smtClean="0">
                                  <a:latin typeface="Cambria Math" panose="02040503050406030204" pitchFamily="18" charset="0"/>
                                </a:rPr>
                                <m:t>𝑋</m:t>
                              </m:r>
                            </m:e>
                          </m:d>
                        </m:e>
                      </m:d>
                    </m:oMath>
                    <m:oMath>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𝐸</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𝑌</m:t>
                      </m:r>
                      <m:d>
                        <m:dPr>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1</m:t>
                          </m:r>
                        </m:e>
                      </m:d>
                      <m:r>
                        <a:rPr lang="en-US" altLang="zh-CN" sz="1400" b="0" i="1" smtClean="0">
                          <a:latin typeface="Cambria Math" panose="02040503050406030204" pitchFamily="18" charset="0"/>
                        </a:rPr>
                        <m:t>]</m:t>
                      </m:r>
                    </m:oMath>
                  </m:oMathPara>
                </a14:m>
                <a:endParaRPr lang="en-US" altLang="zh-CN" sz="1400" b="0" dirty="0"/>
              </a:p>
              <a:p>
                <a:endParaRPr lang="zh-CN" altLang="en-US" sz="1400" dirty="0"/>
              </a:p>
            </p:txBody>
          </p:sp>
        </mc:Choice>
        <mc:Fallback xmlns="">
          <p:sp>
            <p:nvSpPr>
              <p:cNvPr id="3" name="内容占位符 2">
                <a:extLst>
                  <a:ext uri="{FF2B5EF4-FFF2-40B4-BE49-F238E27FC236}">
                    <a16:creationId xmlns:a16="http://schemas.microsoft.com/office/drawing/2014/main" id="{640654A9-A495-248A-54F6-7FDCDBC2F83C}"/>
                  </a:ext>
                </a:extLst>
              </p:cNvPr>
              <p:cNvSpPr>
                <a:spLocks noGrp="1" noRot="1" noChangeAspect="1" noMove="1" noResize="1" noEditPoints="1" noAdjustHandles="1" noChangeArrowheads="1" noChangeShapeType="1" noTextEdit="1"/>
              </p:cNvSpPr>
              <p:nvPr>
                <p:ph idx="1"/>
              </p:nvPr>
            </p:nvSpPr>
            <p:spPr>
              <a:blipFill>
                <a:blip r:embed="rId2"/>
                <a:stretch>
                  <a:fillRect l="-77" t="-2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8F3ED73-41B3-1038-9CCC-1E7499D3BDF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97B78B4-C5C1-0789-9136-3AB12E72B0AD}"/>
              </a:ext>
            </a:extLst>
          </p:cNvPr>
          <p:cNvSpPr>
            <a:spLocks noGrp="1"/>
          </p:cNvSpPr>
          <p:nvPr>
            <p:ph type="sldNum" sz="quarter" idx="12"/>
          </p:nvPr>
        </p:nvSpPr>
        <p:spPr/>
        <p:txBody>
          <a:bodyPr/>
          <a:lstStyle/>
          <a:p>
            <a:fld id="{D41FC515-8169-4A29-AA56-DBE520D5741B}" type="slidenum">
              <a:rPr lang="zh-CN" altLang="en-US" smtClean="0"/>
              <a:t>19</a:t>
            </a:fld>
            <a:endParaRPr lang="zh-CN" altLang="en-US"/>
          </a:p>
        </p:txBody>
      </p:sp>
    </p:spTree>
    <p:extLst>
      <p:ext uri="{BB962C8B-B14F-4D97-AF65-F5344CB8AC3E}">
        <p14:creationId xmlns:p14="http://schemas.microsoft.com/office/powerpoint/2010/main" val="265841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4FE411-F09B-15A6-4D82-3D0A5FCC1893}"/>
              </a:ext>
            </a:extLst>
          </p:cNvPr>
          <p:cNvSpPr>
            <a:spLocks noGrp="1"/>
          </p:cNvSpPr>
          <p:nvPr>
            <p:ph type="title"/>
          </p:nvPr>
        </p:nvSpPr>
        <p:spPr/>
        <p:txBody>
          <a:bodyPr/>
          <a:lstStyle/>
          <a:p>
            <a:r>
              <a:rPr lang="en-US" altLang="zh-CN" dirty="0"/>
              <a:t>IPW</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2D58A73-2BE7-D94C-0777-76F44E8C7006}"/>
                  </a:ext>
                </a:extLst>
              </p:cNvPr>
              <p:cNvSpPr>
                <a:spLocks noGrp="1"/>
              </p:cNvSpPr>
              <p:nvPr>
                <p:ph idx="1"/>
              </p:nvPr>
            </p:nvSpPr>
            <p:spPr>
              <a:xfrm>
                <a:off x="628650" y="1825624"/>
                <a:ext cx="7886700" cy="4895851"/>
              </a:xfrm>
            </p:spPr>
            <p:txBody>
              <a:bodyPr>
                <a:normAutofit/>
              </a:bodyPr>
              <a:lstStyle/>
              <a:p>
                <a:pPr>
                  <a:lnSpc>
                    <a:spcPct val="120000"/>
                  </a:lnSpc>
                </a:pPr>
                <a:r>
                  <a:rPr lang="en-US" altLang="zh-CN" sz="1600" dirty="0"/>
                  <a:t>IPW </a:t>
                </a:r>
                <a:r>
                  <a:rPr lang="zh-CN" altLang="en-US" sz="1600" dirty="0"/>
                  <a:t>估计量：</a:t>
                </a:r>
                <a:endParaRPr lang="en-US" altLang="zh-CN" sz="1600" dirty="0"/>
              </a:p>
              <a:p>
                <a:pPr marL="0" indent="0">
                  <a:lnSpc>
                    <a:spcPct val="120000"/>
                  </a:lnSpc>
                  <a:buNone/>
                </a:pPr>
                <a14:m>
                  <m:oMathPara xmlns:m="http://schemas.openxmlformats.org/officeDocument/2006/math">
                    <m:oMath>
                      <m:sSup>
                        <m:sSupPr>
                          <m:ctrlPr>
                            <a:rPr lang="en-US" altLang="zh-CN" sz="1600" b="0" i="1" smtClean="0">
                              <a:latin typeface="Cambria Math" panose="02040503050406030204" pitchFamily="18" charset="0"/>
                            </a:rPr>
                          </m:ctrlPr>
                        </m:s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𝜏</m:t>
                              </m:r>
                            </m:e>
                          </m:acc>
                        </m:e>
                        <m:sup>
                          <m:r>
                            <a:rPr lang="en-US" altLang="zh-CN" sz="1600" b="0" i="1" dirty="0" smtClean="0">
                              <a:latin typeface="Cambria Math" panose="02040503050406030204" pitchFamily="18" charset="0"/>
                            </a:rPr>
                            <m:t>ℎ𝑡</m:t>
                          </m:r>
                        </m:sup>
                      </m:sSup>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1</m:t>
                          </m:r>
                        </m:num>
                        <m:den>
                          <m:r>
                            <a:rPr lang="en-US" altLang="zh-CN" sz="1600" b="0" i="1" dirty="0" smtClean="0">
                              <a:latin typeface="Cambria Math" panose="02040503050406030204" pitchFamily="18" charset="0"/>
                            </a:rPr>
                            <m:t>𝑛</m:t>
                          </m:r>
                        </m:den>
                      </m:f>
                      <m:nary>
                        <m:naryPr>
                          <m:chr m:val="∑"/>
                          <m:ctrlPr>
                            <a:rPr lang="en-US" altLang="zh-CN" sz="1600" b="0" i="1" dirty="0" smtClean="0">
                              <a:latin typeface="Cambria Math" panose="02040503050406030204" pitchFamily="18" charset="0"/>
                            </a:rPr>
                          </m:ctrlPr>
                        </m:naryPr>
                        <m:sub>
                          <m:r>
                            <a:rPr lang="en-US" altLang="zh-CN" sz="1600" b="0" i="1" dirty="0" smtClean="0">
                              <a:latin typeface="Cambria Math" panose="02040503050406030204" pitchFamily="18" charset="0"/>
                            </a:rPr>
                            <m:t>𝑖</m:t>
                          </m:r>
                          <m:r>
                            <a:rPr lang="en-US" altLang="zh-CN" sz="1600" b="0" i="1" dirty="0" smtClean="0">
                              <a:latin typeface="Cambria Math" panose="02040503050406030204" pitchFamily="18" charset="0"/>
                            </a:rPr>
                            <m:t>=1</m:t>
                          </m:r>
                        </m:sub>
                        <m:sup>
                          <m:r>
                            <a:rPr lang="en-US" altLang="zh-CN" sz="1600" b="0" i="1" dirty="0" smtClean="0">
                              <a:latin typeface="Cambria Math" panose="02040503050406030204" pitchFamily="18" charset="0"/>
                            </a:rPr>
                            <m:t>𝑛</m:t>
                          </m:r>
                        </m:sup>
                        <m:e>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𝐷</m:t>
                                  </m:r>
                                </m:e>
                                <m:sub>
                                  <m:r>
                                    <a:rPr lang="en-US" altLang="zh-CN" sz="1600" b="0" i="1" dirty="0" smtClean="0">
                                      <a:latin typeface="Cambria Math" panose="02040503050406030204" pitchFamily="18" charset="0"/>
                                    </a:rPr>
                                    <m:t>𝑖</m:t>
                                  </m:r>
                                </m:sub>
                              </m:sSub>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𝑌</m:t>
                                  </m:r>
                                </m:e>
                                <m:sub>
                                  <m:r>
                                    <a:rPr lang="en-US" altLang="zh-CN" sz="1600" b="0" i="1" dirty="0" smtClean="0">
                                      <a:latin typeface="Cambria Math" panose="02040503050406030204" pitchFamily="18" charset="0"/>
                                    </a:rPr>
                                    <m:t>𝑖</m:t>
                                  </m:r>
                                </m:sub>
                              </m:sSub>
                            </m:num>
                            <m:den>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𝑒</m:t>
                                  </m:r>
                                </m:e>
                              </m:acc>
                              <m:d>
                                <m:dPr>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𝑋</m:t>
                                      </m:r>
                                    </m:e>
                                    <m:sub>
                                      <m:r>
                                        <a:rPr lang="en-US" altLang="zh-CN" sz="1600" b="0" i="1" dirty="0" smtClean="0">
                                          <a:latin typeface="Cambria Math" panose="02040503050406030204" pitchFamily="18" charset="0"/>
                                        </a:rPr>
                                        <m:t>𝑖</m:t>
                                      </m:r>
                                    </m:sub>
                                  </m:sSub>
                                </m:e>
                              </m:d>
                            </m:den>
                          </m:f>
                        </m:e>
                      </m:nary>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1</m:t>
                          </m:r>
                        </m:num>
                        <m:den>
                          <m:r>
                            <a:rPr lang="en-US" altLang="zh-CN" sz="1600" b="0" i="1" dirty="0" smtClean="0">
                              <a:latin typeface="Cambria Math" panose="02040503050406030204" pitchFamily="18" charset="0"/>
                            </a:rPr>
                            <m:t>𝑛</m:t>
                          </m:r>
                        </m:den>
                      </m:f>
                      <m:nary>
                        <m:naryPr>
                          <m:chr m:val="∑"/>
                          <m:ctrlPr>
                            <a:rPr lang="en-US" altLang="zh-CN" sz="1600" b="0" i="1" dirty="0" smtClean="0">
                              <a:latin typeface="Cambria Math" panose="02040503050406030204" pitchFamily="18" charset="0"/>
                            </a:rPr>
                          </m:ctrlPr>
                        </m:naryPr>
                        <m:sub>
                          <m:r>
                            <a:rPr lang="en-US" altLang="zh-CN" sz="1600" b="0" i="1" dirty="0" smtClean="0">
                              <a:latin typeface="Cambria Math" panose="02040503050406030204" pitchFamily="18" charset="0"/>
                            </a:rPr>
                            <m:t>𝑖</m:t>
                          </m:r>
                          <m:r>
                            <a:rPr lang="en-US" altLang="zh-CN" sz="1600" b="0" i="1" dirty="0" smtClean="0">
                              <a:latin typeface="Cambria Math" panose="02040503050406030204" pitchFamily="18" charset="0"/>
                            </a:rPr>
                            <m:t>=1</m:t>
                          </m:r>
                        </m:sub>
                        <m:sup>
                          <m:r>
                            <a:rPr lang="en-US" altLang="zh-CN" sz="1600" b="0" i="1" dirty="0" smtClean="0">
                              <a:latin typeface="Cambria Math" panose="02040503050406030204" pitchFamily="18" charset="0"/>
                            </a:rPr>
                            <m:t>𝑛</m:t>
                          </m:r>
                        </m:sup>
                        <m:e>
                          <m:f>
                            <m:fPr>
                              <m:ctrlPr>
                                <a:rPr lang="en-US" altLang="zh-CN" sz="1600" b="0" i="1" dirty="0" smtClean="0">
                                  <a:latin typeface="Cambria Math" panose="02040503050406030204" pitchFamily="18" charset="0"/>
                                </a:rPr>
                              </m:ctrlPr>
                            </m:fPr>
                            <m:num>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1−</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𝐷</m:t>
                                      </m:r>
                                    </m:e>
                                    <m:sub>
                                      <m:r>
                                        <a:rPr lang="en-US" altLang="zh-CN" sz="1600" b="0" i="1" dirty="0" smtClean="0">
                                          <a:latin typeface="Cambria Math" panose="02040503050406030204" pitchFamily="18" charset="0"/>
                                        </a:rPr>
                                        <m:t>𝑖</m:t>
                                      </m:r>
                                    </m:sub>
                                  </m:sSub>
                                </m:e>
                              </m:d>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𝑌</m:t>
                                  </m:r>
                                </m:e>
                                <m:sub>
                                  <m:r>
                                    <a:rPr lang="en-US" altLang="zh-CN" sz="1600" b="0" i="1" dirty="0" smtClean="0">
                                      <a:latin typeface="Cambria Math" panose="02040503050406030204" pitchFamily="18" charset="0"/>
                                    </a:rPr>
                                    <m:t>𝑖</m:t>
                                  </m:r>
                                </m:sub>
                              </m:sSub>
                            </m:num>
                            <m:den>
                              <m:r>
                                <a:rPr lang="en-US" altLang="zh-CN" sz="1600" b="0" i="1" dirty="0" smtClean="0">
                                  <a:latin typeface="Cambria Math" panose="02040503050406030204" pitchFamily="18" charset="0"/>
                                </a:rPr>
                                <m:t>1−</m:t>
                              </m:r>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𝑒</m:t>
                                  </m:r>
                                </m:e>
                              </m:acc>
                              <m:d>
                                <m:dPr>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𝑋</m:t>
                                      </m:r>
                                    </m:e>
                                    <m:sub>
                                      <m:r>
                                        <a:rPr lang="en-US" altLang="zh-CN" sz="1600" b="0" i="1" dirty="0" smtClean="0">
                                          <a:latin typeface="Cambria Math" panose="02040503050406030204" pitchFamily="18" charset="0"/>
                                        </a:rPr>
                                        <m:t>𝑖</m:t>
                                      </m:r>
                                    </m:sub>
                                  </m:sSub>
                                </m:e>
                              </m:d>
                            </m:den>
                          </m:f>
                        </m:e>
                      </m:nary>
                      <m:r>
                        <a:rPr lang="en-US" altLang="zh-CN" sz="1600" b="0" i="1" dirty="0" smtClean="0">
                          <a:latin typeface="Cambria Math" panose="02040503050406030204" pitchFamily="18" charset="0"/>
                        </a:rPr>
                        <m:t>,</m:t>
                      </m:r>
                    </m:oMath>
                  </m:oMathPara>
                </a14:m>
                <a:endParaRPr lang="en-US" altLang="zh-CN" sz="1600" dirty="0"/>
              </a:p>
              <a:p>
                <a:pPr>
                  <a:lnSpc>
                    <a:spcPct val="120000"/>
                  </a:lnSpc>
                </a:pPr>
                <a:r>
                  <a:rPr lang="en-US" altLang="zh-CN" sz="1600" dirty="0"/>
                  <a:t>Horvitz and Thompson (1952) </a:t>
                </a:r>
                <a:r>
                  <a:rPr lang="zh-CN" altLang="en-US" sz="1600" dirty="0"/>
                  <a:t>在抽样调查分析中提出，</a:t>
                </a:r>
                <a:r>
                  <a:rPr lang="en-US" altLang="zh-CN" sz="1600" dirty="0"/>
                  <a:t>Rosenbaum(1978) </a:t>
                </a:r>
                <a:r>
                  <a:rPr lang="zh-CN" altLang="en-US" sz="1600" dirty="0"/>
                  <a:t>将它应用于因果推断。</a:t>
                </a:r>
                <a:endParaRPr lang="en-US" altLang="zh-CN" sz="1600" dirty="0"/>
              </a:p>
              <a:p>
                <a:pPr>
                  <a:lnSpc>
                    <a:spcPct val="120000"/>
                  </a:lnSpc>
                </a:pPr>
                <a:r>
                  <a:rPr lang="zh-CN" altLang="en-US" sz="1600" dirty="0"/>
                  <a:t>但该估计量不稳健，比如将结果调整为𝑌𝑖 </a:t>
                </a:r>
                <a:r>
                  <a:rPr lang="en-US" altLang="zh-CN" sz="1600" dirty="0"/>
                  <a:t>+ </a:t>
                </a:r>
                <a:r>
                  <a:rPr lang="zh-CN" altLang="en-US" sz="1600" dirty="0"/>
                  <a:t>𝑐，上述估计值将会变化，更稳健的估计量称为标准化的</a:t>
                </a:r>
                <a:r>
                  <a:rPr lang="en-US" altLang="zh-CN" sz="1600" dirty="0"/>
                  <a:t>IPW </a:t>
                </a:r>
                <a:r>
                  <a:rPr lang="zh-CN" altLang="en-US" sz="1600" dirty="0"/>
                  <a:t>估计量：</a:t>
                </a:r>
                <a:endParaRPr lang="en-US" altLang="zh-CN" sz="1600" b="0" i="1" dirty="0">
                  <a:latin typeface="Cambria Math" panose="02040503050406030204" pitchFamily="18" charset="0"/>
                </a:endParaRPr>
              </a:p>
              <a:p>
                <a:pPr marL="0" indent="0">
                  <a:lnSpc>
                    <a:spcPct val="120000"/>
                  </a:lnSpc>
                  <a:buNone/>
                </a:pPr>
                <a14:m>
                  <m:oMathPara xmlns:m="http://schemas.openxmlformats.org/officeDocument/2006/math">
                    <m:oMath>
                      <m:sSup>
                        <m:sSupPr>
                          <m:ctrlPr>
                            <a:rPr lang="en-US" altLang="zh-CN" sz="1600" b="0" i="1" smtClean="0">
                              <a:latin typeface="Cambria Math" panose="02040503050406030204" pitchFamily="18" charset="0"/>
                            </a:rPr>
                          </m:ctrlPr>
                        </m:s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𝜏</m:t>
                              </m:r>
                            </m:e>
                          </m:acc>
                        </m:e>
                        <m:sup>
                          <m:r>
                            <a:rPr lang="en-US" altLang="zh-CN" sz="1600" b="0" i="1" dirty="0" smtClean="0">
                              <a:latin typeface="Cambria Math" panose="02040503050406030204" pitchFamily="18" charset="0"/>
                            </a:rPr>
                            <m:t>𝑛ℎ𝑡</m:t>
                          </m:r>
                        </m:sup>
                      </m:sSup>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nary>
                            <m:naryPr>
                              <m:chr m:val="∑"/>
                              <m:ctrlPr>
                                <a:rPr lang="en-US" altLang="zh-CN" sz="1600" b="0" i="1" dirty="0" smtClean="0">
                                  <a:latin typeface="Cambria Math" panose="02040503050406030204" pitchFamily="18" charset="0"/>
                                </a:rPr>
                              </m:ctrlPr>
                            </m:naryPr>
                            <m:sub>
                              <m:r>
                                <a:rPr lang="en-US" altLang="zh-CN" sz="1600" b="0" i="1" dirty="0" smtClean="0">
                                  <a:latin typeface="Cambria Math" panose="02040503050406030204" pitchFamily="18" charset="0"/>
                                </a:rPr>
                                <m:t>𝑖</m:t>
                              </m:r>
                              <m:r>
                                <a:rPr lang="en-US" altLang="zh-CN" sz="1600" b="0" i="1" dirty="0" smtClean="0">
                                  <a:latin typeface="Cambria Math" panose="02040503050406030204" pitchFamily="18" charset="0"/>
                                </a:rPr>
                                <m:t>=1</m:t>
                              </m:r>
                            </m:sub>
                            <m:sup>
                              <m:r>
                                <a:rPr lang="en-US" altLang="zh-CN" sz="1600" b="0" i="1" dirty="0" smtClean="0">
                                  <a:latin typeface="Cambria Math" panose="02040503050406030204" pitchFamily="18" charset="0"/>
                                </a:rPr>
                                <m:t>𝑛</m:t>
                              </m:r>
                            </m:sup>
                            <m:e>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𝐷</m:t>
                                      </m:r>
                                    </m:e>
                                    <m:sub>
                                      <m:r>
                                        <a:rPr lang="en-US" altLang="zh-CN" sz="1600" b="0" i="1" dirty="0" smtClean="0">
                                          <a:latin typeface="Cambria Math" panose="02040503050406030204" pitchFamily="18" charset="0"/>
                                        </a:rPr>
                                        <m:t>𝑖</m:t>
                                      </m:r>
                                    </m:sub>
                                  </m:sSub>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𝑌</m:t>
                                      </m:r>
                                    </m:e>
                                    <m:sub>
                                      <m:r>
                                        <a:rPr lang="en-US" altLang="zh-CN" sz="1600" b="0" i="1" dirty="0" smtClean="0">
                                          <a:latin typeface="Cambria Math" panose="02040503050406030204" pitchFamily="18" charset="0"/>
                                        </a:rPr>
                                        <m:t>𝑖</m:t>
                                      </m:r>
                                    </m:sub>
                                  </m:sSub>
                                </m:num>
                                <m:den>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𝑒</m:t>
                                      </m:r>
                                    </m:e>
                                  </m:acc>
                                  <m:d>
                                    <m:dPr>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𝑋</m:t>
                                          </m:r>
                                        </m:e>
                                        <m:sub>
                                          <m:r>
                                            <a:rPr lang="en-US" altLang="zh-CN" sz="1600" b="0" i="1" dirty="0" smtClean="0">
                                              <a:latin typeface="Cambria Math" panose="02040503050406030204" pitchFamily="18" charset="0"/>
                                            </a:rPr>
                                            <m:t>𝑖</m:t>
                                          </m:r>
                                        </m:sub>
                                      </m:sSub>
                                    </m:e>
                                  </m:d>
                                </m:den>
                              </m:f>
                            </m:e>
                          </m:nary>
                        </m:num>
                        <m:den>
                          <m:nary>
                            <m:naryPr>
                              <m:chr m:val="∑"/>
                              <m:ctrlPr>
                                <a:rPr lang="en-US" altLang="zh-CN" sz="1600" b="0" i="1" dirty="0" smtClean="0">
                                  <a:latin typeface="Cambria Math" panose="02040503050406030204" pitchFamily="18" charset="0"/>
                                </a:rPr>
                              </m:ctrlPr>
                            </m:naryPr>
                            <m:sub>
                              <m:r>
                                <a:rPr lang="en-US" altLang="zh-CN" sz="1600" b="0" i="1" dirty="0" smtClean="0">
                                  <a:latin typeface="Cambria Math" panose="02040503050406030204" pitchFamily="18" charset="0"/>
                                </a:rPr>
                                <m:t>𝑖</m:t>
                              </m:r>
                              <m:r>
                                <a:rPr lang="en-US" altLang="zh-CN" sz="1600" b="0" i="1" dirty="0" smtClean="0">
                                  <a:latin typeface="Cambria Math" panose="02040503050406030204" pitchFamily="18" charset="0"/>
                                </a:rPr>
                                <m:t>=1</m:t>
                              </m:r>
                            </m:sub>
                            <m:sup>
                              <m:r>
                                <a:rPr lang="en-US" altLang="zh-CN" sz="1600" b="0" i="1" dirty="0" smtClean="0">
                                  <a:latin typeface="Cambria Math" panose="02040503050406030204" pitchFamily="18" charset="0"/>
                                </a:rPr>
                                <m:t>𝑛</m:t>
                              </m:r>
                            </m:sup>
                            <m:e>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𝐷</m:t>
                                      </m:r>
                                    </m:e>
                                    <m:sub>
                                      <m:r>
                                        <a:rPr lang="en-US" altLang="zh-CN" sz="1600" b="0" i="1" dirty="0" smtClean="0">
                                          <a:latin typeface="Cambria Math" panose="02040503050406030204" pitchFamily="18" charset="0"/>
                                        </a:rPr>
                                        <m:t>𝑖</m:t>
                                      </m:r>
                                    </m:sub>
                                  </m:sSub>
                                </m:num>
                                <m:den>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𝑒</m:t>
                                      </m:r>
                                    </m:e>
                                  </m:acc>
                                  <m:d>
                                    <m:dPr>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𝑋</m:t>
                                          </m:r>
                                        </m:e>
                                        <m:sub>
                                          <m:r>
                                            <a:rPr lang="en-US" altLang="zh-CN" sz="1600" b="0" i="1" dirty="0" smtClean="0">
                                              <a:latin typeface="Cambria Math" panose="02040503050406030204" pitchFamily="18" charset="0"/>
                                            </a:rPr>
                                            <m:t>𝑖</m:t>
                                          </m:r>
                                        </m:sub>
                                      </m:sSub>
                                    </m:e>
                                  </m:d>
                                </m:den>
                              </m:f>
                            </m:e>
                          </m:nary>
                        </m:den>
                      </m:f>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nary>
                            <m:naryPr>
                              <m:chr m:val="∑"/>
                              <m:ctrlPr>
                                <a:rPr lang="en-US" altLang="zh-CN" sz="1600" b="0" i="1" dirty="0" smtClean="0">
                                  <a:latin typeface="Cambria Math" panose="02040503050406030204" pitchFamily="18" charset="0"/>
                                </a:rPr>
                              </m:ctrlPr>
                            </m:naryPr>
                            <m:sub>
                              <m:r>
                                <a:rPr lang="en-US" altLang="zh-CN" sz="1600" b="0" i="1" dirty="0" smtClean="0">
                                  <a:latin typeface="Cambria Math" panose="02040503050406030204" pitchFamily="18" charset="0"/>
                                </a:rPr>
                                <m:t>𝑖</m:t>
                              </m:r>
                              <m:r>
                                <a:rPr lang="en-US" altLang="zh-CN" sz="1600" b="0" i="1" dirty="0" smtClean="0">
                                  <a:latin typeface="Cambria Math" panose="02040503050406030204" pitchFamily="18" charset="0"/>
                                </a:rPr>
                                <m:t>=1</m:t>
                              </m:r>
                            </m:sub>
                            <m:sup>
                              <m:r>
                                <a:rPr lang="en-US" altLang="zh-CN" sz="1600" b="0" i="1" dirty="0" smtClean="0">
                                  <a:latin typeface="Cambria Math" panose="02040503050406030204" pitchFamily="18" charset="0"/>
                                </a:rPr>
                                <m:t>𝑛</m:t>
                              </m:r>
                            </m:sup>
                            <m:e>
                              <m:f>
                                <m:fPr>
                                  <m:ctrlPr>
                                    <a:rPr lang="en-US" altLang="zh-CN" sz="1600" b="0" i="1" dirty="0" smtClean="0">
                                      <a:latin typeface="Cambria Math" panose="02040503050406030204" pitchFamily="18" charset="0"/>
                                    </a:rPr>
                                  </m:ctrlPr>
                                </m:fPr>
                                <m:num>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1−</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𝐷</m:t>
                                          </m:r>
                                        </m:e>
                                        <m:sub>
                                          <m:r>
                                            <a:rPr lang="en-US" altLang="zh-CN" sz="1600" b="0" i="1" dirty="0" smtClean="0">
                                              <a:latin typeface="Cambria Math" panose="02040503050406030204" pitchFamily="18" charset="0"/>
                                            </a:rPr>
                                            <m:t>𝑖</m:t>
                                          </m:r>
                                        </m:sub>
                                      </m:sSub>
                                    </m:e>
                                  </m:d>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𝑌</m:t>
                                      </m:r>
                                    </m:e>
                                    <m:sub>
                                      <m:r>
                                        <a:rPr lang="en-US" altLang="zh-CN" sz="1600" b="0" i="1" dirty="0" smtClean="0">
                                          <a:latin typeface="Cambria Math" panose="02040503050406030204" pitchFamily="18" charset="0"/>
                                        </a:rPr>
                                        <m:t>𝑖</m:t>
                                      </m:r>
                                    </m:sub>
                                  </m:sSub>
                                </m:num>
                                <m:den>
                                  <m:r>
                                    <a:rPr lang="en-US" altLang="zh-CN" sz="1600" b="0" i="1" dirty="0" smtClean="0">
                                      <a:latin typeface="Cambria Math" panose="02040503050406030204" pitchFamily="18" charset="0"/>
                                    </a:rPr>
                                    <m:t>1−</m:t>
                                  </m:r>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𝑒</m:t>
                                      </m:r>
                                    </m:e>
                                  </m:acc>
                                  <m:d>
                                    <m:dPr>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𝑋</m:t>
                                          </m:r>
                                        </m:e>
                                        <m:sub>
                                          <m:r>
                                            <a:rPr lang="en-US" altLang="zh-CN" sz="1600" b="0" i="1" dirty="0" smtClean="0">
                                              <a:latin typeface="Cambria Math" panose="02040503050406030204" pitchFamily="18" charset="0"/>
                                            </a:rPr>
                                            <m:t>𝑖</m:t>
                                          </m:r>
                                        </m:sub>
                                      </m:sSub>
                                    </m:e>
                                  </m:d>
                                </m:den>
                              </m:f>
                            </m:e>
                          </m:nary>
                        </m:num>
                        <m:den>
                          <m:nary>
                            <m:naryPr>
                              <m:chr m:val="∑"/>
                              <m:ctrlPr>
                                <a:rPr lang="en-US" altLang="zh-CN" sz="1600" b="0" i="1" dirty="0" smtClean="0">
                                  <a:latin typeface="Cambria Math" panose="02040503050406030204" pitchFamily="18" charset="0"/>
                                </a:rPr>
                              </m:ctrlPr>
                            </m:naryPr>
                            <m:sub>
                              <m:r>
                                <a:rPr lang="en-US" altLang="zh-CN" sz="1600" b="0" i="1" dirty="0" smtClean="0">
                                  <a:latin typeface="Cambria Math" panose="02040503050406030204" pitchFamily="18" charset="0"/>
                                </a:rPr>
                                <m:t>𝑖</m:t>
                              </m:r>
                              <m:r>
                                <a:rPr lang="en-US" altLang="zh-CN" sz="1600" b="0" i="1" dirty="0" smtClean="0">
                                  <a:latin typeface="Cambria Math" panose="02040503050406030204" pitchFamily="18" charset="0"/>
                                </a:rPr>
                                <m:t>=1</m:t>
                              </m:r>
                            </m:sub>
                            <m:sup>
                              <m:r>
                                <a:rPr lang="en-US" altLang="zh-CN" sz="1600" b="0" i="1" dirty="0" smtClean="0">
                                  <a:latin typeface="Cambria Math" panose="02040503050406030204" pitchFamily="18" charset="0"/>
                                </a:rPr>
                                <m:t>𝑛</m:t>
                              </m:r>
                            </m:sup>
                            <m:e>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1−</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𝐷</m:t>
                                      </m:r>
                                    </m:e>
                                    <m:sub>
                                      <m:r>
                                        <a:rPr lang="en-US" altLang="zh-CN" sz="1600" b="0" i="1" dirty="0" smtClean="0">
                                          <a:latin typeface="Cambria Math" panose="02040503050406030204" pitchFamily="18" charset="0"/>
                                        </a:rPr>
                                        <m:t>𝑖</m:t>
                                      </m:r>
                                    </m:sub>
                                  </m:sSub>
                                </m:num>
                                <m:den>
                                  <m:r>
                                    <a:rPr lang="en-US" altLang="zh-CN" sz="1600" b="0" i="1" dirty="0" smtClean="0">
                                      <a:latin typeface="Cambria Math" panose="02040503050406030204" pitchFamily="18" charset="0"/>
                                    </a:rPr>
                                    <m:t>1−</m:t>
                                  </m:r>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𝑒</m:t>
                                      </m:r>
                                    </m:e>
                                  </m:acc>
                                  <m:d>
                                    <m:dPr>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𝑋</m:t>
                                          </m:r>
                                        </m:e>
                                        <m:sub>
                                          <m:r>
                                            <a:rPr lang="en-US" altLang="zh-CN" sz="1600" b="0" i="1" dirty="0" smtClean="0">
                                              <a:latin typeface="Cambria Math" panose="02040503050406030204" pitchFamily="18" charset="0"/>
                                            </a:rPr>
                                            <m:t>𝑖</m:t>
                                          </m:r>
                                        </m:sub>
                                      </m:sSub>
                                    </m:e>
                                  </m:d>
                                </m:den>
                              </m:f>
                            </m:e>
                          </m:nary>
                        </m:den>
                      </m:f>
                    </m:oMath>
                  </m:oMathPara>
                </a14:m>
                <a:endParaRPr lang="en-US" altLang="zh-CN" sz="1600" b="0" dirty="0"/>
              </a:p>
              <a:p>
                <a:pPr>
                  <a:lnSpc>
                    <a:spcPct val="120000"/>
                  </a:lnSpc>
                </a:pPr>
                <a:r>
                  <a:rPr lang="zh-CN" altLang="en-US" sz="1600" dirty="0"/>
                  <a:t>缺点：倾向得分接近</a:t>
                </a:r>
                <a:r>
                  <a:rPr lang="en-US" altLang="zh-CN" sz="1600" dirty="0"/>
                  <a:t>0 </a:t>
                </a:r>
                <a:r>
                  <a:rPr lang="zh-CN" altLang="en-US" sz="1600" dirty="0"/>
                  <a:t>或</a:t>
                </a:r>
                <a:r>
                  <a:rPr lang="en-US" altLang="zh-CN" sz="1600" dirty="0"/>
                  <a:t>1 </a:t>
                </a:r>
                <a:r>
                  <a:rPr lang="zh-CN" altLang="en-US" sz="1600" dirty="0"/>
                  <a:t>时不稳健，一个办法是截尾</a:t>
                </a:r>
                <a:r>
                  <a:rPr lang="en-US" altLang="zh-CN" sz="1600" dirty="0"/>
                  <a:t>(trimmed)</a:t>
                </a:r>
                <a:r>
                  <a:rPr lang="zh-CN" altLang="en-US" sz="1600" dirty="0"/>
                  <a:t>，比如</a:t>
                </a:r>
                <a:r>
                  <a:rPr lang="en-US" altLang="zh-CN" sz="1600" dirty="0"/>
                  <a:t>Crump et al.(2009) </a:t>
                </a:r>
                <a:r>
                  <a:rPr lang="zh-CN" altLang="en-US" sz="1600" dirty="0"/>
                  <a:t>建议将倾向得分保留在</a:t>
                </a:r>
                <a:r>
                  <a:rPr lang="en-US" altLang="zh-CN" sz="1600" dirty="0"/>
                  <a:t>[0.1, 0.9] </a:t>
                </a:r>
                <a:r>
                  <a:rPr lang="zh-CN" altLang="en-US" sz="1600" dirty="0"/>
                  <a:t>范围内。</a:t>
                </a:r>
                <a:endParaRPr lang="en-US" altLang="zh-CN" sz="1600" dirty="0"/>
              </a:p>
              <a:p>
                <a:pPr>
                  <a:lnSpc>
                    <a:spcPct val="120000"/>
                  </a:lnSpc>
                </a:pPr>
                <a:r>
                  <a:rPr lang="en-US" altLang="zh-CN" sz="1600" dirty="0"/>
                  <a:t>Stata: </a:t>
                </a:r>
                <a:r>
                  <a:rPr lang="en-US" altLang="zh-CN" sz="1600" dirty="0" err="1"/>
                  <a:t>teffects</a:t>
                </a:r>
                <a:r>
                  <a:rPr lang="en-US" altLang="zh-CN" sz="1600" dirty="0"/>
                  <a:t> </a:t>
                </a:r>
                <a:r>
                  <a:rPr lang="en-US" altLang="zh-CN" sz="1600" dirty="0" err="1"/>
                  <a:t>ipw</a:t>
                </a:r>
                <a:r>
                  <a:rPr lang="en-US" altLang="zh-CN" sz="1600" dirty="0"/>
                  <a:t> </a:t>
                </a:r>
                <a:r>
                  <a:rPr lang="zh-CN" altLang="en-US" sz="1600" dirty="0"/>
                  <a:t>标准化的</a:t>
                </a:r>
                <a:r>
                  <a:rPr lang="en-US" altLang="zh-CN" sz="1600" dirty="0"/>
                  <a:t>HT </a:t>
                </a:r>
                <a:r>
                  <a:rPr lang="zh-CN" altLang="en-US" sz="1600" dirty="0"/>
                  <a:t>估计量。</a:t>
                </a:r>
                <a:endParaRPr lang="en-US" altLang="zh-CN" sz="1600" b="0" dirty="0"/>
              </a:p>
              <a:p>
                <a:pPr>
                  <a:lnSpc>
                    <a:spcPct val="120000"/>
                  </a:lnSpc>
                </a:pPr>
                <a:endParaRPr lang="zh-CN" altLang="en-US" sz="1600" dirty="0"/>
              </a:p>
            </p:txBody>
          </p:sp>
        </mc:Choice>
        <mc:Fallback xmlns="">
          <p:sp>
            <p:nvSpPr>
              <p:cNvPr id="3" name="内容占位符 2">
                <a:extLst>
                  <a:ext uri="{FF2B5EF4-FFF2-40B4-BE49-F238E27FC236}">
                    <a16:creationId xmlns:a16="http://schemas.microsoft.com/office/drawing/2014/main" id="{F2D58A73-2BE7-D94C-0777-76F44E8C7006}"/>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l="-309" b="-37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64F9FCC-452F-54A1-BE3D-30F86166B70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516D9BA-773C-CCD3-DF57-EB5A88A24436}"/>
              </a:ext>
            </a:extLst>
          </p:cNvPr>
          <p:cNvSpPr>
            <a:spLocks noGrp="1"/>
          </p:cNvSpPr>
          <p:nvPr>
            <p:ph type="sldNum" sz="quarter" idx="12"/>
          </p:nvPr>
        </p:nvSpPr>
        <p:spPr/>
        <p:txBody>
          <a:bodyPr/>
          <a:lstStyle/>
          <a:p>
            <a:fld id="{D41FC515-8169-4A29-AA56-DBE520D5741B}" type="slidenum">
              <a:rPr lang="zh-CN" altLang="en-US" smtClean="0"/>
              <a:t>20</a:t>
            </a:fld>
            <a:endParaRPr lang="zh-CN" altLang="en-US"/>
          </a:p>
        </p:txBody>
      </p:sp>
    </p:spTree>
    <p:extLst>
      <p:ext uri="{BB962C8B-B14F-4D97-AF65-F5344CB8AC3E}">
        <p14:creationId xmlns:p14="http://schemas.microsoft.com/office/powerpoint/2010/main" val="2295211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348C7A-B212-C81E-1347-2BE81F8A4330}"/>
              </a:ext>
            </a:extLst>
          </p:cNvPr>
          <p:cNvSpPr>
            <a:spLocks noGrp="1"/>
          </p:cNvSpPr>
          <p:nvPr>
            <p:ph type="title"/>
          </p:nvPr>
        </p:nvSpPr>
        <p:spPr/>
        <p:txBody>
          <a:bodyPr/>
          <a:lstStyle/>
          <a:p>
            <a:r>
              <a:rPr lang="zh-CN" altLang="en-US" dirty="0"/>
              <a:t>平衡分数特征</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05F2626-AF89-43CB-115D-7DB7344797FC}"/>
                  </a:ext>
                </a:extLst>
              </p:cNvPr>
              <p:cNvSpPr>
                <a:spLocks noGrp="1"/>
              </p:cNvSpPr>
              <p:nvPr>
                <p:ph idx="1"/>
              </p:nvPr>
            </p:nvSpPr>
            <p:spPr/>
            <p:txBody>
              <a:bodyPr>
                <a:normAutofit fontScale="85000" lnSpcReduction="20000"/>
              </a:bodyPr>
              <a:lstStyle/>
              <a:p>
                <a:r>
                  <a:rPr lang="zh-CN" altLang="en-US" b="1" dirty="0"/>
                  <a:t>定理</a:t>
                </a:r>
                <a:r>
                  <a:rPr lang="en-US" altLang="zh-CN" b="1" dirty="0"/>
                  <a:t>3 </a:t>
                </a:r>
                <a:r>
                  <a:rPr lang="zh-CN" altLang="en-US" dirty="0"/>
                  <a:t>倾向得分满足</a:t>
                </a:r>
                <a:endParaRPr lang="en-US" altLang="zh-CN" dirty="0"/>
              </a:p>
              <a:p>
                <a:pPr marL="0" indent="0">
                  <a:buNone/>
                </a:pPr>
                <a14:m>
                  <m:oMathPara xmlns:m="http://schemas.openxmlformats.org/officeDocument/2006/math">
                    <m:oMath>
                      <m:r>
                        <a:rPr lang="zh-CN" altLang="en-US" i="1" dirty="0" smtClean="0">
                          <a:latin typeface="Cambria Math" panose="02040503050406030204" pitchFamily="18" charset="0"/>
                        </a:rPr>
                        <m:t>𝐷</m:t>
                      </m:r>
                      <m:r>
                        <a:rPr lang="zh-CN" altLang="en-US" i="1" dirty="0" smtClean="0">
                          <a:latin typeface="Cambria Math" panose="02040503050406030204" pitchFamily="18" charset="0"/>
                        </a:rPr>
                        <m:t> ⟂ </m:t>
                      </m:r>
                      <m:r>
                        <a:rPr lang="zh-CN" altLang="en-US" i="1" dirty="0" smtClean="0">
                          <a:latin typeface="Cambria Math" panose="02040503050406030204" pitchFamily="18" charset="0"/>
                        </a:rPr>
                        <m:t>𝑋</m:t>
                      </m:r>
                      <m:r>
                        <a:rPr lang="en-US" altLang="zh-CN" i="1" dirty="0">
                          <a:latin typeface="Cambria Math" panose="02040503050406030204" pitchFamily="18" charset="0"/>
                        </a:rPr>
                        <m:t>|</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smtClean="0">
                          <a:latin typeface="Cambria Math" panose="02040503050406030204" pitchFamily="18" charset="0"/>
                        </a:rPr>
                        <m:t>),</m:t>
                      </m:r>
                    </m:oMath>
                  </m:oMathPara>
                </a14:m>
                <a:endParaRPr lang="en-US" altLang="zh-CN" dirty="0"/>
              </a:p>
              <a:p>
                <a:pPr marL="0" indent="0">
                  <a:buNone/>
                </a:pPr>
                <a:r>
                  <a:rPr lang="zh-CN" altLang="en-US" dirty="0"/>
                  <a:t>    对于任意函数</a:t>
                </a:r>
                <a:r>
                  <a:rPr lang="en-US" altLang="zh-CN" dirty="0"/>
                  <a:t>ℎ(⋅)</a:t>
                </a:r>
                <a:r>
                  <a:rPr lang="zh-CN" altLang="en-US" dirty="0"/>
                  <a:t>，有</a:t>
                </a:r>
                <a:endParaRPr lang="en-US" altLang="zh-CN" dirty="0"/>
              </a:p>
              <a:p>
                <a:pPr marL="0" indent="0">
                  <a:buNone/>
                </a:pPr>
                <a14:m>
                  <m:oMathPara xmlns:m="http://schemas.openxmlformats.org/officeDocument/2006/math">
                    <m:o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𝐷ℎ</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num>
                            <m:den>
                              <m:r>
                                <a:rPr lang="en-US" altLang="zh-CN" b="0" i="1" smtClean="0">
                                  <a:latin typeface="Cambria Math" panose="02040503050406030204" pitchFamily="18" charset="0"/>
                                </a:rPr>
                                <m:t>𝑒</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i="1" smtClean="0">
                              <a:latin typeface="Cambria Math" panose="02040503050406030204" pitchFamily="18" charset="0"/>
                            </a:rPr>
                          </m:ctrlPr>
                        </m:dPr>
                        <m:e>
                          <m:f>
                            <m:fPr>
                              <m:ctrlPr>
                                <a:rPr lang="en-US" altLang="zh-CN" b="0" i="1" smtClean="0">
                                  <a:latin typeface="Cambria Math" panose="02040503050406030204" pitchFamily="18" charset="0"/>
                                </a:rPr>
                              </m:ctrlPr>
                            </m:fPr>
                            <m:num>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𝐷</m:t>
                                  </m:r>
                                </m:e>
                              </m:d>
                              <m:r>
                                <a:rPr lang="en-US" altLang="zh-CN" b="0" i="1" smtClean="0">
                                  <a:latin typeface="Cambria Math" panose="02040503050406030204" pitchFamily="18" charset="0"/>
                                </a:rPr>
                                <m:t>ℎ</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num>
                            <m:den>
                              <m:r>
                                <a:rPr lang="en-US" altLang="zh-CN" b="0" i="1" smtClean="0">
                                  <a:latin typeface="Cambria Math" panose="02040503050406030204" pitchFamily="18" charset="0"/>
                                </a:rPr>
                                <m:t>1−</m:t>
                              </m:r>
                              <m:r>
                                <a:rPr lang="en-US" altLang="zh-CN" b="0" i="1" smtClean="0">
                                  <a:latin typeface="Cambria Math" panose="02040503050406030204" pitchFamily="18" charset="0"/>
                                </a:rPr>
                                <m:t>𝑒</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den>
                          </m:f>
                        </m:e>
                      </m:d>
                      <m:r>
                        <a:rPr lang="en-US" altLang="zh-CN" b="0" i="1" smtClean="0">
                          <a:latin typeface="Cambria Math" panose="02040503050406030204" pitchFamily="18" charset="0"/>
                        </a:rPr>
                        <m:t>.</m:t>
                      </m:r>
                    </m:oMath>
                  </m:oMathPara>
                </a14:m>
                <a:endParaRPr lang="en-US" altLang="zh-CN" dirty="0"/>
              </a:p>
              <a:p>
                <a:r>
                  <a:rPr lang="en-US" altLang="zh-CN" dirty="0"/>
                  <a:t>Rosenbaum and Rubin(1983) </a:t>
                </a:r>
                <a:r>
                  <a:rPr lang="zh-CN" altLang="en-US" dirty="0"/>
                  <a:t>提出的𝑒</a:t>
                </a:r>
                <a:r>
                  <a:rPr lang="en-US" altLang="zh-CN" dirty="0"/>
                  <a:t>(</a:t>
                </a:r>
                <a:r>
                  <a:rPr lang="zh-CN" altLang="en-US" dirty="0"/>
                  <a:t>𝑋</a:t>
                </a:r>
                <a:r>
                  <a:rPr lang="en-US" altLang="zh-CN" dirty="0"/>
                  <a:t>) </a:t>
                </a:r>
                <a:r>
                  <a:rPr lang="zh-CN" altLang="en-US" dirty="0"/>
                  <a:t>的平衡分数特征，可以作为倾向得分模型设定正确与否的依据。</a:t>
                </a:r>
                <a:endParaRPr lang="en-US" altLang="zh-CN" dirty="0"/>
              </a:p>
              <a:p>
                <a:r>
                  <a:rPr lang="zh-CN" altLang="en-US" dirty="0"/>
                  <a:t>检验平衡指数特征，根据𝐸</a:t>
                </a:r>
                <a:r>
                  <a:rPr lang="en-US" altLang="zh-CN" dirty="0"/>
                  <a:t>[</a:t>
                </a:r>
                <a:r>
                  <a:rPr lang="zh-CN" altLang="en-US" dirty="0"/>
                  <a:t>𝐻</a:t>
                </a:r>
                <a:r>
                  <a:rPr lang="en-US" altLang="zh-CN" dirty="0"/>
                  <a:t>|</a:t>
                </a:r>
                <a:r>
                  <a:rPr lang="zh-CN" altLang="en-US" dirty="0"/>
                  <a:t>𝑋</a:t>
                </a:r>
                <a:r>
                  <a:rPr lang="en-US" altLang="zh-CN" dirty="0"/>
                  <a:t>] = 0</a:t>
                </a:r>
                <a:r>
                  <a:rPr lang="zh-CN" altLang="en-US" dirty="0"/>
                  <a:t>，直接用𝐻 对𝑋 进行检验。</a:t>
                </a:r>
                <a:endParaRPr lang="en-US" altLang="zh-CN" dirty="0"/>
              </a:p>
              <a:p>
                <a:r>
                  <a:rPr lang="zh-CN" altLang="en-US" dirty="0"/>
                  <a:t>或者令</a:t>
                </a:r>
                <a:r>
                  <a:rPr lang="en-US" altLang="zh-CN" dirty="0"/>
                  <a:t>ℎ(</a:t>
                </a:r>
                <a:r>
                  <a:rPr lang="zh-CN" altLang="en-US" dirty="0"/>
                  <a:t>𝑋</a:t>
                </a:r>
                <a:r>
                  <a:rPr lang="en-US" altLang="zh-CN" dirty="0"/>
                  <a:t>) = </a:t>
                </a:r>
                <a:r>
                  <a:rPr lang="zh-CN" altLang="en-US" dirty="0"/>
                  <a:t>𝑋，可以利用上式分别检验每个协变量是否满足平衡得分特征。</a:t>
                </a:r>
              </a:p>
            </p:txBody>
          </p:sp>
        </mc:Choice>
        <mc:Fallback xmlns="">
          <p:sp>
            <p:nvSpPr>
              <p:cNvPr id="3" name="内容占位符 2">
                <a:extLst>
                  <a:ext uri="{FF2B5EF4-FFF2-40B4-BE49-F238E27FC236}">
                    <a16:creationId xmlns:a16="http://schemas.microsoft.com/office/drawing/2014/main" id="{905F2626-AF89-43CB-115D-7DB7344797FC}"/>
                  </a:ext>
                </a:extLst>
              </p:cNvPr>
              <p:cNvSpPr>
                <a:spLocks noGrp="1" noRot="1" noChangeAspect="1" noMove="1" noResize="1" noEditPoints="1" noAdjustHandles="1" noChangeArrowheads="1" noChangeShapeType="1" noTextEdit="1"/>
              </p:cNvSpPr>
              <p:nvPr>
                <p:ph idx="1"/>
              </p:nvPr>
            </p:nvSpPr>
            <p:spPr>
              <a:blipFill>
                <a:blip r:embed="rId2"/>
                <a:stretch>
                  <a:fillRect l="-1005" t="-2801" r="-34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7437E13-293E-FEAD-7710-C1541FB240D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241F735-0D58-24B2-7BE0-D825E60AA5D5}"/>
              </a:ext>
            </a:extLst>
          </p:cNvPr>
          <p:cNvSpPr>
            <a:spLocks noGrp="1"/>
          </p:cNvSpPr>
          <p:nvPr>
            <p:ph type="sldNum" sz="quarter" idx="12"/>
          </p:nvPr>
        </p:nvSpPr>
        <p:spPr/>
        <p:txBody>
          <a:bodyPr/>
          <a:lstStyle/>
          <a:p>
            <a:fld id="{D41FC515-8169-4A29-AA56-DBE520D5741B}" type="slidenum">
              <a:rPr lang="zh-CN" altLang="en-US" smtClean="0"/>
              <a:t>21</a:t>
            </a:fld>
            <a:endParaRPr lang="zh-CN" altLang="en-US"/>
          </a:p>
        </p:txBody>
      </p:sp>
    </p:spTree>
    <p:extLst>
      <p:ext uri="{BB962C8B-B14F-4D97-AF65-F5344CB8AC3E}">
        <p14:creationId xmlns:p14="http://schemas.microsoft.com/office/powerpoint/2010/main" val="29202855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E8F980-32B9-8A96-74DC-EB5AF276CBF1}"/>
              </a:ext>
            </a:extLst>
          </p:cNvPr>
          <p:cNvSpPr>
            <a:spLocks noGrp="1"/>
          </p:cNvSpPr>
          <p:nvPr>
            <p:ph type="title"/>
          </p:nvPr>
        </p:nvSpPr>
        <p:spPr/>
        <p:txBody>
          <a:bodyPr/>
          <a:lstStyle/>
          <a:p>
            <a:r>
              <a:rPr lang="zh-CN" altLang="en-US" dirty="0"/>
              <a:t>回归</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A9BD219-9B4C-2D2B-74ED-9717FFECFEAA}"/>
                  </a:ext>
                </a:extLst>
              </p:cNvPr>
              <p:cNvSpPr>
                <a:spLocks noGrp="1"/>
              </p:cNvSpPr>
              <p:nvPr>
                <p:ph idx="1"/>
              </p:nvPr>
            </p:nvSpPr>
            <p:spPr/>
            <p:txBody>
              <a:bodyPr>
                <a:normAutofit fontScale="55000" lnSpcReduction="20000"/>
              </a:bodyPr>
              <a:lstStyle/>
              <a:p>
                <a:r>
                  <a:rPr lang="zh-CN" altLang="en-US" dirty="0"/>
                  <a:t>由倾向指数定理，有</a:t>
                </a:r>
                <a:r>
                  <a:rPr lang="en-US" altLang="zh-CN" dirty="0"/>
                  <a:t>(</a:t>
                </a:r>
                <a:r>
                  <a:rPr lang="zh-CN" altLang="en-US" dirty="0"/>
                  <a:t>𝑌 </a:t>
                </a:r>
                <a:r>
                  <a:rPr lang="en-US" altLang="zh-CN" dirty="0"/>
                  <a:t>(1), </a:t>
                </a:r>
                <a:r>
                  <a:rPr lang="zh-CN" altLang="en-US" dirty="0"/>
                  <a:t>𝑌 </a:t>
                </a:r>
                <a:r>
                  <a:rPr lang="en-US" altLang="zh-CN" dirty="0"/>
                  <a:t>(0)) ⟂⟂ </a:t>
                </a:r>
                <a:r>
                  <a:rPr lang="zh-CN" altLang="en-US" dirty="0"/>
                  <a:t>𝐷</a:t>
                </a:r>
                <a:r>
                  <a:rPr lang="en-US" altLang="zh-CN" dirty="0"/>
                  <a:t>|</a:t>
                </a:r>
                <a:r>
                  <a:rPr lang="zh-CN" altLang="en-US" dirty="0"/>
                  <a:t>𝑒</a:t>
                </a:r>
                <a:r>
                  <a:rPr lang="en-US" altLang="zh-CN" dirty="0"/>
                  <a:t>(</a:t>
                </a:r>
                <a:r>
                  <a:rPr lang="zh-CN" altLang="en-US" dirty="0"/>
                  <a:t>𝑋</a:t>
                </a:r>
                <a:r>
                  <a:rPr lang="en-US" altLang="zh-CN" dirty="0"/>
                  <a:t>)</a:t>
                </a:r>
                <a:r>
                  <a:rPr lang="zh-CN" altLang="en-US" dirty="0"/>
                  <a:t>，从而</a:t>
                </a:r>
                <a:r>
                  <a:rPr lang="en-US" altLang="zh-CN" dirty="0"/>
                  <a:t>ATE </a:t>
                </a:r>
                <a:r>
                  <a:rPr lang="zh-CN" altLang="en-US" dirty="0"/>
                  <a:t>可以写为</a:t>
                </a:r>
                <a:endParaRPr lang="en-US" altLang="zh-CN" dirty="0"/>
              </a:p>
              <a:p>
                <a:pPr marL="0" indent="0" algn="ctr">
                  <a:buNone/>
                </a:pPr>
                <a:r>
                  <a:rPr lang="zh-CN" altLang="en-US" dirty="0"/>
                  <a:t>𝜏 </a:t>
                </a:r>
                <a:r>
                  <a:rPr lang="en-US" altLang="zh-CN" dirty="0"/>
                  <a:t>= </a:t>
                </a:r>
                <a:r>
                  <a:rPr lang="zh-CN" altLang="en-US" dirty="0"/>
                  <a:t>𝐸</a:t>
                </a:r>
                <a:r>
                  <a:rPr lang="en-US" altLang="zh-CN" dirty="0"/>
                  <a:t>[</a:t>
                </a:r>
                <a:r>
                  <a:rPr lang="zh-CN" altLang="en-US" dirty="0"/>
                  <a:t>𝐸</a:t>
                </a:r>
                <a:r>
                  <a:rPr lang="en-US" altLang="zh-CN" dirty="0"/>
                  <a:t>[</a:t>
                </a:r>
                <a:r>
                  <a:rPr lang="zh-CN" altLang="en-US" dirty="0"/>
                  <a:t>𝑌 </a:t>
                </a:r>
                <a:r>
                  <a:rPr lang="en-US" altLang="zh-CN" dirty="0"/>
                  <a:t>|</a:t>
                </a:r>
                <a:r>
                  <a:rPr lang="zh-CN" altLang="en-US" dirty="0"/>
                  <a:t>𝐷 </a:t>
                </a:r>
                <a:r>
                  <a:rPr lang="en-US" altLang="zh-CN" dirty="0"/>
                  <a:t>= 1, </a:t>
                </a:r>
                <a:r>
                  <a:rPr lang="zh-CN" altLang="en-US" dirty="0"/>
                  <a:t>𝑒</a:t>
                </a:r>
                <a:r>
                  <a:rPr lang="en-US" altLang="zh-CN" dirty="0"/>
                  <a:t>(</a:t>
                </a:r>
                <a:r>
                  <a:rPr lang="zh-CN" altLang="en-US" dirty="0"/>
                  <a:t>𝑋</a:t>
                </a:r>
                <a:r>
                  <a:rPr lang="en-US" altLang="zh-CN" dirty="0"/>
                  <a:t>)] − </a:t>
                </a:r>
                <a:r>
                  <a:rPr lang="zh-CN" altLang="en-US" dirty="0"/>
                  <a:t>𝐸</a:t>
                </a:r>
                <a:r>
                  <a:rPr lang="en-US" altLang="zh-CN" dirty="0"/>
                  <a:t>[</a:t>
                </a:r>
                <a:r>
                  <a:rPr lang="zh-CN" altLang="en-US" dirty="0"/>
                  <a:t>𝑌 </a:t>
                </a:r>
                <a:r>
                  <a:rPr lang="en-US" altLang="zh-CN" dirty="0"/>
                  <a:t>|</a:t>
                </a:r>
                <a:r>
                  <a:rPr lang="zh-CN" altLang="en-US" dirty="0"/>
                  <a:t>𝐷 </a:t>
                </a:r>
                <a:r>
                  <a:rPr lang="en-US" altLang="zh-CN" dirty="0"/>
                  <a:t>= 0, </a:t>
                </a:r>
                <a:r>
                  <a:rPr lang="zh-CN" altLang="en-US" dirty="0"/>
                  <a:t>𝑒</a:t>
                </a:r>
                <a:r>
                  <a:rPr lang="en-US" altLang="zh-CN" dirty="0"/>
                  <a:t>(</a:t>
                </a:r>
                <a:r>
                  <a:rPr lang="zh-CN" altLang="en-US" dirty="0"/>
                  <a:t>𝑋</a:t>
                </a:r>
                <a:r>
                  <a:rPr lang="en-US" altLang="zh-CN" dirty="0"/>
                  <a:t>)]].</a:t>
                </a:r>
              </a:p>
              <a:p>
                <a:r>
                  <a:rPr lang="zh-CN" altLang="en-US" dirty="0"/>
                  <a:t>可以将𝑒</a:t>
                </a:r>
                <a:r>
                  <a:rPr lang="en-US" altLang="zh-CN" dirty="0"/>
                  <a:t>(</a:t>
                </a:r>
                <a:r>
                  <a:rPr lang="zh-CN" altLang="en-US" dirty="0"/>
                  <a:t>𝑋</a:t>
                </a:r>
                <a:r>
                  <a:rPr lang="en-US" altLang="zh-CN" dirty="0"/>
                  <a:t>) </a:t>
                </a:r>
                <a:r>
                  <a:rPr lang="zh-CN" altLang="en-US" dirty="0"/>
                  <a:t>直接作为控制变量进行回归，相当于构建下列回归模型：</a:t>
                </a:r>
                <a:endParaRPr lang="en-US" altLang="zh-CN" dirty="0"/>
              </a:p>
              <a:p>
                <a:pPr marL="0" indent="0" algn="ctr">
                  <a:buNone/>
                </a:pPr>
                <a:r>
                  <a:rPr lang="zh-CN" altLang="en-US" dirty="0"/>
                  <a:t>𝑌 </a:t>
                </a:r>
                <a:r>
                  <a:rPr lang="en-US" altLang="zh-CN" dirty="0"/>
                  <a:t>= </a:t>
                </a:r>
                <a:r>
                  <a:rPr lang="zh-CN" altLang="en-US" dirty="0"/>
                  <a:t>𝑎 </a:t>
                </a:r>
                <a:r>
                  <a:rPr lang="en-US" altLang="zh-CN" dirty="0"/>
                  <a:t>+ </a:t>
                </a:r>
                <a:r>
                  <a:rPr lang="zh-CN" altLang="en-US" dirty="0"/>
                  <a:t>𝑏𝐷 </a:t>
                </a:r>
                <a:r>
                  <a:rPr lang="en-US" altLang="zh-CN" dirty="0"/>
                  <a:t>+ </a:t>
                </a:r>
                <a:r>
                  <a:rPr lang="zh-CN" altLang="en-US" dirty="0"/>
                  <a:t>𝑐𝑒</a:t>
                </a:r>
                <a:r>
                  <a:rPr lang="en-US" altLang="zh-CN" dirty="0"/>
                  <a:t>(</a:t>
                </a:r>
                <a:r>
                  <a:rPr lang="zh-CN" altLang="en-US" dirty="0"/>
                  <a:t>𝑋</a:t>
                </a:r>
                <a:r>
                  <a:rPr lang="en-US" altLang="zh-CN" dirty="0"/>
                  <a:t>) + </a:t>
                </a:r>
                <a:r>
                  <a:rPr lang="zh-CN" altLang="en-US" dirty="0"/>
                  <a:t>𝜀</a:t>
                </a:r>
                <a:r>
                  <a:rPr lang="en-US" altLang="zh-CN" dirty="0"/>
                  <a:t>,</a:t>
                </a:r>
              </a:p>
              <a:p>
                <a:r>
                  <a:rPr lang="zh-CN" altLang="en-US" b="1" dirty="0"/>
                  <a:t>定理</a:t>
                </a:r>
                <a:r>
                  <a:rPr lang="en-US" altLang="zh-CN" b="1" dirty="0"/>
                  <a:t>4 </a:t>
                </a:r>
                <a:r>
                  <a:rPr lang="zh-CN" altLang="en-US" dirty="0"/>
                  <a:t>如果非混杂性条件成立，则𝑌 对</a:t>
                </a:r>
                <a:r>
                  <a:rPr lang="en-US" altLang="zh-CN" dirty="0"/>
                  <a:t>{1, </a:t>
                </a:r>
                <a:r>
                  <a:rPr lang="zh-CN" altLang="en-US" dirty="0"/>
                  <a:t>𝐷</a:t>
                </a:r>
                <a:r>
                  <a:rPr lang="en-US" altLang="zh-CN" dirty="0"/>
                  <a:t>, </a:t>
                </a:r>
                <a:r>
                  <a:rPr lang="zh-CN" altLang="en-US" dirty="0"/>
                  <a:t>𝑒</a:t>
                </a:r>
                <a:r>
                  <a:rPr lang="en-US" altLang="zh-CN" dirty="0"/>
                  <a:t>(</a:t>
                </a:r>
                <a:r>
                  <a:rPr lang="zh-CN" altLang="en-US" dirty="0"/>
                  <a:t>𝑋</a:t>
                </a:r>
                <a:r>
                  <a:rPr lang="en-US" altLang="zh-CN" dirty="0"/>
                  <a:t>)} </a:t>
                </a:r>
                <a:r>
                  <a:rPr lang="zh-CN" altLang="en-US" dirty="0"/>
                  <a:t>回归𝐷 的回归系数为</a:t>
                </a:r>
                <a:endParaRPr lang="en-US" altLang="zh-CN" dirty="0"/>
              </a:p>
              <a:p>
                <a:pPr marL="0" indent="0">
                  <a:buNone/>
                </a:pPr>
                <a14:m>
                  <m:oMathPara xmlns:m="http://schemas.openxmlformats.org/officeDocument/2006/math">
                    <m:o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𝜏</m:t>
                          </m:r>
                        </m:e>
                        <m:sub>
                          <m:r>
                            <a:rPr lang="en-US" altLang="zh-CN" b="0" i="1" smtClean="0">
                              <a:latin typeface="Cambria Math" panose="02040503050406030204" pitchFamily="18" charset="0"/>
                            </a:rPr>
                            <m:t>𝑒</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𝜏</m:t>
                          </m:r>
                        </m:e>
                        <m:sub>
                          <m:r>
                            <a:rPr lang="en-US" altLang="zh-CN" b="0" i="1" smtClean="0">
                              <a:latin typeface="Cambria Math" panose="02040503050406030204" pitchFamily="18" charset="0"/>
                            </a:rPr>
                            <m:t>𝑂</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ℎ</m:t>
                                  </m:r>
                                </m:e>
                                <m:sub>
                                  <m:r>
                                    <a:rPr lang="en-US" altLang="zh-CN" b="0" i="1" smtClean="0">
                                      <a:latin typeface="Cambria Math" panose="02040503050406030204" pitchFamily="18" charset="0"/>
                                    </a:rPr>
                                    <m:t>𝑂</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r>
                                <a:rPr lang="en-US" altLang="zh-CN" b="0" i="1" smtClean="0">
                                  <a:latin typeface="Cambria Math" panose="02040503050406030204" pitchFamily="18" charset="0"/>
                                </a:rPr>
                                <m:t>𝜏</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e>
                          </m:d>
                        </m:num>
                        <m:den>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ℎ</m:t>
                                  </m:r>
                                </m:e>
                                <m:sub>
                                  <m:r>
                                    <a:rPr lang="en-US" altLang="zh-CN" b="0" i="1" smtClean="0">
                                      <a:latin typeface="Cambria Math" panose="02040503050406030204" pitchFamily="18" charset="0"/>
                                    </a:rPr>
                                    <m:t>𝑂</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e>
                          </m:d>
                        </m:den>
                      </m:f>
                      <m:r>
                        <a:rPr lang="en-US" altLang="zh-CN" b="0" i="1" smtClean="0">
                          <a:latin typeface="Cambria Math" panose="02040503050406030204" pitchFamily="18" charset="0"/>
                        </a:rPr>
                        <m:t>,</m:t>
                      </m:r>
                    </m:oMath>
                  </m:oMathPara>
                </a14:m>
                <a:endParaRPr lang="en-US" altLang="zh-CN" b="0" dirty="0"/>
              </a:p>
              <a:p>
                <a:pPr marL="0" indent="0">
                  <a:buNone/>
                </a:pPr>
                <a:r>
                  <a:rPr lang="zh-CN" altLang="en-US" dirty="0"/>
                  <a:t>     其中</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ℎ</m:t>
                        </m:r>
                      </m:e>
                      <m:sub>
                        <m:r>
                          <a:rPr lang="zh-CN" altLang="en-US" i="1" dirty="0">
                            <a:latin typeface="Cambria Math" panose="02040503050406030204" pitchFamily="18" charset="0"/>
                          </a:rPr>
                          <m:t>𝑂</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 </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)(1 − </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r>
                      <a:rPr lang="zh-CN" altLang="en-US" i="1" dirty="0">
                        <a:latin typeface="Cambria Math" panose="02040503050406030204" pitchFamily="18" charset="0"/>
                      </a:rPr>
                      <m:t>，</m:t>
                    </m:r>
                    <m:r>
                      <a:rPr lang="zh-CN" altLang="en-US" i="1" dirty="0">
                        <a:latin typeface="Cambria Math" panose="02040503050406030204" pitchFamily="18" charset="0"/>
                      </a:rPr>
                      <m:t>𝜏</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𝑌</m:t>
                    </m:r>
                    <m:r>
                      <a:rPr lang="zh-CN" altLang="en-US" i="1" dirty="0">
                        <a:latin typeface="Cambria Math" panose="02040503050406030204" pitchFamily="18" charset="0"/>
                      </a:rPr>
                      <m:t> (1) − </m:t>
                    </m:r>
                    <m:r>
                      <a:rPr lang="zh-CN" altLang="en-US" i="1" dirty="0">
                        <a:latin typeface="Cambria Math" panose="02040503050406030204" pitchFamily="18" charset="0"/>
                      </a:rPr>
                      <m:t>𝑌</m:t>
                    </m:r>
                    <m:r>
                      <a:rPr lang="zh-CN" altLang="en-US" i="1" dirty="0">
                        <a:latin typeface="Cambria Math" panose="02040503050406030204" pitchFamily="18" charset="0"/>
                      </a:rPr>
                      <m:t> (0)|</m:t>
                    </m:r>
                    <m:r>
                      <a:rPr lang="zh-CN" altLang="en-US" i="1" dirty="0">
                        <a:latin typeface="Cambria Math" panose="02040503050406030204" pitchFamily="18" charset="0"/>
                      </a:rPr>
                      <m:t>𝑋</m:t>
                    </m:r>
                    <m:r>
                      <a:rPr lang="en-US" altLang="zh-CN" i="1" dirty="0">
                        <a:latin typeface="Cambria Math" panose="02040503050406030204" pitchFamily="18" charset="0"/>
                      </a:rPr>
                      <m:t>]</m:t>
                    </m:r>
                  </m:oMath>
                </a14:m>
                <a:r>
                  <a:rPr lang="zh-CN" altLang="en-US" dirty="0"/>
                  <a:t>。</a:t>
                </a:r>
                <a:endParaRPr lang="en-US" altLang="zh-CN" dirty="0"/>
              </a:p>
              <a:p>
                <a:r>
                  <a:rPr lang="zh-CN" altLang="en-US" dirty="0"/>
                  <a:t>加权最小二乘法：</a:t>
                </a:r>
                <a14:m>
                  <m:oMath xmlns:m="http://schemas.openxmlformats.org/officeDocument/2006/math">
                    <m:sSup>
                      <m:sSupPr>
                        <m:ctrlPr>
                          <a:rPr lang="zh-CN" altLang="en-US" i="1" dirty="0" smtClean="0">
                            <a:latin typeface="Cambria Math" panose="02040503050406030204" pitchFamily="18" charset="0"/>
                          </a:rPr>
                        </m:ctrlPr>
                      </m:sSupPr>
                      <m:e>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𝜏</m:t>
                            </m:r>
                          </m:e>
                        </m:acc>
                      </m:e>
                      <m:sup>
                        <m:r>
                          <a:rPr lang="en-US" altLang="zh-CN" b="0" i="1" dirty="0" smtClean="0">
                            <a:latin typeface="Cambria Math" panose="02040503050406030204" pitchFamily="18" charset="0"/>
                          </a:rPr>
                          <m:t>𝑛</m:t>
                        </m:r>
                        <m:r>
                          <a:rPr lang="en-US" altLang="zh-CN" i="1" dirty="0">
                            <a:latin typeface="Cambria Math" panose="02040503050406030204" pitchFamily="18" charset="0"/>
                          </a:rPr>
                          <m:t>ℎ</m:t>
                        </m:r>
                        <m:r>
                          <a:rPr lang="zh-CN" altLang="en-US" i="1" dirty="0" smtClean="0">
                            <a:latin typeface="Cambria Math" panose="02040503050406030204" pitchFamily="18" charset="0"/>
                          </a:rPr>
                          <m:t>𝑡</m:t>
                        </m:r>
                      </m:sup>
                    </m:sSup>
                  </m:oMath>
                </a14:m>
                <a:r>
                  <a:rPr lang="zh-CN" altLang="en-US" dirty="0"/>
                  <a:t> 是下列优化𝛽 的估计值，</a:t>
                </a:r>
                <a:endParaRPr lang="en-US" altLang="zh-CN" dirty="0"/>
              </a:p>
              <a:p>
                <a:pPr marL="0" indent="0">
                  <a:buNone/>
                </a:pPr>
                <a14:m>
                  <m:oMathPara xmlns:m="http://schemas.openxmlformats.org/officeDocument/2006/math">
                    <m:oMath>
                      <m:d>
                        <m:dPr>
                          <m:ctrlPr>
                            <a:rPr lang="en-US" altLang="zh-CN" b="0" i="1" smtClean="0">
                              <a:latin typeface="Cambria Math" panose="02040503050406030204" pitchFamily="18" charset="0"/>
                            </a:rPr>
                          </m:ctrlPr>
                        </m:d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𝛼</m:t>
                              </m:r>
                            </m:e>
                          </m:acc>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𝛽</m:t>
                              </m:r>
                            </m:e>
                          </m:acc>
                        </m:e>
                      </m:d>
                      <m:r>
                        <a:rPr lang="en-US" altLang="zh-CN" b="0" i="1" smtClean="0">
                          <a:latin typeface="Cambria Math" panose="02040503050406030204" pitchFamily="18" charset="0"/>
                        </a:rPr>
                        <m:t>=</m:t>
                      </m:r>
                      <m:r>
                        <a:rPr lang="en-US" altLang="zh-CN" b="0" i="1" smtClean="0">
                          <a:latin typeface="Cambria Math" panose="02040503050406030204" pitchFamily="18" charset="0"/>
                        </a:rPr>
                        <m:t>𝑎𝑟𝑔𝑚𝑖</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𝛼</m:t>
                          </m:r>
                          <m:r>
                            <a:rPr lang="en-US" altLang="zh-CN" b="0" i="1" smtClean="0">
                              <a:latin typeface="Cambria Math" panose="02040503050406030204" pitchFamily="18" charset="0"/>
                            </a:rPr>
                            <m:t>,</m:t>
                          </m:r>
                          <m:r>
                            <a:rPr lang="en-US" altLang="zh-CN" b="0" i="1" smtClean="0">
                              <a:latin typeface="Cambria Math" panose="02040503050406030204" pitchFamily="18" charset="0"/>
                            </a:rPr>
                            <m:t>𝛽</m:t>
                          </m:r>
                        </m:sub>
                      </m:sSub>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𝑛</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𝑖</m:t>
                              </m:r>
                            </m:sub>
                          </m:sSub>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𝛼</m:t>
                                  </m:r>
                                  <m:r>
                                    <a:rPr lang="en-US" altLang="zh-CN" b="0" i="1" smtClean="0">
                                      <a:latin typeface="Cambria Math" panose="02040503050406030204" pitchFamily="18" charset="0"/>
                                    </a:rPr>
                                    <m:t>−</m:t>
                                  </m:r>
                                  <m:r>
                                    <a:rPr lang="en-US" altLang="zh-CN" b="0" i="1" smtClean="0">
                                      <a:latin typeface="Cambria Math" panose="02040503050406030204" pitchFamily="18" charset="0"/>
                                    </a:rPr>
                                    <m:t>𝛽</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e>
                              </m:d>
                            </m:e>
                            <m:sup>
                              <m:r>
                                <a:rPr lang="en-US" altLang="zh-CN" b="0" i="1" smtClean="0">
                                  <a:latin typeface="Cambria Math" panose="02040503050406030204" pitchFamily="18" charset="0"/>
                                </a:rPr>
                                <m:t>2</m:t>
                              </m:r>
                            </m:sup>
                          </m:sSup>
                        </m:e>
                      </m:nary>
                      <m:r>
                        <a:rPr lang="en-US" altLang="zh-CN" b="0" i="1" smtClean="0">
                          <a:latin typeface="Cambria Math" panose="02040503050406030204" pitchFamily="18" charset="0"/>
                        </a:rPr>
                        <m:t>,</m:t>
                      </m:r>
                    </m:oMath>
                  </m:oMathPara>
                </a14:m>
                <a:endParaRPr lang="en-US" altLang="zh-CN" b="0" dirty="0"/>
              </a:p>
              <a:p>
                <a:pPr marL="0" indent="0">
                  <a:buNone/>
                </a:pPr>
                <a:r>
                  <a:rPr lang="zh-CN" altLang="en-US" dirty="0"/>
                  <a:t>     其中权重</a:t>
                </a:r>
                <a:endParaRPr lang="en-US" altLang="zh-CN" dirty="0"/>
              </a:p>
              <a:p>
                <a:pPr marL="0" indent="0">
                  <a:buNone/>
                </a:pPr>
                <a14:m>
                  <m:oMathPara xmlns:m="http://schemas.openxmlformats.org/officeDocument/2006/math">
                    <m:o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num>
                        <m:den>
                          <m:r>
                            <a:rPr lang="en-US" altLang="zh-CN" b="0" i="1" smtClean="0">
                              <a:latin typeface="Cambria Math" panose="02040503050406030204" pitchFamily="18" charset="0"/>
                            </a:rPr>
                            <m:t>𝑒</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e>
                          </m:d>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num>
                        <m:den>
                          <m:r>
                            <a:rPr lang="en-US" altLang="zh-CN" b="0" i="1" smtClean="0">
                              <a:latin typeface="Cambria Math" panose="02040503050406030204" pitchFamily="18" charset="0"/>
                            </a:rPr>
                            <m:t>1−</m:t>
                          </m:r>
                          <m:r>
                            <a:rPr lang="en-US" altLang="zh-CN" b="0" i="1" smtClean="0">
                              <a:latin typeface="Cambria Math" panose="02040503050406030204" pitchFamily="18" charset="0"/>
                            </a:rPr>
                            <m:t>𝑒</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e>
                          </m:d>
                        </m:den>
                      </m:f>
                      <m:r>
                        <a:rPr lang="en-US" altLang="zh-CN" b="0" i="1" smtClean="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3A9BD219-9B4C-2D2B-74ED-9717FFECFEAA}"/>
                  </a:ext>
                </a:extLst>
              </p:cNvPr>
              <p:cNvSpPr>
                <a:spLocks noGrp="1" noRot="1" noChangeAspect="1" noMove="1" noResize="1" noEditPoints="1" noAdjustHandles="1" noChangeArrowheads="1" noChangeShapeType="1" noTextEdit="1"/>
              </p:cNvSpPr>
              <p:nvPr>
                <p:ph idx="1"/>
              </p:nvPr>
            </p:nvSpPr>
            <p:spPr>
              <a:blipFill>
                <a:blip r:embed="rId2"/>
                <a:stretch>
                  <a:fillRect l="-232" t="-12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C8B905A-9E54-DB55-C8CC-C8618DB360E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65777C1-7A7A-470B-E022-2FB3C4E54BCE}"/>
              </a:ext>
            </a:extLst>
          </p:cNvPr>
          <p:cNvSpPr>
            <a:spLocks noGrp="1"/>
          </p:cNvSpPr>
          <p:nvPr>
            <p:ph type="sldNum" sz="quarter" idx="12"/>
          </p:nvPr>
        </p:nvSpPr>
        <p:spPr/>
        <p:txBody>
          <a:bodyPr/>
          <a:lstStyle/>
          <a:p>
            <a:fld id="{D41FC515-8169-4A29-AA56-DBE520D5741B}" type="slidenum">
              <a:rPr lang="zh-CN" altLang="en-US" smtClean="0"/>
              <a:t>22</a:t>
            </a:fld>
            <a:endParaRPr lang="zh-CN" altLang="en-US"/>
          </a:p>
        </p:txBody>
      </p:sp>
    </p:spTree>
    <p:extLst>
      <p:ext uri="{BB962C8B-B14F-4D97-AF65-F5344CB8AC3E}">
        <p14:creationId xmlns:p14="http://schemas.microsoft.com/office/powerpoint/2010/main" val="2500764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BACE8-6905-BE33-93A4-8EF6D1264BA1}"/>
              </a:ext>
            </a:extLst>
          </p:cNvPr>
          <p:cNvSpPr>
            <a:spLocks noGrp="1"/>
          </p:cNvSpPr>
          <p:nvPr>
            <p:ph type="title"/>
          </p:nvPr>
        </p:nvSpPr>
        <p:spPr/>
        <p:txBody>
          <a:bodyPr/>
          <a:lstStyle/>
          <a:p>
            <a:r>
              <a:rPr lang="zh-CN" altLang="en-US" dirty="0"/>
              <a:t>双重稳健估计量</a:t>
            </a:r>
            <a:r>
              <a:rPr lang="en-US" altLang="zh-CN" dirty="0"/>
              <a:t>(Double robust estimator)</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1689A4F-F739-4BBE-1194-D24BA03BD175}"/>
                  </a:ext>
                </a:extLst>
              </p:cNvPr>
              <p:cNvSpPr>
                <a:spLocks noGrp="1"/>
              </p:cNvSpPr>
              <p:nvPr>
                <p:ph idx="1"/>
              </p:nvPr>
            </p:nvSpPr>
            <p:spPr/>
            <p:txBody>
              <a:bodyPr>
                <a:normAutofit fontScale="77500" lnSpcReduction="20000"/>
              </a:bodyPr>
              <a:lstStyle/>
              <a:p>
                <a:r>
                  <a:rPr lang="zh-CN" altLang="en-US" dirty="0"/>
                  <a:t>结果模型</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𝜇</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oMath>
                </a14:m>
                <a:r>
                  <a:rPr lang="zh-CN" altLang="en-US" dirty="0"/>
                  <a:t>，如果设定正确，则有</a:t>
                </a:r>
                <a:endParaRPr lang="en-US" altLang="zh-CN" dirty="0"/>
              </a:p>
              <a:p>
                <a:pPr marL="0" indent="0">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𝜇</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smtClean="0">
                          <a:latin typeface="Cambria Math" panose="02040503050406030204" pitchFamily="18" charset="0"/>
                        </a:rPr>
                        <m:t>).</m:t>
                      </m:r>
                    </m:oMath>
                  </m:oMathPara>
                </a14:m>
                <a:endParaRPr lang="en-US" altLang="zh-CN" dirty="0"/>
              </a:p>
              <a:p>
                <a:r>
                  <a:rPr lang="zh-CN" altLang="en-US" dirty="0"/>
                  <a:t>倾向得分模型：𝑒</a:t>
                </a:r>
                <a:r>
                  <a:rPr lang="en-US" altLang="zh-CN" dirty="0"/>
                  <a:t>(</a:t>
                </a:r>
                <a:r>
                  <a:rPr lang="zh-CN" altLang="en-US" dirty="0"/>
                  <a:t>𝑋</a:t>
                </a:r>
                <a:r>
                  <a:rPr lang="en-US" altLang="zh-CN" dirty="0"/>
                  <a:t>, </a:t>
                </a:r>
                <a:r>
                  <a:rPr lang="zh-CN" altLang="en-US" dirty="0"/>
                  <a:t>𝛼</a:t>
                </a:r>
                <a:r>
                  <a:rPr lang="en-US" altLang="zh-CN" dirty="0"/>
                  <a:t>)</a:t>
                </a:r>
                <a:r>
                  <a:rPr lang="zh-CN" altLang="en-US" dirty="0"/>
                  <a:t>，如果设定正确，则有</a:t>
                </a:r>
                <a:endParaRPr lang="en-US" altLang="zh-CN" dirty="0"/>
              </a:p>
              <a:p>
                <a:pPr marL="0" indent="0">
                  <a:buNone/>
                </a:pPr>
                <a14:m>
                  <m:oMathPara xmlns:m="http://schemas.openxmlformats.org/officeDocument/2006/math">
                    <m:oMath>
                      <m:r>
                        <a:rPr lang="zh-CN" altLang="en-US" i="1" dirty="0" smtClean="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r>
                        <a:rPr lang="zh-CN" altLang="en-US" i="1" dirty="0">
                          <a:latin typeface="Cambria Math" panose="02040503050406030204" pitchFamily="18" charset="0"/>
                        </a:rPr>
                        <m:t>𝛼</m:t>
                      </m:r>
                      <m:r>
                        <a:rPr lang="en-US" altLang="zh-CN" i="1" dirty="0">
                          <a:latin typeface="Cambria Math" panose="02040503050406030204" pitchFamily="18" charset="0"/>
                        </a:rPr>
                        <m:t>) = </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smtClean="0">
                          <a:latin typeface="Cambria Math" panose="02040503050406030204" pitchFamily="18" charset="0"/>
                        </a:rPr>
                        <m:t>).</m:t>
                      </m:r>
                    </m:oMath>
                  </m:oMathPara>
                </a14:m>
                <a:endParaRPr lang="en-US" altLang="zh-CN" dirty="0"/>
              </a:p>
              <a:p>
                <a:r>
                  <a:rPr lang="zh-CN" altLang="en-US" dirty="0"/>
                  <a:t>定义</a:t>
                </a:r>
                <a:endParaRPr lang="en-US" altLang="zh-CN" dirty="0"/>
              </a:p>
              <a:p>
                <a:pPr marL="0" indent="0">
                  <a:buNone/>
                </a:pPr>
                <a14:m>
                  <m:oMathPara xmlns:m="http://schemas.openxmlformats.org/officeDocument/2006/math">
                    <m:oMath>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𝜇</m:t>
                              </m:r>
                            </m:e>
                          </m:acc>
                        </m:e>
                        <m:sub>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𝑑𝑟</m:t>
                          </m:r>
                        </m:sup>
                      </m:sSub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𝐸</m:t>
                      </m:r>
                      <m:d>
                        <m:dPr>
                          <m:begChr m:val="["/>
                          <m:endChr m:val="]"/>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𝜇</m:t>
                              </m:r>
                            </m:e>
                            <m:sub>
                              <m:r>
                                <a:rPr lang="en-US" altLang="zh-CN" b="0" i="1" dirty="0" smtClean="0">
                                  <a:latin typeface="Cambria Math" panose="02040503050406030204" pitchFamily="18" charset="0"/>
                                </a:rPr>
                                <m:t>1</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𝛽</m:t>
                                  </m:r>
                                </m:e>
                                <m:sub>
                                  <m:r>
                                    <a:rPr lang="en-US" altLang="zh-CN" b="0" i="1" dirty="0" smtClean="0">
                                      <a:latin typeface="Cambria Math" panose="02040503050406030204" pitchFamily="18" charset="0"/>
                                    </a:rPr>
                                    <m:t>1</m:t>
                                  </m:r>
                                </m:sub>
                              </m:sSub>
                            </m:e>
                          </m:d>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𝐷</m:t>
                              </m:r>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𝑌</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𝜇</m:t>
                                      </m:r>
                                    </m:e>
                                    <m:sub>
                                      <m:r>
                                        <a:rPr lang="en-US" altLang="zh-CN" b="0" i="1" dirty="0" smtClean="0">
                                          <a:latin typeface="Cambria Math" panose="02040503050406030204" pitchFamily="18" charset="0"/>
                                        </a:rPr>
                                        <m:t>1</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𝛽</m:t>
                                          </m:r>
                                        </m:e>
                                        <m:sub>
                                          <m:r>
                                            <a:rPr lang="en-US" altLang="zh-CN" b="0" i="1" dirty="0" smtClean="0">
                                              <a:latin typeface="Cambria Math" panose="02040503050406030204" pitchFamily="18" charset="0"/>
                                            </a:rPr>
                                            <m:t>1</m:t>
                                          </m:r>
                                        </m:sub>
                                      </m:sSub>
                                    </m:e>
                                  </m:d>
                                </m:e>
                              </m:d>
                            </m:num>
                            <m:den>
                              <m:r>
                                <a:rPr lang="en-US" altLang="zh-CN" b="0" i="1" dirty="0" smtClean="0">
                                  <a:latin typeface="Cambria Math" panose="02040503050406030204" pitchFamily="18" charset="0"/>
                                </a:rPr>
                                <m:t>𝑒</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𝛼</m:t>
                                  </m:r>
                                </m:e>
                              </m:d>
                            </m:den>
                          </m:f>
                        </m:e>
                      </m:d>
                      <m:r>
                        <a:rPr lang="en-US" altLang="zh-CN" b="0" i="1" dirty="0" smtClean="0">
                          <a:latin typeface="Cambria Math" panose="02040503050406030204" pitchFamily="18" charset="0"/>
                        </a:rPr>
                        <m:t>,                  (11)</m:t>
                      </m:r>
                    </m:oMath>
                  </m:oMathPara>
                </a14:m>
                <a:endParaRPr lang="en-US" altLang="zh-CN" b="0" dirty="0"/>
              </a:p>
              <a:p>
                <a:pPr marL="0" indent="0">
                  <a:buNone/>
                </a:pPr>
                <a14:m>
                  <m:oMathPara xmlns:m="http://schemas.openxmlformats.org/officeDocument/2006/math">
                    <m:oMath>
                      <m:sSubSup>
                        <m:sSubSupPr>
                          <m:ctrlPr>
                            <a:rPr lang="en-US" altLang="zh-CN" i="1">
                              <a:latin typeface="Cambria Math" panose="02040503050406030204" pitchFamily="18" charset="0"/>
                            </a:rPr>
                          </m:ctrlPr>
                        </m:sSub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𝜇</m:t>
                              </m:r>
                            </m:e>
                          </m:acc>
                        </m:e>
                        <m:sub>
                          <m:r>
                            <a:rPr lang="en-US" altLang="zh-CN" b="0" i="1" smtClean="0">
                              <a:latin typeface="Cambria Math" panose="02040503050406030204" pitchFamily="18" charset="0"/>
                            </a:rPr>
                            <m:t>0</m:t>
                          </m:r>
                        </m:sub>
                        <m:sup>
                          <m:r>
                            <a:rPr lang="en-US" altLang="zh-CN" i="1" dirty="0">
                              <a:latin typeface="Cambria Math" panose="02040503050406030204" pitchFamily="18" charset="0"/>
                            </a:rPr>
                            <m:t>𝑑𝑟</m:t>
                          </m:r>
                        </m:sup>
                      </m:sSubSup>
                      <m:r>
                        <a:rPr lang="en-US" altLang="zh-CN" i="1" dirty="0">
                          <a:latin typeface="Cambria Math" panose="02040503050406030204" pitchFamily="18" charset="0"/>
                        </a:rPr>
                        <m:t>=</m:t>
                      </m:r>
                      <m:r>
                        <a:rPr lang="en-US" altLang="zh-CN" i="1" dirty="0">
                          <a:latin typeface="Cambria Math" panose="02040503050406030204" pitchFamily="18" charset="0"/>
                        </a:rPr>
                        <m:t>𝐸</m:t>
                      </m:r>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b="0" i="1" dirty="0" smtClean="0">
                                  <a:latin typeface="Cambria Math" panose="02040503050406030204" pitchFamily="18" charset="0"/>
                                </a:rPr>
                                <m:t>0</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𝑋</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b="0" i="1" dirty="0" smtClean="0">
                                      <a:latin typeface="Cambria Math" panose="02040503050406030204" pitchFamily="18" charset="0"/>
                                    </a:rPr>
                                    <m:t>0</m:t>
                                  </m:r>
                                </m:sub>
                              </m:sSub>
                            </m:e>
                          </m:d>
                          <m:r>
                            <a:rPr lang="en-US" altLang="zh-CN" i="1" dirty="0">
                              <a:latin typeface="Cambria Math" panose="02040503050406030204" pitchFamily="18" charset="0"/>
                            </a:rPr>
                            <m:t>+</m:t>
                          </m:r>
                          <m:f>
                            <m:fPr>
                              <m:ctrlPr>
                                <a:rPr lang="en-US" altLang="zh-CN" b="0" i="1" dirty="0" smtClean="0">
                                  <a:latin typeface="Cambria Math" panose="02040503050406030204" pitchFamily="18" charset="0"/>
                                </a:rPr>
                              </m:ctrlPr>
                            </m:fPr>
                            <m:num>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1−</m:t>
                                  </m:r>
                                  <m:r>
                                    <a:rPr lang="en-US" altLang="zh-CN" i="1" dirty="0">
                                      <a:latin typeface="Cambria Math" panose="02040503050406030204" pitchFamily="18" charset="0"/>
                                    </a:rPr>
                                    <m:t>𝐷</m:t>
                                  </m:r>
                                </m:e>
                              </m:d>
                              <m:d>
                                <m:dPr>
                                  <m:begChr m:val="["/>
                                  <m:endChr m:val="]"/>
                                  <m:ctrlPr>
                                    <a:rPr lang="en-US" altLang="zh-CN" i="1" dirty="0">
                                      <a:latin typeface="Cambria Math" panose="02040503050406030204" pitchFamily="18" charset="0"/>
                                    </a:rPr>
                                  </m:ctrlPr>
                                </m:dPr>
                                <m:e>
                                  <m:r>
                                    <a:rPr lang="en-US" altLang="zh-CN" i="1" dirty="0">
                                      <a:latin typeface="Cambria Math" panose="02040503050406030204" pitchFamily="18" charset="0"/>
                                    </a:rPr>
                                    <m:t>𝑌</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b="0" i="1" dirty="0" smtClean="0">
                                          <a:latin typeface="Cambria Math" panose="02040503050406030204" pitchFamily="18" charset="0"/>
                                        </a:rPr>
                                        <m:t>0</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𝑋</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b="0" i="1" dirty="0" smtClean="0">
                                              <a:latin typeface="Cambria Math" panose="02040503050406030204" pitchFamily="18" charset="0"/>
                                            </a:rPr>
                                            <m:t>0</m:t>
                                          </m:r>
                                        </m:sub>
                                      </m:sSub>
                                    </m:e>
                                  </m:d>
                                </m:e>
                              </m:d>
                            </m:num>
                            <m:den>
                              <m:r>
                                <a:rPr lang="en-US" altLang="zh-CN" b="0" i="1" dirty="0" smtClean="0">
                                  <a:latin typeface="Cambria Math" panose="02040503050406030204" pitchFamily="18" charset="0"/>
                                </a:rPr>
                                <m:t>1−</m:t>
                              </m:r>
                              <m:r>
                                <a:rPr lang="en-US" altLang="zh-CN" i="1" dirty="0">
                                  <a:latin typeface="Cambria Math" panose="02040503050406030204" pitchFamily="18" charset="0"/>
                                </a:rPr>
                                <m:t>𝑒</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𝛼</m:t>
                                  </m:r>
                                </m:e>
                              </m:d>
                            </m:den>
                          </m:f>
                        </m:e>
                      </m:d>
                      <m:r>
                        <a:rPr lang="en-US" altLang="zh-CN" b="0" i="1" dirty="0" smtClean="0">
                          <a:latin typeface="Cambria Math" panose="02040503050406030204" pitchFamily="18" charset="0"/>
                        </a:rPr>
                        <m:t>,      (12)</m:t>
                      </m:r>
                    </m:oMath>
                  </m:oMathPara>
                </a14:m>
                <a:endParaRPr lang="en-US" altLang="zh-CN" dirty="0"/>
              </a:p>
              <a:p>
                <a:r>
                  <a:rPr lang="zh-CN" altLang="en-US" dirty="0"/>
                  <a:t>相当于结果模型进行偏差调整</a:t>
                </a:r>
                <a:endParaRPr lang="en-US" altLang="zh-CN" dirty="0"/>
              </a:p>
              <a:p>
                <a:pPr marL="0" indent="0">
                  <a:buNone/>
                </a:pPr>
                <a14:m>
                  <m:oMathPara xmlns:m="http://schemas.openxmlformats.org/officeDocument/2006/math">
                    <m:o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𝜏</m:t>
                          </m:r>
                        </m:e>
                        <m:sup>
                          <m:r>
                            <a:rPr lang="en-US" altLang="zh-CN" b="0" i="1" smtClean="0">
                              <a:latin typeface="Cambria Math" panose="02040503050406030204" pitchFamily="18" charset="0"/>
                            </a:rPr>
                            <m:t>𝑑𝑟</m:t>
                          </m:r>
                        </m:sup>
                      </m:s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𝜇</m:t>
                              </m:r>
                            </m:e>
                          </m:acc>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𝑑𝑟</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𝜇</m:t>
                              </m:r>
                            </m:e>
                          </m:acc>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𝑑𝑟</m:t>
                          </m:r>
                        </m:sup>
                      </m:sSubSup>
                      <m:r>
                        <a:rPr lang="en-US" altLang="zh-CN" b="0" i="1" smtClean="0">
                          <a:latin typeface="Cambria Math" panose="02040503050406030204" pitchFamily="18" charset="0"/>
                        </a:rPr>
                        <m:t>.</m:t>
                      </m:r>
                    </m:oMath>
                  </m:oMathPara>
                </a14:m>
                <a:endParaRPr lang="en-US" altLang="zh-CN" dirty="0"/>
              </a:p>
            </p:txBody>
          </p:sp>
        </mc:Choice>
        <mc:Fallback xmlns="">
          <p:sp>
            <p:nvSpPr>
              <p:cNvPr id="3" name="内容占位符 2">
                <a:extLst>
                  <a:ext uri="{FF2B5EF4-FFF2-40B4-BE49-F238E27FC236}">
                    <a16:creationId xmlns:a16="http://schemas.microsoft.com/office/drawing/2014/main" id="{41689A4F-F739-4BBE-1194-D24BA03BD175}"/>
                  </a:ext>
                </a:extLst>
              </p:cNvPr>
              <p:cNvSpPr>
                <a:spLocks noGrp="1" noRot="1" noChangeAspect="1" noMove="1" noResize="1" noEditPoints="1" noAdjustHandles="1" noChangeArrowheads="1" noChangeShapeType="1" noTextEdit="1"/>
              </p:cNvSpPr>
              <p:nvPr>
                <p:ph idx="1"/>
              </p:nvPr>
            </p:nvSpPr>
            <p:spPr>
              <a:blipFill>
                <a:blip r:embed="rId2"/>
                <a:stretch>
                  <a:fillRect l="-850" t="-238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CB946B8-5CD4-77E5-5A4C-CC119C3608B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AD867C9-BC7B-8977-F31D-147975A2E5EE}"/>
              </a:ext>
            </a:extLst>
          </p:cNvPr>
          <p:cNvSpPr>
            <a:spLocks noGrp="1"/>
          </p:cNvSpPr>
          <p:nvPr>
            <p:ph type="sldNum" sz="quarter" idx="12"/>
          </p:nvPr>
        </p:nvSpPr>
        <p:spPr/>
        <p:txBody>
          <a:bodyPr/>
          <a:lstStyle/>
          <a:p>
            <a:fld id="{D41FC515-8169-4A29-AA56-DBE520D5741B}" type="slidenum">
              <a:rPr lang="zh-CN" altLang="en-US" smtClean="0"/>
              <a:t>23</a:t>
            </a:fld>
            <a:endParaRPr lang="zh-CN" altLang="en-US"/>
          </a:p>
        </p:txBody>
      </p:sp>
    </p:spTree>
    <p:extLst>
      <p:ext uri="{BB962C8B-B14F-4D97-AF65-F5344CB8AC3E}">
        <p14:creationId xmlns:p14="http://schemas.microsoft.com/office/powerpoint/2010/main" val="183722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7356B7-EED6-E712-DB67-BA0BAFCF7460}"/>
              </a:ext>
            </a:extLst>
          </p:cNvPr>
          <p:cNvSpPr>
            <a:spLocks noGrp="1"/>
          </p:cNvSpPr>
          <p:nvPr>
            <p:ph type="title"/>
          </p:nvPr>
        </p:nvSpPr>
        <p:spPr/>
        <p:txBody>
          <a:bodyPr/>
          <a:lstStyle/>
          <a:p>
            <a:r>
              <a:rPr lang="zh-CN" altLang="en-US" dirty="0"/>
              <a:t>双重稳健估计量</a:t>
            </a:r>
            <a:r>
              <a:rPr lang="en-US" altLang="zh-CN" dirty="0"/>
              <a:t>(Double robust estimator)</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4C13648-E57B-3AFC-8E65-906D69FC4617}"/>
                  </a:ext>
                </a:extLst>
              </p:cNvPr>
              <p:cNvSpPr>
                <a:spLocks noGrp="1"/>
              </p:cNvSpPr>
              <p:nvPr>
                <p:ph idx="1"/>
              </p:nvPr>
            </p:nvSpPr>
            <p:spPr/>
            <p:txBody>
              <a:bodyPr>
                <a:normAutofit fontScale="77500" lnSpcReduction="20000"/>
              </a:bodyPr>
              <a:lstStyle/>
              <a:p>
                <a:r>
                  <a:rPr lang="zh-CN" altLang="en-US" dirty="0"/>
                  <a:t>结果模型</a:t>
                </a:r>
                <a14:m>
                  <m:oMath xmlns:m="http://schemas.openxmlformats.org/officeDocument/2006/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oMath>
                </a14:m>
                <a:r>
                  <a:rPr lang="zh-CN" altLang="en-US" dirty="0"/>
                  <a:t>，如果设定正确，则有</a:t>
                </a:r>
                <a:endParaRPr lang="en-US" altLang="zh-CN" dirty="0"/>
              </a:p>
              <a:p>
                <a:pPr marL="0" indent="0">
                  <a:buNone/>
                </a:pPr>
                <a14:m>
                  <m:oMathPara xmlns:m="http://schemas.openxmlformats.org/officeDocument/2006/math">
                    <m:o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𝛽</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𝜇</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oMath>
                  </m:oMathPara>
                </a14:m>
                <a:endParaRPr lang="en-US" altLang="zh-CN" dirty="0"/>
              </a:p>
              <a:p>
                <a:r>
                  <a:rPr lang="zh-CN" altLang="en-US" dirty="0"/>
                  <a:t>倾向得分模型：𝑒</a:t>
                </a:r>
                <a:r>
                  <a:rPr lang="en-US" altLang="zh-CN" dirty="0"/>
                  <a:t>(</a:t>
                </a:r>
                <a:r>
                  <a:rPr lang="zh-CN" altLang="en-US" dirty="0"/>
                  <a:t>𝑋</a:t>
                </a:r>
                <a:r>
                  <a:rPr lang="en-US" altLang="zh-CN" dirty="0"/>
                  <a:t>, </a:t>
                </a:r>
                <a:r>
                  <a:rPr lang="zh-CN" altLang="en-US" dirty="0"/>
                  <a:t>𝛼</a:t>
                </a:r>
                <a:r>
                  <a:rPr lang="en-US" altLang="zh-CN" dirty="0"/>
                  <a:t>)</a:t>
                </a:r>
                <a:r>
                  <a:rPr lang="zh-CN" altLang="en-US" dirty="0"/>
                  <a:t>，如果设定正确，则有</a:t>
                </a:r>
                <a:endParaRPr lang="en-US" altLang="zh-CN" dirty="0"/>
              </a:p>
              <a:p>
                <a:pPr marL="0" indent="0">
                  <a:buNone/>
                </a:pPr>
                <a14:m>
                  <m:oMathPara xmlns:m="http://schemas.openxmlformats.org/officeDocument/2006/math">
                    <m:oMath>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r>
                        <a:rPr lang="zh-CN" altLang="en-US" i="1" dirty="0">
                          <a:latin typeface="Cambria Math" panose="02040503050406030204" pitchFamily="18" charset="0"/>
                        </a:rPr>
                        <m:t>𝛼</m:t>
                      </m:r>
                      <m:r>
                        <a:rPr lang="en-US" altLang="zh-CN" i="1" dirty="0">
                          <a:latin typeface="Cambria Math" panose="02040503050406030204" pitchFamily="18" charset="0"/>
                        </a:rPr>
                        <m:t>) = </m:t>
                      </m:r>
                      <m:r>
                        <a:rPr lang="zh-CN" altLang="en-US" i="1" dirty="0">
                          <a:latin typeface="Cambria Math" panose="02040503050406030204" pitchFamily="18" charset="0"/>
                        </a:rPr>
                        <m:t>𝑒</m:t>
                      </m:r>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m:t>
                      </m:r>
                    </m:oMath>
                  </m:oMathPara>
                </a14:m>
                <a:endParaRPr lang="en-US" altLang="zh-CN" dirty="0"/>
              </a:p>
              <a:p>
                <a:r>
                  <a:rPr lang="zh-CN" altLang="en-US" dirty="0"/>
                  <a:t>另一种写法</a:t>
                </a:r>
                <a:endParaRPr lang="en-US" altLang="zh-CN" dirty="0"/>
              </a:p>
              <a:p>
                <a:pPr marL="0" indent="0">
                  <a:buNone/>
                </a:pPr>
                <a14:m>
                  <m:oMathPara xmlns:m="http://schemas.openxmlformats.org/officeDocument/2006/math">
                    <m:oMath>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𝜇</m:t>
                              </m:r>
                            </m:e>
                          </m:acc>
                        </m:e>
                        <m:sub>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𝑑𝑟</m:t>
                          </m:r>
                        </m:sup>
                      </m:sSub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𝐸</m:t>
                      </m:r>
                      <m:d>
                        <m:dPr>
                          <m:begChr m:val="["/>
                          <m:endChr m:val="]"/>
                          <m:ctrlPr>
                            <a:rPr lang="en-US" altLang="zh-CN" b="0" i="1" dirty="0" smtClean="0">
                              <a:latin typeface="Cambria Math" panose="02040503050406030204" pitchFamily="18" charset="0"/>
                            </a:rPr>
                          </m:ctrlPr>
                        </m:dPr>
                        <m:e>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𝐷𝑌</m:t>
                              </m:r>
                            </m:num>
                            <m:den>
                              <m:r>
                                <a:rPr lang="en-US" altLang="zh-CN" b="0" i="1" dirty="0" smtClean="0">
                                  <a:latin typeface="Cambria Math" panose="02040503050406030204" pitchFamily="18" charset="0"/>
                                </a:rPr>
                                <m:t>𝑒</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𝛼</m:t>
                                  </m:r>
                                </m:e>
                              </m:d>
                            </m:den>
                          </m:f>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𝐷</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𝑒</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𝛼</m:t>
                                  </m:r>
                                </m:e>
                              </m:d>
                            </m:num>
                            <m:den>
                              <m:r>
                                <a:rPr lang="en-US" altLang="zh-CN" b="0" i="1" dirty="0" smtClean="0">
                                  <a:latin typeface="Cambria Math" panose="02040503050406030204" pitchFamily="18" charset="0"/>
                                </a:rPr>
                                <m:t>𝑒</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𝛼</m:t>
                                  </m:r>
                                </m:e>
                              </m:d>
                            </m:den>
                          </m:f>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𝜇</m:t>
                              </m:r>
                            </m:e>
                            <m:sub>
                              <m:r>
                                <a:rPr lang="en-US" altLang="zh-CN" b="0" i="1" dirty="0" smtClean="0">
                                  <a:latin typeface="Cambria Math" panose="02040503050406030204" pitchFamily="18" charset="0"/>
                                </a:rPr>
                                <m:t>1</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𝛽</m:t>
                                  </m:r>
                                </m:e>
                                <m:sub>
                                  <m:r>
                                    <a:rPr lang="en-US" altLang="zh-CN" b="0" i="1" dirty="0" smtClean="0">
                                      <a:latin typeface="Cambria Math" panose="02040503050406030204" pitchFamily="18" charset="0"/>
                                    </a:rPr>
                                    <m:t>1</m:t>
                                  </m:r>
                                </m:sub>
                              </m:sSub>
                            </m:e>
                          </m:d>
                        </m:e>
                      </m:d>
                      <m:r>
                        <a:rPr lang="en-US" altLang="zh-CN" b="0" i="1" dirty="0" smtClean="0">
                          <a:latin typeface="Cambria Math" panose="02040503050406030204" pitchFamily="18" charset="0"/>
                        </a:rPr>
                        <m:t>            (13)</m:t>
                      </m:r>
                    </m:oMath>
                  </m:oMathPara>
                </a14:m>
                <a:endParaRPr lang="en-US" altLang="zh-CN" dirty="0"/>
              </a:p>
              <a:p>
                <a:pPr marL="0" indent="0">
                  <a:buNone/>
                </a:pPr>
                <a14:m>
                  <m:oMathPara xmlns:m="http://schemas.openxmlformats.org/officeDocument/2006/math">
                    <m:oMath>
                      <m:sSubSup>
                        <m:sSubSupPr>
                          <m:ctrlPr>
                            <a:rPr lang="en-US" altLang="zh-CN" i="1">
                              <a:latin typeface="Cambria Math" panose="02040503050406030204" pitchFamily="18" charset="0"/>
                            </a:rPr>
                          </m:ctrlPr>
                        </m:sSub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𝜇</m:t>
                              </m:r>
                            </m:e>
                          </m:acc>
                        </m:e>
                        <m:sub>
                          <m:r>
                            <a:rPr lang="en-US" altLang="zh-CN" b="0" i="1" dirty="0" smtClean="0">
                              <a:latin typeface="Cambria Math" panose="02040503050406030204" pitchFamily="18" charset="0"/>
                            </a:rPr>
                            <m:t>0</m:t>
                          </m:r>
                        </m:sub>
                        <m:sup>
                          <m:r>
                            <a:rPr lang="en-US" altLang="zh-CN" i="1" dirty="0">
                              <a:latin typeface="Cambria Math" panose="02040503050406030204" pitchFamily="18" charset="0"/>
                            </a:rPr>
                            <m:t>𝑑𝑟</m:t>
                          </m:r>
                        </m:sup>
                      </m:sSubSup>
                      <m:r>
                        <a:rPr lang="en-US" altLang="zh-CN" i="1" dirty="0">
                          <a:latin typeface="Cambria Math" panose="02040503050406030204" pitchFamily="18" charset="0"/>
                        </a:rPr>
                        <m:t>=</m:t>
                      </m:r>
                      <m:r>
                        <a:rPr lang="en-US" altLang="zh-CN" i="1" dirty="0">
                          <a:latin typeface="Cambria Math" panose="02040503050406030204" pitchFamily="18" charset="0"/>
                        </a:rPr>
                        <m:t>𝐸</m:t>
                      </m:r>
                      <m:d>
                        <m:dPr>
                          <m:begChr m:val="["/>
                          <m:endChr m:val="]"/>
                          <m:ctrlPr>
                            <a:rPr lang="en-US" altLang="zh-CN" b="0" i="1" dirty="0" smtClean="0">
                              <a:latin typeface="Cambria Math" panose="02040503050406030204" pitchFamily="18" charset="0"/>
                            </a:rPr>
                          </m:ctrlPr>
                        </m:dPr>
                        <m:e>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r>
                                <a:rPr lang="en-US" altLang="zh-CN" i="1" dirty="0">
                                  <a:latin typeface="Cambria Math" panose="02040503050406030204" pitchFamily="18" charset="0"/>
                                </a:rPr>
                                <m:t>𝐷</m:t>
                              </m:r>
                              <m:r>
                                <a:rPr lang="en-US" altLang="zh-CN" b="0" i="1" dirty="0" smtClean="0">
                                  <a:latin typeface="Cambria Math" panose="02040503050406030204" pitchFamily="18" charset="0"/>
                                </a:rPr>
                                <m:t>)</m:t>
                              </m:r>
                              <m:r>
                                <a:rPr lang="en-US" altLang="zh-CN" i="1" dirty="0">
                                  <a:latin typeface="Cambria Math" panose="02040503050406030204" pitchFamily="18" charset="0"/>
                                </a:rPr>
                                <m:t>𝑌</m:t>
                              </m:r>
                            </m:num>
                            <m:den>
                              <m:r>
                                <a:rPr lang="en-US" altLang="zh-CN" b="0" i="1" dirty="0" smtClean="0">
                                  <a:latin typeface="Cambria Math" panose="02040503050406030204" pitchFamily="18" charset="0"/>
                                </a:rPr>
                                <m:t>1−</m:t>
                              </m:r>
                              <m:r>
                                <a:rPr lang="en-US" altLang="zh-CN" i="1" dirty="0">
                                  <a:latin typeface="Cambria Math" panose="02040503050406030204" pitchFamily="18" charset="0"/>
                                </a:rPr>
                                <m:t>𝑒</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𝛼</m:t>
                                  </m:r>
                                </m:e>
                              </m:d>
                            </m:den>
                          </m:f>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𝑒</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𝛼</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𝐷</m:t>
                              </m:r>
                            </m:num>
                            <m:den>
                              <m:r>
                                <a:rPr lang="en-US" altLang="zh-CN" b="0" i="1" dirty="0" smtClean="0">
                                  <a:latin typeface="Cambria Math" panose="02040503050406030204" pitchFamily="18" charset="0"/>
                                </a:rPr>
                                <m:t>1−</m:t>
                              </m:r>
                              <m:r>
                                <a:rPr lang="en-US" altLang="zh-CN" i="1" dirty="0">
                                  <a:latin typeface="Cambria Math" panose="02040503050406030204" pitchFamily="18" charset="0"/>
                                </a:rPr>
                                <m:t>𝑒</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𝛼</m:t>
                                  </m:r>
                                </m:e>
                              </m:d>
                            </m:den>
                          </m:f>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b="0" i="1" dirty="0" smtClean="0">
                                  <a:latin typeface="Cambria Math" panose="02040503050406030204" pitchFamily="18" charset="0"/>
                                </a:rPr>
                                <m:t>0</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𝑋</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b="0" i="1" dirty="0" smtClean="0">
                                      <a:latin typeface="Cambria Math" panose="02040503050406030204" pitchFamily="18" charset="0"/>
                                    </a:rPr>
                                    <m:t>0</m:t>
                                  </m:r>
                                </m:sub>
                              </m:sSub>
                            </m:e>
                          </m:d>
                        </m:e>
                      </m:d>
                      <m:r>
                        <a:rPr lang="en-US" altLang="zh-CN" b="0" i="1" dirty="0" smtClean="0">
                          <a:latin typeface="Cambria Math" panose="02040503050406030204" pitchFamily="18" charset="0"/>
                        </a:rPr>
                        <m:t>     (14)</m:t>
                      </m:r>
                    </m:oMath>
                  </m:oMathPara>
                </a14:m>
                <a:endParaRPr lang="en-US" altLang="zh-CN" dirty="0"/>
              </a:p>
              <a:p>
                <a:r>
                  <a:rPr lang="zh-CN" altLang="en-US" dirty="0"/>
                  <a:t>增广的</a:t>
                </a:r>
                <a:r>
                  <a:rPr lang="en-US" altLang="zh-CN" dirty="0"/>
                  <a:t>IPW(Augmented IPW </a:t>
                </a:r>
                <a:r>
                  <a:rPr lang="en-US" altLang="zh-CN" dirty="0" err="1"/>
                  <a:t>estimand</a:t>
                </a:r>
                <a:r>
                  <a:rPr lang="en-US" altLang="zh-CN" dirty="0"/>
                  <a:t>)</a:t>
                </a:r>
              </a:p>
              <a:p>
                <a:pPr marL="0" indent="0">
                  <a:buNone/>
                </a:pPr>
                <a14:m>
                  <m:oMathPara xmlns:m="http://schemas.openxmlformats.org/officeDocument/2006/math">
                    <m:oMath>
                      <m:sSup>
                        <m:sSupPr>
                          <m:ctrlPr>
                            <a:rPr lang="en-US" altLang="zh-CN" i="1">
                              <a:latin typeface="Cambria Math" panose="02040503050406030204" pitchFamily="18" charset="0"/>
                            </a:rPr>
                          </m:ctrlPr>
                        </m:sSupPr>
                        <m:e>
                          <m:r>
                            <a:rPr lang="en-US" altLang="zh-CN" i="1">
                              <a:latin typeface="Cambria Math" panose="02040503050406030204" pitchFamily="18" charset="0"/>
                            </a:rPr>
                            <m:t>𝜏</m:t>
                          </m:r>
                        </m:e>
                        <m:sup>
                          <m:r>
                            <a:rPr lang="en-US" altLang="zh-CN" i="1">
                              <a:latin typeface="Cambria Math" panose="02040503050406030204" pitchFamily="18" charset="0"/>
                            </a:rPr>
                            <m:t>𝑑𝑟</m:t>
                          </m:r>
                        </m:sup>
                      </m:s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𝜇</m:t>
                              </m:r>
                            </m:e>
                          </m:acc>
                        </m:e>
                        <m:sub>
                          <m:r>
                            <a:rPr lang="en-US" altLang="zh-CN" i="1">
                              <a:latin typeface="Cambria Math" panose="02040503050406030204" pitchFamily="18" charset="0"/>
                            </a:rPr>
                            <m:t>1</m:t>
                          </m:r>
                        </m:sub>
                        <m:sup>
                          <m:r>
                            <a:rPr lang="en-US" altLang="zh-CN" i="1">
                              <a:latin typeface="Cambria Math" panose="02040503050406030204" pitchFamily="18" charset="0"/>
                            </a:rPr>
                            <m:t>𝑑𝑟</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𝜇</m:t>
                              </m:r>
                            </m:e>
                          </m:acc>
                        </m:e>
                        <m:sub>
                          <m:r>
                            <a:rPr lang="en-US" altLang="zh-CN" i="1">
                              <a:latin typeface="Cambria Math" panose="02040503050406030204" pitchFamily="18" charset="0"/>
                            </a:rPr>
                            <m:t>0</m:t>
                          </m:r>
                        </m:sub>
                        <m:sup>
                          <m:r>
                            <a:rPr lang="en-US" altLang="zh-CN" i="1">
                              <a:latin typeface="Cambria Math" panose="02040503050406030204" pitchFamily="18" charset="0"/>
                            </a:rPr>
                            <m:t>𝑑𝑟</m:t>
                          </m:r>
                        </m:sup>
                      </m:sSubSup>
                      <m:r>
                        <a:rPr lang="en-US" altLang="zh-CN" i="1">
                          <a:latin typeface="Cambria Math" panose="02040503050406030204" pitchFamily="18" charset="0"/>
                        </a:rPr>
                        <m:t>.</m:t>
                      </m:r>
                    </m:oMath>
                  </m:oMathPara>
                </a14:m>
                <a:endParaRPr lang="en-US" altLang="zh-CN" dirty="0"/>
              </a:p>
              <a:p>
                <a:pPr marL="0" indent="0">
                  <a:buNone/>
                </a:pPr>
                <a:endParaRPr lang="en-US" altLang="zh-CN" dirty="0"/>
              </a:p>
            </p:txBody>
          </p:sp>
        </mc:Choice>
        <mc:Fallback xmlns="">
          <p:sp>
            <p:nvSpPr>
              <p:cNvPr id="3" name="内容占位符 2">
                <a:extLst>
                  <a:ext uri="{FF2B5EF4-FFF2-40B4-BE49-F238E27FC236}">
                    <a16:creationId xmlns:a16="http://schemas.microsoft.com/office/drawing/2014/main" id="{94C13648-E57B-3AFC-8E65-906D69FC4617}"/>
                  </a:ext>
                </a:extLst>
              </p:cNvPr>
              <p:cNvSpPr>
                <a:spLocks noGrp="1" noRot="1" noChangeAspect="1" noMove="1" noResize="1" noEditPoints="1" noAdjustHandles="1" noChangeArrowheads="1" noChangeShapeType="1" noTextEdit="1"/>
              </p:cNvSpPr>
              <p:nvPr>
                <p:ph idx="1"/>
              </p:nvPr>
            </p:nvSpPr>
            <p:spPr>
              <a:blipFill>
                <a:blip r:embed="rId2"/>
                <a:stretch>
                  <a:fillRect l="-850" t="-238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BAD61518-884D-9E54-5DD2-110F87D00C3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0258922-EDBC-0DA6-525E-78ABA5B58CEF}"/>
              </a:ext>
            </a:extLst>
          </p:cNvPr>
          <p:cNvSpPr>
            <a:spLocks noGrp="1"/>
          </p:cNvSpPr>
          <p:nvPr>
            <p:ph type="sldNum" sz="quarter" idx="12"/>
          </p:nvPr>
        </p:nvSpPr>
        <p:spPr/>
        <p:txBody>
          <a:bodyPr/>
          <a:lstStyle/>
          <a:p>
            <a:fld id="{D41FC515-8169-4A29-AA56-DBE520D5741B}" type="slidenum">
              <a:rPr lang="zh-CN" altLang="en-US" smtClean="0"/>
              <a:t>24</a:t>
            </a:fld>
            <a:endParaRPr lang="zh-CN" altLang="en-US"/>
          </a:p>
        </p:txBody>
      </p:sp>
    </p:spTree>
    <p:extLst>
      <p:ext uri="{BB962C8B-B14F-4D97-AF65-F5344CB8AC3E}">
        <p14:creationId xmlns:p14="http://schemas.microsoft.com/office/powerpoint/2010/main" val="1903571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ACD860-0B95-BE59-0E81-1C541DB3ABA8}"/>
              </a:ext>
            </a:extLst>
          </p:cNvPr>
          <p:cNvSpPr>
            <a:spLocks noGrp="1"/>
          </p:cNvSpPr>
          <p:nvPr>
            <p:ph type="title"/>
          </p:nvPr>
        </p:nvSpPr>
        <p:spPr/>
        <p:txBody>
          <a:bodyPr/>
          <a:lstStyle/>
          <a:p>
            <a:r>
              <a:rPr lang="zh-CN" altLang="en-US" dirty="0"/>
              <a:t>双重稳健估计量</a:t>
            </a:r>
            <a:r>
              <a:rPr lang="en-US" altLang="zh-CN" dirty="0"/>
              <a:t>(Double robust estimator)</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A45490C-E131-46AB-1B47-7BD9460BE075}"/>
                  </a:ext>
                </a:extLst>
              </p:cNvPr>
              <p:cNvSpPr>
                <a:spLocks noGrp="1"/>
              </p:cNvSpPr>
              <p:nvPr>
                <p:ph idx="1"/>
              </p:nvPr>
            </p:nvSpPr>
            <p:spPr/>
            <p:txBody>
              <a:bodyPr>
                <a:normAutofit/>
              </a:bodyPr>
              <a:lstStyle/>
              <a:p>
                <a:r>
                  <a:rPr lang="zh-CN" altLang="en-US" sz="1600" dirty="0"/>
                  <a:t>只证明 </a:t>
                </a:r>
                <a14:m>
                  <m:oMath xmlns:m="http://schemas.openxmlformats.org/officeDocument/2006/math">
                    <m:sSubSup>
                      <m:sSubSupPr>
                        <m:ctrlPr>
                          <a:rPr lang="zh-CN" altLang="en-US" sz="1600" i="1" dirty="0" smtClean="0">
                            <a:latin typeface="Cambria Math" panose="02040503050406030204" pitchFamily="18" charset="0"/>
                          </a:rPr>
                        </m:ctrlPr>
                      </m:sSubSupPr>
                      <m:e>
                        <m:acc>
                          <m:accPr>
                            <m:chr m:val="̃"/>
                            <m:ctrlPr>
                              <a:rPr lang="zh-CN" altLang="en-US" sz="1600" i="1" dirty="0" smtClean="0">
                                <a:latin typeface="Cambria Math" panose="02040503050406030204" pitchFamily="18" charset="0"/>
                              </a:rPr>
                            </m:ctrlPr>
                          </m:accPr>
                          <m:e>
                            <m:r>
                              <a:rPr lang="zh-CN" altLang="en-US" sz="1600" i="1" dirty="0" smtClean="0">
                                <a:latin typeface="Cambria Math" panose="02040503050406030204" pitchFamily="18" charset="0"/>
                              </a:rPr>
                              <m:t>𝜇</m:t>
                            </m:r>
                          </m:e>
                        </m:acc>
                      </m:e>
                      <m:sub>
                        <m:r>
                          <a:rPr lang="en-US" altLang="zh-CN" sz="1600" i="1" dirty="0" smtClean="0">
                            <a:latin typeface="Cambria Math" panose="02040503050406030204" pitchFamily="18" charset="0"/>
                          </a:rPr>
                          <m:t>1</m:t>
                        </m:r>
                      </m:sub>
                      <m:sup>
                        <m:r>
                          <a:rPr lang="zh-CN" altLang="en-US" sz="1600" i="1" dirty="0" smtClean="0">
                            <a:latin typeface="Cambria Math" panose="02040503050406030204" pitchFamily="18" charset="0"/>
                          </a:rPr>
                          <m:t>𝑑𝑟</m:t>
                        </m:r>
                      </m:sup>
                    </m:sSubSup>
                    <m:r>
                      <a:rPr lang="en-US" altLang="zh-CN" sz="1600" i="1" dirty="0" smtClean="0">
                        <a:latin typeface="Cambria Math" panose="02040503050406030204" pitchFamily="18" charset="0"/>
                      </a:rPr>
                      <m:t> </m:t>
                    </m:r>
                    <m:r>
                      <a:rPr lang="en-US" altLang="zh-CN" sz="1600" i="1" dirty="0">
                        <a:latin typeface="Cambria Math" panose="02040503050406030204" pitchFamily="18" charset="0"/>
                      </a:rPr>
                      <m:t>= </m:t>
                    </m:r>
                    <m:r>
                      <a:rPr lang="zh-CN" altLang="en-US" sz="1600" i="1" dirty="0">
                        <a:latin typeface="Cambria Math" panose="02040503050406030204" pitchFamily="18" charset="0"/>
                      </a:rPr>
                      <m:t>𝐸</m:t>
                    </m:r>
                    <m:r>
                      <a:rPr lang="en-US" altLang="zh-CN" sz="1600" i="1" dirty="0">
                        <a:latin typeface="Cambria Math" panose="02040503050406030204" pitchFamily="18" charset="0"/>
                      </a:rPr>
                      <m:t>[</m:t>
                    </m:r>
                    <m:r>
                      <a:rPr lang="zh-CN" altLang="en-US" sz="1600" i="1" dirty="0">
                        <a:latin typeface="Cambria Math" panose="02040503050406030204" pitchFamily="18" charset="0"/>
                      </a:rPr>
                      <m:t>𝑌</m:t>
                    </m:r>
                    <m:r>
                      <a:rPr lang="zh-CN" altLang="en-US" sz="1600" i="1" dirty="0">
                        <a:latin typeface="Cambria Math" panose="02040503050406030204" pitchFamily="18" charset="0"/>
                      </a:rPr>
                      <m:t> (1)]</m:t>
                    </m:r>
                  </m:oMath>
                </a14:m>
                <a:endParaRPr lang="en-US" altLang="zh-CN" sz="1600" dirty="0"/>
              </a:p>
              <a:p>
                <a14:m>
                  <m:oMath xmlns:m="http://schemas.openxmlformats.org/officeDocument/2006/math">
                    <m:sSubSup>
                      <m:sSubSupPr>
                        <m:ctrlPr>
                          <a:rPr lang="en-US" altLang="zh-CN" sz="1600" b="0" i="1" smtClean="0">
                            <a:latin typeface="Cambria Math" panose="02040503050406030204" pitchFamily="18" charset="0"/>
                          </a:rPr>
                        </m:ctrlPr>
                      </m:sSub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𝜏</m:t>
                            </m:r>
                          </m:e>
                        </m:acc>
                      </m:e>
                      <m:sub>
                        <m:r>
                          <a:rPr lang="en-US" altLang="zh-CN" sz="1600" b="0" i="1" dirty="0" smtClean="0">
                            <a:latin typeface="Cambria Math" panose="02040503050406030204" pitchFamily="18" charset="0"/>
                          </a:rPr>
                          <m:t>1</m:t>
                        </m:r>
                      </m:sub>
                      <m:sup>
                        <m:r>
                          <a:rPr lang="en-US" altLang="zh-CN" sz="1600" b="0" i="1" dirty="0" smtClean="0">
                            <a:latin typeface="Cambria Math" panose="02040503050406030204" pitchFamily="18" charset="0"/>
                          </a:rPr>
                          <m:t>𝑑𝑟</m:t>
                        </m:r>
                      </m:sup>
                    </m:sSubSup>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𝐸</m:t>
                    </m:r>
                    <m:d>
                      <m:dPr>
                        <m:begChr m:val="["/>
                        <m:endChr m:val="]"/>
                        <m:ctrlPr>
                          <a:rPr lang="en-US" altLang="zh-CN" sz="1600" b="0" i="1" dirty="0" smtClean="0">
                            <a:latin typeface="Cambria Math" panose="02040503050406030204" pitchFamily="18" charset="0"/>
                          </a:rPr>
                        </m:ctrlPr>
                      </m:dPr>
                      <m:e>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𝐷𝑌</m:t>
                            </m:r>
                          </m:num>
                          <m:den>
                            <m:r>
                              <a:rPr lang="en-US" altLang="zh-CN" sz="1600" b="0" i="1" dirty="0" smtClean="0">
                                <a:latin typeface="Cambria Math" panose="02040503050406030204" pitchFamily="18" charset="0"/>
                              </a:rPr>
                              <m:t>𝑒</m:t>
                            </m:r>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𝛼</m:t>
                                </m:r>
                              </m:e>
                            </m:d>
                          </m:den>
                        </m:f>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𝐷</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𝑒</m:t>
                            </m:r>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𝛽</m:t>
                                    </m:r>
                                  </m:e>
                                  <m:sub>
                                    <m:r>
                                      <a:rPr lang="en-US" altLang="zh-CN" sz="1600" b="0" i="1" dirty="0" smtClean="0">
                                        <a:latin typeface="Cambria Math" panose="02040503050406030204" pitchFamily="18" charset="0"/>
                                      </a:rPr>
                                      <m:t>1</m:t>
                                    </m:r>
                                  </m:sub>
                                </m:sSub>
                              </m:e>
                            </m:d>
                          </m:num>
                          <m:den>
                            <m:r>
                              <a:rPr lang="en-US" altLang="zh-CN" sz="1600" b="0" i="1" dirty="0" smtClean="0">
                                <a:latin typeface="Cambria Math" panose="02040503050406030204" pitchFamily="18" charset="0"/>
                              </a:rPr>
                              <m:t>𝑒</m:t>
                            </m:r>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𝛼</m:t>
                                </m:r>
                              </m:e>
                            </m:d>
                          </m:den>
                        </m:f>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𝜇</m:t>
                            </m:r>
                          </m:e>
                          <m:sub>
                            <m:r>
                              <a:rPr lang="en-US" altLang="zh-CN" sz="1600" b="0" i="1" dirty="0" smtClean="0">
                                <a:latin typeface="Cambria Math" panose="02040503050406030204" pitchFamily="18" charset="0"/>
                              </a:rPr>
                              <m:t>1</m:t>
                            </m:r>
                          </m:sub>
                        </m:sSub>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𝛽</m:t>
                                </m:r>
                              </m:e>
                              <m:sub>
                                <m:r>
                                  <a:rPr lang="en-US" altLang="zh-CN" sz="1600" b="0" i="1" dirty="0" smtClean="0">
                                    <a:latin typeface="Cambria Math" panose="02040503050406030204" pitchFamily="18" charset="0"/>
                                  </a:rPr>
                                  <m:t>1</m:t>
                                </m:r>
                              </m:sub>
                            </m:sSub>
                          </m:e>
                        </m:d>
                      </m:e>
                    </m:d>
                  </m:oMath>
                </a14:m>
                <a:br>
                  <a:rPr lang="en-US" altLang="zh-CN" sz="1600" b="0" dirty="0"/>
                </a:br>
                <a14:m>
                  <m:oMath xmlns:m="http://schemas.openxmlformats.org/officeDocument/2006/math">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e>
                        </m:d>
                        <m:r>
                          <a:rPr lang="en-US" altLang="zh-CN" sz="1600" b="0" i="1" smtClean="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𝐷</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𝑒</m:t>
                            </m:r>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𝛼</m:t>
                                </m:r>
                              </m:e>
                            </m:d>
                          </m:num>
                          <m:den>
                            <m:r>
                              <a:rPr lang="en-US" altLang="zh-CN" sz="1600" i="1" dirty="0">
                                <a:latin typeface="Cambria Math" panose="02040503050406030204" pitchFamily="18" charset="0"/>
                              </a:rPr>
                              <m:t>𝑒</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r>
                                  <a:rPr lang="en-US" altLang="zh-CN" sz="1600" i="1" dirty="0">
                                    <a:latin typeface="Cambria Math" panose="02040503050406030204" pitchFamily="18" charset="0"/>
                                  </a:rPr>
                                  <m:t>𝛼</m:t>
                                </m:r>
                              </m:e>
                            </m:d>
                          </m:den>
                        </m:f>
                        <m:r>
                          <a:rPr lang="en-US" altLang="zh-CN" sz="1600" i="1" dirty="0">
                            <a:latin typeface="Cambria Math" panose="02040503050406030204" pitchFamily="18" charset="0"/>
                          </a:rPr>
                          <m:t>𝑌</m:t>
                        </m:r>
                        <m:r>
                          <a:rPr lang="en-US" altLang="zh-CN" sz="1600"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𝐷</m:t>
                            </m:r>
                            <m:r>
                              <a:rPr lang="en-US" altLang="zh-CN" sz="1600" i="1" dirty="0">
                                <a:latin typeface="Cambria Math" panose="02040503050406030204" pitchFamily="18" charset="0"/>
                              </a:rPr>
                              <m:t>−</m:t>
                            </m:r>
                            <m:r>
                              <a:rPr lang="en-US" altLang="zh-CN" sz="1600" i="1" dirty="0">
                                <a:latin typeface="Cambria Math" panose="02040503050406030204" pitchFamily="18" charset="0"/>
                              </a:rPr>
                              <m:t>𝑒</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𝛽</m:t>
                                    </m:r>
                                  </m:e>
                                  <m:sub>
                                    <m:r>
                                      <a:rPr lang="en-US" altLang="zh-CN" sz="1600" i="1" dirty="0">
                                        <a:latin typeface="Cambria Math" panose="02040503050406030204" pitchFamily="18" charset="0"/>
                                      </a:rPr>
                                      <m:t>1</m:t>
                                    </m:r>
                                  </m:sub>
                                </m:sSub>
                              </m:e>
                            </m:d>
                          </m:num>
                          <m:den>
                            <m:r>
                              <a:rPr lang="en-US" altLang="zh-CN" sz="1600" i="1" dirty="0">
                                <a:latin typeface="Cambria Math" panose="02040503050406030204" pitchFamily="18" charset="0"/>
                              </a:rPr>
                              <m:t>𝑒</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r>
                                  <a:rPr lang="en-US" altLang="zh-CN" sz="1600" i="1" dirty="0">
                                    <a:latin typeface="Cambria Math" panose="02040503050406030204" pitchFamily="18" charset="0"/>
                                  </a:rPr>
                                  <m:t>𝛼</m:t>
                                </m:r>
                              </m:e>
                            </m:d>
                          </m:den>
                        </m:f>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𝜇</m:t>
                            </m:r>
                          </m:e>
                          <m:sub>
                            <m:r>
                              <a:rPr lang="en-US" altLang="zh-CN" sz="1600" i="1" dirty="0">
                                <a:latin typeface="Cambria Math" panose="02040503050406030204" pitchFamily="18" charset="0"/>
                              </a:rPr>
                              <m:t>1</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𝛽</m:t>
                                </m:r>
                              </m:e>
                              <m:sub>
                                <m:r>
                                  <a:rPr lang="en-US" altLang="zh-CN" sz="1600" i="1" dirty="0">
                                    <a:latin typeface="Cambria Math" panose="02040503050406030204" pitchFamily="18" charset="0"/>
                                  </a:rPr>
                                  <m:t>1</m:t>
                                </m:r>
                              </m:sub>
                            </m:sSub>
                          </m:e>
                        </m:d>
                      </m:e>
                    </m:d>
                  </m:oMath>
                </a14:m>
                <a:br>
                  <a:rPr lang="en-US" altLang="zh-CN" sz="1600" b="0" dirty="0"/>
                </a:br>
                <a14:m>
                  <m:oMath xmlns:m="http://schemas.openxmlformats.org/officeDocument/2006/math">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e>
                        </m:d>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i="1" dirty="0">
                            <a:latin typeface="Cambria Math" panose="02040503050406030204" pitchFamily="18" charset="0"/>
                          </a:rPr>
                        </m:ctrlPr>
                      </m:dPr>
                      <m:e>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𝐷</m:t>
                            </m:r>
                            <m:r>
                              <a:rPr lang="en-US" altLang="zh-CN" sz="1600" i="1" dirty="0">
                                <a:latin typeface="Cambria Math" panose="02040503050406030204" pitchFamily="18" charset="0"/>
                              </a:rPr>
                              <m:t>−</m:t>
                            </m:r>
                            <m:r>
                              <a:rPr lang="en-US" altLang="zh-CN" sz="1600" i="1" dirty="0">
                                <a:latin typeface="Cambria Math" panose="02040503050406030204" pitchFamily="18" charset="0"/>
                              </a:rPr>
                              <m:t>𝑒</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r>
                                  <a:rPr lang="en-US" altLang="zh-CN" sz="1600" i="1" dirty="0">
                                    <a:latin typeface="Cambria Math" panose="02040503050406030204" pitchFamily="18" charset="0"/>
                                  </a:rPr>
                                  <m:t>𝛼</m:t>
                                </m:r>
                              </m:e>
                            </m:d>
                          </m:num>
                          <m:den>
                            <m:r>
                              <a:rPr lang="en-US" altLang="zh-CN" sz="1600" i="1" dirty="0">
                                <a:latin typeface="Cambria Math" panose="02040503050406030204" pitchFamily="18" charset="0"/>
                              </a:rPr>
                              <m:t>𝑒</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r>
                                  <a:rPr lang="en-US" altLang="zh-CN" sz="1600" i="1" dirty="0">
                                    <a:latin typeface="Cambria Math" panose="02040503050406030204" pitchFamily="18" charset="0"/>
                                  </a:rPr>
                                  <m:t>𝛼</m:t>
                                </m:r>
                              </m:e>
                            </m:d>
                          </m:den>
                        </m:f>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𝑌</m:t>
                            </m:r>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1</m:t>
                                </m:r>
                              </m:e>
                            </m:d>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𝜇</m:t>
                                </m:r>
                              </m:e>
                              <m:sub>
                                <m:r>
                                  <a:rPr lang="en-US" altLang="zh-CN" sz="1600" b="0" i="1" dirty="0" smtClean="0">
                                    <a:latin typeface="Cambria Math" panose="02040503050406030204" pitchFamily="18" charset="0"/>
                                  </a:rPr>
                                  <m:t>1</m:t>
                                </m:r>
                              </m:sub>
                            </m:sSub>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𝛽</m:t>
                                    </m:r>
                                  </m:e>
                                  <m:sub>
                                    <m:r>
                                      <a:rPr lang="en-US" altLang="zh-CN" sz="1600" b="0" i="1" dirty="0" smtClean="0">
                                        <a:latin typeface="Cambria Math" panose="02040503050406030204" pitchFamily="18" charset="0"/>
                                      </a:rPr>
                                      <m:t>1</m:t>
                                    </m:r>
                                  </m:sub>
                                </m:sSub>
                              </m:e>
                            </m:d>
                          </m:e>
                        </m:d>
                      </m:e>
                    </m:d>
                  </m:oMath>
                </a14:m>
                <a:br>
                  <a:rPr lang="en-US" altLang="zh-CN" sz="1600" b="0" dirty="0"/>
                </a:br>
                <a14:m>
                  <m:oMath xmlns:m="http://schemas.openxmlformats.org/officeDocument/2006/math">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e>
                        </m:d>
                      </m:e>
                    </m:d>
                    <m:r>
                      <a:rPr lang="en-US" altLang="zh-CN" sz="1600" b="0" i="1" smtClean="0">
                        <a:latin typeface="Cambria Math" panose="02040503050406030204" pitchFamily="18" charset="0"/>
                      </a:rPr>
                      <m:t>+</m:t>
                    </m:r>
                    <m:r>
                      <a:rPr lang="en-US" altLang="zh-CN" sz="1600" i="1">
                        <a:latin typeface="Cambria Math" panose="02040503050406030204" pitchFamily="18" charset="0"/>
                      </a:rPr>
                      <m:t>𝐸</m:t>
                    </m:r>
                    <m:d>
                      <m:dPr>
                        <m:begChr m:val="["/>
                        <m:endChr m:val="]"/>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𝐸</m:t>
                        </m:r>
                        <m:d>
                          <m:dPr>
                            <m:begChr m:val="{"/>
                            <m:endChr m:val="}"/>
                            <m:ctrlPr>
                              <a:rPr lang="en-US" altLang="zh-CN" sz="1600" i="1" dirty="0">
                                <a:latin typeface="Cambria Math" panose="02040503050406030204" pitchFamily="18" charset="0"/>
                              </a:rPr>
                            </m:ctrlPr>
                          </m:dPr>
                          <m:e>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𝐷</m:t>
                                </m:r>
                                <m:r>
                                  <a:rPr lang="en-US" altLang="zh-CN" sz="1600" i="1" dirty="0">
                                    <a:latin typeface="Cambria Math" panose="02040503050406030204" pitchFamily="18" charset="0"/>
                                  </a:rPr>
                                  <m:t>−</m:t>
                                </m:r>
                                <m:r>
                                  <a:rPr lang="en-US" altLang="zh-CN" sz="1600" i="1" dirty="0">
                                    <a:latin typeface="Cambria Math" panose="02040503050406030204" pitchFamily="18" charset="0"/>
                                  </a:rPr>
                                  <m:t>𝑒</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r>
                                      <a:rPr lang="en-US" altLang="zh-CN" sz="1600" i="1" dirty="0">
                                        <a:latin typeface="Cambria Math" panose="02040503050406030204" pitchFamily="18" charset="0"/>
                                      </a:rPr>
                                      <m:t>𝛼</m:t>
                                    </m:r>
                                  </m:e>
                                </m:d>
                              </m:num>
                              <m:den>
                                <m:r>
                                  <a:rPr lang="en-US" altLang="zh-CN" sz="1600" i="1" dirty="0">
                                    <a:latin typeface="Cambria Math" panose="02040503050406030204" pitchFamily="18" charset="0"/>
                                  </a:rPr>
                                  <m:t>𝑒</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r>
                                      <a:rPr lang="en-US" altLang="zh-CN" sz="1600" i="1" dirty="0">
                                        <a:latin typeface="Cambria Math" panose="02040503050406030204" pitchFamily="18" charset="0"/>
                                      </a:rPr>
                                      <m:t>𝛼</m:t>
                                    </m:r>
                                  </m:e>
                                </m:d>
                              </m:den>
                            </m:f>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𝑌</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1</m:t>
                                    </m:r>
                                  </m:e>
                                </m:d>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𝜇</m:t>
                                    </m:r>
                                  </m:e>
                                  <m:sub>
                                    <m:r>
                                      <a:rPr lang="en-US" altLang="zh-CN" sz="1600" i="1" dirty="0">
                                        <a:latin typeface="Cambria Math" panose="02040503050406030204" pitchFamily="18" charset="0"/>
                                      </a:rPr>
                                      <m:t>1</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𝛽</m:t>
                                        </m:r>
                                      </m:e>
                                      <m:sub>
                                        <m:r>
                                          <a:rPr lang="en-US" altLang="zh-CN" sz="1600" i="1" dirty="0">
                                            <a:latin typeface="Cambria Math" panose="02040503050406030204" pitchFamily="18" charset="0"/>
                                          </a:rPr>
                                          <m:t>1</m:t>
                                        </m:r>
                                      </m:sub>
                                    </m:sSub>
                                  </m:e>
                                </m:d>
                              </m:e>
                            </m:d>
                          </m:e>
                          <m:e>
                            <m:r>
                              <a:rPr lang="en-US" altLang="zh-CN" sz="1600" b="0" i="1" dirty="0" smtClean="0">
                                <a:latin typeface="Cambria Math" panose="02040503050406030204" pitchFamily="18" charset="0"/>
                              </a:rPr>
                              <m:t>𝑋</m:t>
                            </m:r>
                          </m:e>
                        </m:d>
                      </m:e>
                    </m:d>
                  </m:oMath>
                </a14:m>
                <a:br>
                  <a:rPr lang="en-US" altLang="zh-CN" sz="1600" dirty="0"/>
                </a:br>
                <a14:m>
                  <m:oMath xmlns:m="http://schemas.openxmlformats.org/officeDocument/2006/math">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e>
                        </m:d>
                      </m:e>
                    </m:d>
                    <m:r>
                      <a:rPr lang="en-US" altLang="zh-CN" sz="1600" b="0" i="1" smtClean="0">
                        <a:latin typeface="Cambria Math" panose="02040503050406030204" pitchFamily="18" charset="0"/>
                      </a:rPr>
                      <m:t>+</m:t>
                    </m:r>
                    <m:r>
                      <a:rPr lang="en-US" altLang="zh-CN" sz="1600" i="1">
                        <a:latin typeface="Cambria Math" panose="02040503050406030204" pitchFamily="18" charset="0"/>
                      </a:rPr>
                      <m:t>𝐸</m:t>
                    </m:r>
                    <m:d>
                      <m:dPr>
                        <m:begChr m:val="["/>
                        <m:endChr m:val="]"/>
                        <m:ctrlPr>
                          <a:rPr lang="en-US" altLang="zh-CN" sz="1600" i="1" dirty="0">
                            <a:latin typeface="Cambria Math" panose="02040503050406030204" pitchFamily="18" charset="0"/>
                          </a:rPr>
                        </m:ctrlPr>
                      </m:dPr>
                      <m:e>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𝐷</m:t>
                            </m:r>
                            <m:r>
                              <a:rPr lang="en-US" altLang="zh-CN" sz="1600" i="1" dirty="0">
                                <a:latin typeface="Cambria Math" panose="02040503050406030204" pitchFamily="18" charset="0"/>
                              </a:rPr>
                              <m:t>−</m:t>
                            </m:r>
                            <m:r>
                              <a:rPr lang="en-US" altLang="zh-CN" sz="1600" i="1" dirty="0">
                                <a:latin typeface="Cambria Math" panose="02040503050406030204" pitchFamily="18" charset="0"/>
                              </a:rPr>
                              <m:t>𝑒</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r>
                                  <a:rPr lang="en-US" altLang="zh-CN" sz="1600" i="1" dirty="0">
                                    <a:latin typeface="Cambria Math" panose="02040503050406030204" pitchFamily="18" charset="0"/>
                                  </a:rPr>
                                  <m:t>𝛼</m:t>
                                </m:r>
                              </m:e>
                            </m:d>
                          </m:num>
                          <m:den>
                            <m:r>
                              <a:rPr lang="en-US" altLang="zh-CN" sz="1600" i="1" dirty="0">
                                <a:latin typeface="Cambria Math" panose="02040503050406030204" pitchFamily="18" charset="0"/>
                              </a:rPr>
                              <m:t>𝑒</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r>
                                  <a:rPr lang="en-US" altLang="zh-CN" sz="1600" i="1" dirty="0">
                                    <a:latin typeface="Cambria Math" panose="02040503050406030204" pitchFamily="18" charset="0"/>
                                  </a:rPr>
                                  <m:t>𝛼</m:t>
                                </m:r>
                              </m:e>
                            </m:d>
                          </m:den>
                        </m:f>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𝐸</m:t>
                            </m:r>
                            <m:r>
                              <a:rPr lang="en-US" altLang="zh-CN" sz="1600" b="0" i="1" dirty="0" smtClean="0">
                                <a:latin typeface="Cambria Math" panose="02040503050406030204" pitchFamily="18" charset="0"/>
                              </a:rPr>
                              <m:t>[</m:t>
                            </m:r>
                            <m:r>
                              <a:rPr lang="en-US" altLang="zh-CN" sz="1600" i="1" dirty="0">
                                <a:latin typeface="Cambria Math" panose="02040503050406030204" pitchFamily="18" charset="0"/>
                              </a:rPr>
                              <m:t>𝑌</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1</m:t>
                                </m:r>
                              </m:e>
                            </m:d>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𝜇</m:t>
                                </m:r>
                              </m:e>
                              <m:sub>
                                <m:r>
                                  <a:rPr lang="en-US" altLang="zh-CN" sz="1600" i="1" dirty="0">
                                    <a:latin typeface="Cambria Math" panose="02040503050406030204" pitchFamily="18" charset="0"/>
                                  </a:rPr>
                                  <m:t>1</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𝛽</m:t>
                                    </m:r>
                                  </m:e>
                                  <m:sub>
                                    <m:r>
                                      <a:rPr lang="en-US" altLang="zh-CN" sz="1600" i="1" dirty="0">
                                        <a:latin typeface="Cambria Math" panose="02040503050406030204" pitchFamily="18" charset="0"/>
                                      </a:rPr>
                                      <m:t>1</m:t>
                                    </m:r>
                                  </m:sub>
                                </m:sSub>
                              </m:e>
                            </m:d>
                          </m:e>
                        </m:d>
                      </m:e>
                    </m:d>
                  </m:oMath>
                </a14:m>
                <a:br>
                  <a:rPr lang="en-US" altLang="zh-CN" sz="1600" dirty="0"/>
                </a:br>
                <a14:m>
                  <m:oMath xmlns:m="http://schemas.openxmlformats.org/officeDocument/2006/math">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m:t>
                            </m:r>
                          </m:e>
                        </m:d>
                      </m:e>
                    </m:d>
                    <m:r>
                      <a:rPr lang="en-US" altLang="zh-CN" sz="1600" b="0" i="1" smtClean="0">
                        <a:latin typeface="Cambria Math" panose="02040503050406030204" pitchFamily="18" charset="0"/>
                      </a:rPr>
                      <m:t>+</m:t>
                    </m:r>
                    <m:r>
                      <a:rPr lang="en-US" altLang="zh-CN" sz="1600" i="1">
                        <a:latin typeface="Cambria Math" panose="02040503050406030204" pitchFamily="18" charset="0"/>
                      </a:rPr>
                      <m:t>𝐸</m:t>
                    </m:r>
                    <m:d>
                      <m:dPr>
                        <m:begChr m:val="["/>
                        <m:endChr m:val="]"/>
                        <m:ctrlPr>
                          <a:rPr lang="en-US" altLang="zh-CN" sz="1600" i="1" dirty="0">
                            <a:latin typeface="Cambria Math" panose="02040503050406030204" pitchFamily="18" charset="0"/>
                          </a:rPr>
                        </m:ctrlPr>
                      </m:dPr>
                      <m:e>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𝐷</m:t>
                            </m:r>
                            <m:r>
                              <a:rPr lang="en-US" altLang="zh-CN" sz="1600" i="1" dirty="0">
                                <a:latin typeface="Cambria Math" panose="02040503050406030204" pitchFamily="18" charset="0"/>
                              </a:rPr>
                              <m:t>−</m:t>
                            </m:r>
                            <m:r>
                              <a:rPr lang="en-US" altLang="zh-CN" sz="1600" i="1" dirty="0">
                                <a:latin typeface="Cambria Math" panose="02040503050406030204" pitchFamily="18" charset="0"/>
                              </a:rPr>
                              <m:t>𝑒</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r>
                                  <a:rPr lang="en-US" altLang="zh-CN" sz="1600" i="1" dirty="0">
                                    <a:latin typeface="Cambria Math" panose="02040503050406030204" pitchFamily="18" charset="0"/>
                                  </a:rPr>
                                  <m:t>𝛼</m:t>
                                </m:r>
                              </m:e>
                            </m:d>
                          </m:num>
                          <m:den>
                            <m:r>
                              <a:rPr lang="en-US" altLang="zh-CN" sz="1600" i="1" dirty="0">
                                <a:latin typeface="Cambria Math" panose="02040503050406030204" pitchFamily="18" charset="0"/>
                              </a:rPr>
                              <m:t>𝑒</m:t>
                            </m:r>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r>
                                  <a:rPr lang="en-US" altLang="zh-CN" sz="1600" i="1" dirty="0">
                                    <a:latin typeface="Cambria Math" panose="02040503050406030204" pitchFamily="18" charset="0"/>
                                  </a:rPr>
                                  <m:t>𝛼</m:t>
                                </m:r>
                              </m:e>
                            </m:d>
                          </m:den>
                        </m:f>
                        <m:d>
                          <m:dPr>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𝜇</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𝜇</m:t>
                                </m:r>
                              </m:e>
                              <m:sub>
                                <m:r>
                                  <a:rPr lang="en-US" altLang="zh-CN" sz="1600" i="1" dirty="0">
                                    <a:latin typeface="Cambria Math" panose="02040503050406030204" pitchFamily="18" charset="0"/>
                                  </a:rPr>
                                  <m:t>1</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𝛽</m:t>
                                    </m:r>
                                  </m:e>
                                  <m:sub>
                                    <m:r>
                                      <a:rPr lang="en-US" altLang="zh-CN" sz="1600" i="1" dirty="0">
                                        <a:latin typeface="Cambria Math" panose="02040503050406030204" pitchFamily="18" charset="0"/>
                                      </a:rPr>
                                      <m:t>1</m:t>
                                    </m:r>
                                  </m:sub>
                                </m:sSub>
                              </m:e>
                            </m:d>
                          </m:e>
                        </m:d>
                      </m:e>
                    </m:d>
                    <m:r>
                      <a:rPr lang="en-US" altLang="zh-CN" sz="1600" b="0" i="1" dirty="0" smtClean="0">
                        <a:latin typeface="Cambria Math" panose="02040503050406030204" pitchFamily="18" charset="0"/>
                      </a:rPr>
                      <m:t>           (15)</m:t>
                    </m:r>
                  </m:oMath>
                </a14:m>
                <a:endParaRPr lang="en-US" altLang="zh-CN" sz="1600" dirty="0"/>
              </a:p>
              <a:p>
                <a:r>
                  <a:rPr lang="zh-CN" altLang="en-US" sz="1600" dirty="0"/>
                  <a:t>因而，只要</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𝜇</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m:t>
                    </m:r>
                    <m:r>
                      <a:rPr lang="zh-CN" altLang="en-US" sz="1600" i="1" dirty="0">
                        <a:latin typeface="Cambria Math" panose="02040503050406030204" pitchFamily="18" charset="0"/>
                      </a:rPr>
                      <m:t>𝑋</m:t>
                    </m:r>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𝛽</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 </m:t>
                    </m:r>
                  </m:oMath>
                </a14:m>
                <a:r>
                  <a:rPr lang="zh-CN" altLang="en-US" sz="1600" dirty="0"/>
                  <a:t>或</a:t>
                </a:r>
                <a14:m>
                  <m:oMath xmlns:m="http://schemas.openxmlformats.org/officeDocument/2006/math">
                    <m:r>
                      <a:rPr lang="zh-CN" altLang="en-US" sz="1600" i="1" dirty="0" smtClean="0">
                        <a:latin typeface="Cambria Math" panose="02040503050406030204" pitchFamily="18" charset="0"/>
                      </a:rPr>
                      <m:t>𝑒</m:t>
                    </m:r>
                    <m:r>
                      <a:rPr lang="en-US" altLang="zh-CN" sz="1600" i="1" dirty="0">
                        <a:latin typeface="Cambria Math" panose="02040503050406030204" pitchFamily="18" charset="0"/>
                      </a:rPr>
                      <m:t>(</m:t>
                    </m:r>
                    <m:r>
                      <a:rPr lang="zh-CN" altLang="en-US" sz="1600" i="1" dirty="0">
                        <a:latin typeface="Cambria Math" panose="02040503050406030204" pitchFamily="18" charset="0"/>
                      </a:rPr>
                      <m:t>𝑋</m:t>
                    </m:r>
                    <m:r>
                      <a:rPr lang="en-US" altLang="zh-CN" sz="1600" i="1" dirty="0">
                        <a:latin typeface="Cambria Math" panose="02040503050406030204" pitchFamily="18" charset="0"/>
                      </a:rPr>
                      <m:t>, </m:t>
                    </m:r>
                    <m:r>
                      <a:rPr lang="zh-CN" altLang="en-US" sz="1600" i="1" dirty="0">
                        <a:latin typeface="Cambria Math" panose="02040503050406030204" pitchFamily="18" charset="0"/>
                      </a:rPr>
                      <m:t>𝛼</m:t>
                    </m:r>
                    <m:r>
                      <a:rPr lang="en-US" altLang="zh-CN" sz="1600" i="1" dirty="0">
                        <a:latin typeface="Cambria Math" panose="02040503050406030204" pitchFamily="18" charset="0"/>
                      </a:rPr>
                      <m:t>)</m:t>
                    </m:r>
                  </m:oMath>
                </a14:m>
                <a:r>
                  <a:rPr lang="en-US" altLang="zh-CN" sz="1600" dirty="0"/>
                  <a:t> </a:t>
                </a:r>
                <a:r>
                  <a:rPr lang="zh-CN" altLang="en-US" sz="1600" dirty="0"/>
                  <a:t>有一个设定正确，</a:t>
                </a:r>
                <a:r>
                  <a:rPr lang="en-US" altLang="zh-CN" sz="1600" dirty="0"/>
                  <a:t>(15) </a:t>
                </a:r>
                <a:r>
                  <a:rPr lang="zh-CN" altLang="en-US" sz="1600" dirty="0"/>
                  <a:t>第</a:t>
                </a:r>
                <a:r>
                  <a:rPr lang="en-US" altLang="zh-CN" sz="1600" dirty="0"/>
                  <a:t>2 </a:t>
                </a:r>
                <a:r>
                  <a:rPr lang="zh-CN" altLang="en-US" sz="1600" dirty="0"/>
                  <a:t>项即为</a:t>
                </a:r>
                <a:r>
                  <a:rPr lang="en-US" altLang="zh-CN" sz="1600" dirty="0"/>
                  <a:t>0</a:t>
                </a:r>
                <a:r>
                  <a:rPr lang="zh-CN" altLang="en-US" sz="1600" dirty="0"/>
                  <a:t>，不存在偏差。</a:t>
                </a:r>
              </a:p>
            </p:txBody>
          </p:sp>
        </mc:Choice>
        <mc:Fallback xmlns="">
          <p:sp>
            <p:nvSpPr>
              <p:cNvPr id="3" name="内容占位符 2">
                <a:extLst>
                  <a:ext uri="{FF2B5EF4-FFF2-40B4-BE49-F238E27FC236}">
                    <a16:creationId xmlns:a16="http://schemas.microsoft.com/office/drawing/2014/main" id="{CA45490C-E131-46AB-1B47-7BD9460BE075}"/>
                  </a:ext>
                </a:extLst>
              </p:cNvPr>
              <p:cNvSpPr>
                <a:spLocks noGrp="1" noRot="1" noChangeAspect="1" noMove="1" noResize="1" noEditPoints="1" noAdjustHandles="1" noChangeArrowheads="1" noChangeShapeType="1" noTextEdit="1"/>
              </p:cNvSpPr>
              <p:nvPr>
                <p:ph idx="1"/>
              </p:nvPr>
            </p:nvSpPr>
            <p:spPr>
              <a:blipFill>
                <a:blip r:embed="rId2"/>
                <a:stretch>
                  <a:fillRect l="-309" t="-14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C2EA515-56EF-4F43-BF95-0951552134A6}"/>
              </a:ext>
            </a:extLst>
          </p:cNvPr>
          <p:cNvSpPr>
            <a:spLocks noGrp="1"/>
          </p:cNvSpPr>
          <p:nvPr>
            <p:ph type="ftr" sz="quarter" idx="11"/>
          </p:nvPr>
        </p:nvSpPr>
        <p:spPr/>
        <p:txBody>
          <a:bodyPr/>
          <a:lstStyle/>
          <a:p>
            <a:r>
              <a:rPr lang="zh-CN" altLang="en-US" dirty="0"/>
              <a:t>ⓒ 赵西亮</a:t>
            </a:r>
          </a:p>
        </p:txBody>
      </p:sp>
      <p:sp>
        <p:nvSpPr>
          <p:cNvPr id="5" name="灯片编号占位符 4">
            <a:extLst>
              <a:ext uri="{FF2B5EF4-FFF2-40B4-BE49-F238E27FC236}">
                <a16:creationId xmlns:a16="http://schemas.microsoft.com/office/drawing/2014/main" id="{9DB712E4-84A6-889B-8AED-102CD4A9BAC3}"/>
              </a:ext>
            </a:extLst>
          </p:cNvPr>
          <p:cNvSpPr>
            <a:spLocks noGrp="1"/>
          </p:cNvSpPr>
          <p:nvPr>
            <p:ph type="sldNum" sz="quarter" idx="12"/>
          </p:nvPr>
        </p:nvSpPr>
        <p:spPr/>
        <p:txBody>
          <a:bodyPr/>
          <a:lstStyle/>
          <a:p>
            <a:fld id="{D41FC515-8169-4A29-AA56-DBE520D5741B}" type="slidenum">
              <a:rPr lang="zh-CN" altLang="en-US" smtClean="0"/>
              <a:t>25</a:t>
            </a:fld>
            <a:endParaRPr lang="zh-CN" altLang="en-US"/>
          </a:p>
        </p:txBody>
      </p:sp>
    </p:spTree>
    <p:extLst>
      <p:ext uri="{BB962C8B-B14F-4D97-AF65-F5344CB8AC3E}">
        <p14:creationId xmlns:p14="http://schemas.microsoft.com/office/powerpoint/2010/main" val="32735097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9B3B85-B23F-9100-9639-A9E759F13DA7}"/>
              </a:ext>
            </a:extLst>
          </p:cNvPr>
          <p:cNvSpPr>
            <a:spLocks noGrp="1"/>
          </p:cNvSpPr>
          <p:nvPr>
            <p:ph type="title"/>
          </p:nvPr>
        </p:nvSpPr>
        <p:spPr/>
        <p:txBody>
          <a:bodyPr/>
          <a:lstStyle/>
          <a:p>
            <a:r>
              <a:rPr lang="zh-CN" altLang="en-US" dirty="0"/>
              <a:t>双重稳健估计量</a:t>
            </a:r>
            <a:r>
              <a:rPr lang="en-US" altLang="zh-CN" dirty="0"/>
              <a:t>(Double robust estimator)</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38106AB-C8E6-62E7-7B05-0547BBB0165F}"/>
                  </a:ext>
                </a:extLst>
              </p:cNvPr>
              <p:cNvSpPr>
                <a:spLocks noGrp="1"/>
              </p:cNvSpPr>
              <p:nvPr>
                <p:ph idx="1"/>
              </p:nvPr>
            </p:nvSpPr>
            <p:spPr/>
            <p:txBody>
              <a:bodyPr>
                <a:noAutofit/>
              </a:bodyPr>
              <a:lstStyle/>
              <a:p>
                <a:r>
                  <a:rPr lang="zh-CN" altLang="en-US" sz="1200" dirty="0"/>
                  <a:t>样本形式</a:t>
                </a:r>
                <a:endParaRPr lang="en-US" altLang="zh-CN" sz="1200" dirty="0"/>
              </a:p>
              <a:p>
                <a:pPr lvl="1"/>
                <a:r>
                  <a:rPr lang="zh-CN" altLang="en-US" sz="1200" dirty="0"/>
                  <a:t>估计倾向得分模型，得到倾向得分拟合值：</a:t>
                </a:r>
                <a14:m>
                  <m:oMath xmlns:m="http://schemas.openxmlformats.org/officeDocument/2006/math">
                    <m:acc>
                      <m:accPr>
                        <m:chr m:val="̂"/>
                        <m:ctrlPr>
                          <a:rPr lang="zh-CN" altLang="en-US" sz="1200" i="1" dirty="0" smtClean="0">
                            <a:latin typeface="Cambria Math" panose="02040503050406030204" pitchFamily="18" charset="0"/>
                          </a:rPr>
                        </m:ctrlPr>
                      </m:accPr>
                      <m:e>
                        <m:r>
                          <a:rPr lang="zh-CN" altLang="en-US" sz="1200" i="1" dirty="0" smtClean="0">
                            <a:latin typeface="Cambria Math" panose="02040503050406030204" pitchFamily="18" charset="0"/>
                          </a:rPr>
                          <m:t>𝑒</m:t>
                        </m:r>
                      </m:e>
                    </m:acc>
                    <m:r>
                      <a:rPr lang="en-US" altLang="zh-CN" sz="1200" b="0" i="1" dirty="0" smtClean="0">
                        <a:latin typeface="Cambria Math" panose="02040503050406030204" pitchFamily="18" charset="0"/>
                      </a:rPr>
                      <m:t>(</m:t>
                    </m:r>
                    <m:r>
                      <a:rPr lang="en-US" altLang="zh-CN" sz="1200" b="0" i="1" dirty="0" smtClean="0">
                        <a:latin typeface="Cambria Math" panose="02040503050406030204" pitchFamily="18" charset="0"/>
                      </a:rPr>
                      <m:t>𝑋</m:t>
                    </m:r>
                    <m:r>
                      <a:rPr lang="en-US" altLang="zh-CN" sz="1200" b="0" i="1" dirty="0" smtClean="0">
                        <a:latin typeface="Cambria Math" panose="02040503050406030204" pitchFamily="18" charset="0"/>
                      </a:rPr>
                      <m:t>,</m:t>
                    </m:r>
                    <m:acc>
                      <m:accPr>
                        <m:chr m:val="̂"/>
                        <m:ctrlPr>
                          <a:rPr lang="en-US" altLang="zh-CN" sz="1200" b="0" i="1" dirty="0" smtClean="0">
                            <a:latin typeface="Cambria Math" panose="02040503050406030204" pitchFamily="18" charset="0"/>
                          </a:rPr>
                        </m:ctrlPr>
                      </m:accPr>
                      <m:e>
                        <m:r>
                          <a:rPr lang="en-US" altLang="zh-CN" sz="1200" b="0" i="1" dirty="0" smtClean="0">
                            <a:latin typeface="Cambria Math" panose="02040503050406030204" pitchFamily="18" charset="0"/>
                          </a:rPr>
                          <m:t>𝛼</m:t>
                        </m:r>
                      </m:e>
                    </m:acc>
                    <m:r>
                      <a:rPr lang="en-US" altLang="zh-CN" sz="1200" b="0" i="1" dirty="0" smtClean="0">
                        <a:latin typeface="Cambria Math" panose="02040503050406030204" pitchFamily="18" charset="0"/>
                      </a:rPr>
                      <m:t>) </m:t>
                    </m:r>
                  </m:oMath>
                </a14:m>
                <a:r>
                  <a:rPr lang="en-US" altLang="zh-CN" sz="1200" dirty="0"/>
                  <a:t> </a:t>
                </a:r>
                <a:r>
                  <a:rPr lang="zh-CN" altLang="en-US" sz="1200" dirty="0"/>
                  <a:t>，</a:t>
                </a:r>
                <a:endParaRPr lang="en-US" altLang="zh-CN" sz="1200" dirty="0"/>
              </a:p>
              <a:p>
                <a:pPr lvl="1"/>
                <a:r>
                  <a:rPr lang="zh-CN" altLang="en-US" sz="1200" dirty="0"/>
                  <a:t>估计结果模型，得到结果均值 </a:t>
                </a:r>
                <a14:m>
                  <m:oMath xmlns:m="http://schemas.openxmlformats.org/officeDocument/2006/math">
                    <m:sSub>
                      <m:sSubPr>
                        <m:ctrlPr>
                          <a:rPr lang="en-US" altLang="zh-CN" sz="1200" b="0" i="1" dirty="0" smtClean="0">
                            <a:latin typeface="Cambria Math" panose="02040503050406030204" pitchFamily="18" charset="0"/>
                          </a:rPr>
                        </m:ctrlPr>
                      </m:sSubPr>
                      <m:e>
                        <m:r>
                          <a:rPr lang="en-US" altLang="zh-CN" sz="1200" b="0" i="1" dirty="0" smtClean="0">
                            <a:latin typeface="Cambria Math" panose="02040503050406030204" pitchFamily="18" charset="0"/>
                          </a:rPr>
                          <m:t>𝜇</m:t>
                        </m:r>
                      </m:e>
                      <m:sub>
                        <m:r>
                          <a:rPr lang="en-US" altLang="zh-CN" sz="1200" i="1" dirty="0">
                            <a:latin typeface="Cambria Math" panose="02040503050406030204" pitchFamily="18" charset="0"/>
                          </a:rPr>
                          <m:t>1</m:t>
                        </m:r>
                      </m:sub>
                    </m:sSub>
                    <m:r>
                      <a:rPr lang="en-US" altLang="zh-CN" sz="1200" i="1" dirty="0">
                        <a:latin typeface="Cambria Math" panose="02040503050406030204" pitchFamily="18" charset="0"/>
                      </a:rPr>
                      <m:t>(</m:t>
                    </m:r>
                    <m:r>
                      <a:rPr lang="zh-CN" altLang="en-US" sz="1200" i="1" dirty="0">
                        <a:latin typeface="Cambria Math" panose="02040503050406030204" pitchFamily="18" charset="0"/>
                      </a:rPr>
                      <m:t>𝑋</m:t>
                    </m:r>
                    <m:r>
                      <a:rPr lang="en-US" altLang="zh-CN" sz="1200" i="1" dirty="0">
                        <a:latin typeface="Cambria Math" panose="02040503050406030204" pitchFamily="18" charset="0"/>
                      </a:rPr>
                      <m:t>, </m:t>
                    </m:r>
                    <m:acc>
                      <m:accPr>
                        <m:chr m:val="̂"/>
                        <m:ctrlPr>
                          <a:rPr lang="zh-CN" altLang="en-US" sz="1200" i="1" dirty="0">
                            <a:latin typeface="Cambria Math" panose="02040503050406030204" pitchFamily="18" charset="0"/>
                          </a:rPr>
                        </m:ctrlPr>
                      </m:accPr>
                      <m:e>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𝛽</m:t>
                            </m:r>
                          </m:e>
                          <m:sub>
                            <m:r>
                              <a:rPr lang="en-US" altLang="zh-CN" sz="1200" i="1" dirty="0">
                                <a:latin typeface="Cambria Math" panose="02040503050406030204" pitchFamily="18" charset="0"/>
                              </a:rPr>
                              <m:t>1</m:t>
                            </m:r>
                          </m:sub>
                        </m:sSub>
                      </m:e>
                    </m:acc>
                    <m:r>
                      <a:rPr lang="zh-CN" altLang="en-US" sz="1200" i="1" dirty="0">
                        <a:latin typeface="Cambria Math" panose="02040503050406030204" pitchFamily="18" charset="0"/>
                      </a:rPr>
                      <m:t> </m:t>
                    </m:r>
                    <m:r>
                      <a:rPr lang="en-US" altLang="zh-CN" sz="1200" i="1" dirty="0">
                        <a:latin typeface="Cambria Math" panose="02040503050406030204" pitchFamily="18" charset="0"/>
                      </a:rPr>
                      <m:t>) </m:t>
                    </m:r>
                  </m:oMath>
                </a14:m>
                <a:r>
                  <a:rPr lang="zh-CN" altLang="en-US" sz="1200" dirty="0"/>
                  <a:t>和 </a:t>
                </a:r>
                <a14:m>
                  <m:oMath xmlns:m="http://schemas.openxmlformats.org/officeDocument/2006/math">
                    <m:sSub>
                      <m:sSubPr>
                        <m:ctrlPr>
                          <a:rPr lang="zh-CN" altLang="en-US" sz="1200" i="1" dirty="0" smtClean="0">
                            <a:latin typeface="Cambria Math" panose="02040503050406030204" pitchFamily="18" charset="0"/>
                          </a:rPr>
                        </m:ctrlPr>
                      </m:sSubPr>
                      <m:e>
                        <m:r>
                          <a:rPr lang="zh-CN" altLang="en-US" sz="1200" i="1" dirty="0" smtClean="0">
                            <a:latin typeface="Cambria Math" panose="02040503050406030204" pitchFamily="18" charset="0"/>
                          </a:rPr>
                          <m:t>𝜇</m:t>
                        </m:r>
                      </m:e>
                      <m:sub>
                        <m:r>
                          <a:rPr lang="en-US" altLang="zh-CN" sz="1200" i="1" dirty="0">
                            <a:latin typeface="Cambria Math" panose="02040503050406030204" pitchFamily="18" charset="0"/>
                          </a:rPr>
                          <m:t>0</m:t>
                        </m:r>
                      </m:sub>
                    </m:sSub>
                    <m:r>
                      <a:rPr lang="en-US" altLang="zh-CN" sz="1200" i="1" dirty="0">
                        <a:latin typeface="Cambria Math" panose="02040503050406030204" pitchFamily="18" charset="0"/>
                      </a:rPr>
                      <m:t>(</m:t>
                    </m:r>
                    <m:r>
                      <a:rPr lang="zh-CN" altLang="en-US" sz="1200" i="1" dirty="0">
                        <a:latin typeface="Cambria Math" panose="02040503050406030204" pitchFamily="18" charset="0"/>
                      </a:rPr>
                      <m:t>𝑋</m:t>
                    </m:r>
                    <m:r>
                      <a:rPr lang="en-US" altLang="zh-CN" sz="1200" i="1" dirty="0">
                        <a:latin typeface="Cambria Math" panose="02040503050406030204" pitchFamily="18" charset="0"/>
                      </a:rPr>
                      <m:t>, </m:t>
                    </m:r>
                    <m:acc>
                      <m:accPr>
                        <m:chr m:val="̂"/>
                        <m:ctrlPr>
                          <a:rPr lang="zh-CN" altLang="en-US" sz="1200" i="1" dirty="0">
                            <a:latin typeface="Cambria Math" panose="02040503050406030204" pitchFamily="18" charset="0"/>
                          </a:rPr>
                        </m:ctrlPr>
                      </m:accPr>
                      <m:e>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𝛽</m:t>
                            </m:r>
                          </m:e>
                          <m:sub>
                            <m:r>
                              <a:rPr lang="en-US" altLang="zh-CN" sz="1200" i="1" dirty="0">
                                <a:latin typeface="Cambria Math" panose="02040503050406030204" pitchFamily="18" charset="0"/>
                              </a:rPr>
                              <m:t>0</m:t>
                            </m:r>
                          </m:sub>
                        </m:sSub>
                      </m:e>
                    </m:acc>
                    <m:r>
                      <a:rPr lang="zh-CN" altLang="en-US" sz="1200" i="1" dirty="0">
                        <a:latin typeface="Cambria Math" panose="02040503050406030204" pitchFamily="18" charset="0"/>
                      </a:rPr>
                      <m:t> </m:t>
                    </m:r>
                    <m:r>
                      <a:rPr lang="en-US" altLang="zh-CN" sz="1200" i="1" dirty="0">
                        <a:latin typeface="Cambria Math" panose="02040503050406030204" pitchFamily="18" charset="0"/>
                      </a:rPr>
                      <m:t>)</m:t>
                    </m:r>
                  </m:oMath>
                </a14:m>
                <a:r>
                  <a:rPr lang="zh-CN" altLang="en-US" sz="1200" dirty="0"/>
                  <a:t>，</a:t>
                </a:r>
                <a:endParaRPr lang="en-US" altLang="zh-CN" sz="1200" dirty="0"/>
              </a:p>
              <a:p>
                <a:pPr lvl="1"/>
                <a:r>
                  <a:rPr lang="zh-CN" altLang="en-US" sz="1200" dirty="0"/>
                  <a:t>构造双重稳健估计量</a:t>
                </a:r>
                <a:endParaRPr lang="en-US" altLang="zh-CN" sz="1200" dirty="0"/>
              </a:p>
              <a:p>
                <a:pPr lvl="1"/>
                <a14:m>
                  <m:oMath xmlns:m="http://schemas.openxmlformats.org/officeDocument/2006/math">
                    <m:sSup>
                      <m:sSupPr>
                        <m:ctrlPr>
                          <a:rPr lang="en-US" altLang="zh-CN" sz="1200" b="0" i="1" smtClean="0">
                            <a:latin typeface="Cambria Math" panose="02040503050406030204" pitchFamily="18" charset="0"/>
                          </a:rPr>
                        </m:ctrlPr>
                      </m:sSupPr>
                      <m:e>
                        <m:acc>
                          <m:accPr>
                            <m:chr m:val="̂"/>
                            <m:ctrlPr>
                              <a:rPr lang="en-US" altLang="zh-CN" sz="1200" b="0" i="1" smtClean="0">
                                <a:latin typeface="Cambria Math" panose="02040503050406030204" pitchFamily="18" charset="0"/>
                              </a:rPr>
                            </m:ctrlPr>
                          </m:accPr>
                          <m:e>
                            <m:r>
                              <a:rPr lang="en-US" altLang="zh-CN" sz="1200" b="0" i="1" smtClean="0">
                                <a:latin typeface="Cambria Math" panose="02040503050406030204" pitchFamily="18" charset="0"/>
                              </a:rPr>
                              <m:t>𝜏</m:t>
                            </m:r>
                          </m:e>
                        </m:acc>
                      </m:e>
                      <m:sup>
                        <m:r>
                          <a:rPr lang="en-US" altLang="zh-CN" sz="1200" b="0" i="1" dirty="0" smtClean="0">
                            <a:latin typeface="Cambria Math" panose="02040503050406030204" pitchFamily="18" charset="0"/>
                          </a:rPr>
                          <m:t>𝑑𝑟</m:t>
                        </m:r>
                      </m:sup>
                    </m:sSup>
                    <m:r>
                      <a:rPr lang="en-US" altLang="zh-CN" sz="1200" b="0" i="1" dirty="0" smtClean="0">
                        <a:latin typeface="Cambria Math" panose="02040503050406030204" pitchFamily="18" charset="0"/>
                      </a:rPr>
                      <m:t>=</m:t>
                    </m:r>
                    <m:sSup>
                      <m:sSupPr>
                        <m:ctrlPr>
                          <a:rPr lang="en-US" altLang="zh-CN" sz="1200" b="0" i="1" dirty="0" smtClean="0">
                            <a:latin typeface="Cambria Math" panose="02040503050406030204" pitchFamily="18" charset="0"/>
                          </a:rPr>
                        </m:ctrlPr>
                      </m:sSupPr>
                      <m:e>
                        <m:acc>
                          <m:accPr>
                            <m:chr m:val="̂"/>
                            <m:ctrlPr>
                              <a:rPr lang="en-US" altLang="zh-CN" sz="1200" b="0" i="1" dirty="0" smtClean="0">
                                <a:latin typeface="Cambria Math" panose="02040503050406030204" pitchFamily="18" charset="0"/>
                              </a:rPr>
                            </m:ctrlPr>
                          </m:accPr>
                          <m:e>
                            <m:sSub>
                              <m:sSubPr>
                                <m:ctrlPr>
                                  <a:rPr lang="en-US" altLang="zh-CN" sz="1200" b="0" i="1" dirty="0" smtClean="0">
                                    <a:latin typeface="Cambria Math" panose="02040503050406030204" pitchFamily="18" charset="0"/>
                                  </a:rPr>
                                </m:ctrlPr>
                              </m:sSubPr>
                              <m:e>
                                <m:r>
                                  <a:rPr lang="en-US" altLang="zh-CN" sz="1200" b="0" i="1" dirty="0" smtClean="0">
                                    <a:latin typeface="Cambria Math" panose="02040503050406030204" pitchFamily="18" charset="0"/>
                                  </a:rPr>
                                  <m:t>𝜇</m:t>
                                </m:r>
                              </m:e>
                              <m:sub>
                                <m:r>
                                  <a:rPr lang="en-US" altLang="zh-CN" sz="1200" b="0" i="1" dirty="0" smtClean="0">
                                    <a:latin typeface="Cambria Math" panose="02040503050406030204" pitchFamily="18" charset="0"/>
                                  </a:rPr>
                                  <m:t>1</m:t>
                                </m:r>
                              </m:sub>
                            </m:sSub>
                          </m:e>
                        </m:acc>
                      </m:e>
                      <m:sup>
                        <m:r>
                          <a:rPr lang="en-US" altLang="zh-CN" sz="1200" b="0" i="1" dirty="0" smtClean="0">
                            <a:latin typeface="Cambria Math" panose="02040503050406030204" pitchFamily="18" charset="0"/>
                          </a:rPr>
                          <m:t>𝑑𝑟</m:t>
                        </m:r>
                      </m:sup>
                    </m:sSup>
                    <m:r>
                      <a:rPr lang="en-US" altLang="zh-CN" sz="1200" b="0" i="1" dirty="0" smtClean="0">
                        <a:latin typeface="Cambria Math" panose="02040503050406030204" pitchFamily="18" charset="0"/>
                      </a:rPr>
                      <m:t>−</m:t>
                    </m:r>
                    <m:sSup>
                      <m:sSupPr>
                        <m:ctrlPr>
                          <a:rPr lang="en-US" altLang="zh-CN" sz="1200" b="0" i="1" dirty="0" smtClean="0">
                            <a:latin typeface="Cambria Math" panose="02040503050406030204" pitchFamily="18" charset="0"/>
                          </a:rPr>
                        </m:ctrlPr>
                      </m:sSupPr>
                      <m:e>
                        <m:acc>
                          <m:accPr>
                            <m:chr m:val="̂"/>
                            <m:ctrlPr>
                              <a:rPr lang="en-US" altLang="zh-CN" sz="1200" b="0" i="1" dirty="0" smtClean="0">
                                <a:latin typeface="Cambria Math" panose="02040503050406030204" pitchFamily="18" charset="0"/>
                              </a:rPr>
                            </m:ctrlPr>
                          </m:accPr>
                          <m:e>
                            <m:sSub>
                              <m:sSubPr>
                                <m:ctrlPr>
                                  <a:rPr lang="en-US" altLang="zh-CN" sz="1200" b="0" i="1" dirty="0" smtClean="0">
                                    <a:latin typeface="Cambria Math" panose="02040503050406030204" pitchFamily="18" charset="0"/>
                                  </a:rPr>
                                </m:ctrlPr>
                              </m:sSubPr>
                              <m:e>
                                <m:r>
                                  <a:rPr lang="en-US" altLang="zh-CN" sz="1200" b="0" i="1" dirty="0" smtClean="0">
                                    <a:latin typeface="Cambria Math" panose="02040503050406030204" pitchFamily="18" charset="0"/>
                                  </a:rPr>
                                  <m:t>𝜇</m:t>
                                </m:r>
                              </m:e>
                              <m:sub>
                                <m:r>
                                  <a:rPr lang="en-US" altLang="zh-CN" sz="1200" b="0" i="1" dirty="0" smtClean="0">
                                    <a:latin typeface="Cambria Math" panose="02040503050406030204" pitchFamily="18" charset="0"/>
                                  </a:rPr>
                                  <m:t>0</m:t>
                                </m:r>
                              </m:sub>
                            </m:sSub>
                          </m:e>
                        </m:acc>
                      </m:e>
                      <m:sup>
                        <m:r>
                          <a:rPr lang="en-US" altLang="zh-CN" sz="1200" b="0" i="1" dirty="0" smtClean="0">
                            <a:latin typeface="Cambria Math" panose="02040503050406030204" pitchFamily="18" charset="0"/>
                          </a:rPr>
                          <m:t>𝑑𝑟</m:t>
                        </m:r>
                      </m:sup>
                    </m:sSup>
                  </m:oMath>
                </a14:m>
                <a:br>
                  <a:rPr lang="en-US" altLang="zh-CN" sz="1200" b="0" dirty="0"/>
                </a:br>
                <a14:m>
                  <m:oMath xmlns:m="http://schemas.openxmlformats.org/officeDocument/2006/math">
                    <m:r>
                      <a:rPr lang="en-US" altLang="zh-CN" sz="1200" b="0" i="1" smtClean="0">
                        <a:latin typeface="Cambria Math" panose="02040503050406030204" pitchFamily="18" charset="0"/>
                      </a:rPr>
                      <m:t>=</m:t>
                    </m:r>
                    <m:f>
                      <m:fPr>
                        <m:ctrlPr>
                          <a:rPr lang="en-US" altLang="zh-CN" sz="1200" b="0" i="1" smtClean="0">
                            <a:latin typeface="Cambria Math" panose="02040503050406030204" pitchFamily="18" charset="0"/>
                          </a:rPr>
                        </m:ctrlPr>
                      </m:fPr>
                      <m:num>
                        <m:r>
                          <a:rPr lang="en-US" altLang="zh-CN" sz="1200" b="0" i="1" smtClean="0">
                            <a:latin typeface="Cambria Math" panose="02040503050406030204" pitchFamily="18" charset="0"/>
                          </a:rPr>
                          <m:t>1</m:t>
                        </m:r>
                      </m:num>
                      <m:den>
                        <m:r>
                          <a:rPr lang="en-US" altLang="zh-CN" sz="1200" b="0" i="1" smtClean="0">
                            <a:latin typeface="Cambria Math" panose="02040503050406030204" pitchFamily="18" charset="0"/>
                          </a:rPr>
                          <m:t>𝑛</m:t>
                        </m:r>
                      </m:den>
                    </m:f>
                    <m:nary>
                      <m:naryPr>
                        <m:chr m:val="∑"/>
                        <m:ctrlPr>
                          <a:rPr lang="en-US" altLang="zh-CN" sz="1200" b="0" i="1" smtClean="0">
                            <a:latin typeface="Cambria Math" panose="02040503050406030204" pitchFamily="18" charset="0"/>
                          </a:rPr>
                        </m:ctrlPr>
                      </m:naryPr>
                      <m:sub>
                        <m:r>
                          <a:rPr lang="en-US" altLang="zh-CN" sz="1200" b="0" i="1" smtClean="0">
                            <a:latin typeface="Cambria Math" panose="02040503050406030204" pitchFamily="18" charset="0"/>
                          </a:rPr>
                          <m:t>𝑖</m:t>
                        </m:r>
                      </m:sub>
                      <m:sup>
                        <m:r>
                          <a:rPr lang="en-US" altLang="zh-CN" sz="1200" b="0" i="1" smtClean="0">
                            <a:latin typeface="Cambria Math" panose="02040503050406030204" pitchFamily="18" charset="0"/>
                          </a:rPr>
                          <m:t>𝑛</m:t>
                        </m:r>
                      </m:sup>
                      <m:e>
                        <m:d>
                          <m:dPr>
                            <m:begChr m:val="["/>
                            <m:endChr m:val="]"/>
                            <m:ctrlPr>
                              <a:rPr lang="en-US" altLang="zh-CN" sz="1200" i="1">
                                <a:latin typeface="Cambria Math" panose="02040503050406030204" pitchFamily="18" charset="0"/>
                              </a:rPr>
                            </m:ctrlPr>
                          </m:dPr>
                          <m:e>
                            <m:f>
                              <m:fPr>
                                <m:ctrlPr>
                                  <a:rPr lang="en-US" altLang="zh-CN" sz="1200" i="1">
                                    <a:latin typeface="Cambria Math" panose="02040503050406030204" pitchFamily="18" charset="0"/>
                                  </a:rPr>
                                </m:ctrlPr>
                              </m:fPr>
                              <m:num>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𝐷</m:t>
                                    </m:r>
                                  </m:e>
                                  <m:sub>
                                    <m:r>
                                      <a:rPr lang="en-US" altLang="zh-CN" sz="1200" i="1">
                                        <a:latin typeface="Cambria Math" panose="02040503050406030204" pitchFamily="18" charset="0"/>
                                      </a:rPr>
                                      <m:t>𝑖</m:t>
                                    </m:r>
                                  </m:sub>
                                </m:sSub>
                                <m:d>
                                  <m:dPr>
                                    <m:ctrlPr>
                                      <a:rPr lang="en-US" altLang="zh-CN" sz="1200" i="1">
                                        <a:latin typeface="Cambria Math" panose="02040503050406030204" pitchFamily="18" charset="0"/>
                                      </a:rPr>
                                    </m:ctrlPr>
                                  </m:d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𝑌</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m:t>
                                    </m:r>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𝜇</m:t>
                                        </m:r>
                                      </m:e>
                                      <m:sub>
                                        <m:r>
                                          <a:rPr lang="en-US" altLang="zh-CN" sz="1200" b="0" i="1" smtClean="0">
                                            <a:latin typeface="Cambria Math" panose="02040503050406030204" pitchFamily="18" charset="0"/>
                                          </a:rPr>
                                          <m:t>1</m:t>
                                        </m:r>
                                      </m:sub>
                                    </m:sSub>
                                    <m:d>
                                      <m:dPr>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𝑋</m:t>
                                            </m:r>
                                          </m:e>
                                          <m:sub>
                                            <m:r>
                                              <a:rPr lang="en-US" altLang="zh-CN" sz="1200" b="0" i="1" smtClean="0">
                                                <a:latin typeface="Cambria Math" panose="02040503050406030204" pitchFamily="18" charset="0"/>
                                              </a:rPr>
                                              <m:t>𝑖</m:t>
                                            </m:r>
                                          </m:sub>
                                        </m:sSub>
                                        <m:r>
                                          <a:rPr lang="en-US" altLang="zh-CN" sz="1200" b="0" i="1" smtClean="0">
                                            <a:latin typeface="Cambria Math" panose="02040503050406030204" pitchFamily="18" charset="0"/>
                                          </a:rPr>
                                          <m:t>,</m:t>
                                        </m:r>
                                        <m:acc>
                                          <m:accPr>
                                            <m:chr m:val="̂"/>
                                            <m:ctrlPr>
                                              <a:rPr lang="en-US" altLang="zh-CN" sz="1200" b="0" i="1" smtClean="0">
                                                <a:latin typeface="Cambria Math" panose="02040503050406030204" pitchFamily="18" charset="0"/>
                                              </a:rPr>
                                            </m:ctrlPr>
                                          </m:acc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𝛽</m:t>
                                                </m:r>
                                              </m:e>
                                              <m:sub>
                                                <m:r>
                                                  <a:rPr lang="en-US" altLang="zh-CN" sz="1200" b="0" i="1" smtClean="0">
                                                    <a:latin typeface="Cambria Math" panose="02040503050406030204" pitchFamily="18" charset="0"/>
                                                  </a:rPr>
                                                  <m:t>1</m:t>
                                                </m:r>
                                              </m:sub>
                                            </m:sSub>
                                          </m:e>
                                        </m:acc>
                                      </m:e>
                                    </m:d>
                                  </m:e>
                                </m:d>
                              </m:num>
                              <m:den>
                                <m:r>
                                  <a:rPr lang="en-US" altLang="zh-CN" sz="1200" b="0" i="1" smtClean="0">
                                    <a:latin typeface="Cambria Math" panose="02040503050406030204" pitchFamily="18" charset="0"/>
                                  </a:rPr>
                                  <m:t>𝑒</m:t>
                                </m:r>
                                <m:d>
                                  <m:dPr>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𝑋</m:t>
                                        </m:r>
                                      </m:e>
                                      <m:sub>
                                        <m:r>
                                          <a:rPr lang="en-US" altLang="zh-CN" sz="1200" b="0" i="1" smtClean="0">
                                            <a:latin typeface="Cambria Math" panose="02040503050406030204" pitchFamily="18" charset="0"/>
                                          </a:rPr>
                                          <m:t>𝑖</m:t>
                                        </m:r>
                                      </m:sub>
                                    </m:sSub>
                                    <m:r>
                                      <a:rPr lang="en-US" altLang="zh-CN" sz="1200" b="0" i="1" smtClean="0">
                                        <a:latin typeface="Cambria Math" panose="02040503050406030204" pitchFamily="18" charset="0"/>
                                      </a:rPr>
                                      <m:t>,</m:t>
                                    </m:r>
                                    <m:acc>
                                      <m:accPr>
                                        <m:chr m:val="̂"/>
                                        <m:ctrlPr>
                                          <a:rPr lang="en-US" altLang="zh-CN" sz="1200" b="0" i="1" smtClean="0">
                                            <a:latin typeface="Cambria Math" panose="02040503050406030204" pitchFamily="18" charset="0"/>
                                          </a:rPr>
                                        </m:ctrlPr>
                                      </m:accPr>
                                      <m:e>
                                        <m:r>
                                          <a:rPr lang="en-US" altLang="zh-CN" sz="1200" b="0" i="1" smtClean="0">
                                            <a:latin typeface="Cambria Math" panose="02040503050406030204" pitchFamily="18" charset="0"/>
                                          </a:rPr>
                                          <m:t>𝛼</m:t>
                                        </m:r>
                                      </m:e>
                                    </m:acc>
                                  </m:e>
                                </m:d>
                              </m:den>
                            </m:f>
                            <m:r>
                              <a:rPr lang="en-US" altLang="zh-CN" sz="1200" b="0" i="1" smtClean="0">
                                <a:latin typeface="Cambria Math" panose="02040503050406030204" pitchFamily="18" charset="0"/>
                              </a:rPr>
                              <m:t>+</m:t>
                            </m:r>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𝜇</m:t>
                                </m:r>
                              </m:e>
                              <m:sub>
                                <m:r>
                                  <a:rPr lang="en-US" altLang="zh-CN" sz="1200" b="0" i="1" smtClean="0">
                                    <a:latin typeface="Cambria Math" panose="02040503050406030204" pitchFamily="18" charset="0"/>
                                  </a:rPr>
                                  <m:t>1</m:t>
                                </m:r>
                              </m:sub>
                            </m:sSub>
                            <m:d>
                              <m:dPr>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𝑋</m:t>
                                    </m:r>
                                  </m:e>
                                  <m:sub>
                                    <m:r>
                                      <a:rPr lang="en-US" altLang="zh-CN" sz="1200" b="0" i="1" smtClean="0">
                                        <a:latin typeface="Cambria Math" panose="02040503050406030204" pitchFamily="18" charset="0"/>
                                      </a:rPr>
                                      <m:t>𝑖</m:t>
                                    </m:r>
                                  </m:sub>
                                </m:sSub>
                                <m:r>
                                  <a:rPr lang="en-US" altLang="zh-CN" sz="1200" b="0" i="1" smtClean="0">
                                    <a:latin typeface="Cambria Math" panose="02040503050406030204" pitchFamily="18" charset="0"/>
                                  </a:rPr>
                                  <m:t>,</m:t>
                                </m:r>
                                <m:acc>
                                  <m:accPr>
                                    <m:chr m:val="̂"/>
                                    <m:ctrlPr>
                                      <a:rPr lang="en-US" altLang="zh-CN" sz="1200" b="0" i="1" smtClean="0">
                                        <a:latin typeface="Cambria Math" panose="02040503050406030204" pitchFamily="18" charset="0"/>
                                      </a:rPr>
                                    </m:ctrlPr>
                                  </m:acc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𝛽</m:t>
                                        </m:r>
                                      </m:e>
                                      <m:sub>
                                        <m:r>
                                          <a:rPr lang="en-US" altLang="zh-CN" sz="1200" b="0" i="1" smtClean="0">
                                            <a:latin typeface="Cambria Math" panose="02040503050406030204" pitchFamily="18" charset="0"/>
                                          </a:rPr>
                                          <m:t>1</m:t>
                                        </m:r>
                                      </m:sub>
                                    </m:sSub>
                                  </m:e>
                                </m:acc>
                              </m:e>
                            </m:d>
                          </m:e>
                        </m:d>
                      </m:e>
                    </m:nary>
                  </m:oMath>
                </a14:m>
                <a:br>
                  <a:rPr lang="en-US" altLang="zh-CN" sz="1200" b="0" i="1" dirty="0">
                    <a:latin typeface="Cambria Math" panose="02040503050406030204" pitchFamily="18" charset="0"/>
                  </a:rPr>
                </a:br>
                <a14:m>
                  <m:oMath xmlns:m="http://schemas.openxmlformats.org/officeDocument/2006/math">
                    <m:r>
                      <a:rPr lang="en-US" altLang="zh-CN" sz="1200" b="0" i="1" smtClean="0">
                        <a:latin typeface="Cambria Math" panose="02040503050406030204" pitchFamily="18" charset="0"/>
                      </a:rPr>
                      <m:t>−</m:t>
                    </m:r>
                    <m:f>
                      <m:fPr>
                        <m:ctrlPr>
                          <a:rPr lang="en-US" altLang="zh-CN" sz="1200" i="1">
                            <a:latin typeface="Cambria Math" panose="02040503050406030204" pitchFamily="18" charset="0"/>
                          </a:rPr>
                        </m:ctrlPr>
                      </m:fPr>
                      <m:num>
                        <m:r>
                          <a:rPr lang="en-US" altLang="zh-CN" sz="1200" i="1">
                            <a:latin typeface="Cambria Math" panose="02040503050406030204" pitchFamily="18" charset="0"/>
                          </a:rPr>
                          <m:t>1</m:t>
                        </m:r>
                      </m:num>
                      <m:den>
                        <m:r>
                          <a:rPr lang="en-US" altLang="zh-CN" sz="1200" i="1">
                            <a:latin typeface="Cambria Math" panose="02040503050406030204" pitchFamily="18" charset="0"/>
                          </a:rPr>
                          <m:t>𝑛</m:t>
                        </m:r>
                      </m:den>
                    </m:f>
                    <m:nary>
                      <m:naryPr>
                        <m:chr m:val="∑"/>
                        <m:ctrlPr>
                          <a:rPr lang="en-US" altLang="zh-CN" sz="1200" i="1">
                            <a:latin typeface="Cambria Math" panose="02040503050406030204" pitchFamily="18" charset="0"/>
                          </a:rPr>
                        </m:ctrlPr>
                      </m:naryPr>
                      <m:sub>
                        <m:r>
                          <a:rPr lang="en-US" altLang="zh-CN" sz="1200" i="1">
                            <a:latin typeface="Cambria Math" panose="02040503050406030204" pitchFamily="18" charset="0"/>
                          </a:rPr>
                          <m:t>𝑖</m:t>
                        </m:r>
                      </m:sub>
                      <m:sup>
                        <m:r>
                          <a:rPr lang="en-US" altLang="zh-CN" sz="1200" i="1">
                            <a:latin typeface="Cambria Math" panose="02040503050406030204" pitchFamily="18" charset="0"/>
                          </a:rPr>
                          <m:t>𝑛</m:t>
                        </m:r>
                      </m:sup>
                      <m:e>
                        <m:d>
                          <m:dPr>
                            <m:begChr m:val="["/>
                            <m:endChr m:val="]"/>
                            <m:ctrlPr>
                              <a:rPr lang="en-US" altLang="zh-CN" sz="1200" b="0" i="1" smtClean="0">
                                <a:latin typeface="Cambria Math" panose="02040503050406030204" pitchFamily="18" charset="0"/>
                              </a:rPr>
                            </m:ctrlPr>
                          </m:dPr>
                          <m:e>
                            <m:f>
                              <m:fPr>
                                <m:ctrlPr>
                                  <a:rPr lang="en-US" altLang="zh-CN" sz="1200" b="0" i="1" smtClean="0">
                                    <a:latin typeface="Cambria Math" panose="02040503050406030204" pitchFamily="18" charset="0"/>
                                  </a:rPr>
                                </m:ctrlPr>
                              </m:fPr>
                              <m:num>
                                <m:r>
                                  <a:rPr lang="en-US" altLang="zh-CN" sz="1200" b="0" i="1" smtClean="0">
                                    <a:latin typeface="Cambria Math" panose="02040503050406030204" pitchFamily="18" charset="0"/>
                                  </a:rPr>
                                  <m:t>(1−</m:t>
                                </m:r>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𝐷</m:t>
                                    </m:r>
                                  </m:e>
                                  <m:sub>
                                    <m:r>
                                      <a:rPr lang="en-US" altLang="zh-CN" sz="1200" i="1">
                                        <a:latin typeface="Cambria Math" panose="02040503050406030204" pitchFamily="18" charset="0"/>
                                      </a:rPr>
                                      <m:t>𝑖</m:t>
                                    </m:r>
                                  </m:sub>
                                </m:sSub>
                                <m:r>
                                  <a:rPr lang="en-US" altLang="zh-CN" sz="1200" b="0" i="1" smtClean="0">
                                    <a:latin typeface="Cambria Math" panose="02040503050406030204" pitchFamily="18" charset="0"/>
                                  </a:rPr>
                                  <m:t>)</m:t>
                                </m:r>
                                <m:d>
                                  <m:dPr>
                                    <m:ctrlPr>
                                      <a:rPr lang="en-US" altLang="zh-CN" sz="1200" i="1">
                                        <a:latin typeface="Cambria Math" panose="02040503050406030204" pitchFamily="18" charset="0"/>
                                      </a:rPr>
                                    </m:ctrlPr>
                                  </m:d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𝑌</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m:t>
                                    </m:r>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𝜇</m:t>
                                        </m:r>
                                      </m:e>
                                      <m:sub>
                                        <m:r>
                                          <a:rPr lang="en-US" altLang="zh-CN" sz="1200" b="0" i="1" smtClean="0">
                                            <a:latin typeface="Cambria Math" panose="02040503050406030204" pitchFamily="18" charset="0"/>
                                          </a:rPr>
                                          <m:t>0</m:t>
                                        </m:r>
                                      </m:sub>
                                    </m:sSub>
                                    <m:d>
                                      <m:dPr>
                                        <m:ctrlPr>
                                          <a:rPr lang="en-US" altLang="zh-CN" sz="1200" i="1">
                                            <a:latin typeface="Cambria Math" panose="02040503050406030204" pitchFamily="18" charset="0"/>
                                          </a:rPr>
                                        </m:ctrlPr>
                                      </m:d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𝑋</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m:t>
                                        </m:r>
                                        <m:acc>
                                          <m:accPr>
                                            <m:chr m:val="̂"/>
                                            <m:ctrlPr>
                                              <a:rPr lang="en-US" altLang="zh-CN" sz="1200" i="1">
                                                <a:latin typeface="Cambria Math" panose="02040503050406030204" pitchFamily="18" charset="0"/>
                                              </a:rPr>
                                            </m:ctrlPr>
                                          </m:acc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𝛽</m:t>
                                                </m:r>
                                              </m:e>
                                              <m:sub>
                                                <m:r>
                                                  <a:rPr lang="en-US" altLang="zh-CN" sz="1200" b="0" i="1" smtClean="0">
                                                    <a:latin typeface="Cambria Math" panose="02040503050406030204" pitchFamily="18" charset="0"/>
                                                  </a:rPr>
                                                  <m:t>0</m:t>
                                                </m:r>
                                              </m:sub>
                                            </m:sSub>
                                          </m:e>
                                        </m:acc>
                                      </m:e>
                                    </m:d>
                                  </m:e>
                                </m:d>
                              </m:num>
                              <m:den>
                                <m:r>
                                  <a:rPr lang="en-US" altLang="zh-CN" sz="1200" b="0" i="1" smtClean="0">
                                    <a:latin typeface="Cambria Math" panose="02040503050406030204" pitchFamily="18" charset="0"/>
                                  </a:rPr>
                                  <m:t>1−</m:t>
                                </m:r>
                                <m:r>
                                  <a:rPr lang="en-US" altLang="zh-CN" sz="1200" i="1">
                                    <a:latin typeface="Cambria Math" panose="02040503050406030204" pitchFamily="18" charset="0"/>
                                  </a:rPr>
                                  <m:t>𝑒</m:t>
                                </m:r>
                                <m:d>
                                  <m:dPr>
                                    <m:ctrlPr>
                                      <a:rPr lang="en-US" altLang="zh-CN" sz="1200" i="1">
                                        <a:latin typeface="Cambria Math" panose="02040503050406030204" pitchFamily="18" charset="0"/>
                                      </a:rPr>
                                    </m:ctrlPr>
                                  </m:d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𝑋</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m:t>
                                    </m:r>
                                    <m:acc>
                                      <m:accPr>
                                        <m:chr m:val="̂"/>
                                        <m:ctrlPr>
                                          <a:rPr lang="en-US" altLang="zh-CN" sz="1200" i="1">
                                            <a:latin typeface="Cambria Math" panose="02040503050406030204" pitchFamily="18" charset="0"/>
                                          </a:rPr>
                                        </m:ctrlPr>
                                      </m:accPr>
                                      <m:e>
                                        <m:r>
                                          <a:rPr lang="en-US" altLang="zh-CN" sz="1200" i="1">
                                            <a:latin typeface="Cambria Math" panose="02040503050406030204" pitchFamily="18" charset="0"/>
                                          </a:rPr>
                                          <m:t>𝛼</m:t>
                                        </m:r>
                                      </m:e>
                                    </m:acc>
                                  </m:e>
                                </m:d>
                              </m:den>
                            </m:f>
                            <m:r>
                              <a:rPr lang="en-US" altLang="zh-CN" sz="1200" i="1">
                                <a:latin typeface="Cambria Math" panose="02040503050406030204" pitchFamily="18" charset="0"/>
                              </a:rPr>
                              <m:t>+</m:t>
                            </m:r>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𝜇</m:t>
                                </m:r>
                              </m:e>
                              <m:sub>
                                <m:r>
                                  <a:rPr lang="en-US" altLang="zh-CN" sz="1200" b="0" i="1" smtClean="0">
                                    <a:latin typeface="Cambria Math" panose="02040503050406030204" pitchFamily="18" charset="0"/>
                                  </a:rPr>
                                  <m:t>0</m:t>
                                </m:r>
                              </m:sub>
                            </m:sSub>
                            <m:d>
                              <m:dPr>
                                <m:ctrlPr>
                                  <a:rPr lang="en-US" altLang="zh-CN" sz="1200" i="1">
                                    <a:latin typeface="Cambria Math" panose="02040503050406030204" pitchFamily="18" charset="0"/>
                                  </a:rPr>
                                </m:ctrlPr>
                              </m:d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𝑋</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m:t>
                                </m:r>
                                <m:acc>
                                  <m:accPr>
                                    <m:chr m:val="̂"/>
                                    <m:ctrlPr>
                                      <a:rPr lang="en-US" altLang="zh-CN" sz="1200" i="1">
                                        <a:latin typeface="Cambria Math" panose="02040503050406030204" pitchFamily="18" charset="0"/>
                                      </a:rPr>
                                    </m:ctrlPr>
                                  </m:acc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𝛽</m:t>
                                        </m:r>
                                      </m:e>
                                      <m:sub>
                                        <m:r>
                                          <a:rPr lang="en-US" altLang="zh-CN" sz="1200" b="0" i="1" smtClean="0">
                                            <a:latin typeface="Cambria Math" panose="02040503050406030204" pitchFamily="18" charset="0"/>
                                          </a:rPr>
                                          <m:t>0</m:t>
                                        </m:r>
                                      </m:sub>
                                    </m:sSub>
                                  </m:e>
                                </m:acc>
                              </m:e>
                            </m:d>
                          </m:e>
                        </m:d>
                      </m:e>
                    </m:nary>
                  </m:oMath>
                </a14:m>
                <a:endParaRPr lang="en-US" altLang="zh-CN" sz="1200" b="0" dirty="0"/>
              </a:p>
              <a:p>
                <a:pPr lvl="1"/>
                <a:r>
                  <a:rPr lang="zh-CN" altLang="en-US" sz="1200" dirty="0"/>
                  <a:t>利用自助法从原始样本中 </a:t>
                </a:r>
                <a:r>
                  <a:rPr lang="en-US" altLang="zh-CN" sz="1200" dirty="0"/>
                  <a:t>(</a:t>
                </a:r>
                <a:r>
                  <a:rPr lang="zh-CN" altLang="en-US" sz="1200" dirty="0"/>
                  <a:t>𝐷𝑖</a:t>
                </a:r>
                <a:r>
                  <a:rPr lang="en-US" altLang="zh-CN" sz="1200" dirty="0"/>
                  <a:t>,</a:t>
                </a:r>
                <a:r>
                  <a:rPr lang="zh-CN" altLang="en-US" sz="1200" dirty="0"/>
                  <a:t>𝑋𝑖</a:t>
                </a:r>
                <a:r>
                  <a:rPr lang="en-US" altLang="zh-CN" sz="1200" dirty="0"/>
                  <a:t>, </a:t>
                </a:r>
                <a:r>
                  <a:rPr lang="zh-CN" altLang="en-US" sz="1200" dirty="0"/>
                  <a:t>𝑌𝑖</a:t>
                </a:r>
                <a:r>
                  <a:rPr lang="en-US" altLang="zh-CN" sz="1200" dirty="0"/>
                  <a:t>) </a:t>
                </a:r>
                <a:r>
                  <a:rPr lang="zh-CN" altLang="en-US" sz="1200" dirty="0"/>
                  <a:t>随机抽样估计估计量 𝜏̂𝑑𝑟 的抽样方差。</a:t>
                </a:r>
                <a:endParaRPr lang="en-US" altLang="zh-CN" sz="1200" dirty="0"/>
              </a:p>
              <a:p>
                <a:r>
                  <a:rPr lang="zh-CN" altLang="en-US" sz="1200" dirty="0"/>
                  <a:t>另一种估计量形式</a:t>
                </a:r>
                <a:endParaRPr lang="en-US" altLang="zh-CN" sz="1200" dirty="0"/>
              </a:p>
              <a:p>
                <a14:m>
                  <m:oMath xmlns:m="http://schemas.openxmlformats.org/officeDocument/2006/math">
                    <m:sSup>
                      <m:sSupPr>
                        <m:ctrlPr>
                          <a:rPr lang="en-US" altLang="zh-CN" sz="1200" i="1">
                            <a:latin typeface="Cambria Math" panose="02040503050406030204" pitchFamily="18" charset="0"/>
                          </a:rPr>
                        </m:ctrlPr>
                      </m:sSupPr>
                      <m:e>
                        <m:acc>
                          <m:accPr>
                            <m:chr m:val="̂"/>
                            <m:ctrlPr>
                              <a:rPr lang="en-US" altLang="zh-CN" sz="1200" i="1">
                                <a:latin typeface="Cambria Math" panose="02040503050406030204" pitchFamily="18" charset="0"/>
                              </a:rPr>
                            </m:ctrlPr>
                          </m:accPr>
                          <m:e>
                            <m:r>
                              <a:rPr lang="en-US" altLang="zh-CN" sz="1200" i="1">
                                <a:latin typeface="Cambria Math" panose="02040503050406030204" pitchFamily="18" charset="0"/>
                              </a:rPr>
                              <m:t>𝜏</m:t>
                            </m:r>
                          </m:e>
                        </m:acc>
                      </m:e>
                      <m:sup>
                        <m:r>
                          <a:rPr lang="en-US" altLang="zh-CN" sz="1200" i="1" dirty="0">
                            <a:latin typeface="Cambria Math" panose="02040503050406030204" pitchFamily="18" charset="0"/>
                          </a:rPr>
                          <m:t>𝑑𝑟</m:t>
                        </m:r>
                      </m:sup>
                    </m:sSup>
                    <m:r>
                      <a:rPr lang="en-US" altLang="zh-CN" sz="1200" i="1" dirty="0">
                        <a:latin typeface="Cambria Math" panose="02040503050406030204" pitchFamily="18" charset="0"/>
                      </a:rPr>
                      <m:t>=</m:t>
                    </m:r>
                    <m:sSup>
                      <m:sSupPr>
                        <m:ctrlPr>
                          <a:rPr lang="en-US" altLang="zh-CN" sz="1200" i="1" dirty="0">
                            <a:latin typeface="Cambria Math" panose="02040503050406030204" pitchFamily="18" charset="0"/>
                          </a:rPr>
                        </m:ctrlPr>
                      </m:sSupPr>
                      <m:e>
                        <m:acc>
                          <m:accPr>
                            <m:chr m:val="̂"/>
                            <m:ctrlPr>
                              <a:rPr lang="en-US" altLang="zh-CN" sz="1200" i="1" dirty="0">
                                <a:latin typeface="Cambria Math" panose="02040503050406030204" pitchFamily="18" charset="0"/>
                              </a:rPr>
                            </m:ctrlPr>
                          </m:accPr>
                          <m:e>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𝜇</m:t>
                                </m:r>
                              </m:e>
                              <m:sub>
                                <m:r>
                                  <a:rPr lang="en-US" altLang="zh-CN" sz="1200" i="1" dirty="0">
                                    <a:latin typeface="Cambria Math" panose="02040503050406030204" pitchFamily="18" charset="0"/>
                                  </a:rPr>
                                  <m:t>1</m:t>
                                </m:r>
                              </m:sub>
                            </m:sSub>
                          </m:e>
                        </m:acc>
                      </m:e>
                      <m:sup>
                        <m:r>
                          <a:rPr lang="en-US" altLang="zh-CN" sz="1200" i="1" dirty="0">
                            <a:latin typeface="Cambria Math" panose="02040503050406030204" pitchFamily="18" charset="0"/>
                          </a:rPr>
                          <m:t>𝑑𝑟</m:t>
                        </m:r>
                      </m:sup>
                    </m:sSup>
                    <m:r>
                      <a:rPr lang="en-US" altLang="zh-CN" sz="1200" i="1" dirty="0">
                        <a:latin typeface="Cambria Math" panose="02040503050406030204" pitchFamily="18" charset="0"/>
                      </a:rPr>
                      <m:t>−</m:t>
                    </m:r>
                    <m:sSup>
                      <m:sSupPr>
                        <m:ctrlPr>
                          <a:rPr lang="en-US" altLang="zh-CN" sz="1200" i="1" dirty="0">
                            <a:latin typeface="Cambria Math" panose="02040503050406030204" pitchFamily="18" charset="0"/>
                          </a:rPr>
                        </m:ctrlPr>
                      </m:sSupPr>
                      <m:e>
                        <m:acc>
                          <m:accPr>
                            <m:chr m:val="̂"/>
                            <m:ctrlPr>
                              <a:rPr lang="en-US" altLang="zh-CN" sz="1200" i="1" dirty="0">
                                <a:latin typeface="Cambria Math" panose="02040503050406030204" pitchFamily="18" charset="0"/>
                              </a:rPr>
                            </m:ctrlPr>
                          </m:accPr>
                          <m:e>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𝜇</m:t>
                                </m:r>
                              </m:e>
                              <m:sub>
                                <m:r>
                                  <a:rPr lang="en-US" altLang="zh-CN" sz="1200" i="1" dirty="0">
                                    <a:latin typeface="Cambria Math" panose="02040503050406030204" pitchFamily="18" charset="0"/>
                                  </a:rPr>
                                  <m:t>0</m:t>
                                </m:r>
                              </m:sub>
                            </m:sSub>
                          </m:e>
                        </m:acc>
                      </m:e>
                      <m:sup>
                        <m:r>
                          <a:rPr lang="en-US" altLang="zh-CN" sz="1200" i="1" dirty="0">
                            <a:latin typeface="Cambria Math" panose="02040503050406030204" pitchFamily="18" charset="0"/>
                          </a:rPr>
                          <m:t>𝑑𝑟</m:t>
                        </m:r>
                      </m:sup>
                    </m:sSup>
                  </m:oMath>
                </a14:m>
                <a:br>
                  <a:rPr lang="en-US" altLang="zh-CN" sz="1200" dirty="0"/>
                </a:br>
                <a14:m>
                  <m:oMath xmlns:m="http://schemas.openxmlformats.org/officeDocument/2006/math">
                    <m:r>
                      <a:rPr lang="en-US" altLang="zh-CN" sz="1200" i="1">
                        <a:latin typeface="Cambria Math" panose="02040503050406030204" pitchFamily="18" charset="0"/>
                      </a:rPr>
                      <m:t>=</m:t>
                    </m:r>
                    <m:f>
                      <m:fPr>
                        <m:ctrlPr>
                          <a:rPr lang="en-US" altLang="zh-CN" sz="1200" i="1">
                            <a:latin typeface="Cambria Math" panose="02040503050406030204" pitchFamily="18" charset="0"/>
                          </a:rPr>
                        </m:ctrlPr>
                      </m:fPr>
                      <m:num>
                        <m:r>
                          <a:rPr lang="en-US" altLang="zh-CN" sz="1200" i="1">
                            <a:latin typeface="Cambria Math" panose="02040503050406030204" pitchFamily="18" charset="0"/>
                          </a:rPr>
                          <m:t>1</m:t>
                        </m:r>
                      </m:num>
                      <m:den>
                        <m:r>
                          <a:rPr lang="en-US" altLang="zh-CN" sz="1200" i="1">
                            <a:latin typeface="Cambria Math" panose="02040503050406030204" pitchFamily="18" charset="0"/>
                          </a:rPr>
                          <m:t>𝑛</m:t>
                        </m:r>
                      </m:den>
                    </m:f>
                    <m:nary>
                      <m:naryPr>
                        <m:chr m:val="∑"/>
                        <m:ctrlPr>
                          <a:rPr lang="en-US" altLang="zh-CN" sz="1200" i="1">
                            <a:latin typeface="Cambria Math" panose="02040503050406030204" pitchFamily="18" charset="0"/>
                          </a:rPr>
                        </m:ctrlPr>
                      </m:naryPr>
                      <m:sub>
                        <m:r>
                          <a:rPr lang="en-US" altLang="zh-CN" sz="1200" i="1">
                            <a:latin typeface="Cambria Math" panose="02040503050406030204" pitchFamily="18" charset="0"/>
                          </a:rPr>
                          <m:t>𝑖</m:t>
                        </m:r>
                      </m:sub>
                      <m:sup>
                        <m:r>
                          <a:rPr lang="en-US" altLang="zh-CN" sz="1200" i="1">
                            <a:latin typeface="Cambria Math" panose="02040503050406030204" pitchFamily="18" charset="0"/>
                          </a:rPr>
                          <m:t>𝑛</m:t>
                        </m:r>
                      </m:sup>
                      <m:e>
                        <m:d>
                          <m:dPr>
                            <m:begChr m:val="["/>
                            <m:endChr m:val="]"/>
                            <m:ctrlPr>
                              <a:rPr lang="en-US" altLang="zh-CN" sz="1200" i="1">
                                <a:latin typeface="Cambria Math" panose="02040503050406030204" pitchFamily="18" charset="0"/>
                              </a:rPr>
                            </m:ctrlPr>
                          </m:dPr>
                          <m:e>
                            <m:f>
                              <m:fPr>
                                <m:ctrlPr>
                                  <a:rPr lang="en-US" altLang="zh-CN" sz="1200" i="1">
                                    <a:latin typeface="Cambria Math" panose="02040503050406030204" pitchFamily="18" charset="0"/>
                                  </a:rPr>
                                </m:ctrlPr>
                              </m:fPr>
                              <m:num>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𝐷</m:t>
                                    </m:r>
                                  </m:e>
                                  <m:sub>
                                    <m:r>
                                      <a:rPr lang="en-US" altLang="zh-CN" sz="1200" i="1">
                                        <a:latin typeface="Cambria Math" panose="02040503050406030204" pitchFamily="18" charset="0"/>
                                      </a:rPr>
                                      <m:t>𝑖</m:t>
                                    </m:r>
                                  </m:sub>
                                </m:sSub>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𝑌</m:t>
                                    </m:r>
                                  </m:e>
                                  <m:sub>
                                    <m:r>
                                      <a:rPr lang="en-US" altLang="zh-CN" sz="1200" b="0" i="1" smtClean="0">
                                        <a:latin typeface="Cambria Math" panose="02040503050406030204" pitchFamily="18" charset="0"/>
                                      </a:rPr>
                                      <m:t>𝑖</m:t>
                                    </m:r>
                                  </m:sub>
                                </m:sSub>
                              </m:num>
                              <m:den>
                                <m:r>
                                  <a:rPr lang="en-US" altLang="zh-CN" sz="1200" i="1">
                                    <a:latin typeface="Cambria Math" panose="02040503050406030204" pitchFamily="18" charset="0"/>
                                  </a:rPr>
                                  <m:t>𝑒</m:t>
                                </m:r>
                                <m:d>
                                  <m:dPr>
                                    <m:ctrlPr>
                                      <a:rPr lang="en-US" altLang="zh-CN" sz="1200" i="1">
                                        <a:latin typeface="Cambria Math" panose="02040503050406030204" pitchFamily="18" charset="0"/>
                                      </a:rPr>
                                    </m:ctrlPr>
                                  </m:d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𝑋</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m:t>
                                    </m:r>
                                    <m:acc>
                                      <m:accPr>
                                        <m:chr m:val="̂"/>
                                        <m:ctrlPr>
                                          <a:rPr lang="en-US" altLang="zh-CN" sz="1200" i="1">
                                            <a:latin typeface="Cambria Math" panose="02040503050406030204" pitchFamily="18" charset="0"/>
                                          </a:rPr>
                                        </m:ctrlPr>
                                      </m:accPr>
                                      <m:e>
                                        <m:r>
                                          <a:rPr lang="en-US" altLang="zh-CN" sz="1200" i="1">
                                            <a:latin typeface="Cambria Math" panose="02040503050406030204" pitchFamily="18" charset="0"/>
                                          </a:rPr>
                                          <m:t>𝛼</m:t>
                                        </m:r>
                                      </m:e>
                                    </m:acc>
                                  </m:e>
                                </m:d>
                              </m:den>
                            </m:f>
                            <m:r>
                              <a:rPr lang="en-US" altLang="zh-CN" sz="1200" b="0" i="1" smtClean="0">
                                <a:latin typeface="Cambria Math" panose="02040503050406030204" pitchFamily="18" charset="0"/>
                              </a:rPr>
                              <m:t>−</m:t>
                            </m:r>
                            <m:sSub>
                              <m:sSubPr>
                                <m:ctrlPr>
                                  <a:rPr lang="en-US" altLang="zh-CN" sz="1200" i="1" dirty="0">
                                    <a:latin typeface="Cambria Math" panose="02040503050406030204" pitchFamily="18" charset="0"/>
                                  </a:rPr>
                                </m:ctrlPr>
                              </m:sSubPr>
                              <m:e>
                                <m:f>
                                  <m:fPr>
                                    <m:ctrlPr>
                                      <a:rPr lang="en-US" altLang="zh-CN" sz="1200" i="1" dirty="0">
                                        <a:latin typeface="Cambria Math" panose="02040503050406030204" pitchFamily="18" charset="0"/>
                                      </a:rPr>
                                    </m:ctrlPr>
                                  </m:fPr>
                                  <m:num>
                                    <m:r>
                                      <a:rPr lang="en-US" altLang="zh-CN" sz="1200" i="1" dirty="0">
                                        <a:latin typeface="Cambria Math" panose="02040503050406030204" pitchFamily="18" charset="0"/>
                                      </a:rPr>
                                      <m:t>𝐷</m:t>
                                    </m:r>
                                    <m:r>
                                      <a:rPr lang="en-US" altLang="zh-CN" sz="1200" i="1" dirty="0">
                                        <a:latin typeface="Cambria Math" panose="02040503050406030204" pitchFamily="18" charset="0"/>
                                      </a:rPr>
                                      <m:t>−</m:t>
                                    </m:r>
                                    <m:r>
                                      <a:rPr lang="en-US" altLang="zh-CN" sz="1200" i="1" dirty="0">
                                        <a:latin typeface="Cambria Math" panose="02040503050406030204" pitchFamily="18" charset="0"/>
                                      </a:rPr>
                                      <m:t>𝑒</m:t>
                                    </m:r>
                                    <m:d>
                                      <m:dPr>
                                        <m:ctrlPr>
                                          <a:rPr lang="en-US" altLang="zh-CN" sz="1200" i="1" dirty="0">
                                            <a:latin typeface="Cambria Math" panose="02040503050406030204" pitchFamily="18" charset="0"/>
                                          </a:rPr>
                                        </m:ctrlPr>
                                      </m:dPr>
                                      <m:e>
                                        <m:r>
                                          <a:rPr lang="en-US" altLang="zh-CN" sz="1200" i="1" dirty="0">
                                            <a:latin typeface="Cambria Math" panose="02040503050406030204" pitchFamily="18" charset="0"/>
                                          </a:rPr>
                                          <m:t>𝑋</m:t>
                                        </m:r>
                                        <m:r>
                                          <a:rPr lang="en-US" altLang="zh-CN" sz="1200" i="1" dirty="0">
                                            <a:latin typeface="Cambria Math" panose="02040503050406030204" pitchFamily="18" charset="0"/>
                                          </a:rPr>
                                          <m:t>,</m:t>
                                        </m:r>
                                        <m:acc>
                                          <m:accPr>
                                            <m:chr m:val="̂"/>
                                            <m:ctrlPr>
                                              <a:rPr lang="en-US" altLang="zh-CN" sz="1200" i="1" dirty="0">
                                                <a:latin typeface="Cambria Math" panose="02040503050406030204" pitchFamily="18" charset="0"/>
                                              </a:rPr>
                                            </m:ctrlPr>
                                          </m:accPr>
                                          <m:e>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𝛽</m:t>
                                                </m:r>
                                              </m:e>
                                              <m:sub>
                                                <m:r>
                                                  <a:rPr lang="en-US" altLang="zh-CN" sz="1200" i="1" dirty="0">
                                                    <a:latin typeface="Cambria Math" panose="02040503050406030204" pitchFamily="18" charset="0"/>
                                                  </a:rPr>
                                                  <m:t>1</m:t>
                                                </m:r>
                                              </m:sub>
                                            </m:sSub>
                                          </m:e>
                                        </m:acc>
                                      </m:e>
                                    </m:d>
                                  </m:num>
                                  <m:den>
                                    <m:r>
                                      <a:rPr lang="en-US" altLang="zh-CN" sz="1200" i="1" dirty="0">
                                        <a:latin typeface="Cambria Math" panose="02040503050406030204" pitchFamily="18" charset="0"/>
                                      </a:rPr>
                                      <m:t>𝑒</m:t>
                                    </m:r>
                                    <m:d>
                                      <m:dPr>
                                        <m:ctrlPr>
                                          <a:rPr lang="en-US" altLang="zh-CN" sz="1200" i="1" dirty="0">
                                            <a:latin typeface="Cambria Math" panose="02040503050406030204" pitchFamily="18" charset="0"/>
                                          </a:rPr>
                                        </m:ctrlPr>
                                      </m:dPr>
                                      <m:e>
                                        <m:r>
                                          <a:rPr lang="en-US" altLang="zh-CN" sz="1200" i="1" dirty="0">
                                            <a:latin typeface="Cambria Math" panose="02040503050406030204" pitchFamily="18" charset="0"/>
                                          </a:rPr>
                                          <m:t>𝑋</m:t>
                                        </m:r>
                                        <m:r>
                                          <a:rPr lang="en-US" altLang="zh-CN" sz="1200" i="1" dirty="0">
                                            <a:latin typeface="Cambria Math" panose="02040503050406030204" pitchFamily="18" charset="0"/>
                                          </a:rPr>
                                          <m:t>,</m:t>
                                        </m:r>
                                        <m:acc>
                                          <m:accPr>
                                            <m:chr m:val="̂"/>
                                            <m:ctrlPr>
                                              <a:rPr lang="en-US" altLang="zh-CN" sz="1200" i="1" dirty="0">
                                                <a:latin typeface="Cambria Math" panose="02040503050406030204" pitchFamily="18" charset="0"/>
                                              </a:rPr>
                                            </m:ctrlPr>
                                          </m:accPr>
                                          <m:e>
                                            <m:r>
                                              <a:rPr lang="en-US" altLang="zh-CN" sz="1200" i="1" dirty="0">
                                                <a:latin typeface="Cambria Math" panose="02040503050406030204" pitchFamily="18" charset="0"/>
                                              </a:rPr>
                                              <m:t>𝛼</m:t>
                                            </m:r>
                                          </m:e>
                                        </m:acc>
                                      </m:e>
                                    </m:d>
                                  </m:den>
                                </m:f>
                                <m:r>
                                  <a:rPr lang="en-US" altLang="zh-CN" sz="1200" i="1">
                                    <a:latin typeface="Cambria Math" panose="02040503050406030204" pitchFamily="18" charset="0"/>
                                  </a:rPr>
                                  <m:t>𝜇</m:t>
                                </m:r>
                              </m:e>
                              <m:sub>
                                <m:r>
                                  <a:rPr lang="en-US" altLang="zh-CN" sz="1200" i="1">
                                    <a:latin typeface="Cambria Math" panose="02040503050406030204" pitchFamily="18" charset="0"/>
                                  </a:rPr>
                                  <m:t>1</m:t>
                                </m:r>
                              </m:sub>
                            </m:sSub>
                            <m:d>
                              <m:dPr>
                                <m:ctrlPr>
                                  <a:rPr lang="en-US" altLang="zh-CN" sz="1200" i="1">
                                    <a:latin typeface="Cambria Math" panose="02040503050406030204" pitchFamily="18" charset="0"/>
                                  </a:rPr>
                                </m:ctrlPr>
                              </m:d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𝑋</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m:t>
                                </m:r>
                                <m:acc>
                                  <m:accPr>
                                    <m:chr m:val="̂"/>
                                    <m:ctrlPr>
                                      <a:rPr lang="en-US" altLang="zh-CN" sz="1200" i="1">
                                        <a:latin typeface="Cambria Math" panose="02040503050406030204" pitchFamily="18" charset="0"/>
                                      </a:rPr>
                                    </m:ctrlPr>
                                  </m:acc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𝛽</m:t>
                                        </m:r>
                                      </m:e>
                                      <m:sub>
                                        <m:r>
                                          <a:rPr lang="en-US" altLang="zh-CN" sz="1200" i="1">
                                            <a:latin typeface="Cambria Math" panose="02040503050406030204" pitchFamily="18" charset="0"/>
                                          </a:rPr>
                                          <m:t>1</m:t>
                                        </m:r>
                                      </m:sub>
                                    </m:sSub>
                                  </m:e>
                                </m:acc>
                              </m:e>
                            </m:d>
                          </m:e>
                        </m:d>
                      </m:e>
                    </m:nary>
                  </m:oMath>
                </a14:m>
                <a:br>
                  <a:rPr lang="en-US" altLang="zh-CN" sz="1200" dirty="0"/>
                </a:br>
                <a14:m>
                  <m:oMath xmlns:m="http://schemas.openxmlformats.org/officeDocument/2006/math">
                    <m:r>
                      <a:rPr lang="en-US" altLang="zh-CN" sz="1200" b="0" i="0" smtClean="0">
                        <a:latin typeface="Cambria Math" panose="02040503050406030204" pitchFamily="18" charset="0"/>
                      </a:rPr>
                      <m:t>−</m:t>
                    </m:r>
                    <m:f>
                      <m:fPr>
                        <m:ctrlPr>
                          <a:rPr lang="en-US" altLang="zh-CN" sz="1200" i="1">
                            <a:latin typeface="Cambria Math" panose="02040503050406030204" pitchFamily="18" charset="0"/>
                          </a:rPr>
                        </m:ctrlPr>
                      </m:fPr>
                      <m:num>
                        <m:r>
                          <a:rPr lang="en-US" altLang="zh-CN" sz="1200" i="1">
                            <a:latin typeface="Cambria Math" panose="02040503050406030204" pitchFamily="18" charset="0"/>
                          </a:rPr>
                          <m:t>1</m:t>
                        </m:r>
                      </m:num>
                      <m:den>
                        <m:r>
                          <a:rPr lang="en-US" altLang="zh-CN" sz="1200" i="1">
                            <a:latin typeface="Cambria Math" panose="02040503050406030204" pitchFamily="18" charset="0"/>
                          </a:rPr>
                          <m:t>𝑛</m:t>
                        </m:r>
                      </m:den>
                    </m:f>
                    <m:nary>
                      <m:naryPr>
                        <m:chr m:val="∑"/>
                        <m:ctrlPr>
                          <a:rPr lang="en-US" altLang="zh-CN" sz="1200" i="1">
                            <a:latin typeface="Cambria Math" panose="02040503050406030204" pitchFamily="18" charset="0"/>
                          </a:rPr>
                        </m:ctrlPr>
                      </m:naryPr>
                      <m:sub>
                        <m:r>
                          <a:rPr lang="en-US" altLang="zh-CN" sz="1200" i="1">
                            <a:latin typeface="Cambria Math" panose="02040503050406030204" pitchFamily="18" charset="0"/>
                          </a:rPr>
                          <m:t>𝑖</m:t>
                        </m:r>
                      </m:sub>
                      <m:sup>
                        <m:r>
                          <a:rPr lang="en-US" altLang="zh-CN" sz="1200" i="1">
                            <a:latin typeface="Cambria Math" panose="02040503050406030204" pitchFamily="18" charset="0"/>
                          </a:rPr>
                          <m:t>𝑛</m:t>
                        </m:r>
                      </m:sup>
                      <m:e>
                        <m:d>
                          <m:dPr>
                            <m:begChr m:val="["/>
                            <m:endChr m:val="]"/>
                            <m:ctrlPr>
                              <a:rPr lang="en-US" altLang="zh-CN" sz="1200" i="1">
                                <a:latin typeface="Cambria Math" panose="02040503050406030204" pitchFamily="18" charset="0"/>
                              </a:rPr>
                            </m:ctrlPr>
                          </m:dPr>
                          <m:e>
                            <m:f>
                              <m:fPr>
                                <m:ctrlPr>
                                  <a:rPr lang="en-US" altLang="zh-CN" sz="1200" i="1">
                                    <a:latin typeface="Cambria Math" panose="02040503050406030204" pitchFamily="18" charset="0"/>
                                  </a:rPr>
                                </m:ctrlPr>
                              </m:fPr>
                              <m:num>
                                <m:d>
                                  <m:dPr>
                                    <m:ctrlPr>
                                      <a:rPr lang="en-US" altLang="zh-CN" sz="1200" i="1">
                                        <a:latin typeface="Cambria Math" panose="02040503050406030204" pitchFamily="18" charset="0"/>
                                      </a:rPr>
                                    </m:ctrlPr>
                                  </m:dPr>
                                  <m:e>
                                    <m:r>
                                      <a:rPr lang="en-US" altLang="zh-CN" sz="1200" i="1">
                                        <a:latin typeface="Cambria Math" panose="02040503050406030204" pitchFamily="18" charset="0"/>
                                      </a:rPr>
                                      <m:t>1−</m:t>
                                    </m:r>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𝐷</m:t>
                                        </m:r>
                                      </m:e>
                                      <m:sub>
                                        <m:r>
                                          <a:rPr lang="en-US" altLang="zh-CN" sz="1200" i="1">
                                            <a:latin typeface="Cambria Math" panose="02040503050406030204" pitchFamily="18" charset="0"/>
                                          </a:rPr>
                                          <m:t>𝑖</m:t>
                                        </m:r>
                                      </m:sub>
                                    </m:sSub>
                                  </m:e>
                                </m:d>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𝑌</m:t>
                                    </m:r>
                                  </m:e>
                                  <m:sub>
                                    <m:r>
                                      <a:rPr lang="en-US" altLang="zh-CN" sz="1200" b="0" i="1" smtClean="0">
                                        <a:latin typeface="Cambria Math" panose="02040503050406030204" pitchFamily="18" charset="0"/>
                                      </a:rPr>
                                      <m:t>𝑖</m:t>
                                    </m:r>
                                  </m:sub>
                                </m:sSub>
                              </m:num>
                              <m:den>
                                <m:r>
                                  <a:rPr lang="en-US" altLang="zh-CN" sz="1200" i="1">
                                    <a:latin typeface="Cambria Math" panose="02040503050406030204" pitchFamily="18" charset="0"/>
                                  </a:rPr>
                                  <m:t>1−</m:t>
                                </m:r>
                                <m:r>
                                  <a:rPr lang="en-US" altLang="zh-CN" sz="1200" i="1">
                                    <a:latin typeface="Cambria Math" panose="02040503050406030204" pitchFamily="18" charset="0"/>
                                  </a:rPr>
                                  <m:t>𝑒</m:t>
                                </m:r>
                                <m:d>
                                  <m:dPr>
                                    <m:ctrlPr>
                                      <a:rPr lang="en-US" altLang="zh-CN" sz="1200" i="1">
                                        <a:latin typeface="Cambria Math" panose="02040503050406030204" pitchFamily="18" charset="0"/>
                                      </a:rPr>
                                    </m:ctrlPr>
                                  </m:d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𝑋</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m:t>
                                    </m:r>
                                    <m:acc>
                                      <m:accPr>
                                        <m:chr m:val="̂"/>
                                        <m:ctrlPr>
                                          <a:rPr lang="en-US" altLang="zh-CN" sz="1200" i="1">
                                            <a:latin typeface="Cambria Math" panose="02040503050406030204" pitchFamily="18" charset="0"/>
                                          </a:rPr>
                                        </m:ctrlPr>
                                      </m:accPr>
                                      <m:e>
                                        <m:r>
                                          <a:rPr lang="en-US" altLang="zh-CN" sz="1200" i="1">
                                            <a:latin typeface="Cambria Math" panose="02040503050406030204" pitchFamily="18" charset="0"/>
                                          </a:rPr>
                                          <m:t>𝛼</m:t>
                                        </m:r>
                                      </m:e>
                                    </m:acc>
                                  </m:e>
                                </m:d>
                              </m:den>
                            </m:f>
                            <m:r>
                              <a:rPr lang="en-US" altLang="zh-CN" sz="1200" b="0" i="1" smtClean="0">
                                <a:latin typeface="Cambria Math" panose="02040503050406030204" pitchFamily="18" charset="0"/>
                              </a:rPr>
                              <m:t>−</m:t>
                            </m:r>
                            <m:f>
                              <m:fPr>
                                <m:ctrlPr>
                                  <a:rPr lang="en-US" altLang="zh-CN" sz="1200" i="1" dirty="0">
                                    <a:latin typeface="Cambria Math" panose="02040503050406030204" pitchFamily="18" charset="0"/>
                                  </a:rPr>
                                </m:ctrlPr>
                              </m:fPr>
                              <m:num>
                                <m:r>
                                  <a:rPr lang="en-US" altLang="zh-CN" sz="1200" i="1" dirty="0">
                                    <a:latin typeface="Cambria Math" panose="02040503050406030204" pitchFamily="18" charset="0"/>
                                  </a:rPr>
                                  <m:t>𝑒</m:t>
                                </m:r>
                                <m:d>
                                  <m:dPr>
                                    <m:ctrlPr>
                                      <a:rPr lang="en-US" altLang="zh-CN" sz="1200" i="1" dirty="0">
                                        <a:latin typeface="Cambria Math" panose="02040503050406030204" pitchFamily="18" charset="0"/>
                                      </a:rPr>
                                    </m:ctrlPr>
                                  </m:dPr>
                                  <m:e>
                                    <m:r>
                                      <a:rPr lang="en-US" altLang="zh-CN" sz="1200" i="1" dirty="0">
                                        <a:latin typeface="Cambria Math" panose="02040503050406030204" pitchFamily="18" charset="0"/>
                                      </a:rPr>
                                      <m:t>𝑋</m:t>
                                    </m:r>
                                    <m:r>
                                      <a:rPr lang="en-US" altLang="zh-CN" sz="1200" i="1" dirty="0">
                                        <a:latin typeface="Cambria Math" panose="02040503050406030204" pitchFamily="18" charset="0"/>
                                      </a:rPr>
                                      <m:t>,</m:t>
                                    </m:r>
                                    <m:acc>
                                      <m:accPr>
                                        <m:chr m:val="̂"/>
                                        <m:ctrlPr>
                                          <a:rPr lang="en-US" altLang="zh-CN" sz="1200" i="1" dirty="0">
                                            <a:latin typeface="Cambria Math" panose="02040503050406030204" pitchFamily="18" charset="0"/>
                                          </a:rPr>
                                        </m:ctrlPr>
                                      </m:accPr>
                                      <m:e>
                                        <m:r>
                                          <a:rPr lang="en-US" altLang="zh-CN" sz="1200" i="1" dirty="0">
                                            <a:latin typeface="Cambria Math" panose="02040503050406030204" pitchFamily="18" charset="0"/>
                                          </a:rPr>
                                          <m:t>𝛼</m:t>
                                        </m:r>
                                      </m:e>
                                    </m:acc>
                                  </m:e>
                                </m:d>
                                <m:r>
                                  <a:rPr lang="en-US" altLang="zh-CN" sz="1200" i="1" dirty="0">
                                    <a:latin typeface="Cambria Math" panose="02040503050406030204" pitchFamily="18" charset="0"/>
                                  </a:rPr>
                                  <m:t>−</m:t>
                                </m:r>
                                <m:r>
                                  <a:rPr lang="en-US" altLang="zh-CN" sz="1200" i="1" dirty="0">
                                    <a:latin typeface="Cambria Math" panose="02040503050406030204" pitchFamily="18" charset="0"/>
                                  </a:rPr>
                                  <m:t>𝐷</m:t>
                                </m:r>
                              </m:num>
                              <m:den>
                                <m:r>
                                  <a:rPr lang="en-US" altLang="zh-CN" sz="1200" i="1" dirty="0">
                                    <a:latin typeface="Cambria Math" panose="02040503050406030204" pitchFamily="18" charset="0"/>
                                  </a:rPr>
                                  <m:t>1−</m:t>
                                </m:r>
                                <m:r>
                                  <a:rPr lang="en-US" altLang="zh-CN" sz="1200" i="1" dirty="0">
                                    <a:latin typeface="Cambria Math" panose="02040503050406030204" pitchFamily="18" charset="0"/>
                                  </a:rPr>
                                  <m:t>𝑒</m:t>
                                </m:r>
                                <m:d>
                                  <m:dPr>
                                    <m:ctrlPr>
                                      <a:rPr lang="en-US" altLang="zh-CN" sz="1200" i="1" dirty="0">
                                        <a:latin typeface="Cambria Math" panose="02040503050406030204" pitchFamily="18" charset="0"/>
                                      </a:rPr>
                                    </m:ctrlPr>
                                  </m:dPr>
                                  <m:e>
                                    <m:r>
                                      <a:rPr lang="en-US" altLang="zh-CN" sz="1200" i="1" dirty="0">
                                        <a:latin typeface="Cambria Math" panose="02040503050406030204" pitchFamily="18" charset="0"/>
                                      </a:rPr>
                                      <m:t>𝑋</m:t>
                                    </m:r>
                                    <m:r>
                                      <a:rPr lang="en-US" altLang="zh-CN" sz="1200" i="1" dirty="0">
                                        <a:latin typeface="Cambria Math" panose="02040503050406030204" pitchFamily="18" charset="0"/>
                                      </a:rPr>
                                      <m:t>,</m:t>
                                    </m:r>
                                    <m:acc>
                                      <m:accPr>
                                        <m:chr m:val="̂"/>
                                        <m:ctrlPr>
                                          <a:rPr lang="en-US" altLang="zh-CN" sz="1200" i="1" dirty="0">
                                            <a:latin typeface="Cambria Math" panose="02040503050406030204" pitchFamily="18" charset="0"/>
                                          </a:rPr>
                                        </m:ctrlPr>
                                      </m:accPr>
                                      <m:e>
                                        <m:r>
                                          <a:rPr lang="en-US" altLang="zh-CN" sz="1200" i="1" dirty="0">
                                            <a:latin typeface="Cambria Math" panose="02040503050406030204" pitchFamily="18" charset="0"/>
                                          </a:rPr>
                                          <m:t>𝛼</m:t>
                                        </m:r>
                                      </m:e>
                                    </m:acc>
                                  </m:e>
                                </m:d>
                              </m:den>
                            </m:f>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𝜇</m:t>
                                </m:r>
                              </m:e>
                              <m:sub>
                                <m:r>
                                  <a:rPr lang="en-US" altLang="zh-CN" sz="1200" i="1">
                                    <a:latin typeface="Cambria Math" panose="02040503050406030204" pitchFamily="18" charset="0"/>
                                  </a:rPr>
                                  <m:t>0</m:t>
                                </m:r>
                              </m:sub>
                            </m:sSub>
                            <m:d>
                              <m:dPr>
                                <m:ctrlPr>
                                  <a:rPr lang="en-US" altLang="zh-CN" sz="1200" i="1">
                                    <a:latin typeface="Cambria Math" panose="02040503050406030204" pitchFamily="18" charset="0"/>
                                  </a:rPr>
                                </m:ctrlPr>
                              </m:d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𝑋</m:t>
                                    </m:r>
                                  </m:e>
                                  <m:sub>
                                    <m:r>
                                      <a:rPr lang="en-US" altLang="zh-CN" sz="1200" i="1">
                                        <a:latin typeface="Cambria Math" panose="02040503050406030204" pitchFamily="18" charset="0"/>
                                      </a:rPr>
                                      <m:t>𝑖</m:t>
                                    </m:r>
                                  </m:sub>
                                </m:sSub>
                                <m:r>
                                  <a:rPr lang="en-US" altLang="zh-CN" sz="1200" i="1">
                                    <a:latin typeface="Cambria Math" panose="02040503050406030204" pitchFamily="18" charset="0"/>
                                  </a:rPr>
                                  <m:t>,</m:t>
                                </m:r>
                                <m:acc>
                                  <m:accPr>
                                    <m:chr m:val="̂"/>
                                    <m:ctrlPr>
                                      <a:rPr lang="en-US" altLang="zh-CN" sz="1200" i="1">
                                        <a:latin typeface="Cambria Math" panose="02040503050406030204" pitchFamily="18" charset="0"/>
                                      </a:rPr>
                                    </m:ctrlPr>
                                  </m:acc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𝛽</m:t>
                                        </m:r>
                                      </m:e>
                                      <m:sub>
                                        <m:r>
                                          <a:rPr lang="en-US" altLang="zh-CN" sz="1200" i="1">
                                            <a:latin typeface="Cambria Math" panose="02040503050406030204" pitchFamily="18" charset="0"/>
                                          </a:rPr>
                                          <m:t>0</m:t>
                                        </m:r>
                                      </m:sub>
                                    </m:sSub>
                                  </m:e>
                                </m:acc>
                              </m:e>
                            </m:d>
                          </m:e>
                        </m:d>
                      </m:e>
                    </m:nary>
                  </m:oMath>
                </a14:m>
                <a:endParaRPr lang="en-US" altLang="zh-CN" sz="1200" b="0" dirty="0"/>
              </a:p>
              <a:p>
                <a:r>
                  <a:rPr lang="en-US" altLang="zh-CN" sz="1200" dirty="0"/>
                  <a:t>Stata </a:t>
                </a:r>
                <a:r>
                  <a:rPr lang="zh-CN" altLang="en-US" sz="1200" dirty="0"/>
                  <a:t>命令：</a:t>
                </a:r>
                <a:r>
                  <a:rPr lang="en-US" altLang="zh-CN" sz="1200" dirty="0" err="1"/>
                  <a:t>teffects</a:t>
                </a:r>
                <a:r>
                  <a:rPr lang="en-US" altLang="zh-CN" sz="1200" dirty="0"/>
                  <a:t> </a:t>
                </a:r>
                <a:r>
                  <a:rPr lang="en-US" altLang="zh-CN" sz="1200" dirty="0" err="1"/>
                  <a:t>aipw</a:t>
                </a:r>
                <a:endParaRPr lang="en-US" altLang="zh-CN" sz="1200" b="0" dirty="0"/>
              </a:p>
              <a:p>
                <a:pPr marL="0" indent="0">
                  <a:buNone/>
                </a:pPr>
                <a:endParaRPr lang="en-US" altLang="zh-CN" sz="1200" dirty="0"/>
              </a:p>
              <a:p>
                <a:endParaRPr lang="zh-CN" altLang="en-US" sz="1200" dirty="0"/>
              </a:p>
            </p:txBody>
          </p:sp>
        </mc:Choice>
        <mc:Fallback xmlns="">
          <p:sp>
            <p:nvSpPr>
              <p:cNvPr id="3" name="内容占位符 2">
                <a:extLst>
                  <a:ext uri="{FF2B5EF4-FFF2-40B4-BE49-F238E27FC236}">
                    <a16:creationId xmlns:a16="http://schemas.microsoft.com/office/drawing/2014/main" id="{D38106AB-C8E6-62E7-7B05-0547BBB0165F}"/>
                  </a:ext>
                </a:extLst>
              </p:cNvPr>
              <p:cNvSpPr>
                <a:spLocks noGrp="1" noRot="1" noChangeAspect="1" noMove="1" noResize="1" noEditPoints="1" noAdjustHandles="1" noChangeArrowheads="1" noChangeShapeType="1" noTextEdit="1"/>
              </p:cNvSpPr>
              <p:nvPr>
                <p:ph idx="1"/>
              </p:nvPr>
            </p:nvSpPr>
            <p:spPr>
              <a:blipFill>
                <a:blip r:embed="rId2"/>
                <a:stretch>
                  <a:fillRect b="-18067"/>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37F727DD-9E4D-F58F-5D17-444D9118F31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6BC3832-EEEC-79F9-0F31-C3BD8AF9B33D}"/>
              </a:ext>
            </a:extLst>
          </p:cNvPr>
          <p:cNvSpPr>
            <a:spLocks noGrp="1"/>
          </p:cNvSpPr>
          <p:nvPr>
            <p:ph type="sldNum" sz="quarter" idx="12"/>
          </p:nvPr>
        </p:nvSpPr>
        <p:spPr/>
        <p:txBody>
          <a:bodyPr/>
          <a:lstStyle/>
          <a:p>
            <a:fld id="{D41FC515-8169-4A29-AA56-DBE520D5741B}" type="slidenum">
              <a:rPr lang="zh-CN" altLang="en-US" smtClean="0"/>
              <a:t>26</a:t>
            </a:fld>
            <a:endParaRPr lang="zh-CN" altLang="en-US"/>
          </a:p>
        </p:txBody>
      </p:sp>
    </p:spTree>
    <p:extLst>
      <p:ext uri="{BB962C8B-B14F-4D97-AF65-F5344CB8AC3E}">
        <p14:creationId xmlns:p14="http://schemas.microsoft.com/office/powerpoint/2010/main" val="1552115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5D8014-D3F5-BC06-6D8F-32EEE00ED8B1}"/>
              </a:ext>
            </a:extLst>
          </p:cNvPr>
          <p:cNvSpPr>
            <a:spLocks noGrp="1"/>
          </p:cNvSpPr>
          <p:nvPr>
            <p:ph type="title"/>
          </p:nvPr>
        </p:nvSpPr>
        <p:spPr/>
        <p:txBody>
          <a:bodyPr/>
          <a:lstStyle/>
          <a:p>
            <a:r>
              <a:rPr lang="en-US" altLang="zh-CN" dirty="0"/>
              <a:t>ATT </a:t>
            </a:r>
            <a:r>
              <a:rPr lang="zh-CN" altLang="en-US" dirty="0"/>
              <a:t>的识别</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2561EB4-D127-3D1F-9C24-4BF7D1B1645B}"/>
                  </a:ext>
                </a:extLst>
              </p:cNvPr>
              <p:cNvSpPr>
                <a:spLocks noGrp="1"/>
              </p:cNvSpPr>
              <p:nvPr>
                <p:ph idx="1"/>
              </p:nvPr>
            </p:nvSpPr>
            <p:spPr/>
            <p:txBody>
              <a:bodyPr>
                <a:noAutofit/>
              </a:bodyPr>
              <a:lstStyle/>
              <a:p>
                <a:r>
                  <a:rPr lang="zh-CN" altLang="en-US" sz="1800" dirty="0"/>
                  <a:t>识别干预组平均因果效应</a:t>
                </a:r>
                <a:r>
                  <a:rPr lang="en-US" altLang="zh-CN" sz="1800" dirty="0"/>
                  <a:t>(ATT) </a:t>
                </a:r>
                <a:r>
                  <a:rPr lang="zh-CN" altLang="en-US" sz="1800" dirty="0"/>
                  <a:t>的条件：</a:t>
                </a:r>
                <a:endParaRPr lang="en-US" altLang="zh-CN" sz="1800" dirty="0"/>
              </a:p>
              <a:p>
                <a:pPr lvl="1"/>
                <a:r>
                  <a:rPr lang="zh-CN" altLang="en-US" sz="1800" dirty="0"/>
                  <a:t>假设</a:t>
                </a:r>
                <a:r>
                  <a:rPr lang="en-US" altLang="zh-CN" sz="1800" dirty="0"/>
                  <a:t>3 </a:t>
                </a:r>
                <a:r>
                  <a:rPr lang="zh-CN" altLang="en-US" sz="1800" dirty="0"/>
                  <a:t>基线控制潜在结果非混杂性：</a:t>
                </a:r>
                <a14:m>
                  <m:oMath xmlns:m="http://schemas.openxmlformats.org/officeDocument/2006/math">
                    <m:sSub>
                      <m:sSubPr>
                        <m:ctrlPr>
                          <a:rPr lang="zh-CN" altLang="en-US" sz="1800" i="1" dirty="0" smtClean="0">
                            <a:latin typeface="Cambria Math" panose="02040503050406030204" pitchFamily="18" charset="0"/>
                          </a:rPr>
                        </m:ctrlPr>
                      </m:sSubPr>
                      <m:e>
                        <m:r>
                          <a:rPr lang="zh-CN" altLang="en-US" sz="1800" i="1" dirty="0" smtClean="0">
                            <a:latin typeface="Cambria Math" panose="02040503050406030204" pitchFamily="18" charset="0"/>
                          </a:rPr>
                          <m:t>𝑌</m:t>
                        </m:r>
                      </m:e>
                      <m:sub>
                        <m:r>
                          <a:rPr lang="zh-CN" altLang="en-US" sz="1800" i="1" dirty="0" smtClean="0">
                            <a:latin typeface="Cambria Math" panose="02040503050406030204" pitchFamily="18" charset="0"/>
                          </a:rPr>
                          <m:t>𝑖</m:t>
                        </m:r>
                      </m:sub>
                    </m:sSub>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0</m:t>
                        </m:r>
                      </m:e>
                    </m:d>
                    <m:r>
                      <a:rPr lang="en-US" altLang="zh-CN" sz="1800" i="1" dirty="0">
                        <a:latin typeface="Cambria Math" panose="02040503050406030204" pitchFamily="18" charset="0"/>
                      </a:rPr>
                      <m:t>⟂</m:t>
                    </m:r>
                    <m:sSub>
                      <m:sSubPr>
                        <m:ctrlPr>
                          <a:rPr lang="zh-CN" altLang="en-US" sz="1800" i="1" dirty="0">
                            <a:latin typeface="Cambria Math" panose="02040503050406030204" pitchFamily="18" charset="0"/>
                          </a:rPr>
                        </m:ctrlPr>
                      </m:sSubPr>
                      <m:e>
                        <m:r>
                          <a:rPr lang="zh-CN" altLang="en-US" sz="1800" i="1" dirty="0">
                            <a:latin typeface="Cambria Math" panose="02040503050406030204" pitchFamily="18" charset="0"/>
                          </a:rPr>
                          <m:t>𝐷</m:t>
                        </m:r>
                      </m:e>
                      <m:sub>
                        <m:r>
                          <a:rPr lang="zh-CN" altLang="en-US" sz="1800" i="1" dirty="0">
                            <a:latin typeface="Cambria Math" panose="02040503050406030204" pitchFamily="18" charset="0"/>
                          </a:rPr>
                          <m:t>𝑖</m:t>
                        </m:r>
                      </m:sub>
                    </m:sSub>
                    <m:r>
                      <a:rPr lang="en-US" altLang="zh-CN" sz="1800" i="1" dirty="0">
                        <a:latin typeface="Cambria Math" panose="02040503050406030204" pitchFamily="18" charset="0"/>
                      </a:rPr>
                      <m:t>|</m:t>
                    </m:r>
                    <m:sSub>
                      <m:sSubPr>
                        <m:ctrlPr>
                          <a:rPr lang="zh-CN" altLang="en-US" sz="1800" i="1" dirty="0">
                            <a:latin typeface="Cambria Math" panose="02040503050406030204" pitchFamily="18" charset="0"/>
                          </a:rPr>
                        </m:ctrlPr>
                      </m:sSubPr>
                      <m:e>
                        <m:r>
                          <a:rPr lang="zh-CN" altLang="en-US" sz="1800" i="1" dirty="0">
                            <a:latin typeface="Cambria Math" panose="02040503050406030204" pitchFamily="18" charset="0"/>
                          </a:rPr>
                          <m:t>𝑋</m:t>
                        </m:r>
                      </m:e>
                      <m:sub>
                        <m:r>
                          <a:rPr lang="zh-CN" altLang="en-US" sz="1800" i="1" dirty="0" smtClean="0">
                            <a:latin typeface="Cambria Math" panose="02040503050406030204" pitchFamily="18" charset="0"/>
                          </a:rPr>
                          <m:t>𝑖</m:t>
                        </m:r>
                      </m:sub>
                    </m:sSub>
                  </m:oMath>
                </a14:m>
                <a:endParaRPr lang="en-US" altLang="zh-CN" sz="1800" dirty="0"/>
              </a:p>
              <a:p>
                <a:pPr lvl="1"/>
                <a:r>
                  <a:rPr lang="zh-CN" altLang="en-US" sz="1800" dirty="0"/>
                  <a:t>假设</a:t>
                </a:r>
                <a:r>
                  <a:rPr lang="en-US" altLang="zh-CN" sz="1800" dirty="0"/>
                  <a:t>4 </a:t>
                </a:r>
                <a:r>
                  <a:rPr lang="zh-CN" altLang="en-US" sz="1800" dirty="0"/>
                  <a:t>弱公共区间：</a:t>
                </a:r>
                <a14:m>
                  <m:oMath xmlns:m="http://schemas.openxmlformats.org/officeDocument/2006/math">
                    <m:r>
                      <m:rPr>
                        <m:sty m:val="p"/>
                      </m:rPr>
                      <a:rPr lang="en-US" altLang="zh-CN" sz="1800" i="1" dirty="0" smtClean="0">
                        <a:latin typeface="Cambria Math" panose="02040503050406030204" pitchFamily="18" charset="0"/>
                      </a:rPr>
                      <m:t>Pr</m:t>
                    </m:r>
                    <m:r>
                      <a:rPr lang="en-US" altLang="zh-CN" sz="1800" i="1" dirty="0">
                        <a:latin typeface="Cambria Math" panose="02040503050406030204" pitchFamily="18" charset="0"/>
                      </a:rPr>
                      <m:t>⁡[</m:t>
                    </m:r>
                    <m:sSub>
                      <m:sSubPr>
                        <m:ctrlPr>
                          <a:rPr lang="zh-CN" altLang="en-US" sz="1800" i="1" dirty="0">
                            <a:latin typeface="Cambria Math" panose="02040503050406030204" pitchFamily="18" charset="0"/>
                          </a:rPr>
                        </m:ctrlPr>
                      </m:sSubPr>
                      <m:e>
                        <m:r>
                          <a:rPr lang="zh-CN" altLang="en-US" sz="1800" i="1" dirty="0">
                            <a:latin typeface="Cambria Math" panose="02040503050406030204" pitchFamily="18" charset="0"/>
                          </a:rPr>
                          <m:t>𝐷</m:t>
                        </m:r>
                      </m:e>
                      <m:sub>
                        <m:r>
                          <a:rPr lang="zh-CN" altLang="en-US" sz="1800" i="1" dirty="0">
                            <a:latin typeface="Cambria Math" panose="02040503050406030204" pitchFamily="18" charset="0"/>
                          </a:rPr>
                          <m:t>𝑖</m:t>
                        </m:r>
                      </m:sub>
                    </m:sSub>
                    <m:r>
                      <a:rPr lang="zh-CN" altLang="en-US" sz="1800" i="1" dirty="0">
                        <a:latin typeface="Cambria Math" panose="02040503050406030204" pitchFamily="18" charset="0"/>
                      </a:rPr>
                      <m:t> </m:t>
                    </m:r>
                    <m:r>
                      <a:rPr lang="en-US" altLang="zh-CN" sz="1800" i="1" dirty="0">
                        <a:latin typeface="Cambria Math" panose="02040503050406030204" pitchFamily="18" charset="0"/>
                      </a:rPr>
                      <m:t>= 1|</m:t>
                    </m:r>
                    <m:sSub>
                      <m:sSubPr>
                        <m:ctrlPr>
                          <a:rPr lang="zh-CN" altLang="en-US" sz="1800" i="1" dirty="0">
                            <a:latin typeface="Cambria Math" panose="02040503050406030204" pitchFamily="18" charset="0"/>
                          </a:rPr>
                        </m:ctrlPr>
                      </m:sSubPr>
                      <m:e>
                        <m:r>
                          <a:rPr lang="zh-CN" altLang="en-US" sz="1800" i="1" dirty="0">
                            <a:latin typeface="Cambria Math" panose="02040503050406030204" pitchFamily="18" charset="0"/>
                          </a:rPr>
                          <m:t>𝑋</m:t>
                        </m:r>
                      </m:e>
                      <m:sub>
                        <m:r>
                          <a:rPr lang="zh-CN" altLang="en-US" sz="1800" i="1" dirty="0">
                            <a:latin typeface="Cambria Math" panose="02040503050406030204" pitchFamily="18" charset="0"/>
                          </a:rPr>
                          <m:t>𝑖</m:t>
                        </m:r>
                      </m:sub>
                    </m:sSub>
                    <m:r>
                      <a:rPr lang="en-US" altLang="zh-CN" sz="1800" i="1" dirty="0">
                        <a:latin typeface="Cambria Math" panose="02040503050406030204" pitchFamily="18" charset="0"/>
                      </a:rPr>
                      <m:t>] &lt; 1</m:t>
                    </m:r>
                  </m:oMath>
                </a14:m>
                <a:endParaRPr lang="en-US" altLang="zh-CN" sz="1800" dirty="0"/>
              </a:p>
              <a:p>
                <a:pPr marL="0" indent="0">
                  <a:buNone/>
                </a:pPr>
                <a14:m>
                  <m:oMathPara xmlns:m="http://schemas.openxmlformats.org/officeDocument/2006/math">
                    <m:oMath>
                      <m:sSub>
                        <m:sSubPr>
                          <m:ctrlPr>
                            <a:rPr lang="zh-CN" altLang="en-US" sz="1800" i="1" dirty="0" smtClean="0">
                              <a:latin typeface="Cambria Math" panose="02040503050406030204" pitchFamily="18" charset="0"/>
                            </a:rPr>
                          </m:ctrlPr>
                        </m:sSubPr>
                        <m:e>
                          <m:r>
                            <a:rPr lang="zh-CN" altLang="en-US" sz="1800" i="1" dirty="0" smtClean="0">
                              <a:latin typeface="Cambria Math" panose="02040503050406030204" pitchFamily="18" charset="0"/>
                            </a:rPr>
                            <m:t>𝜏</m:t>
                          </m:r>
                        </m:e>
                        <m:sub>
                          <m:r>
                            <a:rPr lang="zh-CN" altLang="en-US" sz="1800" i="1" dirty="0" smtClean="0">
                              <a:latin typeface="Cambria Math" panose="02040503050406030204" pitchFamily="18" charset="0"/>
                            </a:rPr>
                            <m:t>𝐴𝑇𝑇</m:t>
                          </m:r>
                        </m:sub>
                      </m:sSub>
                      <m:r>
                        <a:rPr lang="zh-CN" altLang="en-US" sz="1800" i="1" dirty="0" smtClean="0">
                          <a:latin typeface="Cambria Math" panose="02040503050406030204" pitchFamily="18" charset="0"/>
                        </a:rPr>
                        <m:t> </m:t>
                      </m:r>
                      <m:r>
                        <a:rPr lang="en-US" altLang="zh-CN" sz="1800" i="1" dirty="0">
                          <a:latin typeface="Cambria Math" panose="02040503050406030204" pitchFamily="18" charset="0"/>
                        </a:rPr>
                        <m:t>= </m:t>
                      </m:r>
                      <m:r>
                        <a:rPr lang="zh-CN" altLang="en-US" sz="1800" i="1" dirty="0">
                          <a:latin typeface="Cambria Math" panose="02040503050406030204" pitchFamily="18" charset="0"/>
                        </a:rPr>
                        <m:t>𝐸</m:t>
                      </m:r>
                      <m:r>
                        <a:rPr lang="en-US" altLang="zh-CN" sz="1800" i="1" dirty="0">
                          <a:latin typeface="Cambria Math" panose="02040503050406030204" pitchFamily="18" charset="0"/>
                        </a:rPr>
                        <m:t>[</m:t>
                      </m:r>
                      <m:r>
                        <a:rPr lang="zh-CN" altLang="en-US" sz="1800" i="1" dirty="0" smtClean="0">
                          <a:latin typeface="Cambria Math" panose="02040503050406030204" pitchFamily="18" charset="0"/>
                        </a:rPr>
                        <m:t>𝑌</m:t>
                      </m:r>
                      <m:r>
                        <a:rPr lang="en-US" altLang="zh-CN" sz="1800" i="1" dirty="0">
                          <a:latin typeface="Cambria Math" panose="02040503050406030204" pitchFamily="18" charset="0"/>
                        </a:rPr>
                        <m:t>(1)−</m:t>
                      </m:r>
                      <m:r>
                        <a:rPr lang="zh-CN" altLang="en-US" sz="1800" i="1" dirty="0">
                          <a:latin typeface="Cambria Math" panose="02040503050406030204" pitchFamily="18" charset="0"/>
                        </a:rPr>
                        <m:t>𝑌</m:t>
                      </m:r>
                      <m:r>
                        <a:rPr lang="en-US" altLang="zh-CN" sz="1800" i="1" dirty="0">
                          <a:latin typeface="Cambria Math" panose="02040503050406030204" pitchFamily="18" charset="0"/>
                        </a:rPr>
                        <m:t>(0)|</m:t>
                      </m:r>
                      <m:r>
                        <a:rPr lang="zh-CN" altLang="en-US" sz="1800" i="1" dirty="0">
                          <a:latin typeface="Cambria Math" panose="02040503050406030204" pitchFamily="18" charset="0"/>
                        </a:rPr>
                        <m:t>𝐷</m:t>
                      </m:r>
                      <m:r>
                        <a:rPr lang="en-US" altLang="zh-CN" sz="1800" i="1" dirty="0">
                          <a:latin typeface="Cambria Math" panose="02040503050406030204" pitchFamily="18" charset="0"/>
                        </a:rPr>
                        <m:t>=1]</m:t>
                      </m:r>
                      <m:r>
                        <a:rPr lang="en-US" altLang="zh-CN" sz="1800" b="0" i="1" dirty="0" smtClean="0">
                          <a:latin typeface="Cambria Math" panose="02040503050406030204" pitchFamily="18" charset="0"/>
                        </a:rPr>
                        <m:t>=</m:t>
                      </m:r>
                      <m:r>
                        <a:rPr lang="zh-CN" altLang="en-US" sz="1800" i="1" dirty="0">
                          <a:latin typeface="Cambria Math" panose="02040503050406030204" pitchFamily="18" charset="0"/>
                        </a:rPr>
                        <m:t>𝐸</m:t>
                      </m:r>
                      <m:r>
                        <a:rPr lang="en-US" altLang="zh-CN" sz="1800" i="1" dirty="0">
                          <a:latin typeface="Cambria Math" panose="02040503050406030204" pitchFamily="18" charset="0"/>
                        </a:rPr>
                        <m:t>[</m:t>
                      </m:r>
                      <m:r>
                        <a:rPr lang="zh-CN" altLang="en-US" sz="1800" i="1" dirty="0">
                          <a:latin typeface="Cambria Math" panose="02040503050406030204" pitchFamily="18" charset="0"/>
                        </a:rPr>
                        <m:t>𝑌</m:t>
                      </m:r>
                      <m:r>
                        <a:rPr lang="en-US" altLang="zh-CN" sz="1800" i="1" dirty="0">
                          <a:latin typeface="Cambria Math" panose="02040503050406030204" pitchFamily="18" charset="0"/>
                        </a:rPr>
                        <m:t>|</m:t>
                      </m:r>
                      <m:r>
                        <a:rPr lang="zh-CN" altLang="en-US" sz="1800" i="1" dirty="0">
                          <a:latin typeface="Cambria Math" panose="02040503050406030204" pitchFamily="18" charset="0"/>
                        </a:rPr>
                        <m:t>𝐷</m:t>
                      </m:r>
                      <m:r>
                        <a:rPr lang="en-US" altLang="zh-CN" sz="1800" i="1" dirty="0">
                          <a:latin typeface="Cambria Math" panose="02040503050406030204" pitchFamily="18" charset="0"/>
                        </a:rPr>
                        <m:t>=1]−</m:t>
                      </m:r>
                      <m:r>
                        <a:rPr lang="zh-CN" altLang="en-US" sz="1800" i="1" dirty="0">
                          <a:latin typeface="Cambria Math" panose="02040503050406030204" pitchFamily="18" charset="0"/>
                        </a:rPr>
                        <m:t>𝐸</m:t>
                      </m:r>
                      <m:r>
                        <a:rPr lang="en-US" altLang="zh-CN" sz="1800" i="1" dirty="0">
                          <a:latin typeface="Cambria Math" panose="02040503050406030204" pitchFamily="18" charset="0"/>
                        </a:rPr>
                        <m:t>[</m:t>
                      </m:r>
                      <m:r>
                        <a:rPr lang="zh-CN" altLang="en-US" sz="1800" i="1" dirty="0">
                          <a:latin typeface="Cambria Math" panose="02040503050406030204" pitchFamily="18" charset="0"/>
                        </a:rPr>
                        <m:t>𝐸</m:t>
                      </m:r>
                      <m:r>
                        <a:rPr lang="en-US" altLang="zh-CN" sz="1800" i="1" dirty="0">
                          <a:latin typeface="Cambria Math" panose="02040503050406030204" pitchFamily="18" charset="0"/>
                        </a:rPr>
                        <m:t>[</m:t>
                      </m:r>
                      <m:r>
                        <a:rPr lang="zh-CN" altLang="en-US" sz="1800" i="1" dirty="0">
                          <a:latin typeface="Cambria Math" panose="02040503050406030204" pitchFamily="18" charset="0"/>
                        </a:rPr>
                        <m:t>𝑌</m:t>
                      </m:r>
                      <m:r>
                        <a:rPr lang="en-US" altLang="zh-CN" sz="1800" i="1" dirty="0">
                          <a:latin typeface="Cambria Math" panose="02040503050406030204" pitchFamily="18" charset="0"/>
                        </a:rPr>
                        <m:t>(0)|</m:t>
                      </m:r>
                      <m:r>
                        <a:rPr lang="zh-CN" altLang="en-US" sz="1800" i="1" dirty="0">
                          <a:latin typeface="Cambria Math" panose="02040503050406030204" pitchFamily="18" charset="0"/>
                        </a:rPr>
                        <m:t>𝑋</m:t>
                      </m:r>
                      <m:r>
                        <a:rPr lang="en-US" altLang="zh-CN" sz="1800" i="1" dirty="0">
                          <a:latin typeface="Cambria Math" panose="02040503050406030204" pitchFamily="18" charset="0"/>
                        </a:rPr>
                        <m:t>, </m:t>
                      </m:r>
                      <m:r>
                        <a:rPr lang="zh-CN" altLang="en-US" sz="1800" i="1" dirty="0">
                          <a:latin typeface="Cambria Math" panose="02040503050406030204" pitchFamily="18" charset="0"/>
                        </a:rPr>
                        <m:t>𝐷</m:t>
                      </m:r>
                      <m:r>
                        <a:rPr lang="en-US" altLang="zh-CN" sz="1800" i="1" dirty="0">
                          <a:latin typeface="Cambria Math" panose="02040503050406030204" pitchFamily="18" charset="0"/>
                        </a:rPr>
                        <m:t>=1]|</m:t>
                      </m:r>
                      <m:r>
                        <a:rPr lang="zh-CN" altLang="en-US" sz="1800" i="1" dirty="0">
                          <a:latin typeface="Cambria Math" panose="02040503050406030204" pitchFamily="18" charset="0"/>
                        </a:rPr>
                        <m:t>𝐷</m:t>
                      </m:r>
                      <m:r>
                        <a:rPr lang="en-US" altLang="zh-CN" sz="1800" i="1" dirty="0">
                          <a:latin typeface="Cambria Math" panose="02040503050406030204" pitchFamily="18" charset="0"/>
                        </a:rPr>
                        <m:t>=1]</m:t>
                      </m:r>
                    </m:oMath>
                    <m:oMath>
                      <m:r>
                        <a:rPr lang="en-US" altLang="zh-CN" sz="1800" i="1" dirty="0" smtClean="0">
                          <a:latin typeface="Cambria Math" panose="02040503050406030204" pitchFamily="18" charset="0"/>
                        </a:rPr>
                        <m:t>= </m:t>
                      </m:r>
                      <m:r>
                        <a:rPr lang="zh-CN" altLang="en-US" sz="1800" i="1" dirty="0">
                          <a:latin typeface="Cambria Math" panose="02040503050406030204" pitchFamily="18" charset="0"/>
                        </a:rPr>
                        <m:t>𝐸</m:t>
                      </m:r>
                      <m:r>
                        <a:rPr lang="en-US" altLang="zh-CN" sz="1800" i="1" dirty="0">
                          <a:latin typeface="Cambria Math" panose="02040503050406030204" pitchFamily="18" charset="0"/>
                        </a:rPr>
                        <m:t>[</m:t>
                      </m:r>
                      <m:r>
                        <a:rPr lang="zh-CN" altLang="en-US" sz="1800" i="1" dirty="0">
                          <a:latin typeface="Cambria Math" panose="02040503050406030204" pitchFamily="18" charset="0"/>
                        </a:rPr>
                        <m:t>𝑌</m:t>
                      </m:r>
                      <m:r>
                        <a:rPr lang="zh-CN" altLang="en-US" sz="1800" i="1" dirty="0">
                          <a:latin typeface="Cambria Math" panose="02040503050406030204" pitchFamily="18" charset="0"/>
                        </a:rPr>
                        <m:t> |</m:t>
                      </m:r>
                      <m:r>
                        <a:rPr lang="zh-CN" altLang="en-US" sz="1800" i="1" dirty="0">
                          <a:latin typeface="Cambria Math" panose="02040503050406030204" pitchFamily="18" charset="0"/>
                        </a:rPr>
                        <m:t>𝐷</m:t>
                      </m:r>
                      <m:r>
                        <a:rPr lang="en-US" altLang="zh-CN" sz="1800" i="1" dirty="0">
                          <a:latin typeface="Cambria Math" panose="02040503050406030204" pitchFamily="18" charset="0"/>
                        </a:rPr>
                        <m:t>=1]−</m:t>
                      </m:r>
                      <m:r>
                        <a:rPr lang="zh-CN" altLang="en-US" sz="1800" i="1" dirty="0">
                          <a:latin typeface="Cambria Math" panose="02040503050406030204" pitchFamily="18" charset="0"/>
                        </a:rPr>
                        <m:t>𝐸</m:t>
                      </m:r>
                      <m:r>
                        <a:rPr lang="en-US" altLang="zh-CN" sz="1800" i="1" dirty="0">
                          <a:latin typeface="Cambria Math" panose="02040503050406030204" pitchFamily="18" charset="0"/>
                        </a:rPr>
                        <m:t>[</m:t>
                      </m:r>
                      <m:r>
                        <a:rPr lang="zh-CN" altLang="en-US" sz="1800" i="1" dirty="0">
                          <a:latin typeface="Cambria Math" panose="02040503050406030204" pitchFamily="18" charset="0"/>
                        </a:rPr>
                        <m:t>𝐸</m:t>
                      </m:r>
                      <m:r>
                        <a:rPr lang="en-US" altLang="zh-CN" sz="1800" i="1" dirty="0">
                          <a:latin typeface="Cambria Math" panose="02040503050406030204" pitchFamily="18" charset="0"/>
                        </a:rPr>
                        <m:t>[</m:t>
                      </m:r>
                      <m:r>
                        <a:rPr lang="zh-CN" altLang="en-US" sz="1800" i="1" dirty="0">
                          <a:latin typeface="Cambria Math" panose="02040503050406030204" pitchFamily="18" charset="0"/>
                        </a:rPr>
                        <m:t>𝑌</m:t>
                      </m:r>
                      <m:r>
                        <a:rPr lang="en-US" altLang="zh-CN" sz="1800" i="1" dirty="0">
                          <a:latin typeface="Cambria Math" panose="02040503050406030204" pitchFamily="18" charset="0"/>
                        </a:rPr>
                        <m:t>(0)|</m:t>
                      </m:r>
                      <m:r>
                        <a:rPr lang="zh-CN" altLang="en-US" sz="1800" i="1" dirty="0">
                          <a:latin typeface="Cambria Math" panose="02040503050406030204" pitchFamily="18" charset="0"/>
                        </a:rPr>
                        <m:t>𝑋</m:t>
                      </m:r>
                      <m:r>
                        <a:rPr lang="en-US" altLang="zh-CN" sz="1800" i="1" dirty="0">
                          <a:latin typeface="Cambria Math" panose="02040503050406030204" pitchFamily="18" charset="0"/>
                        </a:rPr>
                        <m:t>, </m:t>
                      </m:r>
                      <m:r>
                        <a:rPr lang="zh-CN" altLang="en-US" sz="1800" i="1" dirty="0">
                          <a:latin typeface="Cambria Math" panose="02040503050406030204" pitchFamily="18" charset="0"/>
                        </a:rPr>
                        <m:t>𝐷</m:t>
                      </m:r>
                      <m:r>
                        <a:rPr lang="en-US" altLang="zh-CN" sz="1800" i="1" dirty="0">
                          <a:latin typeface="Cambria Math" panose="02040503050406030204" pitchFamily="18" charset="0"/>
                        </a:rPr>
                        <m:t>=0]|</m:t>
                      </m:r>
                      <m:r>
                        <a:rPr lang="zh-CN" altLang="en-US" sz="1800" i="1" dirty="0">
                          <a:latin typeface="Cambria Math" panose="02040503050406030204" pitchFamily="18" charset="0"/>
                        </a:rPr>
                        <m:t>𝐷</m:t>
                      </m:r>
                      <m:r>
                        <a:rPr lang="en-US" altLang="zh-CN" sz="1800" i="1" dirty="0">
                          <a:latin typeface="Cambria Math" panose="02040503050406030204" pitchFamily="18" charset="0"/>
                        </a:rPr>
                        <m:t>=1]</m:t>
                      </m:r>
                    </m:oMath>
                    <m:oMath>
                      <m:r>
                        <a:rPr lang="en-US" altLang="zh-CN" sz="1800" i="1" dirty="0" smtClean="0">
                          <a:latin typeface="Cambria Math" panose="02040503050406030204" pitchFamily="18" charset="0"/>
                        </a:rPr>
                        <m:t>=</m:t>
                      </m:r>
                      <m:r>
                        <a:rPr lang="zh-CN" altLang="en-US" sz="1800" i="1" dirty="0">
                          <a:latin typeface="Cambria Math" panose="02040503050406030204" pitchFamily="18" charset="0"/>
                        </a:rPr>
                        <m:t>𝐸</m:t>
                      </m:r>
                      <m:r>
                        <a:rPr lang="en-US" altLang="zh-CN" sz="1800" i="1" dirty="0">
                          <a:latin typeface="Cambria Math" panose="02040503050406030204" pitchFamily="18" charset="0"/>
                        </a:rPr>
                        <m:t>[</m:t>
                      </m:r>
                      <m:r>
                        <a:rPr lang="zh-CN" altLang="en-US" sz="1800" i="1" dirty="0">
                          <a:latin typeface="Cambria Math" panose="02040503050406030204" pitchFamily="18" charset="0"/>
                        </a:rPr>
                        <m:t>𝑌</m:t>
                      </m:r>
                      <m:r>
                        <a:rPr lang="en-US" altLang="zh-CN" sz="1800" i="1" dirty="0">
                          <a:latin typeface="Cambria Math" panose="02040503050406030204" pitchFamily="18" charset="0"/>
                        </a:rPr>
                        <m:t>|</m:t>
                      </m:r>
                      <m:r>
                        <a:rPr lang="zh-CN" altLang="en-US" sz="1800" i="1" dirty="0">
                          <a:latin typeface="Cambria Math" panose="02040503050406030204" pitchFamily="18" charset="0"/>
                        </a:rPr>
                        <m:t>𝐷</m:t>
                      </m:r>
                      <m:r>
                        <a:rPr lang="en-US" altLang="zh-CN" sz="1800" i="1" dirty="0">
                          <a:latin typeface="Cambria Math" panose="02040503050406030204" pitchFamily="18" charset="0"/>
                        </a:rPr>
                        <m:t>=1]−</m:t>
                      </m:r>
                      <m:r>
                        <a:rPr lang="zh-CN" altLang="en-US" sz="1800" i="1" dirty="0">
                          <a:latin typeface="Cambria Math" panose="02040503050406030204" pitchFamily="18" charset="0"/>
                        </a:rPr>
                        <m:t>𝐸</m:t>
                      </m:r>
                      <m:r>
                        <a:rPr lang="en-US" altLang="zh-CN" sz="1800" i="1" dirty="0">
                          <a:latin typeface="Cambria Math" panose="02040503050406030204" pitchFamily="18" charset="0"/>
                        </a:rPr>
                        <m:t>[</m:t>
                      </m:r>
                      <m:r>
                        <a:rPr lang="zh-CN" altLang="en-US" sz="1800" i="1" dirty="0">
                          <a:latin typeface="Cambria Math" panose="02040503050406030204" pitchFamily="18" charset="0"/>
                        </a:rPr>
                        <m:t>𝐸</m:t>
                      </m:r>
                      <m:r>
                        <a:rPr lang="en-US" altLang="zh-CN" sz="1800" i="1" dirty="0">
                          <a:latin typeface="Cambria Math" panose="02040503050406030204" pitchFamily="18" charset="0"/>
                        </a:rPr>
                        <m:t>[</m:t>
                      </m:r>
                      <m:r>
                        <a:rPr lang="zh-CN" altLang="en-US" sz="1800" i="1" dirty="0">
                          <a:latin typeface="Cambria Math" panose="02040503050406030204" pitchFamily="18" charset="0"/>
                        </a:rPr>
                        <m:t>𝑌</m:t>
                      </m:r>
                      <m:r>
                        <a:rPr lang="zh-CN" altLang="en-US" sz="1800" i="1" dirty="0">
                          <a:latin typeface="Cambria Math" panose="02040503050406030204" pitchFamily="18" charset="0"/>
                        </a:rPr>
                        <m:t> |</m:t>
                      </m:r>
                      <m:r>
                        <a:rPr lang="zh-CN" altLang="en-US" sz="1800" i="1" dirty="0">
                          <a:latin typeface="Cambria Math" panose="02040503050406030204" pitchFamily="18" charset="0"/>
                        </a:rPr>
                        <m:t>𝑋</m:t>
                      </m:r>
                      <m:r>
                        <a:rPr lang="en-US" altLang="zh-CN" sz="1800" i="1" dirty="0">
                          <a:latin typeface="Cambria Math" panose="02040503050406030204" pitchFamily="18" charset="0"/>
                        </a:rPr>
                        <m:t>, </m:t>
                      </m:r>
                      <m:r>
                        <a:rPr lang="zh-CN" altLang="en-US" sz="1800" i="1" dirty="0">
                          <a:latin typeface="Cambria Math" panose="02040503050406030204" pitchFamily="18" charset="0"/>
                        </a:rPr>
                        <m:t>𝐷</m:t>
                      </m:r>
                      <m:r>
                        <a:rPr lang="en-US" altLang="zh-CN" sz="1800" b="0" i="1" dirty="0" smtClean="0">
                          <a:latin typeface="Cambria Math" panose="02040503050406030204" pitchFamily="18" charset="0"/>
                        </a:rPr>
                        <m:t>=</m:t>
                      </m:r>
                      <m:r>
                        <a:rPr lang="en-US" altLang="zh-CN" sz="1800" i="1" dirty="0">
                          <a:latin typeface="Cambria Math" panose="02040503050406030204" pitchFamily="18" charset="0"/>
                        </a:rPr>
                        <m:t>0]|</m:t>
                      </m:r>
                      <m:r>
                        <a:rPr lang="zh-CN" altLang="en-US" sz="1800" i="1" dirty="0">
                          <a:latin typeface="Cambria Math" panose="02040503050406030204" pitchFamily="18" charset="0"/>
                        </a:rPr>
                        <m:t>𝐷</m:t>
                      </m:r>
                      <m:r>
                        <a:rPr lang="en-US" altLang="zh-CN" sz="1800" i="1" dirty="0">
                          <a:latin typeface="Cambria Math" panose="02040503050406030204" pitchFamily="18" charset="0"/>
                        </a:rPr>
                        <m:t>=1]</m:t>
                      </m:r>
                    </m:oMath>
                    <m:oMath>
                      <m:r>
                        <a:rPr lang="el-GR" altLang="zh-CN" sz="1800" i="1" dirty="0" smtClean="0">
                          <a:latin typeface="Cambria Math" panose="02040503050406030204" pitchFamily="18" charset="0"/>
                        </a:rPr>
                        <m:t>= </m:t>
                      </m:r>
                      <m:r>
                        <a:rPr lang="zh-CN" altLang="el-GR" sz="1800" i="1" dirty="0">
                          <a:latin typeface="Cambria Math" panose="02040503050406030204" pitchFamily="18" charset="0"/>
                        </a:rPr>
                        <m:t>𝐸</m:t>
                      </m:r>
                      <m:r>
                        <a:rPr lang="el-GR" altLang="zh-CN" sz="1800" i="1" dirty="0">
                          <a:latin typeface="Cambria Math" panose="02040503050406030204" pitchFamily="18" charset="0"/>
                        </a:rPr>
                        <m:t>[</m:t>
                      </m:r>
                      <m:r>
                        <a:rPr lang="zh-CN" altLang="el-GR" sz="1800" i="1" dirty="0">
                          <a:latin typeface="Cambria Math" panose="02040503050406030204" pitchFamily="18" charset="0"/>
                        </a:rPr>
                        <m:t>𝑌</m:t>
                      </m:r>
                      <m:r>
                        <a:rPr lang="zh-CN" altLang="el-GR" sz="1800" i="1" dirty="0">
                          <a:latin typeface="Cambria Math" panose="02040503050406030204" pitchFamily="18" charset="0"/>
                        </a:rPr>
                        <m:t> |</m:t>
                      </m:r>
                      <m:r>
                        <a:rPr lang="zh-CN" altLang="el-GR" sz="1800" i="1" dirty="0" smtClean="0">
                          <a:latin typeface="Cambria Math" panose="02040503050406030204" pitchFamily="18" charset="0"/>
                        </a:rPr>
                        <m:t>𝐷</m:t>
                      </m:r>
                      <m:r>
                        <a:rPr lang="el-GR" altLang="zh-CN" sz="1800" i="1" dirty="0">
                          <a:latin typeface="Cambria Math" panose="02040503050406030204" pitchFamily="18" charset="0"/>
                        </a:rPr>
                        <m:t>= 1] −</m:t>
                      </m:r>
                      <m:nary>
                        <m:naryPr>
                          <m:chr m:val="∑"/>
                          <m:supHide m:val="on"/>
                          <m:ctrlPr>
                            <a:rPr lang="en-US" altLang="zh-CN" sz="1800" b="0" i="1" dirty="0" smtClean="0">
                              <a:latin typeface="Cambria Math" panose="02040503050406030204" pitchFamily="18" charset="0"/>
                            </a:rPr>
                          </m:ctrlPr>
                        </m:naryPr>
                        <m:sub>
                          <m:r>
                            <a:rPr lang="en-US" altLang="zh-CN" sz="1800" b="0" i="1" dirty="0" smtClean="0">
                              <a:latin typeface="Cambria Math" panose="02040503050406030204" pitchFamily="18" charset="0"/>
                            </a:rPr>
                            <m:t>𝑥</m:t>
                          </m:r>
                        </m:sub>
                        <m:sup/>
                        <m:e>
                          <m:r>
                            <a:rPr lang="zh-CN" altLang="en-US" sz="1800" i="1" dirty="0">
                              <a:latin typeface="Cambria Math" panose="02040503050406030204" pitchFamily="18" charset="0"/>
                            </a:rPr>
                            <m:t>𝐸</m:t>
                          </m:r>
                          <m:r>
                            <a:rPr lang="en-US" altLang="zh-CN" sz="1800" i="1" dirty="0">
                              <a:latin typeface="Cambria Math" panose="02040503050406030204" pitchFamily="18" charset="0"/>
                            </a:rPr>
                            <m:t>[</m:t>
                          </m:r>
                          <m:r>
                            <a:rPr lang="zh-CN" altLang="en-US" sz="1800" i="1" dirty="0">
                              <a:latin typeface="Cambria Math" panose="02040503050406030204" pitchFamily="18" charset="0"/>
                            </a:rPr>
                            <m:t>𝑌</m:t>
                          </m:r>
                          <m:r>
                            <a:rPr lang="zh-CN" altLang="en-US" sz="1800" i="1" dirty="0">
                              <a:latin typeface="Cambria Math" panose="02040503050406030204" pitchFamily="18" charset="0"/>
                            </a:rPr>
                            <m:t> |</m:t>
                          </m:r>
                          <m:r>
                            <a:rPr lang="zh-CN" altLang="en-US" sz="1800" i="1" dirty="0">
                              <a:latin typeface="Cambria Math" panose="02040503050406030204" pitchFamily="18" charset="0"/>
                            </a:rPr>
                            <m:t>𝑋</m:t>
                          </m:r>
                          <m:r>
                            <a:rPr lang="zh-CN" altLang="en-US" sz="1800" i="1" dirty="0">
                              <a:latin typeface="Cambria Math" panose="02040503050406030204" pitchFamily="18" charset="0"/>
                            </a:rPr>
                            <m:t> = </m:t>
                          </m:r>
                          <m:r>
                            <a:rPr lang="zh-CN" altLang="en-US" sz="1800" i="1" dirty="0">
                              <a:latin typeface="Cambria Math" panose="02040503050406030204" pitchFamily="18" charset="0"/>
                            </a:rPr>
                            <m:t>𝑥</m:t>
                          </m:r>
                          <m:r>
                            <a:rPr lang="en-US" altLang="zh-CN" sz="1800" i="1" dirty="0">
                              <a:latin typeface="Cambria Math" panose="02040503050406030204" pitchFamily="18" charset="0"/>
                            </a:rPr>
                            <m:t>, </m:t>
                          </m:r>
                          <m:r>
                            <a:rPr lang="zh-CN" altLang="en-US" sz="1800" i="1" dirty="0">
                              <a:latin typeface="Cambria Math" panose="02040503050406030204" pitchFamily="18" charset="0"/>
                            </a:rPr>
                            <m:t>𝐷</m:t>
                          </m:r>
                          <m:r>
                            <a:rPr lang="zh-CN" altLang="en-US" sz="1800" i="1" dirty="0">
                              <a:latin typeface="Cambria Math" panose="02040503050406030204" pitchFamily="18" charset="0"/>
                            </a:rPr>
                            <m:t> = 0] </m:t>
                          </m:r>
                          <m:r>
                            <m:rPr>
                              <m:sty m:val="p"/>
                            </m:rPr>
                            <a:rPr lang="en-US" altLang="zh-CN" sz="1800" i="1" dirty="0" err="1">
                              <a:latin typeface="Cambria Math" panose="02040503050406030204" pitchFamily="18" charset="0"/>
                            </a:rPr>
                            <m:t>Pr</m:t>
                          </m:r>
                          <m:r>
                            <a:rPr lang="en-US" altLang="zh-CN" sz="1800" i="1" dirty="0">
                              <a:latin typeface="Cambria Math" panose="02040503050406030204" pitchFamily="18" charset="0"/>
                            </a:rPr>
                            <m:t>⁡[</m:t>
                          </m:r>
                          <m:r>
                            <a:rPr lang="zh-CN" altLang="en-US" sz="1800" i="1" dirty="0">
                              <a:latin typeface="Cambria Math" panose="02040503050406030204" pitchFamily="18" charset="0"/>
                            </a:rPr>
                            <m:t>𝑋</m:t>
                          </m:r>
                          <m:r>
                            <a:rPr lang="zh-CN" altLang="en-US" sz="1800" i="1" dirty="0">
                              <a:latin typeface="Cambria Math" panose="02040503050406030204" pitchFamily="18" charset="0"/>
                            </a:rPr>
                            <m:t> = </m:t>
                          </m:r>
                          <m:r>
                            <a:rPr lang="zh-CN" altLang="en-US" sz="1800" i="1" dirty="0">
                              <a:latin typeface="Cambria Math" panose="02040503050406030204" pitchFamily="18" charset="0"/>
                            </a:rPr>
                            <m:t>𝑥</m:t>
                          </m:r>
                          <m:r>
                            <a:rPr lang="en-US" altLang="zh-CN" sz="1800" i="1" dirty="0">
                              <a:latin typeface="Cambria Math" panose="02040503050406030204" pitchFamily="18" charset="0"/>
                            </a:rPr>
                            <m:t>|</m:t>
                          </m:r>
                          <m:r>
                            <a:rPr lang="zh-CN" altLang="en-US" sz="1800" i="1" dirty="0">
                              <a:latin typeface="Cambria Math" panose="02040503050406030204" pitchFamily="18" charset="0"/>
                            </a:rPr>
                            <m:t>𝐷</m:t>
                          </m:r>
                          <m:r>
                            <a:rPr lang="zh-CN" altLang="en-US" sz="1800" i="1" dirty="0">
                              <a:latin typeface="Cambria Math" panose="02040503050406030204" pitchFamily="18" charset="0"/>
                            </a:rPr>
                            <m:t> = 1]</m:t>
                          </m:r>
                        </m:e>
                      </m:nary>
                      <m:r>
                        <a:rPr lang="en-US" altLang="zh-CN" sz="1800" i="1" dirty="0">
                          <a:latin typeface="Cambria Math" panose="02040503050406030204" pitchFamily="18" charset="0"/>
                        </a:rPr>
                        <m:t>. (1</m:t>
                      </m:r>
                      <m:r>
                        <a:rPr lang="en-US" altLang="zh-CN" sz="1800" b="0" i="1" dirty="0" smtClean="0">
                          <a:latin typeface="Cambria Math" panose="02040503050406030204" pitchFamily="18" charset="0"/>
                        </a:rPr>
                        <m:t>6</m:t>
                      </m:r>
                      <m:r>
                        <a:rPr lang="en-US" altLang="zh-CN" sz="1800" i="1" dirty="0">
                          <a:latin typeface="Cambria Math" panose="02040503050406030204" pitchFamily="18" charset="0"/>
                        </a:rPr>
                        <m:t>)</m:t>
                      </m:r>
                    </m:oMath>
                  </m:oMathPara>
                </a14:m>
                <a:endParaRPr lang="en-US" altLang="zh-CN" sz="1800" dirty="0"/>
              </a:p>
              <a:p>
                <a:r>
                  <a:rPr lang="zh-CN" altLang="en-US" sz="1800" dirty="0"/>
                  <a:t>第二行来自于非混杂性假设。</a:t>
                </a:r>
                <a:endParaRPr lang="en-US" altLang="zh-CN" sz="1800" dirty="0"/>
              </a:p>
              <a:p>
                <a:endParaRPr lang="zh-CN" altLang="en-US" sz="1800" dirty="0"/>
              </a:p>
            </p:txBody>
          </p:sp>
        </mc:Choice>
        <mc:Fallback xmlns="">
          <p:sp>
            <p:nvSpPr>
              <p:cNvPr id="3" name="内容占位符 2">
                <a:extLst>
                  <a:ext uri="{FF2B5EF4-FFF2-40B4-BE49-F238E27FC236}">
                    <a16:creationId xmlns:a16="http://schemas.microsoft.com/office/drawing/2014/main" id="{22561EB4-D127-3D1F-9C24-4BF7D1B1645B}"/>
                  </a:ext>
                </a:extLst>
              </p:cNvPr>
              <p:cNvSpPr>
                <a:spLocks noGrp="1" noRot="1" noChangeAspect="1" noMove="1" noResize="1" noEditPoints="1" noAdjustHandles="1" noChangeArrowheads="1" noChangeShapeType="1" noTextEdit="1"/>
              </p:cNvSpPr>
              <p:nvPr>
                <p:ph idx="1"/>
              </p:nvPr>
            </p:nvSpPr>
            <p:spPr>
              <a:blipFill>
                <a:blip r:embed="rId2"/>
                <a:stretch>
                  <a:fillRect l="-464" t="-70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88DFE8B-7843-67DB-1558-93E3091B12E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162F6DA-F3B7-3DB4-5086-417377CD438E}"/>
              </a:ext>
            </a:extLst>
          </p:cNvPr>
          <p:cNvSpPr>
            <a:spLocks noGrp="1"/>
          </p:cNvSpPr>
          <p:nvPr>
            <p:ph type="sldNum" sz="quarter" idx="12"/>
          </p:nvPr>
        </p:nvSpPr>
        <p:spPr/>
        <p:txBody>
          <a:bodyPr/>
          <a:lstStyle/>
          <a:p>
            <a:fld id="{D41FC515-8169-4A29-AA56-DBE520D5741B}" type="slidenum">
              <a:rPr lang="zh-CN" altLang="en-US" smtClean="0"/>
              <a:t>27</a:t>
            </a:fld>
            <a:endParaRPr lang="zh-CN" altLang="en-US"/>
          </a:p>
        </p:txBody>
      </p:sp>
    </p:spTree>
    <p:extLst>
      <p:ext uri="{BB962C8B-B14F-4D97-AF65-F5344CB8AC3E}">
        <p14:creationId xmlns:p14="http://schemas.microsoft.com/office/powerpoint/2010/main" val="359172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8B4C1A-CE46-60ED-5DC2-19D3C05B42F1}"/>
              </a:ext>
            </a:extLst>
          </p:cNvPr>
          <p:cNvSpPr>
            <a:spLocks noGrp="1"/>
          </p:cNvSpPr>
          <p:nvPr>
            <p:ph type="title"/>
          </p:nvPr>
        </p:nvSpPr>
        <p:spPr/>
        <p:txBody>
          <a:bodyPr/>
          <a:lstStyle/>
          <a:p>
            <a:r>
              <a:rPr lang="zh-CN" altLang="en-US" dirty="0"/>
              <a:t>分层</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7C1E017-279D-BE4D-8B2F-186D73822BD6}"/>
                  </a:ext>
                </a:extLst>
              </p:cNvPr>
              <p:cNvSpPr>
                <a:spLocks noGrp="1"/>
              </p:cNvSpPr>
              <p:nvPr>
                <p:ph idx="1"/>
              </p:nvPr>
            </p:nvSpPr>
            <p:spPr/>
            <p:txBody>
              <a:bodyPr>
                <a:normAutofit fontScale="70000" lnSpcReduction="20000"/>
              </a:bodyPr>
              <a:lstStyle/>
              <a:p>
                <a:pPr>
                  <a:lnSpc>
                    <a:spcPct val="120000"/>
                  </a:lnSpc>
                </a:pPr>
                <a:r>
                  <a:rPr lang="zh-CN" altLang="en-US" dirty="0"/>
                  <a:t>如果𝑋 是离散的，比如取值为</a:t>
                </a:r>
                <a:r>
                  <a:rPr lang="en-US" altLang="zh-CN" dirty="0"/>
                  <a:t>{1, … , </a:t>
                </a:r>
                <a:r>
                  <a:rPr lang="zh-CN" altLang="en-US" dirty="0"/>
                  <a:t>𝐾</a:t>
                </a:r>
                <a:r>
                  <a:rPr lang="en-US" altLang="zh-CN" dirty="0"/>
                  <a:t>}</a:t>
                </a:r>
                <a:r>
                  <a:rPr lang="zh-CN" altLang="en-US" dirty="0"/>
                  <a:t>，根据</a:t>
                </a:r>
                <a:r>
                  <a:rPr lang="en-US" altLang="zh-CN" dirty="0"/>
                  <a:t>(16) </a:t>
                </a:r>
                <a:r>
                  <a:rPr lang="zh-CN" altLang="en-US" dirty="0"/>
                  <a:t>式一个自然的估计，</a:t>
                </a:r>
                <a:endParaRPr lang="en-US" altLang="zh-CN" dirty="0"/>
              </a:p>
              <a:p>
                <a:pPr marL="0" indent="0">
                  <a:lnSpc>
                    <a:spcPct val="120000"/>
                  </a:lnSpc>
                  <a:buNone/>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dirty="0" smtClean="0">
                              <a:latin typeface="Cambria Math" panose="02040503050406030204" pitchFamily="18" charset="0"/>
                            </a:rPr>
                            <m:t>𝐴𝑇𝑇</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𝑡</m:t>
                          </m:r>
                        </m:sub>
                      </m:sSub>
                      <m:r>
                        <a:rPr lang="en-US" altLang="zh-CN" b="0" i="1" dirty="0" smtClean="0">
                          <a:latin typeface="Cambria Math" panose="02040503050406030204" pitchFamily="18" charset="0"/>
                        </a:rPr>
                        <m:t>−</m:t>
                      </m:r>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𝑘</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𝐾</m:t>
                          </m:r>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𝜋</m:t>
                              </m:r>
                            </m:e>
                            <m:sub>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𝑘</m:t>
                              </m:r>
                            </m:sub>
                          </m:sSub>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𝑐𝑘</m:t>
                              </m:r>
                            </m:sub>
                          </m:sSub>
                        </m:e>
                      </m:nary>
                      <m:r>
                        <a:rPr lang="en-US" altLang="zh-CN" b="0" i="1" dirty="0" smtClean="0">
                          <a:latin typeface="Cambria Math" panose="02040503050406030204" pitchFamily="18" charset="0"/>
                        </a:rPr>
                        <m:t>,</m:t>
                      </m:r>
                    </m:oMath>
                  </m:oMathPara>
                </a14:m>
                <a:endParaRPr lang="en-US" altLang="zh-CN" b="0" dirty="0"/>
              </a:p>
              <a:p>
                <a:pPr>
                  <a:lnSpc>
                    <a:spcPct val="120000"/>
                  </a:lnSpc>
                </a:pPr>
                <a:r>
                  <a:rPr lang="zh-CN" altLang="en-US" dirty="0"/>
                  <a:t>其中</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𝜋</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1</m:t>
                            </m:r>
                            <m:r>
                              <a:rPr lang="en-US" altLang="zh-CN" b="0" i="1" smtClean="0">
                                <a:latin typeface="Cambria Math" panose="02040503050406030204" pitchFamily="18" charset="0"/>
                              </a:rPr>
                              <m:t>𝑘</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1</m:t>
                            </m:r>
                          </m:sub>
                        </m:sSub>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1</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e>
                        </m:nary>
                      </m:num>
                      <m:den>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1</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=1</m:t>
                                </m:r>
                              </m:e>
                            </m:d>
                          </m:e>
                        </m:nary>
                      </m:den>
                    </m:f>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𝑌</m:t>
                            </m:r>
                          </m:e>
                        </m:acc>
                      </m:e>
                      <m:sub>
                        <m:r>
                          <a:rPr lang="en-US" altLang="zh-CN" b="0" i="1" smtClean="0">
                            <a:latin typeface="Cambria Math" panose="02040503050406030204" pitchFamily="18" charset="0"/>
                          </a:rPr>
                          <m:t>𝑐𝑘</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1</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𝑘</m:t>
                                </m:r>
                              </m:e>
                            </m:d>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m:t>
                                </m:r>
                              </m:sub>
                            </m:sSub>
                          </m:e>
                        </m:nary>
                      </m:num>
                      <m:den>
                        <m:nary>
                          <m:naryPr>
                            <m:chr m:val="∑"/>
                            <m:subHide m:val="on"/>
                            <m:supHide m:val="on"/>
                            <m:ctrlPr>
                              <a:rPr lang="en-US" altLang="zh-CN" b="0" i="1" smtClean="0">
                                <a:latin typeface="Cambria Math" panose="02040503050406030204" pitchFamily="18" charset="0"/>
                              </a:rPr>
                            </m:ctrlPr>
                          </m:naryPr>
                          <m:sub/>
                          <m:sup/>
                          <m:e>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e>
                        </m:nary>
                      </m:den>
                    </m:f>
                    <m:r>
                      <a:rPr lang="en-US" altLang="zh-CN" b="0" i="1" smtClean="0">
                        <a:latin typeface="Cambria Math" panose="02040503050406030204" pitchFamily="18" charset="0"/>
                      </a:rPr>
                      <m:t>.</m:t>
                    </m:r>
                  </m:oMath>
                </a14:m>
                <a:endParaRPr lang="en-US" altLang="zh-CN" b="0" dirty="0"/>
              </a:p>
              <a:p>
                <a:pPr>
                  <a:lnSpc>
                    <a:spcPct val="120000"/>
                  </a:lnSpc>
                </a:pPr>
                <a:r>
                  <a:rPr lang="zh-CN" altLang="en-US" dirty="0"/>
                  <a:t>当然，也可以根据公式</a:t>
                </a:r>
                <a:r>
                  <a:rPr lang="en-US" altLang="zh-CN" dirty="0"/>
                  <a:t>(4) </a:t>
                </a:r>
                <a:r>
                  <a:rPr lang="zh-CN" altLang="en-US" dirty="0"/>
                  <a:t>进行分层估计：</a:t>
                </a:r>
                <a:endParaRPr lang="en-US" altLang="zh-CN" dirty="0"/>
              </a:p>
              <a:p>
                <a:pPr marL="0" indent="0" algn="ctr">
                  <a:lnSpc>
                    <a:spcPct val="120000"/>
                  </a:lnSpc>
                  <a:buNone/>
                </a:pPr>
                <a14:m>
                  <m:oMath xmlns:m="http://schemas.openxmlformats.org/officeDocument/2006/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dirty="0" smtClean="0">
                            <a:latin typeface="Cambria Math" panose="02040503050406030204" pitchFamily="18" charset="0"/>
                          </a:rPr>
                          <m:t>𝐴𝑇𝑇</m:t>
                        </m:r>
                      </m:sub>
                    </m:sSub>
                    <m:r>
                      <a:rPr lang="en-US" altLang="zh-CN" b="0" i="1" dirty="0" smtClean="0">
                        <a:latin typeface="Cambria Math" panose="02040503050406030204" pitchFamily="18" charset="0"/>
                      </a:rPr>
                      <m:t>=</m:t>
                    </m:r>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𝑘</m:t>
                        </m:r>
                      </m:sub>
                      <m:sup>
                        <m:r>
                          <a:rPr lang="en-US" altLang="zh-CN" b="0" i="1" dirty="0" smtClean="0">
                            <a:latin typeface="Cambria Math" panose="02040503050406030204" pitchFamily="18" charset="0"/>
                          </a:rPr>
                          <m:t>𝐾</m:t>
                        </m:r>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𝜋</m:t>
                            </m:r>
                          </m:e>
                          <m:sub>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𝑘</m:t>
                            </m:r>
                          </m:sub>
                        </m:sSub>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𝜏</m:t>
                                </m:r>
                              </m:e>
                            </m:acc>
                          </m:e>
                          <m:sub>
                            <m:r>
                              <a:rPr lang="en-US" altLang="zh-CN" b="0" i="1" dirty="0" smtClean="0">
                                <a:latin typeface="Cambria Math" panose="02040503050406030204" pitchFamily="18" charset="0"/>
                              </a:rPr>
                              <m:t>𝑘</m:t>
                            </m:r>
                          </m:sub>
                        </m:sSub>
                      </m:e>
                    </m:nary>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𝜏</m:t>
                            </m:r>
                          </m:e>
                        </m:acc>
                      </m:e>
                      <m:sub>
                        <m:r>
                          <a:rPr lang="en-US" altLang="zh-CN" b="0" i="1" dirty="0" smtClean="0">
                            <a:latin typeface="Cambria Math" panose="02040503050406030204" pitchFamily="18" charset="0"/>
                          </a:rPr>
                          <m:t>𝑘</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𝑡𝑘</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𝑐𝑘</m:t>
                        </m:r>
                      </m:sub>
                    </m:sSub>
                  </m:oMath>
                </a14:m>
                <a:r>
                  <a:rPr lang="en-US" altLang="zh-CN" dirty="0"/>
                  <a:t>.</a:t>
                </a:r>
              </a:p>
              <a:p>
                <a:pPr>
                  <a:lnSpc>
                    <a:spcPct val="120000"/>
                  </a:lnSpc>
                </a:pPr>
                <a:r>
                  <a:rPr lang="zh-CN" altLang="en-US" dirty="0"/>
                  <a:t>可以在每一层内作线性回归，得到 </a:t>
                </a:r>
                <a14:m>
                  <m:oMath xmlns:m="http://schemas.openxmlformats.org/officeDocument/2006/math">
                    <m:acc>
                      <m:accPr>
                        <m:chr m:val="̂"/>
                        <m:ctrlPr>
                          <a:rPr lang="zh-CN" altLang="en-US" i="1" dirty="0" smtClean="0">
                            <a:latin typeface="Cambria Math" panose="02040503050406030204" pitchFamily="18" charset="0"/>
                          </a:rPr>
                        </m:ctrlPr>
                      </m:accPr>
                      <m:e>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𝑘</m:t>
                            </m:r>
                          </m:sub>
                        </m:sSub>
                      </m:e>
                    </m:acc>
                    <m:r>
                      <a:rPr lang="zh-CN" altLang="en-US" i="1" dirty="0" smtClean="0">
                        <a:latin typeface="Cambria Math" panose="02040503050406030204" pitchFamily="18" charset="0"/>
                      </a:rPr>
                      <m:t> </m:t>
                    </m:r>
                  </m:oMath>
                </a14:m>
                <a:r>
                  <a:rPr lang="zh-CN" altLang="en-US" dirty="0"/>
                  <a:t>，然后再用干预组在各层的分布进行加权平均。</a:t>
                </a:r>
              </a:p>
            </p:txBody>
          </p:sp>
        </mc:Choice>
        <mc:Fallback xmlns="">
          <p:sp>
            <p:nvSpPr>
              <p:cNvPr id="3" name="内容占位符 2">
                <a:extLst>
                  <a:ext uri="{FF2B5EF4-FFF2-40B4-BE49-F238E27FC236}">
                    <a16:creationId xmlns:a16="http://schemas.microsoft.com/office/drawing/2014/main" id="{97C1E017-279D-BE4D-8B2F-186D73822BD6}"/>
                  </a:ext>
                </a:extLst>
              </p:cNvPr>
              <p:cNvSpPr>
                <a:spLocks noGrp="1" noRot="1" noChangeAspect="1" noMove="1" noResize="1" noEditPoints="1" noAdjustHandles="1" noChangeArrowheads="1" noChangeShapeType="1" noTextEdit="1"/>
              </p:cNvSpPr>
              <p:nvPr>
                <p:ph idx="1"/>
              </p:nvPr>
            </p:nvSpPr>
            <p:spPr>
              <a:blipFill>
                <a:blip r:embed="rId2"/>
                <a:stretch>
                  <a:fillRect l="-696" t="-840" r="-38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4FBCEC1-9B9A-7185-DF02-745D6330B8A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F9F5A98-E99D-3D7F-AF4D-CAF0CCCBA88E}"/>
              </a:ext>
            </a:extLst>
          </p:cNvPr>
          <p:cNvSpPr>
            <a:spLocks noGrp="1"/>
          </p:cNvSpPr>
          <p:nvPr>
            <p:ph type="sldNum" sz="quarter" idx="12"/>
          </p:nvPr>
        </p:nvSpPr>
        <p:spPr/>
        <p:txBody>
          <a:bodyPr/>
          <a:lstStyle/>
          <a:p>
            <a:fld id="{D41FC515-8169-4A29-AA56-DBE520D5741B}" type="slidenum">
              <a:rPr lang="zh-CN" altLang="en-US" smtClean="0"/>
              <a:t>28</a:t>
            </a:fld>
            <a:endParaRPr lang="zh-CN" altLang="en-US"/>
          </a:p>
        </p:txBody>
      </p:sp>
    </p:spTree>
    <p:extLst>
      <p:ext uri="{BB962C8B-B14F-4D97-AF65-F5344CB8AC3E}">
        <p14:creationId xmlns:p14="http://schemas.microsoft.com/office/powerpoint/2010/main" val="804893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1AB205-50CC-05BD-3D37-B06D3F0BCE26}"/>
              </a:ext>
            </a:extLst>
          </p:cNvPr>
          <p:cNvSpPr>
            <a:spLocks noGrp="1"/>
          </p:cNvSpPr>
          <p:nvPr>
            <p:ph type="title"/>
          </p:nvPr>
        </p:nvSpPr>
        <p:spPr/>
        <p:txBody>
          <a:bodyPr/>
          <a:lstStyle/>
          <a:p>
            <a:r>
              <a:rPr lang="zh-CN" altLang="en-US" dirty="0"/>
              <a:t>回归</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74D33B7-4D0C-051F-8012-628B43A13FB1}"/>
                  </a:ext>
                </a:extLst>
              </p:cNvPr>
              <p:cNvSpPr>
                <a:spLocks noGrp="1"/>
              </p:cNvSpPr>
              <p:nvPr>
                <p:ph idx="1"/>
              </p:nvPr>
            </p:nvSpPr>
            <p:spPr/>
            <p:txBody>
              <a:bodyPr>
                <a:noAutofit/>
              </a:bodyPr>
              <a:lstStyle/>
              <a:p>
                <a:r>
                  <a:rPr lang="zh-CN" altLang="en-US" sz="1200" dirty="0"/>
                  <a:t>估计</a:t>
                </a:r>
                <a:r>
                  <a:rPr lang="en-US" altLang="zh-CN" sz="1200" dirty="0"/>
                  <a:t>ATT</a:t>
                </a:r>
                <a:r>
                  <a:rPr lang="zh-CN" altLang="en-US" sz="1200" dirty="0"/>
                  <a:t>，只需要估计反事实𝐸</a:t>
                </a:r>
                <a:r>
                  <a:rPr lang="en-US" altLang="zh-CN" sz="1200" dirty="0"/>
                  <a:t>[</a:t>
                </a:r>
                <a:r>
                  <a:rPr lang="zh-CN" altLang="en-US" sz="1200" dirty="0"/>
                  <a:t>𝑌 </a:t>
                </a:r>
                <a:r>
                  <a:rPr lang="en-US" altLang="zh-CN" sz="1200" dirty="0"/>
                  <a:t>(0)|</a:t>
                </a:r>
                <a:r>
                  <a:rPr lang="zh-CN" altLang="en-US" sz="1200" dirty="0"/>
                  <a:t>𝐷 </a:t>
                </a:r>
                <a:r>
                  <a:rPr lang="en-US" altLang="zh-CN" sz="1200" dirty="0"/>
                  <a:t>= 1]</a:t>
                </a:r>
                <a:r>
                  <a:rPr lang="zh-CN" altLang="en-US" sz="1200" dirty="0"/>
                  <a:t>，因而，可以用回归填补</a:t>
                </a:r>
                <a:r>
                  <a:rPr lang="en-US" altLang="zh-CN" sz="1200" dirty="0"/>
                  <a:t>(imputation) </a:t>
                </a:r>
                <a:r>
                  <a:rPr lang="zh-CN" altLang="en-US" sz="1200" dirty="0"/>
                  <a:t>的方法，只要估计出𝐸</a:t>
                </a:r>
                <a:r>
                  <a:rPr lang="en-US" altLang="zh-CN" sz="1200" dirty="0"/>
                  <a:t>[</a:t>
                </a:r>
                <a:r>
                  <a:rPr lang="zh-CN" altLang="en-US" sz="1200" dirty="0"/>
                  <a:t>𝑌 </a:t>
                </a:r>
                <a:r>
                  <a:rPr lang="en-US" altLang="zh-CN" sz="1200" dirty="0"/>
                  <a:t>(0)|</a:t>
                </a:r>
                <a:r>
                  <a:rPr lang="zh-CN" altLang="en-US" sz="1200" dirty="0"/>
                  <a:t>𝑋</a:t>
                </a:r>
                <a:r>
                  <a:rPr lang="en-US" altLang="zh-CN" sz="1200" dirty="0"/>
                  <a:t>, </a:t>
                </a:r>
                <a:r>
                  <a:rPr lang="zh-CN" altLang="en-US" sz="1200" dirty="0"/>
                  <a:t>𝐷 </a:t>
                </a:r>
                <a:r>
                  <a:rPr lang="en-US" altLang="zh-CN" sz="1200" dirty="0"/>
                  <a:t>= 1] </a:t>
                </a:r>
                <a:r>
                  <a:rPr lang="zh-CN" altLang="en-US" sz="1200" dirty="0"/>
                  <a:t>就可以，在非混杂性条件下，可以直接对</a:t>
                </a:r>
                <a14:m>
                  <m:oMath xmlns:m="http://schemas.openxmlformats.org/officeDocument/2006/math">
                    <m:sSub>
                      <m:sSubPr>
                        <m:ctrlPr>
                          <a:rPr lang="zh-CN" altLang="en-US" sz="1200" i="1" dirty="0" smtClean="0">
                            <a:latin typeface="Cambria Math" panose="02040503050406030204" pitchFamily="18" charset="0"/>
                          </a:rPr>
                        </m:ctrlPr>
                      </m:sSubPr>
                      <m:e>
                        <m:r>
                          <a:rPr lang="zh-CN" altLang="en-US" sz="1200" i="1" dirty="0" smtClean="0">
                            <a:latin typeface="Cambria Math" panose="02040503050406030204" pitchFamily="18" charset="0"/>
                          </a:rPr>
                          <m:t>𝜇</m:t>
                        </m:r>
                      </m:e>
                      <m:sub>
                        <m:r>
                          <a:rPr lang="en-US" altLang="zh-CN" sz="1200" i="1" dirty="0">
                            <a:latin typeface="Cambria Math" panose="02040503050406030204" pitchFamily="18" charset="0"/>
                          </a:rPr>
                          <m:t>0</m:t>
                        </m:r>
                      </m:sub>
                    </m:sSub>
                    <m:r>
                      <a:rPr lang="en-US" altLang="zh-CN" sz="1200" i="1" dirty="0">
                        <a:latin typeface="Cambria Math" panose="02040503050406030204" pitchFamily="18" charset="0"/>
                      </a:rPr>
                      <m:t>(</m:t>
                    </m:r>
                    <m:r>
                      <a:rPr lang="zh-CN" altLang="en-US" sz="1200" i="1" dirty="0">
                        <a:latin typeface="Cambria Math" panose="02040503050406030204" pitchFamily="18" charset="0"/>
                      </a:rPr>
                      <m:t>𝑋</m:t>
                    </m:r>
                    <m:r>
                      <a:rPr lang="en-US" altLang="zh-CN" sz="1200" i="1" dirty="0">
                        <a:latin typeface="Cambria Math" panose="02040503050406030204" pitchFamily="18" charset="0"/>
                      </a:rPr>
                      <m:t>) = </m:t>
                    </m:r>
                    <m:r>
                      <a:rPr lang="zh-CN" altLang="en-US" sz="1200" i="1" dirty="0">
                        <a:latin typeface="Cambria Math" panose="02040503050406030204" pitchFamily="18" charset="0"/>
                      </a:rPr>
                      <m:t>𝐸</m:t>
                    </m:r>
                    <m:r>
                      <a:rPr lang="en-US" altLang="zh-CN" sz="1200" i="1" dirty="0">
                        <a:latin typeface="Cambria Math" panose="02040503050406030204" pitchFamily="18" charset="0"/>
                      </a:rPr>
                      <m:t>[</m:t>
                    </m:r>
                    <m:r>
                      <a:rPr lang="zh-CN" altLang="en-US" sz="1200" i="1" dirty="0">
                        <a:latin typeface="Cambria Math" panose="02040503050406030204" pitchFamily="18" charset="0"/>
                      </a:rPr>
                      <m:t>𝑌</m:t>
                    </m:r>
                    <m:r>
                      <a:rPr lang="zh-CN" altLang="en-US" sz="1200" i="1" dirty="0">
                        <a:latin typeface="Cambria Math" panose="02040503050406030204" pitchFamily="18" charset="0"/>
                      </a:rPr>
                      <m:t> (0)|</m:t>
                    </m:r>
                    <m:r>
                      <a:rPr lang="zh-CN" altLang="en-US" sz="1200" i="1" dirty="0">
                        <a:latin typeface="Cambria Math" panose="02040503050406030204" pitchFamily="18" charset="0"/>
                      </a:rPr>
                      <m:t>𝑋</m:t>
                    </m:r>
                    <m:r>
                      <a:rPr lang="en-US" altLang="zh-CN" sz="1200" i="1" dirty="0">
                        <a:latin typeface="Cambria Math" panose="02040503050406030204" pitchFamily="18" charset="0"/>
                      </a:rPr>
                      <m:t>] = </m:t>
                    </m:r>
                    <m:r>
                      <a:rPr lang="zh-CN" altLang="en-US" sz="1200" i="1" dirty="0">
                        <a:latin typeface="Cambria Math" panose="02040503050406030204" pitchFamily="18" charset="0"/>
                      </a:rPr>
                      <m:t>𝐸</m:t>
                    </m:r>
                    <m:r>
                      <a:rPr lang="en-US" altLang="zh-CN" sz="1200" i="1" dirty="0">
                        <a:latin typeface="Cambria Math" panose="02040503050406030204" pitchFamily="18" charset="0"/>
                      </a:rPr>
                      <m:t>[</m:t>
                    </m:r>
                    <m:r>
                      <a:rPr lang="zh-CN" altLang="en-US" sz="1200" i="1" dirty="0">
                        <a:latin typeface="Cambria Math" panose="02040503050406030204" pitchFamily="18" charset="0"/>
                      </a:rPr>
                      <m:t>𝑌</m:t>
                    </m:r>
                    <m:r>
                      <a:rPr lang="zh-CN" altLang="en-US" sz="1200" i="1" dirty="0">
                        <a:latin typeface="Cambria Math" panose="02040503050406030204" pitchFamily="18" charset="0"/>
                      </a:rPr>
                      <m:t> (0)|</m:t>
                    </m:r>
                    <m:r>
                      <a:rPr lang="zh-CN" altLang="en-US" sz="1200" i="1" dirty="0">
                        <a:latin typeface="Cambria Math" panose="02040503050406030204" pitchFamily="18" charset="0"/>
                      </a:rPr>
                      <m:t>𝑋</m:t>
                    </m:r>
                    <m:r>
                      <a:rPr lang="en-US" altLang="zh-CN" sz="1200" i="1" dirty="0">
                        <a:latin typeface="Cambria Math" panose="02040503050406030204" pitchFamily="18" charset="0"/>
                      </a:rPr>
                      <m:t>, </m:t>
                    </m:r>
                    <m:r>
                      <a:rPr lang="zh-CN" altLang="en-US" sz="1200" i="1" dirty="0">
                        <a:latin typeface="Cambria Math" panose="02040503050406030204" pitchFamily="18" charset="0"/>
                      </a:rPr>
                      <m:t>𝐷</m:t>
                    </m:r>
                    <m:r>
                      <a:rPr lang="zh-CN" altLang="en-US" sz="1200" i="1" dirty="0">
                        <a:latin typeface="Cambria Math" panose="02040503050406030204" pitchFamily="18" charset="0"/>
                      </a:rPr>
                      <m:t> = 0] </m:t>
                    </m:r>
                  </m:oMath>
                </a14:m>
                <a:r>
                  <a:rPr lang="zh-CN" altLang="en-US" sz="1200" dirty="0"/>
                  <a:t>建模。</a:t>
                </a:r>
                <a:endParaRPr lang="en-US" altLang="zh-CN" sz="1200" dirty="0"/>
              </a:p>
              <a:p>
                <a:r>
                  <a:rPr lang="zh-CN" altLang="en-US" sz="1200" dirty="0"/>
                  <a:t>比如用线性模型</a:t>
                </a:r>
                <a:endParaRPr lang="en-US" altLang="zh-CN" sz="1200" dirty="0"/>
              </a:p>
              <a:p>
                <a:pPr marL="0" indent="0" algn="ctr">
                  <a:buNone/>
                </a:pPr>
                <a14:m>
                  <m:oMath xmlns:m="http://schemas.openxmlformats.org/officeDocument/2006/math">
                    <m:sSub>
                      <m:sSubPr>
                        <m:ctrlPr>
                          <a:rPr lang="zh-CN" altLang="en-US" sz="1200" i="1" dirty="0" smtClean="0">
                            <a:latin typeface="Cambria Math" panose="02040503050406030204" pitchFamily="18" charset="0"/>
                          </a:rPr>
                        </m:ctrlPr>
                      </m:sSubPr>
                      <m:e>
                        <m:r>
                          <a:rPr lang="zh-CN" altLang="en-US" sz="1200" i="1" dirty="0" smtClean="0">
                            <a:latin typeface="Cambria Math" panose="02040503050406030204" pitchFamily="18" charset="0"/>
                          </a:rPr>
                          <m:t>𝜇</m:t>
                        </m:r>
                      </m:e>
                      <m:sub>
                        <m:r>
                          <a:rPr lang="en-US" altLang="zh-CN" sz="1200" i="1" dirty="0">
                            <a:latin typeface="Cambria Math" panose="02040503050406030204" pitchFamily="18" charset="0"/>
                          </a:rPr>
                          <m:t>0</m:t>
                        </m:r>
                      </m:sub>
                    </m:sSub>
                    <m:r>
                      <a:rPr lang="en-US" altLang="zh-CN" sz="1200" i="1" dirty="0">
                        <a:latin typeface="Cambria Math" panose="02040503050406030204" pitchFamily="18" charset="0"/>
                      </a:rPr>
                      <m:t>(</m:t>
                    </m:r>
                    <m:r>
                      <a:rPr lang="zh-CN" altLang="en-US" sz="1200" i="1" dirty="0">
                        <a:latin typeface="Cambria Math" panose="02040503050406030204" pitchFamily="18" charset="0"/>
                      </a:rPr>
                      <m:t>𝑋</m:t>
                    </m:r>
                    <m:r>
                      <a:rPr lang="en-US" altLang="zh-CN" sz="1200" i="1" dirty="0">
                        <a:latin typeface="Cambria Math" panose="02040503050406030204" pitchFamily="18" charset="0"/>
                      </a:rPr>
                      <m:t>) = </m:t>
                    </m:r>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𝛼</m:t>
                        </m:r>
                      </m:e>
                      <m:sub>
                        <m:r>
                          <a:rPr lang="en-US" altLang="zh-CN" sz="1200" i="1" dirty="0">
                            <a:latin typeface="Cambria Math" panose="02040503050406030204" pitchFamily="18" charset="0"/>
                          </a:rPr>
                          <m:t>0</m:t>
                        </m:r>
                      </m:sub>
                    </m:sSub>
                    <m:r>
                      <a:rPr lang="en-US" altLang="zh-CN" sz="1200" i="1" dirty="0">
                        <a:latin typeface="Cambria Math" panose="02040503050406030204" pitchFamily="18" charset="0"/>
                      </a:rPr>
                      <m:t> + </m:t>
                    </m:r>
                    <m:sSup>
                      <m:sSupPr>
                        <m:ctrlPr>
                          <a:rPr lang="zh-CN" altLang="en-US" sz="1200" i="1" dirty="0">
                            <a:latin typeface="Cambria Math" panose="02040503050406030204" pitchFamily="18" charset="0"/>
                          </a:rPr>
                        </m:ctrlPr>
                      </m:sSupPr>
                      <m:e>
                        <m:r>
                          <a:rPr lang="zh-CN" altLang="en-US" sz="1200" i="1" dirty="0">
                            <a:latin typeface="Cambria Math" panose="02040503050406030204" pitchFamily="18" charset="0"/>
                          </a:rPr>
                          <m:t>𝑋</m:t>
                        </m:r>
                      </m:e>
                      <m:sup>
                        <m:r>
                          <a:rPr lang="en-US" altLang="zh-CN" sz="1200" i="1" dirty="0">
                            <a:latin typeface="Cambria Math" panose="02040503050406030204" pitchFamily="18" charset="0"/>
                          </a:rPr>
                          <m:t>′</m:t>
                        </m:r>
                      </m:sup>
                    </m:sSup>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𝛽</m:t>
                        </m:r>
                      </m:e>
                      <m:sub>
                        <m:r>
                          <a:rPr lang="en-US" altLang="zh-CN" sz="1200" i="1" dirty="0">
                            <a:latin typeface="Cambria Math" panose="02040503050406030204" pitchFamily="18" charset="0"/>
                          </a:rPr>
                          <m:t>0</m:t>
                        </m:r>
                      </m:sub>
                    </m:sSub>
                  </m:oMath>
                </a14:m>
                <a:r>
                  <a:rPr lang="en-US" altLang="zh-CN" sz="1200" dirty="0"/>
                  <a:t>, </a:t>
                </a:r>
              </a:p>
              <a:p>
                <a:r>
                  <a:rPr lang="zh-CN" altLang="en-US" sz="1200" dirty="0"/>
                  <a:t>则</a:t>
                </a:r>
                <a:endParaRPr lang="en-US" altLang="zh-CN" sz="1200" dirty="0"/>
              </a:p>
              <a:p>
                <a:pPr marL="0" indent="0">
                  <a:buNone/>
                </a:pPr>
                <a14:m>
                  <m:oMathPara xmlns:m="http://schemas.openxmlformats.org/officeDocument/2006/math">
                    <m:oMath>
                      <m:sSub>
                        <m:sSubPr>
                          <m:ctrlPr>
                            <a:rPr lang="zh-CN" altLang="en-US" sz="1200" i="1" dirty="0" smtClean="0">
                              <a:latin typeface="Cambria Math" panose="02040503050406030204" pitchFamily="18" charset="0"/>
                            </a:rPr>
                          </m:ctrlPr>
                        </m:sSubPr>
                        <m:e>
                          <m:r>
                            <a:rPr lang="zh-CN" altLang="en-US" sz="1200" i="1" dirty="0" smtClean="0">
                              <a:latin typeface="Cambria Math" panose="02040503050406030204" pitchFamily="18" charset="0"/>
                            </a:rPr>
                            <m:t>𝜏</m:t>
                          </m:r>
                        </m:e>
                        <m:sub>
                          <m:r>
                            <a:rPr lang="zh-CN" altLang="en-US" sz="1200" i="1" dirty="0" smtClean="0">
                              <a:latin typeface="Cambria Math" panose="02040503050406030204" pitchFamily="18" charset="0"/>
                            </a:rPr>
                            <m:t>𝐴𝑇𝑇</m:t>
                          </m:r>
                        </m:sub>
                      </m:sSub>
                      <m:r>
                        <a:rPr lang="zh-CN" altLang="en-US" sz="1200" i="1" dirty="0" smtClean="0">
                          <a:latin typeface="Cambria Math" panose="02040503050406030204" pitchFamily="18" charset="0"/>
                        </a:rPr>
                        <m:t> </m:t>
                      </m:r>
                      <m:r>
                        <a:rPr lang="en-US" altLang="zh-CN" sz="1200" i="1" dirty="0">
                          <a:latin typeface="Cambria Math" panose="02040503050406030204" pitchFamily="18" charset="0"/>
                        </a:rPr>
                        <m:t>= </m:t>
                      </m:r>
                      <m:r>
                        <a:rPr lang="zh-CN" altLang="en-US" sz="1200" i="1" dirty="0">
                          <a:latin typeface="Cambria Math" panose="02040503050406030204" pitchFamily="18" charset="0"/>
                        </a:rPr>
                        <m:t>𝐸</m:t>
                      </m:r>
                      <m:r>
                        <a:rPr lang="en-US" altLang="zh-CN" sz="1200" i="1" dirty="0">
                          <a:latin typeface="Cambria Math" panose="02040503050406030204" pitchFamily="18" charset="0"/>
                        </a:rPr>
                        <m:t>[</m:t>
                      </m:r>
                      <m:r>
                        <a:rPr lang="zh-CN" altLang="en-US" sz="1200" i="1" dirty="0">
                          <a:latin typeface="Cambria Math" panose="02040503050406030204" pitchFamily="18" charset="0"/>
                        </a:rPr>
                        <m:t>𝑌</m:t>
                      </m:r>
                      <m:r>
                        <a:rPr lang="en-US" altLang="zh-CN" sz="1200" i="1" dirty="0">
                          <a:latin typeface="Cambria Math" panose="02040503050406030204" pitchFamily="18" charset="0"/>
                        </a:rPr>
                        <m:t>(1)|</m:t>
                      </m:r>
                      <m:r>
                        <a:rPr lang="zh-CN" altLang="en-US" sz="1200" i="1" dirty="0">
                          <a:latin typeface="Cambria Math" panose="02040503050406030204" pitchFamily="18" charset="0"/>
                        </a:rPr>
                        <m:t>𝐷</m:t>
                      </m:r>
                      <m:r>
                        <a:rPr lang="en-US" altLang="zh-CN" sz="1200" i="1" dirty="0">
                          <a:latin typeface="Cambria Math" panose="02040503050406030204" pitchFamily="18" charset="0"/>
                        </a:rPr>
                        <m:t>= 1] − </m:t>
                      </m:r>
                      <m:r>
                        <a:rPr lang="zh-CN" altLang="en-US" sz="1200" i="1" dirty="0">
                          <a:latin typeface="Cambria Math" panose="02040503050406030204" pitchFamily="18" charset="0"/>
                        </a:rPr>
                        <m:t>𝐸</m:t>
                      </m:r>
                      <m:r>
                        <a:rPr lang="en-US" altLang="zh-CN" sz="1200" i="1" dirty="0">
                          <a:latin typeface="Cambria Math" panose="02040503050406030204" pitchFamily="18" charset="0"/>
                        </a:rPr>
                        <m:t>[</m:t>
                      </m:r>
                      <m:r>
                        <a:rPr lang="zh-CN" altLang="en-US" sz="1200" i="1" dirty="0">
                          <a:latin typeface="Cambria Math" panose="02040503050406030204" pitchFamily="18" charset="0"/>
                        </a:rPr>
                        <m:t>𝐸</m:t>
                      </m:r>
                      <m:r>
                        <a:rPr lang="en-US" altLang="zh-CN" sz="1200" i="1" dirty="0">
                          <a:latin typeface="Cambria Math" panose="02040503050406030204" pitchFamily="18" charset="0"/>
                        </a:rPr>
                        <m:t>[</m:t>
                      </m:r>
                      <m:r>
                        <a:rPr lang="zh-CN" altLang="en-US" sz="1200" i="1" dirty="0">
                          <a:latin typeface="Cambria Math" panose="02040503050406030204" pitchFamily="18" charset="0"/>
                        </a:rPr>
                        <m:t>𝑌</m:t>
                      </m:r>
                      <m:r>
                        <a:rPr lang="zh-CN" altLang="en-US" sz="1200" i="1" dirty="0">
                          <a:latin typeface="Cambria Math" panose="02040503050406030204" pitchFamily="18" charset="0"/>
                        </a:rPr>
                        <m:t> (0)|</m:t>
                      </m:r>
                      <m:r>
                        <a:rPr lang="zh-CN" altLang="en-US" sz="1200" i="1" dirty="0">
                          <a:latin typeface="Cambria Math" panose="02040503050406030204" pitchFamily="18" charset="0"/>
                        </a:rPr>
                        <m:t>𝑋</m:t>
                      </m:r>
                      <m:r>
                        <a:rPr lang="en-US" altLang="zh-CN" sz="1200" i="1" dirty="0">
                          <a:latin typeface="Cambria Math" panose="02040503050406030204" pitchFamily="18" charset="0"/>
                        </a:rPr>
                        <m:t>, </m:t>
                      </m:r>
                      <m:r>
                        <a:rPr lang="zh-CN" altLang="en-US" sz="1200" i="1" dirty="0">
                          <a:latin typeface="Cambria Math" panose="02040503050406030204" pitchFamily="18" charset="0"/>
                        </a:rPr>
                        <m:t>𝐷</m:t>
                      </m:r>
                      <m:r>
                        <a:rPr lang="zh-CN" altLang="en-US" sz="1200" i="1" dirty="0">
                          <a:latin typeface="Cambria Math" panose="02040503050406030204" pitchFamily="18" charset="0"/>
                        </a:rPr>
                        <m:t> = 0]|</m:t>
                      </m:r>
                      <m:r>
                        <a:rPr lang="zh-CN" altLang="en-US" sz="1200" i="1" dirty="0">
                          <a:latin typeface="Cambria Math" panose="02040503050406030204" pitchFamily="18" charset="0"/>
                        </a:rPr>
                        <m:t>𝐷</m:t>
                      </m:r>
                      <m:r>
                        <a:rPr lang="zh-CN" altLang="en-US" sz="1200" i="1" dirty="0">
                          <a:latin typeface="Cambria Math" panose="02040503050406030204" pitchFamily="18" charset="0"/>
                        </a:rPr>
                        <m:t> = 1]</m:t>
                      </m:r>
                    </m:oMath>
                  </m:oMathPara>
                </a14:m>
                <a:endParaRPr lang="en-US" altLang="zh-CN" sz="1200" dirty="0"/>
              </a:p>
              <a:p>
                <a:pPr marL="0" indent="0">
                  <a:buNone/>
                </a:pPr>
                <a14:m>
                  <m:oMathPara xmlns:m="http://schemas.openxmlformats.org/officeDocument/2006/math">
                    <m:oMath>
                      <m:r>
                        <a:rPr lang="en-US" altLang="zh-CN" sz="1200" i="1" dirty="0" smtClean="0">
                          <a:latin typeface="Cambria Math" panose="02040503050406030204" pitchFamily="18" charset="0"/>
                        </a:rPr>
                        <m:t>= </m:t>
                      </m:r>
                      <m:r>
                        <a:rPr lang="zh-CN" altLang="en-US" sz="1200" i="1" dirty="0">
                          <a:latin typeface="Cambria Math" panose="02040503050406030204" pitchFamily="18" charset="0"/>
                        </a:rPr>
                        <m:t>𝐸</m:t>
                      </m:r>
                      <m:r>
                        <a:rPr lang="en-US" altLang="zh-CN" sz="1200" i="1" dirty="0">
                          <a:latin typeface="Cambria Math" panose="02040503050406030204" pitchFamily="18" charset="0"/>
                        </a:rPr>
                        <m:t>[</m:t>
                      </m:r>
                      <m:r>
                        <a:rPr lang="zh-CN" altLang="en-US" sz="1200" i="1" dirty="0">
                          <a:latin typeface="Cambria Math" panose="02040503050406030204" pitchFamily="18" charset="0"/>
                        </a:rPr>
                        <m:t>𝑌</m:t>
                      </m:r>
                      <m:r>
                        <a:rPr lang="zh-CN" altLang="en-US" sz="1200" i="1" dirty="0">
                          <a:latin typeface="Cambria Math" panose="02040503050406030204" pitchFamily="18" charset="0"/>
                        </a:rPr>
                        <m:t> |</m:t>
                      </m:r>
                      <m:r>
                        <a:rPr lang="zh-CN" altLang="en-US" sz="1200" i="1" dirty="0">
                          <a:latin typeface="Cambria Math" panose="02040503050406030204" pitchFamily="18" charset="0"/>
                        </a:rPr>
                        <m:t>𝐷</m:t>
                      </m:r>
                      <m:r>
                        <a:rPr lang="zh-CN" altLang="en-US" sz="1200" i="1" dirty="0">
                          <a:latin typeface="Cambria Math" panose="02040503050406030204" pitchFamily="18" charset="0"/>
                        </a:rPr>
                        <m:t> = 1] − </m:t>
                      </m:r>
                      <m:r>
                        <a:rPr lang="zh-CN" altLang="en-US" sz="1200" i="1" dirty="0">
                          <a:latin typeface="Cambria Math" panose="02040503050406030204" pitchFamily="18" charset="0"/>
                        </a:rPr>
                        <m:t>𝐸</m:t>
                      </m:r>
                      <m:r>
                        <a:rPr lang="en-US" altLang="zh-CN" sz="1200" i="1" dirty="0">
                          <a:latin typeface="Cambria Math" panose="02040503050406030204" pitchFamily="18" charset="0"/>
                        </a:rPr>
                        <m:t>[</m:t>
                      </m:r>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𝛼</m:t>
                          </m:r>
                        </m:e>
                        <m:sub>
                          <m:r>
                            <a:rPr lang="en-US" altLang="zh-CN" sz="1200" i="1" dirty="0">
                              <a:latin typeface="Cambria Math" panose="02040503050406030204" pitchFamily="18" charset="0"/>
                            </a:rPr>
                            <m:t>0</m:t>
                          </m:r>
                        </m:sub>
                      </m:sSub>
                      <m:r>
                        <a:rPr lang="en-US" altLang="zh-CN" sz="1200" b="0" i="1" dirty="0" smtClean="0">
                          <a:latin typeface="Cambria Math" panose="02040503050406030204" pitchFamily="18" charset="0"/>
                        </a:rPr>
                        <m:t>  </m:t>
                      </m:r>
                      <m:r>
                        <a:rPr lang="en-US" altLang="zh-CN" sz="1200" i="1" dirty="0">
                          <a:latin typeface="Cambria Math" panose="02040503050406030204" pitchFamily="18" charset="0"/>
                        </a:rPr>
                        <m:t> + </m:t>
                      </m:r>
                      <m:r>
                        <a:rPr lang="zh-CN" altLang="en-US" sz="1200" i="1" dirty="0">
                          <a:latin typeface="Cambria Math" panose="02040503050406030204" pitchFamily="18" charset="0"/>
                        </a:rPr>
                        <m:t>𝑋</m:t>
                      </m:r>
                      <m:r>
                        <a:rPr lang="en-US" altLang="zh-CN" sz="1200" i="1" dirty="0">
                          <a:latin typeface="Cambria Math" panose="02040503050406030204" pitchFamily="18" charset="0"/>
                        </a:rPr>
                        <m:t>′</m:t>
                      </m:r>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𝛽</m:t>
                          </m:r>
                        </m:e>
                        <m:sub>
                          <m:r>
                            <a:rPr lang="en-US" altLang="zh-CN" sz="1200" i="1" dirty="0">
                              <a:latin typeface="Cambria Math" panose="02040503050406030204" pitchFamily="18" charset="0"/>
                            </a:rPr>
                            <m:t>0</m:t>
                          </m:r>
                        </m:sub>
                      </m:sSub>
                      <m:r>
                        <a:rPr lang="en-US" altLang="zh-CN" sz="1200" b="0" i="1" dirty="0" smtClean="0">
                          <a:latin typeface="Cambria Math" panose="02040503050406030204" pitchFamily="18" charset="0"/>
                        </a:rPr>
                        <m:t> </m:t>
                      </m:r>
                      <m:r>
                        <a:rPr lang="en-US" altLang="zh-CN" sz="1200" i="1" dirty="0">
                          <a:latin typeface="Cambria Math" panose="02040503050406030204" pitchFamily="18" charset="0"/>
                        </a:rPr>
                        <m:t>|</m:t>
                      </m:r>
                      <m:r>
                        <a:rPr lang="zh-CN" altLang="en-US" sz="1200" i="1" dirty="0">
                          <a:latin typeface="Cambria Math" panose="02040503050406030204" pitchFamily="18" charset="0"/>
                        </a:rPr>
                        <m:t>𝐷</m:t>
                      </m:r>
                      <m:r>
                        <a:rPr lang="zh-CN" altLang="en-US" sz="1200" i="1" dirty="0">
                          <a:latin typeface="Cambria Math" panose="02040503050406030204" pitchFamily="18" charset="0"/>
                        </a:rPr>
                        <m:t> = 1]</m:t>
                      </m:r>
                    </m:oMath>
                  </m:oMathPara>
                </a14:m>
                <a:endParaRPr lang="en-US" altLang="zh-CN" sz="1200" dirty="0"/>
              </a:p>
              <a:p>
                <a:pPr marL="0" indent="0">
                  <a:buNone/>
                </a:pPr>
                <a14:m>
                  <m:oMathPara xmlns:m="http://schemas.openxmlformats.org/officeDocument/2006/math">
                    <m:oMath>
                      <m:r>
                        <a:rPr lang="en-US" altLang="zh-CN" sz="1200" i="1" dirty="0" smtClean="0">
                          <a:latin typeface="Cambria Math" panose="02040503050406030204" pitchFamily="18" charset="0"/>
                        </a:rPr>
                        <m:t>= </m:t>
                      </m:r>
                      <m:r>
                        <a:rPr lang="zh-CN" altLang="en-US" sz="1200" i="1" dirty="0">
                          <a:latin typeface="Cambria Math" panose="02040503050406030204" pitchFamily="18" charset="0"/>
                        </a:rPr>
                        <m:t>𝐸</m:t>
                      </m:r>
                      <m:r>
                        <a:rPr lang="en-US" altLang="zh-CN" sz="1200" i="1" dirty="0">
                          <a:latin typeface="Cambria Math" panose="02040503050406030204" pitchFamily="18" charset="0"/>
                        </a:rPr>
                        <m:t>[</m:t>
                      </m:r>
                      <m:r>
                        <a:rPr lang="zh-CN" altLang="en-US" sz="1200" i="1" dirty="0">
                          <a:latin typeface="Cambria Math" panose="02040503050406030204" pitchFamily="18" charset="0"/>
                        </a:rPr>
                        <m:t>𝑌</m:t>
                      </m:r>
                      <m:r>
                        <a:rPr lang="zh-CN" altLang="en-US" sz="1200" i="1" dirty="0">
                          <a:latin typeface="Cambria Math" panose="02040503050406030204" pitchFamily="18" charset="0"/>
                        </a:rPr>
                        <m:t> |</m:t>
                      </m:r>
                      <m:r>
                        <a:rPr lang="zh-CN" altLang="en-US" sz="1200" i="1" dirty="0">
                          <a:latin typeface="Cambria Math" panose="02040503050406030204" pitchFamily="18" charset="0"/>
                        </a:rPr>
                        <m:t>𝐷</m:t>
                      </m:r>
                      <m:r>
                        <a:rPr lang="zh-CN" altLang="en-US" sz="1200" i="1" dirty="0">
                          <a:latin typeface="Cambria Math" panose="02040503050406030204" pitchFamily="18" charset="0"/>
                        </a:rPr>
                        <m:t> = 1] − </m:t>
                      </m:r>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𝛼</m:t>
                          </m:r>
                        </m:e>
                        <m:sub>
                          <m:r>
                            <a:rPr lang="en-US" altLang="zh-CN" sz="1200" i="1" dirty="0">
                              <a:latin typeface="Cambria Math" panose="02040503050406030204" pitchFamily="18" charset="0"/>
                            </a:rPr>
                            <m:t>0</m:t>
                          </m:r>
                        </m:sub>
                      </m:sSub>
                      <m:r>
                        <a:rPr lang="en-US" altLang="zh-CN" sz="1200" i="1" dirty="0">
                          <a:latin typeface="Cambria Math" panose="02040503050406030204" pitchFamily="18" charset="0"/>
                        </a:rPr>
                        <m:t> </m:t>
                      </m:r>
                      <m:r>
                        <a:rPr lang="zh-CN" altLang="en-US" sz="1200" i="1" dirty="0">
                          <a:latin typeface="Cambria Math" panose="02040503050406030204" pitchFamily="18" charset="0"/>
                        </a:rPr>
                        <m:t>− </m:t>
                      </m:r>
                      <m:r>
                        <a:rPr lang="zh-CN" altLang="en-US" sz="1200" i="1" dirty="0">
                          <a:latin typeface="Cambria Math" panose="02040503050406030204" pitchFamily="18" charset="0"/>
                        </a:rPr>
                        <m:t>𝐸</m:t>
                      </m:r>
                      <m:r>
                        <a:rPr lang="en-US" altLang="zh-CN" sz="1200" i="1" dirty="0">
                          <a:latin typeface="Cambria Math" panose="02040503050406030204" pitchFamily="18" charset="0"/>
                        </a:rPr>
                        <m:t>[</m:t>
                      </m:r>
                      <m:r>
                        <a:rPr lang="zh-CN" altLang="en-US" sz="1200" i="1" dirty="0">
                          <a:latin typeface="Cambria Math" panose="02040503050406030204" pitchFamily="18" charset="0"/>
                        </a:rPr>
                        <m:t>𝑋</m:t>
                      </m:r>
                      <m:r>
                        <a:rPr lang="en-US" altLang="zh-CN" sz="1200" i="1" dirty="0">
                          <a:latin typeface="Cambria Math" panose="02040503050406030204" pitchFamily="18" charset="0"/>
                        </a:rPr>
                        <m:t>|</m:t>
                      </m:r>
                      <m:r>
                        <a:rPr lang="zh-CN" altLang="en-US" sz="1200" i="1" dirty="0">
                          <a:latin typeface="Cambria Math" panose="02040503050406030204" pitchFamily="18" charset="0"/>
                        </a:rPr>
                        <m:t>𝐷</m:t>
                      </m:r>
                      <m:r>
                        <a:rPr lang="zh-CN" altLang="en-US" sz="1200" i="1" dirty="0">
                          <a:latin typeface="Cambria Math" panose="02040503050406030204" pitchFamily="18" charset="0"/>
                        </a:rPr>
                        <m:t> = 1]′</m:t>
                      </m:r>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𝛽</m:t>
                          </m:r>
                        </m:e>
                        <m:sub>
                          <m:r>
                            <a:rPr lang="en-US" altLang="zh-CN" sz="1200" i="1" dirty="0">
                              <a:latin typeface="Cambria Math" panose="02040503050406030204" pitchFamily="18" charset="0"/>
                            </a:rPr>
                            <m:t>0</m:t>
                          </m:r>
                        </m:sub>
                      </m:sSub>
                      <m:r>
                        <a:rPr lang="en-US" altLang="zh-CN" sz="1200" i="1" dirty="0">
                          <a:latin typeface="Cambria Math" panose="02040503050406030204" pitchFamily="18" charset="0"/>
                        </a:rPr>
                        <m:t>.</m:t>
                      </m:r>
                    </m:oMath>
                  </m:oMathPara>
                </a14:m>
                <a:endParaRPr lang="en-US" altLang="zh-CN" sz="1200" dirty="0"/>
              </a:p>
              <a:p>
                <a:r>
                  <a:rPr lang="zh-CN" altLang="en-US" sz="1200" dirty="0"/>
                  <a:t>相应样本形式为</a:t>
                </a:r>
                <a:endParaRPr lang="en-US" altLang="zh-CN" sz="1200" dirty="0"/>
              </a:p>
              <a:p>
                <a:pPr marL="0" indent="0">
                  <a:buNone/>
                </a:pPr>
                <a14:m>
                  <m:oMathPara xmlns:m="http://schemas.openxmlformats.org/officeDocument/2006/math">
                    <m:oMath>
                      <m:sSub>
                        <m:sSubPr>
                          <m:ctrlPr>
                            <a:rPr lang="zh-CN" altLang="en-US" sz="1200" i="1" dirty="0" smtClean="0">
                              <a:latin typeface="Cambria Math" panose="02040503050406030204" pitchFamily="18" charset="0"/>
                            </a:rPr>
                          </m:ctrlPr>
                        </m:sSubPr>
                        <m:e>
                          <m:acc>
                            <m:accPr>
                              <m:chr m:val="̂"/>
                              <m:ctrlPr>
                                <a:rPr lang="zh-CN" altLang="en-US" sz="1200" i="1" dirty="0" smtClean="0">
                                  <a:latin typeface="Cambria Math" panose="02040503050406030204" pitchFamily="18" charset="0"/>
                                </a:rPr>
                              </m:ctrlPr>
                            </m:accPr>
                            <m:e>
                              <m:r>
                                <a:rPr lang="zh-CN" altLang="en-US" sz="1200" i="1" dirty="0" smtClean="0">
                                  <a:latin typeface="Cambria Math" panose="02040503050406030204" pitchFamily="18" charset="0"/>
                                </a:rPr>
                                <m:t>𝜏</m:t>
                              </m:r>
                            </m:e>
                          </m:acc>
                        </m:e>
                        <m:sub>
                          <m:r>
                            <a:rPr lang="zh-CN" altLang="en-US" sz="1200" i="1" dirty="0" smtClean="0">
                              <a:latin typeface="Cambria Math" panose="02040503050406030204" pitchFamily="18" charset="0"/>
                            </a:rPr>
                            <m:t>𝐴𝑇𝑇</m:t>
                          </m:r>
                        </m:sub>
                      </m:sSub>
                      <m:r>
                        <a:rPr lang="zh-CN" altLang="en-US" sz="1200" i="1" dirty="0" smtClean="0">
                          <a:latin typeface="Cambria Math" panose="02040503050406030204" pitchFamily="18" charset="0"/>
                        </a:rPr>
                        <m:t> </m:t>
                      </m:r>
                      <m:r>
                        <a:rPr lang="en-US" altLang="zh-CN" sz="1200" i="1" dirty="0">
                          <a:latin typeface="Cambria Math" panose="02040503050406030204" pitchFamily="18" charset="0"/>
                        </a:rPr>
                        <m:t>= </m:t>
                      </m:r>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𝑌</m:t>
                              </m:r>
                            </m:e>
                          </m:acc>
                        </m:e>
                        <m:sub>
                          <m:r>
                            <a:rPr lang="zh-CN" altLang="en-US" sz="1200" i="1" dirty="0">
                              <a:latin typeface="Cambria Math" panose="02040503050406030204" pitchFamily="18" charset="0"/>
                            </a:rPr>
                            <m:t>𝑡</m:t>
                          </m:r>
                        </m:sub>
                      </m:sSub>
                      <m:r>
                        <a:rPr lang="zh-CN" altLang="en-US" sz="1200" i="1" dirty="0">
                          <a:latin typeface="Cambria Math" panose="02040503050406030204" pitchFamily="18" charset="0"/>
                        </a:rPr>
                        <m:t> − </m:t>
                      </m:r>
                      <m:acc>
                        <m:accPr>
                          <m:chr m:val="̂"/>
                          <m:ctrlPr>
                            <a:rPr lang="zh-CN" altLang="en-US" sz="1200" i="1" dirty="0">
                              <a:latin typeface="Cambria Math" panose="02040503050406030204" pitchFamily="18" charset="0"/>
                            </a:rPr>
                          </m:ctrlPr>
                        </m:accPr>
                        <m:e>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𝛼</m:t>
                              </m:r>
                            </m:e>
                            <m:sub>
                              <m:r>
                                <a:rPr lang="en-US" altLang="zh-CN" sz="1200" i="1" dirty="0">
                                  <a:latin typeface="Cambria Math" panose="02040503050406030204" pitchFamily="18" charset="0"/>
                                </a:rPr>
                                <m:t>0</m:t>
                              </m:r>
                            </m:sub>
                          </m:sSub>
                        </m:e>
                      </m:acc>
                      <m:r>
                        <a:rPr lang="zh-CN" altLang="en-US" sz="1200" i="1" dirty="0">
                          <a:latin typeface="Cambria Math" panose="02040503050406030204" pitchFamily="18" charset="0"/>
                        </a:rPr>
                        <m:t> − </m:t>
                      </m:r>
                      <m:sSubSup>
                        <m:sSubSupPr>
                          <m:ctrlPr>
                            <a:rPr lang="zh-CN" altLang="en-US" sz="1200" i="1" dirty="0">
                              <a:latin typeface="Cambria Math" panose="02040503050406030204" pitchFamily="18" charset="0"/>
                            </a:rPr>
                          </m:ctrlPr>
                        </m:sSubSup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𝑋</m:t>
                              </m:r>
                            </m:e>
                          </m:acc>
                        </m:e>
                        <m:sub>
                          <m:r>
                            <a:rPr lang="zh-CN" altLang="en-US" sz="1200" i="1" dirty="0" smtClean="0">
                              <a:latin typeface="Cambria Math" panose="02040503050406030204" pitchFamily="18" charset="0"/>
                            </a:rPr>
                            <m:t>𝑡</m:t>
                          </m:r>
                        </m:sub>
                        <m:sup>
                          <m:r>
                            <a:rPr lang="en-US" altLang="zh-CN" sz="1200" i="1" dirty="0" smtClean="0">
                              <a:latin typeface="Cambria Math" panose="02040503050406030204" pitchFamily="18" charset="0"/>
                            </a:rPr>
                            <m:t>′</m:t>
                          </m:r>
                        </m:sup>
                      </m:sSubSup>
                      <m:r>
                        <a:rPr lang="zh-CN" altLang="en-US" sz="1200" i="1" dirty="0" smtClean="0">
                          <a:latin typeface="Cambria Math" panose="02040503050406030204" pitchFamily="18" charset="0"/>
                        </a:rPr>
                        <m:t> </m:t>
                      </m:r>
                      <m:acc>
                        <m:accPr>
                          <m:chr m:val="̂"/>
                          <m:ctrlPr>
                            <a:rPr lang="zh-CN" altLang="en-US" sz="1200" i="1" dirty="0">
                              <a:latin typeface="Cambria Math" panose="02040503050406030204" pitchFamily="18" charset="0"/>
                            </a:rPr>
                          </m:ctrlPr>
                        </m:accPr>
                        <m:e>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𝛽</m:t>
                              </m:r>
                            </m:e>
                            <m:sub>
                              <m:r>
                                <a:rPr lang="en-US" altLang="zh-CN" sz="1200" i="1" dirty="0">
                                  <a:latin typeface="Cambria Math" panose="02040503050406030204" pitchFamily="18" charset="0"/>
                                </a:rPr>
                                <m:t>0</m:t>
                              </m:r>
                            </m:sub>
                          </m:sSub>
                        </m:e>
                      </m:acc>
                      <m:r>
                        <a:rPr lang="zh-CN" altLang="en-US" sz="1200" i="1" dirty="0">
                          <a:latin typeface="Cambria Math" panose="02040503050406030204" pitchFamily="18" charset="0"/>
                        </a:rPr>
                        <m:t> </m:t>
                      </m:r>
                      <m:r>
                        <a:rPr lang="en-US" altLang="zh-CN" sz="1200" i="1" dirty="0">
                          <a:latin typeface="Cambria Math" panose="02040503050406030204" pitchFamily="18" charset="0"/>
                        </a:rPr>
                        <m:t>.</m:t>
                      </m:r>
                    </m:oMath>
                  </m:oMathPara>
                </a14:m>
                <a:endParaRPr lang="en-US" altLang="zh-CN" sz="1200" dirty="0"/>
              </a:p>
              <a:p>
                <a:r>
                  <a:rPr lang="zh-CN" altLang="en-US" sz="1200" dirty="0"/>
                  <a:t>根据回归模型的性质，有</a:t>
                </a:r>
                <a:endParaRPr lang="en-US" altLang="zh-CN" sz="1200" dirty="0"/>
              </a:p>
              <a:p>
                <a:pPr marL="0" indent="0" algn="ctr">
                  <a:buNone/>
                </a:pPr>
                <a14:m>
                  <m:oMath xmlns:m="http://schemas.openxmlformats.org/officeDocument/2006/math">
                    <m:sSub>
                      <m:sSubPr>
                        <m:ctrlPr>
                          <a:rPr lang="zh-CN" altLang="en-US" sz="1200" i="1" dirty="0" smtClean="0">
                            <a:latin typeface="Cambria Math" panose="02040503050406030204" pitchFamily="18" charset="0"/>
                          </a:rPr>
                        </m:ctrlPr>
                      </m:sSubPr>
                      <m:e>
                        <m:acc>
                          <m:accPr>
                            <m:chr m:val="̅"/>
                            <m:ctrlPr>
                              <a:rPr lang="zh-CN" altLang="en-US" sz="1200" i="1" dirty="0" smtClean="0">
                                <a:latin typeface="Cambria Math" panose="02040503050406030204" pitchFamily="18" charset="0"/>
                              </a:rPr>
                            </m:ctrlPr>
                          </m:accPr>
                          <m:e>
                            <m:r>
                              <a:rPr lang="zh-CN" altLang="en-US" sz="1200" i="1" dirty="0" smtClean="0">
                                <a:latin typeface="Cambria Math" panose="02040503050406030204" pitchFamily="18" charset="0"/>
                              </a:rPr>
                              <m:t>𝑌</m:t>
                            </m:r>
                          </m:e>
                        </m:acc>
                      </m:e>
                      <m:sub>
                        <m:r>
                          <a:rPr lang="zh-CN" altLang="en-US" sz="1200" i="1" dirty="0" smtClean="0">
                            <a:latin typeface="Cambria Math" panose="02040503050406030204" pitchFamily="18" charset="0"/>
                          </a:rPr>
                          <m:t>𝑐</m:t>
                        </m:r>
                      </m:sub>
                    </m:sSub>
                    <m:r>
                      <a:rPr lang="zh-CN" altLang="en-US" sz="1200" i="1" dirty="0" smtClean="0">
                        <a:latin typeface="Cambria Math" panose="02040503050406030204" pitchFamily="18" charset="0"/>
                      </a:rPr>
                      <m:t> </m:t>
                    </m:r>
                    <m:r>
                      <a:rPr lang="en-US" altLang="zh-CN" sz="1200" i="1" dirty="0">
                        <a:latin typeface="Cambria Math" panose="02040503050406030204" pitchFamily="18" charset="0"/>
                      </a:rPr>
                      <m:t>= </m:t>
                    </m:r>
                    <m:acc>
                      <m:accPr>
                        <m:chr m:val="̂"/>
                        <m:ctrlPr>
                          <a:rPr lang="zh-CN" altLang="en-US" sz="1200" i="1" dirty="0">
                            <a:latin typeface="Cambria Math" panose="02040503050406030204" pitchFamily="18" charset="0"/>
                          </a:rPr>
                        </m:ctrlPr>
                      </m:accPr>
                      <m:e>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𝛼</m:t>
                            </m:r>
                          </m:e>
                          <m:sub>
                            <m:r>
                              <a:rPr lang="en-US" altLang="zh-CN" sz="1200" i="1" dirty="0">
                                <a:latin typeface="Cambria Math" panose="02040503050406030204" pitchFamily="18" charset="0"/>
                              </a:rPr>
                              <m:t>0</m:t>
                            </m:r>
                          </m:sub>
                        </m:sSub>
                      </m:e>
                    </m:acc>
                    <m:r>
                      <a:rPr lang="zh-CN" altLang="en-US" sz="1200" i="1" dirty="0">
                        <a:latin typeface="Cambria Math" panose="02040503050406030204" pitchFamily="18" charset="0"/>
                      </a:rPr>
                      <m:t> </m:t>
                    </m:r>
                    <m:r>
                      <a:rPr lang="en-US" altLang="zh-CN" sz="1200" i="1" dirty="0">
                        <a:latin typeface="Cambria Math" panose="02040503050406030204" pitchFamily="18" charset="0"/>
                      </a:rPr>
                      <m:t>+ </m:t>
                    </m:r>
                    <m:sSubSup>
                      <m:sSubSupPr>
                        <m:ctrlPr>
                          <a:rPr lang="zh-CN" altLang="en-US" sz="1200" i="1" dirty="0">
                            <a:latin typeface="Cambria Math" panose="02040503050406030204" pitchFamily="18" charset="0"/>
                          </a:rPr>
                        </m:ctrlPr>
                      </m:sSubSupPr>
                      <m:e>
                        <m:r>
                          <a:rPr lang="zh-CN" altLang="en-US" sz="1200" i="1" dirty="0">
                            <a:latin typeface="Cambria Math" panose="02040503050406030204" pitchFamily="18" charset="0"/>
                          </a:rPr>
                          <m:t>𝑋</m:t>
                        </m:r>
                      </m:e>
                      <m:sub>
                        <m:r>
                          <a:rPr lang="zh-CN" altLang="en-US" sz="1200" i="1" dirty="0" smtClean="0">
                            <a:latin typeface="Cambria Math" panose="02040503050406030204" pitchFamily="18" charset="0"/>
                          </a:rPr>
                          <m:t>𝑐</m:t>
                        </m:r>
                      </m:sub>
                      <m:sup>
                        <m:r>
                          <a:rPr lang="en-US" altLang="zh-CN" sz="1200" i="1" dirty="0" smtClean="0">
                            <a:latin typeface="Cambria Math" panose="02040503050406030204" pitchFamily="18" charset="0"/>
                          </a:rPr>
                          <m:t>′</m:t>
                        </m:r>
                      </m:sup>
                    </m:sSubSup>
                    <m:r>
                      <a:rPr lang="zh-CN" altLang="en-US" sz="1200" i="1" dirty="0" smtClean="0">
                        <a:latin typeface="Cambria Math" panose="02040503050406030204" pitchFamily="18" charset="0"/>
                      </a:rPr>
                      <m:t> </m:t>
                    </m:r>
                    <m:acc>
                      <m:accPr>
                        <m:chr m:val="̂"/>
                        <m:ctrlPr>
                          <a:rPr lang="zh-CN" altLang="en-US" sz="1200" i="1" dirty="0">
                            <a:latin typeface="Cambria Math" panose="02040503050406030204" pitchFamily="18" charset="0"/>
                          </a:rPr>
                        </m:ctrlPr>
                      </m:accPr>
                      <m:e>
                        <m:sSub>
                          <m:sSubPr>
                            <m:ctrlPr>
                              <a:rPr lang="zh-CN" altLang="en-US" sz="1200" i="1" dirty="0">
                                <a:latin typeface="Cambria Math" panose="02040503050406030204" pitchFamily="18" charset="0"/>
                              </a:rPr>
                            </m:ctrlPr>
                          </m:sSubPr>
                          <m:e>
                            <m:r>
                              <a:rPr lang="zh-CN" altLang="en-US" sz="1200" i="1" dirty="0">
                                <a:latin typeface="Cambria Math" panose="02040503050406030204" pitchFamily="18" charset="0"/>
                              </a:rPr>
                              <m:t>𝛽</m:t>
                            </m:r>
                          </m:e>
                          <m:sub>
                            <m:r>
                              <a:rPr lang="en-US" altLang="zh-CN" sz="1200" i="1" dirty="0">
                                <a:latin typeface="Cambria Math" panose="02040503050406030204" pitchFamily="18" charset="0"/>
                              </a:rPr>
                              <m:t>0</m:t>
                            </m:r>
                          </m:sub>
                        </m:sSub>
                      </m:e>
                    </m:acc>
                    <m:r>
                      <a:rPr lang="zh-CN" altLang="en-US" sz="1200" i="1" dirty="0">
                        <a:latin typeface="Cambria Math" panose="02040503050406030204" pitchFamily="18" charset="0"/>
                      </a:rPr>
                      <m:t> </m:t>
                    </m:r>
                  </m:oMath>
                </a14:m>
                <a:r>
                  <a:rPr lang="en-US" altLang="zh-CN" sz="1200" dirty="0"/>
                  <a:t>,</a:t>
                </a:r>
              </a:p>
              <a:p>
                <a:r>
                  <a:rPr lang="zh-CN" altLang="en-US" sz="1200" dirty="0"/>
                  <a:t>所以</a:t>
                </a:r>
                <a:r>
                  <a:rPr lang="en-US" altLang="zh-CN" sz="1200" dirty="0"/>
                  <a:t>ATT </a:t>
                </a:r>
                <a:r>
                  <a:rPr lang="zh-CN" altLang="en-US" sz="1200" dirty="0"/>
                  <a:t>估计量也可以写为</a:t>
                </a:r>
                <a:endParaRPr lang="en-US" altLang="zh-CN" sz="1200" dirty="0"/>
              </a:p>
              <a:p>
                <a:pPr marL="0" indent="0">
                  <a:buNone/>
                </a:pPr>
                <a14:m>
                  <m:oMathPara xmlns:m="http://schemas.openxmlformats.org/officeDocument/2006/math">
                    <m:oMath>
                      <m:sSub>
                        <m:sSubPr>
                          <m:ctrlPr>
                            <a:rPr lang="zh-CN" altLang="en-US" sz="1200" i="1" dirty="0" smtClean="0">
                              <a:latin typeface="Cambria Math" panose="02040503050406030204" pitchFamily="18" charset="0"/>
                            </a:rPr>
                          </m:ctrlPr>
                        </m:sSubPr>
                        <m:e>
                          <m:acc>
                            <m:accPr>
                              <m:chr m:val="̂"/>
                              <m:ctrlPr>
                                <a:rPr lang="zh-CN" altLang="en-US" sz="1200" i="1" dirty="0" smtClean="0">
                                  <a:latin typeface="Cambria Math" panose="02040503050406030204" pitchFamily="18" charset="0"/>
                                </a:rPr>
                              </m:ctrlPr>
                            </m:accPr>
                            <m:e>
                              <m:r>
                                <a:rPr lang="zh-CN" altLang="en-US" sz="1200" i="1" dirty="0" smtClean="0">
                                  <a:latin typeface="Cambria Math" panose="02040503050406030204" pitchFamily="18" charset="0"/>
                                </a:rPr>
                                <m:t>𝜏</m:t>
                              </m:r>
                            </m:e>
                          </m:acc>
                        </m:e>
                        <m:sub>
                          <m:r>
                            <a:rPr lang="zh-CN" altLang="en-US" sz="1200" i="1" dirty="0" smtClean="0">
                              <a:latin typeface="Cambria Math" panose="02040503050406030204" pitchFamily="18" charset="0"/>
                            </a:rPr>
                            <m:t>𝐴𝑇𝑇</m:t>
                          </m:r>
                        </m:sub>
                      </m:sSub>
                      <m:r>
                        <a:rPr lang="zh-CN" altLang="en-US" sz="1200" i="1" dirty="0" smtClean="0">
                          <a:latin typeface="Cambria Math" panose="02040503050406030204" pitchFamily="18" charset="0"/>
                        </a:rPr>
                        <m:t> </m:t>
                      </m:r>
                      <m:r>
                        <a:rPr lang="en-US" altLang="zh-CN" sz="1200" i="1" dirty="0">
                          <a:latin typeface="Cambria Math" panose="02040503050406030204" pitchFamily="18" charset="0"/>
                        </a:rPr>
                        <m:t>= </m:t>
                      </m:r>
                      <m:d>
                        <m:dPr>
                          <m:ctrlPr>
                            <a:rPr lang="en-US" altLang="zh-CN" sz="1200" b="0" i="1" dirty="0" smtClean="0">
                              <a:latin typeface="Cambria Math" panose="02040503050406030204" pitchFamily="18" charset="0"/>
                            </a:rPr>
                          </m:ctrlPr>
                        </m:dPr>
                        <m:e>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𝑌</m:t>
                                  </m:r>
                                </m:e>
                              </m:acc>
                            </m:e>
                            <m:sub>
                              <m:r>
                                <a:rPr lang="zh-CN" altLang="en-US" sz="1200" i="1" dirty="0">
                                  <a:latin typeface="Cambria Math" panose="02040503050406030204" pitchFamily="18" charset="0"/>
                                </a:rPr>
                                <m:t>𝑡</m:t>
                              </m:r>
                            </m:sub>
                          </m:sSub>
                          <m:r>
                            <a:rPr lang="zh-CN" altLang="en-US" sz="1200" i="1" dirty="0">
                              <a:latin typeface="Cambria Math" panose="02040503050406030204" pitchFamily="18" charset="0"/>
                            </a:rPr>
                            <m:t> − </m:t>
                          </m:r>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𝑌</m:t>
                                  </m:r>
                                </m:e>
                              </m:acc>
                            </m:e>
                            <m:sub>
                              <m:r>
                                <a:rPr lang="zh-CN" altLang="en-US" sz="1200" i="1" dirty="0">
                                  <a:latin typeface="Cambria Math" panose="02040503050406030204" pitchFamily="18" charset="0"/>
                                </a:rPr>
                                <m:t>𝑐</m:t>
                              </m:r>
                            </m:sub>
                          </m:sSub>
                        </m:e>
                      </m:d>
                      <m:r>
                        <a:rPr lang="en-US" altLang="zh-CN" sz="1200" i="1" dirty="0">
                          <a:latin typeface="Cambria Math" panose="02040503050406030204" pitchFamily="18" charset="0"/>
                        </a:rPr>
                        <m:t>− </m:t>
                      </m:r>
                      <m:sSup>
                        <m:sSupPr>
                          <m:ctrlPr>
                            <a:rPr lang="en-US" altLang="zh-CN" sz="1200" b="0" i="1" dirty="0" smtClean="0">
                              <a:latin typeface="Cambria Math" panose="02040503050406030204" pitchFamily="18" charset="0"/>
                            </a:rPr>
                          </m:ctrlPr>
                        </m:sSupPr>
                        <m:e>
                          <m:d>
                            <m:dPr>
                              <m:ctrlPr>
                                <a:rPr lang="en-US" altLang="zh-CN" sz="1200" b="0" i="1" dirty="0" smtClean="0">
                                  <a:latin typeface="Cambria Math" panose="02040503050406030204" pitchFamily="18" charset="0"/>
                                </a:rPr>
                              </m:ctrlPr>
                            </m:dPr>
                            <m:e>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𝑋</m:t>
                                      </m:r>
                                    </m:e>
                                  </m:acc>
                                </m:e>
                                <m:sub>
                                  <m:r>
                                    <a:rPr lang="zh-CN" altLang="en-US" sz="1200" i="1" dirty="0">
                                      <a:latin typeface="Cambria Math" panose="02040503050406030204" pitchFamily="18" charset="0"/>
                                    </a:rPr>
                                    <m:t>𝑡</m:t>
                                  </m:r>
                                </m:sub>
                              </m:sSub>
                              <m:r>
                                <a:rPr lang="zh-CN" altLang="en-US" sz="1200" i="1" dirty="0">
                                  <a:latin typeface="Cambria Math" panose="02040503050406030204" pitchFamily="18" charset="0"/>
                                </a:rPr>
                                <m:t> − </m:t>
                              </m:r>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𝑋</m:t>
                                      </m:r>
                                    </m:e>
                                  </m:acc>
                                </m:e>
                                <m:sub>
                                  <m:r>
                                    <a:rPr lang="zh-CN" altLang="en-US" sz="1200" i="1" dirty="0">
                                      <a:latin typeface="Cambria Math" panose="02040503050406030204" pitchFamily="18" charset="0"/>
                                    </a:rPr>
                                    <m:t>𝑐</m:t>
                                  </m:r>
                                </m:sub>
                              </m:sSub>
                            </m:e>
                          </m:d>
                        </m:e>
                        <m:sup>
                          <m:r>
                            <a:rPr lang="en-US" altLang="zh-CN" sz="1200" b="0" i="1" dirty="0">
                              <a:latin typeface="Cambria Math" panose="02040503050406030204" pitchFamily="18" charset="0"/>
                            </a:rPr>
                            <m:t>′</m:t>
                          </m:r>
                        </m:sup>
                      </m:sSup>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𝛽</m:t>
                              </m:r>
                            </m:e>
                          </m:acc>
                        </m:e>
                        <m:sub>
                          <m:r>
                            <a:rPr lang="en-US" altLang="zh-CN" sz="1200" i="1" dirty="0">
                              <a:latin typeface="Cambria Math" panose="02040503050406030204" pitchFamily="18" charset="0"/>
                            </a:rPr>
                            <m:t>0</m:t>
                          </m:r>
                        </m:sub>
                      </m:sSub>
                      <m:r>
                        <a:rPr lang="en-US" altLang="zh-CN" sz="1200" i="1" dirty="0">
                          <a:latin typeface="Cambria Math" panose="02040503050406030204" pitchFamily="18" charset="0"/>
                        </a:rPr>
                        <m:t>.</m:t>
                      </m:r>
                    </m:oMath>
                  </m:oMathPara>
                </a14:m>
                <a:endParaRPr lang="en-US" altLang="zh-CN" sz="1200" dirty="0"/>
              </a:p>
              <a:p>
                <a:r>
                  <a:rPr lang="zh-CN" altLang="en-US" sz="1200" dirty="0"/>
                  <a:t>所以</a:t>
                </a:r>
                <a:r>
                  <a:rPr lang="en-US" altLang="zh-CN" sz="1200" dirty="0"/>
                  <a:t>ATT </a:t>
                </a:r>
                <a:r>
                  <a:rPr lang="zh-CN" altLang="en-US" sz="1200" dirty="0"/>
                  <a:t>估计量也可以写为</a:t>
                </a:r>
                <a:endParaRPr lang="en-US" altLang="zh-CN" sz="1200" dirty="0"/>
              </a:p>
              <a:p>
                <a:pPr marL="0" indent="0">
                  <a:buNone/>
                </a:pPr>
                <a14:m>
                  <m:oMathPara xmlns:m="http://schemas.openxmlformats.org/officeDocument/2006/math">
                    <m:oMath>
                      <m:sSub>
                        <m:sSubPr>
                          <m:ctrlPr>
                            <a:rPr lang="zh-CN" altLang="en-US" sz="1200" i="1" dirty="0" smtClean="0">
                              <a:latin typeface="Cambria Math" panose="02040503050406030204" pitchFamily="18" charset="0"/>
                            </a:rPr>
                          </m:ctrlPr>
                        </m:sSubPr>
                        <m:e>
                          <m:acc>
                            <m:accPr>
                              <m:chr m:val="̂"/>
                              <m:ctrlPr>
                                <a:rPr lang="zh-CN" altLang="en-US" sz="1200" i="1" dirty="0" smtClean="0">
                                  <a:latin typeface="Cambria Math" panose="02040503050406030204" pitchFamily="18" charset="0"/>
                                </a:rPr>
                              </m:ctrlPr>
                            </m:accPr>
                            <m:e>
                              <m:r>
                                <a:rPr lang="zh-CN" altLang="en-US" sz="1200" i="1" dirty="0" smtClean="0">
                                  <a:latin typeface="Cambria Math" panose="02040503050406030204" pitchFamily="18" charset="0"/>
                                </a:rPr>
                                <m:t>𝜏</m:t>
                              </m:r>
                            </m:e>
                          </m:acc>
                        </m:e>
                        <m:sub>
                          <m:r>
                            <a:rPr lang="zh-CN" altLang="en-US" sz="1200" i="1" dirty="0" smtClean="0">
                              <a:latin typeface="Cambria Math" panose="02040503050406030204" pitchFamily="18" charset="0"/>
                            </a:rPr>
                            <m:t>𝐴</m:t>
                          </m:r>
                        </m:sub>
                      </m:sSub>
                      <m:r>
                        <a:rPr lang="zh-CN" altLang="en-US" sz="1200" i="1" baseline="-25000" dirty="0" smtClean="0">
                          <a:latin typeface="Cambria Math" panose="02040503050406030204" pitchFamily="18" charset="0"/>
                        </a:rPr>
                        <m:t>𝑇𝑇</m:t>
                      </m:r>
                      <m:r>
                        <a:rPr lang="zh-CN" altLang="en-US" sz="1200" i="1" dirty="0" smtClean="0">
                          <a:latin typeface="Cambria Math" panose="02040503050406030204" pitchFamily="18" charset="0"/>
                        </a:rPr>
                        <m:t> </m:t>
                      </m:r>
                      <m:r>
                        <a:rPr lang="en-US" altLang="zh-CN" sz="1200" i="1" dirty="0">
                          <a:latin typeface="Cambria Math" panose="02040503050406030204" pitchFamily="18" charset="0"/>
                        </a:rPr>
                        <m:t>= </m:t>
                      </m:r>
                      <m:d>
                        <m:dPr>
                          <m:ctrlPr>
                            <a:rPr lang="en-US" altLang="zh-CN" sz="1200" b="0" i="1" dirty="0" smtClean="0">
                              <a:latin typeface="Cambria Math" panose="02040503050406030204" pitchFamily="18" charset="0"/>
                            </a:rPr>
                          </m:ctrlPr>
                        </m:dPr>
                        <m:e>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𝑌</m:t>
                                  </m:r>
                                </m:e>
                              </m:acc>
                            </m:e>
                            <m:sub>
                              <m:r>
                                <a:rPr lang="zh-CN" altLang="en-US" sz="1200" i="1" dirty="0">
                                  <a:latin typeface="Cambria Math" panose="02040503050406030204" pitchFamily="18" charset="0"/>
                                </a:rPr>
                                <m:t>𝑡</m:t>
                              </m:r>
                            </m:sub>
                          </m:sSub>
                          <m:r>
                            <a:rPr lang="zh-CN" altLang="en-US" sz="1200" i="1" dirty="0">
                              <a:latin typeface="Cambria Math" panose="02040503050406030204" pitchFamily="18" charset="0"/>
                            </a:rPr>
                            <m:t> − </m:t>
                          </m:r>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𝑌</m:t>
                                  </m:r>
                                </m:e>
                              </m:acc>
                            </m:e>
                            <m:sub>
                              <m:r>
                                <a:rPr lang="zh-CN" altLang="en-US" sz="1200" i="1" dirty="0">
                                  <a:latin typeface="Cambria Math" panose="02040503050406030204" pitchFamily="18" charset="0"/>
                                </a:rPr>
                                <m:t>𝑐</m:t>
                              </m:r>
                            </m:sub>
                          </m:sSub>
                        </m:e>
                      </m:d>
                      <m:r>
                        <a:rPr lang="en-US" altLang="zh-CN" sz="1200" i="1" dirty="0">
                          <a:latin typeface="Cambria Math" panose="02040503050406030204" pitchFamily="18" charset="0"/>
                        </a:rPr>
                        <m:t> − </m:t>
                      </m:r>
                      <m:sSup>
                        <m:sSupPr>
                          <m:ctrlPr>
                            <a:rPr lang="en-US" altLang="zh-CN" sz="1200" b="0" i="1" dirty="0" smtClean="0">
                              <a:latin typeface="Cambria Math" panose="02040503050406030204" pitchFamily="18" charset="0"/>
                            </a:rPr>
                          </m:ctrlPr>
                        </m:sSupPr>
                        <m:e>
                          <m:d>
                            <m:dPr>
                              <m:ctrlPr>
                                <a:rPr lang="en-US" altLang="zh-CN" sz="1200" b="0" i="1" dirty="0" smtClean="0">
                                  <a:latin typeface="Cambria Math" panose="02040503050406030204" pitchFamily="18" charset="0"/>
                                </a:rPr>
                              </m:ctrlPr>
                            </m:dPr>
                            <m:e>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𝑋</m:t>
                                      </m:r>
                                    </m:e>
                                  </m:acc>
                                </m:e>
                                <m:sub>
                                  <m:r>
                                    <a:rPr lang="zh-CN" altLang="en-US" sz="1200" i="1" dirty="0">
                                      <a:latin typeface="Cambria Math" panose="02040503050406030204" pitchFamily="18" charset="0"/>
                                    </a:rPr>
                                    <m:t>𝑡</m:t>
                                  </m:r>
                                </m:sub>
                              </m:sSub>
                              <m:r>
                                <a:rPr lang="zh-CN" altLang="en-US" sz="1200" i="1" dirty="0">
                                  <a:latin typeface="Cambria Math" panose="02040503050406030204" pitchFamily="18" charset="0"/>
                                </a:rPr>
                                <m:t> − </m:t>
                              </m:r>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𝑋</m:t>
                                      </m:r>
                                    </m:e>
                                  </m:acc>
                                </m:e>
                                <m:sub>
                                  <m:r>
                                    <a:rPr lang="zh-CN" altLang="en-US" sz="1200" i="1" dirty="0">
                                      <a:latin typeface="Cambria Math" panose="02040503050406030204" pitchFamily="18" charset="0"/>
                                    </a:rPr>
                                    <m:t>𝑐</m:t>
                                  </m:r>
                                </m:sub>
                              </m:sSub>
                            </m:e>
                          </m:d>
                        </m:e>
                        <m:sup>
                          <m:r>
                            <a:rPr lang="en-US" altLang="zh-CN" sz="1200" b="0" i="1" dirty="0">
                              <a:latin typeface="Cambria Math" panose="02040503050406030204" pitchFamily="18" charset="0"/>
                            </a:rPr>
                            <m:t>′</m:t>
                          </m:r>
                        </m:sup>
                      </m:sSup>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𝛽</m:t>
                              </m:r>
                            </m:e>
                          </m:acc>
                        </m:e>
                        <m:sub>
                          <m:r>
                            <a:rPr lang="en-US" altLang="zh-CN" sz="1200" i="1" dirty="0">
                              <a:latin typeface="Cambria Math" panose="02040503050406030204" pitchFamily="18" charset="0"/>
                            </a:rPr>
                            <m:t>0</m:t>
                          </m:r>
                        </m:sub>
                      </m:sSub>
                      <m:r>
                        <a:rPr lang="en-US" altLang="zh-CN" sz="1200" i="1" dirty="0">
                          <a:latin typeface="Cambria Math" panose="02040503050406030204" pitchFamily="18" charset="0"/>
                        </a:rPr>
                        <m:t>.</m:t>
                      </m:r>
                    </m:oMath>
                  </m:oMathPara>
                </a14:m>
                <a:endParaRPr lang="en-US" altLang="zh-CN" sz="1200" dirty="0"/>
              </a:p>
              <a:p>
                <a:r>
                  <a:rPr lang="zh-CN" altLang="en-US" sz="1200" dirty="0"/>
                  <a:t>上述结果可以通过直接构建下列回归模型得到</a:t>
                </a:r>
                <a:endParaRPr lang="en-US" altLang="zh-CN" sz="1200" dirty="0"/>
              </a:p>
              <a:p>
                <a:pPr marL="0" indent="0">
                  <a:buNone/>
                </a:pPr>
                <a14:m>
                  <m:oMathPara xmlns:m="http://schemas.openxmlformats.org/officeDocument/2006/math">
                    <m:oMath>
                      <m:r>
                        <a:rPr lang="zh-CN" altLang="en-US" sz="1200" i="1" dirty="0" smtClean="0">
                          <a:latin typeface="Cambria Math" panose="02040503050406030204" pitchFamily="18" charset="0"/>
                        </a:rPr>
                        <m:t>𝑌</m:t>
                      </m:r>
                      <m:r>
                        <a:rPr lang="zh-CN" altLang="en-US" sz="1200" i="1" dirty="0" smtClean="0">
                          <a:latin typeface="Cambria Math" panose="02040503050406030204" pitchFamily="18" charset="0"/>
                        </a:rPr>
                        <m:t> = </m:t>
                      </m:r>
                      <m:r>
                        <a:rPr lang="zh-CN" altLang="en-US" sz="1200" i="1" dirty="0">
                          <a:latin typeface="Cambria Math" panose="02040503050406030204" pitchFamily="18" charset="0"/>
                        </a:rPr>
                        <m:t>𝛼</m:t>
                      </m:r>
                      <m:r>
                        <a:rPr lang="zh-CN" altLang="en-US" sz="1200" i="1" dirty="0">
                          <a:latin typeface="Cambria Math" panose="02040503050406030204" pitchFamily="18" charset="0"/>
                        </a:rPr>
                        <m:t> + </m:t>
                      </m:r>
                      <m:r>
                        <a:rPr lang="zh-CN" altLang="en-US" sz="1200" i="1" dirty="0">
                          <a:latin typeface="Cambria Math" panose="02040503050406030204" pitchFamily="18" charset="0"/>
                        </a:rPr>
                        <m:t>𝜏</m:t>
                      </m:r>
                      <m:r>
                        <a:rPr lang="zh-CN" altLang="en-US" sz="1200" i="1" dirty="0">
                          <a:latin typeface="Cambria Math" panose="02040503050406030204" pitchFamily="18" charset="0"/>
                        </a:rPr>
                        <m:t>𝐷</m:t>
                      </m:r>
                      <m:r>
                        <a:rPr lang="zh-CN" altLang="en-US" sz="1200" i="1" dirty="0">
                          <a:latin typeface="Cambria Math" panose="02040503050406030204" pitchFamily="18" charset="0"/>
                        </a:rPr>
                        <m:t> + </m:t>
                      </m:r>
                      <m:r>
                        <a:rPr lang="zh-CN" altLang="en-US" sz="1200" i="1" dirty="0">
                          <a:latin typeface="Cambria Math" panose="02040503050406030204" pitchFamily="18" charset="0"/>
                        </a:rPr>
                        <m:t>𝑋</m:t>
                      </m:r>
                      <m:r>
                        <a:rPr lang="en-US" altLang="zh-CN" sz="1200" i="1" dirty="0">
                          <a:latin typeface="Cambria Math" panose="02040503050406030204" pitchFamily="18" charset="0"/>
                        </a:rPr>
                        <m:t>′</m:t>
                      </m:r>
                      <m:r>
                        <a:rPr lang="zh-CN" altLang="en-US" sz="1200" i="1" dirty="0">
                          <a:latin typeface="Cambria Math" panose="02040503050406030204" pitchFamily="18" charset="0"/>
                        </a:rPr>
                        <m:t>𝛽</m:t>
                      </m:r>
                      <m:r>
                        <a:rPr lang="zh-CN" altLang="en-US" sz="1200" i="1" dirty="0">
                          <a:latin typeface="Cambria Math" panose="02040503050406030204" pitchFamily="18" charset="0"/>
                        </a:rPr>
                        <m:t> + </m:t>
                      </m:r>
                      <m:r>
                        <a:rPr lang="zh-CN" altLang="en-US" sz="1200" i="1" dirty="0">
                          <a:latin typeface="Cambria Math" panose="02040503050406030204" pitchFamily="18" charset="0"/>
                        </a:rPr>
                        <m:t>𝐷</m:t>
                      </m:r>
                      <m:r>
                        <a:rPr lang="en-US" altLang="zh-CN" sz="1200" i="1" dirty="0">
                          <a:latin typeface="Cambria Math" panose="02040503050406030204" pitchFamily="18" charset="0"/>
                        </a:rPr>
                        <m:t>(</m:t>
                      </m:r>
                      <m:r>
                        <a:rPr lang="zh-CN" altLang="en-US" sz="1200" i="1" dirty="0">
                          <a:latin typeface="Cambria Math" panose="02040503050406030204" pitchFamily="18" charset="0"/>
                        </a:rPr>
                        <m:t>𝑋</m:t>
                      </m:r>
                      <m:r>
                        <a:rPr lang="zh-CN" altLang="en-US" sz="1200" i="1" dirty="0">
                          <a:latin typeface="Cambria Math" panose="02040503050406030204" pitchFamily="18" charset="0"/>
                        </a:rPr>
                        <m:t> − </m:t>
                      </m:r>
                      <m:sSub>
                        <m:sSubPr>
                          <m:ctrlPr>
                            <a:rPr lang="zh-CN" altLang="en-US" sz="1200" i="1" dirty="0">
                              <a:latin typeface="Cambria Math" panose="02040503050406030204" pitchFamily="18" charset="0"/>
                            </a:rPr>
                          </m:ctrlPr>
                        </m:sSubPr>
                        <m:e>
                          <m:acc>
                            <m:accPr>
                              <m:chr m:val="̅"/>
                              <m:ctrlPr>
                                <a:rPr lang="zh-CN" altLang="en-US" sz="1200" i="1" dirty="0">
                                  <a:latin typeface="Cambria Math" panose="02040503050406030204" pitchFamily="18" charset="0"/>
                                </a:rPr>
                              </m:ctrlPr>
                            </m:accPr>
                            <m:e>
                              <m:r>
                                <a:rPr lang="zh-CN" altLang="en-US" sz="1200" i="1" dirty="0">
                                  <a:latin typeface="Cambria Math" panose="02040503050406030204" pitchFamily="18" charset="0"/>
                                </a:rPr>
                                <m:t>𝑋</m:t>
                              </m:r>
                            </m:e>
                          </m:acc>
                        </m:e>
                        <m:sub>
                          <m:r>
                            <a:rPr lang="zh-CN" altLang="en-US" sz="1200" i="1" dirty="0">
                              <a:latin typeface="Cambria Math" panose="02040503050406030204" pitchFamily="18" charset="0"/>
                            </a:rPr>
                            <m:t>𝑡</m:t>
                          </m:r>
                        </m:sub>
                      </m:sSub>
                      <m:r>
                        <a:rPr lang="en-US" altLang="zh-CN" sz="1200" i="1" dirty="0">
                          <a:latin typeface="Cambria Math" panose="02040503050406030204" pitchFamily="18" charset="0"/>
                        </a:rPr>
                        <m:t>)′</m:t>
                      </m:r>
                      <m:r>
                        <a:rPr lang="zh-CN" altLang="en-US" sz="1200" i="1" dirty="0">
                          <a:latin typeface="Cambria Math" panose="02040503050406030204" pitchFamily="18" charset="0"/>
                        </a:rPr>
                        <m:t>𝛾</m:t>
                      </m:r>
                      <m:r>
                        <a:rPr lang="zh-CN" altLang="en-US" sz="1200" i="1" dirty="0">
                          <a:latin typeface="Cambria Math" panose="02040503050406030204" pitchFamily="18" charset="0"/>
                        </a:rPr>
                        <m:t> + </m:t>
                      </m:r>
                      <m:r>
                        <a:rPr lang="zh-CN" altLang="en-US" sz="1200" i="1" dirty="0">
                          <a:latin typeface="Cambria Math" panose="02040503050406030204" pitchFamily="18" charset="0"/>
                        </a:rPr>
                        <m:t>𝑒</m:t>
                      </m:r>
                      <m:r>
                        <a:rPr lang="en-US" altLang="zh-CN" sz="1200" i="1" dirty="0">
                          <a:latin typeface="Cambria Math" panose="02040503050406030204" pitchFamily="18" charset="0"/>
                        </a:rPr>
                        <m:t>.</m:t>
                      </m:r>
                    </m:oMath>
                  </m:oMathPara>
                </a14:m>
                <a:endParaRPr lang="en-US" altLang="zh-CN" sz="1200" dirty="0"/>
              </a:p>
              <a:p>
                <a:endParaRPr lang="zh-CN" altLang="en-US" sz="1200" dirty="0"/>
              </a:p>
            </p:txBody>
          </p:sp>
        </mc:Choice>
        <mc:Fallback xmlns="">
          <p:sp>
            <p:nvSpPr>
              <p:cNvPr id="3" name="内容占位符 2">
                <a:extLst>
                  <a:ext uri="{FF2B5EF4-FFF2-40B4-BE49-F238E27FC236}">
                    <a16:creationId xmlns:a16="http://schemas.microsoft.com/office/drawing/2014/main" id="{274D33B7-4D0C-051F-8012-628B43A13FB1}"/>
                  </a:ext>
                </a:extLst>
              </p:cNvPr>
              <p:cNvSpPr>
                <a:spLocks noGrp="1" noRot="1" noChangeAspect="1" noMove="1" noResize="1" noEditPoints="1" noAdjustHandles="1" noChangeArrowheads="1" noChangeShapeType="1" noTextEdit="1"/>
              </p:cNvSpPr>
              <p:nvPr>
                <p:ph idx="1"/>
              </p:nvPr>
            </p:nvSpPr>
            <p:spPr>
              <a:blipFill>
                <a:blip r:embed="rId2"/>
                <a:stretch>
                  <a:fillRect b="-560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E2752C5-6753-F969-3207-C1D07295924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88596AFF-1835-F28C-9010-6CAE03F32273}"/>
              </a:ext>
            </a:extLst>
          </p:cNvPr>
          <p:cNvSpPr>
            <a:spLocks noGrp="1"/>
          </p:cNvSpPr>
          <p:nvPr>
            <p:ph type="sldNum" sz="quarter" idx="12"/>
          </p:nvPr>
        </p:nvSpPr>
        <p:spPr/>
        <p:txBody>
          <a:bodyPr/>
          <a:lstStyle/>
          <a:p>
            <a:fld id="{D41FC515-8169-4A29-AA56-DBE520D5741B}" type="slidenum">
              <a:rPr lang="zh-CN" altLang="en-US" smtClean="0"/>
              <a:t>29</a:t>
            </a:fld>
            <a:endParaRPr lang="zh-CN" altLang="en-US"/>
          </a:p>
        </p:txBody>
      </p:sp>
    </p:spTree>
    <p:extLst>
      <p:ext uri="{BB962C8B-B14F-4D97-AF65-F5344CB8AC3E}">
        <p14:creationId xmlns:p14="http://schemas.microsoft.com/office/powerpoint/2010/main" val="2482639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38B4D1-B1B7-F92E-ED81-78526B068844}"/>
              </a:ext>
            </a:extLst>
          </p:cNvPr>
          <p:cNvSpPr>
            <a:spLocks noGrp="1"/>
          </p:cNvSpPr>
          <p:nvPr>
            <p:ph type="title"/>
          </p:nvPr>
        </p:nvSpPr>
        <p:spPr/>
        <p:txBody>
          <a:bodyPr/>
          <a:lstStyle/>
          <a:p>
            <a:r>
              <a:rPr lang="zh-CN" altLang="en-US" dirty="0"/>
              <a:t>加权</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EF7A6C8-F4C9-E0EE-A816-CD35F84B987A}"/>
                  </a:ext>
                </a:extLst>
              </p:cNvPr>
              <p:cNvSpPr>
                <a:spLocks noGrp="1"/>
              </p:cNvSpPr>
              <p:nvPr>
                <p:ph idx="1"/>
              </p:nvPr>
            </p:nvSpPr>
            <p:spPr>
              <a:xfrm>
                <a:off x="628650" y="1825624"/>
                <a:ext cx="7886700" cy="4895851"/>
              </a:xfrm>
            </p:spPr>
            <p:txBody>
              <a:bodyPr>
                <a:normAutofit fontScale="55000" lnSpcReduction="20000"/>
              </a:bodyPr>
              <a:lstStyle/>
              <a:p>
                <a:r>
                  <a:rPr lang="zh-CN" altLang="en-US" dirty="0"/>
                  <a:t>在假设</a:t>
                </a:r>
                <a:r>
                  <a:rPr lang="en-US" altLang="zh-CN" dirty="0"/>
                  <a:t>3</a:t>
                </a:r>
                <a:r>
                  <a:rPr lang="zh-CN" altLang="en-US" dirty="0"/>
                  <a:t>、</a:t>
                </a:r>
                <a:r>
                  <a:rPr lang="en-US" altLang="zh-CN" dirty="0"/>
                  <a:t>4 </a:t>
                </a:r>
                <a:r>
                  <a:rPr lang="zh-CN" altLang="en-US" dirty="0"/>
                  <a:t>下，有</a:t>
                </a:r>
                <a:endParaRPr lang="en-US" altLang="zh-CN" dirty="0"/>
              </a:p>
              <a:p>
                <a:pPr marL="0" indent="0">
                  <a:buNone/>
                </a:pPr>
                <a14:m>
                  <m:oMathPara xmlns:m="http://schemas.openxmlformats.org/officeDocument/2006/math">
                    <m:o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e>
                          </m:d>
                        </m:e>
                        <m:e>
                          <m:r>
                            <a:rPr lang="en-US" altLang="zh-CN" b="0" i="1" smtClean="0">
                              <a:latin typeface="Cambria Math" panose="02040503050406030204" pitchFamily="18" charset="0"/>
                            </a:rPr>
                            <m:t>𝐷</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𝑒</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num>
                            <m:den>
                              <m:r>
                                <a:rPr lang="en-US" altLang="zh-CN" b="0" i="1" smtClean="0">
                                  <a:latin typeface="Cambria Math" panose="02040503050406030204" pitchFamily="18" charset="0"/>
                                </a:rPr>
                                <m:t>1−</m:t>
                              </m:r>
                              <m:r>
                                <a:rPr lang="en-US" altLang="zh-CN" b="0" i="1" smtClean="0">
                                  <a:latin typeface="Cambria Math" panose="02040503050406030204" pitchFamily="18" charset="0"/>
                                </a:rPr>
                                <m:t>𝑒</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𝐷</m:t>
                                  </m:r>
                                </m:e>
                              </m:d>
                              <m:r>
                                <a:rPr lang="en-US" altLang="zh-CN" b="0" i="1" smtClean="0">
                                  <a:latin typeface="Cambria Math" panose="02040503050406030204" pitchFamily="18" charset="0"/>
                                </a:rPr>
                                <m:t>𝑌</m:t>
                              </m:r>
                            </m:num>
                            <m:den>
                              <m:func>
                                <m:funcPr>
                                  <m:ctrlPr>
                                    <a:rPr lang="en-US" altLang="zh-CN" b="0" i="0" smtClean="0">
                                      <a:latin typeface="Cambria Math" panose="02040503050406030204" pitchFamily="18" charset="0"/>
                                    </a:rPr>
                                  </m:ctrlPr>
                                </m:funcPr>
                                <m:fName>
                                  <m:r>
                                    <m:rPr>
                                      <m:sty m:val="p"/>
                                    </m:rPr>
                                    <a:rPr lang="en-US" altLang="zh-CN" b="0" i="0" smtClean="0">
                                      <a:latin typeface="Cambria Math" panose="02040503050406030204" pitchFamily="18" charset="0"/>
                                    </a:rPr>
                                    <m:t>Pr</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=1</m:t>
                                      </m:r>
                                    </m:e>
                                  </m:d>
                                </m:e>
                              </m:func>
                            </m:den>
                          </m:f>
                        </m:e>
                      </m:d>
                      <m:r>
                        <a:rPr lang="en-US" altLang="zh-CN" b="0" i="1" smtClean="0">
                          <a:latin typeface="Cambria Math" panose="02040503050406030204" pitchFamily="18" charset="0"/>
                        </a:rPr>
                        <m:t>,          (17)</m:t>
                      </m:r>
                    </m:oMath>
                  </m:oMathPara>
                </a14:m>
                <a:endParaRPr lang="en-US" altLang="zh-CN" dirty="0"/>
              </a:p>
              <a:p>
                <a:pPr marL="0" indent="0">
                  <a:buNone/>
                </a:pPr>
                <a14:m>
                  <m:oMathPara xmlns:m="http://schemas.openxmlformats.org/officeDocument/2006/math">
                    <m:o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𝜏</m:t>
                          </m:r>
                        </m:e>
                        <m:sub>
                          <m:r>
                            <a:rPr lang="en-US" altLang="zh-CN" b="0" i="1" smtClean="0">
                              <a:latin typeface="Cambria Math" panose="02040503050406030204" pitchFamily="18" charset="0"/>
                            </a:rPr>
                            <m:t>𝐴𝑇𝑇</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e>
                        <m:e>
                          <m:r>
                            <a:rPr lang="en-US" altLang="zh-CN" b="0" i="1" smtClean="0">
                              <a:latin typeface="Cambria Math" panose="02040503050406030204" pitchFamily="18" charset="0"/>
                            </a:rPr>
                            <m:t>𝑍</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i="1">
                          <a:latin typeface="Cambria Math" panose="02040503050406030204" pitchFamily="18" charset="0"/>
                        </a:rPr>
                        <m:t>𝐸</m:t>
                      </m:r>
                      <m:d>
                        <m:dPr>
                          <m:begChr m:val="["/>
                          <m:endChr m:val="]"/>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𝑒</m:t>
                              </m:r>
                              <m:d>
                                <m:dPr>
                                  <m:ctrlPr>
                                    <a:rPr lang="en-US" altLang="zh-CN" i="1">
                                      <a:latin typeface="Cambria Math" panose="02040503050406030204" pitchFamily="18" charset="0"/>
                                    </a:rPr>
                                  </m:ctrlPr>
                                </m:dPr>
                                <m:e>
                                  <m:r>
                                    <a:rPr lang="en-US" altLang="zh-CN" i="1">
                                      <a:latin typeface="Cambria Math" panose="02040503050406030204" pitchFamily="18" charset="0"/>
                                    </a:rPr>
                                    <m:t>𝑋</m:t>
                                  </m:r>
                                </m:e>
                              </m:d>
                            </m:num>
                            <m:den>
                              <m:r>
                                <a:rPr lang="en-US" altLang="zh-CN" i="1">
                                  <a:latin typeface="Cambria Math" panose="02040503050406030204" pitchFamily="18" charset="0"/>
                                </a:rPr>
                                <m:t>1−</m:t>
                              </m:r>
                              <m:r>
                                <a:rPr lang="en-US" altLang="zh-CN" i="1">
                                  <a:latin typeface="Cambria Math" panose="02040503050406030204" pitchFamily="18" charset="0"/>
                                </a:rPr>
                                <m:t>𝑒</m:t>
                              </m:r>
                              <m:d>
                                <m:dPr>
                                  <m:ctrlPr>
                                    <a:rPr lang="en-US" altLang="zh-CN" i="1">
                                      <a:latin typeface="Cambria Math" panose="02040503050406030204" pitchFamily="18" charset="0"/>
                                    </a:rPr>
                                  </m:ctrlPr>
                                </m:dPr>
                                <m:e>
                                  <m:r>
                                    <a:rPr lang="en-US" altLang="zh-CN" i="1">
                                      <a:latin typeface="Cambria Math" panose="02040503050406030204" pitchFamily="18" charset="0"/>
                                    </a:rPr>
                                    <m:t>𝑋</m:t>
                                  </m:r>
                                </m:e>
                              </m:d>
                            </m:den>
                          </m:f>
                          <m:r>
                            <a:rPr lang="en-US" altLang="zh-CN" i="1">
                              <a:latin typeface="Cambria Math" panose="02040503050406030204" pitchFamily="18" charset="0"/>
                            </a:rPr>
                            <m:t>⋅</m:t>
                          </m:r>
                          <m:f>
                            <m:fPr>
                              <m:ctrlPr>
                                <a:rPr lang="en-US" altLang="zh-CN" i="1">
                                  <a:latin typeface="Cambria Math" panose="02040503050406030204" pitchFamily="18" charset="0"/>
                                </a:rPr>
                              </m:ctrlPr>
                            </m:fPr>
                            <m:num>
                              <m:d>
                                <m:dPr>
                                  <m:ctrlPr>
                                    <a:rPr lang="en-US"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𝐷</m:t>
                                  </m:r>
                                </m:e>
                              </m:d>
                              <m:r>
                                <a:rPr lang="en-US" altLang="zh-CN" i="1">
                                  <a:latin typeface="Cambria Math" panose="02040503050406030204" pitchFamily="18" charset="0"/>
                                </a:rPr>
                                <m:t>𝑌</m:t>
                              </m:r>
                            </m:num>
                            <m:den>
                              <m:func>
                                <m:funcPr>
                                  <m:ctrlPr>
                                    <a:rPr lang="en-US" altLang="zh-CN">
                                      <a:latin typeface="Cambria Math" panose="02040503050406030204" pitchFamily="18" charset="0"/>
                                    </a:rPr>
                                  </m:ctrlPr>
                                </m:funcPr>
                                <m:fName>
                                  <m:r>
                                    <m:rPr>
                                      <m:sty m:val="p"/>
                                    </m:rPr>
                                    <a:rPr lang="en-US" altLang="zh-CN">
                                      <a:latin typeface="Cambria Math" panose="02040503050406030204" pitchFamily="18" charset="0"/>
                                    </a:rPr>
                                    <m:t>Pr</m:t>
                                  </m:r>
                                </m:fNa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𝐷</m:t>
                                      </m:r>
                                      <m:r>
                                        <a:rPr lang="en-US" altLang="zh-CN" i="1">
                                          <a:latin typeface="Cambria Math" panose="02040503050406030204" pitchFamily="18" charset="0"/>
                                        </a:rPr>
                                        <m:t>=1</m:t>
                                      </m:r>
                                    </m:e>
                                  </m:d>
                                </m:e>
                              </m:func>
                            </m:den>
                          </m:f>
                        </m:e>
                      </m:d>
                      <m:r>
                        <a:rPr lang="en-US" altLang="zh-CN" b="0" i="1" smtClean="0">
                          <a:latin typeface="Cambria Math" panose="02040503050406030204" pitchFamily="18" charset="0"/>
                        </a:rPr>
                        <m:t>.          (18)</m:t>
                      </m:r>
                    </m:oMath>
                  </m:oMathPara>
                </a14:m>
                <a:endParaRPr lang="en-US" altLang="zh-CN" dirty="0"/>
              </a:p>
              <a:p>
                <a:r>
                  <a:rPr lang="zh-CN" altLang="en-US" dirty="0"/>
                  <a:t>证明：</a:t>
                </a:r>
                <a:endParaRPr lang="en-US" altLang="zh-CN" dirty="0"/>
              </a:p>
              <a:p>
                <a:pPr marL="0" indent="0">
                  <a:buNone/>
                </a:pPr>
                <a14:m>
                  <m:oMathPara xmlns:m="http://schemas.openxmlformats.org/officeDocument/2006/math">
                    <m:oMath>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𝑒</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num>
                            <m:den>
                              <m:r>
                                <a:rPr lang="en-US" altLang="zh-CN" b="0" i="1" smtClean="0">
                                  <a:latin typeface="Cambria Math" panose="02040503050406030204" pitchFamily="18" charset="0"/>
                                </a:rPr>
                                <m:t>1−</m:t>
                              </m:r>
                              <m:r>
                                <a:rPr lang="en-US" altLang="zh-CN" b="0" i="1" smtClean="0">
                                  <a:latin typeface="Cambria Math" panose="02040503050406030204" pitchFamily="18" charset="0"/>
                                </a:rPr>
                                <m:t>𝑒</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𝐷</m:t>
                                  </m:r>
                                </m:e>
                              </m:d>
                              <m:r>
                                <a:rPr lang="en-US" altLang="zh-CN" b="0" i="1" smtClean="0">
                                  <a:latin typeface="Cambria Math" panose="02040503050406030204" pitchFamily="18" charset="0"/>
                                </a:rPr>
                                <m:t>𝑌</m:t>
                              </m:r>
                            </m:num>
                            <m:den>
                              <m:func>
                                <m:funcPr>
                                  <m:ctrlPr>
                                    <a:rPr lang="en-US" altLang="zh-CN" b="0" i="0" smtClean="0">
                                      <a:latin typeface="Cambria Math" panose="02040503050406030204" pitchFamily="18" charset="0"/>
                                    </a:rPr>
                                  </m:ctrlPr>
                                </m:funcPr>
                                <m:fName>
                                  <m:r>
                                    <m:rPr>
                                      <m:sty m:val="p"/>
                                    </m:rPr>
                                    <a:rPr lang="en-US" altLang="zh-CN" b="0" i="0" smtClean="0">
                                      <a:latin typeface="Cambria Math" panose="02040503050406030204" pitchFamily="18" charset="0"/>
                                    </a:rPr>
                                    <m:t>Pr</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=1</m:t>
                                      </m:r>
                                    </m:e>
                                  </m:d>
                                </m:e>
                              </m:func>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𝑒</m:t>
                              </m:r>
                              <m:d>
                                <m:dPr>
                                  <m:ctrlPr>
                                    <a:rPr lang="en-US" altLang="zh-CN" i="1">
                                      <a:latin typeface="Cambria Math" panose="02040503050406030204" pitchFamily="18" charset="0"/>
                                    </a:rPr>
                                  </m:ctrlPr>
                                </m:dPr>
                                <m:e>
                                  <m:r>
                                    <a:rPr lang="en-US" altLang="zh-CN" i="1">
                                      <a:latin typeface="Cambria Math" panose="02040503050406030204" pitchFamily="18" charset="0"/>
                                    </a:rPr>
                                    <m:t>𝑋</m:t>
                                  </m:r>
                                </m:e>
                              </m:d>
                            </m:num>
                            <m:den>
                              <m:r>
                                <a:rPr lang="en-US" altLang="zh-CN" i="1">
                                  <a:latin typeface="Cambria Math" panose="02040503050406030204" pitchFamily="18" charset="0"/>
                                </a:rPr>
                                <m:t>1−</m:t>
                              </m:r>
                              <m:r>
                                <a:rPr lang="en-US" altLang="zh-CN" i="1">
                                  <a:latin typeface="Cambria Math" panose="02040503050406030204" pitchFamily="18" charset="0"/>
                                </a:rPr>
                                <m:t>𝑒</m:t>
                              </m:r>
                              <m:d>
                                <m:dPr>
                                  <m:ctrlPr>
                                    <a:rPr lang="en-US" altLang="zh-CN" i="1">
                                      <a:latin typeface="Cambria Math" panose="02040503050406030204" pitchFamily="18" charset="0"/>
                                    </a:rPr>
                                  </m:ctrlPr>
                                </m:dPr>
                                <m:e>
                                  <m:r>
                                    <a:rPr lang="en-US" altLang="zh-CN" i="1">
                                      <a:latin typeface="Cambria Math" panose="02040503050406030204" pitchFamily="18" charset="0"/>
                                    </a:rPr>
                                    <m:t>𝑋</m:t>
                                  </m:r>
                                </m:e>
                              </m:d>
                            </m:den>
                          </m:f>
                          <m:r>
                            <a:rPr lang="en-US" altLang="zh-CN" b="0" i="1" smtClean="0">
                              <a:latin typeface="Cambria Math" panose="02040503050406030204" pitchFamily="18" charset="0"/>
                            </a:rPr>
                            <m:t>𝐸</m:t>
                          </m:r>
                          <m:d>
                            <m:dPr>
                              <m:begChr m:val="["/>
                              <m:endChr m:val="]"/>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d>
                                    <m:dPr>
                                      <m:ctrlPr>
                                        <a:rPr lang="en-US" altLang="zh-CN" i="1">
                                          <a:latin typeface="Cambria Math" panose="02040503050406030204" pitchFamily="18" charset="0"/>
                                        </a:rPr>
                                      </m:ctrlPr>
                                    </m:dPr>
                                    <m:e>
                                      <m:r>
                                        <a:rPr lang="en-US" altLang="zh-CN" i="1">
                                          <a:latin typeface="Cambria Math" panose="02040503050406030204" pitchFamily="18" charset="0"/>
                                        </a:rPr>
                                        <m:t>1−</m:t>
                                      </m:r>
                                      <m:r>
                                        <a:rPr lang="en-US" altLang="zh-CN" i="1">
                                          <a:latin typeface="Cambria Math" panose="02040503050406030204" pitchFamily="18" charset="0"/>
                                        </a:rPr>
                                        <m:t>𝐷</m:t>
                                      </m:r>
                                    </m:e>
                                  </m:d>
                                  <m:r>
                                    <a:rPr lang="en-US" altLang="zh-CN" i="1">
                                      <a:latin typeface="Cambria Math" panose="02040503050406030204" pitchFamily="18" charset="0"/>
                                    </a:rPr>
                                    <m:t>𝑌</m:t>
                                  </m:r>
                                </m:num>
                                <m:den>
                                  <m:func>
                                    <m:funcPr>
                                      <m:ctrlPr>
                                        <a:rPr lang="en-US" altLang="zh-CN">
                                          <a:latin typeface="Cambria Math" panose="02040503050406030204" pitchFamily="18" charset="0"/>
                                        </a:rPr>
                                      </m:ctrlPr>
                                    </m:funcPr>
                                    <m:fName>
                                      <m:r>
                                        <m:rPr>
                                          <m:sty m:val="p"/>
                                        </m:rPr>
                                        <a:rPr lang="en-US" altLang="zh-CN">
                                          <a:latin typeface="Cambria Math" panose="02040503050406030204" pitchFamily="18" charset="0"/>
                                        </a:rPr>
                                        <m:t>Pr</m:t>
                                      </m:r>
                                    </m:fNa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𝐷</m:t>
                                          </m:r>
                                          <m:r>
                                            <a:rPr lang="en-US" altLang="zh-CN" i="1">
                                              <a:latin typeface="Cambria Math" panose="02040503050406030204" pitchFamily="18" charset="0"/>
                                            </a:rPr>
                                            <m:t>=1</m:t>
                                          </m:r>
                                        </m:e>
                                      </m:d>
                                    </m:e>
                                  </m:func>
                                </m:den>
                              </m:f>
                            </m:e>
                            <m:e>
                              <m:r>
                                <a:rPr lang="en-US" altLang="zh-CN" b="0" i="1" smtClean="0">
                                  <a:latin typeface="Cambria Math" panose="02040503050406030204" pitchFamily="18" charset="0"/>
                                </a:rPr>
                                <m:t>𝑋</m:t>
                              </m:r>
                            </m:e>
                          </m:d>
                        </m:e>
                      </m:d>
                    </m:oMath>
                    <m:oMath>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𝑒</m:t>
                              </m:r>
                              <m:d>
                                <m:dPr>
                                  <m:ctrlPr>
                                    <a:rPr lang="en-US" altLang="zh-CN" i="1">
                                      <a:latin typeface="Cambria Math" panose="02040503050406030204" pitchFamily="18" charset="0"/>
                                    </a:rPr>
                                  </m:ctrlPr>
                                </m:dPr>
                                <m:e>
                                  <m:r>
                                    <a:rPr lang="en-US" altLang="zh-CN" i="1">
                                      <a:latin typeface="Cambria Math" panose="02040503050406030204" pitchFamily="18" charset="0"/>
                                    </a:rPr>
                                    <m:t>𝑋</m:t>
                                  </m:r>
                                </m:e>
                              </m:d>
                            </m:num>
                            <m:den>
                              <m:r>
                                <a:rPr lang="en-US" altLang="zh-CN" i="1">
                                  <a:latin typeface="Cambria Math" panose="02040503050406030204" pitchFamily="18" charset="0"/>
                                </a:rPr>
                                <m:t>1−</m:t>
                              </m:r>
                              <m:r>
                                <a:rPr lang="en-US" altLang="zh-CN" i="1">
                                  <a:latin typeface="Cambria Math" panose="02040503050406030204" pitchFamily="18" charset="0"/>
                                </a:rPr>
                                <m:t>𝑒</m:t>
                              </m:r>
                              <m:d>
                                <m:dPr>
                                  <m:ctrlPr>
                                    <a:rPr lang="en-US" altLang="zh-CN" i="1">
                                      <a:latin typeface="Cambria Math" panose="02040503050406030204" pitchFamily="18" charset="0"/>
                                    </a:rPr>
                                  </m:ctrlPr>
                                </m:dPr>
                                <m:e>
                                  <m:r>
                                    <a:rPr lang="en-US" altLang="zh-CN" i="1">
                                      <a:latin typeface="Cambria Math" panose="02040503050406030204" pitchFamily="18" charset="0"/>
                                    </a:rPr>
                                    <m:t>𝑋</m:t>
                                  </m:r>
                                </m:e>
                              </m:d>
                            </m:den>
                          </m:f>
                          <m:r>
                            <a:rPr lang="en-US" altLang="zh-CN" i="1">
                              <a:latin typeface="Cambria Math" panose="02040503050406030204" pitchFamily="18" charset="0"/>
                            </a:rPr>
                            <m:t>𝐸</m:t>
                          </m:r>
                          <m:d>
                            <m:dPr>
                              <m:begChr m:val="["/>
                              <m:endChr m:val="]"/>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r>
                                    <a:rPr lang="en-US" altLang="zh-CN" i="1">
                                      <a:latin typeface="Cambria Math" panose="02040503050406030204" pitchFamily="18" charset="0"/>
                                    </a:rPr>
                                    <m:t>𝑌</m:t>
                                  </m:r>
                                </m:num>
                                <m:den>
                                  <m:func>
                                    <m:funcPr>
                                      <m:ctrlPr>
                                        <a:rPr lang="en-US" altLang="zh-CN">
                                          <a:latin typeface="Cambria Math" panose="02040503050406030204" pitchFamily="18" charset="0"/>
                                        </a:rPr>
                                      </m:ctrlPr>
                                    </m:funcPr>
                                    <m:fName>
                                      <m:r>
                                        <m:rPr>
                                          <m:sty m:val="p"/>
                                        </m:rPr>
                                        <a:rPr lang="en-US" altLang="zh-CN">
                                          <a:latin typeface="Cambria Math" panose="02040503050406030204" pitchFamily="18" charset="0"/>
                                        </a:rPr>
                                        <m:t>Pr</m:t>
                                      </m:r>
                                    </m:fNa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𝐷</m:t>
                                          </m:r>
                                          <m:r>
                                            <a:rPr lang="en-US" altLang="zh-CN" i="1">
                                              <a:latin typeface="Cambria Math" panose="02040503050406030204" pitchFamily="18" charset="0"/>
                                            </a:rPr>
                                            <m:t>=1</m:t>
                                          </m:r>
                                        </m:e>
                                      </m:d>
                                    </m:e>
                                  </m:func>
                                </m:den>
                              </m:f>
                            </m:e>
                            <m:e>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𝐷</m:t>
                              </m:r>
                              <m:r>
                                <a:rPr lang="en-US" altLang="zh-CN" i="1">
                                  <a:latin typeface="Cambria Math" panose="02040503050406030204" pitchFamily="18" charset="0"/>
                                </a:rPr>
                                <m:t>=0</m:t>
                              </m:r>
                            </m:e>
                          </m:d>
                          <m:r>
                            <m:rPr>
                              <m:sty m:val="p"/>
                            </m:rPr>
                            <a:rPr lang="en-US" altLang="zh-CN">
                              <a:latin typeface="Cambria Math" panose="02040503050406030204" pitchFamily="18" charset="0"/>
                            </a:rPr>
                            <m:t>Pr</m:t>
                          </m:r>
                          <m:r>
                            <a:rPr lang="en-US" altLang="zh-CN" i="1">
                              <a:latin typeface="Cambria Math" panose="02040503050406030204" pitchFamily="18" charset="0"/>
                            </a:rPr>
                            <m:t>⁡[</m:t>
                          </m:r>
                          <m:r>
                            <a:rPr lang="en-US" altLang="zh-CN" i="1">
                              <a:latin typeface="Cambria Math" panose="02040503050406030204" pitchFamily="18" charset="0"/>
                            </a:rPr>
                            <m:t>𝐷</m:t>
                          </m:r>
                          <m:r>
                            <a:rPr lang="en-US" altLang="zh-CN" i="1">
                              <a:latin typeface="Cambria Math" panose="02040503050406030204" pitchFamily="18" charset="0"/>
                            </a:rPr>
                            <m:t>=0|</m:t>
                          </m:r>
                          <m:r>
                            <a:rPr lang="en-US" altLang="zh-CN" i="1">
                              <a:latin typeface="Cambria Math" panose="02040503050406030204" pitchFamily="18" charset="0"/>
                            </a:rPr>
                            <m:t>𝑋</m:t>
                          </m:r>
                          <m:r>
                            <a:rPr lang="en-US" altLang="zh-CN" i="1">
                              <a:latin typeface="Cambria Math" panose="02040503050406030204" pitchFamily="18" charset="0"/>
                            </a:rPr>
                            <m:t>]</m:t>
                          </m:r>
                        </m:e>
                      </m:d>
                    </m:oMath>
                    <m:oMath>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𝑒</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num>
                            <m:den>
                              <m:func>
                                <m:funcPr>
                                  <m:ctrlPr>
                                    <a:rPr lang="en-US" altLang="zh-CN" b="0" i="0" smtClean="0">
                                      <a:latin typeface="Cambria Math" panose="02040503050406030204" pitchFamily="18" charset="0"/>
                                    </a:rPr>
                                  </m:ctrlPr>
                                </m:funcPr>
                                <m:fName>
                                  <m:r>
                                    <m:rPr>
                                      <m:sty m:val="p"/>
                                    </m:rPr>
                                    <a:rPr lang="en-US" altLang="zh-CN" b="0" i="0" smtClean="0">
                                      <a:latin typeface="Cambria Math" panose="02040503050406030204" pitchFamily="18" charset="0"/>
                                    </a:rPr>
                                    <m:t>Pr</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=1</m:t>
                                      </m:r>
                                    </m:e>
                                  </m:d>
                                </m:e>
                              </m:func>
                            </m:den>
                          </m:f>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e>
                              </m:d>
                            </m:e>
                            <m:e>
                              <m:r>
                                <a:rPr lang="en-US" altLang="zh-CN" b="0" i="1" smtClean="0">
                                  <a:latin typeface="Cambria Math" panose="02040503050406030204" pitchFamily="18" charset="0"/>
                                </a:rPr>
                                <m:t>𝑋</m:t>
                              </m:r>
                            </m:e>
                          </m:d>
                        </m:e>
                      </m:d>
                    </m:oMath>
                    <m:oMath>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𝐷𝑌</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e>
                                  </m:d>
                                </m:e>
                                <m:e>
                                  <m:r>
                                    <a:rPr lang="en-US" altLang="zh-CN" b="0" i="1" smtClean="0">
                                      <a:latin typeface="Cambria Math" panose="02040503050406030204" pitchFamily="18" charset="0"/>
                                    </a:rPr>
                                    <m:t>𝑋</m:t>
                                  </m:r>
                                </m:e>
                              </m:d>
                            </m:num>
                            <m:den>
                              <m:func>
                                <m:funcPr>
                                  <m:ctrlPr>
                                    <a:rPr lang="en-US" altLang="zh-CN" b="0" i="0" smtClean="0">
                                      <a:latin typeface="Cambria Math" panose="02040503050406030204" pitchFamily="18" charset="0"/>
                                    </a:rPr>
                                  </m:ctrlPr>
                                </m:funcPr>
                                <m:fName>
                                  <m:r>
                                    <m:rPr>
                                      <m:sty m:val="p"/>
                                    </m:rPr>
                                    <a:rPr lang="en-US" altLang="zh-CN" b="0" i="0" smtClean="0">
                                      <a:latin typeface="Cambria Math" panose="02040503050406030204" pitchFamily="18" charset="0"/>
                                    </a:rPr>
                                    <m:t>Pr</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=1</m:t>
                                      </m:r>
                                    </m:e>
                                  </m:d>
                                </m:e>
                              </m:func>
                            </m:den>
                          </m:f>
                        </m:e>
                      </m:d>
                    </m:oMath>
                    <m:o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𝐷𝑌</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e>
                              </m:d>
                            </m:e>
                          </m:d>
                        </m:num>
                        <m:den>
                          <m:func>
                            <m:funcPr>
                              <m:ctrlPr>
                                <a:rPr lang="en-US" altLang="zh-CN" b="0" i="0" smtClean="0">
                                  <a:latin typeface="Cambria Math" panose="02040503050406030204" pitchFamily="18" charset="0"/>
                                </a:rPr>
                              </m:ctrlPr>
                            </m:funcPr>
                            <m:fName>
                              <m:r>
                                <m:rPr>
                                  <m:sty m:val="p"/>
                                </m:rPr>
                                <a:rPr lang="en-US" altLang="zh-CN" b="0" i="0" smtClean="0">
                                  <a:latin typeface="Cambria Math" panose="02040503050406030204" pitchFamily="18" charset="0"/>
                                </a:rPr>
                                <m:t>Pr</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=1</m:t>
                                  </m:r>
                                </m:e>
                              </m:d>
                            </m:e>
                          </m:func>
                        </m:den>
                      </m:f>
                    </m:oMath>
                    <m:oMath>
                      <m:r>
                        <a:rPr lang="en-US" altLang="zh-CN" b="0" i="1" smtClean="0">
                          <a:latin typeface="Cambria Math" panose="02040503050406030204" pitchFamily="18" charset="0"/>
                        </a:rPr>
                        <m:t>=</m:t>
                      </m:r>
                      <m:r>
                        <a:rPr lang="en-US" altLang="zh-CN" b="0" i="1" smtClean="0">
                          <a:latin typeface="Cambria Math" panose="02040503050406030204" pitchFamily="18" charset="0"/>
                        </a:rPr>
                        <m:t>𝐸</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𝑌</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m:t>
                              </m:r>
                            </m:e>
                          </m:d>
                        </m:e>
                        <m:e>
                          <m:r>
                            <a:rPr lang="en-US" altLang="zh-CN" b="0" i="1" smtClean="0">
                              <a:latin typeface="Cambria Math" panose="02040503050406030204" pitchFamily="18" charset="0"/>
                            </a:rPr>
                            <m:t>𝐷</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oMath>
                  </m:oMathPara>
                </a14:m>
                <a:endParaRPr lang="en-US" altLang="zh-CN" b="0" dirty="0"/>
              </a:p>
              <a:p>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9EF7A6C8-F4C9-E0EE-A816-CD35F84B987A}"/>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l="-232" t="-111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E541EEC-478C-6AF8-DE10-826FD36D14D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7F9EC63-BBA9-3F6E-0B0C-984B009DE97D}"/>
              </a:ext>
            </a:extLst>
          </p:cNvPr>
          <p:cNvSpPr>
            <a:spLocks noGrp="1"/>
          </p:cNvSpPr>
          <p:nvPr>
            <p:ph type="sldNum" sz="quarter" idx="12"/>
          </p:nvPr>
        </p:nvSpPr>
        <p:spPr/>
        <p:txBody>
          <a:bodyPr/>
          <a:lstStyle/>
          <a:p>
            <a:fld id="{D41FC515-8169-4A29-AA56-DBE520D5741B}" type="slidenum">
              <a:rPr lang="zh-CN" altLang="en-US" smtClean="0"/>
              <a:t>30</a:t>
            </a:fld>
            <a:endParaRPr lang="zh-CN" altLang="en-US"/>
          </a:p>
        </p:txBody>
      </p:sp>
    </p:spTree>
    <p:extLst>
      <p:ext uri="{BB962C8B-B14F-4D97-AF65-F5344CB8AC3E}">
        <p14:creationId xmlns:p14="http://schemas.microsoft.com/office/powerpoint/2010/main" val="4052047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B259A8-AA8B-EC46-15C0-AEBD7FB7A979}"/>
              </a:ext>
            </a:extLst>
          </p:cNvPr>
          <p:cNvSpPr>
            <a:spLocks noGrp="1"/>
          </p:cNvSpPr>
          <p:nvPr>
            <p:ph type="title"/>
          </p:nvPr>
        </p:nvSpPr>
        <p:spPr/>
        <p:txBody>
          <a:bodyPr/>
          <a:lstStyle/>
          <a:p>
            <a:r>
              <a:rPr lang="zh-CN" altLang="en-US" dirty="0"/>
              <a:t>加权</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5E18EDD-079A-7F20-52E2-6E739ED5C816}"/>
                  </a:ext>
                </a:extLst>
              </p:cNvPr>
              <p:cNvSpPr>
                <a:spLocks noGrp="1"/>
              </p:cNvSpPr>
              <p:nvPr>
                <p:ph idx="1"/>
              </p:nvPr>
            </p:nvSpPr>
            <p:spPr>
              <a:xfrm>
                <a:off x="628650" y="1825624"/>
                <a:ext cx="7886700" cy="4530727"/>
              </a:xfrm>
            </p:spPr>
            <p:txBody>
              <a:bodyPr>
                <a:normAutofit/>
              </a:bodyPr>
              <a:lstStyle/>
              <a:p>
                <a:r>
                  <a:rPr lang="zh-CN" altLang="en-US" sz="1600" dirty="0"/>
                  <a:t>相应</a:t>
                </a:r>
                <a:r>
                  <a:rPr lang="en-US" altLang="zh-CN" sz="1600" dirty="0"/>
                  <a:t>HT </a:t>
                </a:r>
                <a:r>
                  <a:rPr lang="zh-CN" altLang="en-US" sz="1600" dirty="0"/>
                  <a:t>加权估计量为</a:t>
                </a:r>
                <a:endParaRPr lang="en-US" altLang="zh-CN" sz="1600" dirty="0"/>
              </a:p>
              <a:p>
                <a:pPr marL="0" indent="0">
                  <a:buNone/>
                </a:pPr>
                <a14:m>
                  <m:oMathPara xmlns:m="http://schemas.openxmlformats.org/officeDocument/2006/math">
                    <m:oMath>
                      <m:sSubSup>
                        <m:sSubSupPr>
                          <m:ctrlPr>
                            <a:rPr lang="en-US" altLang="zh-CN" sz="1600" b="0" i="1" smtClean="0">
                              <a:latin typeface="Cambria Math" panose="02040503050406030204" pitchFamily="18" charset="0"/>
                            </a:rPr>
                          </m:ctrlPr>
                        </m:sSub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𝜏</m:t>
                              </m:r>
                            </m:e>
                          </m:acc>
                        </m:e>
                        <m:sub>
                          <m:r>
                            <a:rPr lang="en-US" altLang="zh-CN" sz="1600" b="0" i="1" dirty="0" smtClean="0">
                              <a:latin typeface="Cambria Math" panose="02040503050406030204" pitchFamily="18" charset="0"/>
                            </a:rPr>
                            <m:t>𝐴𝑇𝑇</m:t>
                          </m:r>
                        </m:sub>
                        <m:sup>
                          <m:r>
                            <a:rPr lang="en-US" altLang="zh-CN" sz="1600" b="0" i="1" dirty="0" smtClean="0">
                              <a:latin typeface="Cambria Math" panose="02040503050406030204" pitchFamily="18" charset="0"/>
                            </a:rPr>
                            <m:t>ℎ𝑡</m:t>
                          </m:r>
                        </m:sup>
                      </m:sSubSup>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𝑌</m:t>
                              </m:r>
                            </m:e>
                          </m:acc>
                        </m:e>
                        <m:sub>
                          <m:r>
                            <a:rPr lang="en-US" altLang="zh-CN" sz="1600" b="0" i="1" dirty="0" smtClean="0">
                              <a:latin typeface="Cambria Math" panose="02040503050406030204" pitchFamily="18" charset="0"/>
                            </a:rPr>
                            <m:t>𝑡</m:t>
                          </m:r>
                        </m:sub>
                      </m:sSub>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1</m:t>
                          </m:r>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𝑛</m:t>
                              </m:r>
                            </m:e>
                            <m:sub>
                              <m:r>
                                <a:rPr lang="en-US" altLang="zh-CN" sz="1600" b="0" i="1" dirty="0" smtClean="0">
                                  <a:latin typeface="Cambria Math" panose="02040503050406030204" pitchFamily="18" charset="0"/>
                                </a:rPr>
                                <m:t>1</m:t>
                              </m:r>
                            </m:sub>
                          </m:sSub>
                        </m:den>
                      </m:f>
                      <m:nary>
                        <m:naryPr>
                          <m:chr m:val="∑"/>
                          <m:ctrlPr>
                            <a:rPr lang="en-US" altLang="zh-CN" sz="1600" b="0" i="1" dirty="0" smtClean="0">
                              <a:latin typeface="Cambria Math" panose="02040503050406030204" pitchFamily="18" charset="0"/>
                            </a:rPr>
                          </m:ctrlPr>
                        </m:naryPr>
                        <m:sub>
                          <m:r>
                            <a:rPr lang="en-US" altLang="zh-CN" sz="1600" b="0" i="1" dirty="0" smtClean="0">
                              <a:latin typeface="Cambria Math" panose="02040503050406030204" pitchFamily="18" charset="0"/>
                            </a:rPr>
                            <m:t>𝑖</m:t>
                          </m:r>
                        </m:sub>
                        <m:sup>
                          <m:r>
                            <a:rPr lang="en-US" altLang="zh-CN" sz="1600" b="0" i="1" dirty="0" smtClean="0">
                              <a:latin typeface="Cambria Math" panose="02040503050406030204" pitchFamily="18" charset="0"/>
                            </a:rPr>
                            <m:t>𝑛</m:t>
                          </m:r>
                        </m:sup>
                        <m:e>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𝑜</m:t>
                              </m:r>
                            </m:e>
                          </m:acc>
                          <m:d>
                            <m:dPr>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𝑋</m:t>
                                  </m:r>
                                </m:e>
                                <m:sub>
                                  <m:r>
                                    <a:rPr lang="en-US" altLang="zh-CN" sz="1600" b="0" i="1" dirty="0" smtClean="0">
                                      <a:latin typeface="Cambria Math" panose="02040503050406030204" pitchFamily="18" charset="0"/>
                                    </a:rPr>
                                    <m:t>𝑖</m:t>
                                  </m:r>
                                </m:sub>
                              </m:sSub>
                            </m:e>
                          </m:d>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1−</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𝐷</m:t>
                                  </m:r>
                                </m:e>
                                <m:sub>
                                  <m:r>
                                    <a:rPr lang="en-US" altLang="zh-CN" sz="1600" b="0" i="1" dirty="0" smtClean="0">
                                      <a:latin typeface="Cambria Math" panose="02040503050406030204" pitchFamily="18" charset="0"/>
                                    </a:rPr>
                                    <m:t>𝑖</m:t>
                                  </m:r>
                                </m:sub>
                              </m:sSub>
                            </m:e>
                          </m:d>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𝑌</m:t>
                              </m:r>
                            </m:e>
                            <m:sub>
                              <m:r>
                                <a:rPr lang="en-US" altLang="zh-CN" sz="1600" b="0" i="1" dirty="0" smtClean="0">
                                  <a:latin typeface="Cambria Math" panose="02040503050406030204" pitchFamily="18" charset="0"/>
                                </a:rPr>
                                <m:t>𝑖</m:t>
                              </m:r>
                            </m:sub>
                          </m:sSub>
                        </m:e>
                      </m:nary>
                      <m:r>
                        <a:rPr lang="en-US" altLang="zh-CN" sz="1600" b="0" i="1" dirty="0" smtClean="0">
                          <a:latin typeface="Cambria Math" panose="02040503050406030204" pitchFamily="18" charset="0"/>
                        </a:rPr>
                        <m:t>,</m:t>
                      </m:r>
                    </m:oMath>
                  </m:oMathPara>
                </a14:m>
                <a:endParaRPr lang="en-US" altLang="zh-CN" sz="1600" dirty="0"/>
              </a:p>
              <a:p>
                <a:r>
                  <a:rPr lang="zh-CN" altLang="en-US" sz="1600" dirty="0"/>
                  <a:t>其中</a:t>
                </a:r>
                <a:endParaRPr lang="en-US" altLang="zh-CN" sz="1600" dirty="0"/>
              </a:p>
              <a:p>
                <a:pPr marL="0" indent="0">
                  <a:buNone/>
                </a:pPr>
                <a14:m>
                  <m:oMathPara xmlns:m="http://schemas.openxmlformats.org/officeDocument/2006/math">
                    <m:oMath>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𝑜</m:t>
                          </m:r>
                        </m:e>
                      </m:acc>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𝑋</m:t>
                          </m:r>
                        </m:e>
                      </m:d>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𝑒</m:t>
                              </m:r>
                            </m:e>
                          </m:acc>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𝑋</m:t>
                              </m:r>
                            </m:e>
                          </m:d>
                        </m:num>
                        <m:den>
                          <m:r>
                            <a:rPr lang="en-US" altLang="zh-CN" sz="1600" b="0" i="1" dirty="0" smtClean="0">
                              <a:latin typeface="Cambria Math" panose="02040503050406030204" pitchFamily="18" charset="0"/>
                            </a:rPr>
                            <m:t>1−</m:t>
                          </m:r>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𝑒</m:t>
                              </m:r>
                            </m:e>
                          </m:acc>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den>
                      </m:f>
                      <m:r>
                        <a:rPr lang="en-US" altLang="zh-CN" sz="1600" b="0" i="1" dirty="0" smtClean="0">
                          <a:latin typeface="Cambria Math" panose="02040503050406030204" pitchFamily="18" charset="0"/>
                        </a:rPr>
                        <m:t>.</m:t>
                      </m:r>
                    </m:oMath>
                  </m:oMathPara>
                </a14:m>
                <a:endParaRPr lang="en-US" altLang="zh-CN" sz="1600" dirty="0"/>
              </a:p>
              <a:p>
                <a:r>
                  <a:rPr lang="zh-CN" altLang="en-US" sz="1600" dirty="0"/>
                  <a:t>标准化的</a:t>
                </a:r>
                <a:r>
                  <a:rPr lang="en-US" altLang="zh-CN" sz="1600" dirty="0"/>
                  <a:t>HT </a:t>
                </a:r>
                <a:r>
                  <a:rPr lang="zh-CN" altLang="en-US" sz="1600" dirty="0"/>
                  <a:t>估计量为</a:t>
                </a:r>
                <a:endParaRPr lang="en-US" altLang="zh-CN" sz="1600" dirty="0"/>
              </a:p>
              <a:p>
                <a:pPr marL="0" indent="0">
                  <a:buNone/>
                </a:pPr>
                <a14:m>
                  <m:oMathPara xmlns:m="http://schemas.openxmlformats.org/officeDocument/2006/math">
                    <m:oMath>
                      <m:sSubSup>
                        <m:sSubSupPr>
                          <m:ctrlPr>
                            <a:rPr lang="en-US" altLang="zh-CN" sz="1600" b="0" i="1" smtClean="0">
                              <a:latin typeface="Cambria Math" panose="02040503050406030204" pitchFamily="18" charset="0"/>
                            </a:rPr>
                          </m:ctrlPr>
                        </m:sSub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𝜏</m:t>
                              </m:r>
                            </m:e>
                          </m:acc>
                        </m:e>
                        <m:sub>
                          <m:r>
                            <a:rPr lang="en-US" altLang="zh-CN" sz="1600" b="0" i="1" dirty="0" smtClean="0">
                              <a:latin typeface="Cambria Math" panose="02040503050406030204" pitchFamily="18" charset="0"/>
                            </a:rPr>
                            <m:t>𝐴𝑇𝑇</m:t>
                          </m:r>
                        </m:sub>
                        <m:sup>
                          <m:r>
                            <a:rPr lang="en-US" altLang="zh-CN" sz="1600" b="0" i="1" dirty="0" smtClean="0">
                              <a:latin typeface="Cambria Math" panose="02040503050406030204" pitchFamily="18" charset="0"/>
                            </a:rPr>
                            <m:t>𝑛ℎ𝑡</m:t>
                          </m:r>
                        </m:sup>
                      </m:sSubSup>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𝑌</m:t>
                              </m:r>
                            </m:e>
                          </m:acc>
                        </m:e>
                        <m:sub>
                          <m:r>
                            <a:rPr lang="en-US" altLang="zh-CN" sz="1600" b="0" i="1" dirty="0" smtClean="0">
                              <a:latin typeface="Cambria Math" panose="02040503050406030204" pitchFamily="18" charset="0"/>
                            </a:rPr>
                            <m:t>𝑡</m:t>
                          </m:r>
                        </m:sub>
                      </m:sSub>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nary>
                            <m:naryPr>
                              <m:chr m:val="∑"/>
                              <m:ctrlPr>
                                <a:rPr lang="en-US" altLang="zh-CN" sz="1600" b="0" i="1" dirty="0" smtClean="0">
                                  <a:latin typeface="Cambria Math" panose="02040503050406030204" pitchFamily="18" charset="0"/>
                                </a:rPr>
                              </m:ctrlPr>
                            </m:naryPr>
                            <m:sub>
                              <m:r>
                                <a:rPr lang="en-US" altLang="zh-CN" sz="1600" b="0" i="1" dirty="0" smtClean="0">
                                  <a:latin typeface="Cambria Math" panose="02040503050406030204" pitchFamily="18" charset="0"/>
                                </a:rPr>
                                <m:t>𝑖</m:t>
                              </m:r>
                              <m:r>
                                <a:rPr lang="en-US" altLang="zh-CN" sz="1600" b="0" i="1" dirty="0" smtClean="0">
                                  <a:latin typeface="Cambria Math" panose="02040503050406030204" pitchFamily="18" charset="0"/>
                                </a:rPr>
                                <m:t>=1</m:t>
                              </m:r>
                            </m:sub>
                            <m:sup>
                              <m:r>
                                <a:rPr lang="en-US" altLang="zh-CN" sz="1600" b="0" i="1" dirty="0" smtClean="0">
                                  <a:latin typeface="Cambria Math" panose="02040503050406030204" pitchFamily="18" charset="0"/>
                                </a:rPr>
                                <m:t>𝑛</m:t>
                              </m:r>
                            </m:sup>
                            <m:e>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𝑜</m:t>
                                  </m:r>
                                </m:e>
                              </m:acc>
                              <m:d>
                                <m:dPr>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𝑋</m:t>
                                      </m:r>
                                    </m:e>
                                    <m:sub>
                                      <m:r>
                                        <a:rPr lang="en-US" altLang="zh-CN" sz="1600" b="0" i="1" dirty="0" smtClean="0">
                                          <a:latin typeface="Cambria Math" panose="02040503050406030204" pitchFamily="18" charset="0"/>
                                        </a:rPr>
                                        <m:t>𝑖</m:t>
                                      </m:r>
                                    </m:sub>
                                  </m:sSub>
                                </m:e>
                              </m:d>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1−</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𝐷</m:t>
                                      </m:r>
                                    </m:e>
                                    <m:sub>
                                      <m:r>
                                        <a:rPr lang="en-US" altLang="zh-CN" sz="1600" b="0" i="1" dirty="0" smtClean="0">
                                          <a:latin typeface="Cambria Math" panose="02040503050406030204" pitchFamily="18" charset="0"/>
                                        </a:rPr>
                                        <m:t>𝑖</m:t>
                                      </m:r>
                                    </m:sub>
                                  </m:sSub>
                                </m:e>
                              </m:d>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𝑌</m:t>
                                  </m:r>
                                </m:e>
                                <m:sub>
                                  <m:r>
                                    <a:rPr lang="en-US" altLang="zh-CN" sz="1600" b="0" i="1" dirty="0" smtClean="0">
                                      <a:latin typeface="Cambria Math" panose="02040503050406030204" pitchFamily="18" charset="0"/>
                                    </a:rPr>
                                    <m:t>𝑖</m:t>
                                  </m:r>
                                </m:sub>
                              </m:sSub>
                            </m:e>
                          </m:nary>
                        </m:num>
                        <m:den>
                          <m:nary>
                            <m:naryPr>
                              <m:chr m:val="∑"/>
                              <m:ctrlPr>
                                <a:rPr lang="en-US" altLang="zh-CN" sz="1600" i="1" dirty="0">
                                  <a:latin typeface="Cambria Math" panose="02040503050406030204" pitchFamily="18" charset="0"/>
                                </a:rPr>
                              </m:ctrlPr>
                            </m:naryPr>
                            <m:sub>
                              <m:r>
                                <a:rPr lang="en-US" altLang="zh-CN" sz="1600" i="1" dirty="0">
                                  <a:latin typeface="Cambria Math" panose="02040503050406030204" pitchFamily="18" charset="0"/>
                                </a:rPr>
                                <m:t>𝑖</m:t>
                              </m:r>
                              <m:r>
                                <a:rPr lang="en-US" altLang="zh-CN" sz="1600" b="0" i="1" dirty="0" smtClean="0">
                                  <a:latin typeface="Cambria Math" panose="02040503050406030204" pitchFamily="18" charset="0"/>
                                </a:rPr>
                                <m:t>=1</m:t>
                              </m:r>
                            </m:sub>
                            <m:sup>
                              <m:r>
                                <a:rPr lang="en-US" altLang="zh-CN" sz="1600" i="1" dirty="0">
                                  <a:latin typeface="Cambria Math" panose="02040503050406030204" pitchFamily="18" charset="0"/>
                                </a:rPr>
                                <m:t>𝑛</m:t>
                              </m:r>
                            </m:sup>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𝑜</m:t>
                                  </m:r>
                                </m:e>
                              </m:acc>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𝑋</m:t>
                                      </m:r>
                                    </m:e>
                                    <m:sub>
                                      <m:r>
                                        <a:rPr lang="en-US" altLang="zh-CN" sz="1600" i="1" dirty="0">
                                          <a:latin typeface="Cambria Math" panose="02040503050406030204" pitchFamily="18" charset="0"/>
                                        </a:rPr>
                                        <m:t>𝑖</m:t>
                                      </m:r>
                                    </m:sub>
                                  </m:sSub>
                                </m:e>
                              </m:d>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1−</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𝐷</m:t>
                                      </m:r>
                                    </m:e>
                                    <m:sub>
                                      <m:r>
                                        <a:rPr lang="en-US" altLang="zh-CN" sz="1600" i="1" dirty="0">
                                          <a:latin typeface="Cambria Math" panose="02040503050406030204" pitchFamily="18" charset="0"/>
                                        </a:rPr>
                                        <m:t>𝑖</m:t>
                                      </m:r>
                                    </m:sub>
                                  </m:sSub>
                                </m:e>
                              </m:d>
                              <m:r>
                                <a:rPr lang="en-US" altLang="zh-CN" sz="1600" i="1" dirty="0">
                                  <a:latin typeface="Cambria Math" panose="02040503050406030204" pitchFamily="18" charset="0"/>
                                </a:rPr>
                                <m:t>  </m:t>
                              </m:r>
                            </m:e>
                          </m:nary>
                        </m:den>
                      </m:f>
                      <m:r>
                        <a:rPr lang="en-US" altLang="zh-CN" sz="1600" b="0" i="1" dirty="0" smtClean="0">
                          <a:latin typeface="Cambria Math" panose="02040503050406030204" pitchFamily="18" charset="0"/>
                        </a:rPr>
                        <m:t>.</m:t>
                      </m:r>
                    </m:oMath>
                  </m:oMathPara>
                </a14:m>
                <a:endParaRPr lang="en-US" altLang="zh-CN" sz="1600" dirty="0"/>
              </a:p>
              <a:p>
                <a:r>
                  <a:rPr lang="zh-CN" altLang="en-US" sz="1600" dirty="0"/>
                  <a:t>双重稳健估计量：</a:t>
                </a:r>
                <a:endParaRPr lang="en-US" altLang="zh-CN" sz="1600" dirty="0"/>
              </a:p>
              <a:p>
                <a:pPr marL="0" indent="0">
                  <a:buNone/>
                </a:pPr>
                <a14:m>
                  <m:oMathPara xmlns:m="http://schemas.openxmlformats.org/officeDocument/2006/math">
                    <m:oMath>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𝜏</m:t>
                          </m:r>
                        </m:e>
                        <m:sub>
                          <m:r>
                            <a:rPr lang="en-US" altLang="zh-CN" sz="1600" b="0" i="1" smtClean="0">
                              <a:latin typeface="Cambria Math" panose="02040503050406030204" pitchFamily="18" charset="0"/>
                            </a:rPr>
                            <m:t>𝐴𝑇𝑇</m:t>
                          </m:r>
                        </m:sub>
                        <m:sup>
                          <m:r>
                            <a:rPr lang="en-US" altLang="zh-CN" sz="1600" b="0" i="1" smtClean="0">
                              <a:latin typeface="Cambria Math" panose="02040503050406030204" pitchFamily="18" charset="0"/>
                            </a:rPr>
                            <m:t>𝑑𝑟</m:t>
                          </m:r>
                        </m:sup>
                      </m:sSubSup>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𝐸</m:t>
                      </m:r>
                      <m:d>
                        <m:dPr>
                          <m:begChr m:val="["/>
                          <m:end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𝑌</m:t>
                          </m:r>
                        </m:e>
                        <m:e>
                          <m:r>
                            <a:rPr lang="en-US" altLang="zh-CN" sz="1600" b="0" i="1" smtClean="0">
                              <a:latin typeface="Cambria Math" panose="02040503050406030204" pitchFamily="18" charset="0"/>
                            </a:rPr>
                            <m:t>𝐷</m:t>
                          </m:r>
                          <m:r>
                            <a:rPr lang="en-US" altLang="zh-CN" sz="1600" b="0" i="1" smtClean="0">
                              <a:latin typeface="Cambria Math" panose="02040503050406030204" pitchFamily="18" charset="0"/>
                            </a:rPr>
                            <m:t>=1</m:t>
                          </m:r>
                        </m:e>
                      </m:d>
                      <m:r>
                        <a:rPr lang="en-US" altLang="zh-CN" sz="1600" b="0" i="1" smtClean="0">
                          <a:latin typeface="Cambria Math" panose="02040503050406030204" pitchFamily="18" charset="0"/>
                        </a:rPr>
                        <m:t>−</m:t>
                      </m:r>
                      <m:sSubSup>
                        <m:sSubSupPr>
                          <m:ctrlPr>
                            <a:rPr lang="en-US" altLang="zh-CN" sz="1600" b="0" i="1" smtClean="0">
                              <a:latin typeface="Cambria Math" panose="02040503050406030204" pitchFamily="18" charset="0"/>
                            </a:rPr>
                          </m:ctrlPr>
                        </m:sSub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𝜇</m:t>
                              </m:r>
                            </m:e>
                          </m:acc>
                        </m:e>
                        <m:sub>
                          <m:r>
                            <a:rPr lang="en-US" altLang="zh-CN" sz="1600" b="0" i="1" smtClean="0">
                              <a:latin typeface="Cambria Math" panose="02040503050406030204" pitchFamily="18" charset="0"/>
                            </a:rPr>
                            <m:t>0</m:t>
                          </m:r>
                          <m:r>
                            <a:rPr lang="en-US" altLang="zh-CN" sz="1600" b="0" i="1" smtClean="0">
                              <a:latin typeface="Cambria Math" panose="02040503050406030204" pitchFamily="18" charset="0"/>
                            </a:rPr>
                            <m:t>𝑇</m:t>
                          </m:r>
                        </m:sub>
                        <m:sup>
                          <m:r>
                            <a:rPr lang="en-US" altLang="zh-CN" sz="1600" b="0" i="1" smtClean="0">
                              <a:latin typeface="Cambria Math" panose="02040503050406030204" pitchFamily="18" charset="0"/>
                            </a:rPr>
                            <m:t>𝑑𝑟</m:t>
                          </m:r>
                        </m:sup>
                      </m:sSubSup>
                      <m:r>
                        <a:rPr lang="en-US" altLang="zh-CN" sz="1600" b="0" i="1" smtClean="0">
                          <a:latin typeface="Cambria Math" panose="02040503050406030204" pitchFamily="18" charset="0"/>
                        </a:rPr>
                        <m:t>,</m:t>
                      </m:r>
                    </m:oMath>
                  </m:oMathPara>
                </a14:m>
                <a:endParaRPr lang="en-US" altLang="zh-CN" sz="1600" dirty="0"/>
              </a:p>
              <a:p>
                <a:r>
                  <a:rPr lang="zh-CN" altLang="en-US" sz="1600" dirty="0"/>
                  <a:t>其中</a:t>
                </a:r>
                <a:endParaRPr lang="en-US" altLang="zh-CN" sz="1600" dirty="0"/>
              </a:p>
              <a:p>
                <a:pPr marL="0" indent="0" algn="ctr">
                  <a:buNone/>
                </a:pPr>
                <a14:m>
                  <m:oMath xmlns:m="http://schemas.openxmlformats.org/officeDocument/2006/math">
                    <m:sSubSup>
                      <m:sSubSupPr>
                        <m:ctrlPr>
                          <a:rPr lang="en-US" altLang="zh-CN" sz="1600" b="0" i="1" smtClean="0">
                            <a:latin typeface="Cambria Math" panose="02040503050406030204" pitchFamily="18" charset="0"/>
                          </a:rPr>
                        </m:ctrlPr>
                      </m:sSub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𝜇</m:t>
                            </m:r>
                          </m:e>
                        </m:acc>
                      </m:e>
                      <m:sub>
                        <m:r>
                          <a:rPr lang="en-US" altLang="zh-CN" sz="1600" b="0" i="1" dirty="0" smtClean="0">
                            <a:latin typeface="Cambria Math" panose="02040503050406030204" pitchFamily="18" charset="0"/>
                          </a:rPr>
                          <m:t>0</m:t>
                        </m:r>
                        <m:r>
                          <a:rPr lang="en-US" altLang="zh-CN" sz="1600" b="0" i="1" dirty="0" smtClean="0">
                            <a:latin typeface="Cambria Math" panose="02040503050406030204" pitchFamily="18" charset="0"/>
                          </a:rPr>
                          <m:t>𝑇</m:t>
                        </m:r>
                      </m:sub>
                      <m:sup>
                        <m:r>
                          <a:rPr lang="en-US" altLang="zh-CN" sz="1600" b="0" i="1" dirty="0" smtClean="0">
                            <a:latin typeface="Cambria Math" panose="02040503050406030204" pitchFamily="18" charset="0"/>
                          </a:rPr>
                          <m:t>𝑑𝑟</m:t>
                        </m:r>
                      </m:sup>
                    </m:sSubSup>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𝐸</m:t>
                    </m:r>
                    <m:d>
                      <m:dPr>
                        <m:begChr m:val="["/>
                        <m:endChr m:val="]"/>
                        <m:ctrlPr>
                          <a:rPr lang="en-US" altLang="zh-CN" sz="1600" b="0" i="1" dirty="0" smtClean="0">
                            <a:latin typeface="Cambria Math" panose="02040503050406030204" pitchFamily="18" charset="0"/>
                          </a:rPr>
                        </m:ctrlPr>
                      </m:dPr>
                      <m:e>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𝑒</m:t>
                            </m:r>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𝛼</m:t>
                                </m:r>
                              </m:e>
                            </m:d>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1−</m:t>
                                </m:r>
                                <m:r>
                                  <a:rPr lang="en-US" altLang="zh-CN" sz="1600" b="0" i="1" dirty="0" smtClean="0">
                                    <a:latin typeface="Cambria Math" panose="02040503050406030204" pitchFamily="18" charset="0"/>
                                  </a:rPr>
                                  <m:t>𝐷</m:t>
                                </m:r>
                              </m:e>
                            </m:d>
                          </m:num>
                          <m:den>
                            <m:r>
                              <a:rPr lang="en-US" altLang="zh-CN" sz="1600" b="0" i="1" dirty="0" smtClean="0">
                                <a:latin typeface="Cambria Math" panose="02040503050406030204" pitchFamily="18" charset="0"/>
                              </a:rPr>
                              <m:t>1−</m:t>
                            </m:r>
                            <m:r>
                              <a:rPr lang="en-US" altLang="zh-CN" sz="1600" b="0" i="1" dirty="0" smtClean="0">
                                <a:latin typeface="Cambria Math" panose="02040503050406030204" pitchFamily="18" charset="0"/>
                              </a:rPr>
                              <m:t>𝑒</m:t>
                            </m:r>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𝛼</m:t>
                                </m:r>
                              </m:e>
                            </m:d>
                          </m:den>
                        </m:f>
                        <m:d>
                          <m:dPr>
                            <m:begChr m:val="["/>
                            <m:endChr m:val="]"/>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𝑌</m:t>
                            </m:r>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𝜇</m:t>
                                </m:r>
                              </m:e>
                              <m:sub>
                                <m:r>
                                  <a:rPr lang="en-US" altLang="zh-CN" sz="1600" i="1" dirty="0">
                                    <a:latin typeface="Cambria Math" panose="02040503050406030204" pitchFamily="18" charset="0"/>
                                  </a:rPr>
                                  <m:t>0</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𝑋</m:t>
                                </m:r>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𝛽</m:t>
                                    </m:r>
                                  </m:e>
                                  <m:sub>
                                    <m:r>
                                      <a:rPr lang="en-US" altLang="zh-CN" sz="1600" i="1" dirty="0">
                                        <a:latin typeface="Cambria Math" panose="02040503050406030204" pitchFamily="18" charset="0"/>
                                      </a:rPr>
                                      <m:t>0</m:t>
                                    </m:r>
                                  </m:sub>
                                </m:sSub>
                              </m:e>
                            </m:d>
                          </m:e>
                        </m:d>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𝐷</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𝜇</m:t>
                            </m:r>
                          </m:e>
                          <m:sub>
                            <m:r>
                              <a:rPr lang="en-US" altLang="zh-CN" sz="1600" b="0" i="1" dirty="0" smtClean="0">
                                <a:latin typeface="Cambria Math" panose="02040503050406030204" pitchFamily="18" charset="0"/>
                              </a:rPr>
                              <m:t>0</m:t>
                            </m:r>
                          </m:sub>
                        </m:sSub>
                        <m:d>
                          <m:dPr>
                            <m:ctrlPr>
                              <a:rPr lang="en-US" altLang="zh-CN" sz="1600" b="0" i="1" dirty="0" smtClean="0">
                                <a:latin typeface="Cambria Math" panose="02040503050406030204" pitchFamily="18" charset="0"/>
                              </a:rPr>
                            </m:ctrlPr>
                          </m:dPr>
                          <m:e>
                            <m:r>
                              <a:rPr lang="en-US" altLang="zh-CN" sz="1600" b="0" i="1" dirty="0" smtClean="0">
                                <a:latin typeface="Cambria Math" panose="02040503050406030204" pitchFamily="18" charset="0"/>
                              </a:rPr>
                              <m:t>𝑋</m:t>
                            </m:r>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𝛽</m:t>
                                </m:r>
                              </m:e>
                              <m:sub>
                                <m:r>
                                  <a:rPr lang="en-US" altLang="zh-CN" sz="1600" b="0" i="1" dirty="0" smtClean="0">
                                    <a:latin typeface="Cambria Math" panose="02040503050406030204" pitchFamily="18" charset="0"/>
                                  </a:rPr>
                                  <m:t>0</m:t>
                                </m:r>
                              </m:sub>
                            </m:sSub>
                          </m:e>
                        </m:d>
                      </m:e>
                    </m:d>
                    <m:r>
                      <a:rPr lang="en-US" altLang="zh-CN" sz="1600" b="0" i="1" dirty="0" smtClean="0">
                        <a:latin typeface="Cambria Math" panose="02040503050406030204" pitchFamily="18" charset="0"/>
                      </a:rPr>
                      <m:t>/</m:t>
                    </m:r>
                    <m:r>
                      <m:rPr>
                        <m:sty m:val="p"/>
                      </m:rPr>
                      <a:rPr lang="en-US" altLang="zh-CN" sz="1600" b="0" i="0" dirty="0" smtClean="0">
                        <a:latin typeface="Cambria Math" panose="02040503050406030204" pitchFamily="18" charset="0"/>
                      </a:rPr>
                      <m:t>Pr</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𝐷</m:t>
                    </m:r>
                    <m:r>
                      <a:rPr lang="en-US" altLang="zh-CN" sz="1600" b="0" i="1" dirty="0" smtClean="0">
                        <a:latin typeface="Cambria Math" panose="02040503050406030204" pitchFamily="18" charset="0"/>
                      </a:rPr>
                      <m:t>=1]</m:t>
                    </m:r>
                  </m:oMath>
                </a14:m>
                <a:r>
                  <a:rPr lang="en-US" altLang="zh-CN" sz="1600" dirty="0"/>
                  <a:t>.</a:t>
                </a:r>
                <a:endParaRPr lang="zh-CN" altLang="en-US" sz="1600" dirty="0"/>
              </a:p>
            </p:txBody>
          </p:sp>
        </mc:Choice>
        <mc:Fallback xmlns="">
          <p:sp>
            <p:nvSpPr>
              <p:cNvPr id="3" name="内容占位符 2">
                <a:extLst>
                  <a:ext uri="{FF2B5EF4-FFF2-40B4-BE49-F238E27FC236}">
                    <a16:creationId xmlns:a16="http://schemas.microsoft.com/office/drawing/2014/main" id="{B5E18EDD-079A-7F20-52E2-6E739ED5C816}"/>
                  </a:ext>
                </a:extLst>
              </p:cNvPr>
              <p:cNvSpPr>
                <a:spLocks noGrp="1" noRot="1" noChangeAspect="1" noMove="1" noResize="1" noEditPoints="1" noAdjustHandles="1" noChangeArrowheads="1" noChangeShapeType="1" noTextEdit="1"/>
              </p:cNvSpPr>
              <p:nvPr>
                <p:ph idx="1"/>
              </p:nvPr>
            </p:nvSpPr>
            <p:spPr>
              <a:xfrm>
                <a:off x="628650" y="1825624"/>
                <a:ext cx="7886700" cy="4530727"/>
              </a:xfrm>
              <a:blipFill>
                <a:blip r:embed="rId2"/>
                <a:stretch>
                  <a:fillRect l="-309" t="-40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789771F-DCBE-2E60-7628-DD422111B6E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5214669-8F12-EB97-AF54-6808569CFEEC}"/>
              </a:ext>
            </a:extLst>
          </p:cNvPr>
          <p:cNvSpPr>
            <a:spLocks noGrp="1"/>
          </p:cNvSpPr>
          <p:nvPr>
            <p:ph type="sldNum" sz="quarter" idx="12"/>
          </p:nvPr>
        </p:nvSpPr>
        <p:spPr/>
        <p:txBody>
          <a:bodyPr/>
          <a:lstStyle/>
          <a:p>
            <a:fld id="{D41FC515-8169-4A29-AA56-DBE520D5741B}" type="slidenum">
              <a:rPr lang="zh-CN" altLang="en-US" smtClean="0"/>
              <a:t>31</a:t>
            </a:fld>
            <a:endParaRPr lang="zh-CN" altLang="en-US" dirty="0"/>
          </a:p>
        </p:txBody>
      </p:sp>
    </p:spTree>
    <p:extLst>
      <p:ext uri="{BB962C8B-B14F-4D97-AF65-F5344CB8AC3E}">
        <p14:creationId xmlns:p14="http://schemas.microsoft.com/office/powerpoint/2010/main" val="9809677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6638BB-BC5F-A6F6-C970-2DC8937CCC3F}"/>
              </a:ext>
            </a:extLst>
          </p:cNvPr>
          <p:cNvSpPr>
            <a:spLocks noGrp="1"/>
          </p:cNvSpPr>
          <p:nvPr>
            <p:ph type="title"/>
          </p:nvPr>
        </p:nvSpPr>
        <p:spPr/>
        <p:txBody>
          <a:bodyPr/>
          <a:lstStyle/>
          <a:p>
            <a:r>
              <a:rPr lang="zh-CN" altLang="en-US" dirty="0"/>
              <a:t>匹配</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7156089-33AB-043A-212E-13CDCC5AF068}"/>
                  </a:ext>
                </a:extLst>
              </p:cNvPr>
              <p:cNvSpPr>
                <a:spLocks noGrp="1"/>
              </p:cNvSpPr>
              <p:nvPr>
                <p:ph idx="1"/>
              </p:nvPr>
            </p:nvSpPr>
            <p:spPr>
              <a:xfrm>
                <a:off x="628650" y="3814143"/>
                <a:ext cx="7886700" cy="2362820"/>
              </a:xfrm>
            </p:spPr>
            <p:txBody>
              <a:bodyPr>
                <a:noAutofit/>
              </a:bodyPr>
              <a:lstStyle/>
              <a:p>
                <a:pPr>
                  <a:lnSpc>
                    <a:spcPct val="120000"/>
                  </a:lnSpc>
                </a:pPr>
                <a:r>
                  <a:rPr lang="zh-CN" altLang="en-US" sz="1600" dirty="0"/>
                  <a:t>假设有𝑛</a:t>
                </a:r>
                <a:r>
                  <a:rPr lang="en-US" altLang="zh-CN" sz="1600" dirty="0"/>
                  <a:t>1 </a:t>
                </a:r>
                <a:r>
                  <a:rPr lang="zh-CN" altLang="en-US" sz="1600" dirty="0"/>
                  <a:t>个干预组个体，控制组个体数量𝑛</a:t>
                </a:r>
                <a:r>
                  <a:rPr lang="en-US" altLang="zh-CN" sz="1600" dirty="0"/>
                  <a:t>0 </a:t>
                </a:r>
                <a:r>
                  <a:rPr lang="zh-CN" altLang="en-US" sz="1600" dirty="0"/>
                  <a:t>更大，用𝑗</a:t>
                </a:r>
                <a:r>
                  <a:rPr lang="en-US" altLang="zh-CN" sz="1600" dirty="0"/>
                  <a:t>(</a:t>
                </a:r>
                <a:r>
                  <a:rPr lang="zh-CN" altLang="en-US" sz="1600" dirty="0"/>
                  <a:t>𝑖</a:t>
                </a:r>
                <a:r>
                  <a:rPr lang="en-US" altLang="zh-CN" sz="1600" dirty="0"/>
                  <a:t>) </a:t>
                </a:r>
                <a:r>
                  <a:rPr lang="zh-CN" altLang="en-US" sz="1600" dirty="0"/>
                  <a:t>表示与个体𝑖 匹配的控制组个体，满足</a:t>
                </a:r>
                <a14:m>
                  <m:oMath xmlns:m="http://schemas.openxmlformats.org/officeDocument/2006/math">
                    <m:sSub>
                      <m:sSubPr>
                        <m:ctrlPr>
                          <a:rPr lang="zh-CN" altLang="en-US" sz="1600" i="1" dirty="0" smtClean="0">
                            <a:latin typeface="Cambria Math" panose="02040503050406030204" pitchFamily="18" charset="0"/>
                          </a:rPr>
                        </m:ctrlPr>
                      </m:sSubPr>
                      <m:e>
                        <m:r>
                          <a:rPr lang="zh-CN" altLang="en-US" sz="1600" i="1" dirty="0" smtClean="0">
                            <a:latin typeface="Cambria Math" panose="02040503050406030204" pitchFamily="18" charset="0"/>
                          </a:rPr>
                          <m:t>𝑋</m:t>
                        </m:r>
                      </m:e>
                      <m:sub>
                        <m:r>
                          <a:rPr lang="zh-CN" altLang="en-US" sz="1600" i="1" dirty="0" smtClean="0">
                            <a:latin typeface="Cambria Math" panose="02040503050406030204" pitchFamily="18" charset="0"/>
                          </a:rPr>
                          <m:t>𝑗</m:t>
                        </m:r>
                        <m:d>
                          <m:dPr>
                            <m:ctrlPr>
                              <a:rPr lang="zh-CN" altLang="en-US" sz="1600" i="1" dirty="0">
                                <a:latin typeface="Cambria Math" panose="02040503050406030204" pitchFamily="18" charset="0"/>
                              </a:rPr>
                            </m:ctrlPr>
                          </m:dPr>
                          <m:e>
                            <m:r>
                              <a:rPr lang="zh-CN" altLang="en-US" sz="1600" i="1" dirty="0">
                                <a:latin typeface="Cambria Math" panose="02040503050406030204" pitchFamily="18" charset="0"/>
                              </a:rPr>
                              <m:t>𝑖</m:t>
                            </m:r>
                          </m:e>
                        </m:d>
                      </m:sub>
                    </m:sSub>
                    <m:r>
                      <a:rPr lang="en-US" altLang="zh-CN" sz="1600" i="1" dirty="0" smtClean="0">
                        <a:latin typeface="Cambria Math" panose="02040503050406030204" pitchFamily="18" charset="0"/>
                      </a:rPr>
                      <m:t> </m:t>
                    </m:r>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𝑖</m:t>
                        </m:r>
                      </m:sub>
                    </m:sSub>
                    <m:r>
                      <a:rPr lang="zh-CN" altLang="en-US" sz="1600" i="1" dirty="0" smtClean="0">
                        <a:latin typeface="Cambria Math" panose="02040503050406030204" pitchFamily="18" charset="0"/>
                      </a:rPr>
                      <m:t>。</m:t>
                    </m:r>
                  </m:oMath>
                </a14:m>
                <a:endParaRPr lang="en-US" altLang="zh-CN" sz="1600" dirty="0"/>
              </a:p>
              <a:p>
                <a:pPr>
                  <a:lnSpc>
                    <a:spcPct val="120000"/>
                  </a:lnSpc>
                </a:pPr>
                <a:r>
                  <a:rPr lang="zh-CN" altLang="en-US" sz="1600" dirty="0"/>
                  <a:t>理想情况下可以做到精确匹配，则匹配上的个体具有相同的倾向得分</a:t>
                </a:r>
                <a14:m>
                  <m:oMath xmlns:m="http://schemas.openxmlformats.org/officeDocument/2006/math">
                    <m:r>
                      <a:rPr lang="zh-CN" altLang="en-US" sz="1600" i="1" dirty="0" smtClean="0">
                        <a:latin typeface="Cambria Math" panose="02040503050406030204" pitchFamily="18" charset="0"/>
                      </a:rPr>
                      <m:t>𝑒</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 </m:t>
                    </m:r>
                    <m:r>
                      <a:rPr lang="zh-CN" altLang="en-US" sz="1600" i="1" dirty="0">
                        <a:latin typeface="Cambria Math" panose="02040503050406030204" pitchFamily="18" charset="0"/>
                      </a:rPr>
                      <m:t>𝑒</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𝑗</m:t>
                        </m:r>
                        <m:d>
                          <m:dPr>
                            <m:ctrlPr>
                              <a:rPr lang="zh-CN" altLang="en-US" sz="1600" i="1" dirty="0">
                                <a:latin typeface="Cambria Math" panose="02040503050406030204" pitchFamily="18" charset="0"/>
                              </a:rPr>
                            </m:ctrlPr>
                          </m:dPr>
                          <m:e>
                            <m:r>
                              <a:rPr lang="zh-CN" altLang="en-US" sz="1600" i="1" dirty="0">
                                <a:latin typeface="Cambria Math" panose="02040503050406030204" pitchFamily="18" charset="0"/>
                              </a:rPr>
                              <m:t>𝑖</m:t>
                            </m:r>
                          </m:e>
                        </m:d>
                      </m:sub>
                    </m:sSub>
                    <m:r>
                      <a:rPr lang="en-US" altLang="zh-CN" sz="1600" i="1" dirty="0">
                        <a:latin typeface="Cambria Math" panose="02040503050406030204" pitchFamily="18" charset="0"/>
                      </a:rPr>
                      <m:t>)</m:t>
                    </m:r>
                  </m:oMath>
                </a14:m>
                <a:r>
                  <a:rPr lang="zh-CN" altLang="en-US" sz="1600" dirty="0"/>
                  <a:t>，因而，</a:t>
                </a:r>
                <a:endParaRPr lang="en-US" altLang="zh-CN" sz="1600" dirty="0"/>
              </a:p>
              <a:p>
                <a:pPr>
                  <a:lnSpc>
                    <a:spcPct val="120000"/>
                  </a:lnSpc>
                </a:pPr>
                <a14:m>
                  <m:oMath xmlns:m="http://schemas.openxmlformats.org/officeDocument/2006/math">
                    <m:r>
                      <m:rPr>
                        <m:sty m:val="p"/>
                      </m:rPr>
                      <a:rPr lang="en-US" altLang="zh-CN" sz="1600" i="1" dirty="0" smtClean="0">
                        <a:latin typeface="Cambria Math" panose="02040503050406030204" pitchFamily="18" charset="0"/>
                      </a:rPr>
                      <m:t>Pr</m:t>
                    </m:r>
                    <m:r>
                      <a:rPr lang="en-US" altLang="zh-CN" sz="1600" i="1" dirty="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𝐷</m:t>
                        </m:r>
                      </m:e>
                      <m:sub>
                        <m:r>
                          <a:rPr lang="zh-CN" altLang="en-US" sz="1600" i="1" dirty="0">
                            <a:latin typeface="Cambria Math" panose="02040503050406030204" pitchFamily="18" charset="0"/>
                          </a:rPr>
                          <m:t>𝑖</m:t>
                        </m:r>
                      </m:sub>
                    </m:sSub>
                    <m:r>
                      <a:rPr lang="zh-CN" altLang="en-US" sz="1600" i="1" dirty="0">
                        <a:latin typeface="Cambria Math" panose="02040503050406030204" pitchFamily="18" charset="0"/>
                      </a:rPr>
                      <m:t> </m:t>
                    </m:r>
                    <m:r>
                      <a:rPr lang="en-US" altLang="zh-CN" sz="1600" i="1" dirty="0">
                        <a:latin typeface="Cambria Math" panose="02040503050406030204" pitchFamily="18" charset="0"/>
                      </a:rPr>
                      <m:t>= 1,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𝐷</m:t>
                        </m:r>
                      </m:e>
                      <m:sub>
                        <m:r>
                          <a:rPr lang="zh-CN" altLang="en-US" sz="1600" i="1" dirty="0">
                            <a:latin typeface="Cambria Math" panose="02040503050406030204" pitchFamily="18" charset="0"/>
                          </a:rPr>
                          <m:t>𝑗</m:t>
                        </m:r>
                        <m:d>
                          <m:dPr>
                            <m:ctrlPr>
                              <a:rPr lang="zh-CN" altLang="en-US" sz="1600" i="1" dirty="0">
                                <a:latin typeface="Cambria Math" panose="02040503050406030204" pitchFamily="18" charset="0"/>
                              </a:rPr>
                            </m:ctrlPr>
                          </m:dPr>
                          <m:e>
                            <m:r>
                              <a:rPr lang="zh-CN" altLang="en-US" sz="1600" i="1" dirty="0">
                                <a:latin typeface="Cambria Math" panose="02040503050406030204" pitchFamily="18" charset="0"/>
                              </a:rPr>
                              <m:t>𝑖</m:t>
                            </m:r>
                          </m:e>
                        </m:d>
                      </m:sub>
                    </m:sSub>
                    <m:r>
                      <a:rPr lang="en-US" altLang="zh-CN" sz="1600" i="1" dirty="0">
                        <a:latin typeface="Cambria Math" panose="02040503050406030204" pitchFamily="18" charset="0"/>
                      </a:rPr>
                      <m:t> = 0|</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𝐷</m:t>
                        </m:r>
                      </m:e>
                      <m:sub>
                        <m:r>
                          <a:rPr lang="zh-CN" altLang="en-US" sz="1600" i="1" dirty="0">
                            <a:latin typeface="Cambria Math" panose="02040503050406030204" pitchFamily="18" charset="0"/>
                          </a:rPr>
                          <m:t>𝑖</m:t>
                        </m:r>
                      </m:sub>
                    </m:sSub>
                    <m:r>
                      <a:rPr lang="zh-CN" altLang="en-US" sz="1600" i="1" dirty="0">
                        <a:latin typeface="Cambria Math" panose="02040503050406030204" pitchFamily="18" charset="0"/>
                      </a:rPr>
                      <m:t> </m:t>
                    </m:r>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𝐷</m:t>
                        </m:r>
                      </m:e>
                      <m:sub>
                        <m:r>
                          <a:rPr lang="zh-CN" altLang="en-US" sz="1600" i="1" dirty="0">
                            <a:latin typeface="Cambria Math" panose="02040503050406030204" pitchFamily="18" charset="0"/>
                          </a:rPr>
                          <m:t>𝑗</m:t>
                        </m:r>
                        <m:d>
                          <m:dPr>
                            <m:ctrlPr>
                              <a:rPr lang="zh-CN" altLang="en-US" sz="1600" i="1" dirty="0">
                                <a:latin typeface="Cambria Math" panose="02040503050406030204" pitchFamily="18" charset="0"/>
                              </a:rPr>
                            </m:ctrlPr>
                          </m:dPr>
                          <m:e>
                            <m:r>
                              <a:rPr lang="zh-CN" altLang="en-US" sz="1600" i="1" dirty="0">
                                <a:latin typeface="Cambria Math" panose="02040503050406030204" pitchFamily="18" charset="0"/>
                              </a:rPr>
                              <m:t>𝑖</m:t>
                            </m:r>
                          </m:e>
                        </m:d>
                      </m:sub>
                    </m:sSub>
                    <m:r>
                      <a:rPr lang="en-US" altLang="zh-CN" sz="1600" i="1" dirty="0">
                        <a:latin typeface="Cambria Math" panose="02040503050406030204" pitchFamily="18" charset="0"/>
                      </a:rPr>
                      <m:t> = 1,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𝑗</m:t>
                        </m:r>
                        <m:d>
                          <m:dPr>
                            <m:ctrlPr>
                              <a:rPr lang="zh-CN" altLang="en-US" sz="1600" i="1" dirty="0">
                                <a:latin typeface="Cambria Math" panose="02040503050406030204" pitchFamily="18" charset="0"/>
                              </a:rPr>
                            </m:ctrlPr>
                          </m:dPr>
                          <m:e>
                            <m:r>
                              <a:rPr lang="zh-CN" altLang="en-US" sz="1600" i="1" dirty="0">
                                <a:latin typeface="Cambria Math" panose="02040503050406030204" pitchFamily="18" charset="0"/>
                              </a:rPr>
                              <m:t>𝑖</m:t>
                            </m:r>
                          </m:e>
                        </m:d>
                      </m:sub>
                    </m:sSub>
                    <m:r>
                      <a:rPr lang="en-US" altLang="zh-CN" sz="1600" i="1" dirty="0">
                        <a:latin typeface="Cambria Math" panose="02040503050406030204" pitchFamily="18" charset="0"/>
                      </a:rPr>
                      <m:t>] = 1/2</m:t>
                    </m:r>
                    <m:r>
                      <a:rPr lang="en-US" altLang="zh-CN" sz="1600" i="1" dirty="0" smtClean="0">
                        <a:latin typeface="Cambria Math" panose="02040503050406030204" pitchFamily="18" charset="0"/>
                      </a:rPr>
                      <m:t>.</m:t>
                    </m:r>
                  </m:oMath>
                </a14:m>
                <a:endParaRPr lang="en-US" altLang="zh-CN" sz="1600" dirty="0"/>
              </a:p>
              <a:p>
                <a:pPr>
                  <a:lnSpc>
                    <a:spcPct val="120000"/>
                  </a:lnSpc>
                </a:pPr>
                <a:r>
                  <a:rPr lang="zh-CN" altLang="en-US" sz="1600" dirty="0"/>
                  <a:t>因而，</a:t>
                </a:r>
                <a:r>
                  <a:rPr lang="en-US" altLang="zh-CN" sz="1600" dirty="0"/>
                  <a:t>1:1 </a:t>
                </a:r>
                <a:r>
                  <a:rPr lang="zh-CN" altLang="en-US" sz="1600" dirty="0"/>
                  <a:t>匹配，其分配机制等同于配对随机化实验，当然也可以</a:t>
                </a:r>
                <a:r>
                  <a:rPr lang="en-US" altLang="zh-CN" sz="1600" dirty="0"/>
                  <a:t>1:M </a:t>
                </a:r>
                <a:r>
                  <a:rPr lang="zh-CN" altLang="en-US" sz="1600" dirty="0"/>
                  <a:t>匹配，则模拟复杂的配对实验。</a:t>
                </a:r>
              </a:p>
            </p:txBody>
          </p:sp>
        </mc:Choice>
        <mc:Fallback xmlns="">
          <p:sp>
            <p:nvSpPr>
              <p:cNvPr id="3" name="内容占位符 2">
                <a:extLst>
                  <a:ext uri="{FF2B5EF4-FFF2-40B4-BE49-F238E27FC236}">
                    <a16:creationId xmlns:a16="http://schemas.microsoft.com/office/drawing/2014/main" id="{57156089-33AB-043A-212E-13CDCC5AF068}"/>
                  </a:ext>
                </a:extLst>
              </p:cNvPr>
              <p:cNvSpPr>
                <a:spLocks noGrp="1" noRot="1" noChangeAspect="1" noMove="1" noResize="1" noEditPoints="1" noAdjustHandles="1" noChangeArrowheads="1" noChangeShapeType="1" noTextEdit="1"/>
              </p:cNvSpPr>
              <p:nvPr>
                <p:ph idx="1"/>
              </p:nvPr>
            </p:nvSpPr>
            <p:spPr>
              <a:xfrm>
                <a:off x="628650" y="3814143"/>
                <a:ext cx="7886700" cy="2362820"/>
              </a:xfrm>
              <a:blipFill>
                <a:blip r:embed="rId2"/>
                <a:stretch>
                  <a:fillRect l="-309" b="-1214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BF3770E-DA05-1391-37F4-7113BD0011F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55C769D9-7916-687A-43F2-4B8700F91FAA}"/>
              </a:ext>
            </a:extLst>
          </p:cNvPr>
          <p:cNvSpPr>
            <a:spLocks noGrp="1"/>
          </p:cNvSpPr>
          <p:nvPr>
            <p:ph type="sldNum" sz="quarter" idx="12"/>
          </p:nvPr>
        </p:nvSpPr>
        <p:spPr/>
        <p:txBody>
          <a:bodyPr/>
          <a:lstStyle/>
          <a:p>
            <a:fld id="{D41FC515-8169-4A29-AA56-DBE520D5741B}" type="slidenum">
              <a:rPr lang="zh-CN" altLang="en-US" smtClean="0"/>
              <a:t>32</a:t>
            </a:fld>
            <a:endParaRPr lang="zh-CN" altLang="en-US"/>
          </a:p>
        </p:txBody>
      </p:sp>
      <p:pic>
        <p:nvPicPr>
          <p:cNvPr id="7" name="图片 6">
            <a:extLst>
              <a:ext uri="{FF2B5EF4-FFF2-40B4-BE49-F238E27FC236}">
                <a16:creationId xmlns:a16="http://schemas.microsoft.com/office/drawing/2014/main" id="{8949B090-B103-2969-CF08-6C04C4DE2925}"/>
              </a:ext>
            </a:extLst>
          </p:cNvPr>
          <p:cNvPicPr>
            <a:picLocks noChangeAspect="1"/>
          </p:cNvPicPr>
          <p:nvPr/>
        </p:nvPicPr>
        <p:blipFill>
          <a:blip r:embed="rId3"/>
          <a:stretch>
            <a:fillRect/>
          </a:stretch>
        </p:blipFill>
        <p:spPr>
          <a:xfrm>
            <a:off x="2820473" y="1122458"/>
            <a:ext cx="3503054" cy="2691685"/>
          </a:xfrm>
          <a:prstGeom prst="rect">
            <a:avLst/>
          </a:prstGeom>
        </p:spPr>
      </p:pic>
      <p:sp>
        <p:nvSpPr>
          <p:cNvPr id="9" name="文本框 8">
            <a:extLst>
              <a:ext uri="{FF2B5EF4-FFF2-40B4-BE49-F238E27FC236}">
                <a16:creationId xmlns:a16="http://schemas.microsoft.com/office/drawing/2014/main" id="{37A9C090-9F4E-7D10-F888-20582E3FD1F8}"/>
              </a:ext>
            </a:extLst>
          </p:cNvPr>
          <p:cNvSpPr txBox="1"/>
          <p:nvPr/>
        </p:nvSpPr>
        <p:spPr>
          <a:xfrm>
            <a:off x="931762" y="3213556"/>
            <a:ext cx="4572000" cy="338554"/>
          </a:xfrm>
          <a:prstGeom prst="rect">
            <a:avLst/>
          </a:prstGeom>
          <a:noFill/>
        </p:spPr>
        <p:txBody>
          <a:bodyPr wrap="square">
            <a:spAutoFit/>
          </a:bodyPr>
          <a:lstStyle/>
          <a:p>
            <a:r>
              <a:rPr lang="en-US" altLang="zh-CN" sz="1600" b="0" i="0" u="none" strike="noStrike" baseline="0" dirty="0">
                <a:solidFill>
                  <a:srgbClr val="3333B3"/>
                </a:solidFill>
                <a:latin typeface="LMRoman8-Regular-Identity-H"/>
              </a:rPr>
              <a:t>Figure 1: </a:t>
            </a:r>
            <a:r>
              <a:rPr lang="zh-CN" altLang="en-US" sz="1600" b="0" i="0" u="none" strike="noStrike" baseline="0" dirty="0">
                <a:solidFill>
                  <a:srgbClr val="000000"/>
                </a:solidFill>
                <a:latin typeface="宋体" panose="02010600030101010101" pitchFamily="2" charset="-122"/>
                <a:ea typeface="宋体" panose="02010600030101010101" pitchFamily="2" charset="-122"/>
              </a:rPr>
              <a:t>匹配示意图</a:t>
            </a:r>
            <a:endParaRPr lang="zh-CN" altLang="en-US" sz="1600" dirty="0"/>
          </a:p>
        </p:txBody>
      </p:sp>
    </p:spTree>
    <p:extLst>
      <p:ext uri="{BB962C8B-B14F-4D97-AF65-F5344CB8AC3E}">
        <p14:creationId xmlns:p14="http://schemas.microsoft.com/office/powerpoint/2010/main" val="7588750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D4C0AB-B05C-B237-B3DA-8273E54834E6}"/>
              </a:ext>
            </a:extLst>
          </p:cNvPr>
          <p:cNvSpPr>
            <a:spLocks noGrp="1"/>
          </p:cNvSpPr>
          <p:nvPr>
            <p:ph type="title"/>
          </p:nvPr>
        </p:nvSpPr>
        <p:spPr/>
        <p:txBody>
          <a:bodyPr/>
          <a:lstStyle/>
          <a:p>
            <a:r>
              <a:rPr lang="zh-CN" altLang="en-US" dirty="0"/>
              <a:t>匹配</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73255BB-001A-77D8-2780-693AC0429EC1}"/>
                  </a:ext>
                </a:extLst>
              </p:cNvPr>
              <p:cNvSpPr>
                <a:spLocks noGrp="1"/>
              </p:cNvSpPr>
              <p:nvPr>
                <p:ph idx="1"/>
              </p:nvPr>
            </p:nvSpPr>
            <p:spPr>
              <a:xfrm>
                <a:off x="628650" y="1825625"/>
                <a:ext cx="7886700" cy="4760370"/>
              </a:xfrm>
            </p:spPr>
            <p:txBody>
              <a:bodyPr>
                <a:normAutofit fontScale="55000" lnSpcReduction="20000"/>
              </a:bodyPr>
              <a:lstStyle/>
              <a:p>
                <a:pPr>
                  <a:lnSpc>
                    <a:spcPct val="120000"/>
                  </a:lnSpc>
                </a:pPr>
                <a:r>
                  <a:rPr lang="zh-CN" altLang="en-US" dirty="0"/>
                  <a:t>但应用中，很难做到精确匹配，只能做到协变量相近。匹配相似度需要用距离测度，比如欧氏距离或马氏距离。</a:t>
                </a:r>
                <a:endParaRPr lang="en-US" altLang="zh-CN" dirty="0"/>
              </a:p>
              <a:p>
                <a:pPr marL="0" indent="0" algn="ctr">
                  <a:lnSpc>
                    <a:spcPct val="120000"/>
                  </a:lnSpc>
                  <a:buNone/>
                </a:pPr>
                <a14:m>
                  <m:oMath xmlns:m="http://schemas.openxmlformats.org/officeDocument/2006/math">
                    <m:r>
                      <a:rPr lang="en-US" altLang="zh-CN" b="0" i="1" smtClean="0">
                        <a:latin typeface="Cambria Math" panose="02040503050406030204" pitchFamily="18" charset="0"/>
                      </a:rPr>
                      <m:t>𝑑</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𝑗</m:t>
                            </m:r>
                          </m:sub>
                        </m:sSub>
                      </m:e>
                    </m:d>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nary>
                          <m:naryPr>
                            <m:chr m:val="∑"/>
                            <m:ctrlPr>
                              <a:rPr lang="en-US" altLang="zh-CN" i="1">
                                <a:latin typeface="Cambria Math" panose="02040503050406030204" pitchFamily="18" charset="0"/>
                              </a:rPr>
                            </m:ctrlPr>
                          </m:naryPr>
                          <m:sub>
                            <m:r>
                              <a:rPr lang="en-US" altLang="zh-CN" i="1">
                                <a:latin typeface="Cambria Math" panose="02040503050406030204" pitchFamily="18" charset="0"/>
                              </a:rPr>
                              <m:t>𝑋</m:t>
                            </m:r>
                          </m:sub>
                          <m:sup>
                            <m:r>
                              <a:rPr lang="en-US" altLang="zh-CN" i="1">
                                <a:latin typeface="Cambria Math" panose="02040503050406030204" pitchFamily="18" charset="0"/>
                              </a:rPr>
                              <m:t>−1</m:t>
                            </m:r>
                          </m:sup>
                          <m:e>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𝑗</m:t>
                                </m:r>
                              </m:sub>
                            </m:sSub>
                            <m:r>
                              <a:rPr lang="en-US" altLang="zh-CN" i="1">
                                <a:latin typeface="Cambria Math" panose="02040503050406030204" pitchFamily="18" charset="0"/>
                              </a:rPr>
                              <m:t>)′</m:t>
                            </m:r>
                          </m:e>
                        </m:nary>
                      </m:e>
                    </m:rad>
                  </m:oMath>
                </a14:m>
                <a:r>
                  <a:rPr lang="zh-CN" altLang="en-US" dirty="0"/>
                  <a:t>，</a:t>
                </a:r>
                <a14:m>
                  <m:oMath xmlns:m="http://schemas.openxmlformats.org/officeDocument/2006/math">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𝑋</m:t>
                        </m:r>
                      </m:sub>
                      <m:sup/>
                      <m:e>
                        <m:r>
                          <a:rPr lang="en-US" altLang="zh-CN" b="0" i="1" dirty="0" smtClean="0">
                            <a:latin typeface="Cambria Math" panose="02040503050406030204" pitchFamily="18" charset="0"/>
                          </a:rPr>
                          <m:t>=</m:t>
                        </m:r>
                      </m:e>
                    </m:nary>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𝑛</m:t>
                        </m:r>
                      </m:den>
                    </m:f>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𝑛</m:t>
                        </m:r>
                      </m:sup>
                      <m:e>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𝑋</m:t>
                            </m:r>
                          </m:e>
                        </m:acc>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𝑋</m:t>
                            </m:r>
                          </m:e>
                        </m:acc>
                        <m:r>
                          <a:rPr lang="en-US" altLang="zh-CN" b="0" i="1" dirty="0" smtClean="0">
                            <a:latin typeface="Cambria Math" panose="02040503050406030204" pitchFamily="18" charset="0"/>
                          </a:rPr>
                          <m:t>)′</m:t>
                        </m:r>
                      </m:e>
                    </m:nary>
                    <m:r>
                      <a:rPr lang="en-US" altLang="zh-CN" b="0" i="1" dirty="0" smtClean="0">
                        <a:latin typeface="Cambria Math" panose="02040503050406030204" pitchFamily="18" charset="0"/>
                      </a:rPr>
                      <m:t>,</m:t>
                    </m:r>
                  </m:oMath>
                </a14:m>
                <a:endParaRPr lang="en-US" altLang="zh-CN" b="0" dirty="0"/>
              </a:p>
              <a:p>
                <a:pPr>
                  <a:lnSpc>
                    <a:spcPct val="120000"/>
                  </a:lnSpc>
                </a:pPr>
                <a:r>
                  <a:rPr lang="zh-CN" altLang="en-US" dirty="0"/>
                  <a:t>若</a:t>
                </a:r>
                <a14:m>
                  <m:oMath xmlns:m="http://schemas.openxmlformats.org/officeDocument/2006/math">
                    <m:sSub>
                      <m:sSubPr>
                        <m:ctrlPr>
                          <a:rPr lang="en-US" altLang="zh-CN" i="0" dirty="0" smtClean="0">
                            <a:latin typeface="Cambria Math" panose="02040503050406030204" pitchFamily="18" charset="0"/>
                          </a:rPr>
                        </m:ctrlPr>
                      </m:sSubPr>
                      <m:e>
                        <m:r>
                          <m:rPr>
                            <m:sty m:val="p"/>
                          </m:rPr>
                          <a:rPr lang="en-US" altLang="zh-CN" i="0" dirty="0" smtClean="0">
                            <a:latin typeface="Cambria Math" panose="02040503050406030204" pitchFamily="18" charset="0"/>
                          </a:rPr>
                          <m:t>Σ</m:t>
                        </m:r>
                      </m:e>
                      <m:sub>
                        <m:r>
                          <a:rPr lang="zh-CN" altLang="en-US" i="1" dirty="0">
                            <a:latin typeface="Cambria Math" panose="02040503050406030204" pitchFamily="18" charset="0"/>
                          </a:rPr>
                          <m:t>𝑋</m:t>
                        </m:r>
                      </m:sub>
                    </m:sSub>
                    <m:r>
                      <a:rPr lang="zh-CN" altLang="en-US" i="1" dirty="0">
                        <a:latin typeface="Cambria Math" panose="02040503050406030204" pitchFamily="18" charset="0"/>
                      </a:rPr>
                      <m:t> </m:t>
                    </m:r>
                  </m:oMath>
                </a14:m>
                <a:r>
                  <a:rPr lang="zh-CN" altLang="en-US" dirty="0"/>
                  <a:t>为单位阵，是标准的欧氏距离；若是方差对角阵，为标准化的欧氏距离；若为协方差矩阵，则为马氏距离</a:t>
                </a:r>
                <a:r>
                  <a:rPr lang="en-US" altLang="zh-CN" dirty="0"/>
                  <a:t>(</a:t>
                </a:r>
                <a:r>
                  <a:rPr lang="en-US" altLang="zh-CN" dirty="0" err="1"/>
                  <a:t>Mahalanobis</a:t>
                </a:r>
                <a:r>
                  <a:rPr lang="en-US" altLang="zh-CN" dirty="0"/>
                  <a:t> metric)</a:t>
                </a:r>
                <a:r>
                  <a:rPr lang="zh-CN" altLang="en-US" dirty="0"/>
                  <a:t>。</a:t>
                </a:r>
                <a:endParaRPr lang="en-US" altLang="zh-CN" dirty="0"/>
              </a:p>
              <a:p>
                <a:pPr>
                  <a:lnSpc>
                    <a:spcPct val="120000"/>
                  </a:lnSpc>
                </a:pPr>
                <a:r>
                  <a:rPr lang="zh-CN" altLang="en-US" dirty="0"/>
                  <a:t>令</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𝑗</m:t>
                        </m:r>
                      </m:e>
                      <m:sub>
                        <m:r>
                          <a:rPr lang="zh-CN" altLang="en-US" i="1" dirty="0" smtClean="0">
                            <a:latin typeface="Cambria Math" panose="02040503050406030204" pitchFamily="18" charset="0"/>
                          </a:rPr>
                          <m:t>𝑚</m:t>
                        </m:r>
                      </m:sub>
                    </m:sSub>
                    <m:r>
                      <a:rPr lang="en-US" altLang="zh-CN" i="1" dirty="0">
                        <a:latin typeface="Cambria Math" panose="02040503050406030204" pitchFamily="18" charset="0"/>
                      </a:rPr>
                      <m:t>(</m:t>
                    </m:r>
                    <m:r>
                      <a:rPr lang="zh-CN" altLang="en-US" i="1" dirty="0">
                        <a:latin typeface="Cambria Math" panose="02040503050406030204" pitchFamily="18" charset="0"/>
                      </a:rPr>
                      <m:t>𝑖</m:t>
                    </m:r>
                    <m:r>
                      <a:rPr lang="en-US" altLang="zh-CN" i="1" dirty="0">
                        <a:latin typeface="Cambria Math" panose="02040503050406030204" pitchFamily="18" charset="0"/>
                      </a:rPr>
                      <m:t>)</m:t>
                    </m:r>
                  </m:oMath>
                </a14:m>
                <a:r>
                  <a:rPr lang="en-US" altLang="zh-CN" dirty="0"/>
                  <a:t> </a:t>
                </a:r>
                <a:r>
                  <a:rPr lang="zh-CN" altLang="en-US" dirty="0"/>
                  <a:t>是满足下列条件的下标𝑗 ∈ </a:t>
                </a:r>
                <a:r>
                  <a:rPr lang="en-US" altLang="zh-CN" dirty="0"/>
                  <a:t>{1, 2, … , </a:t>
                </a:r>
                <a:r>
                  <a:rPr lang="zh-CN" altLang="en-US" dirty="0"/>
                  <a:t>𝑛</a:t>
                </a:r>
                <a:r>
                  <a:rPr lang="en-US" altLang="zh-CN" dirty="0"/>
                  <a:t>}</a:t>
                </a:r>
                <a:r>
                  <a:rPr lang="zh-CN" altLang="en-US" dirty="0"/>
                  <a:t>，即满足与𝑖 距离最小的𝑀 个相反状态的个体脚标</a:t>
                </a:r>
                <a:endParaRPr lang="en-US" altLang="zh-CN" dirty="0"/>
              </a:p>
              <a:p>
                <a:pPr marL="0" indent="0">
                  <a:lnSpc>
                    <a:spcPct val="120000"/>
                  </a:lnSpc>
                  <a:buNone/>
                </a:pPr>
                <a14:m>
                  <m:oMathPara xmlns:m="http://schemas.openxmlformats.org/officeDocument/2006/math">
                    <m:oMath>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sub>
                        <m:sup/>
                        <m:e>
                          <m:r>
                            <a:rPr lang="en-US" altLang="zh-CN" b="0" i="1" smtClean="0">
                              <a:latin typeface="Cambria Math" panose="02040503050406030204" pitchFamily="18" charset="0"/>
                            </a:rPr>
                            <m:t>1[</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𝑙</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𝑗</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𝑀</m:t>
                          </m:r>
                          <m:r>
                            <a:rPr lang="en-US" altLang="zh-CN" b="0" i="1" smtClean="0">
                              <a:latin typeface="Cambria Math" panose="02040503050406030204" pitchFamily="18" charset="0"/>
                            </a:rPr>
                            <m:t>.</m:t>
                          </m:r>
                        </m:e>
                      </m:nary>
                    </m:oMath>
                  </m:oMathPara>
                </a14:m>
                <a:endParaRPr lang="en-US" altLang="zh-CN" dirty="0"/>
              </a:p>
              <a:p>
                <a:pPr>
                  <a:lnSpc>
                    <a:spcPct val="120000"/>
                  </a:lnSpc>
                </a:pPr>
                <a:r>
                  <a:rPr lang="zh-CN" altLang="en-US" dirty="0"/>
                  <a:t>𝒥𝑀 </a:t>
                </a:r>
                <a:r>
                  <a:rPr lang="en-US" altLang="zh-CN" dirty="0"/>
                  <a:t>(</a:t>
                </a:r>
                <a:r>
                  <a:rPr lang="zh-CN" altLang="en-US" dirty="0"/>
                  <a:t>𝑖</a:t>
                </a:r>
                <a:r>
                  <a:rPr lang="en-US" altLang="zh-CN" dirty="0"/>
                  <a:t>) </a:t>
                </a:r>
                <a:r>
                  <a:rPr lang="zh-CN" altLang="en-US" dirty="0"/>
                  <a:t>表示与个体𝑖 匹配的𝑀 个个体的脚标集合：𝒥𝑀 </a:t>
                </a:r>
                <a:r>
                  <a:rPr lang="en-US" altLang="zh-CN" dirty="0"/>
                  <a:t>(</a:t>
                </a:r>
                <a:r>
                  <a:rPr lang="zh-CN" altLang="en-US" dirty="0"/>
                  <a:t>𝑖</a:t>
                </a:r>
                <a:r>
                  <a:rPr lang="en-US" altLang="zh-CN" dirty="0"/>
                  <a:t>) = {</a:t>
                </a:r>
                <a:r>
                  <a:rPr lang="zh-CN" altLang="en-US" dirty="0"/>
                  <a:t>𝑗</a:t>
                </a:r>
                <a:r>
                  <a:rPr lang="en-US" altLang="zh-CN" dirty="0"/>
                  <a:t>1(</a:t>
                </a:r>
                <a:r>
                  <a:rPr lang="zh-CN" altLang="en-US" dirty="0"/>
                  <a:t>𝑖</a:t>
                </a:r>
                <a:r>
                  <a:rPr lang="en-US" altLang="zh-CN" dirty="0"/>
                  <a:t>), … , </a:t>
                </a:r>
                <a:r>
                  <a:rPr lang="zh-CN" altLang="en-US" dirty="0"/>
                  <a:t>𝑗𝑀 </a:t>
                </a:r>
                <a:r>
                  <a:rPr lang="en-US" altLang="zh-CN" dirty="0"/>
                  <a:t>(</a:t>
                </a:r>
                <a:r>
                  <a:rPr lang="zh-CN" altLang="en-US" dirty="0"/>
                  <a:t>𝑖</a:t>
                </a:r>
                <a:r>
                  <a:rPr lang="en-US" altLang="zh-CN" dirty="0"/>
                  <a:t>)}</a:t>
                </a:r>
                <a:r>
                  <a:rPr lang="zh-CN" altLang="en-US" dirty="0"/>
                  <a:t>。令𝐾𝑀 </a:t>
                </a:r>
                <a:r>
                  <a:rPr lang="en-US" altLang="zh-CN" dirty="0"/>
                  <a:t>(</a:t>
                </a:r>
                <a:r>
                  <a:rPr lang="zh-CN" altLang="en-US" dirty="0"/>
                  <a:t>𝑖</a:t>
                </a:r>
                <a:r>
                  <a:rPr lang="en-US" altLang="zh-CN" dirty="0"/>
                  <a:t>) </a:t>
                </a:r>
                <a:r>
                  <a:rPr lang="zh-CN" altLang="en-US" dirty="0"/>
                  <a:t>表示个体𝑖 被匹配的次数，</a:t>
                </a:r>
                <a:endParaRPr lang="en-US" altLang="zh-CN" dirty="0"/>
              </a:p>
              <a:p>
                <a:pPr marL="0" indent="0">
                  <a:lnSpc>
                    <a:spcPct val="120000"/>
                  </a:lnSpc>
                  <a:buNone/>
                </a:pPr>
                <a14:m>
                  <m:oMathPara xmlns:m="http://schemas.openxmlformats.org/officeDocument/2006/math">
                    <m:o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𝑀</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sup>
                            <m:e>
                              <m:r>
                                <a:rPr lang="en-US" altLang="zh-CN" b="0" i="1" smtClean="0">
                                  <a:latin typeface="Cambria Math" panose="02040503050406030204" pitchFamily="18" charset="0"/>
                                </a:rPr>
                                <m:t>1[</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e>
                          </m:nary>
                          <m:r>
                            <m:rPr>
                              <m:nor/>
                            </m:rPr>
                            <a:rPr lang="zh-CN" altLang="en-US" i="0" dirty="0"/>
                            <m:t>𝒥</m:t>
                          </m:r>
                        </m:e>
                        <m:sub>
                          <m:r>
                            <a:rPr lang="en-US" altLang="zh-CN" b="0" i="1" smtClean="0">
                              <a:latin typeface="Cambria Math" panose="02040503050406030204" pitchFamily="18" charset="0"/>
                            </a:rPr>
                            <m:t>𝑀</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oMath>
                  </m:oMathPara>
                </a14:m>
                <a:endParaRPr lang="en-US" altLang="zh-CN" b="0" dirty="0"/>
              </a:p>
              <a:p>
                <a:pPr>
                  <a:lnSpc>
                    <a:spcPct val="120000"/>
                  </a:lnSpc>
                </a:pP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𝐾</m:t>
                        </m:r>
                      </m:e>
                      <m:sub>
                        <m:r>
                          <a:rPr lang="en-US" altLang="zh-CN" i="1">
                            <a:latin typeface="Cambria Math" panose="02040503050406030204" pitchFamily="18" charset="0"/>
                          </a:rPr>
                          <m:t>𝑀</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𝑖</m:t>
                        </m:r>
                      </m:e>
                    </m:d>
                  </m:oMath>
                </a14:m>
                <a:r>
                  <a:rPr lang="zh-CN" altLang="en-US" dirty="0"/>
                  <a:t>在估计量方差估计中起着重要作用。</a:t>
                </a:r>
                <a:endParaRPr lang="en-US" altLang="zh-CN" dirty="0"/>
              </a:p>
            </p:txBody>
          </p:sp>
        </mc:Choice>
        <mc:Fallback xmlns="">
          <p:sp>
            <p:nvSpPr>
              <p:cNvPr id="3" name="内容占位符 2">
                <a:extLst>
                  <a:ext uri="{FF2B5EF4-FFF2-40B4-BE49-F238E27FC236}">
                    <a16:creationId xmlns:a16="http://schemas.microsoft.com/office/drawing/2014/main" id="{D73255BB-001A-77D8-2780-693AC0429EC1}"/>
                  </a:ext>
                </a:extLst>
              </p:cNvPr>
              <p:cNvSpPr>
                <a:spLocks noGrp="1" noRot="1" noChangeAspect="1" noMove="1" noResize="1" noEditPoints="1" noAdjustHandles="1" noChangeArrowheads="1" noChangeShapeType="1" noTextEdit="1"/>
              </p:cNvSpPr>
              <p:nvPr>
                <p:ph idx="1"/>
              </p:nvPr>
            </p:nvSpPr>
            <p:spPr>
              <a:xfrm>
                <a:off x="628650" y="1825625"/>
                <a:ext cx="7886700" cy="4760370"/>
              </a:xfrm>
              <a:blipFill>
                <a:blip r:embed="rId2"/>
                <a:stretch>
                  <a:fillRect l="-232" t="-256" b="-128"/>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BF30113-DDBB-D3F2-F858-18CC249D761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4DF263D-F007-F05F-DD49-9A178CE1022E}"/>
              </a:ext>
            </a:extLst>
          </p:cNvPr>
          <p:cNvSpPr>
            <a:spLocks noGrp="1"/>
          </p:cNvSpPr>
          <p:nvPr>
            <p:ph type="sldNum" sz="quarter" idx="12"/>
          </p:nvPr>
        </p:nvSpPr>
        <p:spPr/>
        <p:txBody>
          <a:bodyPr/>
          <a:lstStyle/>
          <a:p>
            <a:fld id="{D41FC515-8169-4A29-AA56-DBE520D5741B}" type="slidenum">
              <a:rPr lang="zh-CN" altLang="en-US" smtClean="0"/>
              <a:t>33</a:t>
            </a:fld>
            <a:endParaRPr lang="zh-CN" altLang="en-US"/>
          </a:p>
        </p:txBody>
      </p:sp>
    </p:spTree>
    <p:extLst>
      <p:ext uri="{BB962C8B-B14F-4D97-AF65-F5344CB8AC3E}">
        <p14:creationId xmlns:p14="http://schemas.microsoft.com/office/powerpoint/2010/main" val="22723122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FAC1B6-F7B2-AFCD-D4F7-721935A1CA1A}"/>
              </a:ext>
            </a:extLst>
          </p:cNvPr>
          <p:cNvSpPr>
            <a:spLocks noGrp="1"/>
          </p:cNvSpPr>
          <p:nvPr>
            <p:ph type="title"/>
          </p:nvPr>
        </p:nvSpPr>
        <p:spPr/>
        <p:txBody>
          <a:bodyPr/>
          <a:lstStyle/>
          <a:p>
            <a:r>
              <a:rPr lang="zh-CN" altLang="en-US" dirty="0"/>
              <a:t>匹配</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0C663C3-DD39-A071-0134-43310E1F3722}"/>
                  </a:ext>
                </a:extLst>
              </p:cNvPr>
              <p:cNvSpPr>
                <a:spLocks noGrp="1"/>
              </p:cNvSpPr>
              <p:nvPr>
                <p:ph idx="1"/>
              </p:nvPr>
            </p:nvSpPr>
            <p:spPr/>
            <p:txBody>
              <a:bodyPr>
                <a:normAutofit fontScale="70000" lnSpcReduction="20000"/>
              </a:bodyPr>
              <a:lstStyle/>
              <a:p>
                <a:r>
                  <a:rPr lang="zh-CN" altLang="en-US" dirty="0"/>
                  <a:t>对于缺失的反事实结果，可以用匹配估计量填补</a:t>
                </a:r>
                <a:endParaRPr lang="en-US" altLang="zh-CN" dirty="0"/>
              </a:p>
              <a:p>
                <a:pPr marL="0" indent="0">
                  <a:buNone/>
                </a:pPr>
                <a14:m>
                  <m:oMathPara xmlns:m="http://schemas.openxmlformats.org/officeDocument/2006/math">
                    <m:oMath>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m:t>
                              </m:r>
                            </m:sub>
                          </m:sSub>
                        </m:e>
                      </m:acc>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m:t>
                          </m:r>
                        </m:e>
                      </m:d>
                      <m:r>
                        <a:rPr lang="en-US" altLang="zh-CN" b="0" i="1" dirty="0" smtClean="0">
                          <a:latin typeface="Cambria Math" panose="02040503050406030204" pitchFamily="18" charset="0"/>
                        </a:rPr>
                        <m:t>=</m:t>
                      </m:r>
                      <m:d>
                        <m:dPr>
                          <m:begChr m:val="{"/>
                          <m:endChr m:val=""/>
                          <m:ctrlPr>
                            <a:rPr lang="en-US" altLang="zh-CN" b="0" i="1" dirty="0" smtClean="0">
                              <a:latin typeface="Cambria Math" panose="02040503050406030204" pitchFamily="18" charset="0"/>
                            </a:rPr>
                          </m:ctrlPr>
                        </m:dPr>
                        <m:e>
                          <m:eqArr>
                            <m:eqArrPr>
                              <m:ctrlPr>
                                <a:rPr lang="en-US" altLang="zh-CN" b="0" i="1" dirty="0" smtClean="0">
                                  <a:latin typeface="Cambria Math" panose="02040503050406030204" pitchFamily="18" charset="0"/>
                                </a:rPr>
                              </m:ctrlPr>
                            </m:eqArrPr>
                            <m:e>
                              <m:m>
                                <m:mPr>
                                  <m:mcs>
                                    <m:mc>
                                      <m:mcPr>
                                        <m:count m:val="2"/>
                                        <m:mcJc m:val="center"/>
                                      </m:mcPr>
                                    </m:mc>
                                  </m:mcs>
                                  <m:ctrlPr>
                                    <a:rPr lang="en-US" altLang="zh-CN" b="0" i="1" dirty="0" smtClean="0">
                                      <a:latin typeface="Cambria Math" panose="02040503050406030204" pitchFamily="18" charset="0"/>
                                    </a:rPr>
                                  </m:ctrlPr>
                                </m:mPr>
                                <m:mr>
                                  <m:e>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𝑌</m:t>
                                        </m:r>
                                      </m:e>
                                      <m:sub>
                                        <m:r>
                                          <m:rPr>
                                            <m:brk m:alnAt="7"/>
                                          </m:rPr>
                                          <a:rPr lang="en-US" altLang="zh-CN" b="0" i="1" dirty="0" smtClean="0">
                                            <a:latin typeface="Cambria Math" panose="02040503050406030204" pitchFamily="18" charset="0"/>
                                          </a:rPr>
                                          <m:t>𝑖</m:t>
                                        </m:r>
                                      </m:sub>
                                    </m:sSub>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e>
                                  <m:e>
                                    <m:r>
                                      <a:rPr lang="zh-CN" altLang="en-US" i="1" dirty="0">
                                        <a:latin typeface="Cambria Math" panose="02040503050406030204" pitchFamily="18" charset="0"/>
                                      </a:rPr>
                                      <m:t>如果</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=0,</m:t>
                                    </m:r>
                                  </m:e>
                                </m:mr>
                              </m:m>
                            </m:e>
                            <m:e>
                              <m:m>
                                <m:mPr>
                                  <m:mcs>
                                    <m:mc>
                                      <m:mcPr>
                                        <m:count m:val="2"/>
                                        <m:mcJc m:val="center"/>
                                      </m:mcPr>
                                    </m:mc>
                                  </m:mcs>
                                  <m:ctrlPr>
                                    <a:rPr lang="en-US" altLang="zh-CN" b="0" i="1" dirty="0" smtClean="0">
                                      <a:latin typeface="Cambria Math" panose="02040503050406030204" pitchFamily="18" charset="0"/>
                                    </a:rPr>
                                  </m:ctrlPr>
                                </m:mPr>
                                <m:mr>
                                  <m:e>
                                    <m:f>
                                      <m:fPr>
                                        <m:ctrlPr>
                                          <a:rPr lang="en-US" altLang="zh-CN" b="0" i="1" dirty="0" smtClean="0">
                                            <a:latin typeface="Cambria Math" panose="02040503050406030204" pitchFamily="18" charset="0"/>
                                          </a:rPr>
                                        </m:ctrlPr>
                                      </m:fPr>
                                      <m:num>
                                        <m:r>
                                          <m:rPr>
                                            <m:brk m:alnAt="7"/>
                                          </m:rPr>
                                          <a:rPr lang="en-US" altLang="zh-CN" b="0" i="1" dirty="0" smtClean="0">
                                            <a:latin typeface="Cambria Math" panose="02040503050406030204" pitchFamily="18" charset="0"/>
                                          </a:rPr>
                                          <m:t>1</m:t>
                                        </m:r>
                                      </m:num>
                                      <m:den>
                                        <m:r>
                                          <m:rPr>
                                            <m:brk m:alnAt="7"/>
                                          </m:rPr>
                                          <a:rPr lang="en-US" altLang="zh-CN" b="0" i="1" dirty="0" smtClean="0">
                                            <a:latin typeface="Cambria Math" panose="02040503050406030204" pitchFamily="18" charset="0"/>
                                          </a:rPr>
                                          <m:t>𝑀</m:t>
                                        </m:r>
                                      </m:den>
                                    </m:f>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𝑗</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𝐽</m:t>
                                            </m:r>
                                          </m:e>
                                          <m:sub>
                                            <m:r>
                                              <a:rPr lang="en-US" altLang="zh-CN" b="0" i="1" dirty="0" smtClean="0">
                                                <a:latin typeface="Cambria Math" panose="02040503050406030204" pitchFamily="18" charset="0"/>
                                              </a:rPr>
                                              <m:t>𝑀</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𝑖</m:t>
                                            </m:r>
                                          </m:e>
                                        </m:d>
                                      </m:sub>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𝑗</m:t>
                                            </m:r>
                                          </m:sub>
                                        </m:sSub>
                                      </m:e>
                                    </m:nary>
                                  </m:e>
                                  <m:e>
                                    <m:r>
                                      <a:rPr lang="zh-CN" altLang="en-US" i="1" dirty="0">
                                        <a:latin typeface="Cambria Math" panose="02040503050406030204" pitchFamily="18" charset="0"/>
                                      </a:rPr>
                                      <m:t>如果</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=1,</m:t>
                                    </m:r>
                                  </m:e>
                                </m:mr>
                              </m:m>
                            </m:e>
                          </m:eqArr>
                        </m:e>
                      </m:d>
                      <m:acc>
                        <m:accPr>
                          <m:chr m:val="̂"/>
                          <m:ctrlPr>
                            <a:rPr lang="en-US" altLang="zh-CN" b="0" i="1" dirty="0" smtClean="0">
                              <a:latin typeface="Cambria Math" panose="02040503050406030204" pitchFamily="18" charset="0"/>
                            </a:rPr>
                          </m:ctrlPr>
                        </m:acc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m:t>
                              </m:r>
                            </m:sub>
                          </m:sSub>
                        </m:e>
                      </m:acc>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1</m:t>
                          </m:r>
                        </m:e>
                      </m:d>
                      <m:r>
                        <a:rPr lang="en-US" altLang="zh-CN" b="0" i="1" dirty="0" smtClean="0">
                          <a:latin typeface="Cambria Math" panose="02040503050406030204" pitchFamily="18" charset="0"/>
                        </a:rPr>
                        <m:t>=</m:t>
                      </m:r>
                      <m:d>
                        <m:dPr>
                          <m:begChr m:val="{"/>
                          <m:endChr m:val=""/>
                          <m:ctrlPr>
                            <a:rPr lang="en-US" altLang="zh-CN" i="1" dirty="0">
                              <a:latin typeface="Cambria Math" panose="02040503050406030204" pitchFamily="18" charset="0"/>
                            </a:rPr>
                          </m:ctrlPr>
                        </m:dPr>
                        <m:e>
                          <m:eqArr>
                            <m:eqArrPr>
                              <m:ctrlPr>
                                <a:rPr lang="en-US" altLang="zh-CN" i="1" dirty="0">
                                  <a:latin typeface="Cambria Math" panose="02040503050406030204" pitchFamily="18" charset="0"/>
                                </a:rPr>
                              </m:ctrlPr>
                            </m:eqArrPr>
                            <m:e>
                              <m:m>
                                <m:mPr>
                                  <m:mcs>
                                    <m:mc>
                                      <m:mcPr>
                                        <m:count m:val="2"/>
                                        <m:mcJc m:val="center"/>
                                      </m:mcPr>
                                    </m:mc>
                                  </m:mcs>
                                  <m:ctrlPr>
                                    <a:rPr lang="en-US" altLang="zh-CN" i="1" dirty="0">
                                      <a:latin typeface="Cambria Math" panose="02040503050406030204" pitchFamily="18" charset="0"/>
                                    </a:rPr>
                                  </m:ctrlPr>
                                </m:mPr>
                                <m:mr>
                                  <m:e>
                                    <m:f>
                                      <m:fPr>
                                        <m:ctrlPr>
                                          <a:rPr lang="en-US" altLang="zh-CN" i="1" dirty="0">
                                            <a:latin typeface="Cambria Math" panose="02040503050406030204" pitchFamily="18" charset="0"/>
                                          </a:rPr>
                                        </m:ctrlPr>
                                      </m:fPr>
                                      <m:num>
                                        <m:r>
                                          <m:rPr>
                                            <m:brk m:alnAt="7"/>
                                          </m:rPr>
                                          <a:rPr lang="en-US" altLang="zh-CN" i="1" dirty="0">
                                            <a:latin typeface="Cambria Math" panose="02040503050406030204" pitchFamily="18" charset="0"/>
                                          </a:rPr>
                                          <m:t>1</m:t>
                                        </m:r>
                                      </m:num>
                                      <m:den>
                                        <m:r>
                                          <m:rPr>
                                            <m:brk m:alnAt="7"/>
                                          </m:rPr>
                                          <a:rPr lang="en-US" altLang="zh-CN" i="1" dirty="0">
                                            <a:latin typeface="Cambria Math" panose="02040503050406030204" pitchFamily="18" charset="0"/>
                                          </a:rPr>
                                          <m:t>𝑀</m:t>
                                        </m:r>
                                      </m:den>
                                    </m:f>
                                    <m:nary>
                                      <m:naryPr>
                                        <m:chr m:val="∑"/>
                                        <m:supHide m:val="on"/>
                                        <m:ctrlPr>
                                          <a:rPr lang="en-US" altLang="zh-CN" i="1" dirty="0">
                                            <a:latin typeface="Cambria Math" panose="02040503050406030204" pitchFamily="18" charset="0"/>
                                          </a:rPr>
                                        </m:ctrlPr>
                                      </m:naryPr>
                                      <m:sub>
                                        <m:r>
                                          <a:rPr lang="en-US" altLang="zh-CN" i="1" dirty="0">
                                            <a:latin typeface="Cambria Math" panose="02040503050406030204" pitchFamily="18" charset="0"/>
                                          </a:rPr>
                                          <m:t>𝑗</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𝐽</m:t>
                                            </m:r>
                                          </m:e>
                                          <m:sub>
                                            <m:r>
                                              <a:rPr lang="en-US" altLang="zh-CN" i="1" dirty="0">
                                                <a:latin typeface="Cambria Math" panose="02040503050406030204" pitchFamily="18" charset="0"/>
                                              </a:rPr>
                                              <m:t>𝑀</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𝑖</m:t>
                                            </m:r>
                                          </m:e>
                                        </m:d>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𝑌</m:t>
                                            </m:r>
                                          </m:e>
                                          <m:sub>
                                            <m:r>
                                              <a:rPr lang="en-US" altLang="zh-CN" i="1" dirty="0">
                                                <a:latin typeface="Cambria Math" panose="02040503050406030204" pitchFamily="18" charset="0"/>
                                              </a:rPr>
                                              <m:t>𝑗</m:t>
                                            </m:r>
                                          </m:sub>
                                        </m:sSub>
                                      </m:e>
                                    </m:nary>
                                  </m:e>
                                  <m:e>
                                    <m:r>
                                      <a:rPr lang="zh-CN" altLang="en-US" i="1" dirty="0">
                                        <a:latin typeface="Cambria Math" panose="02040503050406030204" pitchFamily="18" charset="0"/>
                                      </a:rPr>
                                      <m:t>如果</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=0,</m:t>
                                    </m:r>
                                  </m:e>
                                </m:mr>
                              </m:m>
                            </m:e>
                            <m:e>
                              <m:m>
                                <m:mPr>
                                  <m:mcs>
                                    <m:mc>
                                      <m:mcPr>
                                        <m:count m:val="2"/>
                                        <m:mcJc m:val="center"/>
                                      </m:mcPr>
                                    </m:mc>
                                  </m:mcs>
                                  <m:ctrlPr>
                                    <a:rPr lang="en-US" altLang="zh-CN" i="1" dirty="0">
                                      <a:latin typeface="Cambria Math" panose="02040503050406030204" pitchFamily="18" charset="0"/>
                                    </a:rPr>
                                  </m:ctrlPr>
                                </m:mPr>
                                <m:m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                  </m:t>
                                    </m:r>
                                  </m:e>
                                  <m:e>
                                    <m:r>
                                      <a:rPr lang="zh-CN" altLang="en-US" i="1" dirty="0">
                                        <a:latin typeface="Cambria Math" panose="02040503050406030204" pitchFamily="18" charset="0"/>
                                      </a:rPr>
                                      <m:t>如果</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=1,</m:t>
                                    </m:r>
                                  </m:e>
                                </m:mr>
                              </m:m>
                            </m:e>
                          </m:eqArr>
                        </m:e>
                      </m:d>
                    </m:oMath>
                  </m:oMathPara>
                </a14:m>
                <a:endParaRPr lang="en-US" altLang="zh-CN" dirty="0"/>
              </a:p>
              <a:p>
                <a:r>
                  <a:rPr lang="en-US" altLang="zh-CN" dirty="0"/>
                  <a:t>ATE </a:t>
                </a:r>
                <a:r>
                  <a:rPr lang="zh-CN" altLang="en-US" dirty="0"/>
                  <a:t>的匹配估计量</a:t>
                </a:r>
              </a:p>
              <a:p>
                <a:pPr marL="0" indent="0" algn="ctr">
                  <a:buNone/>
                </a:pPr>
                <a:r>
                  <a:rPr lang="en-US" altLang="zh-CN" dirty="0"/>
                  <a:t> </a:t>
                </a:r>
                <a14:m>
                  <m:oMath xmlns:m="http://schemas.openxmlformats.org/officeDocument/2006/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dirty="0" smtClean="0">
                            <a:latin typeface="Cambria Math" panose="02040503050406030204" pitchFamily="18" charset="0"/>
                          </a:rPr>
                          <m:t>𝑀</m:t>
                        </m:r>
                      </m:sub>
                    </m:sSub>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𝑛</m:t>
                        </m:r>
                      </m:den>
                    </m:f>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𝑛</m:t>
                        </m:r>
                      </m:sup>
                      <m:e>
                        <m:d>
                          <m:dPr>
                            <m:ctrlPr>
                              <a:rPr lang="en-US" altLang="zh-CN" b="0" i="1" dirty="0" smtClean="0">
                                <a:latin typeface="Cambria Math" panose="02040503050406030204" pitchFamily="18" charset="0"/>
                              </a:rPr>
                            </m:ctrlPr>
                          </m:dPr>
                          <m:e>
                            <m:acc>
                              <m:accPr>
                                <m:chr m:val="̂"/>
                                <m:ctrlPr>
                                  <a:rPr lang="en-US" altLang="zh-CN" b="0" i="1" dirty="0" smtClean="0">
                                    <a:latin typeface="Cambria Math" panose="02040503050406030204" pitchFamily="18" charset="0"/>
                                  </a:rPr>
                                </m:ctrlPr>
                              </m:acc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m:t>
                                    </m:r>
                                  </m:sub>
                                </m:sSub>
                              </m:e>
                            </m:acc>
                            <m:r>
                              <a:rPr lang="en-US" altLang="zh-CN" b="0" i="1" dirty="0" smtClean="0">
                                <a:latin typeface="Cambria Math" panose="02040503050406030204" pitchFamily="18" charset="0"/>
                              </a:rPr>
                              <m:t>−</m:t>
                            </m:r>
                            <m:acc>
                              <m:accPr>
                                <m:chr m:val="̂"/>
                                <m:ctrlPr>
                                  <a:rPr lang="en-US" altLang="zh-CN" b="0" i="1" dirty="0" smtClean="0">
                                    <a:latin typeface="Cambria Math" panose="02040503050406030204" pitchFamily="18" charset="0"/>
                                  </a:rPr>
                                </m:ctrlPr>
                              </m:acc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m:t>
                                    </m:r>
                                  </m:sub>
                                </m:sSub>
                              </m:e>
                            </m:acc>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m:t>
                                </m:r>
                              </m:e>
                            </m:d>
                          </m:e>
                        </m:d>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𝑛</m:t>
                            </m:r>
                          </m:den>
                        </m:f>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𝑛</m:t>
                            </m:r>
                          </m:sup>
                          <m:e>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2</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−1</m:t>
                                </m:r>
                              </m:e>
                            </m:d>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1+</m:t>
                                </m:r>
                                <m:f>
                                  <m:fPr>
                                    <m:ctrlPr>
                                      <a:rPr lang="en-US" altLang="zh-CN" b="0" i="1" dirty="0" smtClean="0">
                                        <a:latin typeface="Cambria Math" panose="02040503050406030204" pitchFamily="18" charset="0"/>
                                      </a:rPr>
                                    </m:ctrlPr>
                                  </m:fPr>
                                  <m:num>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𝐾</m:t>
                                        </m:r>
                                      </m:e>
                                      <m:sub>
                                        <m:r>
                                          <a:rPr lang="en-US" altLang="zh-CN" b="0" i="1" dirty="0" smtClean="0">
                                            <a:latin typeface="Cambria Math" panose="02040503050406030204" pitchFamily="18" charset="0"/>
                                          </a:rPr>
                                          <m:t>𝑀</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𝑖</m:t>
                                        </m:r>
                                      </m:e>
                                    </m:d>
                                  </m:num>
                                  <m:den>
                                    <m:r>
                                      <a:rPr lang="en-US" altLang="zh-CN" b="0" i="1" dirty="0" smtClean="0">
                                        <a:latin typeface="Cambria Math" panose="02040503050406030204" pitchFamily="18" charset="0"/>
                                      </a:rPr>
                                      <m:t>𝑀</m:t>
                                    </m:r>
                                  </m:den>
                                </m:f>
                              </m:e>
                            </m:d>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m:t>
                                </m:r>
                              </m:sub>
                            </m:sSub>
                          </m:e>
                        </m:nary>
                      </m:e>
                    </m:nary>
                    <m:r>
                      <a:rPr lang="en-US" altLang="zh-CN" b="0" i="1" dirty="0" smtClean="0">
                        <a:latin typeface="Cambria Math" panose="02040503050406030204" pitchFamily="18" charset="0"/>
                      </a:rPr>
                      <m:t>.        (19)</m:t>
                    </m:r>
                  </m:oMath>
                </a14:m>
                <a:endParaRPr lang="en-US" altLang="zh-CN" dirty="0"/>
              </a:p>
              <a:p>
                <a:r>
                  <a:rPr lang="en-US" altLang="zh-CN" dirty="0"/>
                  <a:t>ATT </a:t>
                </a:r>
                <a:r>
                  <a:rPr lang="zh-CN" altLang="en-US" dirty="0"/>
                  <a:t>的匹配估计量</a:t>
                </a:r>
                <a:endParaRPr lang="en-US" altLang="zh-CN" dirty="0"/>
              </a:p>
              <a:p>
                <a:pPr marL="0" indent="0">
                  <a:buNone/>
                </a:pPr>
                <a14:m>
                  <m:oMathPara xmlns:m="http://schemas.openxmlformats.org/officeDocument/2006/math">
                    <m:oMath>
                      <m:sSubSup>
                        <m:sSubSupPr>
                          <m:ctrlPr>
                            <a:rPr lang="en-US" altLang="zh-CN" b="0" i="1" dirty="0" smtClean="0">
                              <a:latin typeface="Cambria Math" panose="02040503050406030204" pitchFamily="18" charset="0"/>
                            </a:rPr>
                          </m:ctrlPr>
                        </m:sSubSup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𝜏</m:t>
                              </m:r>
                            </m:e>
                          </m:acc>
                        </m:e>
                        <m:sub>
                          <m:r>
                            <a:rPr lang="en-US" altLang="zh-CN" b="0" i="1" dirty="0" smtClean="0">
                              <a:latin typeface="Cambria Math" panose="02040503050406030204" pitchFamily="18" charset="0"/>
                            </a:rPr>
                            <m:t>𝑀</m:t>
                          </m:r>
                        </m:sub>
                        <m:sup>
                          <m:r>
                            <a:rPr lang="en-US" altLang="zh-CN" b="0" i="1" dirty="0" smtClean="0">
                              <a:latin typeface="Cambria Math" panose="02040503050406030204" pitchFamily="18" charset="0"/>
                            </a:rPr>
                            <m:t>𝑡</m:t>
                          </m:r>
                        </m:sup>
                      </m:sSubSup>
                      <m:r>
                        <a:rPr lang="en-US" altLang="zh-CN" b="0" i="1" dirty="0" smtClean="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𝑛</m:t>
                              </m:r>
                            </m:e>
                            <m:sub>
                              <m:r>
                                <a:rPr lang="en-US" altLang="zh-CN" b="0" i="1" dirty="0" smtClean="0">
                                  <a:latin typeface="Cambria Math" panose="02040503050406030204" pitchFamily="18" charset="0"/>
                                </a:rPr>
                                <m:t>1</m:t>
                              </m:r>
                            </m:sub>
                          </m:sSub>
                        </m:den>
                      </m:f>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sub>
                        <m:sup>
                          <m:r>
                            <a:rPr lang="en-US" altLang="zh-CN" i="1" dirty="0">
                              <a:latin typeface="Cambria Math" panose="02040503050406030204" pitchFamily="18" charset="0"/>
                            </a:rPr>
                            <m:t>𝑛</m:t>
                          </m:r>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d>
                            <m:dPr>
                              <m:ctrlPr>
                                <a:rPr lang="en-US" altLang="zh-CN" i="1" dirty="0">
                                  <a:latin typeface="Cambria Math" panose="02040503050406030204" pitchFamily="18" charset="0"/>
                                </a:rPr>
                              </m:ctrlPr>
                            </m:dPr>
                            <m:e>
                              <m:acc>
                                <m:accPr>
                                  <m:chr m:val="̂"/>
                                  <m:ctrlPr>
                                    <a:rPr lang="en-US" altLang="zh-CN" i="1" dirty="0">
                                      <a:latin typeface="Cambria Math" panose="02040503050406030204" pitchFamily="18" charset="0"/>
                                    </a:rPr>
                                  </m:ctrlPr>
                                </m:acc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𝑌</m:t>
                                      </m:r>
                                    </m:e>
                                    <m:sub>
                                      <m:r>
                                        <a:rPr lang="en-US" altLang="zh-CN" i="1" dirty="0">
                                          <a:latin typeface="Cambria Math" panose="02040503050406030204" pitchFamily="18" charset="0"/>
                                        </a:rPr>
                                        <m:t>𝑖</m:t>
                                      </m:r>
                                    </m:sub>
                                  </m:sSub>
                                </m:e>
                              </m:acc>
                              <m:r>
                                <a:rPr lang="en-US" altLang="zh-CN" i="1" dirty="0">
                                  <a:latin typeface="Cambria Math" panose="02040503050406030204" pitchFamily="18" charset="0"/>
                                </a:rPr>
                                <m:t>−</m:t>
                              </m:r>
                              <m:acc>
                                <m:accPr>
                                  <m:chr m:val="̂"/>
                                  <m:ctrlPr>
                                    <a:rPr lang="en-US" altLang="zh-CN" i="1" dirty="0">
                                      <a:latin typeface="Cambria Math" panose="02040503050406030204" pitchFamily="18" charset="0"/>
                                    </a:rPr>
                                  </m:ctrlPr>
                                </m:acc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𝑌</m:t>
                                      </m:r>
                                    </m:e>
                                    <m:sub>
                                      <m:r>
                                        <a:rPr lang="en-US" altLang="zh-CN" i="1" dirty="0">
                                          <a:latin typeface="Cambria Math" panose="02040503050406030204" pitchFamily="18" charset="0"/>
                                        </a:rPr>
                                        <m:t>𝑖</m:t>
                                      </m:r>
                                    </m:sub>
                                  </m:sSub>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0</m:t>
                                  </m:r>
                                </m:e>
                              </m:d>
                            </m:e>
                          </m:d>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r>
                                <a:rPr lang="en-US" altLang="zh-CN" i="1" dirty="0">
                                  <a:latin typeface="Cambria Math" panose="02040503050406030204" pitchFamily="18" charset="0"/>
                                </a:rPr>
                                <m:t>𝑛</m:t>
                              </m:r>
                            </m:den>
                          </m:f>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sub>
                            <m:sup>
                              <m:r>
                                <a:rPr lang="en-US" altLang="zh-CN" i="1" dirty="0">
                                  <a:latin typeface="Cambria Math" panose="02040503050406030204" pitchFamily="18" charset="0"/>
                                </a:rPr>
                                <m:t>𝑛</m:t>
                              </m:r>
                            </m:sup>
                            <m:e>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i="1" dirty="0">
                                      <a:latin typeface="Cambria Math" panose="02040503050406030204" pitchFamily="18" charset="0"/>
                                    </a:rPr>
                                    <m:t>1</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𝐾</m:t>
                                          </m:r>
                                        </m:e>
                                        <m:sub>
                                          <m:r>
                                            <a:rPr lang="en-US" altLang="zh-CN" i="1" dirty="0">
                                              <a:latin typeface="Cambria Math" panose="02040503050406030204" pitchFamily="18" charset="0"/>
                                            </a:rPr>
                                            <m:t>𝑀</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𝑖</m:t>
                                          </m:r>
                                        </m:e>
                                      </m:d>
                                    </m:num>
                                    <m:den>
                                      <m:r>
                                        <a:rPr lang="en-US" altLang="zh-CN" i="1" dirty="0">
                                          <a:latin typeface="Cambria Math" panose="02040503050406030204" pitchFamily="18" charset="0"/>
                                        </a:rPr>
                                        <m:t>𝑀</m:t>
                                      </m:r>
                                    </m:den>
                                  </m:f>
                                </m:e>
                              </m:d>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𝑌</m:t>
                                  </m:r>
                                </m:e>
                                <m:sub>
                                  <m:r>
                                    <a:rPr lang="en-US" altLang="zh-CN" i="1" dirty="0">
                                      <a:latin typeface="Cambria Math" panose="02040503050406030204" pitchFamily="18" charset="0"/>
                                    </a:rPr>
                                    <m:t>𝑖</m:t>
                                  </m:r>
                                </m:sub>
                              </m:sSub>
                            </m:e>
                          </m:nary>
                        </m:e>
                      </m:nary>
                      <m:r>
                        <a:rPr lang="en-US" altLang="zh-CN" i="1" dirty="0">
                          <a:latin typeface="Cambria Math" panose="02040503050406030204" pitchFamily="18" charset="0"/>
                        </a:rPr>
                        <m:t>.  (</m:t>
                      </m:r>
                      <m:r>
                        <a:rPr lang="en-US" altLang="zh-CN" b="0" i="1" dirty="0" smtClean="0">
                          <a:latin typeface="Cambria Math" panose="02040503050406030204" pitchFamily="18" charset="0"/>
                        </a:rPr>
                        <m:t>20</m:t>
                      </m:r>
                      <m:r>
                        <a:rPr lang="en-US" altLang="zh-CN" i="1" dirty="0">
                          <a:latin typeface="Cambria Math" panose="02040503050406030204" pitchFamily="18" charset="0"/>
                        </a:rPr>
                        <m:t>)</m:t>
                      </m:r>
                    </m:oMath>
                  </m:oMathPara>
                </a14:m>
                <a:endParaRPr lang="zh-CN" altLang="en-US" dirty="0"/>
              </a:p>
            </p:txBody>
          </p:sp>
        </mc:Choice>
        <mc:Fallback xmlns="">
          <p:sp>
            <p:nvSpPr>
              <p:cNvPr id="3" name="内容占位符 2">
                <a:extLst>
                  <a:ext uri="{FF2B5EF4-FFF2-40B4-BE49-F238E27FC236}">
                    <a16:creationId xmlns:a16="http://schemas.microsoft.com/office/drawing/2014/main" id="{70C663C3-DD39-A071-0134-43310E1F3722}"/>
                  </a:ext>
                </a:extLst>
              </p:cNvPr>
              <p:cNvSpPr>
                <a:spLocks noGrp="1" noRot="1" noChangeAspect="1" noMove="1" noResize="1" noEditPoints="1" noAdjustHandles="1" noChangeArrowheads="1" noChangeShapeType="1" noTextEdit="1"/>
              </p:cNvSpPr>
              <p:nvPr>
                <p:ph idx="1"/>
              </p:nvPr>
            </p:nvSpPr>
            <p:spPr>
              <a:blipFill>
                <a:blip r:embed="rId2"/>
                <a:stretch>
                  <a:fillRect l="-696" t="-210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FAEC95ED-8A46-7131-0938-E38C57A38B3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254DDCA-B4E4-89F0-EAD7-3DA607D3C19F}"/>
              </a:ext>
            </a:extLst>
          </p:cNvPr>
          <p:cNvSpPr>
            <a:spLocks noGrp="1"/>
          </p:cNvSpPr>
          <p:nvPr>
            <p:ph type="sldNum" sz="quarter" idx="12"/>
          </p:nvPr>
        </p:nvSpPr>
        <p:spPr/>
        <p:txBody>
          <a:bodyPr/>
          <a:lstStyle/>
          <a:p>
            <a:fld id="{D41FC515-8169-4A29-AA56-DBE520D5741B}" type="slidenum">
              <a:rPr lang="zh-CN" altLang="en-US" smtClean="0"/>
              <a:t>34</a:t>
            </a:fld>
            <a:endParaRPr lang="zh-CN" altLang="en-US"/>
          </a:p>
        </p:txBody>
      </p:sp>
    </p:spTree>
    <p:extLst>
      <p:ext uri="{BB962C8B-B14F-4D97-AF65-F5344CB8AC3E}">
        <p14:creationId xmlns:p14="http://schemas.microsoft.com/office/powerpoint/2010/main" val="6084463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3B1F15-72CD-775E-55F3-088881A30466}"/>
              </a:ext>
            </a:extLst>
          </p:cNvPr>
          <p:cNvSpPr>
            <a:spLocks noGrp="1"/>
          </p:cNvSpPr>
          <p:nvPr>
            <p:ph type="title"/>
          </p:nvPr>
        </p:nvSpPr>
        <p:spPr/>
        <p:txBody>
          <a:bodyPr/>
          <a:lstStyle/>
          <a:p>
            <a:r>
              <a:rPr lang="zh-CN" altLang="en-US" dirty="0"/>
              <a:t>匹配：匹配估计量的统计性质</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08A4750-BC0A-1B1E-C125-79EAE63DFE3B}"/>
                  </a:ext>
                </a:extLst>
              </p:cNvPr>
              <p:cNvSpPr>
                <a:spLocks noGrp="1"/>
              </p:cNvSpPr>
              <p:nvPr>
                <p:ph idx="1"/>
              </p:nvPr>
            </p:nvSpPr>
            <p:spPr/>
            <p:txBody>
              <a:bodyPr>
                <a:normAutofit fontScale="62500" lnSpcReduction="20000"/>
              </a:bodyPr>
              <a:lstStyle/>
              <a:p>
                <a:r>
                  <a:rPr lang="en-US" altLang="zh-CN" dirty="0"/>
                  <a:t>Abadie and </a:t>
                </a:r>
                <a:r>
                  <a:rPr lang="en-US" altLang="zh-CN" dirty="0" err="1"/>
                  <a:t>Imbens</a:t>
                </a:r>
                <a:r>
                  <a:rPr lang="en-US" altLang="zh-CN" dirty="0"/>
                  <a:t> (2006) </a:t>
                </a:r>
                <a:r>
                  <a:rPr lang="zh-CN" altLang="en-US" dirty="0"/>
                  <a:t>证明：</a:t>
                </a:r>
                <a:endParaRPr lang="en-US" altLang="zh-CN" dirty="0"/>
              </a:p>
              <a:p>
                <a:pPr marL="0" indent="0">
                  <a:buNone/>
                </a:pPr>
                <a14:m>
                  <m:oMathPara xmlns:m="http://schemas.openxmlformats.org/officeDocument/2006/math">
                    <m:oMath>
                      <m:acc>
                        <m:accPr>
                          <m:chr m:val="̂"/>
                          <m:ctrlPr>
                            <a:rPr lang="zh-CN" altLang="en-US" i="1" dirty="0" smtClean="0">
                              <a:latin typeface="Cambria Math" panose="02040503050406030204" pitchFamily="18" charset="0"/>
                            </a:rPr>
                          </m:ctrlPr>
                        </m:accPr>
                        <m:e>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𝑀</m:t>
                              </m:r>
                            </m:sub>
                          </m:sSub>
                        </m:e>
                      </m:acc>
                      <m:r>
                        <a:rPr lang="zh-CN" altLang="en-US" i="1" dirty="0" smtClean="0">
                          <a:latin typeface="Cambria Math" panose="02040503050406030204" pitchFamily="18" charset="0"/>
                        </a:rPr>
                        <m:t> − </m:t>
                      </m:r>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𝜏</m:t>
                          </m:r>
                        </m:e>
                        <m:sub>
                          <m:r>
                            <a:rPr lang="zh-CN" altLang="en-US" i="1" dirty="0" smtClean="0">
                              <a:latin typeface="Cambria Math" panose="02040503050406030204" pitchFamily="18" charset="0"/>
                            </a:rPr>
                            <m:t>𝐴𝑇𝐸</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d>
                        <m:dPr>
                          <m:ctrlPr>
                            <a:rPr lang="zh-CN" altLang="en-US" i="1" dirty="0">
                              <a:latin typeface="Cambria Math" panose="02040503050406030204" pitchFamily="18" charset="0"/>
                            </a:rPr>
                          </m:ctrlPr>
                        </m:dPr>
                        <m:e>
                          <m:bar>
                            <m:barPr>
                              <m:pos m:val="top"/>
                              <m:ctrlPr>
                                <a:rPr lang="zh-CN" altLang="en-US" i="1" dirty="0">
                                  <a:latin typeface="Cambria Math" panose="02040503050406030204" pitchFamily="18" charset="0"/>
                                </a:rPr>
                              </m:ctrlPr>
                            </m:barPr>
                            <m:e>
                              <m:r>
                                <a:rPr lang="zh-CN" altLang="en-US" i="1" dirty="0">
                                  <a:latin typeface="Cambria Math" panose="02040503050406030204" pitchFamily="18" charset="0"/>
                                </a:rPr>
                                <m:t>𝜏</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𝑋</m:t>
                                  </m:r>
                                </m:e>
                              </m:d>
                            </m:e>
                          </m:bar>
                          <m:r>
                            <a:rPr lang="en-US" altLang="zh-CN"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𝐴𝑇𝐸</m:t>
                              </m:r>
                            </m:sub>
                          </m:sSub>
                        </m:e>
                      </m:d>
                      <m:r>
                        <a:rPr lang="en-US" altLang="zh-CN" i="1" dirty="0">
                          <a:latin typeface="Cambria Math" panose="02040503050406030204" pitchFamily="18" charset="0"/>
                        </a:rPr>
                        <m:t> + </m:t>
                      </m:r>
                      <m:r>
                        <a:rPr lang="zh-CN" altLang="en-US" i="1" dirty="0">
                          <a:latin typeface="Cambria Math" panose="02040503050406030204" pitchFamily="18" charset="0"/>
                        </a:rPr>
                        <m:t>𝐸𝑀</m:t>
                      </m:r>
                      <m:r>
                        <a:rPr lang="zh-CN" altLang="en-US" i="1" dirty="0">
                          <a:latin typeface="Cambria Math" panose="02040503050406030204" pitchFamily="18" charset="0"/>
                        </a:rPr>
                        <m:t> + </m:t>
                      </m:r>
                      <m:r>
                        <a:rPr lang="zh-CN" altLang="en-US" i="1" dirty="0">
                          <a:latin typeface="Cambria Math" panose="02040503050406030204" pitchFamily="18" charset="0"/>
                        </a:rPr>
                        <m:t>𝐵𝑀</m:t>
                      </m:r>
                      <m:r>
                        <a:rPr lang="en-US" altLang="zh-CN" i="1" dirty="0">
                          <a:latin typeface="Cambria Math" panose="02040503050406030204" pitchFamily="18" charset="0"/>
                        </a:rPr>
                        <m:t>,</m:t>
                      </m:r>
                      <m:r>
                        <a:rPr lang="en-US" altLang="zh-CN" b="0" i="1" dirty="0" smtClean="0">
                          <a:latin typeface="Cambria Math" panose="02040503050406030204" pitchFamily="18" charset="0"/>
                        </a:rPr>
                        <m:t>               </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21</m:t>
                          </m:r>
                        </m:e>
                      </m:d>
                    </m:oMath>
                  </m:oMathPara>
                </a14:m>
                <a:endParaRPr lang="en-US" altLang="zh-CN" b="0" dirty="0"/>
              </a:p>
              <a:p>
                <a:r>
                  <a:rPr lang="zh-CN" altLang="en-US" dirty="0"/>
                  <a:t>其中</a:t>
                </a:r>
                <a:endParaRPr lang="en-US" altLang="zh-CN" dirty="0"/>
              </a:p>
              <a:p>
                <a:pPr marL="0" indent="0">
                  <a:buNone/>
                </a:pPr>
                <a14:m>
                  <m:oMathPara xmlns:m="http://schemas.openxmlformats.org/officeDocument/2006/math">
                    <m:oMath>
                      <m:bar>
                        <m:barPr>
                          <m:pos m:val="top"/>
                          <m:ctrlPr>
                            <a:rPr lang="en-US" altLang="zh-CN" b="0" i="1" smtClean="0">
                              <a:latin typeface="Cambria Math" panose="02040503050406030204" pitchFamily="18" charset="0"/>
                            </a:rPr>
                          </m:ctrlPr>
                        </m:barPr>
                        <m:e>
                          <m:r>
                            <a:rPr lang="en-US" altLang="zh-CN" b="0" i="1" smtClean="0">
                              <a:latin typeface="Cambria Math" panose="02040503050406030204" pitchFamily="18" charset="0"/>
                            </a:rPr>
                            <m:t>𝜏</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e>
                      </m:ba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𝑛</m:t>
                          </m:r>
                        </m:den>
                      </m:f>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𝑛</m:t>
                          </m:r>
                        </m:sup>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𝑡</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𝑐</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e>
                          </m:d>
                        </m:e>
                      </m:nary>
                      <m:r>
                        <a:rPr lang="en-US" altLang="zh-CN" b="0" i="1" smtClean="0">
                          <a:latin typeface="Cambria Math" panose="02040503050406030204" pitchFamily="18" charset="0"/>
                        </a:rPr>
                        <m:t>,                                             (22)</m:t>
                      </m:r>
                    </m:oMath>
                  </m:oMathPara>
                </a14:m>
                <a:endParaRPr lang="en-US" altLang="zh-CN" b="0" dirty="0"/>
              </a:p>
              <a:p>
                <a:pPr marL="0" indent="0">
                  <a:buNone/>
                </a:pPr>
                <a14:m>
                  <m:oMathPara xmlns:m="http://schemas.openxmlformats.org/officeDocument/2006/math">
                    <m:o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𝐸</m:t>
                          </m:r>
                        </m:e>
                        <m:sub>
                          <m:r>
                            <a:rPr lang="en-US" altLang="zh-CN" b="0" i="1" smtClean="0">
                              <a:latin typeface="Cambria Math" panose="02040503050406030204" pitchFamily="18" charset="0"/>
                            </a:rPr>
                            <m:t>𝑀</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𝑛</m:t>
                          </m:r>
                        </m:den>
                      </m:f>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𝑛</m:t>
                          </m:r>
                        </m:sup>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−1</m:t>
                              </m:r>
                            </m:e>
                          </m:d>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𝐾</m:t>
                                      </m:r>
                                    </m:e>
                                    <m:sub>
                                      <m:r>
                                        <a:rPr lang="en-US" altLang="zh-CN" b="0" i="1" smtClean="0">
                                          <a:latin typeface="Cambria Math" panose="02040503050406030204" pitchFamily="18" charset="0"/>
                                        </a:rPr>
                                        <m:t>𝑀</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num>
                                <m:den>
                                  <m:r>
                                    <a:rPr lang="en-US" altLang="zh-CN" b="0" i="1" smtClean="0">
                                      <a:latin typeface="Cambria Math" panose="02040503050406030204" pitchFamily="18" charset="0"/>
                                    </a:rPr>
                                    <m:t>𝑀</m:t>
                                  </m:r>
                                </m:den>
                              </m:f>
                            </m:e>
                          </m:d>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𝜀</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𝜀</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        (23)</m:t>
                          </m:r>
                        </m:e>
                      </m:nary>
                    </m:oMath>
                  </m:oMathPara>
                </a14:m>
                <a:endParaRPr lang="en-US" altLang="zh-CN" dirty="0"/>
              </a:p>
              <a:p>
                <a:pPr marL="0" indent="0">
                  <a:buNone/>
                </a:pPr>
                <a14:m>
                  <m:oMathPara xmlns:m="http://schemas.openxmlformats.org/officeDocument/2006/math">
                    <m:o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𝑀</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𝑛</m:t>
                          </m:r>
                        </m:den>
                      </m:f>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𝑛</m:t>
                          </m:r>
                        </m:sup>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2</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−1</m:t>
                              </m:r>
                            </m:e>
                          </m:d>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𝑀</m:t>
                                  </m:r>
                                </m:den>
                              </m:f>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𝑚</m:t>
                                  </m:r>
                                </m:sub>
                                <m:sup>
                                  <m:r>
                                    <a:rPr lang="en-US" altLang="zh-CN" b="0" i="1" smtClean="0">
                                      <a:latin typeface="Cambria Math" panose="02040503050406030204" pitchFamily="18" charset="0"/>
                                    </a:rPr>
                                    <m:t>𝑀</m:t>
                                  </m:r>
                                </m:sup>
                                <m:e>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𝑗</m:t>
                                          </m:r>
                                        </m:e>
                                        <m:sub>
                                          <m:r>
                                            <a:rPr lang="en-US" altLang="zh-CN" b="0" i="1" smtClean="0">
                                              <a:latin typeface="Cambria Math" panose="02040503050406030204" pitchFamily="18" charset="0"/>
                                            </a:rPr>
                                            <m:t>𝑚</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sub>
                                  </m:sSub>
                                  <m:r>
                                    <a:rPr lang="en-US" altLang="zh-CN" b="0" i="1" smtClean="0">
                                      <a:latin typeface="Cambria Math" panose="02040503050406030204" pitchFamily="18" charset="0"/>
                                    </a:rPr>
                                    <m:t>)</m:t>
                                  </m:r>
                                </m:e>
                              </m:nary>
                            </m:e>
                          </m:d>
                          <m:r>
                            <a:rPr lang="en-US" altLang="zh-CN" b="0" i="1" smtClean="0">
                              <a:latin typeface="Cambria Math" panose="02040503050406030204" pitchFamily="18" charset="0"/>
                            </a:rPr>
                            <m:t>.</m:t>
                          </m:r>
                        </m:e>
                      </m:nary>
                      <m:r>
                        <a:rPr lang="en-US" altLang="zh-CN" b="0" i="1" smtClean="0">
                          <a:latin typeface="Cambria Math" panose="02040503050406030204" pitchFamily="18" charset="0"/>
                        </a:rPr>
                        <m:t>   (24)</m:t>
                      </m:r>
                    </m:oMath>
                  </m:oMathPara>
                </a14:m>
                <a:endParaRPr lang="en-US" altLang="zh-CN" dirty="0"/>
              </a:p>
              <a:p>
                <a:r>
                  <a:rPr lang="en-US" altLang="zh-CN" dirty="0"/>
                  <a:t>(21) </a:t>
                </a:r>
                <a:r>
                  <a:rPr lang="zh-CN" altLang="en-US" dirty="0"/>
                  <a:t>式右边前两项均值为</a:t>
                </a:r>
                <a:r>
                  <a:rPr lang="en-US" altLang="zh-CN" dirty="0"/>
                  <a:t>0</a:t>
                </a:r>
                <a:r>
                  <a:rPr lang="zh-CN" altLang="en-US" dirty="0"/>
                  <a:t>，</a:t>
                </a:r>
                <a14:m>
                  <m:oMath xmlns:m="http://schemas.openxmlformats.org/officeDocument/2006/math">
                    <m:sSup>
                      <m:sSupPr>
                        <m:ctrlPr>
                          <a:rPr lang="zh-CN" altLang="en-US" i="1" dirty="0" smtClean="0">
                            <a:latin typeface="Cambria Math" panose="02040503050406030204" pitchFamily="18" charset="0"/>
                          </a:rPr>
                        </m:ctrlPr>
                      </m:sSupPr>
                      <m:e>
                        <m:r>
                          <a:rPr lang="zh-CN" altLang="en-US" i="1" dirty="0" smtClean="0">
                            <a:latin typeface="Cambria Math" panose="02040503050406030204" pitchFamily="18" charset="0"/>
                          </a:rPr>
                          <m:t>𝑛</m:t>
                        </m:r>
                      </m:e>
                      <m:sup>
                        <m:r>
                          <a:rPr lang="zh-CN" altLang="en-US" i="1" dirty="0" smtClean="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r>
                              <a:rPr lang="en-US" altLang="zh-CN" b="0" i="1" dirty="0" smtClean="0">
                                <a:latin typeface="Cambria Math" panose="02040503050406030204" pitchFamily="18" charset="0"/>
                              </a:rPr>
                              <m:t>2</m:t>
                            </m:r>
                          </m:den>
                        </m:f>
                      </m:sup>
                    </m:sSup>
                    <m:r>
                      <a:rPr lang="en-US" altLang="zh-CN" i="1" dirty="0">
                        <a:latin typeface="Cambria Math" panose="02040503050406030204" pitchFamily="18" charset="0"/>
                      </a:rPr>
                      <m:t> </m:t>
                    </m:r>
                  </m:oMath>
                </a14:m>
                <a:r>
                  <a:rPr lang="zh-CN" altLang="en-US" dirty="0"/>
                  <a:t>的收敛速度，趋近正态分布。第</a:t>
                </a:r>
                <a:r>
                  <a:rPr lang="en-US" altLang="zh-CN" dirty="0"/>
                  <a:t>1 </a:t>
                </a:r>
                <a:r>
                  <a:rPr lang="zh-CN" altLang="en-US" dirty="0"/>
                  <a:t>项的方差为</a:t>
                </a:r>
                <a14:m>
                  <m:oMath xmlns:m="http://schemas.openxmlformats.org/officeDocument/2006/math">
                    <m:sSup>
                      <m:sSupPr>
                        <m:ctrlPr>
                          <a:rPr lang="zh-CN" altLang="en-US" i="1" dirty="0" smtClean="0">
                            <a:latin typeface="Cambria Math" panose="02040503050406030204" pitchFamily="18" charset="0"/>
                          </a:rPr>
                        </m:ctrlPr>
                      </m:sSupPr>
                      <m:e>
                        <m:r>
                          <a:rPr lang="zh-CN" altLang="en-US" i="1" dirty="0" smtClean="0">
                            <a:latin typeface="Cambria Math" panose="02040503050406030204" pitchFamily="18" charset="0"/>
                          </a:rPr>
                          <m:t>𝑉</m:t>
                        </m:r>
                      </m:e>
                      <m:sup>
                        <m:r>
                          <a:rPr lang="zh-CN" altLang="en-US" i="1" dirty="0">
                            <a:latin typeface="Cambria Math" panose="02040503050406030204" pitchFamily="18" charset="0"/>
                          </a:rPr>
                          <m:t>𝜏</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𝑋</m:t>
                            </m:r>
                          </m:e>
                        </m:d>
                      </m:sup>
                    </m:sSup>
                    <m:r>
                      <a:rPr lang="en-US" altLang="zh-CN" i="1" dirty="0">
                        <a:latin typeface="Cambria Math" panose="02040503050406030204" pitchFamily="18" charset="0"/>
                      </a:rPr>
                      <m:t>/</m:t>
                    </m:r>
                    <m:r>
                      <a:rPr lang="zh-CN" altLang="en-US" i="1" dirty="0">
                        <a:latin typeface="Cambria Math" panose="02040503050406030204" pitchFamily="18" charset="0"/>
                      </a:rPr>
                      <m:t>𝑛</m:t>
                    </m:r>
                  </m:oMath>
                </a14:m>
                <a:r>
                  <a:rPr lang="zh-CN" altLang="en-US" dirty="0"/>
                  <a:t>，</a:t>
                </a:r>
                <a14:m>
                  <m:oMath xmlns:m="http://schemas.openxmlformats.org/officeDocument/2006/math">
                    <m:sSup>
                      <m:sSupPr>
                        <m:ctrlPr>
                          <a:rPr lang="zh-CN" altLang="en-US" i="1" dirty="0">
                            <a:latin typeface="Cambria Math" panose="02040503050406030204" pitchFamily="18" charset="0"/>
                          </a:rPr>
                        </m:ctrlPr>
                      </m:sSupPr>
                      <m:e>
                        <m:r>
                          <a:rPr lang="zh-CN" altLang="en-US" i="1" dirty="0">
                            <a:latin typeface="Cambria Math" panose="02040503050406030204" pitchFamily="18" charset="0"/>
                          </a:rPr>
                          <m:t>𝑉</m:t>
                        </m:r>
                      </m:e>
                      <m:sup>
                        <m:r>
                          <a:rPr lang="zh-CN" altLang="en-US" i="1" dirty="0">
                            <a:latin typeface="Cambria Math" panose="02040503050406030204" pitchFamily="18" charset="0"/>
                          </a:rPr>
                          <m:t>𝜏</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𝑋</m:t>
                            </m:r>
                          </m:e>
                        </m:d>
                      </m:sup>
                    </m:sSup>
                    <m:r>
                      <a:rPr lang="en-US" altLang="zh-CN" i="1" dirty="0" smtClean="0">
                        <a:latin typeface="Cambria Math" panose="02040503050406030204" pitchFamily="18" charset="0"/>
                      </a:rPr>
                      <m:t>= </m:t>
                    </m:r>
                    <m:r>
                      <a:rPr lang="zh-CN" altLang="en-US" i="1" dirty="0">
                        <a:latin typeface="Cambria Math" panose="02040503050406030204" pitchFamily="18" charset="0"/>
                      </a:rPr>
                      <m:t>𝐸</m:t>
                    </m:r>
                    <m:d>
                      <m:dPr>
                        <m:begChr m:val="["/>
                        <m:endChr m:val="]"/>
                        <m:ctrlPr>
                          <a:rPr lang="en-US" altLang="zh-CN" i="1" dirty="0">
                            <a:latin typeface="Cambria Math" panose="02040503050406030204" pitchFamily="18" charset="0"/>
                          </a:rPr>
                        </m:ctrlPr>
                      </m:dPr>
                      <m:e>
                        <m:sSup>
                          <m:sSupPr>
                            <m:ctrlPr>
                              <a:rPr lang="zh-CN" altLang="en-US" i="1" dirty="0">
                                <a:latin typeface="Cambria Math" panose="02040503050406030204" pitchFamily="18" charset="0"/>
                              </a:rPr>
                            </m:ctrlPr>
                          </m:sSupPr>
                          <m:e>
                            <m:d>
                              <m:dPr>
                                <m:ctrlPr>
                                  <a:rPr lang="zh-CN" altLang="en-US" i="1" dirty="0">
                                    <a:latin typeface="Cambria Math" panose="02040503050406030204" pitchFamily="18" charset="0"/>
                                  </a:rPr>
                                </m:ctrlPr>
                              </m:dPr>
                              <m:e>
                                <m:r>
                                  <a:rPr lang="zh-CN" altLang="en-US" i="1" dirty="0">
                                    <a:latin typeface="Cambria Math" panose="02040503050406030204" pitchFamily="18" charset="0"/>
                                  </a:rPr>
                                  <m:t>𝜏</m:t>
                                </m:r>
                                <m:d>
                                  <m:dPr>
                                    <m:ctrlPr>
                                      <a:rPr lang="zh-CN" altLang="en-US" i="1" dirty="0">
                                        <a:latin typeface="Cambria Math" panose="02040503050406030204" pitchFamily="18" charset="0"/>
                                      </a:rPr>
                                    </m:ctrlPr>
                                  </m:dPr>
                                  <m:e>
                                    <m:r>
                                      <a:rPr lang="zh-CN" altLang="en-US" i="1" dirty="0">
                                        <a:latin typeface="Cambria Math" panose="02040503050406030204" pitchFamily="18" charset="0"/>
                                      </a:rPr>
                                      <m:t>𝑋</m:t>
                                    </m:r>
                                  </m:e>
                                </m:d>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𝐴𝑇𝐸</m:t>
                                    </m:r>
                                  </m:sub>
                                </m:sSub>
                                <m:r>
                                  <a:rPr lang="zh-CN" altLang="en-US" i="1" dirty="0">
                                    <a:latin typeface="Cambria Math" panose="02040503050406030204" pitchFamily="18" charset="0"/>
                                  </a:rPr>
                                  <m:t> </m:t>
                                </m:r>
                              </m:e>
                            </m:d>
                          </m:e>
                          <m:sup>
                            <m:r>
                              <a:rPr lang="en-US" altLang="zh-CN" i="1" dirty="0">
                                <a:latin typeface="Cambria Math" panose="02040503050406030204" pitchFamily="18" charset="0"/>
                              </a:rPr>
                              <m:t>2</m:t>
                            </m:r>
                          </m:sup>
                        </m:sSup>
                      </m:e>
                    </m:d>
                    <m:r>
                      <a:rPr lang="en-US" altLang="zh-CN" i="1" dirty="0">
                        <a:latin typeface="Cambria Math" panose="02040503050406030204" pitchFamily="18" charset="0"/>
                      </a:rPr>
                      <m:t> </m:t>
                    </m:r>
                  </m:oMath>
                </a14:m>
                <a:r>
                  <a:rPr lang="zh-CN" altLang="en-US" dirty="0"/>
                  <a:t>是𝜏</a:t>
                </a:r>
                <a:r>
                  <a:rPr lang="en-US" altLang="zh-CN" dirty="0"/>
                  <a:t>(</a:t>
                </a:r>
                <a:r>
                  <a:rPr lang="zh-CN" altLang="en-US" dirty="0"/>
                  <a:t>𝑋</a:t>
                </a:r>
                <a:r>
                  <a:rPr lang="en-US" altLang="zh-CN" dirty="0"/>
                  <a:t>) </a:t>
                </a:r>
                <a:r>
                  <a:rPr lang="zh-CN" altLang="en-US" dirty="0"/>
                  <a:t>的</a:t>
                </a:r>
                <a:r>
                  <a:rPr lang="en-US" altLang="zh-CN" dirty="0"/>
                  <a:t>CATE </a:t>
                </a:r>
                <a:r>
                  <a:rPr lang="zh-CN" altLang="en-US" dirty="0"/>
                  <a:t>𝜏</a:t>
                </a:r>
                <a:r>
                  <a:rPr lang="en-US" altLang="zh-CN" dirty="0"/>
                  <a:t>(</a:t>
                </a:r>
                <a:r>
                  <a:rPr lang="zh-CN" altLang="en-US" dirty="0"/>
                  <a:t>𝑋</a:t>
                </a:r>
                <a:r>
                  <a:rPr lang="en-US" altLang="zh-CN" dirty="0"/>
                  <a:t>) </a:t>
                </a:r>
                <a:r>
                  <a:rPr lang="zh-CN" altLang="en-US" dirty="0"/>
                  <a:t>的方差。</a:t>
                </a:r>
              </a:p>
            </p:txBody>
          </p:sp>
        </mc:Choice>
        <mc:Fallback xmlns="">
          <p:sp>
            <p:nvSpPr>
              <p:cNvPr id="3" name="内容占位符 2">
                <a:extLst>
                  <a:ext uri="{FF2B5EF4-FFF2-40B4-BE49-F238E27FC236}">
                    <a16:creationId xmlns:a16="http://schemas.microsoft.com/office/drawing/2014/main" id="{508A4750-BC0A-1B1E-C125-79EAE63DFE3B}"/>
                  </a:ext>
                </a:extLst>
              </p:cNvPr>
              <p:cNvSpPr>
                <a:spLocks noGrp="1" noRot="1" noChangeAspect="1" noMove="1" noResize="1" noEditPoints="1" noAdjustHandles="1" noChangeArrowheads="1" noChangeShapeType="1" noTextEdit="1"/>
              </p:cNvSpPr>
              <p:nvPr>
                <p:ph idx="1"/>
              </p:nvPr>
            </p:nvSpPr>
            <p:spPr>
              <a:blipFill>
                <a:blip r:embed="rId2"/>
                <a:stretch>
                  <a:fillRect l="-464" t="-196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3ADEAB2-0A5F-6BAA-DAEE-AB1719C6E3D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2208B71F-F6C6-4EA3-9473-1C31F64AD8E2}"/>
              </a:ext>
            </a:extLst>
          </p:cNvPr>
          <p:cNvSpPr>
            <a:spLocks noGrp="1"/>
          </p:cNvSpPr>
          <p:nvPr>
            <p:ph type="sldNum" sz="quarter" idx="12"/>
          </p:nvPr>
        </p:nvSpPr>
        <p:spPr/>
        <p:txBody>
          <a:bodyPr/>
          <a:lstStyle/>
          <a:p>
            <a:fld id="{D41FC515-8169-4A29-AA56-DBE520D5741B}" type="slidenum">
              <a:rPr lang="zh-CN" altLang="en-US" smtClean="0"/>
              <a:t>35</a:t>
            </a:fld>
            <a:endParaRPr lang="zh-CN" altLang="en-US"/>
          </a:p>
        </p:txBody>
      </p:sp>
    </p:spTree>
    <p:extLst>
      <p:ext uri="{BB962C8B-B14F-4D97-AF65-F5344CB8AC3E}">
        <p14:creationId xmlns:p14="http://schemas.microsoft.com/office/powerpoint/2010/main" val="19137759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1ACFC3-0613-1E5D-5EF5-E57EC3284AA6}"/>
              </a:ext>
            </a:extLst>
          </p:cNvPr>
          <p:cNvSpPr>
            <a:spLocks noGrp="1"/>
          </p:cNvSpPr>
          <p:nvPr>
            <p:ph type="title"/>
          </p:nvPr>
        </p:nvSpPr>
        <p:spPr/>
        <p:txBody>
          <a:bodyPr/>
          <a:lstStyle/>
          <a:p>
            <a:r>
              <a:rPr lang="zh-CN" altLang="en-US" dirty="0"/>
              <a:t>匹配：匹配估计量的统计性质</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9A7287F-B1AC-550F-E9FE-02286EBAA7FF}"/>
                  </a:ext>
                </a:extLst>
              </p:cNvPr>
              <p:cNvSpPr>
                <a:spLocks noGrp="1"/>
              </p:cNvSpPr>
              <p:nvPr>
                <p:ph idx="1"/>
              </p:nvPr>
            </p:nvSpPr>
            <p:spPr/>
            <p:txBody>
              <a:bodyPr>
                <a:normAutofit/>
              </a:bodyPr>
              <a:lstStyle/>
              <a:p>
                <a:r>
                  <a:rPr lang="zh-CN" altLang="en-US" sz="2400" dirty="0"/>
                  <a:t>定理</a:t>
                </a:r>
                <a:r>
                  <a:rPr lang="en-US" altLang="zh-CN" sz="2400" dirty="0"/>
                  <a:t>5 (Abadie and </a:t>
                </a:r>
                <a:r>
                  <a:rPr lang="en-US" altLang="zh-CN" sz="2400" dirty="0" err="1"/>
                  <a:t>Imbens</a:t>
                </a:r>
                <a:r>
                  <a:rPr lang="en-US" altLang="zh-CN" sz="2400" dirty="0"/>
                  <a:t> (2006) </a:t>
                </a:r>
                <a:r>
                  <a:rPr lang="zh-CN" altLang="en-US" sz="2400" dirty="0"/>
                  <a:t>定理</a:t>
                </a:r>
                <a:r>
                  <a:rPr lang="en-US" altLang="zh-CN" sz="2400" dirty="0"/>
                  <a:t>4)</a:t>
                </a:r>
                <a:r>
                  <a:rPr lang="zh-CN" altLang="en-US" sz="2400" dirty="0"/>
                  <a:t>：在</a:t>
                </a:r>
                <a:r>
                  <a:rPr lang="en-US" altLang="zh-CN" sz="2400" dirty="0"/>
                  <a:t>Abadie and </a:t>
                </a:r>
                <a:r>
                  <a:rPr lang="en-US" altLang="zh-CN" sz="2400" dirty="0" err="1"/>
                  <a:t>Imbens</a:t>
                </a:r>
                <a:r>
                  <a:rPr lang="en-US" altLang="zh-CN" sz="2400" dirty="0"/>
                  <a:t> (2006) </a:t>
                </a:r>
                <a:r>
                  <a:rPr lang="zh-CN" altLang="en-US" sz="2400" dirty="0"/>
                  <a:t>的</a:t>
                </a:r>
                <a:r>
                  <a:rPr lang="en-US" altLang="zh-CN" sz="2400" dirty="0"/>
                  <a:t>1-4</a:t>
                </a:r>
                <a:r>
                  <a:rPr lang="en-US" altLang="zh-CN" sz="2400" i="1" dirty="0"/>
                  <a:t> </a:t>
                </a:r>
                <a:r>
                  <a:rPr lang="zh-CN" altLang="en-US" sz="2400" dirty="0"/>
                  <a:t>假设下，有</a:t>
                </a:r>
                <a:endParaRPr lang="en-US" altLang="zh-CN" sz="2400" dirty="0"/>
              </a:p>
              <a:p>
                <a:pPr marL="0" indent="0">
                  <a:buNone/>
                </a:pPr>
                <a14:m>
                  <m:oMathPara xmlns:m="http://schemas.openxmlformats.org/officeDocument/2006/math">
                    <m:oMath>
                      <m:sSup>
                        <m:sSupPr>
                          <m:ctrlPr>
                            <a:rPr lang="en-US" altLang="zh-CN" sz="2400" b="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𝑉</m:t>
                                  </m:r>
                                </m:e>
                                <m:sup>
                                  <m:r>
                                    <a:rPr lang="en-US" altLang="zh-CN" sz="2400" b="0" i="1" smtClean="0">
                                      <a:latin typeface="Cambria Math" panose="02040503050406030204" pitchFamily="18" charset="0"/>
                                    </a:rPr>
                                    <m:t>𝐸</m:t>
                                  </m:r>
                                </m:sup>
                              </m:sSup>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𝑉</m:t>
                                  </m:r>
                                </m:e>
                                <m:sup>
                                  <m:r>
                                    <a:rPr lang="en-US" altLang="zh-CN" sz="2400" b="0" i="1" smtClean="0">
                                      <a:latin typeface="Cambria Math" panose="02040503050406030204" pitchFamily="18" charset="0"/>
                                    </a:rPr>
                                    <m:t>𝜏</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𝑋</m:t>
                                      </m:r>
                                    </m:e>
                                  </m:d>
                                </m:sup>
                              </m:sSup>
                            </m:e>
                          </m:d>
                        </m:e>
                        <m:sup>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2</m:t>
                              </m:r>
                            </m:den>
                          </m:f>
                        </m:sup>
                      </m:sSup>
                      <m:rad>
                        <m:radPr>
                          <m:degHide m:val="on"/>
                          <m:ctrlPr>
                            <a:rPr lang="en-US" altLang="zh-CN" sz="2400" b="0" i="1" smtClean="0">
                              <a:latin typeface="Cambria Math" panose="02040503050406030204" pitchFamily="18" charset="0"/>
                            </a:rPr>
                          </m:ctrlPr>
                        </m:radPr>
                        <m:deg/>
                        <m:e>
                          <m:r>
                            <a:rPr lang="en-US" altLang="zh-CN" sz="2400" b="0" i="1" smtClean="0">
                              <a:latin typeface="Cambria Math" panose="02040503050406030204" pitchFamily="18" charset="0"/>
                            </a:rPr>
                            <m:t>𝑛</m:t>
                          </m:r>
                        </m:e>
                      </m:rad>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𝜏</m:t>
                                  </m:r>
                                </m:e>
                              </m:acc>
                            </m:e>
                            <m:sub>
                              <m:r>
                                <a:rPr lang="en-US" altLang="zh-CN" sz="2400" b="0" i="1" smtClean="0">
                                  <a:latin typeface="Cambria Math" panose="02040503050406030204" pitchFamily="18" charset="0"/>
                                </a:rPr>
                                <m:t>𝑀</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𝐵</m:t>
                              </m:r>
                            </m:e>
                            <m:sub>
                              <m:r>
                                <a:rPr lang="en-US" altLang="zh-CN" sz="2400" b="0" i="1" smtClean="0">
                                  <a:latin typeface="Cambria Math" panose="02040503050406030204" pitchFamily="18" charset="0"/>
                                </a:rPr>
                                <m:t>𝑀</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𝜏</m:t>
                              </m:r>
                            </m:e>
                            <m:sub>
                              <m:r>
                                <a:rPr lang="en-US" altLang="zh-CN" sz="2400" b="0" i="1" smtClean="0">
                                  <a:latin typeface="Cambria Math" panose="02040503050406030204" pitchFamily="18" charset="0"/>
                                </a:rPr>
                                <m:t>𝐴𝑇𝐸</m:t>
                              </m:r>
                            </m:sub>
                          </m:sSub>
                        </m:e>
                      </m:d>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m:t>
                          </m:r>
                        </m:e>
                        <m:sup>
                          <m:r>
                            <a:rPr lang="en-US" altLang="zh-CN" sz="2400" b="0" i="1" smtClean="0">
                              <a:latin typeface="Cambria Math" panose="02040503050406030204" pitchFamily="18" charset="0"/>
                            </a:rPr>
                            <m:t>𝑑</m:t>
                          </m:r>
                        </m:sup>
                      </m:sSup>
                      <m:r>
                        <a:rPr lang="en-US" altLang="zh-CN" sz="2400" b="0" i="1" smtClean="0">
                          <a:latin typeface="Cambria Math" panose="02040503050406030204" pitchFamily="18" charset="0"/>
                        </a:rPr>
                        <m:t>𝑁</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0,1</m:t>
                          </m:r>
                        </m:e>
                      </m:d>
                      <m:r>
                        <a:rPr lang="en-US" altLang="zh-CN" sz="2400" b="0" i="1" smtClean="0">
                          <a:latin typeface="Cambria Math" panose="02040503050406030204" pitchFamily="18" charset="0"/>
                        </a:rPr>
                        <m:t>.</m:t>
                      </m:r>
                    </m:oMath>
                  </m:oMathPara>
                </a14:m>
                <a:endParaRPr lang="en-US" altLang="zh-CN" sz="2400" dirty="0"/>
              </a:p>
              <a:p>
                <a:pPr marL="0" indent="0">
                  <a:buNone/>
                </a:pPr>
                <a14:m>
                  <m:oMathPara xmlns:m="http://schemas.openxmlformats.org/officeDocument/2006/math">
                    <m:oMath>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𝑉</m:t>
                                  </m:r>
                                </m:e>
                                <m:sup>
                                  <m:r>
                                    <a:rPr lang="en-US" altLang="zh-CN" sz="2400" i="1">
                                      <a:latin typeface="Cambria Math" panose="02040503050406030204" pitchFamily="18" charset="0"/>
                                    </a:rPr>
                                    <m:t>𝐸</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𝑉</m:t>
                                  </m:r>
                                </m:e>
                                <m:sup>
                                  <m:r>
                                    <a:rPr lang="en-US" altLang="zh-CN" sz="2400" i="1">
                                      <a:latin typeface="Cambria Math" panose="02040503050406030204" pitchFamily="18" charset="0"/>
                                    </a:rPr>
                                    <m:t>𝜏</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𝑋</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sup>
                              </m:sSup>
                            </m:e>
                          </m:d>
                        </m:e>
                        <m:sup>
                          <m:r>
                            <a:rPr lang="en-US" altLang="zh-CN" sz="2400" i="1">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sup>
                      </m:sSup>
                      <m:rad>
                        <m:radPr>
                          <m:degHide m:val="on"/>
                          <m:ctrlPr>
                            <a:rPr lang="en-US" altLang="zh-CN" sz="2400" i="1">
                              <a:latin typeface="Cambria Math" panose="02040503050406030204" pitchFamily="18" charset="0"/>
                            </a:rPr>
                          </m:ctrlPr>
                        </m:radPr>
                        <m:deg/>
                        <m:e>
                          <m:r>
                            <a:rPr lang="en-US" altLang="zh-CN" sz="2400" i="1">
                              <a:latin typeface="Cambria Math" panose="02040503050406030204" pitchFamily="18" charset="0"/>
                            </a:rPr>
                            <m:t>𝑛</m:t>
                          </m:r>
                        </m:e>
                      </m:rad>
                      <m:d>
                        <m:dPr>
                          <m:ctrlPr>
                            <a:rPr lang="en-US" altLang="zh-CN" sz="2400" b="0" i="1" smtClean="0">
                              <a:latin typeface="Cambria Math" panose="02040503050406030204" pitchFamily="18" charset="0"/>
                            </a:rPr>
                          </m:ctrlPr>
                        </m:dPr>
                        <m:e>
                          <m:sSubSup>
                            <m:sSubSupPr>
                              <m:ctrlPr>
                                <a:rPr lang="en-US" altLang="zh-CN" sz="2400" b="0" i="1" smtClean="0">
                                  <a:latin typeface="Cambria Math" panose="02040503050406030204" pitchFamily="18" charset="0"/>
                                </a:rPr>
                              </m:ctrlPr>
                            </m:sSubSupPr>
                            <m:e>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𝜏</m:t>
                                  </m:r>
                                </m:e>
                              </m:acc>
                            </m:e>
                            <m:sub>
                              <m:r>
                                <a:rPr lang="en-US" altLang="zh-CN" sz="2400" b="0" i="1" dirty="0" smtClean="0">
                                  <a:latin typeface="Cambria Math" panose="02040503050406030204" pitchFamily="18" charset="0"/>
                                </a:rPr>
                                <m:t>𝑀</m:t>
                              </m:r>
                            </m:sub>
                            <m:sup>
                              <m:r>
                                <a:rPr lang="en-US" altLang="zh-CN" sz="2400" b="0" i="1" dirty="0" smtClean="0">
                                  <a:latin typeface="Cambria Math" panose="02040503050406030204" pitchFamily="18" charset="0"/>
                                </a:rPr>
                                <m:t>𝑡</m:t>
                              </m:r>
                            </m:sup>
                          </m:sSubSup>
                          <m:r>
                            <a:rPr lang="en-US" altLang="zh-CN" sz="2400" i="1">
                              <a:latin typeface="Cambria Math" panose="02040503050406030204" pitchFamily="18" charset="0"/>
                            </a:rPr>
                            <m:t>−</m:t>
                          </m:r>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𝐵</m:t>
                              </m:r>
                            </m:e>
                            <m:sub>
                              <m:r>
                                <a:rPr lang="en-US" altLang="zh-CN" sz="2400" b="0" i="1" smtClean="0">
                                  <a:latin typeface="Cambria Math" panose="02040503050406030204" pitchFamily="18" charset="0"/>
                                </a:rPr>
                                <m:t>𝑀</m:t>
                              </m:r>
                            </m:sub>
                            <m:sup>
                              <m:r>
                                <a:rPr lang="en-US" altLang="zh-CN" sz="2400" b="0" i="1" smtClean="0">
                                  <a:latin typeface="Cambria Math" panose="02040503050406030204" pitchFamily="18" charset="0"/>
                                </a:rPr>
                                <m:t>𝑡</m:t>
                              </m:r>
                            </m:sup>
                          </m:sSubSup>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𝜏</m:t>
                              </m:r>
                            </m:e>
                            <m:sub>
                              <m:r>
                                <a:rPr lang="en-US" altLang="zh-CN" sz="2400" i="1">
                                  <a:latin typeface="Cambria Math" panose="02040503050406030204" pitchFamily="18" charset="0"/>
                                </a:rPr>
                                <m:t>𝐴𝑇</m:t>
                              </m:r>
                              <m:r>
                                <a:rPr lang="en-US" altLang="zh-CN" sz="2400" b="0" i="1" smtClean="0">
                                  <a:latin typeface="Cambria Math" panose="02040503050406030204" pitchFamily="18" charset="0"/>
                                </a:rPr>
                                <m:t>𝑇</m:t>
                              </m:r>
                            </m:sub>
                          </m:sSub>
                        </m:e>
                      </m:d>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m:t>
                          </m:r>
                        </m:e>
                        <m:sup>
                          <m:r>
                            <a:rPr lang="en-US" altLang="zh-CN" sz="2400" i="1">
                              <a:latin typeface="Cambria Math" panose="02040503050406030204" pitchFamily="18" charset="0"/>
                            </a:rPr>
                            <m:t>𝑑</m:t>
                          </m:r>
                        </m:sup>
                      </m:sSup>
                      <m:r>
                        <a:rPr lang="en-US" altLang="zh-CN" sz="2400" i="1">
                          <a:latin typeface="Cambria Math" panose="02040503050406030204" pitchFamily="18" charset="0"/>
                        </a:rPr>
                        <m:t>𝑁</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0,1</m:t>
                          </m:r>
                        </m:e>
                      </m:d>
                      <m:r>
                        <a:rPr lang="en-US" altLang="zh-CN" sz="2400" i="1">
                          <a:latin typeface="Cambria Math" panose="02040503050406030204" pitchFamily="18" charset="0"/>
                        </a:rPr>
                        <m:t>.</m:t>
                      </m:r>
                    </m:oMath>
                  </m:oMathPara>
                </a14:m>
                <a:endParaRPr lang="en-US" altLang="zh-CN" sz="2400" dirty="0"/>
              </a:p>
              <a:p>
                <a:endParaRPr lang="en-US" altLang="zh-CN" sz="2400" dirty="0"/>
              </a:p>
            </p:txBody>
          </p:sp>
        </mc:Choice>
        <mc:Fallback xmlns="">
          <p:sp>
            <p:nvSpPr>
              <p:cNvPr id="3" name="内容占位符 2">
                <a:extLst>
                  <a:ext uri="{FF2B5EF4-FFF2-40B4-BE49-F238E27FC236}">
                    <a16:creationId xmlns:a16="http://schemas.microsoft.com/office/drawing/2014/main" id="{19A7287F-B1AC-550F-E9FE-02286EBAA7FF}"/>
                  </a:ext>
                </a:extLst>
              </p:cNvPr>
              <p:cNvSpPr>
                <a:spLocks noGrp="1" noRot="1" noChangeAspect="1" noMove="1" noResize="1" noEditPoints="1" noAdjustHandles="1" noChangeArrowheads="1" noChangeShapeType="1" noTextEdit="1"/>
              </p:cNvSpPr>
              <p:nvPr>
                <p:ph idx="1"/>
              </p:nvPr>
            </p:nvSpPr>
            <p:spPr>
              <a:blipFill>
                <a:blip r:embed="rId2"/>
                <a:stretch>
                  <a:fillRect l="-1005" t="-112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AAEF5C61-07F2-BF3E-ACED-671C0113CE8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8A18444-E745-EAD4-E461-881DAFDECF28}"/>
              </a:ext>
            </a:extLst>
          </p:cNvPr>
          <p:cNvSpPr>
            <a:spLocks noGrp="1"/>
          </p:cNvSpPr>
          <p:nvPr>
            <p:ph type="sldNum" sz="quarter" idx="12"/>
          </p:nvPr>
        </p:nvSpPr>
        <p:spPr/>
        <p:txBody>
          <a:bodyPr/>
          <a:lstStyle/>
          <a:p>
            <a:fld id="{D41FC515-8169-4A29-AA56-DBE520D5741B}" type="slidenum">
              <a:rPr lang="zh-CN" altLang="en-US" smtClean="0"/>
              <a:t>36</a:t>
            </a:fld>
            <a:endParaRPr lang="zh-CN" altLang="en-US"/>
          </a:p>
        </p:txBody>
      </p:sp>
    </p:spTree>
    <p:extLst>
      <p:ext uri="{BB962C8B-B14F-4D97-AF65-F5344CB8AC3E}">
        <p14:creationId xmlns:p14="http://schemas.microsoft.com/office/powerpoint/2010/main" val="969113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8C3CA2-B6A0-3AC4-CD00-CD03647C42D8}"/>
              </a:ext>
            </a:extLst>
          </p:cNvPr>
          <p:cNvSpPr>
            <a:spLocks noGrp="1"/>
          </p:cNvSpPr>
          <p:nvPr>
            <p:ph type="title"/>
          </p:nvPr>
        </p:nvSpPr>
        <p:spPr/>
        <p:txBody>
          <a:bodyPr/>
          <a:lstStyle/>
          <a:p>
            <a:r>
              <a:rPr lang="zh-CN" altLang="en-US" dirty="0"/>
              <a:t>匹配</a:t>
            </a:r>
            <a:r>
              <a:rPr lang="en-US" altLang="zh-CN" dirty="0"/>
              <a:t>(Matching)</a:t>
            </a:r>
            <a:br>
              <a:rPr lang="en-US" altLang="zh-CN" dirty="0"/>
            </a:br>
            <a:r>
              <a:rPr lang="zh-CN" altLang="en-US" sz="2400" dirty="0"/>
              <a:t>偏差调整的匹配估计量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EEC5679-C9E6-E43A-6EA4-852998D94F68}"/>
                  </a:ext>
                </a:extLst>
              </p:cNvPr>
              <p:cNvSpPr>
                <a:spLocks noGrp="1"/>
              </p:cNvSpPr>
              <p:nvPr>
                <p:ph idx="1"/>
              </p:nvPr>
            </p:nvSpPr>
            <p:spPr/>
            <p:txBody>
              <a:bodyPr>
                <a:normAutofit fontScale="55000" lnSpcReduction="20000"/>
              </a:bodyPr>
              <a:lstStyle/>
              <a:p>
                <a:r>
                  <a:rPr lang="en-US" altLang="zh-CN" dirty="0"/>
                  <a:t>Abadie and </a:t>
                </a:r>
                <a:r>
                  <a:rPr lang="en-US" altLang="zh-CN" dirty="0" err="1"/>
                  <a:t>Imbens</a:t>
                </a:r>
                <a:r>
                  <a:rPr lang="en-US" altLang="zh-CN" dirty="0"/>
                  <a:t>(2011) </a:t>
                </a:r>
                <a:r>
                  <a:rPr lang="zh-CN" altLang="en-US" dirty="0"/>
                  <a:t>提出通常偏差调整，匹配估计量将仍然保持</a:t>
                </a:r>
                <a14:m>
                  <m:oMath xmlns:m="http://schemas.openxmlformats.org/officeDocument/2006/math">
                    <m:sSup>
                      <m:sSupPr>
                        <m:ctrlPr>
                          <a:rPr lang="zh-CN" altLang="en-US" i="1" dirty="0" smtClean="0">
                            <a:latin typeface="Cambria Math" panose="02040503050406030204" pitchFamily="18" charset="0"/>
                          </a:rPr>
                        </m:ctrlPr>
                      </m:sSupPr>
                      <m:e>
                        <m:r>
                          <a:rPr lang="zh-CN" altLang="en-US" i="1" dirty="0" smtClean="0">
                            <a:latin typeface="Cambria Math" panose="02040503050406030204" pitchFamily="18" charset="0"/>
                          </a:rPr>
                          <m:t>𝑛</m:t>
                        </m:r>
                      </m:e>
                      <m:sup>
                        <m:r>
                          <a:rPr lang="zh-CN" altLang="en-US" i="1" dirty="0" smtClean="0">
                            <a:latin typeface="Cambria Math" panose="02040503050406030204" pitchFamily="18" charset="0"/>
                          </a:rPr>
                          <m:t>−</m:t>
                        </m:r>
                        <m:r>
                          <a:rPr lang="en-US" altLang="zh-CN" i="1" dirty="0">
                            <a:latin typeface="Cambria Math" panose="02040503050406030204" pitchFamily="18" charset="0"/>
                          </a:rPr>
                          <m:t>1</m:t>
                        </m:r>
                        <m:r>
                          <a:rPr lang="en-US" altLang="zh-CN" b="0" i="1" dirty="0" smtClean="0">
                            <a:latin typeface="Cambria Math" panose="02040503050406030204" pitchFamily="18" charset="0"/>
                          </a:rPr>
                          <m:t>/2</m:t>
                        </m:r>
                      </m:sup>
                    </m:sSup>
                    <m:r>
                      <a:rPr lang="en-US" altLang="zh-CN" i="1" dirty="0">
                        <a:latin typeface="Cambria Math" panose="02040503050406030204" pitchFamily="18" charset="0"/>
                      </a:rPr>
                      <m:t> </m:t>
                    </m:r>
                  </m:oMath>
                </a14:m>
                <a:r>
                  <a:rPr lang="zh-CN" altLang="en-US" dirty="0"/>
                  <a:t>的通常收敛率，从而估计量收敛于正态分布。</a:t>
                </a:r>
                <a:endParaRPr lang="en-US" altLang="zh-CN" dirty="0"/>
              </a:p>
              <a:p>
                <a:pPr marL="0" indent="0">
                  <a:buNone/>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𝑌</m:t>
                              </m:r>
                            </m:e>
                          </m:acc>
                        </m:e>
                        <m:sub>
                          <m:r>
                            <a:rPr lang="en-US" altLang="zh-CN" b="0" i="1" dirty="0" smtClean="0">
                              <a:latin typeface="Cambria Math" panose="02040503050406030204" pitchFamily="18" charset="0"/>
                            </a:rPr>
                            <m:t>0</m:t>
                          </m:r>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d>
                        <m:dPr>
                          <m:begChr m:val="{"/>
                          <m:endChr m:val=""/>
                          <m:ctrlPr>
                            <a:rPr lang="zh-CN" altLang="en-US" b="0" i="1" dirty="0" smtClean="0">
                              <a:latin typeface="Cambria Math" panose="02040503050406030204" pitchFamily="18" charset="0"/>
                            </a:rPr>
                          </m:ctrlPr>
                        </m:dPr>
                        <m:e>
                          <m:eqArr>
                            <m:eqArrPr>
                              <m:ctrlPr>
                                <a:rPr lang="zh-CN" altLang="en-US" b="0" i="1" dirty="0" smtClean="0">
                                  <a:latin typeface="Cambria Math" panose="02040503050406030204" pitchFamily="18" charset="0"/>
                                </a:rPr>
                              </m:ctrlPr>
                            </m:eqArrPr>
                            <m:e>
                              <m:m>
                                <m:mPr>
                                  <m:mcs>
                                    <m:mc>
                                      <m:mcPr>
                                        <m:count m:val="2"/>
                                        <m:mcJc m:val="center"/>
                                      </m:mcPr>
                                    </m:mc>
                                  </m:mcs>
                                  <m:ctrlPr>
                                    <a:rPr lang="zh-CN" altLang="en-US" b="0" i="1" dirty="0" smtClean="0">
                                      <a:latin typeface="Cambria Math" panose="02040503050406030204" pitchFamily="18" charset="0"/>
                                    </a:rPr>
                                  </m:ctrlPr>
                                </m:mPr>
                                <m:mr>
                                  <m:e>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𝑌</m:t>
                                        </m:r>
                                      </m:e>
                                      <m:sub>
                                        <m:r>
                                          <m:rPr>
                                            <m:brk m:alnAt="7"/>
                                          </m:rPr>
                                          <a:rPr lang="en-US" altLang="zh-CN" b="0" i="1" dirty="0" smtClean="0">
                                            <a:latin typeface="Cambria Math" panose="02040503050406030204" pitchFamily="18" charset="0"/>
                                          </a:rPr>
                                          <m:t>𝑖</m:t>
                                        </m:r>
                                      </m:sub>
                                    </m:sSub>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e>
                                  <m:e>
                                    <m:r>
                                      <a:rPr lang="zh-CN" altLang="en-US" i="1" dirty="0">
                                        <a:latin typeface="Cambria Math" panose="02040503050406030204" pitchFamily="18" charset="0"/>
                                      </a:rPr>
                                      <m:t>如果</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=0,</m:t>
                                    </m:r>
                                  </m:e>
                                </m:mr>
                              </m:m>
                            </m:e>
                            <m:e>
                              <m:m>
                                <m:mPr>
                                  <m:mcs>
                                    <m:mc>
                                      <m:mcPr>
                                        <m:count m:val="2"/>
                                        <m:mcJc m:val="center"/>
                                      </m:mcPr>
                                    </m:mc>
                                  </m:mcs>
                                  <m:ctrlPr>
                                    <a:rPr lang="zh-CN" altLang="en-US" b="0" i="1" dirty="0" smtClean="0">
                                      <a:latin typeface="Cambria Math" panose="02040503050406030204" pitchFamily="18" charset="0"/>
                                    </a:rPr>
                                  </m:ctrlPr>
                                </m:mPr>
                                <m:mr>
                                  <m:e>
                                    <m:f>
                                      <m:fPr>
                                        <m:ctrlPr>
                                          <a:rPr lang="en-US" altLang="zh-CN" b="0" i="1" dirty="0" smtClean="0">
                                            <a:latin typeface="Cambria Math" panose="02040503050406030204" pitchFamily="18" charset="0"/>
                                          </a:rPr>
                                        </m:ctrlPr>
                                      </m:fPr>
                                      <m:num>
                                        <m:r>
                                          <m:rPr>
                                            <m:brk m:alnAt="7"/>
                                          </m:rPr>
                                          <a:rPr lang="en-US" altLang="zh-CN" b="0" i="1" dirty="0" smtClean="0">
                                            <a:latin typeface="Cambria Math" panose="02040503050406030204" pitchFamily="18" charset="0"/>
                                          </a:rPr>
                                          <m:t>1</m:t>
                                        </m:r>
                                      </m:num>
                                      <m:den>
                                        <m:r>
                                          <m:rPr>
                                            <m:brk m:alnAt="7"/>
                                          </m:rPr>
                                          <a:rPr lang="en-US" altLang="zh-CN" b="0" i="1" dirty="0" smtClean="0">
                                            <a:latin typeface="Cambria Math" panose="02040503050406030204" pitchFamily="18" charset="0"/>
                                          </a:rPr>
                                          <m:t>𝑀</m:t>
                                        </m:r>
                                      </m:den>
                                    </m:f>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𝑗</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𝐽</m:t>
                                            </m:r>
                                          </m:e>
                                          <m:sub>
                                            <m:r>
                                              <a:rPr lang="en-US" altLang="zh-CN" b="0" i="1" dirty="0" smtClean="0">
                                                <a:latin typeface="Cambria Math" panose="02040503050406030204" pitchFamily="18" charset="0"/>
                                              </a:rPr>
                                              <m:t>𝑀</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sub>
                                      <m:sup/>
                                      <m:e>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𝑗</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𝜇</m:t>
                                                    </m:r>
                                                  </m:e>
                                                </m:acc>
                                              </m:e>
                                              <m:sub>
                                                <m:r>
                                                  <a:rPr lang="en-US" altLang="zh-CN" b="0" i="1" dirty="0" smtClean="0">
                                                    <a:latin typeface="Cambria Math" panose="02040503050406030204" pitchFamily="18" charset="0"/>
                                                  </a:rPr>
                                                  <m:t>𝑐</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m:t>
                                                    </m:r>
                                                  </m:sub>
                                                </m:sSub>
                                              </m:e>
                                            </m:d>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𝜇</m:t>
                                                    </m:r>
                                                  </m:e>
                                                </m:acc>
                                              </m:e>
                                              <m:sub>
                                                <m:r>
                                                  <a:rPr lang="en-US" altLang="zh-CN" b="0" i="1" dirty="0" smtClean="0">
                                                    <a:latin typeface="Cambria Math" panose="02040503050406030204" pitchFamily="18" charset="0"/>
                                                  </a:rPr>
                                                  <m:t>𝑐</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𝑗</m:t>
                                                    </m:r>
                                                  </m:sub>
                                                </m:sSub>
                                              </m:e>
                                            </m:d>
                                          </m:e>
                                        </m:d>
                                      </m:e>
                                    </m:nary>
                                  </m:e>
                                  <m:e>
                                    <m:r>
                                      <a:rPr lang="zh-CN" altLang="en-US" i="1" dirty="0">
                                        <a:latin typeface="Cambria Math" panose="02040503050406030204" pitchFamily="18" charset="0"/>
                                      </a:rPr>
                                      <m:t>如果</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=1,</m:t>
                                    </m:r>
                                  </m:e>
                                </m:mr>
                              </m:m>
                            </m:e>
                          </m:eqArr>
                        </m:e>
                      </m:d>
                    </m:oMath>
                  </m:oMathPara>
                </a14:m>
                <a:endParaRPr lang="en-US" altLang="zh-CN" dirty="0"/>
              </a:p>
              <a:p>
                <a:pPr marL="0" indent="0">
                  <a:buNone/>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𝑌</m:t>
                              </m:r>
                            </m:e>
                          </m:acc>
                        </m:e>
                        <m:sub>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d>
                        <m:dPr>
                          <m:begChr m:val="{"/>
                          <m:endChr m:val=""/>
                          <m:ctrlPr>
                            <a:rPr lang="zh-CN" altLang="en-US" i="1" dirty="0">
                              <a:latin typeface="Cambria Math" panose="02040503050406030204" pitchFamily="18" charset="0"/>
                            </a:rPr>
                          </m:ctrlPr>
                        </m:dPr>
                        <m:e>
                          <m:eqArr>
                            <m:eqArrPr>
                              <m:ctrlPr>
                                <a:rPr lang="zh-CN" altLang="en-US" i="1" dirty="0">
                                  <a:latin typeface="Cambria Math" panose="02040503050406030204" pitchFamily="18" charset="0"/>
                                </a:rPr>
                              </m:ctrlPr>
                            </m:eqArrPr>
                            <m:e>
                              <m:m>
                                <m:mPr>
                                  <m:mcs>
                                    <m:mc>
                                      <m:mcPr>
                                        <m:count m:val="2"/>
                                        <m:mcJc m:val="center"/>
                                      </m:mcPr>
                                    </m:mc>
                                  </m:mcs>
                                  <m:ctrlPr>
                                    <a:rPr lang="zh-CN" altLang="en-US" i="1" dirty="0">
                                      <a:latin typeface="Cambria Math" panose="02040503050406030204" pitchFamily="18" charset="0"/>
                                    </a:rPr>
                                  </m:ctrlPr>
                                </m:mPr>
                                <m:mr>
                                  <m:e>
                                    <m:f>
                                      <m:fPr>
                                        <m:ctrlPr>
                                          <a:rPr lang="en-US" altLang="zh-CN" i="1" dirty="0">
                                            <a:latin typeface="Cambria Math" panose="02040503050406030204" pitchFamily="18" charset="0"/>
                                          </a:rPr>
                                        </m:ctrlPr>
                                      </m:fPr>
                                      <m:num>
                                        <m:r>
                                          <m:rPr>
                                            <m:brk m:alnAt="7"/>
                                          </m:rPr>
                                          <a:rPr lang="en-US" altLang="zh-CN" i="1" dirty="0">
                                            <a:latin typeface="Cambria Math" panose="02040503050406030204" pitchFamily="18" charset="0"/>
                                          </a:rPr>
                                          <m:t>1</m:t>
                                        </m:r>
                                      </m:num>
                                      <m:den>
                                        <m:r>
                                          <m:rPr>
                                            <m:brk m:alnAt="7"/>
                                          </m:rPr>
                                          <a:rPr lang="en-US" altLang="zh-CN" i="1" dirty="0">
                                            <a:latin typeface="Cambria Math" panose="02040503050406030204" pitchFamily="18" charset="0"/>
                                          </a:rPr>
                                          <m:t>𝑀</m:t>
                                        </m:r>
                                      </m:den>
                                    </m:f>
                                    <m:nary>
                                      <m:naryPr>
                                        <m:chr m:val="∑"/>
                                        <m:supHide m:val="on"/>
                                        <m:ctrlPr>
                                          <a:rPr lang="en-US" altLang="zh-CN" i="1" dirty="0">
                                            <a:latin typeface="Cambria Math" panose="02040503050406030204" pitchFamily="18" charset="0"/>
                                          </a:rPr>
                                        </m:ctrlPr>
                                      </m:naryPr>
                                      <m:sub>
                                        <m:r>
                                          <a:rPr lang="en-US" altLang="zh-CN" i="1" dirty="0">
                                            <a:latin typeface="Cambria Math" panose="02040503050406030204" pitchFamily="18" charset="0"/>
                                          </a:rPr>
                                          <m:t>𝑗</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𝐽</m:t>
                                            </m:r>
                                          </m:e>
                                          <m:sub>
                                            <m:r>
                                              <a:rPr lang="en-US" altLang="zh-CN" i="1" dirty="0">
                                                <a:latin typeface="Cambria Math" panose="02040503050406030204" pitchFamily="18" charset="0"/>
                                              </a:rPr>
                                              <m:t>𝑀</m:t>
                                            </m:r>
                                          </m:sub>
                                        </m:sSub>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m:t>
                                        </m:r>
                                      </m:sub>
                                      <m:sup/>
                                      <m:e>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𝑌</m:t>
                                                </m:r>
                                              </m:e>
                                              <m:sub>
                                                <m:r>
                                                  <a:rPr lang="en-US" altLang="zh-CN" i="1" dirty="0">
                                                    <a:latin typeface="Cambria Math" panose="02040503050406030204" pitchFamily="18" charset="0"/>
                                                  </a:rPr>
                                                  <m:t>𝑗</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𝜇</m:t>
                                                    </m:r>
                                                  </m:e>
                                                </m:acc>
                                              </m:e>
                                              <m:sub>
                                                <m:r>
                                                  <a:rPr lang="en-US" altLang="zh-CN" b="0" i="1" dirty="0" smtClean="0">
                                                    <a:latin typeface="Cambria Math" panose="02040503050406030204" pitchFamily="18" charset="0"/>
                                                  </a:rPr>
                                                  <m:t>𝑡</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m:t>
                                                    </m:r>
                                                  </m:sub>
                                                </m:sSub>
                                              </m:e>
                                            </m:d>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𝜇</m:t>
                                                    </m:r>
                                                  </m:e>
                                                </m:acc>
                                              </m:e>
                                              <m:sub>
                                                <m:r>
                                                  <a:rPr lang="en-US" altLang="zh-CN" b="0" i="1" dirty="0" smtClean="0">
                                                    <a:latin typeface="Cambria Math" panose="02040503050406030204" pitchFamily="18" charset="0"/>
                                                  </a:rPr>
                                                  <m:t>𝑡</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𝑗</m:t>
                                                    </m:r>
                                                  </m:sub>
                                                </m:sSub>
                                              </m:e>
                                            </m:d>
                                          </m:e>
                                        </m:d>
                                      </m:e>
                                    </m:nary>
                                  </m:e>
                                  <m:e>
                                    <m:r>
                                      <a:rPr lang="zh-CN" altLang="en-US" i="1" dirty="0">
                                        <a:latin typeface="Cambria Math" panose="02040503050406030204" pitchFamily="18" charset="0"/>
                                      </a:rPr>
                                      <m:t>如果</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=0,</m:t>
                                    </m:r>
                                  </m:e>
                                </m:mr>
                              </m:m>
                            </m:e>
                            <m:e>
                              <m:m>
                                <m:mPr>
                                  <m:mcs>
                                    <m:mc>
                                      <m:mcPr>
                                        <m:count m:val="2"/>
                                        <m:mcJc m:val="center"/>
                                      </m:mcPr>
                                    </m:mc>
                                  </m:mcs>
                                  <m:ctrlPr>
                                    <a:rPr lang="zh-CN" altLang="en-US" i="1" dirty="0">
                                      <a:latin typeface="Cambria Math" panose="02040503050406030204" pitchFamily="18" charset="0"/>
                                    </a:rPr>
                                  </m:ctrlPr>
                                </m:mPr>
                                <m:mr>
                                  <m:e>
                                    <m:sSub>
                                      <m:sSubPr>
                                        <m:ctrlPr>
                                          <a:rPr lang="en-US" altLang="zh-CN" i="1" dirty="0">
                                            <a:latin typeface="Cambria Math" panose="02040503050406030204" pitchFamily="18" charset="0"/>
                                          </a:rPr>
                                        </m:ctrlPr>
                                      </m:sSubPr>
                                      <m:e>
                                        <m:r>
                                          <m:rPr>
                                            <m:brk m:alnAt="7"/>
                                          </m:rPr>
                                          <a:rPr lang="en-US" altLang="zh-CN" i="1" dirty="0">
                                            <a:latin typeface="Cambria Math" panose="02040503050406030204" pitchFamily="18" charset="0"/>
                                          </a:rPr>
                                          <m:t>𝑌</m:t>
                                        </m:r>
                                      </m:e>
                                      <m:sub>
                                        <m:r>
                                          <m:rPr>
                                            <m:brk m:alnAt="7"/>
                                          </m:rPr>
                                          <a:rPr lang="en-US" altLang="zh-CN" i="1" dirty="0">
                                            <a:latin typeface="Cambria Math" panose="02040503050406030204" pitchFamily="18" charset="0"/>
                                          </a:rPr>
                                          <m:t>𝑖</m:t>
                                        </m:r>
                                      </m:sub>
                                    </m:sSub>
                                    <m:r>
                                      <a:rPr lang="en-US" altLang="zh-CN" b="0" i="1" dirty="0" smtClean="0">
                                        <a:latin typeface="Cambria Math" panose="02040503050406030204" pitchFamily="18" charset="0"/>
                                      </a:rPr>
                                      <m:t>                                                            </m:t>
                                    </m:r>
                                  </m:e>
                                  <m:e>
                                    <m:r>
                                      <a:rPr lang="zh-CN" altLang="en-US" i="1" dirty="0">
                                        <a:latin typeface="Cambria Math" panose="02040503050406030204" pitchFamily="18" charset="0"/>
                                      </a:rPr>
                                      <m:t>如果</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=1,</m:t>
                                    </m:r>
                                  </m:e>
                                </m:mr>
                              </m:m>
                            </m:e>
                          </m:eqArr>
                        </m:e>
                      </m:d>
                    </m:oMath>
                  </m:oMathPara>
                </a14:m>
                <a:endParaRPr lang="en-US" altLang="zh-CN" dirty="0"/>
              </a:p>
              <a:p>
                <a:r>
                  <a:rPr lang="zh-CN" altLang="en-US" dirty="0"/>
                  <a:t>偏差调整的匹配估计量为</a:t>
                </a:r>
                <a:endParaRPr lang="en-US" altLang="zh-CN" dirty="0"/>
              </a:p>
              <a:p>
                <a:pPr marL="0" indent="0">
                  <a:buNone/>
                </a:pPr>
                <a14:m>
                  <m:oMathPara xmlns:m="http://schemas.openxmlformats.org/officeDocument/2006/math">
                    <m:oMath>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smtClean="0">
                              <a:latin typeface="Cambria Math" panose="02040503050406030204" pitchFamily="18" charset="0"/>
                            </a:rPr>
                            <m:t>𝑀</m:t>
                          </m:r>
                        </m:sub>
                        <m:sup>
                          <m:r>
                            <a:rPr lang="en-US" altLang="zh-CN" b="0" i="1" smtClean="0">
                              <a:latin typeface="Cambria Math" panose="02040503050406030204" pitchFamily="18" charset="0"/>
                            </a:rPr>
                            <m:t>𝑏𝑐𝑚</m:t>
                          </m:r>
                        </m:sup>
                      </m:sSub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𝑛</m:t>
                          </m:r>
                        </m:den>
                      </m:f>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𝑛</m:t>
                          </m:r>
                        </m:sup>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𝑌</m:t>
                                      </m:r>
                                    </m:e>
                                  </m:acc>
                                </m:e>
                                <m:sub>
                                  <m:r>
                                    <a:rPr lang="en-US" altLang="zh-CN" b="0" i="1" smtClean="0">
                                      <a:latin typeface="Cambria Math" panose="02040503050406030204" pitchFamily="18" charset="0"/>
                                    </a:rPr>
                                    <m:t>1</m:t>
                                  </m:r>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𝑌</m:t>
                                      </m:r>
                                    </m:e>
                                  </m:acc>
                                </m:e>
                                <m:sub>
                                  <m:r>
                                    <a:rPr lang="en-US" altLang="zh-CN" b="0" i="1" smtClean="0">
                                      <a:latin typeface="Cambria Math" panose="02040503050406030204" pitchFamily="18" charset="0"/>
                                    </a:rPr>
                                    <m:t>0</m:t>
                                  </m:r>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dirty="0" smtClean="0">
                                  <a:latin typeface="Cambria Math" panose="02040503050406030204" pitchFamily="18" charset="0"/>
                                </a:rPr>
                                <m:t>𝑀</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𝐵</m:t>
                                  </m:r>
                                </m:e>
                              </m:acc>
                            </m:e>
                            <m:sub>
                              <m:r>
                                <a:rPr lang="en-US" altLang="zh-CN" b="0" i="1" dirty="0" smtClean="0">
                                  <a:latin typeface="Cambria Math" panose="02040503050406030204" pitchFamily="18" charset="0"/>
                                </a:rPr>
                                <m:t>𝑀</m:t>
                              </m:r>
                            </m:sub>
                          </m:sSub>
                          <m:r>
                            <a:rPr lang="en-US" altLang="zh-CN" b="0" i="1" dirty="0" smtClean="0">
                              <a:latin typeface="Cambria Math" panose="02040503050406030204" pitchFamily="18" charset="0"/>
                            </a:rPr>
                            <m:t>.                                                            (25)</m:t>
                          </m:r>
                        </m:e>
                      </m:nary>
                    </m:oMath>
                  </m:oMathPara>
                </a14:m>
                <a:endParaRPr lang="en-US" altLang="zh-CN" b="0" dirty="0"/>
              </a:p>
              <a:p>
                <a:r>
                  <a:rPr lang="zh-CN" altLang="en-US" dirty="0"/>
                  <a:t>其中</a:t>
                </a:r>
                <a:endParaRPr lang="en-US" altLang="zh-CN" dirty="0"/>
              </a:p>
              <a:p>
                <a:pPr marL="0" indent="0">
                  <a:buNone/>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e>
                        <m:sub>
                          <m:r>
                            <a:rPr lang="en-US" altLang="zh-CN" b="0" i="1" dirty="0" smtClean="0">
                              <a:latin typeface="Cambria Math" panose="02040503050406030204" pitchFamily="18" charset="0"/>
                            </a:rPr>
                            <m:t>𝑀</m:t>
                          </m:r>
                        </m:sub>
                      </m:sSub>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𝑛</m:t>
                          </m:r>
                        </m:den>
                      </m:f>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𝑛</m:t>
                          </m:r>
                        </m:sup>
                        <m:e>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2</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−1</m:t>
                              </m:r>
                            </m:e>
                          </m:d>
                          <m:d>
                            <m:dPr>
                              <m:begChr m:val="["/>
                              <m:endChr m:val="]"/>
                              <m:ctrlPr>
                                <a:rPr lang="en-US" altLang="zh-CN" i="1" dirty="0">
                                  <a:latin typeface="Cambria Math" panose="02040503050406030204" pitchFamily="18" charset="0"/>
                                </a:rPr>
                              </m:ctrlPr>
                            </m:dPr>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r>
                                    <a:rPr lang="en-US" altLang="zh-CN" i="1" dirty="0">
                                      <a:latin typeface="Cambria Math" panose="02040503050406030204" pitchFamily="18" charset="0"/>
                                    </a:rPr>
                                    <m:t>𝑀</m:t>
                                  </m:r>
                                </m:den>
                              </m:f>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𝑚</m:t>
                                  </m:r>
                                  <m:r>
                                    <a:rPr lang="en-US" altLang="zh-CN" i="1" dirty="0">
                                      <a:latin typeface="Cambria Math" panose="02040503050406030204" pitchFamily="18" charset="0"/>
                                    </a:rPr>
                                    <m:t>=1 </m:t>
                                  </m:r>
                                </m:sub>
                                <m:sup>
                                  <m:r>
                                    <a:rPr lang="en-US" altLang="zh-CN" i="1" dirty="0">
                                      <a:latin typeface="Cambria Math" panose="02040503050406030204" pitchFamily="18" charset="0"/>
                                    </a:rPr>
                                    <m:t>𝑀</m:t>
                                  </m:r>
                                </m:sup>
                                <m:e>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𝜇</m:t>
                                              </m:r>
                                            </m:e>
                                          </m:acc>
                                        </m:e>
                                        <m:sub>
                                          <m:r>
                                            <a:rPr lang="en-US" altLang="zh-CN" i="1" dirty="0">
                                              <a:latin typeface="Cambria Math" panose="02040503050406030204" pitchFamily="18" charset="0"/>
                                            </a:rPr>
                                            <m:t>1−</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m:t>
                                              </m:r>
                                            </m:sub>
                                          </m:sSub>
                                        </m:e>
                                      </m:d>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𝜇</m:t>
                                              </m:r>
                                            </m:e>
                                          </m:acc>
                                        </m:e>
                                        <m:sub>
                                          <m:r>
                                            <a:rPr lang="en-US" altLang="zh-CN" i="1" dirty="0">
                                              <a:latin typeface="Cambria Math" panose="02040503050406030204" pitchFamily="18" charset="0"/>
                                            </a:rPr>
                                            <m:t>1−</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𝑗</m:t>
                                                  </m:r>
                                                </m:e>
                                                <m:sub>
                                                  <m:r>
                                                    <a:rPr lang="en-US" altLang="zh-CN" i="1" dirty="0">
                                                      <a:latin typeface="Cambria Math" panose="02040503050406030204" pitchFamily="18" charset="0"/>
                                                    </a:rPr>
                                                    <m:t>𝑚</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𝑖</m:t>
                                                  </m:r>
                                                </m:e>
                                              </m:d>
                                            </m:sub>
                                          </m:sSub>
                                        </m:e>
                                      </m:d>
                                    </m:e>
                                  </m:d>
                                </m:e>
                              </m:nary>
                            </m:e>
                          </m:d>
                        </m:e>
                      </m:nary>
                      <m:r>
                        <a:rPr lang="en-US" altLang="zh-CN" b="0" i="1" dirty="0" smtClean="0">
                          <a:latin typeface="Cambria Math" panose="02040503050406030204" pitchFamily="18" charset="0"/>
                        </a:rPr>
                        <m:t>. </m:t>
                      </m:r>
                    </m:oMath>
                  </m:oMathPara>
                </a14:m>
                <a:endParaRPr lang="zh-CN" altLang="en-US" dirty="0"/>
              </a:p>
            </p:txBody>
          </p:sp>
        </mc:Choice>
        <mc:Fallback xmlns="">
          <p:sp>
            <p:nvSpPr>
              <p:cNvPr id="3" name="内容占位符 2">
                <a:extLst>
                  <a:ext uri="{FF2B5EF4-FFF2-40B4-BE49-F238E27FC236}">
                    <a16:creationId xmlns:a16="http://schemas.microsoft.com/office/drawing/2014/main" id="{3EEC5679-C9E6-E43A-6EA4-852998D94F68}"/>
                  </a:ext>
                </a:extLst>
              </p:cNvPr>
              <p:cNvSpPr>
                <a:spLocks noGrp="1" noRot="1" noChangeAspect="1" noMove="1" noResize="1" noEditPoints="1" noAdjustHandles="1" noChangeArrowheads="1" noChangeShapeType="1" noTextEdit="1"/>
              </p:cNvSpPr>
              <p:nvPr>
                <p:ph idx="1"/>
              </p:nvPr>
            </p:nvSpPr>
            <p:spPr>
              <a:blipFill>
                <a:blip r:embed="rId2"/>
                <a:stretch>
                  <a:fillRect l="-232" t="-1120" r="-278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05D012D-7232-D7CE-97B6-7EEF7E29B1CC}"/>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3582E56-BAD4-EBC0-60F0-FB4E2433B750}"/>
              </a:ext>
            </a:extLst>
          </p:cNvPr>
          <p:cNvSpPr>
            <a:spLocks noGrp="1"/>
          </p:cNvSpPr>
          <p:nvPr>
            <p:ph type="sldNum" sz="quarter" idx="12"/>
          </p:nvPr>
        </p:nvSpPr>
        <p:spPr/>
        <p:txBody>
          <a:bodyPr/>
          <a:lstStyle/>
          <a:p>
            <a:fld id="{D41FC515-8169-4A29-AA56-DBE520D5741B}" type="slidenum">
              <a:rPr lang="zh-CN" altLang="en-US" smtClean="0"/>
              <a:t>37</a:t>
            </a:fld>
            <a:endParaRPr lang="zh-CN" altLang="en-US"/>
          </a:p>
        </p:txBody>
      </p:sp>
    </p:spTree>
    <p:extLst>
      <p:ext uri="{BB962C8B-B14F-4D97-AF65-F5344CB8AC3E}">
        <p14:creationId xmlns:p14="http://schemas.microsoft.com/office/powerpoint/2010/main" val="9352397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7D2CCF-8C63-ACE6-6321-3BCC2EA392EE}"/>
              </a:ext>
            </a:extLst>
          </p:cNvPr>
          <p:cNvSpPr>
            <a:spLocks noGrp="1"/>
          </p:cNvSpPr>
          <p:nvPr>
            <p:ph type="title"/>
          </p:nvPr>
        </p:nvSpPr>
        <p:spPr/>
        <p:txBody>
          <a:bodyPr/>
          <a:lstStyle/>
          <a:p>
            <a:r>
              <a:rPr lang="zh-CN" altLang="en-US" dirty="0"/>
              <a:t>匹配</a:t>
            </a:r>
            <a:r>
              <a:rPr lang="en-US" altLang="zh-CN" dirty="0"/>
              <a:t>(Matching)</a:t>
            </a:r>
            <a:br>
              <a:rPr lang="en-US" altLang="zh-CN" dirty="0"/>
            </a:br>
            <a:r>
              <a:rPr lang="zh-CN" altLang="en-US" sz="2400" dirty="0"/>
              <a:t>偏差调整的匹配估计量</a:t>
            </a:r>
            <a:endParaRPr lang="zh-CN" altLang="en-US" dirty="0"/>
          </a:p>
        </p:txBody>
      </p:sp>
      <p:pic>
        <p:nvPicPr>
          <p:cNvPr id="7" name="内容占位符 6">
            <a:extLst>
              <a:ext uri="{FF2B5EF4-FFF2-40B4-BE49-F238E27FC236}">
                <a16:creationId xmlns:a16="http://schemas.microsoft.com/office/drawing/2014/main" id="{B2A4224B-8AF6-DF8C-EFAB-39A311A5A805}"/>
              </a:ext>
            </a:extLst>
          </p:cNvPr>
          <p:cNvPicPr>
            <a:picLocks noGrp="1" noChangeAspect="1"/>
          </p:cNvPicPr>
          <p:nvPr>
            <p:ph idx="1"/>
          </p:nvPr>
        </p:nvPicPr>
        <p:blipFill>
          <a:blip r:embed="rId2"/>
          <a:stretch>
            <a:fillRect/>
          </a:stretch>
        </p:blipFill>
        <p:spPr>
          <a:xfrm>
            <a:off x="2253803" y="2256206"/>
            <a:ext cx="4636394" cy="3490175"/>
          </a:xfrm>
          <a:prstGeom prst="rect">
            <a:avLst/>
          </a:prstGeom>
        </p:spPr>
      </p:pic>
      <p:sp>
        <p:nvSpPr>
          <p:cNvPr id="4" name="页脚占位符 3">
            <a:extLst>
              <a:ext uri="{FF2B5EF4-FFF2-40B4-BE49-F238E27FC236}">
                <a16:creationId xmlns:a16="http://schemas.microsoft.com/office/drawing/2014/main" id="{8F95215D-2225-56F5-5482-3956DE27989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76F1A87-F9CC-69B8-CE03-2C0EE75FCC89}"/>
              </a:ext>
            </a:extLst>
          </p:cNvPr>
          <p:cNvSpPr>
            <a:spLocks noGrp="1"/>
          </p:cNvSpPr>
          <p:nvPr>
            <p:ph type="sldNum" sz="quarter" idx="12"/>
          </p:nvPr>
        </p:nvSpPr>
        <p:spPr/>
        <p:txBody>
          <a:bodyPr/>
          <a:lstStyle/>
          <a:p>
            <a:fld id="{D41FC515-8169-4A29-AA56-DBE520D5741B}" type="slidenum">
              <a:rPr lang="zh-CN" altLang="en-US" smtClean="0"/>
              <a:t>38</a:t>
            </a:fld>
            <a:endParaRPr lang="zh-CN" altLang="en-US"/>
          </a:p>
        </p:txBody>
      </p:sp>
      <p:sp>
        <p:nvSpPr>
          <p:cNvPr id="10" name="文本框 9">
            <a:extLst>
              <a:ext uri="{FF2B5EF4-FFF2-40B4-BE49-F238E27FC236}">
                <a16:creationId xmlns:a16="http://schemas.microsoft.com/office/drawing/2014/main" id="{9333D778-2E72-764C-164E-C259DE9BEA38}"/>
              </a:ext>
            </a:extLst>
          </p:cNvPr>
          <p:cNvSpPr txBox="1"/>
          <p:nvPr/>
        </p:nvSpPr>
        <p:spPr>
          <a:xfrm>
            <a:off x="2760563" y="5719519"/>
            <a:ext cx="4572000" cy="369332"/>
          </a:xfrm>
          <a:prstGeom prst="rect">
            <a:avLst/>
          </a:prstGeom>
          <a:noFill/>
        </p:spPr>
        <p:txBody>
          <a:bodyPr wrap="square">
            <a:spAutoFit/>
          </a:bodyPr>
          <a:lstStyle/>
          <a:p>
            <a:r>
              <a:rPr lang="en-US" altLang="zh-CN" b="0" i="0" u="none" strike="noStrike" baseline="0" dirty="0">
                <a:solidFill>
                  <a:srgbClr val="3333B3"/>
                </a:solidFill>
                <a:latin typeface="LMRoman8-Regular-Identity-H"/>
              </a:rPr>
              <a:t>Figure 2: </a:t>
            </a:r>
            <a:r>
              <a:rPr lang="zh-CN" altLang="en-US" b="0" i="0" u="none" strike="noStrike" baseline="0" dirty="0">
                <a:solidFill>
                  <a:srgbClr val="000000"/>
                </a:solidFill>
                <a:latin typeface="宋体" panose="02010600030101010101" pitchFamily="2" charset="-122"/>
                <a:ea typeface="宋体" panose="02010600030101010101" pitchFamily="2" charset="-122"/>
              </a:rPr>
              <a:t>偏差调整匹配估计量直观解释</a:t>
            </a:r>
            <a:endParaRPr lang="zh-CN" altLang="en-US" dirty="0"/>
          </a:p>
        </p:txBody>
      </p:sp>
    </p:spTree>
    <p:extLst>
      <p:ext uri="{BB962C8B-B14F-4D97-AF65-F5344CB8AC3E}">
        <p14:creationId xmlns:p14="http://schemas.microsoft.com/office/powerpoint/2010/main" val="9461371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0A10A0-E2CF-79AE-7500-F1F3F64B849A}"/>
              </a:ext>
            </a:extLst>
          </p:cNvPr>
          <p:cNvSpPr>
            <a:spLocks noGrp="1"/>
          </p:cNvSpPr>
          <p:nvPr>
            <p:ph type="title"/>
          </p:nvPr>
        </p:nvSpPr>
        <p:spPr/>
        <p:txBody>
          <a:bodyPr/>
          <a:lstStyle/>
          <a:p>
            <a:r>
              <a:rPr lang="zh-CN" altLang="en-US" dirty="0"/>
              <a:t>匹配</a:t>
            </a:r>
            <a:r>
              <a:rPr lang="en-US" altLang="zh-CN" dirty="0"/>
              <a:t>(Matching)</a:t>
            </a:r>
            <a:br>
              <a:rPr lang="en-US" altLang="zh-CN" dirty="0"/>
            </a:br>
            <a:r>
              <a:rPr lang="zh-CN" altLang="en-US" sz="2400" dirty="0"/>
              <a:t>偏差调整的匹配估计量</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1A94457-B27D-3F1C-6594-AD59DCB48D65}"/>
                  </a:ext>
                </a:extLst>
              </p:cNvPr>
              <p:cNvSpPr>
                <a:spLocks noGrp="1"/>
              </p:cNvSpPr>
              <p:nvPr>
                <p:ph idx="1"/>
              </p:nvPr>
            </p:nvSpPr>
            <p:spPr/>
            <p:txBody>
              <a:bodyPr>
                <a:normAutofit fontScale="62500" lnSpcReduction="20000"/>
              </a:bodyPr>
              <a:lstStyle/>
              <a:p>
                <a:pPr>
                  <a:lnSpc>
                    <a:spcPct val="120000"/>
                  </a:lnSpc>
                </a:pPr>
                <a:r>
                  <a:rPr lang="zh-CN" altLang="en-US" b="1" dirty="0"/>
                  <a:t>定理</a:t>
                </a:r>
                <a:r>
                  <a:rPr lang="en-US" altLang="zh-CN" b="1" dirty="0"/>
                  <a:t>6 </a:t>
                </a:r>
                <a:r>
                  <a:rPr lang="en-US" altLang="zh-CN" dirty="0"/>
                  <a:t>(Abadie and </a:t>
                </a:r>
                <a:r>
                  <a:rPr lang="en-US" altLang="zh-CN" dirty="0" err="1"/>
                  <a:t>Imbens</a:t>
                </a:r>
                <a:r>
                  <a:rPr lang="en-US" altLang="zh-CN" dirty="0"/>
                  <a:t> (2011) </a:t>
                </a:r>
                <a:r>
                  <a:rPr lang="zh-CN" altLang="en-US" dirty="0"/>
                  <a:t>定理</a:t>
                </a:r>
                <a:r>
                  <a:rPr lang="en-US" altLang="zh-CN" dirty="0"/>
                  <a:t>2)</a:t>
                </a:r>
                <a:r>
                  <a:rPr lang="zh-CN" altLang="en-US" dirty="0"/>
                  <a:t>：在</a:t>
                </a:r>
                <a:r>
                  <a:rPr lang="en-US" altLang="zh-CN" dirty="0"/>
                  <a:t>Abadie and </a:t>
                </a:r>
                <a:r>
                  <a:rPr lang="en-US" altLang="zh-CN" dirty="0" err="1"/>
                  <a:t>Imbens</a:t>
                </a:r>
                <a:r>
                  <a:rPr lang="en-US" altLang="zh-CN" dirty="0"/>
                  <a:t>(2006) </a:t>
                </a:r>
                <a:r>
                  <a:rPr lang="zh-CN" altLang="en-US" dirty="0"/>
                  <a:t>假设</a:t>
                </a:r>
                <a:r>
                  <a:rPr lang="en-US" altLang="zh-CN" dirty="0"/>
                  <a:t>1-4 </a:t>
                </a:r>
                <a:r>
                  <a:rPr lang="zh-CN" altLang="en-US" dirty="0"/>
                  <a:t>下，有</a:t>
                </a:r>
                <a:endParaRPr lang="en-US" altLang="zh-CN" dirty="0"/>
              </a:p>
              <a:p>
                <a:pPr marL="0" indent="0">
                  <a:lnSpc>
                    <a:spcPct val="120000"/>
                  </a:lnSpc>
                  <a:buNone/>
                </a:pPr>
                <a14:m>
                  <m:oMathPara xmlns:m="http://schemas.openxmlformats.org/officeDocument/2006/math">
                    <m:oMath>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𝑛</m:t>
                          </m:r>
                        </m:e>
                      </m:rad>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𝑀</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e>
                            <m:sub>
                              <m:r>
                                <a:rPr lang="en-US" altLang="zh-CN" b="0" i="1" smtClean="0">
                                  <a:latin typeface="Cambria Math" panose="02040503050406030204" pitchFamily="18" charset="0"/>
                                </a:rPr>
                                <m:t>𝑀</m:t>
                              </m:r>
                            </m:sub>
                          </m:sSub>
                        </m:e>
                      </m:d>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𝑝</m:t>
                          </m:r>
                        </m:sup>
                      </m:sSup>
                      <m:r>
                        <a:rPr lang="en-US" altLang="zh-CN" b="0" i="1" smtClean="0">
                          <a:latin typeface="Cambria Math" panose="02040503050406030204" pitchFamily="18" charset="0"/>
                        </a:rPr>
                        <m:t>0,</m:t>
                      </m:r>
                    </m:oMath>
                  </m:oMathPara>
                </a14:m>
                <a:endParaRPr lang="en-US" altLang="zh-CN" b="0" dirty="0"/>
              </a:p>
              <a:p>
                <a:pPr marL="0" indent="0">
                  <a:lnSpc>
                    <a:spcPct val="120000"/>
                  </a:lnSpc>
                  <a:buNone/>
                </a:pPr>
                <a:r>
                  <a:rPr lang="zh-CN" altLang="en-US" dirty="0"/>
                  <a:t>  且</a:t>
                </a:r>
                <a:endParaRPr lang="en-US" altLang="zh-CN" dirty="0"/>
              </a:p>
              <a:p>
                <a:pPr marL="0" indent="0">
                  <a:lnSpc>
                    <a:spcPct val="120000"/>
                  </a:lnSpc>
                  <a:buNone/>
                </a:pPr>
                <a14:m>
                  <m:oMathPara xmlns:m="http://schemas.openxmlformats.org/officeDocument/2006/math">
                    <m:oMath>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𝑉</m:t>
                                  </m:r>
                                </m:e>
                                <m:sup>
                                  <m:r>
                                    <a:rPr lang="en-US" altLang="zh-CN" b="0" i="1" smtClean="0">
                                      <a:latin typeface="Cambria Math" panose="02040503050406030204" pitchFamily="18" charset="0"/>
                                    </a:rPr>
                                    <m:t>𝐸</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𝑉</m:t>
                                  </m:r>
                                </m:e>
                                <m:sup>
                                  <m:r>
                                    <a:rPr lang="en-US" altLang="zh-CN" b="0" i="1" smtClean="0">
                                      <a:latin typeface="Cambria Math" panose="02040503050406030204" pitchFamily="18" charset="0"/>
                                    </a:rPr>
                                    <m:t>𝜏</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sup>
                              </m:sSup>
                            </m:e>
                          </m:d>
                        </m:e>
                        <m: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sup>
                      </m:sSup>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𝑛</m:t>
                          </m:r>
                        </m:e>
                      </m:rad>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smtClean="0">
                                  <a:latin typeface="Cambria Math" panose="02040503050406030204" pitchFamily="18" charset="0"/>
                                </a:rPr>
                                <m:t>𝑀</m:t>
                              </m:r>
                            </m:sub>
                            <m:sup>
                              <m:r>
                                <a:rPr lang="en-US" altLang="zh-CN" b="0" i="1" smtClean="0">
                                  <a:latin typeface="Cambria Math" panose="02040503050406030204" pitchFamily="18" charset="0"/>
                                </a:rPr>
                                <m:t>𝑏𝑐𝑚</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𝜏</m:t>
                              </m:r>
                            </m:e>
                            <m:sub>
                              <m:r>
                                <a:rPr lang="en-US" altLang="zh-CN" b="0" i="1" smtClean="0">
                                  <a:latin typeface="Cambria Math" panose="02040503050406030204" pitchFamily="18" charset="0"/>
                                </a:rPr>
                                <m:t>𝐴𝑇𝐸</m:t>
                              </m:r>
                            </m:sub>
                          </m:sSub>
                        </m:e>
                      </m:d>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e>
                        <m:sup>
                          <m:r>
                            <a:rPr lang="en-US" altLang="zh-CN" b="0" i="1" smtClean="0">
                              <a:latin typeface="Cambria Math" panose="02040503050406030204" pitchFamily="18" charset="0"/>
                            </a:rPr>
                            <m:t>𝑑</m:t>
                          </m:r>
                        </m:sup>
                      </m:sSup>
                      <m:r>
                        <a:rPr lang="en-US" altLang="zh-CN" b="0" i="1" smtClean="0">
                          <a:latin typeface="Cambria Math" panose="02040503050406030204" pitchFamily="18" charset="0"/>
                        </a:rPr>
                        <m:t>𝑁</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0,1</m:t>
                          </m:r>
                        </m:e>
                      </m:d>
                      <m:r>
                        <a:rPr lang="en-US" altLang="zh-CN" b="0" i="1" smtClean="0">
                          <a:latin typeface="Cambria Math" panose="02040503050406030204" pitchFamily="18" charset="0"/>
                        </a:rPr>
                        <m:t>.</m:t>
                      </m:r>
                    </m:oMath>
                  </m:oMathPara>
                </a14:m>
                <a:endParaRPr lang="en-US" altLang="zh-CN" dirty="0"/>
              </a:p>
              <a:p>
                <a:pPr>
                  <a:lnSpc>
                    <a:spcPct val="120000"/>
                  </a:lnSpc>
                </a:pPr>
                <a:r>
                  <a:rPr lang="en-US" altLang="zh-CN" dirty="0"/>
                  <a:t>Abadie and </a:t>
                </a:r>
                <a:r>
                  <a:rPr lang="en-US" altLang="zh-CN" dirty="0" err="1"/>
                  <a:t>Imbens</a:t>
                </a:r>
                <a:r>
                  <a:rPr lang="en-US" altLang="zh-CN" dirty="0"/>
                  <a:t> (2008) </a:t>
                </a:r>
                <a:r>
                  <a:rPr lang="zh-CN" altLang="en-US" dirty="0"/>
                  <a:t>指出在匹配方法中，简单的自助法是不能用于估计匹配估计量方差的。</a:t>
                </a:r>
                <a:endParaRPr lang="en-US" altLang="zh-CN" dirty="0"/>
              </a:p>
              <a:p>
                <a:pPr>
                  <a:lnSpc>
                    <a:spcPct val="120000"/>
                  </a:lnSpc>
                </a:pPr>
                <a:r>
                  <a:rPr lang="en-US" altLang="zh-CN" dirty="0"/>
                  <a:t>Abadie and </a:t>
                </a:r>
                <a:r>
                  <a:rPr lang="en-US" altLang="zh-CN" dirty="0" err="1"/>
                  <a:t>Imbens</a:t>
                </a:r>
                <a:r>
                  <a:rPr lang="en-US" altLang="zh-CN" dirty="0"/>
                  <a:t> (2006) </a:t>
                </a:r>
                <a:r>
                  <a:rPr lang="zh-CN" altLang="en-US" dirty="0"/>
                  <a:t>有导出方差的解析形式，并提供了两种估计形式，一种是假设常数因果效应，并假设同方法，对应于</a:t>
                </a:r>
                <a:r>
                  <a:rPr lang="en-US" altLang="zh-CN" dirty="0" err="1"/>
                  <a:t>vce</a:t>
                </a:r>
                <a:r>
                  <a:rPr lang="en-US" altLang="zh-CN" dirty="0"/>
                  <a:t>(</a:t>
                </a:r>
                <a:r>
                  <a:rPr lang="en-US" altLang="zh-CN" dirty="0" err="1"/>
                  <a:t>iid</a:t>
                </a:r>
                <a:r>
                  <a:rPr lang="en-US" altLang="zh-CN" dirty="0"/>
                  <a:t>)</a:t>
                </a:r>
                <a:r>
                  <a:rPr lang="zh-CN" altLang="en-US" dirty="0"/>
                  <a:t>，另一种是用同一组（干预组和控制组）数据匹配，对应于</a:t>
                </a:r>
                <a:r>
                  <a:rPr lang="en-US" altLang="zh-CN" dirty="0" err="1"/>
                  <a:t>vce</a:t>
                </a:r>
                <a:r>
                  <a:rPr lang="en-US" altLang="zh-CN" dirty="0"/>
                  <a:t>(robust[, </a:t>
                </a:r>
                <a:r>
                  <a:rPr lang="en-US" altLang="zh-CN" dirty="0" err="1"/>
                  <a:t>nn</a:t>
                </a:r>
                <a:r>
                  <a:rPr lang="en-US" altLang="zh-CN" dirty="0"/>
                  <a:t>(#)])</a:t>
                </a:r>
                <a:r>
                  <a:rPr lang="zh-CN" altLang="en-US" dirty="0"/>
                  <a:t>。</a:t>
                </a:r>
                <a:endParaRPr lang="en-US" altLang="zh-CN" dirty="0"/>
              </a:p>
              <a:p>
                <a:pPr>
                  <a:lnSpc>
                    <a:spcPct val="120000"/>
                  </a:lnSpc>
                </a:pPr>
                <a:r>
                  <a:rPr lang="en-US" altLang="zh-CN" dirty="0"/>
                  <a:t>Stata </a:t>
                </a:r>
                <a:r>
                  <a:rPr lang="zh-CN" altLang="en-US" dirty="0"/>
                  <a:t>命令：</a:t>
                </a:r>
                <a:r>
                  <a:rPr lang="en-US" altLang="zh-CN" dirty="0" err="1"/>
                  <a:t>teffect</a:t>
                </a:r>
                <a:r>
                  <a:rPr lang="en-US" altLang="zh-CN" dirty="0"/>
                  <a:t> </a:t>
                </a:r>
                <a:r>
                  <a:rPr lang="en-US" altLang="zh-CN" dirty="0" err="1"/>
                  <a:t>nnmacth</a:t>
                </a:r>
                <a:endParaRPr lang="zh-CN" altLang="en-US" dirty="0"/>
              </a:p>
            </p:txBody>
          </p:sp>
        </mc:Choice>
        <mc:Fallback xmlns="">
          <p:sp>
            <p:nvSpPr>
              <p:cNvPr id="3" name="内容占位符 2">
                <a:extLst>
                  <a:ext uri="{FF2B5EF4-FFF2-40B4-BE49-F238E27FC236}">
                    <a16:creationId xmlns:a16="http://schemas.microsoft.com/office/drawing/2014/main" id="{B1A94457-B27D-3F1C-6594-AD59DCB48D65}"/>
                  </a:ext>
                </a:extLst>
              </p:cNvPr>
              <p:cNvSpPr>
                <a:spLocks noGrp="1" noRot="1" noChangeAspect="1" noMove="1" noResize="1" noEditPoints="1" noAdjustHandles="1" noChangeArrowheads="1" noChangeShapeType="1" noTextEdit="1"/>
              </p:cNvSpPr>
              <p:nvPr>
                <p:ph idx="1"/>
              </p:nvPr>
            </p:nvSpPr>
            <p:spPr>
              <a:blipFill>
                <a:blip r:embed="rId2"/>
                <a:stretch>
                  <a:fillRect l="-464" t="-700" r="-139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F7A7E1D6-D576-8757-0A17-4D0667652FD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AD94F15-0AD7-1F90-211A-9E01F5F8F72B}"/>
              </a:ext>
            </a:extLst>
          </p:cNvPr>
          <p:cNvSpPr>
            <a:spLocks noGrp="1"/>
          </p:cNvSpPr>
          <p:nvPr>
            <p:ph type="sldNum" sz="quarter" idx="12"/>
          </p:nvPr>
        </p:nvSpPr>
        <p:spPr/>
        <p:txBody>
          <a:bodyPr/>
          <a:lstStyle/>
          <a:p>
            <a:fld id="{D41FC515-8169-4A29-AA56-DBE520D5741B}" type="slidenum">
              <a:rPr lang="zh-CN" altLang="en-US" smtClean="0"/>
              <a:t>39</a:t>
            </a:fld>
            <a:endParaRPr lang="zh-CN" altLang="en-US"/>
          </a:p>
        </p:txBody>
      </p:sp>
    </p:spTree>
    <p:extLst>
      <p:ext uri="{BB962C8B-B14F-4D97-AF65-F5344CB8AC3E}">
        <p14:creationId xmlns:p14="http://schemas.microsoft.com/office/powerpoint/2010/main" val="26165715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D223E8-8503-7EFA-68D0-4B5C31A5E65B}"/>
              </a:ext>
            </a:extLst>
          </p:cNvPr>
          <p:cNvSpPr>
            <a:spLocks noGrp="1"/>
          </p:cNvSpPr>
          <p:nvPr>
            <p:ph type="title"/>
          </p:nvPr>
        </p:nvSpPr>
        <p:spPr/>
        <p:txBody>
          <a:bodyPr/>
          <a:lstStyle/>
          <a:p>
            <a:r>
              <a:rPr lang="zh-CN" altLang="en-US" dirty="0"/>
              <a:t>匹配：匹配诊断</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89BDCCE-1F38-10F3-6701-86FBD1E3F938}"/>
                  </a:ext>
                </a:extLst>
              </p:cNvPr>
              <p:cNvSpPr>
                <a:spLocks noGrp="1"/>
              </p:cNvSpPr>
              <p:nvPr>
                <p:ph idx="1"/>
              </p:nvPr>
            </p:nvSpPr>
            <p:spPr/>
            <p:txBody>
              <a:bodyPr>
                <a:normAutofit fontScale="55000" lnSpcReduction="20000"/>
              </a:bodyPr>
              <a:lstStyle/>
              <a:p>
                <a:pPr>
                  <a:lnSpc>
                    <a:spcPct val="120000"/>
                  </a:lnSpc>
                </a:pPr>
                <a:r>
                  <a:rPr lang="zh-CN" altLang="en-US" dirty="0"/>
                  <a:t>协变量匹配：主要目的是构建协变量比较平衡的样本，使得非混杂性假设接近成立。</a:t>
                </a:r>
                <a:endParaRPr lang="en-US" altLang="zh-CN" dirty="0"/>
              </a:p>
              <a:p>
                <a:pPr>
                  <a:lnSpc>
                    <a:spcPct val="120000"/>
                  </a:lnSpc>
                </a:pPr>
                <a:r>
                  <a:rPr lang="zh-CN" altLang="en-US" dirty="0"/>
                  <a:t>协变量平衡性检验指标</a:t>
                </a:r>
                <a:r>
                  <a:rPr lang="en-US" altLang="zh-CN" dirty="0"/>
                  <a:t>(balance test)</a:t>
                </a:r>
                <a:r>
                  <a:rPr lang="zh-CN" altLang="en-US" dirty="0"/>
                  <a:t>：</a:t>
                </a:r>
                <a:endParaRPr lang="en-US" altLang="zh-CN" dirty="0"/>
              </a:p>
              <a:p>
                <a:pPr lvl="1">
                  <a:lnSpc>
                    <a:spcPct val="120000"/>
                  </a:lnSpc>
                </a:pPr>
                <a:r>
                  <a:rPr lang="zh-CN" altLang="en-US" dirty="0"/>
                  <a:t>标准化均值差异</a:t>
                </a:r>
                <a:r>
                  <a:rPr lang="en-US" altLang="zh-CN" dirty="0"/>
                  <a:t>(normalized difference)</a:t>
                </a:r>
              </a:p>
              <a:p>
                <a:pPr marL="457200" lvl="1" indent="0">
                  <a:lnSpc>
                    <a:spcPct val="120000"/>
                  </a:lnSpc>
                  <a:buNone/>
                </a:pPr>
                <a14:m>
                  <m:oMathPara xmlns:m="http://schemas.openxmlformats.org/officeDocument/2006/math">
                    <m:oMath>
                      <m:sSub>
                        <m:sSubPr>
                          <m:ctrlPr>
                            <a:rPr lang="en-US" altLang="zh-CN" b="0" i="0" smtClean="0">
                              <a:latin typeface="Cambria Math" panose="02040503050406030204" pitchFamily="18" charset="0"/>
                            </a:rPr>
                          </m:ctrlPr>
                        </m:sSubPr>
                        <m:e>
                          <m:r>
                            <m:rPr>
                              <m:sty m:val="p"/>
                            </m:rPr>
                            <a:rPr lang="en-US" altLang="zh-CN" b="0" i="0" smtClean="0">
                              <a:latin typeface="Cambria Math" panose="02040503050406030204" pitchFamily="18" charset="0"/>
                            </a:rPr>
                            <m:t>Δ</m:t>
                          </m:r>
                        </m:e>
                        <m:sub>
                          <m:r>
                            <m:rPr>
                              <m:sty m:val="p"/>
                            </m:rPr>
                            <a:rPr lang="en-US" altLang="zh-CN" b="0" i="0" smtClean="0">
                              <a:latin typeface="Cambria Math" panose="02040503050406030204" pitchFamily="18" charset="0"/>
                            </a:rPr>
                            <m:t>X</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k</m:t>
                          </m:r>
                        </m:sub>
                      </m:sSub>
                      <m:r>
                        <a:rPr lang="en-US" altLang="zh-CN" b="0" i="0"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acc>
                                <m:accPr>
                                  <m:chr m:val="̅"/>
                                  <m:ctrlPr>
                                    <a:rPr lang="en-US" altLang="zh-CN" b="0" i="0" smtClean="0">
                                      <a:latin typeface="Cambria Math" panose="02040503050406030204" pitchFamily="18" charset="0"/>
                                    </a:rPr>
                                  </m:ctrlPr>
                                </m:accPr>
                                <m:e>
                                  <m:r>
                                    <m:rPr>
                                      <m:sty m:val="p"/>
                                    </m:rPr>
                                    <a:rPr lang="en-US" altLang="zh-CN" b="0" i="0" smtClean="0">
                                      <a:latin typeface="Cambria Math" panose="02040503050406030204" pitchFamily="18" charset="0"/>
                                    </a:rPr>
                                    <m:t>X</m:t>
                                  </m:r>
                                </m:e>
                              </m:acc>
                            </m:e>
                            <m:sub>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𝑋</m:t>
                                  </m:r>
                                </m:e>
                              </m:acc>
                            </m:e>
                            <m:sub>
                              <m:r>
                                <a:rPr lang="en-US" altLang="zh-CN" b="0" i="1" dirty="0" smtClean="0">
                                  <a:latin typeface="Cambria Math" panose="02040503050406030204" pitchFamily="18" charset="0"/>
                                </a:rPr>
                                <m:t>𝑐</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num>
                        <m:den>
                          <m:rad>
                            <m:radPr>
                              <m:degHide m:val="on"/>
                              <m:ctrlPr>
                                <a:rPr lang="en-US" altLang="zh-CN" b="0" i="1" dirty="0" smtClean="0">
                                  <a:latin typeface="Cambria Math" panose="02040503050406030204" pitchFamily="18" charset="0"/>
                                </a:rPr>
                              </m:ctrlPr>
                            </m:radPr>
                            <m:deg/>
                            <m:e>
                              <m:f>
                                <m:fPr>
                                  <m:ctrlPr>
                                    <a:rPr lang="en-US" altLang="zh-CN" b="0" i="1" dirty="0" smtClean="0">
                                      <a:latin typeface="Cambria Math" panose="02040503050406030204" pitchFamily="18" charset="0"/>
                                    </a:rPr>
                                  </m:ctrlPr>
                                </m:fPr>
                                <m:num>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𝑆</m:t>
                                      </m:r>
                                    </m:e>
                                    <m:sub>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up>
                                      <m:r>
                                        <a:rPr lang="en-US" altLang="zh-CN" b="0" i="1" dirty="0" smtClean="0">
                                          <a:latin typeface="Cambria Math" panose="02040503050406030204" pitchFamily="18" charset="0"/>
                                        </a:rPr>
                                        <m:t>2</m:t>
                                      </m:r>
                                    </m:sup>
                                  </m:sSubSup>
                                  <m:r>
                                    <a:rPr lang="en-US" altLang="zh-CN" b="0" i="1" dirty="0" smtClean="0">
                                      <a:latin typeface="Cambria Math" panose="02040503050406030204" pitchFamily="18" charset="0"/>
                                    </a:rPr>
                                    <m:t>+</m:t>
                                  </m:r>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𝑆</m:t>
                                      </m:r>
                                    </m:e>
                                    <m:sub>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𝑐</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up>
                                      <m:r>
                                        <a:rPr lang="en-US" altLang="zh-CN" b="0" i="1" dirty="0" smtClean="0">
                                          <a:latin typeface="Cambria Math" panose="02040503050406030204" pitchFamily="18" charset="0"/>
                                        </a:rPr>
                                        <m:t>2</m:t>
                                      </m:r>
                                    </m:sup>
                                  </m:sSubSup>
                                </m:num>
                                <m:den>
                                  <m:r>
                                    <a:rPr lang="en-US" altLang="zh-CN" b="0" i="1" dirty="0" smtClean="0">
                                      <a:latin typeface="Cambria Math" panose="02040503050406030204" pitchFamily="18" charset="0"/>
                                    </a:rPr>
                                    <m:t>2</m:t>
                                  </m:r>
                                </m:den>
                              </m:f>
                            </m:e>
                          </m:rad>
                        </m:den>
                      </m:f>
                      <m:r>
                        <a:rPr lang="en-US" altLang="zh-CN" b="0" i="1" dirty="0" smtClean="0">
                          <a:latin typeface="Cambria Math" panose="02040503050406030204" pitchFamily="18" charset="0"/>
                        </a:rPr>
                        <m:t>           </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26</m:t>
                          </m:r>
                        </m:e>
                      </m:d>
                    </m:oMath>
                  </m:oMathPara>
                </a14:m>
                <a:endParaRPr lang="en-US" altLang="zh-CN" b="0" dirty="0"/>
              </a:p>
              <a:p>
                <a:pPr lvl="1">
                  <a:lnSpc>
                    <a:spcPct val="120000"/>
                  </a:lnSpc>
                </a:pPr>
                <a:r>
                  <a:rPr lang="zh-CN" altLang="en-US" dirty="0"/>
                  <a:t>其中</a:t>
                </a:r>
                <a:endParaRPr lang="en-US" altLang="zh-CN" dirty="0"/>
              </a:p>
              <a:p>
                <a:pPr marL="457200" lvl="1" indent="0">
                  <a:lnSpc>
                    <a:spcPct val="120000"/>
                  </a:lnSpc>
                  <a:buNone/>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𝑋</m:t>
                              </m:r>
                            </m:e>
                          </m:acc>
                        </m:e>
                        <m:sub>
                          <m:r>
                            <a:rPr lang="en-US" altLang="zh-CN" b="0" i="1" dirty="0" smtClean="0">
                              <a:latin typeface="Cambria Math" panose="02040503050406030204" pitchFamily="18" charset="0"/>
                            </a:rPr>
                            <m:t>𝑐</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𝑛</m:t>
                              </m:r>
                            </m:e>
                            <m:sub>
                              <m:r>
                                <a:rPr lang="en-US" altLang="zh-CN" b="0" i="1" dirty="0" smtClean="0">
                                  <a:latin typeface="Cambria Math" panose="02040503050406030204" pitchFamily="18" charset="0"/>
                                </a:rPr>
                                <m:t>0</m:t>
                              </m:r>
                            </m:sub>
                          </m:sSub>
                        </m:den>
                      </m:f>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𝑛</m:t>
                          </m:r>
                        </m:sup>
                        <m:e>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1−</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e>
                          </m:d>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e>
                      </m:nary>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𝑛</m:t>
                              </m:r>
                            </m:e>
                            <m:sub>
                              <m:r>
                                <a:rPr lang="en-US" altLang="zh-CN" b="0" i="1" dirty="0" smtClean="0">
                                  <a:latin typeface="Cambria Math" panose="02040503050406030204" pitchFamily="18" charset="0"/>
                                </a:rPr>
                                <m:t>1</m:t>
                              </m:r>
                            </m:sub>
                          </m:sSub>
                        </m:den>
                      </m:f>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𝑛</m:t>
                          </m:r>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𝑋</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e>
                      </m:nary>
                      <m:r>
                        <a:rPr lang="en-US" altLang="zh-CN" b="0" i="1" dirty="0" smtClean="0">
                          <a:latin typeface="Cambria Math" panose="02040503050406030204" pitchFamily="18" charset="0"/>
                        </a:rPr>
                        <m:t>,</m:t>
                      </m:r>
                    </m:oMath>
                  </m:oMathPara>
                </a14:m>
                <a:endParaRPr lang="en-US" altLang="zh-CN" b="0" dirty="0"/>
              </a:p>
              <a:p>
                <a:pPr marL="457200" lvl="1" indent="0">
                  <a:lnSpc>
                    <a:spcPct val="120000"/>
                  </a:lnSpc>
                  <a:buNone/>
                </a:pPr>
                <a14:m>
                  <m:oMathPara xmlns:m="http://schemas.openxmlformats.org/officeDocument/2006/math">
                    <m:o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𝑋</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sub>
                        <m:sup>
                          <m:r>
                            <a:rPr lang="en-US" altLang="zh-CN" b="0" i="1" smtClean="0">
                              <a:latin typeface="Cambria Math" panose="02040503050406030204" pitchFamily="18" charset="0"/>
                            </a:rPr>
                            <m:t>2</m:t>
                          </m:r>
                        </m:sup>
                      </m:sSub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−1</m:t>
                          </m:r>
                        </m:den>
                      </m:f>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=0</m:t>
                          </m:r>
                        </m:sub>
                        <m:sup/>
                        <m:e>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𝑋</m:t>
                                          </m:r>
                                        </m:e>
                                      </m:acc>
                                    </m:e>
                                    <m:sub>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sub>
                                  </m:sSub>
                                </m:e>
                              </m:d>
                            </m:e>
                            <m:sup>
                              <m:r>
                                <a:rPr lang="en-US" altLang="zh-CN" b="0" i="1" smtClean="0">
                                  <a:latin typeface="Cambria Math" panose="02040503050406030204" pitchFamily="18" charset="0"/>
                                </a:rPr>
                                <m:t>2</m:t>
                              </m:r>
                            </m:sup>
                          </m:sSup>
                        </m:e>
                      </m:nary>
                      <m:r>
                        <a:rPr lang="en-US" altLang="zh-CN" b="0" i="1" smtClean="0">
                          <a:latin typeface="Cambria Math" panose="02040503050406030204" pitchFamily="18" charset="0"/>
                        </a:rPr>
                        <m:t>, </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 </m:t>
                          </m:r>
                          <m:r>
                            <a:rPr lang="en-US" altLang="zh-CN" i="1">
                              <a:latin typeface="Cambria Math" panose="02040503050406030204" pitchFamily="18" charset="0"/>
                            </a:rPr>
                            <m:t>𝑆</m:t>
                          </m:r>
                        </m:e>
                        <m:sub>
                          <m:r>
                            <a:rPr lang="en-US" altLang="zh-CN" i="1">
                              <a:latin typeface="Cambria Math" panose="02040503050406030204" pitchFamily="18" charset="0"/>
                            </a:rPr>
                            <m:t>𝑋</m:t>
                          </m:r>
                          <m:r>
                            <a:rPr lang="en-US" altLang="zh-CN" i="1">
                              <a:latin typeface="Cambria Math" panose="02040503050406030204" pitchFamily="18" charset="0"/>
                            </a:rPr>
                            <m:t>,</m:t>
                          </m:r>
                          <m:r>
                            <a:rPr lang="en-US" altLang="zh-CN" i="1">
                              <a:latin typeface="Cambria Math" panose="02040503050406030204" pitchFamily="18" charset="0"/>
                            </a:rPr>
                            <m:t>𝑐</m:t>
                          </m:r>
                          <m:r>
                            <a:rPr lang="en-US" altLang="zh-CN" i="1">
                              <a:latin typeface="Cambria Math" panose="02040503050406030204" pitchFamily="18" charset="0"/>
                            </a:rPr>
                            <m:t>,</m:t>
                          </m:r>
                          <m:r>
                            <a:rPr lang="en-US" altLang="zh-CN" i="1">
                              <a:latin typeface="Cambria Math" panose="02040503050406030204" pitchFamily="18" charset="0"/>
                            </a:rPr>
                            <m:t>𝑘</m:t>
                          </m:r>
                        </m:sub>
                        <m:sup>
                          <m:r>
                            <a:rPr lang="en-US" altLang="zh-CN" i="1">
                              <a:latin typeface="Cambria Math" panose="02040503050406030204" pitchFamily="18" charset="0"/>
                            </a:rPr>
                            <m:t>2</m:t>
                          </m:r>
                        </m:sup>
                      </m:sSubSup>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𝑛</m:t>
                              </m:r>
                            </m:e>
                            <m:sub>
                              <m:r>
                                <a:rPr lang="en-US" altLang="zh-CN" b="0" i="1" smtClean="0">
                                  <a:latin typeface="Cambria Math" panose="02040503050406030204" pitchFamily="18" charset="0"/>
                                </a:rPr>
                                <m:t>1</m:t>
                              </m:r>
                            </m:sub>
                          </m:sSub>
                          <m:r>
                            <a:rPr lang="en-US" altLang="zh-CN" i="1">
                              <a:latin typeface="Cambria Math" panose="02040503050406030204" pitchFamily="18" charset="0"/>
                            </a:rPr>
                            <m:t>−1</m:t>
                          </m:r>
                        </m:den>
                      </m:f>
                      <m:nary>
                        <m:naryPr>
                          <m:chr m:val="∑"/>
                          <m:supHide m:val="on"/>
                          <m:ctrlPr>
                            <a:rPr lang="en-US" altLang="zh-CN" i="1">
                              <a:latin typeface="Cambria Math" panose="02040503050406030204" pitchFamily="18" charset="0"/>
                            </a:rPr>
                          </m:ctrlPr>
                        </m:naryPr>
                        <m:sub>
                          <m:r>
                            <a:rPr lang="en-US" altLang="zh-CN" i="1">
                              <a:latin typeface="Cambria Math" panose="02040503050406030204" pitchFamily="18" charset="0"/>
                            </a:rPr>
                            <m:t>𝑖</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b="0" i="1" smtClean="0">
                              <a:latin typeface="Cambria Math" panose="02040503050406030204" pitchFamily="18" charset="0"/>
                            </a:rPr>
                            <m:t>1</m:t>
                          </m:r>
                        </m:sub>
                        <m:sup/>
                        <m:e>
                          <m:sSup>
                            <m:sSupPr>
                              <m:ctrlPr>
                                <a:rPr lang="en-US" altLang="zh-CN" i="1">
                                  <a:latin typeface="Cambria Math" panose="02040503050406030204" pitchFamily="18" charset="0"/>
                                </a:rPr>
                              </m:ctrlPr>
                            </m:sSup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𝑘</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𝑋</m:t>
                                          </m:r>
                                        </m:e>
                                      </m:acc>
                                    </m:e>
                                    <m:sub>
                                      <m:r>
                                        <a:rPr lang="en-US" altLang="zh-CN" b="0" i="1" smtClean="0">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𝑘</m:t>
                                      </m:r>
                                    </m:sub>
                                  </m:sSub>
                                </m:e>
                              </m:d>
                            </m:e>
                            <m:sup>
                              <m:r>
                                <a:rPr lang="en-US" altLang="zh-CN" i="1">
                                  <a:latin typeface="Cambria Math" panose="02040503050406030204" pitchFamily="18" charset="0"/>
                                </a:rPr>
                                <m:t>2</m:t>
                              </m:r>
                            </m:sup>
                          </m:sSup>
                        </m:e>
                      </m:nary>
                      <m:r>
                        <a:rPr lang="en-US" altLang="zh-CN" b="0" i="1" smtClean="0">
                          <a:latin typeface="Cambria Math" panose="02040503050406030204" pitchFamily="18" charset="0"/>
                        </a:rPr>
                        <m:t>.</m:t>
                      </m:r>
                    </m:oMath>
                  </m:oMathPara>
                </a14:m>
                <a:endParaRPr lang="en-US" altLang="zh-CN" dirty="0"/>
              </a:p>
              <a:p>
                <a:pPr lvl="1">
                  <a:lnSpc>
                    <a:spcPct val="120000"/>
                  </a:lnSpc>
                </a:pPr>
                <a:r>
                  <a:rPr lang="zh-CN" altLang="en-US" dirty="0"/>
                  <a:t>方差比</a:t>
                </a:r>
                <a:endParaRPr lang="en-US" altLang="zh-CN" dirty="0"/>
              </a:p>
              <a:p>
                <a:pPr marL="457200" lvl="1" indent="0" algn="ctr">
                  <a:lnSpc>
                    <a:spcPct val="120000"/>
                  </a:lnSpc>
                  <a:buNone/>
                </a:pPr>
                <a14:m>
                  <m:oMath xmlns:m="http://schemas.openxmlformats.org/officeDocument/2006/math">
                    <m:sSub>
                      <m:sSubPr>
                        <m:ctrlPr>
                          <a:rPr lang="el-GR" altLang="zh-CN" i="0" dirty="0" smtClean="0">
                            <a:latin typeface="Cambria Math" panose="02040503050406030204" pitchFamily="18" charset="0"/>
                          </a:rPr>
                        </m:ctrlPr>
                      </m:sSubPr>
                      <m:e>
                        <m:r>
                          <m:rPr>
                            <m:sty m:val="p"/>
                          </m:rPr>
                          <a:rPr lang="el-GR" altLang="zh-CN" i="0" dirty="0" smtClean="0">
                            <a:latin typeface="Cambria Math" panose="02040503050406030204" pitchFamily="18" charset="0"/>
                          </a:rPr>
                          <m:t>Γ</m:t>
                        </m:r>
                      </m:e>
                      <m:sub>
                        <m:r>
                          <a:rPr lang="zh-CN" altLang="el-GR" i="1" dirty="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r>
                      <a:rPr lang="en-US" altLang="zh-CN" b="0" i="1" dirty="0" smtClean="0">
                        <a:latin typeface="Cambria Math" panose="02040503050406030204" pitchFamily="18" charset="0"/>
                      </a:rPr>
                      <m:t>=</m:t>
                    </m:r>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𝑆</m:t>
                        </m:r>
                      </m:e>
                      <m:sub>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up>
                        <m:r>
                          <a:rPr lang="en-US" altLang="zh-CN" b="0" i="1" dirty="0" smtClean="0">
                            <a:latin typeface="Cambria Math" panose="02040503050406030204" pitchFamily="18" charset="0"/>
                          </a:rPr>
                          <m:t>2</m:t>
                        </m:r>
                      </m:sup>
                    </m:sSubSup>
                  </m:oMath>
                </a14:m>
                <a:r>
                  <a:rPr lang="en-US" altLang="zh-CN" dirty="0"/>
                  <a:t>/ </a:t>
                </a:r>
                <a14:m>
                  <m:oMath xmlns:m="http://schemas.openxmlformats.org/officeDocument/2006/math">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𝑆</m:t>
                        </m:r>
                      </m:e>
                      <m:sub>
                        <m:r>
                          <a:rPr lang="en-US" altLang="zh-CN" i="1" dirty="0">
                            <a:latin typeface="Cambria Math" panose="02040503050406030204" pitchFamily="18" charset="0"/>
                          </a:rPr>
                          <m:t>𝑋</m:t>
                        </m:r>
                        <m:r>
                          <a:rPr lang="en-US" altLang="zh-CN" i="1" dirty="0">
                            <a:latin typeface="Cambria Math" panose="02040503050406030204" pitchFamily="18" charset="0"/>
                          </a:rPr>
                          <m:t>,</m:t>
                        </m:r>
                        <m:r>
                          <m:rPr>
                            <m:sty m:val="p"/>
                          </m:rPr>
                          <a:rPr lang="en-US" altLang="zh-CN" i="1" dirty="0" smtClean="0">
                            <a:latin typeface="Cambria Math" panose="02040503050406030204" pitchFamily="18" charset="0"/>
                          </a:rPr>
                          <m:t>c</m:t>
                        </m:r>
                        <m:r>
                          <a:rPr lang="en-US" altLang="zh-CN" i="1" dirty="0">
                            <a:latin typeface="Cambria Math" panose="02040503050406030204" pitchFamily="18" charset="0"/>
                          </a:rPr>
                          <m:t>,</m:t>
                        </m:r>
                        <m:r>
                          <a:rPr lang="en-US" altLang="zh-CN" i="1" dirty="0">
                            <a:latin typeface="Cambria Math" panose="02040503050406030204" pitchFamily="18" charset="0"/>
                          </a:rPr>
                          <m:t>𝑘</m:t>
                        </m:r>
                      </m:sub>
                      <m:sup>
                        <m:r>
                          <a:rPr lang="en-US" altLang="zh-CN" i="1" dirty="0">
                            <a:latin typeface="Cambria Math" panose="02040503050406030204" pitchFamily="18" charset="0"/>
                          </a:rPr>
                          <m:t>2</m:t>
                        </m:r>
                      </m:sup>
                    </m:sSubSup>
                  </m:oMath>
                </a14:m>
                <a:endParaRPr lang="en-US" altLang="zh-CN" dirty="0"/>
              </a:p>
              <a:p>
                <a:pPr lvl="1">
                  <a:lnSpc>
                    <a:spcPct val="120000"/>
                  </a:lnSpc>
                </a:pPr>
                <a:r>
                  <a:rPr lang="en-US" altLang="zh-CN" dirty="0"/>
                  <a:t>Stata: </a:t>
                </a:r>
                <a:r>
                  <a:rPr lang="zh-CN" altLang="en-US" dirty="0"/>
                  <a:t>在</a:t>
                </a:r>
                <a:r>
                  <a:rPr lang="en-US" altLang="zh-CN" dirty="0" err="1"/>
                  <a:t>teffects</a:t>
                </a:r>
                <a:r>
                  <a:rPr lang="en-US" altLang="zh-CN" dirty="0"/>
                  <a:t> </a:t>
                </a:r>
                <a:r>
                  <a:rPr lang="zh-CN" altLang="en-US" dirty="0"/>
                  <a:t>之后使用</a:t>
                </a:r>
                <a:r>
                  <a:rPr lang="en-US" altLang="zh-CN" dirty="0" err="1"/>
                  <a:t>tebalance</a:t>
                </a:r>
                <a:r>
                  <a:rPr lang="zh-CN" altLang="en-US" dirty="0"/>
                  <a:t>，可以报告平衡性检验。</a:t>
                </a:r>
                <a:endParaRPr lang="en-US" altLang="zh-CN" dirty="0"/>
              </a:p>
              <a:p>
                <a:pPr>
                  <a:lnSpc>
                    <a:spcPct val="120000"/>
                  </a:lnSpc>
                </a:pPr>
                <a:endParaRPr lang="en-US" altLang="zh-CN" dirty="0"/>
              </a:p>
              <a:p>
                <a:pPr>
                  <a:lnSpc>
                    <a:spcPct val="120000"/>
                  </a:lnSpc>
                </a:pPr>
                <a:endParaRPr lang="en-US" altLang="zh-CN" dirty="0"/>
              </a:p>
              <a:p>
                <a:pPr>
                  <a:lnSpc>
                    <a:spcPct val="120000"/>
                  </a:lnSpc>
                </a:pPr>
                <a:endParaRPr lang="zh-CN" altLang="en-US" dirty="0"/>
              </a:p>
            </p:txBody>
          </p:sp>
        </mc:Choice>
        <mc:Fallback xmlns="">
          <p:sp>
            <p:nvSpPr>
              <p:cNvPr id="3" name="内容占位符 2">
                <a:extLst>
                  <a:ext uri="{FF2B5EF4-FFF2-40B4-BE49-F238E27FC236}">
                    <a16:creationId xmlns:a16="http://schemas.microsoft.com/office/drawing/2014/main" id="{389BDCCE-1F38-10F3-6701-86FBD1E3F938}"/>
                  </a:ext>
                </a:extLst>
              </p:cNvPr>
              <p:cNvSpPr>
                <a:spLocks noGrp="1" noRot="1" noChangeAspect="1" noMove="1" noResize="1" noEditPoints="1" noAdjustHandles="1" noChangeArrowheads="1" noChangeShapeType="1" noTextEdit="1"/>
              </p:cNvSpPr>
              <p:nvPr>
                <p:ph idx="1"/>
              </p:nvPr>
            </p:nvSpPr>
            <p:spPr>
              <a:blipFill>
                <a:blip r:embed="rId2"/>
                <a:stretch>
                  <a:fillRect l="-232" t="-2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4863B7B6-67C8-2CE3-3315-C2C0EDCABE5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0AA2146B-DB21-64A8-0F2E-9419B418C885}"/>
              </a:ext>
            </a:extLst>
          </p:cNvPr>
          <p:cNvSpPr>
            <a:spLocks noGrp="1"/>
          </p:cNvSpPr>
          <p:nvPr>
            <p:ph type="sldNum" sz="quarter" idx="12"/>
          </p:nvPr>
        </p:nvSpPr>
        <p:spPr/>
        <p:txBody>
          <a:bodyPr/>
          <a:lstStyle/>
          <a:p>
            <a:fld id="{D41FC515-8169-4A29-AA56-DBE520D5741B}" type="slidenum">
              <a:rPr lang="zh-CN" altLang="en-US" smtClean="0"/>
              <a:t>40</a:t>
            </a:fld>
            <a:endParaRPr lang="zh-CN" altLang="en-US"/>
          </a:p>
        </p:txBody>
      </p:sp>
    </p:spTree>
    <p:extLst>
      <p:ext uri="{BB962C8B-B14F-4D97-AF65-F5344CB8AC3E}">
        <p14:creationId xmlns:p14="http://schemas.microsoft.com/office/powerpoint/2010/main" val="26533930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1713CE-92F3-298B-4851-F0ED421EFC10}"/>
              </a:ext>
            </a:extLst>
          </p:cNvPr>
          <p:cNvSpPr>
            <a:spLocks noGrp="1"/>
          </p:cNvSpPr>
          <p:nvPr>
            <p:ph type="title"/>
          </p:nvPr>
        </p:nvSpPr>
        <p:spPr/>
        <p:txBody>
          <a:bodyPr/>
          <a:lstStyle/>
          <a:p>
            <a:r>
              <a:rPr lang="zh-CN" altLang="en-US" dirty="0"/>
              <a:t>匹配：核匹配估计量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A70D6E3-9BD7-6878-8DC0-431DD70F1613}"/>
                  </a:ext>
                </a:extLst>
              </p:cNvPr>
              <p:cNvSpPr>
                <a:spLocks noGrp="1"/>
              </p:cNvSpPr>
              <p:nvPr>
                <p:ph idx="1"/>
              </p:nvPr>
            </p:nvSpPr>
            <p:spPr/>
            <p:txBody>
              <a:bodyPr>
                <a:normAutofit fontScale="55000" lnSpcReduction="20000"/>
              </a:bodyPr>
              <a:lstStyle/>
              <a:p>
                <a:pPr>
                  <a:lnSpc>
                    <a:spcPct val="120000"/>
                  </a:lnSpc>
                </a:pPr>
                <a:r>
                  <a:rPr lang="en-US" altLang="zh-CN" dirty="0"/>
                  <a:t>Heckman et al. (1997, 1998) </a:t>
                </a:r>
                <a:r>
                  <a:rPr lang="zh-CN" altLang="en-US" dirty="0"/>
                  <a:t>提出核匹配估计量</a:t>
                </a:r>
                <a:endParaRPr lang="en-US" altLang="zh-CN" dirty="0"/>
              </a:p>
              <a:p>
                <a:pPr marL="0" indent="0">
                  <a:lnSpc>
                    <a:spcPct val="120000"/>
                  </a:lnSpc>
                  <a:buNone/>
                </a:pPr>
                <a14:m>
                  <m:oMathPara xmlns:m="http://schemas.openxmlformats.org/officeDocument/2006/math">
                    <m:o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𝑌</m:t>
                              </m:r>
                            </m:e>
                          </m:acc>
                        </m:e>
                        <m:sub>
                          <m:r>
                            <a:rPr lang="en-US" altLang="zh-CN" i="1" dirty="0">
                              <a:latin typeface="Cambria Math" panose="02040503050406030204" pitchFamily="18" charset="0"/>
                            </a:rPr>
                            <m:t>0</m:t>
                          </m:r>
                          <m:r>
                            <a:rPr lang="en-US" altLang="zh-CN" i="1" dirty="0">
                              <a:latin typeface="Cambria Math" panose="02040503050406030204" pitchFamily="18" charset="0"/>
                            </a:rPr>
                            <m:t>𝑖</m:t>
                          </m:r>
                        </m:sub>
                      </m:sSub>
                      <m:r>
                        <a:rPr lang="en-US" altLang="zh-CN" i="1" dirty="0">
                          <a:latin typeface="Cambria Math" panose="02040503050406030204" pitchFamily="18" charset="0"/>
                        </a:rPr>
                        <m:t>=</m:t>
                      </m:r>
                      <m:d>
                        <m:dPr>
                          <m:begChr m:val="{"/>
                          <m:endChr m:val=""/>
                          <m:ctrlPr>
                            <a:rPr lang="zh-CN" altLang="en-US" i="1" dirty="0">
                              <a:latin typeface="Cambria Math" panose="02040503050406030204" pitchFamily="18" charset="0"/>
                            </a:rPr>
                          </m:ctrlPr>
                        </m:dPr>
                        <m:e>
                          <m:eqArr>
                            <m:eqArrPr>
                              <m:ctrlPr>
                                <a:rPr lang="zh-CN" altLang="en-US" i="1" dirty="0">
                                  <a:latin typeface="Cambria Math" panose="02040503050406030204" pitchFamily="18" charset="0"/>
                                </a:rPr>
                              </m:ctrlPr>
                            </m:eqArrPr>
                            <m:e>
                              <m:m>
                                <m:mPr>
                                  <m:mcs>
                                    <m:mc>
                                      <m:mcPr>
                                        <m:count m:val="2"/>
                                        <m:mcJc m:val="center"/>
                                      </m:mcPr>
                                    </m:mc>
                                  </m:mcs>
                                  <m:ctrlPr>
                                    <a:rPr lang="zh-CN" altLang="en-US" i="1" dirty="0">
                                      <a:latin typeface="Cambria Math" panose="02040503050406030204" pitchFamily="18" charset="0"/>
                                    </a:rPr>
                                  </m:ctrlPr>
                                </m:mPr>
                                <m:mr>
                                  <m:e>
                                    <m:sSub>
                                      <m:sSubPr>
                                        <m:ctrlPr>
                                          <a:rPr lang="en-US" altLang="zh-CN" i="1" dirty="0">
                                            <a:latin typeface="Cambria Math" panose="02040503050406030204" pitchFamily="18" charset="0"/>
                                          </a:rPr>
                                        </m:ctrlPr>
                                      </m:sSubPr>
                                      <m:e>
                                        <m:r>
                                          <m:rPr>
                                            <m:brk m:alnAt="7"/>
                                          </m:rPr>
                                          <a:rPr lang="en-US" altLang="zh-CN" i="1" dirty="0">
                                            <a:latin typeface="Cambria Math" panose="02040503050406030204" pitchFamily="18" charset="0"/>
                                          </a:rPr>
                                          <m:t>𝑌</m:t>
                                        </m:r>
                                      </m:e>
                                      <m:sub>
                                        <m:r>
                                          <m:rPr>
                                            <m:brk m:alnAt="7"/>
                                          </m:rPr>
                                          <a:rPr lang="en-US" altLang="zh-CN" i="1" dirty="0">
                                            <a:latin typeface="Cambria Math" panose="02040503050406030204" pitchFamily="18" charset="0"/>
                                          </a:rPr>
                                          <m:t>𝑖</m:t>
                                        </m:r>
                                      </m:sub>
                                    </m:sSub>
                                    <m:r>
                                      <m:rPr>
                                        <m:brk m:alnAt="7"/>
                                      </m:rPr>
                                      <a:rPr lang="en-US" altLang="zh-CN" i="1" dirty="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b="0" i="1" dirty="0" smtClean="0">
                                        <a:latin typeface="Cambria Math" panose="02040503050406030204" pitchFamily="18" charset="0"/>
                                      </a:rPr>
                                      <m:t> </m:t>
                                    </m:r>
                                    <m:r>
                                      <m:rPr>
                                        <m:brk m:alnAt="7"/>
                                      </m:rPr>
                                      <a:rPr lang="en-US" altLang="zh-CN" i="1" dirty="0">
                                        <a:latin typeface="Cambria Math" panose="02040503050406030204" pitchFamily="18" charset="0"/>
                                      </a:rPr>
                                      <m:t> </m:t>
                                    </m:r>
                                    <m:r>
                                      <m:rPr>
                                        <m:brk m:alnAt="7"/>
                                      </m:rPr>
                                      <a:rPr lang="en-US" altLang="zh-CN" i="1" dirty="0">
                                        <a:latin typeface="Cambria Math" panose="02040503050406030204" pitchFamily="18" charset="0"/>
                                      </a:rPr>
                                      <m:t> </m:t>
                                    </m:r>
                                    <m:r>
                                      <m:rPr>
                                        <m:brk m:alnAt="7"/>
                                      </m:rPr>
                                      <a:rPr lang="en-US" altLang="zh-CN" i="1" dirty="0">
                                        <a:latin typeface="Cambria Math" panose="02040503050406030204" pitchFamily="18" charset="0"/>
                                      </a:rPr>
                                      <m:t> </m:t>
                                    </m:r>
                                    <m:r>
                                      <m:rPr>
                                        <m:brk m:alnAt="7"/>
                                      </m:rPr>
                                      <a:rPr lang="en-US" altLang="zh-CN" i="1" dirty="0">
                                        <a:latin typeface="Cambria Math" panose="02040503050406030204" pitchFamily="18" charset="0"/>
                                      </a:rPr>
                                      <m:t> </m:t>
                                    </m:r>
                                    <m:r>
                                      <m:rPr>
                                        <m:brk m:alnAt="7"/>
                                      </m:rPr>
                                      <a:rPr lang="en-US" altLang="zh-CN" i="1" dirty="0">
                                        <a:latin typeface="Cambria Math" panose="02040503050406030204" pitchFamily="18" charset="0"/>
                                      </a:rPr>
                                      <m:t> </m:t>
                                    </m:r>
                                    <m:r>
                                      <m:rPr>
                                        <m:brk m:alnAt="7"/>
                                      </m:rPr>
                                      <a:rPr lang="en-US" altLang="zh-CN" i="1" dirty="0">
                                        <a:latin typeface="Cambria Math" panose="02040503050406030204" pitchFamily="18" charset="0"/>
                                      </a:rPr>
                                      <m:t> </m:t>
                                    </m:r>
                                    <m:r>
                                      <m:rPr>
                                        <m:brk m:alnAt="7"/>
                                      </m:rPr>
                                      <a:rPr lang="en-US" altLang="zh-CN" i="1" dirty="0">
                                        <a:latin typeface="Cambria Math" panose="02040503050406030204" pitchFamily="18" charset="0"/>
                                      </a:rPr>
                                      <m:t> </m:t>
                                    </m:r>
                                    <m:r>
                                      <m:rPr>
                                        <m:brk m:alnAt="7"/>
                                      </m:rPr>
                                      <a:rPr lang="en-US" altLang="zh-CN" i="1" dirty="0">
                                        <a:latin typeface="Cambria Math" panose="02040503050406030204" pitchFamily="18" charset="0"/>
                                      </a:rPr>
                                      <m:t> </m:t>
                                    </m:r>
                                  </m:e>
                                  <m:e>
                                    <m:r>
                                      <a:rPr lang="zh-CN" altLang="en-US" i="1" dirty="0">
                                        <a:latin typeface="Cambria Math" panose="02040503050406030204" pitchFamily="18" charset="0"/>
                                      </a:rPr>
                                      <m:t>如果</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=0,</m:t>
                                    </m:r>
                                  </m:e>
                                </m:mr>
                              </m:m>
                            </m:e>
                            <m:e>
                              <m:m>
                                <m:mPr>
                                  <m:mcs>
                                    <m:mc>
                                      <m:mcPr>
                                        <m:count m:val="2"/>
                                        <m:mcJc m:val="center"/>
                                      </m:mcPr>
                                    </m:mc>
                                  </m:mcs>
                                  <m:ctrlPr>
                                    <a:rPr lang="zh-CN" altLang="en-US" i="1" dirty="0">
                                      <a:latin typeface="Cambria Math" panose="02040503050406030204" pitchFamily="18" charset="0"/>
                                    </a:rPr>
                                  </m:ctrlPr>
                                </m:mPr>
                                <m:mr>
                                  <m:e>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𝑚</m:t>
                                        </m:r>
                                      </m:e>
                                      <m:sub>
                                        <m:r>
                                          <m:rPr>
                                            <m:brk m:alnAt="7"/>
                                          </m:rPr>
                                          <a:rPr lang="en-US" altLang="zh-CN" b="0" i="1" dirty="0" smtClean="0">
                                            <a:latin typeface="Cambria Math" panose="02040503050406030204" pitchFamily="18" charset="0"/>
                                          </a:rPr>
                                          <m:t>𝑐</m:t>
                                        </m:r>
                                      </m:sub>
                                    </m:sSub>
                                    <m:r>
                                      <m:rPr>
                                        <m:brk m:alnAt="7"/>
                                      </m:rP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𝑋</m:t>
                                        </m:r>
                                      </m:e>
                                      <m:sub>
                                        <m:r>
                                          <m:rPr>
                                            <m:brk m:alnAt="7"/>
                                          </m:rPr>
                                          <a:rPr lang="en-US" altLang="zh-CN" b="0" i="1" dirty="0" smtClean="0">
                                            <a:latin typeface="Cambria Math" panose="02040503050406030204" pitchFamily="18" charset="0"/>
                                          </a:rPr>
                                          <m:t>𝑖</m:t>
                                        </m:r>
                                      </m:sub>
                                    </m:sSub>
                                    <m:r>
                                      <m:rPr>
                                        <m:brk m:alnAt="7"/>
                                      </m:rPr>
                                      <a:rPr lang="en-US" altLang="zh-CN" b="0" i="1" dirty="0" smtClean="0">
                                        <a:latin typeface="Cambria Math" panose="02040503050406030204" pitchFamily="18" charset="0"/>
                                      </a:rPr>
                                      <m:t>)</m:t>
                                    </m:r>
                                  </m:e>
                                  <m:e>
                                    <m:r>
                                      <a:rPr lang="zh-CN" altLang="en-US" i="1" dirty="0">
                                        <a:latin typeface="Cambria Math" panose="02040503050406030204" pitchFamily="18" charset="0"/>
                                      </a:rPr>
                                      <m:t>如果</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=1,</m:t>
                                    </m:r>
                                  </m:e>
                                </m:mr>
                              </m:m>
                            </m:e>
                          </m:eqArr>
                        </m:e>
                      </m:d>
                    </m:oMath>
                  </m:oMathPara>
                </a14:m>
                <a:endParaRPr lang="en-US" altLang="zh-CN" dirty="0"/>
              </a:p>
              <a:p>
                <a:pPr marL="0" indent="0">
                  <a:lnSpc>
                    <a:spcPct val="120000"/>
                  </a:lnSpc>
                  <a:buNone/>
                </a:pPr>
                <a14:m>
                  <m:oMathPara xmlns:m="http://schemas.openxmlformats.org/officeDocument/2006/math">
                    <m:o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𝑌</m:t>
                              </m:r>
                            </m:e>
                          </m:acc>
                        </m:e>
                        <m:sub>
                          <m:r>
                            <a:rPr lang="en-US" altLang="zh-CN" i="1" dirty="0">
                              <a:latin typeface="Cambria Math" panose="02040503050406030204" pitchFamily="18" charset="0"/>
                            </a:rPr>
                            <m:t>1</m:t>
                          </m:r>
                          <m:r>
                            <a:rPr lang="en-US" altLang="zh-CN" i="1" dirty="0">
                              <a:latin typeface="Cambria Math" panose="02040503050406030204" pitchFamily="18" charset="0"/>
                            </a:rPr>
                            <m:t>𝑖</m:t>
                          </m:r>
                        </m:sub>
                      </m:sSub>
                      <m:r>
                        <a:rPr lang="en-US" altLang="zh-CN" i="1" dirty="0">
                          <a:latin typeface="Cambria Math" panose="02040503050406030204" pitchFamily="18" charset="0"/>
                        </a:rPr>
                        <m:t>=</m:t>
                      </m:r>
                      <m:d>
                        <m:dPr>
                          <m:begChr m:val="{"/>
                          <m:endChr m:val=""/>
                          <m:ctrlPr>
                            <a:rPr lang="zh-CN" altLang="en-US" i="1" dirty="0">
                              <a:latin typeface="Cambria Math" panose="02040503050406030204" pitchFamily="18" charset="0"/>
                            </a:rPr>
                          </m:ctrlPr>
                        </m:dPr>
                        <m:e>
                          <m:eqArr>
                            <m:eqArrPr>
                              <m:ctrlPr>
                                <a:rPr lang="zh-CN" altLang="en-US" i="1" dirty="0">
                                  <a:latin typeface="Cambria Math" panose="02040503050406030204" pitchFamily="18" charset="0"/>
                                </a:rPr>
                              </m:ctrlPr>
                            </m:eqArrPr>
                            <m:e>
                              <m:m>
                                <m:mPr>
                                  <m:mcs>
                                    <m:mc>
                                      <m:mcPr>
                                        <m:count m:val="2"/>
                                        <m:mcJc m:val="center"/>
                                      </m:mcPr>
                                    </m:mc>
                                  </m:mcs>
                                  <m:ctrlPr>
                                    <a:rPr lang="zh-CN" altLang="en-US" i="1" dirty="0" smtClean="0">
                                      <a:latin typeface="Cambria Math" panose="02040503050406030204" pitchFamily="18" charset="0"/>
                                    </a:rPr>
                                  </m:ctrlPr>
                                </m:mPr>
                                <m:mr>
                                  <m:e>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𝑚</m:t>
                                        </m:r>
                                      </m:e>
                                      <m:sub>
                                        <m:r>
                                          <m:rPr>
                                            <m:brk m:alnAt="7"/>
                                          </m:rPr>
                                          <a:rPr lang="en-US" altLang="zh-CN" b="0" i="1" dirty="0" smtClean="0">
                                            <a:latin typeface="Cambria Math" panose="02040503050406030204" pitchFamily="18" charset="0"/>
                                          </a:rPr>
                                          <m:t>𝑡</m:t>
                                        </m:r>
                                      </m:sub>
                                    </m:sSub>
                                    <m:r>
                                      <m:rPr>
                                        <m:brk m:alnAt="7"/>
                                      </m:rP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𝑋</m:t>
                                        </m:r>
                                      </m:e>
                                      <m:sub>
                                        <m:r>
                                          <m:rPr>
                                            <m:brk m:alnAt="7"/>
                                          </m:rPr>
                                          <a:rPr lang="en-US" altLang="zh-CN" b="0" i="1" dirty="0" smtClean="0">
                                            <a:latin typeface="Cambria Math" panose="02040503050406030204" pitchFamily="18" charset="0"/>
                                          </a:rPr>
                                          <m:t>𝑖</m:t>
                                        </m:r>
                                      </m:sub>
                                    </m:sSub>
                                    <m:r>
                                      <m:rPr>
                                        <m:brk m:alnAt="7"/>
                                      </m:rPr>
                                      <a:rPr lang="en-US" altLang="zh-CN" b="0" i="1" dirty="0" smtClean="0">
                                        <a:latin typeface="Cambria Math" panose="02040503050406030204" pitchFamily="18" charset="0"/>
                                      </a:rPr>
                                      <m:t>)</m:t>
                                    </m:r>
                                  </m:e>
                                  <m:e>
                                    <m:r>
                                      <a:rPr lang="zh-CN" altLang="en-US" i="1" dirty="0">
                                        <a:latin typeface="Cambria Math" panose="02040503050406030204" pitchFamily="18" charset="0"/>
                                      </a:rPr>
                                      <m:t>如果</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=0,</m:t>
                                    </m:r>
                                  </m:e>
                                </m:mr>
                              </m:m>
                            </m:e>
                            <m:e>
                              <m:m>
                                <m:mPr>
                                  <m:mcs>
                                    <m:mc>
                                      <m:mcPr>
                                        <m:count m:val="2"/>
                                        <m:mcJc m:val="center"/>
                                      </m:mcPr>
                                    </m:mc>
                                  </m:mcs>
                                  <m:ctrlPr>
                                    <a:rPr lang="zh-CN" altLang="en-US" i="1" dirty="0">
                                      <a:latin typeface="Cambria Math" panose="02040503050406030204" pitchFamily="18" charset="0"/>
                                    </a:rPr>
                                  </m:ctrlPr>
                                </m:mPr>
                                <m:mr>
                                  <m:e>
                                    <m:sSub>
                                      <m:sSubPr>
                                        <m:ctrlPr>
                                          <a:rPr lang="en-US" altLang="zh-CN" i="1" dirty="0">
                                            <a:latin typeface="Cambria Math" panose="02040503050406030204" pitchFamily="18" charset="0"/>
                                          </a:rPr>
                                        </m:ctrlPr>
                                      </m:sSubPr>
                                      <m:e>
                                        <m:r>
                                          <m:rPr>
                                            <m:brk m:alnAt="7"/>
                                          </m:rPr>
                                          <a:rPr lang="en-US" altLang="zh-CN" i="1" dirty="0">
                                            <a:latin typeface="Cambria Math" panose="02040503050406030204" pitchFamily="18" charset="0"/>
                                          </a:rPr>
                                          <m:t>𝑌</m:t>
                                        </m:r>
                                      </m:e>
                                      <m:sub>
                                        <m:r>
                                          <m:rPr>
                                            <m:brk m:alnAt="7"/>
                                          </m:rPr>
                                          <a:rPr lang="en-US" altLang="zh-CN" i="1" dirty="0">
                                            <a:latin typeface="Cambria Math" panose="02040503050406030204" pitchFamily="18" charset="0"/>
                                          </a:rPr>
                                          <m:t>𝑖</m:t>
                                        </m:r>
                                      </m:sub>
                                    </m:sSub>
                                    <m:r>
                                      <a:rPr lang="en-US" altLang="zh-CN" i="1" dirty="0">
                                        <a:latin typeface="Cambria Math" panose="02040503050406030204" pitchFamily="18" charset="0"/>
                                      </a:rPr>
                                      <m:t>  </m:t>
                                    </m:r>
                                    <m:r>
                                      <a:rPr lang="en-US" altLang="zh-CN" b="0" i="1" dirty="0" smtClean="0">
                                        <a:latin typeface="Cambria Math" panose="02040503050406030204" pitchFamily="18" charset="0"/>
                                      </a:rPr>
                                      <m:t>  </m:t>
                                    </m:r>
                                    <m:r>
                                      <a:rPr lang="en-US" altLang="zh-CN" i="1" dirty="0">
                                        <a:latin typeface="Cambria Math" panose="02040503050406030204" pitchFamily="18" charset="0"/>
                                      </a:rPr>
                                      <m:t>     </m:t>
                                    </m:r>
                                  </m:e>
                                  <m:e>
                                    <m:r>
                                      <a:rPr lang="zh-CN" altLang="en-US" i="1" dirty="0">
                                        <a:latin typeface="Cambria Math" panose="02040503050406030204" pitchFamily="18" charset="0"/>
                                      </a:rPr>
                                      <m:t>如果</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=1,</m:t>
                                    </m:r>
                                  </m:e>
                                </m:mr>
                              </m:m>
                            </m:e>
                          </m:eqArr>
                        </m:e>
                      </m:d>
                    </m:oMath>
                  </m:oMathPara>
                </a14:m>
                <a:endParaRPr lang="en-US" altLang="zh-CN" dirty="0"/>
              </a:p>
              <a:p>
                <a:pPr>
                  <a:lnSpc>
                    <a:spcPct val="120000"/>
                  </a:lnSpc>
                </a:pPr>
                <a:r>
                  <a:rPr lang="zh-CN" altLang="en-US" dirty="0"/>
                  <a:t>其中</a:t>
                </a:r>
                <a:endParaRPr lang="en-US" altLang="zh-CN" dirty="0"/>
              </a:p>
              <a:p>
                <a:pPr marL="0" indent="0">
                  <a:lnSpc>
                    <a:spcPct val="120000"/>
                  </a:lnSpc>
                  <a:buNone/>
                </a:pPr>
                <a14:m>
                  <m:oMathPara xmlns:m="http://schemas.openxmlformats.org/officeDocument/2006/math">
                    <m:o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𝑐</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nary>
                            <m:naryPr>
                              <m:chr m:val="∑"/>
                              <m:supHide m:val="on"/>
                              <m:ctrlPr>
                                <a:rPr lang="en-US" altLang="zh-CN" i="1">
                                  <a:latin typeface="Cambria Math" panose="02040503050406030204" pitchFamily="18" charset="0"/>
                                </a:rPr>
                              </m:ctrlPr>
                            </m:naryPr>
                            <m:sub>
                              <m:r>
                                <a:rPr lang="en-US" altLang="zh-CN" i="1">
                                  <a:latin typeface="Cambria Math" panose="02040503050406030204" pitchFamily="18" charset="0"/>
                                </a:rPr>
                                <m:t>𝑗</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=0</m:t>
                              </m:r>
                            </m:sub>
                            <m:sup/>
                            <m:e>
                              <m:r>
                                <a:rPr lang="en-US" altLang="zh-CN" i="1">
                                  <a:latin typeface="Cambria Math" panose="02040503050406030204" pitchFamily="18" charset="0"/>
                                </a:rPr>
                                <m:t>𝐾</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𝑗</m:t>
                                              </m:r>
                                            </m:sub>
                                          </m:sSub>
                                          <m:r>
                                            <a:rPr lang="en-US" altLang="zh-CN" i="1">
                                              <a:latin typeface="Cambria Math" panose="02040503050406030204" pitchFamily="18" charset="0"/>
                                            </a:rPr>
                                            <m:t>−</m:t>
                                          </m:r>
                                          <m:r>
                                            <a:rPr lang="en-US" altLang="zh-CN" i="1">
                                              <a:latin typeface="Cambria Math" panose="02040503050406030204" pitchFamily="18" charset="0"/>
                                            </a:rPr>
                                            <m:t>𝑋</m:t>
                                          </m:r>
                                        </m:e>
                                        <m:sub>
                                          <m:r>
                                            <a:rPr lang="en-US" altLang="zh-CN" i="1">
                                              <a:latin typeface="Cambria Math" panose="02040503050406030204" pitchFamily="18" charset="0"/>
                                            </a:rPr>
                                            <m:t>𝑖</m:t>
                                          </m:r>
                                        </m:sub>
                                      </m:sSub>
                                    </m:num>
                                    <m:den>
                                      <m:r>
                                        <a:rPr lang="en-US" altLang="zh-CN" i="1">
                                          <a:latin typeface="Cambria Math" panose="02040503050406030204" pitchFamily="18" charset="0"/>
                                        </a:rPr>
                                        <m:t>ℎ</m:t>
                                      </m:r>
                                    </m:den>
                                  </m:f>
                                </m:e>
                              </m:d>
                            </m:e>
                          </m:nary>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𝑗</m:t>
                              </m:r>
                            </m:sub>
                          </m:sSub>
                        </m:num>
                        <m:den>
                          <m:nary>
                            <m:naryPr>
                              <m:chr m:val="∑"/>
                              <m:supHide m:val="on"/>
                              <m:ctrlPr>
                                <a:rPr lang="en-US" altLang="zh-CN" i="1">
                                  <a:latin typeface="Cambria Math" panose="02040503050406030204" pitchFamily="18" charset="0"/>
                                </a:rPr>
                              </m:ctrlPr>
                            </m:naryPr>
                            <m:sub>
                              <m:r>
                                <a:rPr lang="en-US" altLang="zh-CN" i="1">
                                  <a:latin typeface="Cambria Math" panose="02040503050406030204" pitchFamily="18" charset="0"/>
                                </a:rPr>
                                <m:t>𝑗</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=0</m:t>
                              </m:r>
                            </m:sub>
                            <m:sup/>
                            <m:e>
                              <m:r>
                                <a:rPr lang="en-US" altLang="zh-CN" i="1">
                                  <a:latin typeface="Cambria Math" panose="02040503050406030204" pitchFamily="18" charset="0"/>
                                </a:rPr>
                                <m:t>𝐾</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𝑗</m:t>
                                              </m:r>
                                            </m:sub>
                                          </m:sSub>
                                          <m:r>
                                            <a:rPr lang="en-US" altLang="zh-CN" i="1">
                                              <a:latin typeface="Cambria Math" panose="02040503050406030204" pitchFamily="18" charset="0"/>
                                            </a:rPr>
                                            <m:t>−</m:t>
                                          </m:r>
                                          <m:r>
                                            <a:rPr lang="en-US" altLang="zh-CN" i="1">
                                              <a:latin typeface="Cambria Math" panose="02040503050406030204" pitchFamily="18" charset="0"/>
                                            </a:rPr>
                                            <m:t>𝑋</m:t>
                                          </m:r>
                                        </m:e>
                                        <m:sub>
                                          <m:r>
                                            <a:rPr lang="en-US" altLang="zh-CN" i="1">
                                              <a:latin typeface="Cambria Math" panose="02040503050406030204" pitchFamily="18" charset="0"/>
                                            </a:rPr>
                                            <m:t>𝑖</m:t>
                                          </m:r>
                                        </m:sub>
                                      </m:sSub>
                                    </m:num>
                                    <m:den>
                                      <m:r>
                                        <a:rPr lang="en-US" altLang="zh-CN" i="1">
                                          <a:latin typeface="Cambria Math" panose="02040503050406030204" pitchFamily="18" charset="0"/>
                                        </a:rPr>
                                        <m:t>ℎ</m:t>
                                      </m:r>
                                    </m:den>
                                  </m:f>
                                </m:e>
                              </m:d>
                            </m:e>
                          </m:nary>
                        </m:den>
                      </m:f>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𝑚</m:t>
                          </m:r>
                        </m:e>
                        <m:sub>
                          <m:r>
                            <a:rPr lang="en-US" altLang="zh-CN" b="0" i="1" smtClean="0">
                              <a:latin typeface="Cambria Math" panose="02040503050406030204" pitchFamily="18" charset="0"/>
                            </a:rPr>
                            <m:t>𝑡</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sub>
                          </m:sSub>
                        </m:e>
                      </m:d>
                      <m:r>
                        <a:rPr lang="en-US" altLang="zh-CN" i="1">
                          <a:latin typeface="Cambria Math" panose="02040503050406030204" pitchFamily="18" charset="0"/>
                        </a:rPr>
                        <m:t>=</m:t>
                      </m:r>
                      <m:f>
                        <m:fPr>
                          <m:ctrlPr>
                            <a:rPr lang="en-US" altLang="zh-CN" i="1">
                              <a:latin typeface="Cambria Math" panose="02040503050406030204" pitchFamily="18" charset="0"/>
                            </a:rPr>
                          </m:ctrlPr>
                        </m:fPr>
                        <m:num>
                          <m:nary>
                            <m:naryPr>
                              <m:chr m:val="∑"/>
                              <m:supHide m:val="on"/>
                              <m:ctrlPr>
                                <a:rPr lang="en-US" altLang="zh-CN" i="1">
                                  <a:latin typeface="Cambria Math" panose="02040503050406030204" pitchFamily="18" charset="0"/>
                                </a:rPr>
                              </m:ctrlPr>
                            </m:naryPr>
                            <m:sub>
                              <m:r>
                                <a:rPr lang="en-US" altLang="zh-CN" i="1">
                                  <a:latin typeface="Cambria Math" panose="02040503050406030204" pitchFamily="18" charset="0"/>
                                </a:rPr>
                                <m:t>𝑗</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b="0" i="1" smtClean="0">
                                  <a:latin typeface="Cambria Math" panose="02040503050406030204" pitchFamily="18" charset="0"/>
                                </a:rPr>
                                <m:t>1</m:t>
                              </m:r>
                            </m:sub>
                            <m:sup/>
                            <m:e>
                              <m:r>
                                <a:rPr lang="en-US" altLang="zh-CN" i="1">
                                  <a:latin typeface="Cambria Math" panose="02040503050406030204" pitchFamily="18" charset="0"/>
                                </a:rPr>
                                <m:t>𝐾</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𝑗</m:t>
                                              </m:r>
                                            </m:sub>
                                          </m:sSub>
                                          <m:r>
                                            <a:rPr lang="en-US" altLang="zh-CN" i="1">
                                              <a:latin typeface="Cambria Math" panose="02040503050406030204" pitchFamily="18" charset="0"/>
                                            </a:rPr>
                                            <m:t>−</m:t>
                                          </m:r>
                                          <m:r>
                                            <a:rPr lang="en-US" altLang="zh-CN" i="1">
                                              <a:latin typeface="Cambria Math" panose="02040503050406030204" pitchFamily="18" charset="0"/>
                                            </a:rPr>
                                            <m:t>𝑋</m:t>
                                          </m:r>
                                        </m:e>
                                        <m:sub>
                                          <m:r>
                                            <a:rPr lang="en-US" altLang="zh-CN" i="1">
                                              <a:latin typeface="Cambria Math" panose="02040503050406030204" pitchFamily="18" charset="0"/>
                                            </a:rPr>
                                            <m:t>𝑖</m:t>
                                          </m:r>
                                        </m:sub>
                                      </m:sSub>
                                    </m:num>
                                    <m:den>
                                      <m:r>
                                        <a:rPr lang="en-US" altLang="zh-CN" i="1">
                                          <a:latin typeface="Cambria Math" panose="02040503050406030204" pitchFamily="18" charset="0"/>
                                        </a:rPr>
                                        <m:t>ℎ</m:t>
                                      </m:r>
                                    </m:den>
                                  </m:f>
                                </m:e>
                              </m:d>
                            </m:e>
                          </m:nary>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𝑗</m:t>
                              </m:r>
                            </m:sub>
                          </m:sSub>
                        </m:num>
                        <m:den>
                          <m:nary>
                            <m:naryPr>
                              <m:chr m:val="∑"/>
                              <m:supHide m:val="on"/>
                              <m:ctrlPr>
                                <a:rPr lang="en-US" altLang="zh-CN" i="1">
                                  <a:latin typeface="Cambria Math" panose="02040503050406030204" pitchFamily="18" charset="0"/>
                                </a:rPr>
                              </m:ctrlPr>
                            </m:naryPr>
                            <m:sub>
                              <m:r>
                                <a:rPr lang="en-US" altLang="zh-CN" i="1">
                                  <a:latin typeface="Cambria Math" panose="02040503050406030204" pitchFamily="18" charset="0"/>
                                </a:rPr>
                                <m:t>𝑗</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𝐷</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b="0" i="1" smtClean="0">
                                  <a:latin typeface="Cambria Math" panose="02040503050406030204" pitchFamily="18" charset="0"/>
                                </a:rPr>
                                <m:t>1</m:t>
                              </m:r>
                            </m:sub>
                            <m:sup/>
                            <m:e>
                              <m:r>
                                <a:rPr lang="en-US" altLang="zh-CN" i="1">
                                  <a:latin typeface="Cambria Math" panose="02040503050406030204" pitchFamily="18" charset="0"/>
                                </a:rPr>
                                <m:t>𝐾</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𝑗</m:t>
                                              </m:r>
                                            </m:sub>
                                          </m:sSub>
                                          <m:r>
                                            <a:rPr lang="en-US" altLang="zh-CN" i="1">
                                              <a:latin typeface="Cambria Math" panose="02040503050406030204" pitchFamily="18" charset="0"/>
                                            </a:rPr>
                                            <m:t>−</m:t>
                                          </m:r>
                                          <m:r>
                                            <a:rPr lang="en-US" altLang="zh-CN" i="1">
                                              <a:latin typeface="Cambria Math" panose="02040503050406030204" pitchFamily="18" charset="0"/>
                                            </a:rPr>
                                            <m:t>𝑋</m:t>
                                          </m:r>
                                        </m:e>
                                        <m:sub>
                                          <m:r>
                                            <a:rPr lang="en-US" altLang="zh-CN" i="1">
                                              <a:latin typeface="Cambria Math" panose="02040503050406030204" pitchFamily="18" charset="0"/>
                                            </a:rPr>
                                            <m:t>𝑖</m:t>
                                          </m:r>
                                        </m:sub>
                                      </m:sSub>
                                    </m:num>
                                    <m:den>
                                      <m:r>
                                        <a:rPr lang="en-US" altLang="zh-CN" i="1">
                                          <a:latin typeface="Cambria Math" panose="02040503050406030204" pitchFamily="18" charset="0"/>
                                        </a:rPr>
                                        <m:t>ℎ</m:t>
                                      </m:r>
                                    </m:den>
                                  </m:f>
                                </m:e>
                              </m:d>
                            </m:e>
                          </m:nary>
                        </m:den>
                      </m:f>
                    </m:oMath>
                  </m:oMathPara>
                </a14:m>
                <a:endParaRPr lang="en-US" altLang="zh-CN" dirty="0"/>
              </a:p>
              <a:p>
                <a:pPr>
                  <a:lnSpc>
                    <a:spcPct val="120000"/>
                  </a:lnSpc>
                </a:pPr>
                <a:r>
                  <a:rPr lang="en-US" altLang="zh-CN" dirty="0"/>
                  <a:t>Heckman et al. (1997, 1998) </a:t>
                </a:r>
                <a:r>
                  <a:rPr lang="zh-CN" altLang="en-US" dirty="0"/>
                  <a:t>还提出了局部线性匹配估计量，即上式中用局部线性估计量替代</a:t>
                </a:r>
                <a:r>
                  <a:rPr lang="en-US" altLang="zh-CN" dirty="0"/>
                  <a:t>NW </a:t>
                </a:r>
                <a:r>
                  <a:rPr lang="zh-CN" altLang="en-US" dirty="0"/>
                  <a:t>估计量。</a:t>
                </a:r>
                <a:endParaRPr lang="en-US" altLang="zh-CN" dirty="0"/>
              </a:p>
              <a:p>
                <a:pPr>
                  <a:lnSpc>
                    <a:spcPct val="120000"/>
                  </a:lnSpc>
                </a:pPr>
                <a:r>
                  <a:rPr lang="zh-CN" altLang="en-US" dirty="0"/>
                  <a:t>关于核匹配估计量和局部线性匹配估计量的大样性质，在</a:t>
                </a:r>
                <a:r>
                  <a:rPr lang="en-US" altLang="zh-CN" dirty="0"/>
                  <a:t>Heckman et al.(1998) </a:t>
                </a:r>
                <a:r>
                  <a:rPr lang="zh-CN" altLang="en-US" dirty="0"/>
                  <a:t>有详细介绍。</a:t>
                </a:r>
                <a:endParaRPr lang="en-US" altLang="zh-CN" dirty="0"/>
              </a:p>
              <a:p>
                <a:pPr>
                  <a:lnSpc>
                    <a:spcPct val="120000"/>
                  </a:lnSpc>
                </a:pPr>
                <a:endParaRPr lang="zh-CN" altLang="en-US" dirty="0"/>
              </a:p>
            </p:txBody>
          </p:sp>
        </mc:Choice>
        <mc:Fallback xmlns="">
          <p:sp>
            <p:nvSpPr>
              <p:cNvPr id="3" name="内容占位符 2">
                <a:extLst>
                  <a:ext uri="{FF2B5EF4-FFF2-40B4-BE49-F238E27FC236}">
                    <a16:creationId xmlns:a16="http://schemas.microsoft.com/office/drawing/2014/main" id="{5A70D6E3-9BD7-6878-8DC0-431DD70F1613}"/>
                  </a:ext>
                </a:extLst>
              </p:cNvPr>
              <p:cNvSpPr>
                <a:spLocks noGrp="1" noRot="1" noChangeAspect="1" noMove="1" noResize="1" noEditPoints="1" noAdjustHandles="1" noChangeArrowheads="1" noChangeShapeType="1" noTextEdit="1"/>
              </p:cNvSpPr>
              <p:nvPr>
                <p:ph idx="1"/>
              </p:nvPr>
            </p:nvSpPr>
            <p:spPr>
              <a:blipFill>
                <a:blip r:embed="rId2"/>
                <a:stretch>
                  <a:fillRect l="-232" t="-280" r="-200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617A10C-B4EF-3437-93B5-F747104634B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37E00B8-ED98-2B7E-FDF6-8900FA85F7B2}"/>
              </a:ext>
            </a:extLst>
          </p:cNvPr>
          <p:cNvSpPr>
            <a:spLocks noGrp="1"/>
          </p:cNvSpPr>
          <p:nvPr>
            <p:ph type="sldNum" sz="quarter" idx="12"/>
          </p:nvPr>
        </p:nvSpPr>
        <p:spPr/>
        <p:txBody>
          <a:bodyPr/>
          <a:lstStyle/>
          <a:p>
            <a:fld id="{D41FC515-8169-4A29-AA56-DBE520D5741B}" type="slidenum">
              <a:rPr lang="zh-CN" altLang="en-US" smtClean="0"/>
              <a:t>41</a:t>
            </a:fld>
            <a:endParaRPr lang="zh-CN" altLang="en-US" dirty="0"/>
          </a:p>
        </p:txBody>
      </p:sp>
    </p:spTree>
    <p:extLst>
      <p:ext uri="{BB962C8B-B14F-4D97-AF65-F5344CB8AC3E}">
        <p14:creationId xmlns:p14="http://schemas.microsoft.com/office/powerpoint/2010/main" val="36371482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018F5F-919F-B5EF-41D0-A8EE86FCA0EB}"/>
              </a:ext>
            </a:extLst>
          </p:cNvPr>
          <p:cNvSpPr>
            <a:spLocks noGrp="1"/>
          </p:cNvSpPr>
          <p:nvPr>
            <p:ph type="title"/>
          </p:nvPr>
        </p:nvSpPr>
        <p:spPr/>
        <p:txBody>
          <a:bodyPr/>
          <a:lstStyle/>
          <a:p>
            <a:r>
              <a:rPr lang="zh-CN" altLang="en-US" dirty="0"/>
              <a:t>匹配：核匹配估计量</a:t>
            </a:r>
          </a:p>
        </p:txBody>
      </p:sp>
      <p:pic>
        <p:nvPicPr>
          <p:cNvPr id="7" name="内容占位符 6">
            <a:extLst>
              <a:ext uri="{FF2B5EF4-FFF2-40B4-BE49-F238E27FC236}">
                <a16:creationId xmlns:a16="http://schemas.microsoft.com/office/drawing/2014/main" id="{5A08D70E-019F-E7B4-1E1F-A538729EC838}"/>
              </a:ext>
            </a:extLst>
          </p:cNvPr>
          <p:cNvPicPr>
            <a:picLocks noGrp="1" noChangeAspect="1"/>
          </p:cNvPicPr>
          <p:nvPr>
            <p:ph idx="1"/>
          </p:nvPr>
        </p:nvPicPr>
        <p:blipFill>
          <a:blip r:embed="rId2"/>
          <a:stretch>
            <a:fillRect/>
          </a:stretch>
        </p:blipFill>
        <p:spPr>
          <a:xfrm>
            <a:off x="1279033" y="1690689"/>
            <a:ext cx="6207617" cy="4108361"/>
          </a:xfrm>
          <a:prstGeom prst="rect">
            <a:avLst/>
          </a:prstGeom>
        </p:spPr>
      </p:pic>
      <p:sp>
        <p:nvSpPr>
          <p:cNvPr id="4" name="页脚占位符 3">
            <a:extLst>
              <a:ext uri="{FF2B5EF4-FFF2-40B4-BE49-F238E27FC236}">
                <a16:creationId xmlns:a16="http://schemas.microsoft.com/office/drawing/2014/main" id="{A61A4919-5D90-859D-EA1C-092087A620E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BA23620-92CB-54E3-FE1E-60F37DB1552D}"/>
              </a:ext>
            </a:extLst>
          </p:cNvPr>
          <p:cNvSpPr>
            <a:spLocks noGrp="1"/>
          </p:cNvSpPr>
          <p:nvPr>
            <p:ph type="sldNum" sz="quarter" idx="12"/>
          </p:nvPr>
        </p:nvSpPr>
        <p:spPr/>
        <p:txBody>
          <a:bodyPr/>
          <a:lstStyle/>
          <a:p>
            <a:fld id="{D41FC515-8169-4A29-AA56-DBE520D5741B}" type="slidenum">
              <a:rPr lang="zh-CN" altLang="en-US" smtClean="0"/>
              <a:t>42</a:t>
            </a:fld>
            <a:endParaRPr lang="zh-CN" altLang="en-US"/>
          </a:p>
        </p:txBody>
      </p:sp>
      <p:sp>
        <p:nvSpPr>
          <p:cNvPr id="9" name="文本框 8">
            <a:extLst>
              <a:ext uri="{FF2B5EF4-FFF2-40B4-BE49-F238E27FC236}">
                <a16:creationId xmlns:a16="http://schemas.microsoft.com/office/drawing/2014/main" id="{0E16936A-C0F7-9BB9-BCA2-4334EB7ED742}"/>
              </a:ext>
            </a:extLst>
          </p:cNvPr>
          <p:cNvSpPr txBox="1"/>
          <p:nvPr/>
        </p:nvSpPr>
        <p:spPr>
          <a:xfrm>
            <a:off x="2531239" y="5799050"/>
            <a:ext cx="4572000" cy="369332"/>
          </a:xfrm>
          <a:prstGeom prst="rect">
            <a:avLst/>
          </a:prstGeom>
          <a:noFill/>
        </p:spPr>
        <p:txBody>
          <a:bodyPr wrap="square">
            <a:spAutoFit/>
          </a:bodyPr>
          <a:lstStyle/>
          <a:p>
            <a:r>
              <a:rPr lang="en-US" altLang="zh-CN" b="0" i="0" u="none" strike="noStrike" baseline="0" dirty="0">
                <a:solidFill>
                  <a:srgbClr val="3333B3"/>
                </a:solidFill>
                <a:latin typeface="LMRoman8-Regular-Identity-H"/>
              </a:rPr>
              <a:t>Figure 3: </a:t>
            </a:r>
            <a:r>
              <a:rPr lang="en-US" altLang="zh-CN" b="0" i="0" u="none" strike="noStrike" baseline="0" dirty="0">
                <a:solidFill>
                  <a:srgbClr val="000000"/>
                </a:solidFill>
                <a:latin typeface="LMRoman8-Regular-Identity-H"/>
              </a:rPr>
              <a:t>Heckman </a:t>
            </a:r>
            <a:r>
              <a:rPr lang="zh-CN" altLang="en-US" b="0" i="0" u="none" strike="noStrike" baseline="0" dirty="0">
                <a:solidFill>
                  <a:srgbClr val="000000"/>
                </a:solidFill>
                <a:latin typeface="宋体" panose="02010600030101010101" pitchFamily="2" charset="-122"/>
                <a:ea typeface="宋体" panose="02010600030101010101" pitchFamily="2" charset="-122"/>
              </a:rPr>
              <a:t>核匹配估计量</a:t>
            </a:r>
            <a:endParaRPr lang="zh-CN" altLang="en-US" dirty="0"/>
          </a:p>
        </p:txBody>
      </p:sp>
    </p:spTree>
    <p:extLst>
      <p:ext uri="{BB962C8B-B14F-4D97-AF65-F5344CB8AC3E}">
        <p14:creationId xmlns:p14="http://schemas.microsoft.com/office/powerpoint/2010/main" val="3084862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3C2FA4-00BD-708F-A4B1-5F96D6109EEB}"/>
              </a:ext>
            </a:extLst>
          </p:cNvPr>
          <p:cNvSpPr>
            <a:spLocks noGrp="1"/>
          </p:cNvSpPr>
          <p:nvPr>
            <p:ph type="title"/>
          </p:nvPr>
        </p:nvSpPr>
        <p:spPr/>
        <p:txBody>
          <a:bodyPr/>
          <a:lstStyle/>
          <a:p>
            <a:r>
              <a:rPr lang="zh-CN" altLang="en-US" dirty="0"/>
              <a:t>匹配：核匹配估计量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A425CB5-15C6-865F-C97B-B20350917E18}"/>
                  </a:ext>
                </a:extLst>
              </p:cNvPr>
              <p:cNvSpPr>
                <a:spLocks noGrp="1"/>
              </p:cNvSpPr>
              <p:nvPr>
                <p:ph idx="1"/>
              </p:nvPr>
            </p:nvSpPr>
            <p:spPr/>
            <p:txBody>
              <a:bodyPr>
                <a:normAutofit fontScale="77500" lnSpcReduction="20000"/>
              </a:bodyPr>
              <a:lstStyle/>
              <a:p>
                <a:r>
                  <a:rPr lang="en-US" altLang="zh-CN" dirty="0"/>
                  <a:t>Heckman et al. (1997, 1998) </a:t>
                </a:r>
                <a:r>
                  <a:rPr lang="zh-CN" altLang="en-US" dirty="0"/>
                  <a:t>提出核匹配估计量</a:t>
                </a:r>
                <a:endParaRPr lang="en-US" altLang="zh-CN" dirty="0"/>
              </a:p>
              <a:p>
                <a:pPr marL="0" indent="0">
                  <a:buNone/>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dirty="0" smtClean="0">
                              <a:latin typeface="Cambria Math" panose="02040503050406030204" pitchFamily="18" charset="0"/>
                            </a:rPr>
                            <m:t>𝐾</m:t>
                          </m:r>
                        </m:sub>
                      </m:sSub>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𝑛</m:t>
                          </m:r>
                        </m:den>
                      </m:f>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𝑛</m:t>
                          </m:r>
                        </m:sup>
                        <m:e>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1</m:t>
                                  </m:r>
                                </m:e>
                              </m:d>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m:t>
                                  </m:r>
                                </m:e>
                              </m:d>
                            </m:e>
                          </m:d>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r>
                                <a:rPr lang="en-US" altLang="zh-CN" b="0" i="1" dirty="0" smtClean="0">
                                  <a:latin typeface="Cambria Math" panose="02040503050406030204" pitchFamily="18" charset="0"/>
                                </a:rPr>
                                <m:t>𝑛</m:t>
                              </m:r>
                            </m:den>
                          </m:f>
                          <m:nary>
                            <m:naryPr>
                              <m:chr m:val="∑"/>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𝑛</m:t>
                              </m:r>
                            </m:sup>
                            <m:e>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m:t>
                                      </m:r>
                                    </m:e>
                                  </m:d>
                                </m:e>
                              </m:d>
                            </m:e>
                          </m:nary>
                        </m:e>
                      </m:nary>
                    </m:oMath>
                    <m:o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𝑛</m:t>
                          </m:r>
                        </m:den>
                      </m:f>
                      <m:d>
                        <m:dPr>
                          <m:begChr m:val="["/>
                          <m:endChr m:val="]"/>
                          <m:ctrlPr>
                            <a:rPr lang="en-US" altLang="zh-CN" b="0" i="1" smtClean="0">
                              <a:latin typeface="Cambria Math" panose="02040503050406030204" pitchFamily="18" charset="0"/>
                            </a:rPr>
                          </m:ctrlPr>
                        </m:dPr>
                        <m:e>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=1</m:t>
                              </m:r>
                            </m:sub>
                            <m:sup/>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𝑐</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e>
                                  </m:d>
                                </m:e>
                              </m:d>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𝐷</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=0</m:t>
                                  </m:r>
                                </m:sub>
                                <m:sup/>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𝑡</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e>
                                          </m:d>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m:t>
                                          </m:r>
                                        </m:sub>
                                      </m:sSub>
                                    </m:e>
                                  </m:d>
                                </m:e>
                              </m:nary>
                            </m:e>
                          </m:nary>
                        </m:e>
                      </m:d>
                      <m:r>
                        <a:rPr lang="en-US" altLang="zh-CN" b="0" i="1" smtClean="0">
                          <a:latin typeface="Cambria Math" panose="02040503050406030204" pitchFamily="18" charset="0"/>
                        </a:rPr>
                        <m:t>   (28)</m:t>
                      </m:r>
                    </m:oMath>
                  </m:oMathPara>
                </a14:m>
                <a:endParaRPr lang="en-US" altLang="zh-CN" dirty="0"/>
              </a:p>
              <a:p>
                <a:pPr marL="0" indent="0">
                  <a:buNone/>
                </a:pPr>
                <a:endParaRPr lang="en-US" altLang="zh-CN" dirty="0"/>
              </a:p>
              <a:p>
                <a:pPr marL="0" indent="0">
                  <a:buNone/>
                </a:pPr>
                <a14:m>
                  <m:oMathPara xmlns:m="http://schemas.openxmlformats.org/officeDocument/2006/math">
                    <m:oMath>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dirty="0" smtClean="0">
                              <a:latin typeface="Cambria Math" panose="02040503050406030204" pitchFamily="18" charset="0"/>
                            </a:rPr>
                            <m:t>𝐾</m:t>
                          </m:r>
                        </m:sub>
                        <m:sup>
                          <m:r>
                            <a:rPr lang="en-US" altLang="zh-CN" b="0" i="1" dirty="0" smtClean="0">
                              <a:latin typeface="Cambria Math" panose="02040503050406030204" pitchFamily="18" charset="0"/>
                            </a:rPr>
                            <m:t>𝑡</m:t>
                          </m:r>
                        </m:sup>
                      </m:sSubSup>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𝑛</m:t>
                              </m:r>
                            </m:e>
                            <m:sub>
                              <m:r>
                                <a:rPr lang="en-US" altLang="zh-CN" b="0" i="1" dirty="0" smtClean="0">
                                  <a:latin typeface="Cambria Math" panose="02040503050406030204" pitchFamily="18" charset="0"/>
                                </a:rPr>
                                <m:t>1</m:t>
                              </m:r>
                            </m:sub>
                          </m:sSub>
                        </m:den>
                      </m:f>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e>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1</m:t>
                                  </m:r>
                                </m:e>
                              </m:d>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m:t>
                                  </m:r>
                                </m:e>
                              </m:d>
                            </m:e>
                          </m:d>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𝑛</m:t>
                                  </m:r>
                                </m:e>
                                <m:sub>
                                  <m:r>
                                    <a:rPr lang="en-US" altLang="zh-CN" b="0" i="1" dirty="0" smtClean="0">
                                      <a:latin typeface="Cambria Math" panose="02040503050406030204" pitchFamily="18" charset="0"/>
                                    </a:rPr>
                                    <m:t>1</m:t>
                                  </m:r>
                                </m:sub>
                              </m:sSub>
                            </m:den>
                          </m:f>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𝑖</m:t>
                              </m:r>
                            </m:sub>
                            <m:sup/>
                            <m:e>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𝑌</m:t>
                                          </m:r>
                                        </m:e>
                                      </m:acc>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m:t>
                                      </m:r>
                                    </m:e>
                                  </m:d>
                                </m:e>
                              </m:d>
                            </m:e>
                          </m:nary>
                        </m:e>
                      </m:nary>
                    </m:oMath>
                    <m:oMath>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𝑛</m:t>
                              </m:r>
                            </m:e>
                            <m:sub>
                              <m:r>
                                <a:rPr lang="en-US" altLang="zh-CN" b="0" i="1" smtClean="0">
                                  <a:latin typeface="Cambria Math" panose="02040503050406030204" pitchFamily="18" charset="0"/>
                                </a:rPr>
                                <m:t>1</m:t>
                              </m:r>
                            </m:sub>
                          </m:sSub>
                        </m:den>
                      </m:f>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𝑖</m:t>
                          </m:r>
                        </m:sub>
                        <m:sup/>
                        <m:e>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𝑐</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𝑋</m:t>
                                      </m:r>
                                    </m:e>
                                    <m:sub>
                                      <m:r>
                                        <a:rPr lang="en-US" altLang="zh-CN" b="0" i="1" smtClean="0">
                                          <a:latin typeface="Cambria Math" panose="02040503050406030204" pitchFamily="18" charset="0"/>
                                        </a:rPr>
                                        <m:t>𝑖</m:t>
                                      </m:r>
                                    </m:sub>
                                  </m:sSub>
                                </m:e>
                              </m:d>
                            </m:e>
                          </m:d>
                        </m:e>
                      </m:nary>
                      <m:r>
                        <a:rPr lang="en-US" altLang="zh-CN" b="0" i="1" smtClean="0">
                          <a:latin typeface="Cambria Math" panose="02040503050406030204" pitchFamily="18" charset="0"/>
                        </a:rPr>
                        <m:t>.                                                 (29)</m:t>
                      </m:r>
                    </m:oMath>
                  </m:oMathPara>
                </a14:m>
                <a:endParaRPr lang="zh-CN" altLang="en-US" dirty="0"/>
              </a:p>
            </p:txBody>
          </p:sp>
        </mc:Choice>
        <mc:Fallback xmlns="">
          <p:sp>
            <p:nvSpPr>
              <p:cNvPr id="3" name="内容占位符 2">
                <a:extLst>
                  <a:ext uri="{FF2B5EF4-FFF2-40B4-BE49-F238E27FC236}">
                    <a16:creationId xmlns:a16="http://schemas.microsoft.com/office/drawing/2014/main" id="{DA425CB5-15C6-865F-C97B-B20350917E18}"/>
                  </a:ext>
                </a:extLst>
              </p:cNvPr>
              <p:cNvSpPr>
                <a:spLocks noGrp="1" noRot="1" noChangeAspect="1" noMove="1" noResize="1" noEditPoints="1" noAdjustHandles="1" noChangeArrowheads="1" noChangeShapeType="1" noTextEdit="1"/>
              </p:cNvSpPr>
              <p:nvPr>
                <p:ph idx="1"/>
              </p:nvPr>
            </p:nvSpPr>
            <p:spPr>
              <a:blipFill>
                <a:blip r:embed="rId2"/>
                <a:stretch>
                  <a:fillRect l="-850" t="-238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6C8AE30-321B-82E4-C2EE-B012C92756D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D540F79-6222-C148-4E06-E9993A4E3A3A}"/>
              </a:ext>
            </a:extLst>
          </p:cNvPr>
          <p:cNvSpPr>
            <a:spLocks noGrp="1"/>
          </p:cNvSpPr>
          <p:nvPr>
            <p:ph type="sldNum" sz="quarter" idx="12"/>
          </p:nvPr>
        </p:nvSpPr>
        <p:spPr/>
        <p:txBody>
          <a:bodyPr/>
          <a:lstStyle/>
          <a:p>
            <a:fld id="{D41FC515-8169-4A29-AA56-DBE520D5741B}" type="slidenum">
              <a:rPr lang="zh-CN" altLang="en-US" smtClean="0"/>
              <a:t>43</a:t>
            </a:fld>
            <a:endParaRPr lang="zh-CN" altLang="en-US"/>
          </a:p>
        </p:txBody>
      </p:sp>
    </p:spTree>
    <p:extLst>
      <p:ext uri="{BB962C8B-B14F-4D97-AF65-F5344CB8AC3E}">
        <p14:creationId xmlns:p14="http://schemas.microsoft.com/office/powerpoint/2010/main" val="17097613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4692A3-74E4-E6E0-038C-ED892778C4CB}"/>
              </a:ext>
            </a:extLst>
          </p:cNvPr>
          <p:cNvSpPr>
            <a:spLocks noGrp="1"/>
          </p:cNvSpPr>
          <p:nvPr>
            <p:ph type="title"/>
          </p:nvPr>
        </p:nvSpPr>
        <p:spPr/>
        <p:txBody>
          <a:bodyPr/>
          <a:lstStyle/>
          <a:p>
            <a:r>
              <a:rPr lang="zh-CN" altLang="en-US" dirty="0"/>
              <a:t>匹配：</a:t>
            </a:r>
            <a:r>
              <a:rPr lang="en-US" altLang="zh-CN" dirty="0"/>
              <a:t>LaLonde </a:t>
            </a:r>
            <a:r>
              <a:rPr lang="zh-CN" altLang="en-US" dirty="0"/>
              <a:t>的实验数据</a:t>
            </a:r>
            <a:r>
              <a:rPr lang="en-US" altLang="zh-CN" dirty="0"/>
              <a:t>(NSW)</a:t>
            </a:r>
            <a:endParaRPr lang="zh-CN" altLang="en-US" dirty="0"/>
          </a:p>
        </p:txBody>
      </p:sp>
      <p:pic>
        <p:nvPicPr>
          <p:cNvPr id="7" name="内容占位符 6">
            <a:extLst>
              <a:ext uri="{FF2B5EF4-FFF2-40B4-BE49-F238E27FC236}">
                <a16:creationId xmlns:a16="http://schemas.microsoft.com/office/drawing/2014/main" id="{E7A28738-30E3-B7C3-B79B-D13A39ECE016}"/>
              </a:ext>
            </a:extLst>
          </p:cNvPr>
          <p:cNvPicPr>
            <a:picLocks noGrp="1" noChangeAspect="1"/>
          </p:cNvPicPr>
          <p:nvPr>
            <p:ph idx="1"/>
          </p:nvPr>
        </p:nvPicPr>
        <p:blipFill>
          <a:blip r:embed="rId2"/>
          <a:stretch>
            <a:fillRect/>
          </a:stretch>
        </p:blipFill>
        <p:spPr>
          <a:xfrm>
            <a:off x="1481070" y="2001849"/>
            <a:ext cx="6181859" cy="3998890"/>
          </a:xfrm>
          <a:prstGeom prst="rect">
            <a:avLst/>
          </a:prstGeom>
        </p:spPr>
      </p:pic>
      <p:sp>
        <p:nvSpPr>
          <p:cNvPr id="4" name="页脚占位符 3">
            <a:extLst>
              <a:ext uri="{FF2B5EF4-FFF2-40B4-BE49-F238E27FC236}">
                <a16:creationId xmlns:a16="http://schemas.microsoft.com/office/drawing/2014/main" id="{52F7FE47-ABAC-EF28-C76C-F38C06173ED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DD9AACE-7641-F29A-CCD6-6D5FEA74C678}"/>
              </a:ext>
            </a:extLst>
          </p:cNvPr>
          <p:cNvSpPr>
            <a:spLocks noGrp="1"/>
          </p:cNvSpPr>
          <p:nvPr>
            <p:ph type="sldNum" sz="quarter" idx="12"/>
          </p:nvPr>
        </p:nvSpPr>
        <p:spPr/>
        <p:txBody>
          <a:bodyPr/>
          <a:lstStyle/>
          <a:p>
            <a:fld id="{D41FC515-8169-4A29-AA56-DBE520D5741B}" type="slidenum">
              <a:rPr lang="zh-CN" altLang="en-US" smtClean="0"/>
              <a:t>44</a:t>
            </a:fld>
            <a:endParaRPr lang="zh-CN" altLang="en-US"/>
          </a:p>
        </p:txBody>
      </p:sp>
    </p:spTree>
    <p:extLst>
      <p:ext uri="{BB962C8B-B14F-4D97-AF65-F5344CB8AC3E}">
        <p14:creationId xmlns:p14="http://schemas.microsoft.com/office/powerpoint/2010/main" val="5083404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7C3205-902D-E145-1C87-094A5F4C569C}"/>
              </a:ext>
            </a:extLst>
          </p:cNvPr>
          <p:cNvSpPr>
            <a:spLocks noGrp="1"/>
          </p:cNvSpPr>
          <p:nvPr>
            <p:ph type="title"/>
          </p:nvPr>
        </p:nvSpPr>
        <p:spPr/>
        <p:txBody>
          <a:bodyPr/>
          <a:lstStyle/>
          <a:p>
            <a:r>
              <a:rPr lang="zh-CN" altLang="en-US" dirty="0"/>
              <a:t>匹配：</a:t>
            </a:r>
            <a:r>
              <a:rPr lang="en-US" altLang="zh-CN" dirty="0"/>
              <a:t>LaLonde </a:t>
            </a:r>
            <a:r>
              <a:rPr lang="zh-CN" altLang="en-US" dirty="0"/>
              <a:t>的实验数据</a:t>
            </a:r>
            <a:r>
              <a:rPr lang="en-US" altLang="zh-CN" dirty="0"/>
              <a:t>(NSW)</a:t>
            </a:r>
            <a:endParaRPr lang="zh-CN" altLang="en-US" dirty="0"/>
          </a:p>
        </p:txBody>
      </p:sp>
      <p:pic>
        <p:nvPicPr>
          <p:cNvPr id="7" name="内容占位符 6">
            <a:extLst>
              <a:ext uri="{FF2B5EF4-FFF2-40B4-BE49-F238E27FC236}">
                <a16:creationId xmlns:a16="http://schemas.microsoft.com/office/drawing/2014/main" id="{100C5A16-8003-64BD-916E-954AD3CF2970}"/>
              </a:ext>
            </a:extLst>
          </p:cNvPr>
          <p:cNvPicPr>
            <a:picLocks noGrp="1" noChangeAspect="1"/>
          </p:cNvPicPr>
          <p:nvPr>
            <p:ph idx="1"/>
          </p:nvPr>
        </p:nvPicPr>
        <p:blipFill>
          <a:blip r:embed="rId2"/>
          <a:stretch>
            <a:fillRect/>
          </a:stretch>
        </p:blipFill>
        <p:spPr>
          <a:xfrm>
            <a:off x="1455312" y="2079122"/>
            <a:ext cx="6233375" cy="3844344"/>
          </a:xfrm>
          <a:prstGeom prst="rect">
            <a:avLst/>
          </a:prstGeom>
        </p:spPr>
      </p:pic>
      <p:sp>
        <p:nvSpPr>
          <p:cNvPr id="4" name="页脚占位符 3">
            <a:extLst>
              <a:ext uri="{FF2B5EF4-FFF2-40B4-BE49-F238E27FC236}">
                <a16:creationId xmlns:a16="http://schemas.microsoft.com/office/drawing/2014/main" id="{FC7ACF97-199C-301C-4F86-A87D83099DE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B7DA07E-34BE-2F38-D158-5515C401650A}"/>
              </a:ext>
            </a:extLst>
          </p:cNvPr>
          <p:cNvSpPr>
            <a:spLocks noGrp="1"/>
          </p:cNvSpPr>
          <p:nvPr>
            <p:ph type="sldNum" sz="quarter" idx="12"/>
          </p:nvPr>
        </p:nvSpPr>
        <p:spPr/>
        <p:txBody>
          <a:bodyPr/>
          <a:lstStyle/>
          <a:p>
            <a:fld id="{D41FC515-8169-4A29-AA56-DBE520D5741B}" type="slidenum">
              <a:rPr lang="zh-CN" altLang="en-US" smtClean="0"/>
              <a:t>45</a:t>
            </a:fld>
            <a:endParaRPr lang="zh-CN" altLang="en-US"/>
          </a:p>
        </p:txBody>
      </p:sp>
    </p:spTree>
    <p:extLst>
      <p:ext uri="{BB962C8B-B14F-4D97-AF65-F5344CB8AC3E}">
        <p14:creationId xmlns:p14="http://schemas.microsoft.com/office/powerpoint/2010/main" val="42369265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95138C-FB75-FC25-5E03-7B5A5055CF5A}"/>
              </a:ext>
            </a:extLst>
          </p:cNvPr>
          <p:cNvSpPr>
            <a:spLocks noGrp="1"/>
          </p:cNvSpPr>
          <p:nvPr>
            <p:ph type="title"/>
          </p:nvPr>
        </p:nvSpPr>
        <p:spPr/>
        <p:txBody>
          <a:bodyPr/>
          <a:lstStyle/>
          <a:p>
            <a:r>
              <a:rPr lang="zh-CN" altLang="en-US" dirty="0"/>
              <a:t>匹配：</a:t>
            </a:r>
            <a:r>
              <a:rPr lang="en-US" altLang="zh-CN" dirty="0"/>
              <a:t>LaLonde </a:t>
            </a:r>
            <a:r>
              <a:rPr lang="zh-CN" altLang="en-US" dirty="0"/>
              <a:t>的实验数据</a:t>
            </a:r>
            <a:r>
              <a:rPr lang="en-US" altLang="zh-CN" dirty="0"/>
              <a:t>(NSW)</a:t>
            </a:r>
            <a:endParaRPr lang="zh-CN" altLang="en-US" dirty="0"/>
          </a:p>
        </p:txBody>
      </p:sp>
      <p:pic>
        <p:nvPicPr>
          <p:cNvPr id="7" name="内容占位符 6">
            <a:extLst>
              <a:ext uri="{FF2B5EF4-FFF2-40B4-BE49-F238E27FC236}">
                <a16:creationId xmlns:a16="http://schemas.microsoft.com/office/drawing/2014/main" id="{B53C5913-C2A2-8295-A2E9-EE3338D4B2FE}"/>
              </a:ext>
            </a:extLst>
          </p:cNvPr>
          <p:cNvPicPr>
            <a:picLocks noGrp="1" noChangeAspect="1"/>
          </p:cNvPicPr>
          <p:nvPr>
            <p:ph idx="1"/>
          </p:nvPr>
        </p:nvPicPr>
        <p:blipFill>
          <a:blip r:embed="rId2"/>
          <a:stretch>
            <a:fillRect/>
          </a:stretch>
        </p:blipFill>
        <p:spPr>
          <a:xfrm>
            <a:off x="1493949" y="2259426"/>
            <a:ext cx="6156101" cy="3483735"/>
          </a:xfrm>
          <a:prstGeom prst="rect">
            <a:avLst/>
          </a:prstGeom>
        </p:spPr>
      </p:pic>
      <p:sp>
        <p:nvSpPr>
          <p:cNvPr id="4" name="页脚占位符 3">
            <a:extLst>
              <a:ext uri="{FF2B5EF4-FFF2-40B4-BE49-F238E27FC236}">
                <a16:creationId xmlns:a16="http://schemas.microsoft.com/office/drawing/2014/main" id="{A6FE240F-1EA0-E468-829C-1A0A843AC353}"/>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E39D64D-5972-4AA8-C54B-490465A34E9A}"/>
              </a:ext>
            </a:extLst>
          </p:cNvPr>
          <p:cNvSpPr>
            <a:spLocks noGrp="1"/>
          </p:cNvSpPr>
          <p:nvPr>
            <p:ph type="sldNum" sz="quarter" idx="12"/>
          </p:nvPr>
        </p:nvSpPr>
        <p:spPr/>
        <p:txBody>
          <a:bodyPr/>
          <a:lstStyle/>
          <a:p>
            <a:fld id="{D41FC515-8169-4A29-AA56-DBE520D5741B}" type="slidenum">
              <a:rPr lang="zh-CN" altLang="en-US" smtClean="0"/>
              <a:t>46</a:t>
            </a:fld>
            <a:endParaRPr lang="zh-CN" altLang="en-US"/>
          </a:p>
        </p:txBody>
      </p:sp>
    </p:spTree>
    <p:extLst>
      <p:ext uri="{BB962C8B-B14F-4D97-AF65-F5344CB8AC3E}">
        <p14:creationId xmlns:p14="http://schemas.microsoft.com/office/powerpoint/2010/main" val="20022859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FE9FE1-0985-65BB-102D-F9EEC4F92AFF}"/>
              </a:ext>
            </a:extLst>
          </p:cNvPr>
          <p:cNvSpPr>
            <a:spLocks noGrp="1"/>
          </p:cNvSpPr>
          <p:nvPr>
            <p:ph type="title"/>
          </p:nvPr>
        </p:nvSpPr>
        <p:spPr/>
        <p:txBody>
          <a:bodyPr/>
          <a:lstStyle/>
          <a:p>
            <a:r>
              <a:rPr lang="zh-CN" altLang="en-US" dirty="0"/>
              <a:t>匹配作为一种设计方法</a:t>
            </a:r>
          </a:p>
        </p:txBody>
      </p:sp>
      <p:sp>
        <p:nvSpPr>
          <p:cNvPr id="3" name="内容占位符 2">
            <a:extLst>
              <a:ext uri="{FF2B5EF4-FFF2-40B4-BE49-F238E27FC236}">
                <a16:creationId xmlns:a16="http://schemas.microsoft.com/office/drawing/2014/main" id="{5022835D-1047-CE07-EF60-92D683985DA9}"/>
              </a:ext>
            </a:extLst>
          </p:cNvPr>
          <p:cNvSpPr>
            <a:spLocks noGrp="1"/>
          </p:cNvSpPr>
          <p:nvPr>
            <p:ph idx="1"/>
          </p:nvPr>
        </p:nvSpPr>
        <p:spPr/>
        <p:txBody>
          <a:bodyPr>
            <a:normAutofit/>
          </a:bodyPr>
          <a:lstStyle/>
          <a:p>
            <a:r>
              <a:rPr lang="zh-CN" altLang="en-US" dirty="0"/>
              <a:t>更重要的，匹配主要是一种设计方法！</a:t>
            </a:r>
            <a:endParaRPr lang="en-US" altLang="zh-CN" dirty="0"/>
          </a:p>
          <a:p>
            <a:r>
              <a:rPr lang="zh-CN" altLang="en-US" dirty="0"/>
              <a:t>通过匹配，使本来不成立的非混杂性假设，有可能成立了，这是匹配的目的！</a:t>
            </a:r>
            <a:endParaRPr lang="en-US" altLang="zh-CN" dirty="0"/>
          </a:p>
          <a:p>
            <a:r>
              <a:rPr lang="zh-CN" altLang="en-US" dirty="0"/>
              <a:t>匹配就是从数据中分离出符合非混杂性假设的样本，或把隐藏在数据中的随机化实验数据提取出来</a:t>
            </a:r>
            <a:r>
              <a:rPr lang="en-US" altLang="zh-CN" dirty="0"/>
              <a:t>(King and Neilson, 2019)</a:t>
            </a:r>
            <a:r>
              <a:rPr lang="zh-CN" altLang="en-US" dirty="0"/>
              <a:t>。</a:t>
            </a:r>
            <a:endParaRPr lang="en-US" altLang="zh-CN" dirty="0"/>
          </a:p>
          <a:p>
            <a:r>
              <a:rPr lang="zh-CN" altLang="en-US" dirty="0"/>
              <a:t>通过匹配，可以构造出原数据中不存在的协变量，从而使非混杂性假设更有可能成立。</a:t>
            </a:r>
          </a:p>
        </p:txBody>
      </p:sp>
      <p:sp>
        <p:nvSpPr>
          <p:cNvPr id="4" name="页脚占位符 3">
            <a:extLst>
              <a:ext uri="{FF2B5EF4-FFF2-40B4-BE49-F238E27FC236}">
                <a16:creationId xmlns:a16="http://schemas.microsoft.com/office/drawing/2014/main" id="{7D68785D-81E1-5CBC-6CE8-920E4525BA5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861C0D1-E5D9-8D67-CEB9-660ED581BAD3}"/>
              </a:ext>
            </a:extLst>
          </p:cNvPr>
          <p:cNvSpPr>
            <a:spLocks noGrp="1"/>
          </p:cNvSpPr>
          <p:nvPr>
            <p:ph type="sldNum" sz="quarter" idx="12"/>
          </p:nvPr>
        </p:nvSpPr>
        <p:spPr/>
        <p:txBody>
          <a:bodyPr/>
          <a:lstStyle/>
          <a:p>
            <a:fld id="{D41FC515-8169-4A29-AA56-DBE520D5741B}" type="slidenum">
              <a:rPr lang="zh-CN" altLang="en-US" smtClean="0"/>
              <a:t>47</a:t>
            </a:fld>
            <a:endParaRPr lang="zh-CN" altLang="en-US"/>
          </a:p>
        </p:txBody>
      </p:sp>
    </p:spTree>
    <p:extLst>
      <p:ext uri="{BB962C8B-B14F-4D97-AF65-F5344CB8AC3E}">
        <p14:creationId xmlns:p14="http://schemas.microsoft.com/office/powerpoint/2010/main" val="21393172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DCFCC8-D257-4DD8-A192-A29807B76B26}"/>
              </a:ext>
            </a:extLst>
          </p:cNvPr>
          <p:cNvSpPr>
            <a:spLocks noGrp="1"/>
          </p:cNvSpPr>
          <p:nvPr>
            <p:ph type="title"/>
          </p:nvPr>
        </p:nvSpPr>
        <p:spPr/>
        <p:txBody>
          <a:bodyPr/>
          <a:lstStyle/>
          <a:p>
            <a:r>
              <a:rPr lang="zh-CN" altLang="en-US" dirty="0"/>
              <a:t>匹配作为一种设计方法：精英大学的作用</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4C8424E-EF59-0847-4726-76F7E8FAC204}"/>
                  </a:ext>
                </a:extLst>
              </p:cNvPr>
              <p:cNvSpPr>
                <a:spLocks noGrp="1"/>
              </p:cNvSpPr>
              <p:nvPr>
                <p:ph idx="1"/>
              </p:nvPr>
            </p:nvSpPr>
            <p:spPr/>
            <p:txBody>
              <a:bodyPr>
                <a:noAutofit/>
              </a:bodyPr>
              <a:lstStyle/>
              <a:p>
                <a:pPr>
                  <a:lnSpc>
                    <a:spcPct val="120000"/>
                  </a:lnSpc>
                </a:pPr>
                <a:r>
                  <a:rPr lang="en-US" altLang="zh-CN" sz="1600" dirty="0"/>
                  <a:t>Dale and Krueger (2002) </a:t>
                </a:r>
                <a:r>
                  <a:rPr lang="zh-CN" altLang="en-US" sz="1600" dirty="0"/>
                  <a:t>考察了上一个更加有选择性的大学和普查大学相比，对个人有什么作用？</a:t>
                </a:r>
                <a:endParaRPr lang="en-US" altLang="zh-CN" sz="1600" dirty="0"/>
              </a:p>
              <a:p>
                <a:pPr lvl="1">
                  <a:lnSpc>
                    <a:spcPct val="120000"/>
                  </a:lnSpc>
                </a:pPr>
                <a:r>
                  <a:rPr lang="zh-CN" altLang="en-US" sz="1600" dirty="0"/>
                  <a:t>𝑌 </a:t>
                </a:r>
                <a:r>
                  <a:rPr lang="en-US" altLang="zh-CN" sz="1600" dirty="0"/>
                  <a:t>(1) </a:t>
                </a:r>
                <a:r>
                  <a:rPr lang="zh-CN" altLang="en-US" sz="1600" dirty="0"/>
                  <a:t>精英大学，𝑌 </a:t>
                </a:r>
                <a:r>
                  <a:rPr lang="en-US" altLang="zh-CN" sz="1600" dirty="0"/>
                  <a:t>(0) </a:t>
                </a:r>
                <a:r>
                  <a:rPr lang="zh-CN" altLang="en-US" sz="1600" dirty="0"/>
                  <a:t>普通大学</a:t>
                </a:r>
                <a:endParaRPr lang="en-US" altLang="zh-CN" sz="1600" dirty="0"/>
              </a:p>
              <a:p>
                <a:pPr lvl="1">
                  <a:lnSpc>
                    <a:spcPct val="120000"/>
                  </a:lnSpc>
                </a:pPr>
                <a:r>
                  <a:rPr lang="zh-CN" altLang="en-US" sz="1600" dirty="0"/>
                  <a:t>𝐷𝑖 干预的分配</a:t>
                </a:r>
                <a:endParaRPr lang="en-US" altLang="zh-CN" sz="1600" dirty="0"/>
              </a:p>
              <a:p>
                <a:pPr lvl="1">
                  <a:lnSpc>
                    <a:spcPct val="120000"/>
                  </a:lnSpc>
                </a:pPr>
                <a:r>
                  <a:rPr lang="zh-CN" altLang="en-US" sz="1600" dirty="0"/>
                  <a:t>𝑌𝑖</a:t>
                </a:r>
                <a:r>
                  <a:rPr lang="en-US" altLang="zh-CN" sz="1600" dirty="0"/>
                  <a:t>(1) − </a:t>
                </a:r>
                <a:r>
                  <a:rPr lang="zh-CN" altLang="en-US" sz="1600" dirty="0"/>
                  <a:t>𝑌𝑖</a:t>
                </a:r>
                <a:r>
                  <a:rPr lang="en-US" altLang="zh-CN" sz="1600" dirty="0"/>
                  <a:t>(0) </a:t>
                </a:r>
                <a:r>
                  <a:rPr lang="zh-CN" altLang="en-US" sz="1600" dirty="0"/>
                  <a:t>精英大学相对于普查大学带来的好处，但不可识别</a:t>
                </a:r>
                <a:endParaRPr lang="en-US" altLang="zh-CN" sz="1600" dirty="0"/>
              </a:p>
              <a:p>
                <a:pPr lvl="1">
                  <a:lnSpc>
                    <a:spcPct val="120000"/>
                  </a:lnSpc>
                </a:pPr>
                <a:r>
                  <a:rPr lang="zh-CN" altLang="en-US" sz="1600" dirty="0"/>
                  <a:t>识别一群人的平均因果效应，</a:t>
                </a:r>
                <a:r>
                  <a:rPr lang="en-US" altLang="zh-CN" sz="1600" dirty="0"/>
                  <a:t>ATE </a:t>
                </a:r>
                <a:r>
                  <a:rPr lang="zh-CN" altLang="en-US" sz="1600" dirty="0"/>
                  <a:t>或</a:t>
                </a:r>
                <a:r>
                  <a:rPr lang="en-US" altLang="zh-CN" sz="1600" dirty="0"/>
                  <a:t>ATT</a:t>
                </a:r>
              </a:p>
              <a:p>
                <a:pPr>
                  <a:lnSpc>
                    <a:spcPct val="120000"/>
                  </a:lnSpc>
                </a:pPr>
                <a:r>
                  <a:rPr lang="zh-CN" altLang="en-US" sz="1600" dirty="0"/>
                  <a:t>有一些家庭背景（比如父母收入）、个人特征（性别、种族、高中情况等）变量，但仍然可能存在着选择性，能力</a:t>
                </a:r>
                <a:r>
                  <a:rPr lang="en-US" altLang="zh-CN" sz="1600" dirty="0"/>
                  <a:t>(</a:t>
                </a:r>
                <a:r>
                  <a:rPr lang="zh-CN" altLang="en-US" sz="1600" dirty="0"/>
                  <a:t>用𝐴 表示）混杂是造成偏差的主要因素。</a:t>
                </a:r>
                <a:endParaRPr lang="en-US" altLang="zh-CN" sz="1600" dirty="0"/>
              </a:p>
              <a:p>
                <a:pPr>
                  <a:lnSpc>
                    <a:spcPct val="120000"/>
                  </a:lnSpc>
                </a:pPr>
                <a:r>
                  <a:rPr lang="zh-CN" altLang="en-US" sz="1600" dirty="0"/>
                  <a:t>如果上两类学校的学生存在着能力因素造成的选择偏差，</a:t>
                </a:r>
                <a:r>
                  <a:rPr lang="en-US" altLang="zh-CN" sz="1600" dirty="0"/>
                  <a:t>OLS </a:t>
                </a:r>
                <a:r>
                  <a:rPr lang="zh-CN" altLang="en-US" sz="1600" dirty="0"/>
                  <a:t>回归结果将存在着偏差，即根据现有特征，非混杂性可能不成立</a:t>
                </a:r>
                <a:endParaRPr lang="en-US" altLang="zh-CN" sz="1600" dirty="0"/>
              </a:p>
              <a:p>
                <a:pPr>
                  <a:lnSpc>
                    <a:spcPct val="120000"/>
                  </a:lnSpc>
                </a:pPr>
                <a14:m>
                  <m:oMath xmlns:m="http://schemas.openxmlformats.org/officeDocument/2006/math">
                    <m:r>
                      <a:rPr lang="en-US" altLang="zh-CN" sz="1600" i="1" dirty="0" smtClean="0">
                        <a:latin typeface="Cambria Math" panose="02040503050406030204" pitchFamily="18" charset="0"/>
                      </a:rPr>
                      <m:t>(</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𝑌</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(1),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𝑌</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(0)) ⟂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𝐷</m:t>
                        </m:r>
                      </m:e>
                      <m:sub>
                        <m:r>
                          <a:rPr lang="zh-CN" altLang="en-US" sz="1600" i="1" dirty="0">
                            <a:latin typeface="Cambria Math" panose="02040503050406030204" pitchFamily="18" charset="0"/>
                          </a:rPr>
                          <m:t>𝑖</m:t>
                        </m:r>
                      </m:sub>
                    </m:sSub>
                    <m:d>
                      <m:dPr>
                        <m:begChr m:val="|"/>
                        <m:endChr m:val="|"/>
                        <m:ctrlPr>
                          <a:rPr lang="en-US" altLang="zh-CN" sz="1600" b="0" i="1" dirty="0" smtClean="0">
                            <a:latin typeface="Cambria Math" panose="02040503050406030204" pitchFamily="18" charset="0"/>
                          </a:rPr>
                        </m:ctrlPr>
                      </m:dPr>
                      <m:e>
                        <m:d>
                          <m:dPr>
                            <m:ctrlPr>
                              <a:rPr lang="zh-CN" altLang="en-US" sz="1600" i="1" dirty="0">
                                <a:latin typeface="Cambria Math" panose="02040503050406030204" pitchFamily="18" charset="0"/>
                              </a:rPr>
                            </m:ctrlPr>
                          </m:dPr>
                          <m:e>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𝑖</m:t>
                                </m:r>
                              </m:sub>
                            </m:sSub>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𝐴</m:t>
                                </m:r>
                              </m:e>
                              <m:sub>
                                <m:r>
                                  <a:rPr lang="zh-CN" altLang="en-US" sz="1600" i="1" dirty="0">
                                    <a:latin typeface="Cambria Math" panose="02040503050406030204" pitchFamily="18" charset="0"/>
                                  </a:rPr>
                                  <m:t>𝑖</m:t>
                                </m:r>
                              </m:sub>
                            </m:sSub>
                          </m:e>
                        </m:d>
                        <m:r>
                          <a:rPr lang="en-US" altLang="zh-CN" sz="1600" i="1" dirty="0">
                            <a:latin typeface="Cambria Math" panose="02040503050406030204" pitchFamily="18" charset="0"/>
                          </a:rPr>
                          <m:t>, </m:t>
                        </m:r>
                        <m:d>
                          <m:dPr>
                            <m:ctrlPr>
                              <a:rPr lang="zh-CN" altLang="en-US" sz="1600" i="1" dirty="0">
                                <a:latin typeface="Cambria Math" panose="02040503050406030204" pitchFamily="18" charset="0"/>
                              </a:rPr>
                            </m:ctrlPr>
                          </m:dPr>
                          <m:e>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𝑌</m:t>
                                </m:r>
                              </m:e>
                              <m:sub>
                                <m:r>
                                  <a:rPr lang="zh-CN" altLang="en-US"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1</m:t>
                                </m:r>
                              </m:e>
                            </m:d>
                            <m:r>
                              <a:rPr lang="en-US" altLang="zh-CN" sz="1600" i="1" dirty="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𝑌</m:t>
                                </m:r>
                              </m:e>
                              <m:sub>
                                <m:r>
                                  <a:rPr lang="zh-CN" altLang="en-US"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0</m:t>
                                </m:r>
                              </m:e>
                            </m:d>
                          </m:e>
                        </m:d>
                        <m:r>
                          <a:rPr lang="en-US" altLang="zh-CN" sz="1600" b="0" i="1" dirty="0" smtClean="0">
                            <a:latin typeface="Cambria Math" panose="02040503050406030204" pitchFamily="18" charset="0"/>
                          </a:rPr>
                          <m:t>      </m:t>
                        </m:r>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𝐷</m:t>
                            </m:r>
                          </m:e>
                          <m:sub>
                            <m:r>
                              <a:rPr lang="zh-CN" altLang="en-US" sz="1600" i="1" dirty="0">
                                <a:latin typeface="Cambria Math" panose="02040503050406030204" pitchFamily="18" charset="0"/>
                              </a:rPr>
                              <m:t>𝑖</m:t>
                            </m:r>
                          </m:sub>
                        </m:sSub>
                      </m:e>
                    </m:d>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𝑋</m:t>
                        </m:r>
                      </m:e>
                      <m:sub>
                        <m:r>
                          <a:rPr lang="zh-CN" altLang="en-US" sz="1600" i="1" dirty="0">
                            <a:latin typeface="Cambria Math" panose="02040503050406030204" pitchFamily="18" charset="0"/>
                          </a:rPr>
                          <m:t>𝑖</m:t>
                        </m:r>
                      </m:sub>
                    </m:sSub>
                    <m:r>
                      <a:rPr lang="en-US" altLang="zh-CN" sz="1600" i="1" dirty="0" smtClean="0">
                        <a:latin typeface="Cambria Math" panose="02040503050406030204" pitchFamily="18" charset="0"/>
                      </a:rPr>
                      <m:t>.</m:t>
                    </m:r>
                  </m:oMath>
                </a14:m>
                <a:endParaRPr lang="en-US" altLang="zh-CN" sz="1600" dirty="0"/>
              </a:p>
              <a:p>
                <a:pPr>
                  <a:lnSpc>
                    <a:spcPct val="120000"/>
                  </a:lnSpc>
                </a:pPr>
                <a:r>
                  <a:rPr lang="zh-CN" altLang="en-US" sz="1600" dirty="0"/>
                  <a:t>但𝐴𝑖 不可观测，无法控制，怎么办？</a:t>
                </a:r>
                <a:endParaRPr lang="en-US" altLang="zh-CN" sz="1600" dirty="0"/>
              </a:p>
              <a:p>
                <a:pPr>
                  <a:lnSpc>
                    <a:spcPct val="120000"/>
                  </a:lnSpc>
                </a:pPr>
                <a:r>
                  <a:rPr lang="zh-CN" altLang="en-US" sz="1600" dirty="0"/>
                  <a:t>通过匹配，希望控制住能力混杂。</a:t>
                </a:r>
                <a:endParaRPr lang="en-US" altLang="zh-CN" sz="1600" dirty="0"/>
              </a:p>
              <a:p>
                <a:pPr>
                  <a:lnSpc>
                    <a:spcPct val="120000"/>
                  </a:lnSpc>
                </a:pPr>
                <a:endParaRPr lang="en-US" altLang="zh-CN" sz="1600" dirty="0"/>
              </a:p>
              <a:p>
                <a:pPr>
                  <a:lnSpc>
                    <a:spcPct val="120000"/>
                  </a:lnSpc>
                </a:pPr>
                <a:endParaRPr lang="en-US" altLang="zh-CN" sz="1600" dirty="0"/>
              </a:p>
              <a:p>
                <a:pPr>
                  <a:lnSpc>
                    <a:spcPct val="120000"/>
                  </a:lnSpc>
                </a:pPr>
                <a:endParaRPr lang="en-US" altLang="zh-CN" sz="1600" dirty="0"/>
              </a:p>
              <a:p>
                <a:pPr>
                  <a:lnSpc>
                    <a:spcPct val="120000"/>
                  </a:lnSpc>
                </a:pPr>
                <a:endParaRPr lang="zh-CN" altLang="en-US" sz="1600" dirty="0"/>
              </a:p>
            </p:txBody>
          </p:sp>
        </mc:Choice>
        <mc:Fallback xmlns="">
          <p:sp>
            <p:nvSpPr>
              <p:cNvPr id="3" name="内容占位符 2">
                <a:extLst>
                  <a:ext uri="{FF2B5EF4-FFF2-40B4-BE49-F238E27FC236}">
                    <a16:creationId xmlns:a16="http://schemas.microsoft.com/office/drawing/2014/main" id="{24C8424E-EF59-0847-4726-76F7E8FAC204}"/>
                  </a:ext>
                </a:extLst>
              </p:cNvPr>
              <p:cNvSpPr>
                <a:spLocks noGrp="1" noRot="1" noChangeAspect="1" noMove="1" noResize="1" noEditPoints="1" noAdjustHandles="1" noChangeArrowheads="1" noChangeShapeType="1" noTextEdit="1"/>
              </p:cNvSpPr>
              <p:nvPr>
                <p:ph idx="1"/>
              </p:nvPr>
            </p:nvSpPr>
            <p:spPr>
              <a:blipFill>
                <a:blip r:embed="rId2"/>
                <a:stretch>
                  <a:fillRect l="-309" b="-1204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B013689-B0C9-5FF5-9E77-7194E6FAE6A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0EDA0F8-F822-EACB-4F9A-F607ED5DD509}"/>
              </a:ext>
            </a:extLst>
          </p:cNvPr>
          <p:cNvSpPr>
            <a:spLocks noGrp="1"/>
          </p:cNvSpPr>
          <p:nvPr>
            <p:ph type="sldNum" sz="quarter" idx="12"/>
          </p:nvPr>
        </p:nvSpPr>
        <p:spPr/>
        <p:txBody>
          <a:bodyPr/>
          <a:lstStyle/>
          <a:p>
            <a:fld id="{D41FC515-8169-4A29-AA56-DBE520D5741B}" type="slidenum">
              <a:rPr lang="zh-CN" altLang="en-US" smtClean="0"/>
              <a:t>48</a:t>
            </a:fld>
            <a:endParaRPr lang="zh-CN" altLang="en-US"/>
          </a:p>
        </p:txBody>
      </p:sp>
      <p:pic>
        <p:nvPicPr>
          <p:cNvPr id="7" name="图片 6">
            <a:extLst>
              <a:ext uri="{FF2B5EF4-FFF2-40B4-BE49-F238E27FC236}">
                <a16:creationId xmlns:a16="http://schemas.microsoft.com/office/drawing/2014/main" id="{43FC9847-8F61-9663-361E-650B76C03C00}"/>
              </a:ext>
            </a:extLst>
          </p:cNvPr>
          <p:cNvPicPr>
            <a:picLocks noChangeAspect="1"/>
          </p:cNvPicPr>
          <p:nvPr/>
        </p:nvPicPr>
        <p:blipFill>
          <a:blip r:embed="rId3"/>
          <a:stretch>
            <a:fillRect/>
          </a:stretch>
        </p:blipFill>
        <p:spPr>
          <a:xfrm>
            <a:off x="4422959" y="5412465"/>
            <a:ext cx="228632" cy="362001"/>
          </a:xfrm>
          <a:prstGeom prst="rect">
            <a:avLst/>
          </a:prstGeom>
        </p:spPr>
      </p:pic>
    </p:spTree>
    <p:extLst>
      <p:ext uri="{BB962C8B-B14F-4D97-AF65-F5344CB8AC3E}">
        <p14:creationId xmlns:p14="http://schemas.microsoft.com/office/powerpoint/2010/main" val="3556306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7BE7B3-B7AB-8DF1-1859-849B78DADB30}"/>
              </a:ext>
            </a:extLst>
          </p:cNvPr>
          <p:cNvSpPr>
            <a:spLocks noGrp="1"/>
          </p:cNvSpPr>
          <p:nvPr>
            <p:ph type="title"/>
          </p:nvPr>
        </p:nvSpPr>
        <p:spPr/>
        <p:txBody>
          <a:bodyPr/>
          <a:lstStyle/>
          <a:p>
            <a:r>
              <a:rPr lang="zh-CN" altLang="en-US" dirty="0"/>
              <a:t>匹配作为一种设计方法：精英大学的作用</a:t>
            </a:r>
          </a:p>
        </p:txBody>
      </p:sp>
      <p:sp>
        <p:nvSpPr>
          <p:cNvPr id="3" name="内容占位符 2">
            <a:extLst>
              <a:ext uri="{FF2B5EF4-FFF2-40B4-BE49-F238E27FC236}">
                <a16:creationId xmlns:a16="http://schemas.microsoft.com/office/drawing/2014/main" id="{47CC796D-4454-A3B5-1507-5FC373B0B75D}"/>
              </a:ext>
            </a:extLst>
          </p:cNvPr>
          <p:cNvSpPr>
            <a:spLocks noGrp="1"/>
          </p:cNvSpPr>
          <p:nvPr>
            <p:ph idx="1"/>
          </p:nvPr>
        </p:nvSpPr>
        <p:spPr/>
        <p:txBody>
          <a:bodyPr>
            <a:normAutofit fontScale="77500" lnSpcReduction="20000"/>
          </a:bodyPr>
          <a:lstStyle/>
          <a:p>
            <a:pPr>
              <a:lnSpc>
                <a:spcPct val="120000"/>
              </a:lnSpc>
            </a:pPr>
            <a:r>
              <a:rPr lang="en-US" altLang="zh-CN" dirty="0"/>
              <a:t>Dale and Kreuger (2002) </a:t>
            </a:r>
            <a:r>
              <a:rPr lang="zh-CN" altLang="en-US" dirty="0"/>
              <a:t>利用美国的招生制度和学生申请学校的制度背景，构造了一种匹配策略。</a:t>
            </a:r>
            <a:endParaRPr lang="en-US" altLang="zh-CN" dirty="0"/>
          </a:p>
          <a:p>
            <a:pPr>
              <a:lnSpc>
                <a:spcPct val="120000"/>
              </a:lnSpc>
            </a:pPr>
            <a:r>
              <a:rPr lang="zh-CN" altLang="en-US" dirty="0"/>
              <a:t>学生申请大学分为以下的步骤：</a:t>
            </a:r>
            <a:endParaRPr lang="en-US" altLang="zh-CN" dirty="0"/>
          </a:p>
          <a:p>
            <a:pPr lvl="1">
              <a:lnSpc>
                <a:spcPct val="120000"/>
              </a:lnSpc>
            </a:pPr>
            <a:r>
              <a:rPr lang="zh-CN" altLang="en-US" dirty="0"/>
              <a:t>学生根据自己的能力、学习成绩、个人偏好等先提出申请</a:t>
            </a:r>
            <a:endParaRPr lang="en-US" altLang="zh-CN" dirty="0"/>
          </a:p>
          <a:p>
            <a:pPr lvl="1">
              <a:lnSpc>
                <a:spcPct val="120000"/>
              </a:lnSpc>
            </a:pPr>
            <a:r>
              <a:rPr lang="zh-CN" altLang="en-US" dirty="0"/>
              <a:t>学校对所有申请学生进行评价，根据自己的标准，对符合学校标准的学生发出录取决定。</a:t>
            </a:r>
            <a:endParaRPr lang="en-US" altLang="zh-CN" dirty="0"/>
          </a:p>
          <a:p>
            <a:pPr lvl="1">
              <a:lnSpc>
                <a:spcPct val="120000"/>
              </a:lnSpc>
            </a:pPr>
            <a:r>
              <a:rPr lang="zh-CN" altLang="en-US" dirty="0"/>
              <a:t>最后，学生根据拿到的录取，选取最终去的学校。</a:t>
            </a:r>
            <a:endParaRPr lang="en-US" altLang="zh-CN" dirty="0"/>
          </a:p>
          <a:p>
            <a:pPr>
              <a:lnSpc>
                <a:spcPct val="120000"/>
              </a:lnSpc>
            </a:pPr>
            <a:r>
              <a:rPr lang="zh-CN" altLang="en-US" dirty="0"/>
              <a:t>因而，学生申请学校的过程，本身就是一种匹配过程。</a:t>
            </a:r>
            <a:endParaRPr lang="en-US" altLang="zh-CN" dirty="0"/>
          </a:p>
          <a:p>
            <a:pPr>
              <a:lnSpc>
                <a:spcPct val="120000"/>
              </a:lnSpc>
            </a:pPr>
            <a:r>
              <a:rPr lang="zh-CN" altLang="en-US" dirty="0"/>
              <a:t>申请了同样学校，被同样的学校接受和拒绝的学生，在能力上应该比较相似。从两个方面体现：学生申请，体现出对自己能力的评价，学校录取决定给出学校对学生能力的评价。</a:t>
            </a:r>
          </a:p>
        </p:txBody>
      </p:sp>
      <p:sp>
        <p:nvSpPr>
          <p:cNvPr id="4" name="页脚占位符 3">
            <a:extLst>
              <a:ext uri="{FF2B5EF4-FFF2-40B4-BE49-F238E27FC236}">
                <a16:creationId xmlns:a16="http://schemas.microsoft.com/office/drawing/2014/main" id="{9B27E11E-D686-101D-92C3-40D7F6CBDFA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7A8505A-DEA4-00F7-8C8B-58232A8A0903}"/>
              </a:ext>
            </a:extLst>
          </p:cNvPr>
          <p:cNvSpPr>
            <a:spLocks noGrp="1"/>
          </p:cNvSpPr>
          <p:nvPr>
            <p:ph type="sldNum" sz="quarter" idx="12"/>
          </p:nvPr>
        </p:nvSpPr>
        <p:spPr/>
        <p:txBody>
          <a:bodyPr/>
          <a:lstStyle/>
          <a:p>
            <a:fld id="{D41FC515-8169-4A29-AA56-DBE520D5741B}" type="slidenum">
              <a:rPr lang="zh-CN" altLang="en-US" smtClean="0"/>
              <a:t>49</a:t>
            </a:fld>
            <a:endParaRPr lang="zh-CN" altLang="en-US"/>
          </a:p>
        </p:txBody>
      </p:sp>
    </p:spTree>
    <p:extLst>
      <p:ext uri="{BB962C8B-B14F-4D97-AF65-F5344CB8AC3E}">
        <p14:creationId xmlns:p14="http://schemas.microsoft.com/office/powerpoint/2010/main" val="3148384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A3CB21-3867-40F5-EAAD-9D51F6F1C262}"/>
              </a:ext>
            </a:extLst>
          </p:cNvPr>
          <p:cNvSpPr>
            <a:spLocks noGrp="1"/>
          </p:cNvSpPr>
          <p:nvPr>
            <p:ph type="title"/>
          </p:nvPr>
        </p:nvSpPr>
        <p:spPr/>
        <p:txBody>
          <a:bodyPr/>
          <a:lstStyle/>
          <a:p>
            <a:r>
              <a:rPr lang="zh-CN" altLang="en-US" dirty="0"/>
              <a:t>匹配作为一种设计方法：精英大学的作用</a:t>
            </a:r>
          </a:p>
        </p:txBody>
      </p:sp>
      <p:pic>
        <p:nvPicPr>
          <p:cNvPr id="7" name="内容占位符 6">
            <a:extLst>
              <a:ext uri="{FF2B5EF4-FFF2-40B4-BE49-F238E27FC236}">
                <a16:creationId xmlns:a16="http://schemas.microsoft.com/office/drawing/2014/main" id="{87D518DB-50F7-A36D-7C5E-485E781D638E}"/>
              </a:ext>
            </a:extLst>
          </p:cNvPr>
          <p:cNvPicPr>
            <a:picLocks noGrp="1" noChangeAspect="1"/>
          </p:cNvPicPr>
          <p:nvPr>
            <p:ph idx="1"/>
          </p:nvPr>
        </p:nvPicPr>
        <p:blipFill>
          <a:blip r:embed="rId2"/>
          <a:stretch>
            <a:fillRect/>
          </a:stretch>
        </p:blipFill>
        <p:spPr>
          <a:xfrm>
            <a:off x="1568685" y="1825625"/>
            <a:ext cx="6006630" cy="4351338"/>
          </a:xfrm>
          <a:prstGeom prst="rect">
            <a:avLst/>
          </a:prstGeom>
        </p:spPr>
      </p:pic>
      <p:sp>
        <p:nvSpPr>
          <p:cNvPr id="4" name="页脚占位符 3">
            <a:extLst>
              <a:ext uri="{FF2B5EF4-FFF2-40B4-BE49-F238E27FC236}">
                <a16:creationId xmlns:a16="http://schemas.microsoft.com/office/drawing/2014/main" id="{92627C1C-1E6D-650F-11B5-21CA52F1E5EA}"/>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FC47AE0-988C-F592-D721-8145DA2AD179}"/>
              </a:ext>
            </a:extLst>
          </p:cNvPr>
          <p:cNvSpPr>
            <a:spLocks noGrp="1"/>
          </p:cNvSpPr>
          <p:nvPr>
            <p:ph type="sldNum" sz="quarter" idx="12"/>
          </p:nvPr>
        </p:nvSpPr>
        <p:spPr/>
        <p:txBody>
          <a:bodyPr/>
          <a:lstStyle/>
          <a:p>
            <a:fld id="{D41FC515-8169-4A29-AA56-DBE520D5741B}" type="slidenum">
              <a:rPr lang="zh-CN" altLang="en-US" smtClean="0"/>
              <a:t>50</a:t>
            </a:fld>
            <a:endParaRPr lang="zh-CN" altLang="en-US"/>
          </a:p>
        </p:txBody>
      </p:sp>
    </p:spTree>
    <p:extLst>
      <p:ext uri="{BB962C8B-B14F-4D97-AF65-F5344CB8AC3E}">
        <p14:creationId xmlns:p14="http://schemas.microsoft.com/office/powerpoint/2010/main" val="21919211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5DD062-C75A-C212-3DC3-9245099B8A6C}"/>
              </a:ext>
            </a:extLst>
          </p:cNvPr>
          <p:cNvSpPr>
            <a:spLocks noGrp="1"/>
          </p:cNvSpPr>
          <p:nvPr>
            <p:ph type="title"/>
          </p:nvPr>
        </p:nvSpPr>
        <p:spPr/>
        <p:txBody>
          <a:bodyPr/>
          <a:lstStyle/>
          <a:p>
            <a:r>
              <a:rPr lang="zh-CN" altLang="en-US" dirty="0"/>
              <a:t>匹配作为一种设计方法：精英大学的作用</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F6AFFB3-9552-EB99-23B7-323C1C575927}"/>
                  </a:ext>
                </a:extLst>
              </p:cNvPr>
              <p:cNvSpPr>
                <a:spLocks noGrp="1"/>
              </p:cNvSpPr>
              <p:nvPr>
                <p:ph idx="1"/>
              </p:nvPr>
            </p:nvSpPr>
            <p:spPr/>
            <p:txBody>
              <a:bodyPr>
                <a:noAutofit/>
              </a:bodyPr>
              <a:lstStyle/>
              <a:p>
                <a:pPr>
                  <a:lnSpc>
                    <a:spcPct val="120000"/>
                  </a:lnSpc>
                </a:pPr>
                <a:r>
                  <a:rPr lang="zh-CN" altLang="en-US" sz="1800" dirty="0"/>
                  <a:t>通过匹配之后，得到一个新的分组变量𝐺𝑖，就象前面表中的𝐴、𝐵 一样，实际有 </a:t>
                </a:r>
                <a:r>
                  <a:rPr lang="en-US" altLang="zh-CN" sz="1800" dirty="0"/>
                  <a:t>151 </a:t>
                </a:r>
                <a:r>
                  <a:rPr lang="zh-CN" altLang="en-US" sz="1800" dirty="0"/>
                  <a:t>组。</a:t>
                </a:r>
                <a:endParaRPr lang="en-US" altLang="zh-CN" sz="1800" dirty="0"/>
              </a:p>
              <a:p>
                <a:pPr>
                  <a:lnSpc>
                    <a:spcPct val="120000"/>
                  </a:lnSpc>
                </a:pPr>
                <a:r>
                  <a:rPr lang="zh-CN" altLang="en-US" sz="1800" dirty="0"/>
                  <a:t>在每</a:t>
                </a:r>
                <a:r>
                  <a:rPr lang="en-US" altLang="zh-CN" sz="1800" dirty="0"/>
                  <a:t>1 </a:t>
                </a:r>
                <a:r>
                  <a:rPr lang="zh-CN" altLang="en-US" sz="1800" dirty="0"/>
                  <a:t>组内，通过匹配后，其能力可以认为是相同的，此时，我们将有</a:t>
                </a:r>
                <a:endParaRPr lang="en-US" altLang="zh-CN" sz="1800" dirty="0"/>
              </a:p>
              <a:p>
                <a:pPr marL="0" indent="0">
                  <a:lnSpc>
                    <a:spcPct val="120000"/>
                  </a:lnSpc>
                  <a:buNone/>
                </a:pPr>
                <a14:m>
                  <m:oMathPara xmlns:m="http://schemas.openxmlformats.org/officeDocument/2006/math">
                    <m:oMath>
                      <m:r>
                        <a:rPr lang="en-US" altLang="zh-CN" sz="1800" i="1" dirty="0" smtClean="0">
                          <a:latin typeface="Cambria Math" panose="02040503050406030204" pitchFamily="18" charset="0"/>
                        </a:rPr>
                        <m:t>(</m:t>
                      </m:r>
                      <m:r>
                        <a:rPr lang="zh-CN" altLang="en-US" sz="1800" i="1" dirty="0">
                          <a:latin typeface="Cambria Math" panose="02040503050406030204" pitchFamily="18" charset="0"/>
                        </a:rPr>
                        <m:t>𝑌𝑖</m:t>
                      </m:r>
                      <m:r>
                        <a:rPr lang="en-US" altLang="zh-CN" sz="1800" i="1" dirty="0">
                          <a:latin typeface="Cambria Math" panose="02040503050406030204" pitchFamily="18" charset="0"/>
                        </a:rPr>
                        <m:t>(1), </m:t>
                      </m:r>
                      <m:r>
                        <a:rPr lang="zh-CN" altLang="en-US" sz="1800" i="1" dirty="0">
                          <a:latin typeface="Cambria Math" panose="02040503050406030204" pitchFamily="18" charset="0"/>
                        </a:rPr>
                        <m:t>𝑌𝑖</m:t>
                      </m:r>
                      <m:r>
                        <a:rPr lang="en-US" altLang="zh-CN" sz="1800" i="1" dirty="0">
                          <a:latin typeface="Cambria Math" panose="02040503050406030204" pitchFamily="18" charset="0"/>
                        </a:rPr>
                        <m:t>(0)) </m:t>
                      </m:r>
                      <m:r>
                        <a:rPr lang="en-US" altLang="zh-CN" sz="1800" b="0" i="1" dirty="0" smtClean="0">
                          <a:latin typeface="Cambria Math" panose="02040503050406030204" pitchFamily="18" charset="0"/>
                        </a:rPr>
                        <m:t>  </m:t>
                      </m:r>
                      <m:r>
                        <a:rPr lang="en-US" altLang="zh-CN" sz="1800" i="1" dirty="0">
                          <a:latin typeface="Cambria Math" panose="02040503050406030204" pitchFamily="18" charset="0"/>
                        </a:rPr>
                        <m:t> </m:t>
                      </m:r>
                      <m:r>
                        <a:rPr lang="zh-CN" altLang="en-US" sz="1800" i="1" dirty="0">
                          <a:latin typeface="Cambria Math" panose="02040503050406030204" pitchFamily="18" charset="0"/>
                        </a:rPr>
                        <m:t>𝐷𝑖</m:t>
                      </m:r>
                      <m:r>
                        <a:rPr lang="en-US" altLang="zh-CN" sz="1800" i="1" dirty="0">
                          <a:latin typeface="Cambria Math" panose="02040503050406030204" pitchFamily="18" charset="0"/>
                        </a:rPr>
                        <m:t>|</m:t>
                      </m:r>
                      <m:r>
                        <a:rPr lang="zh-CN" altLang="en-US" sz="1800" i="1" dirty="0">
                          <a:latin typeface="Cambria Math" panose="02040503050406030204" pitchFamily="18" charset="0"/>
                        </a:rPr>
                        <m:t>𝑋𝑖</m:t>
                      </m:r>
                      <m:r>
                        <a:rPr lang="en-US" altLang="zh-CN" sz="1800" i="1" dirty="0">
                          <a:latin typeface="Cambria Math" panose="02040503050406030204" pitchFamily="18" charset="0"/>
                        </a:rPr>
                        <m:t>, (</m:t>
                      </m:r>
                      <m:r>
                        <a:rPr lang="zh-CN" altLang="en-US" sz="1800" i="1" dirty="0">
                          <a:latin typeface="Cambria Math" panose="02040503050406030204" pitchFamily="18" charset="0"/>
                        </a:rPr>
                        <m:t>𝑌𝑖</m:t>
                      </m:r>
                      <m:r>
                        <a:rPr lang="en-US" altLang="zh-CN" sz="1800" i="1" dirty="0">
                          <a:latin typeface="Cambria Math" panose="02040503050406030204" pitchFamily="18" charset="0"/>
                        </a:rPr>
                        <m:t>(1), </m:t>
                      </m:r>
                      <m:r>
                        <a:rPr lang="zh-CN" altLang="en-US" sz="1800" i="1" dirty="0">
                          <a:latin typeface="Cambria Math" panose="02040503050406030204" pitchFamily="18" charset="0"/>
                        </a:rPr>
                        <m:t>𝑌𝑖</m:t>
                      </m:r>
                      <m:r>
                        <a:rPr lang="en-US" altLang="zh-CN" sz="1800" i="1" dirty="0">
                          <a:latin typeface="Cambria Math" panose="02040503050406030204" pitchFamily="18" charset="0"/>
                        </a:rPr>
                        <m:t>(0)) ⟂ </m:t>
                      </m:r>
                      <m:r>
                        <a:rPr lang="zh-CN" altLang="en-US" sz="1800" i="1" dirty="0">
                          <a:latin typeface="Cambria Math" panose="02040503050406030204" pitchFamily="18" charset="0"/>
                        </a:rPr>
                        <m:t>𝐷𝑖</m:t>
                      </m:r>
                      <m:r>
                        <a:rPr lang="en-US" altLang="zh-CN" sz="1800" i="1" dirty="0">
                          <a:latin typeface="Cambria Math" panose="02040503050406030204" pitchFamily="18" charset="0"/>
                        </a:rPr>
                        <m:t>|(</m:t>
                      </m:r>
                      <m:r>
                        <a:rPr lang="zh-CN" altLang="en-US" sz="1800" i="1" dirty="0">
                          <a:latin typeface="Cambria Math" panose="02040503050406030204" pitchFamily="18" charset="0"/>
                        </a:rPr>
                        <m:t>𝑋𝑖</m:t>
                      </m:r>
                      <m:r>
                        <a:rPr lang="en-US" altLang="zh-CN" sz="1800" i="1" dirty="0">
                          <a:latin typeface="Cambria Math" panose="02040503050406030204" pitchFamily="18" charset="0"/>
                        </a:rPr>
                        <m:t>, </m:t>
                      </m:r>
                      <m:r>
                        <a:rPr lang="zh-CN" altLang="en-US" sz="1800" i="1" dirty="0">
                          <a:latin typeface="Cambria Math" panose="02040503050406030204" pitchFamily="18" charset="0"/>
                        </a:rPr>
                        <m:t>𝐺𝑖</m:t>
                      </m:r>
                      <m:r>
                        <a:rPr lang="en-US" altLang="zh-CN" sz="1800" i="1" dirty="0">
                          <a:latin typeface="Cambria Math" panose="02040503050406030204" pitchFamily="18" charset="0"/>
                        </a:rPr>
                        <m:t>),</m:t>
                      </m:r>
                    </m:oMath>
                  </m:oMathPara>
                </a14:m>
                <a:endParaRPr lang="en-US" altLang="zh-CN" sz="1800" dirty="0"/>
              </a:p>
              <a:p>
                <a:pPr>
                  <a:lnSpc>
                    <a:spcPct val="120000"/>
                  </a:lnSpc>
                </a:pPr>
                <a:r>
                  <a:rPr lang="zh-CN" altLang="en-US" sz="1800" dirty="0"/>
                  <a:t>𝐺𝑖 控制组了能力𝐴𝑖，分组变量是匹配后新构造出的变量，用于控制混杂因素𝐴𝑖。</a:t>
                </a:r>
                <a:endParaRPr lang="en-US" altLang="zh-CN" sz="1800" dirty="0"/>
              </a:p>
              <a:p>
                <a:pPr>
                  <a:lnSpc>
                    <a:spcPct val="120000"/>
                  </a:lnSpc>
                </a:pPr>
                <a:r>
                  <a:rPr lang="zh-CN" altLang="en-US" sz="1800" dirty="0"/>
                  <a:t>匹配后的数据满足非混杂性，类似于一个分层随机化实验，每一组内类似于完全随机化实验，可以直接利用回归估计因果效应。</a:t>
                </a:r>
                <a:endParaRPr lang="en-US" altLang="zh-CN" sz="1800" dirty="0"/>
              </a:p>
              <a:p>
                <a:pPr marL="0" indent="0">
                  <a:lnSpc>
                    <a:spcPct val="120000"/>
                  </a:lnSpc>
                  <a:buNone/>
                </a:pPr>
                <a14:m>
                  <m:oMathPara xmlns:m="http://schemas.openxmlformats.org/officeDocument/2006/math">
                    <m:oMath>
                      <m:r>
                        <a:rPr lang="en-US" altLang="zh-CN" sz="1800" b="0" i="1" smtClean="0">
                          <a:latin typeface="Cambria Math" panose="02040503050406030204" pitchFamily="18" charset="0"/>
                        </a:rPr>
                        <m:t>𝑙𝑛</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𝑌</m:t>
                          </m:r>
                        </m:e>
                        <m:sub>
                          <m:r>
                            <a:rPr lang="en-US" altLang="zh-CN" sz="1800" b="0" i="1" smtClean="0">
                              <a:latin typeface="Cambria Math" panose="02040503050406030204" pitchFamily="18" charset="0"/>
                            </a:rPr>
                            <m:t>𝑖</m:t>
                          </m:r>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𝛼</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𝜏</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𝑖</m:t>
                          </m:r>
                        </m:sub>
                      </m:sSub>
                      <m:r>
                        <a:rPr lang="en-US" altLang="zh-CN" sz="1800" b="0" i="1" smtClean="0">
                          <a:latin typeface="Cambria Math" panose="02040503050406030204" pitchFamily="18" charset="0"/>
                        </a:rPr>
                        <m:t>+</m:t>
                      </m:r>
                      <m:nary>
                        <m:naryPr>
                          <m:chr m:val="∑"/>
                          <m:ctrlPr>
                            <a:rPr lang="en-US" altLang="zh-CN" sz="1800" b="0" i="1" smtClean="0">
                              <a:latin typeface="Cambria Math" panose="02040503050406030204" pitchFamily="18" charset="0"/>
                            </a:rPr>
                          </m:ctrlPr>
                        </m:naryPr>
                        <m:sub>
                          <m:r>
                            <a:rPr lang="en-US" altLang="zh-CN" sz="1800" b="0" i="1" smtClean="0">
                              <a:latin typeface="Cambria Math" panose="02040503050406030204" pitchFamily="18" charset="0"/>
                            </a:rPr>
                            <m:t>𝑖</m:t>
                          </m:r>
                        </m:sub>
                        <m:sup>
                          <m:r>
                            <a:rPr lang="en-US" altLang="zh-CN" sz="1800" b="0" i="1" smtClean="0">
                              <a:latin typeface="Cambria Math" panose="02040503050406030204" pitchFamily="18" charset="0"/>
                            </a:rPr>
                            <m:t>150</m:t>
                          </m:r>
                        </m:sup>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𝛾</m:t>
                              </m:r>
                            </m:e>
                            <m:sub>
                              <m:r>
                                <a:rPr lang="en-US" altLang="zh-CN" sz="1800" b="0" i="1" smtClean="0">
                                  <a:latin typeface="Cambria Math" panose="02040503050406030204" pitchFamily="18" charset="0"/>
                                </a:rPr>
                                <m:t>𝑗</m:t>
                              </m:r>
                            </m:sub>
                          </m:sSub>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𝐺</m:t>
                              </m:r>
                            </m:e>
                            <m:sub>
                              <m:r>
                                <a:rPr lang="en-US" altLang="zh-CN" sz="1800" b="0" i="1" smtClean="0">
                                  <a:latin typeface="Cambria Math" panose="02040503050406030204" pitchFamily="18" charset="0"/>
                                </a:rPr>
                                <m:t>𝑗𝑡</m:t>
                              </m:r>
                            </m:sub>
                          </m:sSub>
                        </m:e>
                      </m:nary>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𝛽</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𝑋</m:t>
                          </m:r>
                        </m:e>
                        <m:sub>
                          <m:r>
                            <a:rPr lang="en-US" altLang="zh-CN" sz="1800" b="0" i="1" smtClean="0">
                              <a:latin typeface="Cambria Math" panose="02040503050406030204" pitchFamily="18" charset="0"/>
                            </a:rPr>
                            <m:t>𝑖</m:t>
                          </m:r>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𝜀</m:t>
                          </m:r>
                        </m:e>
                        <m:sub>
                          <m:r>
                            <a:rPr lang="en-US" altLang="zh-CN" sz="1800" b="0" i="1" smtClean="0">
                              <a:latin typeface="Cambria Math" panose="02040503050406030204" pitchFamily="18" charset="0"/>
                            </a:rPr>
                            <m:t>𝑖</m:t>
                          </m:r>
                        </m:sub>
                      </m:sSub>
                      <m:r>
                        <a:rPr lang="en-US" altLang="zh-CN" sz="1800" b="0" i="1" smtClean="0">
                          <a:latin typeface="Cambria Math" panose="02040503050406030204" pitchFamily="18" charset="0"/>
                        </a:rPr>
                        <m:t>,</m:t>
                      </m:r>
                    </m:oMath>
                  </m:oMathPara>
                </a14:m>
                <a:endParaRPr lang="en-US" altLang="zh-CN" sz="1800" dirty="0"/>
              </a:p>
              <a:p>
                <a:pPr>
                  <a:lnSpc>
                    <a:spcPct val="120000"/>
                  </a:lnSpc>
                </a:pPr>
                <a:endParaRPr lang="zh-CN" altLang="en-US" sz="1800" dirty="0"/>
              </a:p>
            </p:txBody>
          </p:sp>
        </mc:Choice>
        <mc:Fallback xmlns="">
          <p:sp>
            <p:nvSpPr>
              <p:cNvPr id="3" name="内容占位符 2">
                <a:extLst>
                  <a:ext uri="{FF2B5EF4-FFF2-40B4-BE49-F238E27FC236}">
                    <a16:creationId xmlns:a16="http://schemas.microsoft.com/office/drawing/2014/main" id="{DF6AFFB3-9552-EB99-23B7-323C1C575927}"/>
                  </a:ext>
                </a:extLst>
              </p:cNvPr>
              <p:cNvSpPr>
                <a:spLocks noGrp="1" noRot="1" noChangeAspect="1" noMove="1" noResize="1" noEditPoints="1" noAdjustHandles="1" noChangeArrowheads="1" noChangeShapeType="1" noTextEdit="1"/>
              </p:cNvSpPr>
              <p:nvPr>
                <p:ph idx="1"/>
              </p:nvPr>
            </p:nvSpPr>
            <p:spPr>
              <a:blipFill>
                <a:blip r:embed="rId2"/>
                <a:stretch>
                  <a:fillRect l="-464" t="-140" r="-23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2DED7547-048D-2BF2-5D89-2BC5F4933AD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8854724-A019-268A-A299-F95684F7E4C3}"/>
              </a:ext>
            </a:extLst>
          </p:cNvPr>
          <p:cNvSpPr>
            <a:spLocks noGrp="1"/>
          </p:cNvSpPr>
          <p:nvPr>
            <p:ph type="sldNum" sz="quarter" idx="12"/>
          </p:nvPr>
        </p:nvSpPr>
        <p:spPr/>
        <p:txBody>
          <a:bodyPr/>
          <a:lstStyle/>
          <a:p>
            <a:fld id="{D41FC515-8169-4A29-AA56-DBE520D5741B}" type="slidenum">
              <a:rPr lang="zh-CN" altLang="en-US" smtClean="0"/>
              <a:t>51</a:t>
            </a:fld>
            <a:endParaRPr lang="zh-CN" altLang="en-US"/>
          </a:p>
        </p:txBody>
      </p:sp>
      <p:pic>
        <p:nvPicPr>
          <p:cNvPr id="7" name="图片 6">
            <a:extLst>
              <a:ext uri="{FF2B5EF4-FFF2-40B4-BE49-F238E27FC236}">
                <a16:creationId xmlns:a16="http://schemas.microsoft.com/office/drawing/2014/main" id="{8705D775-139B-B5DA-B978-600CDB4E75BD}"/>
              </a:ext>
            </a:extLst>
          </p:cNvPr>
          <p:cNvPicPr>
            <a:picLocks noChangeAspect="1"/>
          </p:cNvPicPr>
          <p:nvPr/>
        </p:nvPicPr>
        <p:blipFill>
          <a:blip r:embed="rId3"/>
          <a:stretch>
            <a:fillRect/>
          </a:stretch>
        </p:blipFill>
        <p:spPr>
          <a:xfrm>
            <a:off x="3481315" y="3000835"/>
            <a:ext cx="190527" cy="323895"/>
          </a:xfrm>
          <a:prstGeom prst="rect">
            <a:avLst/>
          </a:prstGeom>
        </p:spPr>
      </p:pic>
    </p:spTree>
    <p:extLst>
      <p:ext uri="{BB962C8B-B14F-4D97-AF65-F5344CB8AC3E}">
        <p14:creationId xmlns:p14="http://schemas.microsoft.com/office/powerpoint/2010/main" val="15495979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B4EDDF-5A48-A352-23DC-8A8E2D7EA609}"/>
              </a:ext>
            </a:extLst>
          </p:cNvPr>
          <p:cNvSpPr>
            <a:spLocks noGrp="1"/>
          </p:cNvSpPr>
          <p:nvPr>
            <p:ph type="title"/>
          </p:nvPr>
        </p:nvSpPr>
        <p:spPr/>
        <p:txBody>
          <a:bodyPr/>
          <a:lstStyle/>
          <a:p>
            <a:r>
              <a:rPr lang="zh-CN" altLang="en-US" dirty="0"/>
              <a:t>匹配作为一种设计方法：精英大学的作用</a:t>
            </a:r>
          </a:p>
        </p:txBody>
      </p:sp>
      <p:pic>
        <p:nvPicPr>
          <p:cNvPr id="7" name="内容占位符 6">
            <a:extLst>
              <a:ext uri="{FF2B5EF4-FFF2-40B4-BE49-F238E27FC236}">
                <a16:creationId xmlns:a16="http://schemas.microsoft.com/office/drawing/2014/main" id="{AD92BCE4-1116-2216-157A-B48AAF4EC397}"/>
              </a:ext>
            </a:extLst>
          </p:cNvPr>
          <p:cNvPicPr>
            <a:picLocks noGrp="1" noChangeAspect="1"/>
          </p:cNvPicPr>
          <p:nvPr>
            <p:ph idx="1"/>
          </p:nvPr>
        </p:nvPicPr>
        <p:blipFill>
          <a:blip r:embed="rId2"/>
          <a:stretch>
            <a:fillRect/>
          </a:stretch>
        </p:blipFill>
        <p:spPr>
          <a:xfrm>
            <a:off x="1799735" y="1825625"/>
            <a:ext cx="5544529" cy="4351338"/>
          </a:xfrm>
          <a:prstGeom prst="rect">
            <a:avLst/>
          </a:prstGeom>
        </p:spPr>
      </p:pic>
      <p:sp>
        <p:nvSpPr>
          <p:cNvPr id="4" name="页脚占位符 3">
            <a:extLst>
              <a:ext uri="{FF2B5EF4-FFF2-40B4-BE49-F238E27FC236}">
                <a16:creationId xmlns:a16="http://schemas.microsoft.com/office/drawing/2014/main" id="{26C0D836-1E4E-138D-976C-44BE64A948A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3498EC7-5E83-1110-A963-FB0302DC24DA}"/>
              </a:ext>
            </a:extLst>
          </p:cNvPr>
          <p:cNvSpPr>
            <a:spLocks noGrp="1"/>
          </p:cNvSpPr>
          <p:nvPr>
            <p:ph type="sldNum" sz="quarter" idx="12"/>
          </p:nvPr>
        </p:nvSpPr>
        <p:spPr/>
        <p:txBody>
          <a:bodyPr/>
          <a:lstStyle/>
          <a:p>
            <a:fld id="{D41FC515-8169-4A29-AA56-DBE520D5741B}" type="slidenum">
              <a:rPr lang="zh-CN" altLang="en-US" smtClean="0"/>
              <a:t>52</a:t>
            </a:fld>
            <a:endParaRPr lang="zh-CN" altLang="en-US"/>
          </a:p>
        </p:txBody>
      </p:sp>
      <p:sp>
        <p:nvSpPr>
          <p:cNvPr id="9" name="文本框 8">
            <a:extLst>
              <a:ext uri="{FF2B5EF4-FFF2-40B4-BE49-F238E27FC236}">
                <a16:creationId xmlns:a16="http://schemas.microsoft.com/office/drawing/2014/main" id="{3114BC2F-E121-BB31-4F5C-953F4CA4FE78}"/>
              </a:ext>
            </a:extLst>
          </p:cNvPr>
          <p:cNvSpPr txBox="1"/>
          <p:nvPr/>
        </p:nvSpPr>
        <p:spPr>
          <a:xfrm>
            <a:off x="3559214" y="1487071"/>
            <a:ext cx="4572000" cy="338554"/>
          </a:xfrm>
          <a:prstGeom prst="rect">
            <a:avLst/>
          </a:prstGeom>
          <a:noFill/>
        </p:spPr>
        <p:txBody>
          <a:bodyPr wrap="square">
            <a:spAutoFit/>
          </a:bodyPr>
          <a:lstStyle/>
          <a:p>
            <a:r>
              <a:rPr lang="en-US" altLang="zh-CN" sz="1600" b="0" i="0" u="none" strike="noStrike" baseline="0" dirty="0">
                <a:solidFill>
                  <a:srgbClr val="3333B3"/>
                </a:solidFill>
                <a:latin typeface="LMRoman8-Regular-Identity-H"/>
              </a:rPr>
              <a:t>Table 1: </a:t>
            </a:r>
            <a:r>
              <a:rPr lang="zh-CN" altLang="en-US" sz="1600" b="0" i="0" u="none" strike="noStrike" baseline="0" dirty="0">
                <a:solidFill>
                  <a:srgbClr val="000000"/>
                </a:solidFill>
                <a:latin typeface="宋体" panose="02010600030101010101" pitchFamily="2" charset="-122"/>
                <a:ea typeface="宋体" panose="02010600030101010101" pitchFamily="2" charset="-122"/>
              </a:rPr>
              <a:t>精英大学的作用</a:t>
            </a:r>
            <a:endParaRPr lang="zh-CN" altLang="en-US" sz="1600" dirty="0"/>
          </a:p>
        </p:txBody>
      </p:sp>
    </p:spTree>
    <p:extLst>
      <p:ext uri="{BB962C8B-B14F-4D97-AF65-F5344CB8AC3E}">
        <p14:creationId xmlns:p14="http://schemas.microsoft.com/office/powerpoint/2010/main" val="109401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97DB66-A7D8-395C-CA30-2722624601FE}"/>
              </a:ext>
            </a:extLst>
          </p:cNvPr>
          <p:cNvSpPr>
            <a:spLocks noGrp="1"/>
          </p:cNvSpPr>
          <p:nvPr>
            <p:ph type="title"/>
          </p:nvPr>
        </p:nvSpPr>
        <p:spPr/>
        <p:txBody>
          <a:bodyPr/>
          <a:lstStyle/>
          <a:p>
            <a:r>
              <a:rPr lang="zh-CN" altLang="en-US" dirty="0"/>
              <a:t>匹配</a:t>
            </a:r>
            <a:br>
              <a:rPr lang="zh-CN" altLang="en-US" dirty="0"/>
            </a:br>
            <a:r>
              <a:rPr lang="zh-CN" altLang="en-US" sz="2400" dirty="0"/>
              <a:t>软件</a:t>
            </a:r>
          </a:p>
        </p:txBody>
      </p:sp>
      <p:sp>
        <p:nvSpPr>
          <p:cNvPr id="4" name="页脚占位符 3">
            <a:extLst>
              <a:ext uri="{FF2B5EF4-FFF2-40B4-BE49-F238E27FC236}">
                <a16:creationId xmlns:a16="http://schemas.microsoft.com/office/drawing/2014/main" id="{C00E7ABF-343B-11A6-450B-BB7DD820E7C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7D046D0-0A76-D994-5E69-800C9C13CDCF}"/>
              </a:ext>
            </a:extLst>
          </p:cNvPr>
          <p:cNvSpPr>
            <a:spLocks noGrp="1"/>
          </p:cNvSpPr>
          <p:nvPr>
            <p:ph type="sldNum" sz="quarter" idx="12"/>
          </p:nvPr>
        </p:nvSpPr>
        <p:spPr/>
        <p:txBody>
          <a:bodyPr/>
          <a:lstStyle/>
          <a:p>
            <a:fld id="{D41FC515-8169-4A29-AA56-DBE520D5741B}" type="slidenum">
              <a:rPr lang="zh-CN" altLang="en-US" smtClean="0"/>
              <a:t>53</a:t>
            </a:fld>
            <a:endParaRPr lang="zh-CN" altLang="en-US"/>
          </a:p>
        </p:txBody>
      </p:sp>
      <p:sp>
        <p:nvSpPr>
          <p:cNvPr id="9" name="内容占位符 8">
            <a:extLst>
              <a:ext uri="{FF2B5EF4-FFF2-40B4-BE49-F238E27FC236}">
                <a16:creationId xmlns:a16="http://schemas.microsoft.com/office/drawing/2014/main" id="{19091286-3A96-789E-FF4B-10E6260BEEA6}"/>
              </a:ext>
            </a:extLst>
          </p:cNvPr>
          <p:cNvSpPr>
            <a:spLocks noGrp="1"/>
          </p:cNvSpPr>
          <p:nvPr>
            <p:ph idx="1"/>
          </p:nvPr>
        </p:nvSpPr>
        <p:spPr/>
        <p:txBody>
          <a:bodyPr/>
          <a:lstStyle/>
          <a:p>
            <a:r>
              <a:rPr lang="en-US" altLang="zh-CN" dirty="0"/>
              <a:t>Stata: </a:t>
            </a:r>
            <a:r>
              <a:rPr lang="en-US" altLang="zh-CN" dirty="0" err="1"/>
              <a:t>teffects</a:t>
            </a:r>
            <a:r>
              <a:rPr lang="en-US" altLang="zh-CN" dirty="0"/>
              <a:t> </a:t>
            </a:r>
            <a:r>
              <a:rPr lang="en-US" altLang="zh-CN" dirty="0" err="1"/>
              <a:t>nnmatch</a:t>
            </a:r>
            <a:r>
              <a:rPr lang="en-US" altLang="zh-CN" dirty="0"/>
              <a:t>, </a:t>
            </a:r>
            <a:r>
              <a:rPr lang="en-US" altLang="zh-CN" dirty="0" err="1"/>
              <a:t>attk</a:t>
            </a:r>
            <a:r>
              <a:rPr lang="en-US" altLang="zh-CN" dirty="0"/>
              <a:t>, </a:t>
            </a:r>
            <a:r>
              <a:rPr lang="en-US" altLang="zh-CN" dirty="0" err="1"/>
              <a:t>kmatch</a:t>
            </a:r>
            <a:endParaRPr lang="en-US" altLang="zh-CN" dirty="0"/>
          </a:p>
          <a:p>
            <a:r>
              <a:rPr lang="en-US" altLang="zh-CN" dirty="0"/>
              <a:t>R: Matching, </a:t>
            </a:r>
            <a:r>
              <a:rPr lang="en-US" altLang="zh-CN" dirty="0" err="1"/>
              <a:t>MatchIt</a:t>
            </a:r>
            <a:r>
              <a:rPr lang="en-US" altLang="zh-CN" dirty="0"/>
              <a:t> </a:t>
            </a:r>
            <a:r>
              <a:rPr lang="zh-CN" altLang="en-US" dirty="0"/>
              <a:t>等</a:t>
            </a:r>
          </a:p>
        </p:txBody>
      </p:sp>
    </p:spTree>
    <p:extLst>
      <p:ext uri="{BB962C8B-B14F-4D97-AF65-F5344CB8AC3E}">
        <p14:creationId xmlns:p14="http://schemas.microsoft.com/office/powerpoint/2010/main" val="3448272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17131E-3A0C-6C45-11C6-1170C5770812}"/>
              </a:ext>
            </a:extLst>
          </p:cNvPr>
          <p:cNvSpPr>
            <a:spLocks noGrp="1"/>
          </p:cNvSpPr>
          <p:nvPr>
            <p:ph type="title"/>
          </p:nvPr>
        </p:nvSpPr>
        <p:spPr/>
        <p:txBody>
          <a:bodyPr/>
          <a:lstStyle/>
          <a:p>
            <a:r>
              <a:rPr lang="zh-CN" altLang="en-US" dirty="0"/>
              <a:t>倾向得分匹配</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D6570CC-B807-5147-1477-34C6FD96063B}"/>
                  </a:ext>
                </a:extLst>
              </p:cNvPr>
              <p:cNvSpPr>
                <a:spLocks noGrp="1"/>
              </p:cNvSpPr>
              <p:nvPr>
                <p:ph idx="1"/>
              </p:nvPr>
            </p:nvSpPr>
            <p:spPr/>
            <p:txBody>
              <a:bodyPr>
                <a:normAutofit/>
              </a:bodyPr>
              <a:lstStyle/>
              <a:p>
                <a:pPr>
                  <a:lnSpc>
                    <a:spcPct val="120000"/>
                  </a:lnSpc>
                </a:pPr>
                <a:r>
                  <a:rPr lang="zh-CN" altLang="en-US" dirty="0"/>
                  <a:t>根据倾向指数定理</a:t>
                </a:r>
                <a:r>
                  <a:rPr lang="en-US" altLang="zh-CN" dirty="0"/>
                  <a:t>1</a:t>
                </a:r>
                <a:r>
                  <a:rPr lang="zh-CN" altLang="en-US" dirty="0"/>
                  <a:t>，非混杂性假设成立，则可以根据𝑒</a:t>
                </a:r>
                <a:r>
                  <a:rPr lang="en-US" altLang="zh-CN" dirty="0"/>
                  <a:t>(</a:t>
                </a:r>
                <a:r>
                  <a:rPr lang="zh-CN" altLang="en-US" dirty="0"/>
                  <a:t>𝑋</a:t>
                </a:r>
                <a:r>
                  <a:rPr lang="en-US" altLang="zh-CN" dirty="0"/>
                  <a:t>) </a:t>
                </a:r>
                <a:r>
                  <a:rPr lang="zh-CN" altLang="en-US" dirty="0"/>
                  <a:t>进行匹配。</a:t>
                </a:r>
                <a:endParaRPr lang="en-US" altLang="zh-CN" dirty="0"/>
              </a:p>
              <a:p>
                <a:pPr>
                  <a:lnSpc>
                    <a:spcPct val="120000"/>
                  </a:lnSpc>
                </a:pPr>
                <a:r>
                  <a:rPr lang="zh-CN" altLang="en-US" dirty="0"/>
                  <a:t>倾向得分匹配：首先估计倾向得分模型；然后将 </a:t>
                </a:r>
                <a14:m>
                  <m:oMath xmlns:m="http://schemas.openxmlformats.org/officeDocument/2006/math">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𝑒</m:t>
                        </m:r>
                      </m:e>
                    </m:acc>
                    <m:r>
                      <a:rPr lang="en-US" altLang="zh-CN" i="1" dirty="0">
                        <a:latin typeface="Cambria Math" panose="02040503050406030204" pitchFamily="18" charset="0"/>
                      </a:rPr>
                      <m:t>(</m:t>
                    </m:r>
                    <m:r>
                      <a:rPr lang="zh-CN" altLang="en-US" i="1" dirty="0">
                        <a:latin typeface="Cambria Math" panose="02040503050406030204" pitchFamily="18" charset="0"/>
                      </a:rPr>
                      <m:t>𝑋</m:t>
                    </m:r>
                    <m:r>
                      <a:rPr lang="en-US" altLang="zh-CN" i="1" dirty="0">
                        <a:latin typeface="Cambria Math" panose="02040503050406030204" pitchFamily="18" charset="0"/>
                      </a:rPr>
                      <m:t>) </m:t>
                    </m:r>
                  </m:oMath>
                </a14:m>
                <a:r>
                  <a:rPr lang="zh-CN" altLang="en-US" dirty="0"/>
                  <a:t>作为协变量进行匹配。</a:t>
                </a:r>
                <a:endParaRPr lang="en-US" altLang="zh-CN" dirty="0"/>
              </a:p>
              <a:p>
                <a:pPr>
                  <a:lnSpc>
                    <a:spcPct val="120000"/>
                  </a:lnSpc>
                </a:pPr>
                <a:r>
                  <a:rPr lang="en-US" altLang="zh-CN" dirty="0"/>
                  <a:t>Stata </a:t>
                </a:r>
                <a:r>
                  <a:rPr lang="zh-CN" altLang="en-US" dirty="0"/>
                  <a:t>命令：</a:t>
                </a:r>
                <a:r>
                  <a:rPr lang="en-US" altLang="zh-CN" dirty="0" err="1"/>
                  <a:t>teffects</a:t>
                </a:r>
                <a:r>
                  <a:rPr lang="en-US" altLang="zh-CN" dirty="0"/>
                  <a:t> </a:t>
                </a:r>
                <a:r>
                  <a:rPr lang="en-US" altLang="zh-CN" dirty="0" err="1"/>
                  <a:t>psmatch</a:t>
                </a:r>
                <a:endParaRPr lang="zh-CN" altLang="en-US" dirty="0"/>
              </a:p>
            </p:txBody>
          </p:sp>
        </mc:Choice>
        <mc:Fallback xmlns="">
          <p:sp>
            <p:nvSpPr>
              <p:cNvPr id="3" name="内容占位符 2">
                <a:extLst>
                  <a:ext uri="{FF2B5EF4-FFF2-40B4-BE49-F238E27FC236}">
                    <a16:creationId xmlns:a16="http://schemas.microsoft.com/office/drawing/2014/main" id="{AD6570CC-B807-5147-1477-34C6FD96063B}"/>
                  </a:ext>
                </a:extLst>
              </p:cNvPr>
              <p:cNvSpPr>
                <a:spLocks noGrp="1" noRot="1" noChangeAspect="1" noMove="1" noResize="1" noEditPoints="1" noAdjustHandles="1" noChangeArrowheads="1" noChangeShapeType="1" noTextEdit="1"/>
              </p:cNvSpPr>
              <p:nvPr>
                <p:ph idx="1"/>
              </p:nvPr>
            </p:nvSpPr>
            <p:spPr>
              <a:blipFill>
                <a:blip r:embed="rId2"/>
                <a:stretch>
                  <a:fillRect l="-1391" t="-420" r="-2705"/>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0F2F082-4937-C976-02FC-807E4B6A81C2}"/>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FB54A3D-3F37-40B0-0137-A631D0346595}"/>
              </a:ext>
            </a:extLst>
          </p:cNvPr>
          <p:cNvSpPr>
            <a:spLocks noGrp="1"/>
          </p:cNvSpPr>
          <p:nvPr>
            <p:ph type="sldNum" sz="quarter" idx="12"/>
          </p:nvPr>
        </p:nvSpPr>
        <p:spPr/>
        <p:txBody>
          <a:bodyPr/>
          <a:lstStyle/>
          <a:p>
            <a:fld id="{D41FC515-8169-4A29-AA56-DBE520D5741B}" type="slidenum">
              <a:rPr lang="zh-CN" altLang="en-US" smtClean="0"/>
              <a:t>54</a:t>
            </a:fld>
            <a:endParaRPr lang="zh-CN" altLang="en-US"/>
          </a:p>
        </p:txBody>
      </p:sp>
    </p:spTree>
    <p:extLst>
      <p:ext uri="{BB962C8B-B14F-4D97-AF65-F5344CB8AC3E}">
        <p14:creationId xmlns:p14="http://schemas.microsoft.com/office/powerpoint/2010/main" val="260314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0857C2-D2CC-3009-1EE1-0F972AC85641}"/>
              </a:ext>
            </a:extLst>
          </p:cNvPr>
          <p:cNvSpPr>
            <a:spLocks noGrp="1"/>
          </p:cNvSpPr>
          <p:nvPr>
            <p:ph type="title"/>
          </p:nvPr>
        </p:nvSpPr>
        <p:spPr/>
        <p:txBody>
          <a:bodyPr/>
          <a:lstStyle/>
          <a:p>
            <a:r>
              <a:rPr lang="zh-CN" altLang="en-US" dirty="0"/>
              <a:t>双重机器学习</a:t>
            </a:r>
          </a:p>
        </p:txBody>
      </p:sp>
      <p:sp>
        <p:nvSpPr>
          <p:cNvPr id="3" name="内容占位符 2">
            <a:extLst>
              <a:ext uri="{FF2B5EF4-FFF2-40B4-BE49-F238E27FC236}">
                <a16:creationId xmlns:a16="http://schemas.microsoft.com/office/drawing/2014/main" id="{A26CFCC5-BAF5-9540-71FE-13BB760479DD}"/>
              </a:ext>
            </a:extLst>
          </p:cNvPr>
          <p:cNvSpPr>
            <a:spLocks noGrp="1"/>
          </p:cNvSpPr>
          <p:nvPr>
            <p:ph idx="1"/>
          </p:nvPr>
        </p:nvSpPr>
        <p:spPr/>
        <p:txBody>
          <a:bodyPr>
            <a:normAutofit fontScale="47500" lnSpcReduction="20000"/>
          </a:bodyPr>
          <a:lstStyle/>
          <a:p>
            <a:pPr>
              <a:lnSpc>
                <a:spcPct val="120000"/>
              </a:lnSpc>
            </a:pPr>
            <a:r>
              <a:rPr lang="zh-CN" altLang="en-US" dirty="0"/>
              <a:t>机器学习关注于预测，𝐸</a:t>
            </a:r>
            <a:r>
              <a:rPr lang="en-US" altLang="zh-CN" dirty="0"/>
              <a:t>[</a:t>
            </a:r>
            <a:r>
              <a:rPr lang="zh-CN" altLang="en-US" dirty="0"/>
              <a:t>𝑌 </a:t>
            </a:r>
            <a:r>
              <a:rPr lang="en-US" altLang="zh-CN" dirty="0"/>
              <a:t>|</a:t>
            </a:r>
            <a:r>
              <a:rPr lang="zh-CN" altLang="en-US" dirty="0"/>
              <a:t>𝐷</a:t>
            </a:r>
            <a:r>
              <a:rPr lang="en-US" altLang="zh-CN" dirty="0"/>
              <a:t>, </a:t>
            </a:r>
            <a:r>
              <a:rPr lang="zh-CN" altLang="en-US" dirty="0"/>
              <a:t>𝑋</a:t>
            </a:r>
            <a:r>
              <a:rPr lang="en-US" altLang="zh-CN" dirty="0"/>
              <a:t>]</a:t>
            </a:r>
            <a:r>
              <a:rPr lang="zh-CN" altLang="en-US" dirty="0"/>
              <a:t>，在非混杂性条件下，𝐸</a:t>
            </a:r>
            <a:r>
              <a:rPr lang="en-US" altLang="zh-CN" dirty="0"/>
              <a:t>[</a:t>
            </a:r>
            <a:r>
              <a:rPr lang="zh-CN" altLang="en-US" dirty="0"/>
              <a:t>𝑌 </a:t>
            </a:r>
            <a:r>
              <a:rPr lang="en-US" altLang="zh-CN" dirty="0"/>
              <a:t>|</a:t>
            </a:r>
            <a:r>
              <a:rPr lang="zh-CN" altLang="en-US" dirty="0"/>
              <a:t>𝐷 </a:t>
            </a:r>
            <a:r>
              <a:rPr lang="en-US" altLang="zh-CN" dirty="0"/>
              <a:t>= </a:t>
            </a:r>
            <a:r>
              <a:rPr lang="zh-CN" altLang="en-US" dirty="0"/>
              <a:t>𝑑</a:t>
            </a:r>
            <a:r>
              <a:rPr lang="en-US" altLang="zh-CN" dirty="0"/>
              <a:t>, </a:t>
            </a:r>
            <a:r>
              <a:rPr lang="zh-CN" altLang="en-US" dirty="0"/>
              <a:t>𝑋</a:t>
            </a:r>
            <a:r>
              <a:rPr lang="en-US" altLang="zh-CN" dirty="0"/>
              <a:t>] = </a:t>
            </a:r>
            <a:r>
              <a:rPr lang="zh-CN" altLang="en-US" dirty="0"/>
              <a:t>𝐸</a:t>
            </a:r>
            <a:r>
              <a:rPr lang="en-US" altLang="zh-CN" dirty="0"/>
              <a:t>[</a:t>
            </a:r>
            <a:r>
              <a:rPr lang="zh-CN" altLang="en-US" dirty="0"/>
              <a:t>𝑌 </a:t>
            </a:r>
            <a:r>
              <a:rPr lang="en-US" altLang="zh-CN" dirty="0"/>
              <a:t>(</a:t>
            </a:r>
            <a:r>
              <a:rPr lang="zh-CN" altLang="en-US" dirty="0"/>
              <a:t>𝑑</a:t>
            </a:r>
            <a:r>
              <a:rPr lang="en-US" altLang="zh-CN" dirty="0"/>
              <a:t>)|</a:t>
            </a:r>
            <a:r>
              <a:rPr lang="zh-CN" altLang="en-US" dirty="0"/>
              <a:t>𝑋</a:t>
            </a:r>
            <a:r>
              <a:rPr lang="en-US" altLang="zh-CN" dirty="0"/>
              <a:t>]</a:t>
            </a:r>
            <a:r>
              <a:rPr lang="zh-CN" altLang="en-US" dirty="0"/>
              <a:t>，因而，并于条件期望的预测就有了因果的含义。考虑下列一般性的模型：</a:t>
            </a:r>
            <a:endParaRPr lang="en-US" altLang="zh-CN" dirty="0"/>
          </a:p>
          <a:p>
            <a:pPr marL="0" indent="0" algn="ctr">
              <a:lnSpc>
                <a:spcPct val="120000"/>
              </a:lnSpc>
              <a:buNone/>
            </a:pPr>
            <a:r>
              <a:rPr lang="zh-CN" altLang="en-US" dirty="0"/>
              <a:t>𝑌 </a:t>
            </a:r>
            <a:r>
              <a:rPr lang="en-US" altLang="zh-CN" dirty="0"/>
              <a:t>= </a:t>
            </a:r>
            <a:r>
              <a:rPr lang="zh-CN" altLang="en-US" dirty="0"/>
              <a:t>𝜏𝐷 </a:t>
            </a:r>
            <a:r>
              <a:rPr lang="en-US" altLang="zh-CN" dirty="0"/>
              <a:t>+ </a:t>
            </a:r>
            <a:r>
              <a:rPr lang="zh-CN" altLang="en-US" dirty="0"/>
              <a:t>𝑔</a:t>
            </a:r>
            <a:r>
              <a:rPr lang="en-US" altLang="zh-CN" dirty="0"/>
              <a:t>(</a:t>
            </a:r>
            <a:r>
              <a:rPr lang="zh-CN" altLang="en-US" dirty="0"/>
              <a:t>𝑋</a:t>
            </a:r>
            <a:r>
              <a:rPr lang="en-US" altLang="zh-CN" dirty="0"/>
              <a:t>) + </a:t>
            </a:r>
            <a:r>
              <a:rPr lang="zh-CN" altLang="en-US" dirty="0"/>
              <a:t>𝜀</a:t>
            </a:r>
            <a:r>
              <a:rPr lang="en-US" altLang="zh-CN" dirty="0"/>
              <a:t>, </a:t>
            </a:r>
            <a:r>
              <a:rPr lang="zh-CN" altLang="en-US" dirty="0"/>
              <a:t>𝐸</a:t>
            </a:r>
            <a:r>
              <a:rPr lang="en-US" altLang="zh-CN" dirty="0"/>
              <a:t>[</a:t>
            </a:r>
            <a:r>
              <a:rPr lang="zh-CN" altLang="en-US" dirty="0"/>
              <a:t>𝜀</a:t>
            </a:r>
            <a:r>
              <a:rPr lang="en-US" altLang="zh-CN" dirty="0"/>
              <a:t>|</a:t>
            </a:r>
            <a:r>
              <a:rPr lang="zh-CN" altLang="en-US" dirty="0"/>
              <a:t>𝐷</a:t>
            </a:r>
            <a:r>
              <a:rPr lang="en-US" altLang="zh-CN" dirty="0"/>
              <a:t>, </a:t>
            </a:r>
            <a:r>
              <a:rPr lang="zh-CN" altLang="en-US" dirty="0"/>
              <a:t>𝑋</a:t>
            </a:r>
            <a:r>
              <a:rPr lang="en-US" altLang="zh-CN" dirty="0"/>
              <a:t>] = 0. (30)</a:t>
            </a:r>
          </a:p>
          <a:p>
            <a:pPr>
              <a:lnSpc>
                <a:spcPct val="120000"/>
              </a:lnSpc>
            </a:pPr>
            <a:r>
              <a:rPr lang="zh-CN" altLang="en-US" dirty="0"/>
              <a:t>相当于</a:t>
            </a:r>
            <a:endParaRPr lang="en-US" altLang="zh-CN" dirty="0"/>
          </a:p>
          <a:p>
            <a:pPr marL="0" indent="0" algn="ctr">
              <a:lnSpc>
                <a:spcPct val="120000"/>
              </a:lnSpc>
              <a:buNone/>
            </a:pPr>
            <a:r>
              <a:rPr lang="zh-CN" altLang="en-US" dirty="0"/>
              <a:t>𝐸</a:t>
            </a:r>
            <a:r>
              <a:rPr lang="en-US" altLang="zh-CN" dirty="0"/>
              <a:t>[</a:t>
            </a:r>
            <a:r>
              <a:rPr lang="zh-CN" altLang="en-US" dirty="0"/>
              <a:t>𝑌 </a:t>
            </a:r>
            <a:r>
              <a:rPr lang="en-US" altLang="zh-CN" dirty="0"/>
              <a:t>|</a:t>
            </a:r>
            <a:r>
              <a:rPr lang="zh-CN" altLang="en-US" dirty="0"/>
              <a:t>𝐷</a:t>
            </a:r>
            <a:r>
              <a:rPr lang="en-US" altLang="zh-CN" dirty="0"/>
              <a:t>, </a:t>
            </a:r>
            <a:r>
              <a:rPr lang="zh-CN" altLang="en-US" dirty="0"/>
              <a:t>𝑋</a:t>
            </a:r>
            <a:r>
              <a:rPr lang="en-US" altLang="zh-CN" dirty="0"/>
              <a:t>] = </a:t>
            </a:r>
            <a:r>
              <a:rPr lang="zh-CN" altLang="en-US" dirty="0"/>
              <a:t>𝜏𝐷 </a:t>
            </a:r>
            <a:r>
              <a:rPr lang="en-US" altLang="zh-CN" dirty="0"/>
              <a:t>+ </a:t>
            </a:r>
            <a:r>
              <a:rPr lang="zh-CN" altLang="en-US" dirty="0"/>
              <a:t>𝑔</a:t>
            </a:r>
            <a:r>
              <a:rPr lang="en-US" altLang="zh-CN" dirty="0"/>
              <a:t>(</a:t>
            </a:r>
            <a:r>
              <a:rPr lang="zh-CN" altLang="en-US" dirty="0"/>
              <a:t>𝑋</a:t>
            </a:r>
            <a:r>
              <a:rPr lang="en-US" altLang="zh-CN" dirty="0"/>
              <a:t>),</a:t>
            </a:r>
          </a:p>
          <a:p>
            <a:pPr>
              <a:lnSpc>
                <a:spcPct val="120000"/>
              </a:lnSpc>
            </a:pPr>
            <a:r>
              <a:rPr lang="zh-CN" altLang="en-US" dirty="0"/>
              <a:t>从预测的角度，可以使用机器学习方法去估计𝐸</a:t>
            </a:r>
            <a:r>
              <a:rPr lang="en-US" altLang="zh-CN" dirty="0"/>
              <a:t>[</a:t>
            </a:r>
            <a:r>
              <a:rPr lang="zh-CN" altLang="en-US" dirty="0"/>
              <a:t>𝑌 </a:t>
            </a:r>
            <a:r>
              <a:rPr lang="en-US" altLang="zh-CN" dirty="0"/>
              <a:t>|</a:t>
            </a:r>
            <a:r>
              <a:rPr lang="zh-CN" altLang="en-US" dirty="0"/>
              <a:t>𝐷</a:t>
            </a:r>
            <a:r>
              <a:rPr lang="en-US" altLang="zh-CN" dirty="0"/>
              <a:t>, </a:t>
            </a:r>
            <a:r>
              <a:rPr lang="zh-CN" altLang="en-US" dirty="0"/>
              <a:t>𝑋</a:t>
            </a:r>
            <a:r>
              <a:rPr lang="en-US" altLang="zh-CN" dirty="0"/>
              <a:t>]</a:t>
            </a:r>
            <a:r>
              <a:rPr lang="zh-CN" altLang="en-US" dirty="0"/>
              <a:t>，但机器学习往往会造成 𝜏 的偏差。对于</a:t>
            </a:r>
            <a:r>
              <a:rPr lang="en-US" altLang="zh-CN" dirty="0"/>
              <a:t>(30)</a:t>
            </a:r>
            <a:r>
              <a:rPr lang="zh-CN" altLang="en-US" dirty="0"/>
              <a:t>，对𝑋 取均值，得</a:t>
            </a:r>
            <a:endParaRPr lang="en-US" altLang="zh-CN" dirty="0"/>
          </a:p>
          <a:p>
            <a:pPr marL="0" indent="0" algn="ctr">
              <a:lnSpc>
                <a:spcPct val="120000"/>
              </a:lnSpc>
              <a:buNone/>
            </a:pPr>
            <a:r>
              <a:rPr lang="zh-CN" altLang="en-US" dirty="0"/>
              <a:t>𝐸</a:t>
            </a:r>
            <a:r>
              <a:rPr lang="en-US" altLang="zh-CN" dirty="0"/>
              <a:t>[</a:t>
            </a:r>
            <a:r>
              <a:rPr lang="zh-CN" altLang="en-US" dirty="0"/>
              <a:t>𝑌 </a:t>
            </a:r>
            <a:r>
              <a:rPr lang="en-US" altLang="zh-CN" dirty="0"/>
              <a:t>|</a:t>
            </a:r>
            <a:r>
              <a:rPr lang="zh-CN" altLang="en-US" dirty="0"/>
              <a:t>𝑋</a:t>
            </a:r>
            <a:r>
              <a:rPr lang="en-US" altLang="zh-CN" dirty="0"/>
              <a:t>] = </a:t>
            </a:r>
            <a:r>
              <a:rPr lang="zh-CN" altLang="en-US" dirty="0"/>
              <a:t>𝜏𝐸</a:t>
            </a:r>
            <a:r>
              <a:rPr lang="en-US" altLang="zh-CN" dirty="0"/>
              <a:t>[</a:t>
            </a:r>
            <a:r>
              <a:rPr lang="zh-CN" altLang="en-US" dirty="0"/>
              <a:t>𝐷</a:t>
            </a:r>
            <a:r>
              <a:rPr lang="en-US" altLang="zh-CN" dirty="0"/>
              <a:t>|</a:t>
            </a:r>
            <a:r>
              <a:rPr lang="zh-CN" altLang="en-US" dirty="0"/>
              <a:t>𝑋</a:t>
            </a:r>
            <a:r>
              <a:rPr lang="en-US" altLang="zh-CN" dirty="0"/>
              <a:t>] + </a:t>
            </a:r>
            <a:r>
              <a:rPr lang="zh-CN" altLang="en-US" dirty="0"/>
              <a:t>𝑔</a:t>
            </a:r>
            <a:r>
              <a:rPr lang="en-US" altLang="zh-CN" dirty="0"/>
              <a:t>(</a:t>
            </a:r>
            <a:r>
              <a:rPr lang="zh-CN" altLang="en-US" dirty="0"/>
              <a:t>𝑋</a:t>
            </a:r>
            <a:r>
              <a:rPr lang="en-US" altLang="zh-CN" dirty="0"/>
              <a:t>), (31)</a:t>
            </a:r>
          </a:p>
          <a:p>
            <a:pPr>
              <a:lnSpc>
                <a:spcPct val="120000"/>
              </a:lnSpc>
            </a:pPr>
            <a:r>
              <a:rPr lang="zh-CN" altLang="en-US" dirty="0"/>
              <a:t>因为</a:t>
            </a:r>
            <a:endParaRPr lang="en-US" altLang="zh-CN" dirty="0"/>
          </a:p>
          <a:p>
            <a:pPr marL="0" indent="0" algn="ctr">
              <a:lnSpc>
                <a:spcPct val="120000"/>
              </a:lnSpc>
              <a:buNone/>
            </a:pPr>
            <a:r>
              <a:rPr lang="zh-CN" altLang="en-US" dirty="0"/>
              <a:t>𝐸</a:t>
            </a:r>
            <a:r>
              <a:rPr lang="en-US" altLang="zh-CN" dirty="0"/>
              <a:t>[</a:t>
            </a:r>
            <a:r>
              <a:rPr lang="zh-CN" altLang="en-US" dirty="0"/>
              <a:t>𝜀</a:t>
            </a:r>
            <a:r>
              <a:rPr lang="en-US" altLang="zh-CN" dirty="0"/>
              <a:t>|</a:t>
            </a:r>
            <a:r>
              <a:rPr lang="zh-CN" altLang="en-US" dirty="0"/>
              <a:t>𝑋</a:t>
            </a:r>
            <a:r>
              <a:rPr lang="en-US" altLang="zh-CN" dirty="0"/>
              <a:t>] = </a:t>
            </a:r>
            <a:r>
              <a:rPr lang="zh-CN" altLang="en-US" dirty="0"/>
              <a:t>𝐸</a:t>
            </a:r>
            <a:r>
              <a:rPr lang="en-US" altLang="zh-CN" dirty="0"/>
              <a:t>[</a:t>
            </a:r>
            <a:r>
              <a:rPr lang="zh-CN" altLang="en-US" dirty="0"/>
              <a:t>𝐸</a:t>
            </a:r>
            <a:r>
              <a:rPr lang="en-US" altLang="zh-CN" dirty="0"/>
              <a:t>[</a:t>
            </a:r>
            <a:r>
              <a:rPr lang="zh-CN" altLang="en-US" dirty="0"/>
              <a:t>𝜀</a:t>
            </a:r>
            <a:r>
              <a:rPr lang="en-US" altLang="zh-CN" dirty="0"/>
              <a:t>|</a:t>
            </a:r>
            <a:r>
              <a:rPr lang="zh-CN" altLang="en-US" dirty="0"/>
              <a:t>𝐷</a:t>
            </a:r>
            <a:r>
              <a:rPr lang="en-US" altLang="zh-CN" dirty="0"/>
              <a:t>, </a:t>
            </a:r>
            <a:r>
              <a:rPr lang="zh-CN" altLang="en-US" dirty="0"/>
              <a:t>𝑋</a:t>
            </a:r>
            <a:r>
              <a:rPr lang="en-US" altLang="zh-CN" dirty="0"/>
              <a:t>]|</a:t>
            </a:r>
            <a:r>
              <a:rPr lang="zh-CN" altLang="en-US" dirty="0"/>
              <a:t>𝑋</a:t>
            </a:r>
            <a:r>
              <a:rPr lang="en-US" altLang="zh-CN" dirty="0"/>
              <a:t>] = 0.</a:t>
            </a:r>
          </a:p>
          <a:p>
            <a:pPr>
              <a:lnSpc>
                <a:spcPct val="120000"/>
              </a:lnSpc>
            </a:pPr>
            <a:r>
              <a:rPr lang="en-US" altLang="zh-CN" dirty="0"/>
              <a:t>(30)-(31)</a:t>
            </a:r>
            <a:r>
              <a:rPr lang="zh-CN" altLang="en-US" dirty="0"/>
              <a:t>，得</a:t>
            </a:r>
            <a:endParaRPr lang="en-US" altLang="zh-CN" dirty="0"/>
          </a:p>
          <a:p>
            <a:pPr marL="0" indent="0" algn="ctr">
              <a:lnSpc>
                <a:spcPct val="120000"/>
              </a:lnSpc>
              <a:buNone/>
            </a:pPr>
            <a:r>
              <a:rPr lang="zh-CN" altLang="en-US" dirty="0"/>
              <a:t>𝑌̃ </a:t>
            </a:r>
            <a:r>
              <a:rPr lang="en-US" altLang="zh-CN" dirty="0"/>
              <a:t>= </a:t>
            </a:r>
            <a:r>
              <a:rPr lang="zh-CN" altLang="en-US" dirty="0"/>
              <a:t>𝜏𝐷̃ </a:t>
            </a:r>
            <a:r>
              <a:rPr lang="en-US" altLang="zh-CN" dirty="0"/>
              <a:t>+ </a:t>
            </a:r>
            <a:r>
              <a:rPr lang="zh-CN" altLang="en-US" dirty="0"/>
              <a:t>𝜀</a:t>
            </a:r>
            <a:r>
              <a:rPr lang="en-US" altLang="zh-CN" dirty="0"/>
              <a:t>, (32)</a:t>
            </a:r>
          </a:p>
          <a:p>
            <a:pPr>
              <a:lnSpc>
                <a:spcPct val="120000"/>
              </a:lnSpc>
            </a:pPr>
            <a:r>
              <a:rPr lang="zh-CN" altLang="en-US" dirty="0"/>
              <a:t>其中，</a:t>
            </a:r>
            <a:endParaRPr lang="en-US" altLang="zh-CN" dirty="0"/>
          </a:p>
          <a:p>
            <a:pPr marL="0" indent="0" algn="ctr">
              <a:lnSpc>
                <a:spcPct val="120000"/>
              </a:lnSpc>
              <a:buNone/>
            </a:pPr>
            <a:r>
              <a:rPr lang="zh-CN" altLang="en-US" dirty="0"/>
              <a:t>𝑌̃ </a:t>
            </a:r>
            <a:r>
              <a:rPr lang="en-US" altLang="zh-CN" dirty="0"/>
              <a:t>= </a:t>
            </a:r>
            <a:r>
              <a:rPr lang="zh-CN" altLang="en-US" dirty="0"/>
              <a:t>𝑌 − 𝐸</a:t>
            </a:r>
            <a:r>
              <a:rPr lang="en-US" altLang="zh-CN" dirty="0"/>
              <a:t>[</a:t>
            </a:r>
            <a:r>
              <a:rPr lang="zh-CN" altLang="en-US" dirty="0"/>
              <a:t>𝑌 </a:t>
            </a:r>
            <a:r>
              <a:rPr lang="en-US" altLang="zh-CN" dirty="0"/>
              <a:t>|</a:t>
            </a:r>
            <a:r>
              <a:rPr lang="zh-CN" altLang="en-US" dirty="0"/>
              <a:t>𝑋</a:t>
            </a:r>
            <a:r>
              <a:rPr lang="en-US" altLang="zh-CN" dirty="0"/>
              <a:t>], </a:t>
            </a:r>
            <a:r>
              <a:rPr lang="zh-CN" altLang="en-US" dirty="0"/>
              <a:t>𝐷̃ </a:t>
            </a:r>
            <a:r>
              <a:rPr lang="en-US" altLang="zh-CN" dirty="0"/>
              <a:t>= </a:t>
            </a:r>
            <a:r>
              <a:rPr lang="zh-CN" altLang="en-US" dirty="0"/>
              <a:t>𝐷 − 𝐸</a:t>
            </a:r>
            <a:r>
              <a:rPr lang="en-US" altLang="zh-CN" dirty="0"/>
              <a:t>[</a:t>
            </a:r>
            <a:r>
              <a:rPr lang="zh-CN" altLang="en-US" dirty="0"/>
              <a:t>𝐷</a:t>
            </a:r>
            <a:r>
              <a:rPr lang="en-US" altLang="zh-CN" dirty="0"/>
              <a:t>|</a:t>
            </a:r>
            <a:r>
              <a:rPr lang="zh-CN" altLang="en-US" dirty="0"/>
              <a:t>𝑋</a:t>
            </a:r>
            <a:r>
              <a:rPr lang="en-US" altLang="zh-CN" dirty="0"/>
              <a:t>],</a:t>
            </a:r>
            <a:endParaRPr lang="zh-CN" altLang="en-US" dirty="0"/>
          </a:p>
        </p:txBody>
      </p:sp>
      <p:sp>
        <p:nvSpPr>
          <p:cNvPr id="4" name="页脚占位符 3">
            <a:extLst>
              <a:ext uri="{FF2B5EF4-FFF2-40B4-BE49-F238E27FC236}">
                <a16:creationId xmlns:a16="http://schemas.microsoft.com/office/drawing/2014/main" id="{B5A0ACFE-072C-DCC1-3F01-67320857BD8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D447104-61CF-1AA7-7C06-23D27ED49E74}"/>
              </a:ext>
            </a:extLst>
          </p:cNvPr>
          <p:cNvSpPr>
            <a:spLocks noGrp="1"/>
          </p:cNvSpPr>
          <p:nvPr>
            <p:ph type="sldNum" sz="quarter" idx="12"/>
          </p:nvPr>
        </p:nvSpPr>
        <p:spPr/>
        <p:txBody>
          <a:bodyPr/>
          <a:lstStyle/>
          <a:p>
            <a:fld id="{D41FC515-8169-4A29-AA56-DBE520D5741B}" type="slidenum">
              <a:rPr lang="zh-CN" altLang="en-US" smtClean="0"/>
              <a:t>55</a:t>
            </a:fld>
            <a:endParaRPr lang="zh-CN" altLang="en-US" dirty="0"/>
          </a:p>
        </p:txBody>
      </p:sp>
    </p:spTree>
    <p:extLst>
      <p:ext uri="{BB962C8B-B14F-4D97-AF65-F5344CB8AC3E}">
        <p14:creationId xmlns:p14="http://schemas.microsoft.com/office/powerpoint/2010/main" val="23453777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F6557-59C1-3E37-555C-0D20C8B6FBE0}"/>
              </a:ext>
            </a:extLst>
          </p:cNvPr>
          <p:cNvSpPr>
            <a:spLocks noGrp="1"/>
          </p:cNvSpPr>
          <p:nvPr>
            <p:ph type="title"/>
          </p:nvPr>
        </p:nvSpPr>
        <p:spPr/>
        <p:txBody>
          <a:bodyPr/>
          <a:lstStyle/>
          <a:p>
            <a:r>
              <a:rPr lang="zh-CN" altLang="en-US" dirty="0"/>
              <a:t>双重机器学习</a:t>
            </a:r>
          </a:p>
        </p:txBody>
      </p:sp>
      <p:sp>
        <p:nvSpPr>
          <p:cNvPr id="3" name="内容占位符 2">
            <a:extLst>
              <a:ext uri="{FF2B5EF4-FFF2-40B4-BE49-F238E27FC236}">
                <a16:creationId xmlns:a16="http://schemas.microsoft.com/office/drawing/2014/main" id="{52229BC1-5BDA-619D-432B-AE4A27D648AE}"/>
              </a:ext>
            </a:extLst>
          </p:cNvPr>
          <p:cNvSpPr>
            <a:spLocks noGrp="1"/>
          </p:cNvSpPr>
          <p:nvPr>
            <p:ph idx="1"/>
          </p:nvPr>
        </p:nvSpPr>
        <p:spPr/>
        <p:txBody>
          <a:bodyPr/>
          <a:lstStyle/>
          <a:p>
            <a:r>
              <a:rPr lang="en-US" altLang="zh-CN" dirty="0"/>
              <a:t>(32) </a:t>
            </a:r>
            <a:r>
              <a:rPr lang="zh-CN" altLang="en-US" dirty="0"/>
              <a:t>意味着两阶段法估计 </a:t>
            </a:r>
            <a:r>
              <a:rPr lang="en-US" altLang="zh-CN" dirty="0"/>
              <a:t>(Robinson, 1988)</a:t>
            </a:r>
          </a:p>
          <a:p>
            <a:pPr lvl="1"/>
            <a:r>
              <a:rPr lang="zh-CN" altLang="en-US" dirty="0"/>
              <a:t>先用机器学习方法估计𝑙</a:t>
            </a:r>
            <a:r>
              <a:rPr lang="en-US" altLang="zh-CN" dirty="0"/>
              <a:t>(</a:t>
            </a:r>
            <a:r>
              <a:rPr lang="zh-CN" altLang="en-US" dirty="0"/>
              <a:t>𝑋</a:t>
            </a:r>
            <a:r>
              <a:rPr lang="en-US" altLang="zh-CN" dirty="0"/>
              <a:t>) = </a:t>
            </a:r>
            <a:r>
              <a:rPr lang="zh-CN" altLang="en-US" dirty="0"/>
              <a:t>𝐸</a:t>
            </a:r>
            <a:r>
              <a:rPr lang="en-US" altLang="zh-CN" dirty="0"/>
              <a:t>[</a:t>
            </a:r>
            <a:r>
              <a:rPr lang="zh-CN" altLang="en-US" dirty="0"/>
              <a:t>𝑌 </a:t>
            </a:r>
            <a:r>
              <a:rPr lang="en-US" altLang="zh-CN" dirty="0"/>
              <a:t>|</a:t>
            </a:r>
            <a:r>
              <a:rPr lang="zh-CN" altLang="en-US" dirty="0"/>
              <a:t>𝑋</a:t>
            </a:r>
            <a:r>
              <a:rPr lang="en-US" altLang="zh-CN" dirty="0"/>
              <a:t>]</a:t>
            </a:r>
            <a:r>
              <a:rPr lang="zh-CN" altLang="en-US" dirty="0"/>
              <a:t>，𝑚</a:t>
            </a:r>
            <a:r>
              <a:rPr lang="en-US" altLang="zh-CN" dirty="0"/>
              <a:t>(</a:t>
            </a:r>
            <a:r>
              <a:rPr lang="zh-CN" altLang="en-US" dirty="0"/>
              <a:t>𝑋</a:t>
            </a:r>
            <a:r>
              <a:rPr lang="en-US" altLang="zh-CN" dirty="0"/>
              <a:t>) = </a:t>
            </a:r>
            <a:r>
              <a:rPr lang="zh-CN" altLang="en-US" dirty="0"/>
              <a:t>𝐸</a:t>
            </a:r>
            <a:r>
              <a:rPr lang="en-US" altLang="zh-CN" dirty="0"/>
              <a:t>[</a:t>
            </a:r>
            <a:r>
              <a:rPr lang="zh-CN" altLang="en-US" dirty="0"/>
              <a:t>𝐷</a:t>
            </a:r>
            <a:r>
              <a:rPr lang="en-US" altLang="zh-CN" dirty="0"/>
              <a:t>|</a:t>
            </a:r>
            <a:r>
              <a:rPr lang="zh-CN" altLang="en-US" dirty="0"/>
              <a:t>𝑋</a:t>
            </a:r>
            <a:r>
              <a:rPr lang="en-US" altLang="zh-CN" dirty="0"/>
              <a:t>]</a:t>
            </a:r>
            <a:r>
              <a:rPr lang="zh-CN" altLang="en-US" dirty="0"/>
              <a:t>，并计算残差</a:t>
            </a:r>
            <a:endParaRPr lang="en-US" altLang="zh-CN" dirty="0"/>
          </a:p>
          <a:p>
            <a:pPr marL="457200" lvl="1" indent="0" algn="ctr">
              <a:buNone/>
            </a:pPr>
            <a:r>
              <a:rPr lang="zh-CN" altLang="en-US" dirty="0"/>
              <a:t>𝑌̃ </a:t>
            </a:r>
            <a:r>
              <a:rPr lang="en-US" altLang="zh-CN" dirty="0"/>
              <a:t>= </a:t>
            </a:r>
            <a:r>
              <a:rPr lang="zh-CN" altLang="en-US" dirty="0"/>
              <a:t>𝑌 − 𝑙</a:t>
            </a:r>
            <a:r>
              <a:rPr lang="en-US" altLang="zh-CN" dirty="0"/>
              <a:t>(</a:t>
            </a:r>
            <a:r>
              <a:rPr lang="zh-CN" altLang="en-US" dirty="0"/>
              <a:t>𝑋</a:t>
            </a:r>
            <a:r>
              <a:rPr lang="en-US" altLang="zh-CN" dirty="0"/>
              <a:t>), </a:t>
            </a:r>
            <a:r>
              <a:rPr lang="zh-CN" altLang="en-US" dirty="0"/>
              <a:t>𝐷̃ </a:t>
            </a:r>
            <a:r>
              <a:rPr lang="en-US" altLang="zh-CN" dirty="0"/>
              <a:t>= </a:t>
            </a:r>
            <a:r>
              <a:rPr lang="zh-CN" altLang="en-US" dirty="0"/>
              <a:t>𝐷 − 𝑚</a:t>
            </a:r>
            <a:r>
              <a:rPr lang="en-US" altLang="zh-CN" dirty="0"/>
              <a:t>(</a:t>
            </a:r>
            <a:r>
              <a:rPr lang="zh-CN" altLang="en-US" dirty="0"/>
              <a:t>𝑋</a:t>
            </a:r>
            <a:r>
              <a:rPr lang="en-US" altLang="zh-CN" dirty="0"/>
              <a:t>),</a:t>
            </a:r>
          </a:p>
          <a:p>
            <a:pPr lvl="1"/>
            <a:r>
              <a:rPr lang="zh-CN" altLang="en-US" dirty="0"/>
              <a:t>然后，利用 𝑌̃ 对 𝐷̃ 作回归，则得 𝜏 的估计。</a:t>
            </a:r>
            <a:endParaRPr lang="en-US" altLang="zh-CN" dirty="0"/>
          </a:p>
          <a:p>
            <a:r>
              <a:rPr lang="en-US" altLang="zh-CN" dirty="0" err="1"/>
              <a:t>Chernozhukov</a:t>
            </a:r>
            <a:r>
              <a:rPr lang="en-US" altLang="zh-CN" dirty="0"/>
              <a:t> et al. (2018) </a:t>
            </a:r>
            <a:r>
              <a:rPr lang="zh-CN" altLang="en-US" dirty="0"/>
              <a:t>证明这种两步法满足</a:t>
            </a:r>
            <a:r>
              <a:rPr lang="en-US" altLang="zh-CN" dirty="0"/>
              <a:t>Neyman </a:t>
            </a:r>
            <a:r>
              <a:rPr lang="zh-CN" altLang="en-US" dirty="0"/>
              <a:t>正交性，从而第</a:t>
            </a:r>
            <a:r>
              <a:rPr lang="en-US" altLang="zh-CN" dirty="0"/>
              <a:t>1 </a:t>
            </a:r>
            <a:r>
              <a:rPr lang="zh-CN" altLang="en-US" dirty="0"/>
              <a:t>阶段的估计误差不会影响第</a:t>
            </a:r>
            <a:r>
              <a:rPr lang="en-US" altLang="zh-CN" dirty="0"/>
              <a:t>2 </a:t>
            </a:r>
            <a:r>
              <a:rPr lang="zh-CN" altLang="en-US" dirty="0"/>
              <a:t>步结果的准确性。</a:t>
            </a:r>
          </a:p>
        </p:txBody>
      </p:sp>
      <p:sp>
        <p:nvSpPr>
          <p:cNvPr id="4" name="页脚占位符 3">
            <a:extLst>
              <a:ext uri="{FF2B5EF4-FFF2-40B4-BE49-F238E27FC236}">
                <a16:creationId xmlns:a16="http://schemas.microsoft.com/office/drawing/2014/main" id="{376F32A0-8877-E53C-1E5B-433C5663E03F}"/>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808953B-D4F4-96FD-79E5-AAD8C9FC06BD}"/>
              </a:ext>
            </a:extLst>
          </p:cNvPr>
          <p:cNvSpPr>
            <a:spLocks noGrp="1"/>
          </p:cNvSpPr>
          <p:nvPr>
            <p:ph type="sldNum" sz="quarter" idx="12"/>
          </p:nvPr>
        </p:nvSpPr>
        <p:spPr/>
        <p:txBody>
          <a:bodyPr/>
          <a:lstStyle/>
          <a:p>
            <a:fld id="{D41FC515-8169-4A29-AA56-DBE520D5741B}" type="slidenum">
              <a:rPr lang="zh-CN" altLang="en-US" smtClean="0"/>
              <a:t>56</a:t>
            </a:fld>
            <a:endParaRPr lang="zh-CN" altLang="en-US" dirty="0"/>
          </a:p>
        </p:txBody>
      </p:sp>
    </p:spTree>
    <p:extLst>
      <p:ext uri="{BB962C8B-B14F-4D97-AF65-F5344CB8AC3E}">
        <p14:creationId xmlns:p14="http://schemas.microsoft.com/office/powerpoint/2010/main" val="113625049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5014BC-2D41-1D9F-D074-A5C6A92F8A5B}"/>
              </a:ext>
            </a:extLst>
          </p:cNvPr>
          <p:cNvSpPr>
            <a:spLocks noGrp="1"/>
          </p:cNvSpPr>
          <p:nvPr>
            <p:ph type="title"/>
          </p:nvPr>
        </p:nvSpPr>
        <p:spPr/>
        <p:txBody>
          <a:bodyPr/>
          <a:lstStyle/>
          <a:p>
            <a:r>
              <a:rPr lang="zh-CN" altLang="en-US" dirty="0"/>
              <a:t>双重机器学习</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809FC10-5A2B-BBD5-A042-C1A069299EAD}"/>
                  </a:ext>
                </a:extLst>
              </p:cNvPr>
              <p:cNvSpPr>
                <a:spLocks noGrp="1"/>
              </p:cNvSpPr>
              <p:nvPr>
                <p:ph idx="1"/>
              </p:nvPr>
            </p:nvSpPr>
            <p:spPr>
              <a:xfrm>
                <a:off x="628650" y="1825624"/>
                <a:ext cx="7886700" cy="4783519"/>
              </a:xfrm>
            </p:spPr>
            <p:txBody>
              <a:bodyPr>
                <a:normAutofit fontScale="55000" lnSpcReduction="20000"/>
              </a:bodyPr>
              <a:lstStyle/>
              <a:p>
                <a:pPr>
                  <a:lnSpc>
                    <a:spcPct val="120000"/>
                  </a:lnSpc>
                </a:pPr>
                <a:r>
                  <a:rPr lang="zh-CN" altLang="en-US" dirty="0"/>
                  <a:t>定义</a:t>
                </a:r>
                <a:r>
                  <a:rPr lang="en-US" altLang="zh-CN" dirty="0"/>
                  <a:t>3 (Neyman </a:t>
                </a:r>
                <a:r>
                  <a:rPr lang="zh-CN" altLang="en-US" dirty="0"/>
                  <a:t>正交性</a:t>
                </a:r>
                <a:r>
                  <a:rPr lang="en-US" altLang="zh-CN" dirty="0"/>
                  <a:t>(orthogonality)): </a:t>
                </a:r>
                <a14:m>
                  <m:oMath xmlns:m="http://schemas.openxmlformats.org/officeDocument/2006/math">
                    <m:r>
                      <a:rPr lang="zh-CN" altLang="en-US" i="1" dirty="0" smtClean="0">
                        <a:latin typeface="Cambria Math" panose="02040503050406030204" pitchFamily="18" charset="0"/>
                      </a:rPr>
                      <m:t>𝑀</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𝜃</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𝜂</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oMath>
                </a14:m>
                <a:r>
                  <a:rPr lang="en-US" altLang="zh-CN" dirty="0"/>
                  <a:t>= 0 </a:t>
                </a:r>
                <a:r>
                  <a:rPr lang="zh-CN" altLang="en-US" dirty="0"/>
                  <a:t>是优化的矩条件，其中</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𝜃</m:t>
                        </m:r>
                      </m:e>
                      <m:sub>
                        <m:r>
                          <a:rPr lang="en-US" altLang="zh-CN" i="1" dirty="0">
                            <a:latin typeface="Cambria Math" panose="02040503050406030204" pitchFamily="18" charset="0"/>
                          </a:rPr>
                          <m:t>0</m:t>
                        </m:r>
                      </m:sub>
                    </m:sSub>
                  </m:oMath>
                </a14:m>
                <a:r>
                  <a:rPr lang="en-US" altLang="zh-CN" dirty="0"/>
                  <a:t> </a:t>
                </a:r>
                <a:r>
                  <a:rPr lang="zh-CN" altLang="en-US" dirty="0"/>
                  <a:t>是目标参数真实值，</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𝜂</m:t>
                        </m:r>
                      </m:e>
                      <m:sub>
                        <m:r>
                          <a:rPr lang="en-US" altLang="zh-CN" i="1" dirty="0">
                            <a:latin typeface="Cambria Math" panose="02040503050406030204" pitchFamily="18" charset="0"/>
                          </a:rPr>
                          <m:t>0</m:t>
                        </m:r>
                      </m:sub>
                    </m:sSub>
                  </m:oMath>
                </a14:m>
                <a:r>
                  <a:rPr lang="en-US" altLang="zh-CN" dirty="0"/>
                  <a:t> </a:t>
                </a:r>
                <a:r>
                  <a:rPr lang="zh-CN" altLang="en-US" dirty="0"/>
                  <a:t>是冗余参数</a:t>
                </a:r>
                <a:r>
                  <a:rPr lang="en-US" altLang="zh-CN" i="1" dirty="0"/>
                  <a:t>(nuisance parameters)</a:t>
                </a:r>
                <a:r>
                  <a:rPr lang="zh-CN" altLang="en-US" dirty="0"/>
                  <a:t>。真实值如果满足：</a:t>
                </a:r>
                <a:endParaRPr lang="en-US" altLang="zh-CN" dirty="0"/>
              </a:p>
              <a:p>
                <a:pPr marL="0" indent="0" algn="ctr">
                  <a:lnSpc>
                    <a:spcPct val="120000"/>
                  </a:lnSpc>
                  <a:buNone/>
                </a:pPr>
                <a14:m>
                  <m:oMathPara xmlns:m="http://schemas.openxmlformats.org/officeDocument/2006/math">
                    <m:oMath>
                      <m:r>
                        <a:rPr lang="zh-CN" altLang="en-US" i="1" dirty="0" smtClean="0">
                          <a:latin typeface="Cambria Math" panose="02040503050406030204" pitchFamily="18" charset="0"/>
                        </a:rPr>
                        <m:t>𝜕𝜂</m:t>
                      </m:r>
                      <m:r>
                        <a:rPr lang="zh-CN" altLang="en-US" i="1" dirty="0" smtClean="0">
                          <a:latin typeface="Cambria Math" panose="02040503050406030204" pitchFamily="18" charset="0"/>
                        </a:rPr>
                        <m:t>𝑀</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𝜃</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r>
                        <a:rPr lang="zh-CN" altLang="en-US" i="1" dirty="0">
                          <a:latin typeface="Cambria Math" panose="02040503050406030204" pitchFamily="18" charset="0"/>
                        </a:rPr>
                        <m:t>𝜂</m:t>
                      </m:r>
                      <m:r>
                        <a:rPr lang="en-US" altLang="zh-CN" i="1" dirty="0">
                          <a:latin typeface="Cambria Math" panose="02040503050406030204" pitchFamily="18" charset="0"/>
                        </a:rPr>
                        <m:t>)|</m:t>
                      </m:r>
                      <m:r>
                        <a:rPr lang="zh-CN" altLang="en-US" i="1" dirty="0">
                          <a:latin typeface="Cambria Math" panose="02040503050406030204" pitchFamily="18" charset="0"/>
                        </a:rPr>
                        <m:t>𝜂</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𝜂</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 0. (</m:t>
                      </m:r>
                      <m:r>
                        <a:rPr lang="en-US" altLang="zh-CN" i="1" dirty="0" smtClean="0">
                          <a:latin typeface="Cambria Math" panose="02040503050406030204" pitchFamily="18" charset="0"/>
                        </a:rPr>
                        <m:t>33)</m:t>
                      </m:r>
                    </m:oMath>
                  </m:oMathPara>
                </a14:m>
                <a:endParaRPr lang="en-US" altLang="zh-CN" dirty="0"/>
              </a:p>
              <a:p>
                <a:pPr>
                  <a:lnSpc>
                    <a:spcPct val="120000"/>
                  </a:lnSpc>
                </a:pPr>
                <a:r>
                  <a:rPr lang="zh-CN" altLang="en-US" dirty="0"/>
                  <a:t>则满足 </a:t>
                </a:r>
                <a:r>
                  <a:rPr lang="en-US" altLang="zh-CN" i="1" dirty="0"/>
                  <a:t>Neyman </a:t>
                </a:r>
                <a:r>
                  <a:rPr lang="zh-CN" altLang="en-US" dirty="0"/>
                  <a:t>正交性。</a:t>
                </a:r>
                <a:endParaRPr lang="en-US" altLang="zh-CN" dirty="0"/>
              </a:p>
              <a:p>
                <a:pPr>
                  <a:lnSpc>
                    <a:spcPct val="120000"/>
                  </a:lnSpc>
                </a:pPr>
                <a:r>
                  <a:rPr lang="zh-CN" altLang="en-US" dirty="0"/>
                  <a:t>以下列模型为例</a:t>
                </a:r>
                <a:endParaRPr lang="en-US" altLang="zh-CN" dirty="0"/>
              </a:p>
              <a:p>
                <a:pPr marL="0" indent="0" algn="ctr">
                  <a:lnSpc>
                    <a:spcPct val="120000"/>
                  </a:lnSpc>
                  <a:buNone/>
                </a:pPr>
                <a:r>
                  <a:rPr lang="zh-CN" altLang="en-US" dirty="0"/>
                  <a:t>𝑌 </a:t>
                </a:r>
                <a:r>
                  <a:rPr lang="en-US" altLang="zh-CN" dirty="0"/>
                  <a:t>= </a:t>
                </a:r>
                <a:r>
                  <a:rPr lang="zh-CN" altLang="en-US" dirty="0"/>
                  <a:t>𝜏𝐷 </a:t>
                </a:r>
                <a:r>
                  <a:rPr lang="en-US" altLang="zh-CN" dirty="0"/>
                  <a:t>+ </a:t>
                </a:r>
                <a:r>
                  <a:rPr lang="zh-CN" altLang="en-US" dirty="0"/>
                  <a:t>𝑋</a:t>
                </a:r>
                <a:r>
                  <a:rPr lang="en-US" altLang="zh-CN" dirty="0"/>
                  <a:t>′</a:t>
                </a:r>
                <a:r>
                  <a:rPr lang="zh-CN" altLang="en-US" dirty="0"/>
                  <a:t>𝛽 </a:t>
                </a:r>
                <a:r>
                  <a:rPr lang="en-US" altLang="zh-CN" dirty="0"/>
                  <a:t>+ </a:t>
                </a:r>
                <a:r>
                  <a:rPr lang="zh-CN" altLang="en-US" dirty="0"/>
                  <a:t>𝜀</a:t>
                </a:r>
                <a:r>
                  <a:rPr lang="en-US" altLang="zh-CN" dirty="0"/>
                  <a:t>, </a:t>
                </a:r>
                <a:r>
                  <a:rPr lang="zh-CN" altLang="en-US" dirty="0"/>
                  <a:t>𝐸</a:t>
                </a:r>
                <a:r>
                  <a:rPr lang="en-US" altLang="zh-CN" dirty="0"/>
                  <a:t>[</a:t>
                </a:r>
                <a:r>
                  <a:rPr lang="zh-CN" altLang="en-US" dirty="0"/>
                  <a:t>𝜀</a:t>
                </a:r>
                <a:r>
                  <a:rPr lang="en-US" altLang="zh-CN" dirty="0"/>
                  <a:t>|</a:t>
                </a:r>
                <a:r>
                  <a:rPr lang="zh-CN" altLang="en-US" dirty="0"/>
                  <a:t>𝐷</a:t>
                </a:r>
                <a:r>
                  <a:rPr lang="en-US" altLang="zh-CN" dirty="0"/>
                  <a:t>, </a:t>
                </a:r>
                <a:r>
                  <a:rPr lang="zh-CN" altLang="en-US" dirty="0"/>
                  <a:t>𝑋</a:t>
                </a:r>
                <a:r>
                  <a:rPr lang="en-US" altLang="zh-CN" dirty="0"/>
                  <a:t>] = 0.</a:t>
                </a:r>
              </a:p>
              <a:p>
                <a:pPr>
                  <a:lnSpc>
                    <a:spcPct val="120000"/>
                  </a:lnSpc>
                </a:pPr>
                <a:r>
                  <a:rPr lang="zh-CN" altLang="en-US" dirty="0"/>
                  <a:t>直接用机器学习方法估计（比如</a:t>
                </a:r>
                <a:r>
                  <a:rPr lang="en-US" altLang="zh-CN" dirty="0"/>
                  <a:t>Post-Lasso</a:t>
                </a:r>
                <a:r>
                  <a:rPr lang="zh-CN" altLang="en-US" dirty="0"/>
                  <a:t>），满足下列矩条件为，</a:t>
                </a:r>
                <a:endParaRPr lang="en-US" altLang="zh-CN" dirty="0"/>
              </a:p>
              <a:p>
                <a:pPr marL="0" indent="0" algn="ctr">
                  <a:lnSpc>
                    <a:spcPct val="120000"/>
                  </a:lnSpc>
                  <a:buNone/>
                </a:pPr>
                <a:r>
                  <a:rPr lang="zh-CN" altLang="en-US" dirty="0"/>
                  <a:t>𝑀</a:t>
                </a:r>
                <a:r>
                  <a:rPr lang="en-US" altLang="zh-CN" dirty="0"/>
                  <a:t>(</a:t>
                </a:r>
                <a:r>
                  <a:rPr lang="zh-CN" altLang="en-US" dirty="0"/>
                  <a:t>𝜏</a:t>
                </a:r>
                <a:r>
                  <a:rPr lang="en-US" altLang="zh-CN" dirty="0"/>
                  <a:t>, </a:t>
                </a:r>
                <a:r>
                  <a:rPr lang="zh-CN" altLang="en-US" dirty="0"/>
                  <a:t>𝛽</a:t>
                </a:r>
                <a:r>
                  <a:rPr lang="en-US" altLang="zh-CN" dirty="0"/>
                  <a:t>) = </a:t>
                </a:r>
                <a:r>
                  <a:rPr lang="zh-CN" altLang="en-US" dirty="0"/>
                  <a:t>𝐸</a:t>
                </a:r>
                <a:r>
                  <a:rPr lang="en-US" altLang="zh-CN" dirty="0"/>
                  <a:t>[</a:t>
                </a:r>
                <a:r>
                  <a:rPr lang="zh-CN" altLang="en-US" dirty="0"/>
                  <a:t>𝐷</a:t>
                </a:r>
                <a:r>
                  <a:rPr lang="en-US" altLang="zh-CN" dirty="0"/>
                  <a:t>(</a:t>
                </a:r>
                <a:r>
                  <a:rPr lang="zh-CN" altLang="en-US" dirty="0"/>
                  <a:t>𝑌 − 𝜏𝐷 − 𝑋</a:t>
                </a:r>
                <a:r>
                  <a:rPr lang="en-US" altLang="zh-CN" dirty="0"/>
                  <a:t>′</a:t>
                </a:r>
                <a:r>
                  <a:rPr lang="zh-CN" altLang="en-US" dirty="0"/>
                  <a:t>𝛽</a:t>
                </a:r>
                <a:r>
                  <a:rPr lang="en-US" altLang="zh-CN" dirty="0"/>
                  <a:t>)] = 0,</a:t>
                </a:r>
              </a:p>
              <a:p>
                <a:pPr>
                  <a:lnSpc>
                    <a:spcPct val="120000"/>
                  </a:lnSpc>
                </a:pPr>
                <a:r>
                  <a:rPr lang="zh-CN" altLang="en-US" dirty="0"/>
                  <a:t>𝛽 为冗余参数，则（由于𝑋 中存在混杂因素）</a:t>
                </a:r>
                <a:endParaRPr lang="en-US" altLang="zh-CN" dirty="0"/>
              </a:p>
              <a:p>
                <a:pPr marL="0" indent="0" algn="ctr">
                  <a:lnSpc>
                    <a:spcPct val="120000"/>
                  </a:lnSpc>
                  <a:buNone/>
                </a:pPr>
                <a:r>
                  <a:rPr lang="zh-CN" altLang="en-US" dirty="0"/>
                  <a:t>𝜕𝑀</a:t>
                </a:r>
                <a:r>
                  <a:rPr lang="en-US" altLang="zh-CN" dirty="0"/>
                  <a:t>(</a:t>
                </a:r>
                <a:r>
                  <a:rPr lang="zh-CN" altLang="en-US" dirty="0"/>
                  <a:t>𝜏</a:t>
                </a:r>
                <a:r>
                  <a:rPr lang="en-US" altLang="zh-CN" dirty="0"/>
                  <a:t>, </a:t>
                </a:r>
                <a:r>
                  <a:rPr lang="zh-CN" altLang="en-US" dirty="0"/>
                  <a:t>𝛽</a:t>
                </a:r>
                <a:r>
                  <a:rPr lang="en-US" altLang="zh-CN" dirty="0"/>
                  <a:t>)/</a:t>
                </a:r>
                <a:r>
                  <a:rPr lang="zh-CN" altLang="en-US" dirty="0"/>
                  <a:t>𝜕𝛽 </a:t>
                </a:r>
                <a:r>
                  <a:rPr lang="en-US" altLang="zh-CN" dirty="0"/>
                  <a:t>= −</a:t>
                </a:r>
                <a:r>
                  <a:rPr lang="zh-CN" altLang="en-US" dirty="0"/>
                  <a:t>𝐸</a:t>
                </a:r>
                <a:r>
                  <a:rPr lang="en-US" altLang="zh-CN" dirty="0"/>
                  <a:t>[</a:t>
                </a:r>
                <a:r>
                  <a:rPr lang="zh-CN" altLang="en-US" dirty="0"/>
                  <a:t>𝐷𝑋</a:t>
                </a:r>
                <a:r>
                  <a:rPr lang="en-US" altLang="zh-CN" dirty="0"/>
                  <a:t>′] ≠ 0.</a:t>
                </a:r>
              </a:p>
              <a:p>
                <a:pPr>
                  <a:lnSpc>
                    <a:spcPct val="120000"/>
                  </a:lnSpc>
                </a:pPr>
                <a:r>
                  <a:rPr lang="zh-CN" altLang="en-US" dirty="0"/>
                  <a:t>但利用</a:t>
                </a:r>
                <a:r>
                  <a:rPr lang="en-US" altLang="zh-CN" dirty="0"/>
                  <a:t>(33)</a:t>
                </a:r>
                <a:r>
                  <a:rPr lang="zh-CN" altLang="en-US" dirty="0"/>
                  <a:t>，则矩条件为</a:t>
                </a:r>
                <a:endParaRPr lang="en-US" altLang="zh-CN" dirty="0"/>
              </a:p>
              <a:p>
                <a:pPr marL="0" indent="0" algn="ctr">
                  <a:lnSpc>
                    <a:spcPct val="120000"/>
                  </a:lnSpc>
                  <a:buNone/>
                </a:pPr>
                <a:r>
                  <a:rPr lang="zh-CN" altLang="en-US" dirty="0"/>
                  <a:t>𝑀</a:t>
                </a:r>
                <a:r>
                  <a:rPr lang="en-US" altLang="zh-CN" dirty="0"/>
                  <a:t>(</a:t>
                </a:r>
                <a:r>
                  <a:rPr lang="zh-CN" altLang="en-US" dirty="0"/>
                  <a:t>𝜏</a:t>
                </a:r>
                <a:r>
                  <a:rPr lang="en-US" altLang="zh-CN" dirty="0"/>
                  <a:t>, </a:t>
                </a:r>
                <a:r>
                  <a:rPr lang="zh-CN" altLang="en-US" dirty="0"/>
                  <a:t>𝛽</a:t>
                </a:r>
                <a:r>
                  <a:rPr lang="en-US" altLang="zh-CN" dirty="0"/>
                  <a:t>) = </a:t>
                </a:r>
                <a:r>
                  <a:rPr lang="zh-CN" altLang="en-US" dirty="0"/>
                  <a:t>𝐸</a:t>
                </a:r>
                <a:r>
                  <a:rPr lang="en-US" altLang="zh-CN" dirty="0"/>
                  <a:t>[</a:t>
                </a:r>
                <a:r>
                  <a:rPr lang="zh-CN" altLang="en-US" dirty="0"/>
                  <a:t>𝐷̃ </a:t>
                </a:r>
                <a:r>
                  <a:rPr lang="en-US" altLang="zh-CN" dirty="0"/>
                  <a:t>(</a:t>
                </a:r>
                <a:r>
                  <a:rPr lang="zh-CN" altLang="en-US" dirty="0"/>
                  <a:t>𝑌 − 𝜏𝐷 − 𝑋</a:t>
                </a:r>
                <a:r>
                  <a:rPr lang="en-US" altLang="zh-CN" dirty="0"/>
                  <a:t>′</a:t>
                </a:r>
                <a:r>
                  <a:rPr lang="zh-CN" altLang="en-US" dirty="0"/>
                  <a:t>𝛽</a:t>
                </a:r>
                <a:r>
                  <a:rPr lang="en-US" altLang="zh-CN" dirty="0"/>
                  <a:t>)] = 0,</a:t>
                </a:r>
              </a:p>
              <a:p>
                <a:pPr>
                  <a:lnSpc>
                    <a:spcPct val="120000"/>
                  </a:lnSpc>
                </a:pPr>
                <a:r>
                  <a:rPr lang="zh-CN" altLang="en-US" dirty="0"/>
                  <a:t>则 </a:t>
                </a:r>
                <a:endParaRPr lang="en-US" altLang="zh-CN" dirty="0"/>
              </a:p>
              <a:p>
                <a:pPr marL="0" indent="0" algn="ctr">
                  <a:lnSpc>
                    <a:spcPct val="120000"/>
                  </a:lnSpc>
                  <a:buNone/>
                </a:pPr>
                <a:r>
                  <a:rPr lang="zh-CN" altLang="en-US" dirty="0"/>
                  <a:t>𝜕𝑀</a:t>
                </a:r>
                <a:r>
                  <a:rPr lang="en-US" altLang="zh-CN" dirty="0"/>
                  <a:t>(</a:t>
                </a:r>
                <a:r>
                  <a:rPr lang="zh-CN" altLang="en-US" dirty="0"/>
                  <a:t>𝜏</a:t>
                </a:r>
                <a:r>
                  <a:rPr lang="en-US" altLang="zh-CN" dirty="0"/>
                  <a:t>, </a:t>
                </a:r>
                <a:r>
                  <a:rPr lang="zh-CN" altLang="en-US" dirty="0"/>
                  <a:t>𝛽</a:t>
                </a:r>
                <a:r>
                  <a:rPr lang="en-US" altLang="zh-CN" dirty="0"/>
                  <a:t>)/</a:t>
                </a:r>
                <a:r>
                  <a:rPr lang="zh-CN" altLang="en-US" dirty="0"/>
                  <a:t>𝜕𝛽 </a:t>
                </a:r>
                <a:r>
                  <a:rPr lang="en-US" altLang="zh-CN" dirty="0"/>
                  <a:t>= −</a:t>
                </a:r>
                <a:r>
                  <a:rPr lang="zh-CN" altLang="en-US" dirty="0"/>
                  <a:t>𝐸</a:t>
                </a:r>
                <a:r>
                  <a:rPr lang="en-US" altLang="zh-CN" dirty="0"/>
                  <a:t>[</a:t>
                </a:r>
                <a:r>
                  <a:rPr lang="zh-CN" altLang="en-US" dirty="0"/>
                  <a:t>𝐷̃𝑋</a:t>
                </a:r>
                <a:r>
                  <a:rPr lang="en-US" altLang="zh-CN" dirty="0"/>
                  <a:t>′] = 0.</a:t>
                </a:r>
                <a:endParaRPr lang="zh-CN" altLang="en-US" dirty="0"/>
              </a:p>
            </p:txBody>
          </p:sp>
        </mc:Choice>
        <mc:Fallback xmlns="">
          <p:sp>
            <p:nvSpPr>
              <p:cNvPr id="3" name="内容占位符 2">
                <a:extLst>
                  <a:ext uri="{FF2B5EF4-FFF2-40B4-BE49-F238E27FC236}">
                    <a16:creationId xmlns:a16="http://schemas.microsoft.com/office/drawing/2014/main" id="{8809FC10-5A2B-BBD5-A042-C1A069299EAD}"/>
                  </a:ext>
                </a:extLst>
              </p:cNvPr>
              <p:cNvSpPr>
                <a:spLocks noGrp="1" noRot="1" noChangeAspect="1" noMove="1" noResize="1" noEditPoints="1" noAdjustHandles="1" noChangeArrowheads="1" noChangeShapeType="1" noTextEdit="1"/>
              </p:cNvSpPr>
              <p:nvPr>
                <p:ph idx="1"/>
              </p:nvPr>
            </p:nvSpPr>
            <p:spPr>
              <a:xfrm>
                <a:off x="628650" y="1825624"/>
                <a:ext cx="7886700" cy="4783519"/>
              </a:xfrm>
              <a:blipFill>
                <a:blip r:embed="rId2"/>
                <a:stretch>
                  <a:fillRect l="-232" t="-255" b="-38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5B634315-2BC5-F26A-CE8C-68C279FAA32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9AC7F56A-3536-5CFE-08FC-3CA7F79FAEBA}"/>
              </a:ext>
            </a:extLst>
          </p:cNvPr>
          <p:cNvSpPr>
            <a:spLocks noGrp="1"/>
          </p:cNvSpPr>
          <p:nvPr>
            <p:ph type="sldNum" sz="quarter" idx="12"/>
          </p:nvPr>
        </p:nvSpPr>
        <p:spPr/>
        <p:txBody>
          <a:bodyPr/>
          <a:lstStyle/>
          <a:p>
            <a:fld id="{D41FC515-8169-4A29-AA56-DBE520D5741B}" type="slidenum">
              <a:rPr lang="zh-CN" altLang="en-US" smtClean="0"/>
              <a:t>57</a:t>
            </a:fld>
            <a:endParaRPr lang="zh-CN" altLang="en-US"/>
          </a:p>
        </p:txBody>
      </p:sp>
    </p:spTree>
    <p:extLst>
      <p:ext uri="{BB962C8B-B14F-4D97-AF65-F5344CB8AC3E}">
        <p14:creationId xmlns:p14="http://schemas.microsoft.com/office/powerpoint/2010/main" val="23585400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F366B5-23A9-F1EE-ECCC-5AC0901CB6F4}"/>
              </a:ext>
            </a:extLst>
          </p:cNvPr>
          <p:cNvSpPr>
            <a:spLocks noGrp="1"/>
          </p:cNvSpPr>
          <p:nvPr>
            <p:ph type="title"/>
          </p:nvPr>
        </p:nvSpPr>
        <p:spPr/>
        <p:txBody>
          <a:bodyPr/>
          <a:lstStyle/>
          <a:p>
            <a:r>
              <a:rPr lang="zh-CN" altLang="en-US" dirty="0"/>
              <a:t>双重机器学习</a:t>
            </a:r>
          </a:p>
        </p:txBody>
      </p:sp>
      <p:pic>
        <p:nvPicPr>
          <p:cNvPr id="7" name="内容占位符 6">
            <a:extLst>
              <a:ext uri="{FF2B5EF4-FFF2-40B4-BE49-F238E27FC236}">
                <a16:creationId xmlns:a16="http://schemas.microsoft.com/office/drawing/2014/main" id="{541CD12D-7F1E-8575-A9B8-192047CA9714}"/>
              </a:ext>
            </a:extLst>
          </p:cNvPr>
          <p:cNvPicPr>
            <a:picLocks noGrp="1" noChangeAspect="1"/>
          </p:cNvPicPr>
          <p:nvPr>
            <p:ph idx="1"/>
          </p:nvPr>
        </p:nvPicPr>
        <p:blipFill>
          <a:blip r:embed="rId2"/>
          <a:stretch>
            <a:fillRect/>
          </a:stretch>
        </p:blipFill>
        <p:spPr>
          <a:xfrm>
            <a:off x="628650" y="2087921"/>
            <a:ext cx="7886700" cy="3826745"/>
          </a:xfrm>
          <a:prstGeom prst="rect">
            <a:avLst/>
          </a:prstGeom>
        </p:spPr>
      </p:pic>
      <p:sp>
        <p:nvSpPr>
          <p:cNvPr id="4" name="页脚占位符 3">
            <a:extLst>
              <a:ext uri="{FF2B5EF4-FFF2-40B4-BE49-F238E27FC236}">
                <a16:creationId xmlns:a16="http://schemas.microsoft.com/office/drawing/2014/main" id="{33EB3A2F-D795-53D5-3F1B-385D4678E92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3F94B554-8CC0-867E-404A-7A49ACA97BDF}"/>
              </a:ext>
            </a:extLst>
          </p:cNvPr>
          <p:cNvSpPr>
            <a:spLocks noGrp="1"/>
          </p:cNvSpPr>
          <p:nvPr>
            <p:ph type="sldNum" sz="quarter" idx="12"/>
          </p:nvPr>
        </p:nvSpPr>
        <p:spPr/>
        <p:txBody>
          <a:bodyPr/>
          <a:lstStyle/>
          <a:p>
            <a:fld id="{D41FC515-8169-4A29-AA56-DBE520D5741B}" type="slidenum">
              <a:rPr lang="zh-CN" altLang="en-US" smtClean="0"/>
              <a:t>58</a:t>
            </a:fld>
            <a:endParaRPr lang="zh-CN" altLang="en-US"/>
          </a:p>
        </p:txBody>
      </p:sp>
    </p:spTree>
    <p:extLst>
      <p:ext uri="{BB962C8B-B14F-4D97-AF65-F5344CB8AC3E}">
        <p14:creationId xmlns:p14="http://schemas.microsoft.com/office/powerpoint/2010/main" val="38674212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59F031-F969-57C8-A4D7-EB7C404EA872}"/>
              </a:ext>
            </a:extLst>
          </p:cNvPr>
          <p:cNvSpPr>
            <a:spLocks noGrp="1"/>
          </p:cNvSpPr>
          <p:nvPr>
            <p:ph type="title"/>
          </p:nvPr>
        </p:nvSpPr>
        <p:spPr/>
        <p:txBody>
          <a:bodyPr/>
          <a:lstStyle/>
          <a:p>
            <a:r>
              <a:rPr lang="zh-CN" altLang="en-US" dirty="0"/>
              <a:t>双重机器学习</a:t>
            </a:r>
          </a:p>
        </p:txBody>
      </p:sp>
      <p:sp>
        <p:nvSpPr>
          <p:cNvPr id="3" name="内容占位符 2">
            <a:extLst>
              <a:ext uri="{FF2B5EF4-FFF2-40B4-BE49-F238E27FC236}">
                <a16:creationId xmlns:a16="http://schemas.microsoft.com/office/drawing/2014/main" id="{E543BD23-9ADE-BBC5-6D2F-669D77BD1D60}"/>
              </a:ext>
            </a:extLst>
          </p:cNvPr>
          <p:cNvSpPr>
            <a:spLocks noGrp="1"/>
          </p:cNvSpPr>
          <p:nvPr>
            <p:ph idx="1"/>
          </p:nvPr>
        </p:nvSpPr>
        <p:spPr>
          <a:xfrm>
            <a:off x="628650" y="1825625"/>
            <a:ext cx="7886700" cy="1325563"/>
          </a:xfrm>
        </p:spPr>
        <p:txBody>
          <a:bodyPr>
            <a:normAutofit fontScale="62500" lnSpcReduction="20000"/>
          </a:bodyPr>
          <a:lstStyle/>
          <a:p>
            <a:pPr>
              <a:lnSpc>
                <a:spcPct val="120000"/>
              </a:lnSpc>
            </a:pPr>
            <a:r>
              <a:rPr lang="zh-CN" altLang="en-US" dirty="0"/>
              <a:t>机器学习方法因模型复杂可能会存在着过拟合，为了降低过拟合，</a:t>
            </a:r>
            <a:r>
              <a:rPr lang="en-US" altLang="zh-CN" dirty="0" err="1"/>
              <a:t>Chernozhukov</a:t>
            </a:r>
            <a:r>
              <a:rPr lang="en-US" altLang="zh-CN" dirty="0"/>
              <a:t> et al.(2018) </a:t>
            </a:r>
            <a:r>
              <a:rPr lang="zh-CN" altLang="en-US" dirty="0"/>
              <a:t>提出进行样本分割</a:t>
            </a:r>
            <a:r>
              <a:rPr lang="en-US" altLang="zh-CN" dirty="0"/>
              <a:t>(sample splitting)</a:t>
            </a:r>
            <a:r>
              <a:rPr lang="zh-CN" altLang="en-US" dirty="0"/>
              <a:t>，先一部分样本训练模型𝑙</a:t>
            </a:r>
            <a:r>
              <a:rPr lang="en-US" altLang="zh-CN" dirty="0"/>
              <a:t>(</a:t>
            </a:r>
            <a:r>
              <a:rPr lang="zh-CN" altLang="en-US" dirty="0"/>
              <a:t>𝑋</a:t>
            </a:r>
            <a:r>
              <a:rPr lang="en-US" altLang="zh-CN" dirty="0"/>
              <a:t>), </a:t>
            </a:r>
            <a:r>
              <a:rPr lang="zh-CN" altLang="en-US" dirty="0"/>
              <a:t>𝑚</a:t>
            </a:r>
            <a:r>
              <a:rPr lang="en-US" altLang="zh-CN" dirty="0"/>
              <a:t>(</a:t>
            </a:r>
            <a:r>
              <a:rPr lang="zh-CN" altLang="en-US" dirty="0"/>
              <a:t>𝑋</a:t>
            </a:r>
            <a:r>
              <a:rPr lang="en-US" altLang="zh-CN" dirty="0"/>
              <a:t>)</a:t>
            </a:r>
            <a:r>
              <a:rPr lang="zh-CN" altLang="en-US" dirty="0"/>
              <a:t>，用另一部分样本计算残差 𝑌̃ </a:t>
            </a:r>
            <a:r>
              <a:rPr lang="en-US" altLang="zh-CN" dirty="0"/>
              <a:t>,</a:t>
            </a:r>
            <a:r>
              <a:rPr lang="zh-CN" altLang="en-US" dirty="0"/>
              <a:t>𝐷̃。由于残差计算用了新的样本，在第 </a:t>
            </a:r>
            <a:r>
              <a:rPr lang="en-US" altLang="zh-CN" dirty="0"/>
              <a:t>2 </a:t>
            </a:r>
            <a:r>
              <a:rPr lang="zh-CN" altLang="en-US" dirty="0"/>
              <a:t>阶段估计时可以避免过拟合造成的偏差。</a:t>
            </a:r>
          </a:p>
        </p:txBody>
      </p:sp>
      <p:sp>
        <p:nvSpPr>
          <p:cNvPr id="4" name="页脚占位符 3">
            <a:extLst>
              <a:ext uri="{FF2B5EF4-FFF2-40B4-BE49-F238E27FC236}">
                <a16:creationId xmlns:a16="http://schemas.microsoft.com/office/drawing/2014/main" id="{BAAF8E66-3AAD-410F-176A-0C37E1FF5C4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DDB82C08-4423-E7F6-8266-F0EB09F594C7}"/>
              </a:ext>
            </a:extLst>
          </p:cNvPr>
          <p:cNvSpPr>
            <a:spLocks noGrp="1"/>
          </p:cNvSpPr>
          <p:nvPr>
            <p:ph type="sldNum" sz="quarter" idx="12"/>
          </p:nvPr>
        </p:nvSpPr>
        <p:spPr/>
        <p:txBody>
          <a:bodyPr/>
          <a:lstStyle/>
          <a:p>
            <a:fld id="{D41FC515-8169-4A29-AA56-DBE520D5741B}" type="slidenum">
              <a:rPr lang="zh-CN" altLang="en-US" smtClean="0"/>
              <a:t>59</a:t>
            </a:fld>
            <a:endParaRPr lang="zh-CN" altLang="en-US"/>
          </a:p>
        </p:txBody>
      </p:sp>
      <p:pic>
        <p:nvPicPr>
          <p:cNvPr id="7" name="图片 6">
            <a:extLst>
              <a:ext uri="{FF2B5EF4-FFF2-40B4-BE49-F238E27FC236}">
                <a16:creationId xmlns:a16="http://schemas.microsoft.com/office/drawing/2014/main" id="{654DDFC6-4C25-2AFD-7FD7-17FC375C3D02}"/>
              </a:ext>
            </a:extLst>
          </p:cNvPr>
          <p:cNvPicPr>
            <a:picLocks noChangeAspect="1"/>
          </p:cNvPicPr>
          <p:nvPr/>
        </p:nvPicPr>
        <p:blipFill>
          <a:blip r:embed="rId2"/>
          <a:stretch>
            <a:fillRect/>
          </a:stretch>
        </p:blipFill>
        <p:spPr>
          <a:xfrm>
            <a:off x="1342664" y="3151187"/>
            <a:ext cx="6458674" cy="3205163"/>
          </a:xfrm>
          <a:prstGeom prst="rect">
            <a:avLst/>
          </a:prstGeom>
        </p:spPr>
      </p:pic>
    </p:spTree>
    <p:extLst>
      <p:ext uri="{BB962C8B-B14F-4D97-AF65-F5344CB8AC3E}">
        <p14:creationId xmlns:p14="http://schemas.microsoft.com/office/powerpoint/2010/main" val="33480258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C30AC4-41B4-889E-EFFE-E2037A6B6FC5}"/>
              </a:ext>
            </a:extLst>
          </p:cNvPr>
          <p:cNvSpPr>
            <a:spLocks noGrp="1"/>
          </p:cNvSpPr>
          <p:nvPr>
            <p:ph type="title"/>
          </p:nvPr>
        </p:nvSpPr>
        <p:spPr/>
        <p:txBody>
          <a:bodyPr/>
          <a:lstStyle/>
          <a:p>
            <a:r>
              <a:rPr lang="zh-CN" altLang="en-US" dirty="0"/>
              <a:t>双重机器学习</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F19FAF1-893E-7C3D-BED9-209006259A81}"/>
                  </a:ext>
                </a:extLst>
              </p:cNvPr>
              <p:cNvSpPr>
                <a:spLocks noGrp="1"/>
              </p:cNvSpPr>
              <p:nvPr>
                <p:ph idx="1"/>
              </p:nvPr>
            </p:nvSpPr>
            <p:spPr/>
            <p:txBody>
              <a:bodyPr>
                <a:normAutofit/>
              </a:bodyPr>
              <a:lstStyle/>
              <a:p>
                <a:r>
                  <a:rPr lang="zh-CN" altLang="en-US" dirty="0"/>
                  <a:t>双重机器学习的步骤</a:t>
                </a:r>
                <a:endParaRPr lang="en-US" altLang="zh-CN" dirty="0"/>
              </a:p>
              <a:p>
                <a:pPr lvl="1"/>
                <a:r>
                  <a:rPr lang="zh-CN" altLang="en-US" dirty="0"/>
                  <a:t>将数据随机的分成样本量近似相同的𝐾 折：</a:t>
                </a:r>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m:t>
                        </m:r>
                      </m:e>
                      <m:sub>
                        <m:r>
                          <a:rPr lang="en-US" altLang="zh-CN" b="0" i="1" smtClean="0">
                            <a:latin typeface="Cambria Math" panose="02040503050406030204" pitchFamily="18" charset="0"/>
                            <a:ea typeface="Cambria Math" panose="02040503050406030204" pitchFamily="18" charset="0"/>
                          </a:rPr>
                          <m:t>𝑘</m:t>
                        </m:r>
                        <m:r>
                          <a:rPr lang="en-US" altLang="zh-CN" b="0" i="1" smtClean="0">
                            <a:latin typeface="Cambria Math" panose="02040503050406030204" pitchFamily="18" charset="0"/>
                            <a:ea typeface="Cambria Math" panose="02040503050406030204" pitchFamily="18" charset="0"/>
                          </a:rPr>
                          <m:t>=1</m:t>
                        </m:r>
                      </m:sub>
                      <m:sup>
                        <m:r>
                          <a:rPr lang="en-US" altLang="zh-CN" b="0" i="1" smtClean="0">
                            <a:latin typeface="Cambria Math" panose="02040503050406030204" pitchFamily="18" charset="0"/>
                            <a:ea typeface="Cambria Math" panose="02040503050406030204" pitchFamily="18" charset="0"/>
                          </a:rPr>
                          <m:t>𝐾</m:t>
                        </m:r>
                      </m:sup>
                    </m:sSubSup>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𝐼</m:t>
                        </m:r>
                      </m:e>
                      <m:sub>
                        <m:r>
                          <a:rPr lang="en-US" altLang="zh-CN" b="0" i="1" smtClean="0">
                            <a:latin typeface="Cambria Math" panose="02040503050406030204" pitchFamily="18" charset="0"/>
                            <a:ea typeface="Cambria Math" panose="02040503050406030204" pitchFamily="18" charset="0"/>
                          </a:rPr>
                          <m:t>𝑘</m:t>
                        </m:r>
                      </m:sub>
                    </m:sSub>
                  </m:oMath>
                </a14:m>
                <a:r>
                  <a:rPr lang="zh-CN" altLang="en-US" dirty="0"/>
                  <a:t>，对于任意𝑘 </a:t>
                </a:r>
                <a:r>
                  <a:rPr lang="en-US" altLang="zh-CN" dirty="0"/>
                  <a:t>= 1,…,</a:t>
                </a:r>
                <a:r>
                  <a:rPr lang="zh-CN" altLang="en-US" dirty="0"/>
                  <a:t>𝐾，利用除 𝑘 折之外的数据训练机器学习模型 </a:t>
                </a:r>
                <a14:m>
                  <m:oMath xmlns:m="http://schemas.openxmlformats.org/officeDocument/2006/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𝑙</m:t>
                            </m:r>
                          </m:e>
                        </m:acc>
                      </m:e>
                      <m:sub>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𝑘</m:t>
                            </m:r>
                          </m:e>
                        </m:d>
                      </m:sub>
                    </m:sSub>
                  </m:oMath>
                </a14:m>
                <a:r>
                  <a:rPr lang="zh-CN" altLang="en-US" dirty="0"/>
                  <a:t>和 </a:t>
                </a:r>
                <a14:m>
                  <m:oMath xmlns:m="http://schemas.openxmlformats.org/officeDocument/2006/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𝑚</m:t>
                            </m:r>
                          </m:e>
                        </m:acc>
                      </m:e>
                      <m:sub>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𝑘</m:t>
                            </m:r>
                          </m:e>
                        </m:d>
                      </m:sub>
                    </m:sSub>
                  </m:oMath>
                </a14:m>
                <a:r>
                  <a:rPr lang="zh-CN" altLang="en-US" dirty="0"/>
                  <a:t>，并利用 𝑘 折数据计算交叉拟合残差：</a:t>
                </a:r>
                <a:endParaRPr lang="en-US" altLang="zh-CN" dirty="0"/>
              </a:p>
              <a:p>
                <a:pPr marL="457200" lvl="1" indent="0">
                  <a:buNone/>
                </a:pPr>
                <a14:m>
                  <m:oMathPara xmlns:m="http://schemas.openxmlformats.org/officeDocument/2006/math">
                    <m:oMathParaPr>
                      <m:jc m:val="center"/>
                    </m:oMathParaPr>
                    <m:oMath>
                      <m:acc>
                        <m:accPr>
                          <m:chr m:val="̌"/>
                          <m:ctrlPr>
                            <a:rPr lang="zh-CN" altLang="en-US" i="1" dirty="0" smtClean="0">
                              <a:latin typeface="Cambria Math" panose="02040503050406030204" pitchFamily="18" charset="0"/>
                            </a:rPr>
                          </m:ctrlPr>
                        </m:accPr>
                        <m:e>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e>
                      </m:acc>
                      <m:r>
                        <a:rPr lang="zh-CN" altLang="en-US" i="1" dirty="0" smtClean="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𝑙</m:t>
                              </m:r>
                            </m:e>
                          </m:acc>
                        </m:e>
                        <m:sub>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𝑘</m:t>
                              </m:r>
                            </m:e>
                          </m:d>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𝐷</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𝑚</m:t>
                              </m:r>
                            </m:e>
                          </m:acc>
                        </m:e>
                        <m:sub>
                          <m:d>
                            <m:dPr>
                              <m:begChr m:val="["/>
                              <m:endChr m:val="]"/>
                              <m:ctrlPr>
                                <a:rPr lang="zh-CN" altLang="en-US" i="1" dirty="0">
                                  <a:latin typeface="Cambria Math" panose="02040503050406030204" pitchFamily="18" charset="0"/>
                                </a:rPr>
                              </m:ctrlPr>
                            </m:dPr>
                            <m:e>
                              <m:r>
                                <a:rPr lang="zh-CN" altLang="en-US" i="1" dirty="0">
                                  <a:latin typeface="Cambria Math" panose="02040503050406030204" pitchFamily="18" charset="0"/>
                                </a:rPr>
                                <m:t>𝑘</m:t>
                              </m:r>
                            </m:e>
                          </m:d>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r>
                        <a:rPr lang="zh-CN" altLang="en-US" i="1" dirty="0">
                          <a:latin typeface="Cambria Math" panose="02040503050406030204" pitchFamily="18" charset="0"/>
                        </a:rPr>
                        <m:t>𝑖</m:t>
                      </m:r>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𝐼</m:t>
                          </m:r>
                        </m:e>
                        <m:sub>
                          <m:r>
                            <a:rPr lang="zh-CN" altLang="en-US" i="1" dirty="0">
                              <a:latin typeface="Cambria Math" panose="02040503050406030204" pitchFamily="18" charset="0"/>
                            </a:rPr>
                            <m:t>𝑘</m:t>
                          </m:r>
                        </m:sub>
                      </m:sSub>
                      <m:r>
                        <a:rPr lang="en-US" altLang="zh-CN" i="1" dirty="0" smtClean="0">
                          <a:latin typeface="Cambria Math" panose="02040503050406030204" pitchFamily="18" charset="0"/>
                        </a:rPr>
                        <m:t>.</m:t>
                      </m:r>
                    </m:oMath>
                  </m:oMathPara>
                </a14:m>
                <a:endParaRPr lang="en-US" altLang="zh-CN" dirty="0"/>
              </a:p>
              <a:p>
                <a:pPr lvl="1"/>
                <a14:m>
                  <m:oMath xmlns:m="http://schemas.openxmlformats.org/officeDocument/2006/math">
                    <m:acc>
                      <m:accPr>
                        <m:chr m:val="̌"/>
                        <m:ctrlPr>
                          <a:rPr lang="zh-CN" altLang="en-US" i="1" dirty="0" smtClean="0">
                            <a:latin typeface="Cambria Math" panose="02040503050406030204" pitchFamily="18" charset="0"/>
                          </a:rPr>
                        </m:ctrlPr>
                      </m:accPr>
                      <m:e>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zh-CN" altLang="en-US" i="1" dirty="0" smtClean="0">
                                <a:latin typeface="Cambria Math" panose="02040503050406030204" pitchFamily="18" charset="0"/>
                              </a:rPr>
                              <m:t>𝑖</m:t>
                            </m:r>
                          </m:sub>
                        </m:sSub>
                      </m:e>
                    </m:acc>
                    <m:r>
                      <a:rPr lang="zh-CN" altLang="en-US" i="1" dirty="0" smtClean="0">
                        <a:latin typeface="Cambria Math" panose="02040503050406030204" pitchFamily="18" charset="0"/>
                      </a:rPr>
                      <m:t> </m:t>
                    </m:r>
                  </m:oMath>
                </a14:m>
                <a:r>
                  <a:rPr lang="zh-CN" altLang="en-US" dirty="0"/>
                  <a:t>对 </a:t>
                </a:r>
                <a14:m>
                  <m:oMath xmlns:m="http://schemas.openxmlformats.org/officeDocument/2006/math">
                    <m:sSub>
                      <m:sSubPr>
                        <m:ctrlPr>
                          <a:rPr lang="zh-CN" altLang="en-US" i="1" dirty="0" smtClean="0">
                            <a:latin typeface="Cambria Math" panose="02040503050406030204" pitchFamily="18" charset="0"/>
                          </a:rPr>
                        </m:ctrlPr>
                      </m:sSubPr>
                      <m:e>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𝐷</m:t>
                            </m:r>
                          </m:e>
                        </m:acc>
                      </m:e>
                      <m:sub>
                        <m:r>
                          <a:rPr lang="zh-CN" altLang="en-US" i="1" dirty="0" smtClean="0">
                            <a:latin typeface="Cambria Math" panose="02040503050406030204" pitchFamily="18" charset="0"/>
                          </a:rPr>
                          <m:t>𝑖</m:t>
                        </m:r>
                      </m:sub>
                    </m:sSub>
                  </m:oMath>
                </a14:m>
                <a:r>
                  <a:rPr lang="zh-CN" altLang="en-US" dirty="0"/>
                  <a:t> 进行 </a:t>
                </a:r>
                <a:r>
                  <a:rPr lang="en-US" altLang="zh-CN" dirty="0"/>
                  <a:t>OLS </a:t>
                </a:r>
                <a:r>
                  <a:rPr lang="zh-CN" altLang="en-US" dirty="0"/>
                  <a:t>回归，即求解下列正规方程组得到 𝜏 的估计值：</a:t>
                </a:r>
                <a:endParaRPr lang="en-US" altLang="zh-CN" dirty="0"/>
              </a:p>
              <a:p>
                <a:pPr marL="457200" lvl="1" indent="0">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𝐸</m:t>
                          </m:r>
                        </m:e>
                        <m:sub>
                          <m:r>
                            <a:rPr lang="zh-CN" altLang="en-US" i="1" dirty="0" smtClean="0">
                              <a:latin typeface="Cambria Math" panose="02040503050406030204" pitchFamily="18" charset="0"/>
                            </a:rPr>
                            <m:t>𝑛</m:t>
                          </m:r>
                        </m:sub>
                      </m:sSub>
                      <m:r>
                        <a:rPr lang="en-US" altLang="zh-CN" i="1" dirty="0">
                          <a:latin typeface="Cambria Math" panose="02040503050406030204" pitchFamily="18" charset="0"/>
                        </a:rPr>
                        <m:t>[</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r>
                        <a:rPr lang="zh-CN" altLang="en-US" i="1" dirty="0">
                          <a:latin typeface="Cambria Math" panose="02040503050406030204" pitchFamily="18" charset="0"/>
                        </a:rPr>
                        <m:t> </m:t>
                      </m:r>
                      <m:r>
                        <a:rPr lang="en-US" altLang="zh-CN" i="1" dirty="0">
                          <a:latin typeface="Cambria Math" panose="02040503050406030204" pitchFamily="18" charset="0"/>
                        </a:rPr>
                        <m:t>(</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𝑌</m:t>
                          </m:r>
                        </m:e>
                      </m:acc>
                      <m:r>
                        <a:rPr lang="zh-CN" altLang="en-US" i="1" dirty="0">
                          <a:latin typeface="Cambria Math" panose="02040503050406030204" pitchFamily="18" charset="0"/>
                        </a:rPr>
                        <m:t> − </m:t>
                      </m:r>
                      <m:r>
                        <a:rPr lang="zh-CN" altLang="en-US" i="1" dirty="0">
                          <a:latin typeface="Cambria Math" panose="02040503050406030204" pitchFamily="18" charset="0"/>
                        </a:rPr>
                        <m:t>𝜏</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𝐷</m:t>
                          </m:r>
                        </m:e>
                      </m:acc>
                      <m:r>
                        <a:rPr lang="zh-CN" altLang="en-US" i="1" dirty="0">
                          <a:latin typeface="Cambria Math" panose="02040503050406030204" pitchFamily="18" charset="0"/>
                        </a:rPr>
                        <m:t> </m:t>
                      </m:r>
                      <m:r>
                        <a:rPr lang="en-US" altLang="zh-CN" i="1" dirty="0">
                          <a:latin typeface="Cambria Math" panose="02040503050406030204" pitchFamily="18" charset="0"/>
                        </a:rPr>
                        <m:t>)] = 0</m:t>
                      </m:r>
                      <m:r>
                        <a:rPr lang="en-US" altLang="zh-CN" i="1" dirty="0" smtClean="0">
                          <a:latin typeface="Cambria Math" panose="02040503050406030204" pitchFamily="18" charset="0"/>
                        </a:rPr>
                        <m:t>.</m:t>
                      </m:r>
                    </m:oMath>
                  </m:oMathPara>
                </a14:m>
                <a:endParaRPr lang="en-US" altLang="zh-CN" dirty="0"/>
              </a:p>
              <a:p>
                <a:pPr lvl="1"/>
                <a:r>
                  <a:rPr lang="zh-CN" altLang="en-US" dirty="0"/>
                  <a:t>利用标准的线性回归理论构造标准误和置信区间。</a:t>
                </a:r>
              </a:p>
            </p:txBody>
          </p:sp>
        </mc:Choice>
        <mc:Fallback xmlns="">
          <p:sp>
            <p:nvSpPr>
              <p:cNvPr id="3" name="内容占位符 2">
                <a:extLst>
                  <a:ext uri="{FF2B5EF4-FFF2-40B4-BE49-F238E27FC236}">
                    <a16:creationId xmlns:a16="http://schemas.microsoft.com/office/drawing/2014/main" id="{BF19FAF1-893E-7C3D-BED9-209006259A81}"/>
                  </a:ext>
                </a:extLst>
              </p:cNvPr>
              <p:cNvSpPr>
                <a:spLocks noGrp="1" noRot="1" noChangeAspect="1" noMove="1" noResize="1" noEditPoints="1" noAdjustHandles="1" noChangeArrowheads="1" noChangeShapeType="1" noTextEdit="1"/>
              </p:cNvSpPr>
              <p:nvPr>
                <p:ph idx="1"/>
              </p:nvPr>
            </p:nvSpPr>
            <p:spPr>
              <a:blipFill>
                <a:blip r:embed="rId2"/>
                <a:stretch>
                  <a:fillRect l="-1391" t="-1401" r="-541"/>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34B5C78-5473-B9F7-241B-3E4753095A55}"/>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1B400FA-2BED-12A6-B404-1AF968263C43}"/>
              </a:ext>
            </a:extLst>
          </p:cNvPr>
          <p:cNvSpPr>
            <a:spLocks noGrp="1"/>
          </p:cNvSpPr>
          <p:nvPr>
            <p:ph type="sldNum" sz="quarter" idx="12"/>
          </p:nvPr>
        </p:nvSpPr>
        <p:spPr/>
        <p:txBody>
          <a:bodyPr/>
          <a:lstStyle/>
          <a:p>
            <a:fld id="{D41FC515-8169-4A29-AA56-DBE520D5741B}" type="slidenum">
              <a:rPr lang="zh-CN" altLang="en-US" smtClean="0"/>
              <a:t>60</a:t>
            </a:fld>
            <a:endParaRPr lang="zh-CN" altLang="en-US"/>
          </a:p>
        </p:txBody>
      </p:sp>
    </p:spTree>
    <p:extLst>
      <p:ext uri="{BB962C8B-B14F-4D97-AF65-F5344CB8AC3E}">
        <p14:creationId xmlns:p14="http://schemas.microsoft.com/office/powerpoint/2010/main" val="25143423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6A0174-4D99-55B6-8588-136C5E1DED27}"/>
              </a:ext>
            </a:extLst>
          </p:cNvPr>
          <p:cNvSpPr>
            <a:spLocks noGrp="1"/>
          </p:cNvSpPr>
          <p:nvPr>
            <p:ph type="title"/>
          </p:nvPr>
        </p:nvSpPr>
        <p:spPr/>
        <p:txBody>
          <a:bodyPr/>
          <a:lstStyle/>
          <a:p>
            <a:r>
              <a:rPr lang="zh-CN" altLang="en-US" dirty="0"/>
              <a:t>敏感性分析</a:t>
            </a:r>
          </a:p>
        </p:txBody>
      </p:sp>
      <p:sp>
        <p:nvSpPr>
          <p:cNvPr id="3" name="内容占位符 2">
            <a:extLst>
              <a:ext uri="{FF2B5EF4-FFF2-40B4-BE49-F238E27FC236}">
                <a16:creationId xmlns:a16="http://schemas.microsoft.com/office/drawing/2014/main" id="{929B58CF-6506-7D1E-FC8D-43D058B2C082}"/>
              </a:ext>
            </a:extLst>
          </p:cNvPr>
          <p:cNvSpPr>
            <a:spLocks noGrp="1"/>
          </p:cNvSpPr>
          <p:nvPr>
            <p:ph idx="1"/>
          </p:nvPr>
        </p:nvSpPr>
        <p:spPr/>
        <p:txBody>
          <a:bodyPr>
            <a:normAutofit fontScale="92500"/>
          </a:bodyPr>
          <a:lstStyle/>
          <a:p>
            <a:pPr>
              <a:lnSpc>
                <a:spcPct val="110000"/>
              </a:lnSpc>
            </a:pPr>
            <a:r>
              <a:rPr lang="zh-CN" altLang="en-US" dirty="0"/>
              <a:t>通常，非混杂性假设很难评估，人们转向去分析如果非混杂性不成立，会对估计结果产生什么影响。</a:t>
            </a:r>
            <a:endParaRPr lang="en-US" altLang="zh-CN" dirty="0"/>
          </a:p>
          <a:p>
            <a:pPr>
              <a:lnSpc>
                <a:spcPct val="110000"/>
              </a:lnSpc>
            </a:pPr>
            <a:r>
              <a:rPr lang="zh-CN" altLang="en-US" dirty="0"/>
              <a:t>敏感性分析</a:t>
            </a:r>
            <a:r>
              <a:rPr lang="en-US" altLang="zh-CN" dirty="0"/>
              <a:t>(Sensitivity analysis) </a:t>
            </a:r>
            <a:r>
              <a:rPr lang="zh-CN" altLang="en-US" dirty="0"/>
              <a:t>就是评估如果存在未观测的混杂因素，从而使非混杂性假设不成立时，对估计的因果效应会产生什么样的偏差。</a:t>
            </a:r>
            <a:endParaRPr lang="en-US" altLang="zh-CN" dirty="0"/>
          </a:p>
          <a:p>
            <a:pPr>
              <a:lnSpc>
                <a:spcPct val="110000"/>
              </a:lnSpc>
            </a:pPr>
            <a:r>
              <a:rPr lang="zh-CN" altLang="en-US" dirty="0"/>
              <a:t>统计学中，敏感性分析可以追溯到</a:t>
            </a:r>
            <a:r>
              <a:rPr lang="en-US" altLang="zh-CN" dirty="0"/>
              <a:t>Hill </a:t>
            </a:r>
            <a:r>
              <a:rPr lang="zh-CN" altLang="en-US" dirty="0"/>
              <a:t>和</a:t>
            </a:r>
            <a:r>
              <a:rPr lang="en-US" altLang="zh-CN" dirty="0"/>
              <a:t>Fisher </a:t>
            </a:r>
            <a:r>
              <a:rPr lang="zh-CN" altLang="en-US" dirty="0"/>
              <a:t>关于吸烟与肺癌的因果关系的争论，</a:t>
            </a:r>
            <a:r>
              <a:rPr lang="en-US" altLang="zh-CN" dirty="0"/>
              <a:t>Cornfield et al. (1959) </a:t>
            </a:r>
            <a:r>
              <a:rPr lang="zh-CN" altLang="en-US" dirty="0"/>
              <a:t>首次提出以反驳</a:t>
            </a:r>
            <a:r>
              <a:rPr lang="en-US" altLang="zh-CN" dirty="0"/>
              <a:t>Fisher </a:t>
            </a:r>
            <a:r>
              <a:rPr lang="zh-CN" altLang="en-US" dirty="0"/>
              <a:t>的理由（参考</a:t>
            </a:r>
            <a:r>
              <a:rPr lang="en-US" altLang="zh-CN" dirty="0"/>
              <a:t>《</a:t>
            </a:r>
            <a:r>
              <a:rPr lang="zh-CN" altLang="en-US" dirty="0"/>
              <a:t>为什么</a:t>
            </a:r>
            <a:r>
              <a:rPr lang="en-US" altLang="zh-CN" dirty="0"/>
              <a:t>》</a:t>
            </a:r>
            <a:r>
              <a:rPr lang="zh-CN" altLang="en-US" dirty="0"/>
              <a:t>中的介绍）。</a:t>
            </a:r>
          </a:p>
        </p:txBody>
      </p:sp>
      <p:sp>
        <p:nvSpPr>
          <p:cNvPr id="4" name="页脚占位符 3">
            <a:extLst>
              <a:ext uri="{FF2B5EF4-FFF2-40B4-BE49-F238E27FC236}">
                <a16:creationId xmlns:a16="http://schemas.microsoft.com/office/drawing/2014/main" id="{63170A14-D70B-0F7C-8369-4B27C90E91BB}"/>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2AE14FC-ACC0-DDD4-FBBA-E230789AE060}"/>
              </a:ext>
            </a:extLst>
          </p:cNvPr>
          <p:cNvSpPr>
            <a:spLocks noGrp="1"/>
          </p:cNvSpPr>
          <p:nvPr>
            <p:ph type="sldNum" sz="quarter" idx="12"/>
          </p:nvPr>
        </p:nvSpPr>
        <p:spPr/>
        <p:txBody>
          <a:bodyPr/>
          <a:lstStyle/>
          <a:p>
            <a:fld id="{D41FC515-8169-4A29-AA56-DBE520D5741B}" type="slidenum">
              <a:rPr lang="zh-CN" altLang="en-US" smtClean="0"/>
              <a:t>61</a:t>
            </a:fld>
            <a:endParaRPr lang="zh-CN" altLang="en-US"/>
          </a:p>
        </p:txBody>
      </p:sp>
    </p:spTree>
    <p:extLst>
      <p:ext uri="{BB962C8B-B14F-4D97-AF65-F5344CB8AC3E}">
        <p14:creationId xmlns:p14="http://schemas.microsoft.com/office/powerpoint/2010/main" val="33078355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F6F142-0669-EF94-21AC-B3DEDCF47A9A}"/>
              </a:ext>
            </a:extLst>
          </p:cNvPr>
          <p:cNvSpPr>
            <a:spLocks noGrp="1"/>
          </p:cNvSpPr>
          <p:nvPr>
            <p:ph type="title"/>
          </p:nvPr>
        </p:nvSpPr>
        <p:spPr/>
        <p:txBody>
          <a:bodyPr/>
          <a:lstStyle/>
          <a:p>
            <a:r>
              <a:rPr lang="zh-CN" altLang="en-US" dirty="0"/>
              <a:t>敏感性分析</a:t>
            </a:r>
          </a:p>
        </p:txBody>
      </p:sp>
      <p:sp>
        <p:nvSpPr>
          <p:cNvPr id="3" name="内容占位符 2">
            <a:extLst>
              <a:ext uri="{FF2B5EF4-FFF2-40B4-BE49-F238E27FC236}">
                <a16:creationId xmlns:a16="http://schemas.microsoft.com/office/drawing/2014/main" id="{3B659600-0607-D4B2-328C-102F760F596B}"/>
              </a:ext>
            </a:extLst>
          </p:cNvPr>
          <p:cNvSpPr>
            <a:spLocks noGrp="1"/>
          </p:cNvSpPr>
          <p:nvPr>
            <p:ph idx="1"/>
          </p:nvPr>
        </p:nvSpPr>
        <p:spPr/>
        <p:txBody>
          <a:bodyPr/>
          <a:lstStyle/>
          <a:p>
            <a:r>
              <a:rPr lang="zh-CN" altLang="en-US" dirty="0"/>
              <a:t>敏感性分析有很多文献，我们仅介绍一种相对比较简单的，</a:t>
            </a:r>
            <a:r>
              <a:rPr lang="en-US" altLang="zh-CN" dirty="0"/>
              <a:t>Cinelli and Hazlett (2020)</a:t>
            </a:r>
            <a:r>
              <a:rPr lang="zh-CN" altLang="en-US" dirty="0"/>
              <a:t>。</a:t>
            </a:r>
            <a:endParaRPr lang="en-US" altLang="zh-CN" dirty="0"/>
          </a:p>
          <a:p>
            <a:r>
              <a:rPr lang="en-US" altLang="zh-CN" dirty="0"/>
              <a:t>Fisher </a:t>
            </a:r>
            <a:r>
              <a:rPr lang="zh-CN" altLang="en-US" dirty="0"/>
              <a:t>和 </a:t>
            </a:r>
            <a:r>
              <a:rPr lang="en-US" altLang="zh-CN" dirty="0" err="1"/>
              <a:t>Cornfiled</a:t>
            </a:r>
            <a:r>
              <a:rPr lang="en-US" altLang="zh-CN" dirty="0"/>
              <a:t> </a:t>
            </a:r>
            <a:r>
              <a:rPr lang="zh-CN" altLang="en-US" dirty="0"/>
              <a:t>的历史争议</a:t>
            </a:r>
            <a:endParaRPr lang="en-US" altLang="zh-CN" dirty="0"/>
          </a:p>
          <a:p>
            <a:endParaRPr lang="zh-CN" altLang="en-US" dirty="0"/>
          </a:p>
        </p:txBody>
      </p:sp>
      <p:sp>
        <p:nvSpPr>
          <p:cNvPr id="4" name="页脚占位符 3">
            <a:extLst>
              <a:ext uri="{FF2B5EF4-FFF2-40B4-BE49-F238E27FC236}">
                <a16:creationId xmlns:a16="http://schemas.microsoft.com/office/drawing/2014/main" id="{F727AAAB-E2E1-7FCF-5EFE-2F3388ED1157}"/>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3DEB3FC-3FA2-CE5B-1CDC-E9D68D671CA3}"/>
              </a:ext>
            </a:extLst>
          </p:cNvPr>
          <p:cNvSpPr>
            <a:spLocks noGrp="1"/>
          </p:cNvSpPr>
          <p:nvPr>
            <p:ph type="sldNum" sz="quarter" idx="12"/>
          </p:nvPr>
        </p:nvSpPr>
        <p:spPr/>
        <p:txBody>
          <a:bodyPr/>
          <a:lstStyle/>
          <a:p>
            <a:fld id="{D41FC515-8169-4A29-AA56-DBE520D5741B}" type="slidenum">
              <a:rPr lang="zh-CN" altLang="en-US" smtClean="0"/>
              <a:t>62</a:t>
            </a:fld>
            <a:endParaRPr lang="zh-CN" altLang="en-US"/>
          </a:p>
        </p:txBody>
      </p:sp>
      <p:pic>
        <p:nvPicPr>
          <p:cNvPr id="7" name="图片 6">
            <a:extLst>
              <a:ext uri="{FF2B5EF4-FFF2-40B4-BE49-F238E27FC236}">
                <a16:creationId xmlns:a16="http://schemas.microsoft.com/office/drawing/2014/main" id="{A4D986F6-2B69-B57B-D198-1E384ED05BB8}"/>
              </a:ext>
            </a:extLst>
          </p:cNvPr>
          <p:cNvPicPr>
            <a:picLocks noChangeAspect="1"/>
          </p:cNvPicPr>
          <p:nvPr/>
        </p:nvPicPr>
        <p:blipFill>
          <a:blip r:embed="rId2"/>
          <a:stretch>
            <a:fillRect/>
          </a:stretch>
        </p:blipFill>
        <p:spPr>
          <a:xfrm>
            <a:off x="1098244" y="3538891"/>
            <a:ext cx="3559745" cy="2224840"/>
          </a:xfrm>
          <a:prstGeom prst="rect">
            <a:avLst/>
          </a:prstGeom>
        </p:spPr>
      </p:pic>
      <p:pic>
        <p:nvPicPr>
          <p:cNvPr id="9" name="图片 8">
            <a:extLst>
              <a:ext uri="{FF2B5EF4-FFF2-40B4-BE49-F238E27FC236}">
                <a16:creationId xmlns:a16="http://schemas.microsoft.com/office/drawing/2014/main" id="{C7ED8888-A824-973B-ECBB-11A3669F48D5}"/>
              </a:ext>
            </a:extLst>
          </p:cNvPr>
          <p:cNvPicPr>
            <a:picLocks noChangeAspect="1"/>
          </p:cNvPicPr>
          <p:nvPr/>
        </p:nvPicPr>
        <p:blipFill>
          <a:blip r:embed="rId3"/>
          <a:stretch>
            <a:fillRect/>
          </a:stretch>
        </p:blipFill>
        <p:spPr>
          <a:xfrm>
            <a:off x="5127583" y="3565099"/>
            <a:ext cx="1701479" cy="2172424"/>
          </a:xfrm>
          <a:prstGeom prst="rect">
            <a:avLst/>
          </a:prstGeom>
        </p:spPr>
      </p:pic>
    </p:spTree>
    <p:extLst>
      <p:ext uri="{BB962C8B-B14F-4D97-AF65-F5344CB8AC3E}">
        <p14:creationId xmlns:p14="http://schemas.microsoft.com/office/powerpoint/2010/main" val="6773438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6FEA18-FEE6-C001-BA5C-99A75AB9D0E6}"/>
              </a:ext>
            </a:extLst>
          </p:cNvPr>
          <p:cNvSpPr>
            <a:spLocks noGrp="1"/>
          </p:cNvSpPr>
          <p:nvPr>
            <p:ph type="title"/>
          </p:nvPr>
        </p:nvSpPr>
        <p:spPr/>
        <p:txBody>
          <a:bodyPr/>
          <a:lstStyle/>
          <a:p>
            <a:r>
              <a:rPr lang="zh-CN" altLang="en-US" dirty="0"/>
              <a:t>敏感性分析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EB51E35-D167-4689-D04B-7FD4B567382E}"/>
                  </a:ext>
                </a:extLst>
              </p:cNvPr>
              <p:cNvSpPr>
                <a:spLocks noGrp="1"/>
              </p:cNvSpPr>
              <p:nvPr>
                <p:ph idx="1"/>
              </p:nvPr>
            </p:nvSpPr>
            <p:spPr>
              <a:xfrm>
                <a:off x="628650" y="1825624"/>
                <a:ext cx="7886700" cy="4895851"/>
              </a:xfrm>
            </p:spPr>
            <p:txBody>
              <a:bodyPr>
                <a:normAutofit fontScale="70000" lnSpcReduction="20000"/>
              </a:bodyPr>
              <a:lstStyle/>
              <a:p>
                <a:pPr>
                  <a:lnSpc>
                    <a:spcPct val="120000"/>
                  </a:lnSpc>
                </a:pPr>
                <a:r>
                  <a:rPr lang="en-US" altLang="zh-CN" dirty="0"/>
                  <a:t>Fisher </a:t>
                </a:r>
                <a:r>
                  <a:rPr lang="zh-CN" altLang="en-US" dirty="0"/>
                  <a:t>和 </a:t>
                </a:r>
                <a:r>
                  <a:rPr lang="en-US" altLang="zh-CN" dirty="0" err="1"/>
                  <a:t>Cornfiled</a:t>
                </a:r>
                <a:r>
                  <a:rPr lang="en-US" altLang="zh-CN" dirty="0"/>
                  <a:t> </a:t>
                </a:r>
                <a:r>
                  <a:rPr lang="zh-CN" altLang="en-US" dirty="0"/>
                  <a:t>的历史争议</a:t>
                </a:r>
                <a:endParaRPr lang="en-US" altLang="zh-CN" dirty="0"/>
              </a:p>
              <a:p>
                <a:pPr lvl="1">
                  <a:lnSpc>
                    <a:spcPct val="120000"/>
                  </a:lnSpc>
                </a:pPr>
                <a:r>
                  <a:rPr lang="zh-CN" altLang="en-US" dirty="0"/>
                  <a:t>观测数据表明吸烟者得肝癌的可能性是不吸烟者的</a:t>
                </a:r>
                <a:r>
                  <a:rPr lang="en-US" altLang="zh-CN" dirty="0"/>
                  <a:t>9 </a:t>
                </a:r>
                <a:r>
                  <a:rPr lang="zh-CN" altLang="en-US" dirty="0"/>
                  <a:t>倍。</a:t>
                </a:r>
                <a:r>
                  <a:rPr lang="en-US" altLang="zh-CN" dirty="0"/>
                  <a:t>Fisher </a:t>
                </a:r>
                <a:r>
                  <a:rPr lang="zh-CN" altLang="en-US" dirty="0"/>
                  <a:t>提出基因混杂说，反对两者之间存在因果关系。</a:t>
                </a:r>
                <a:r>
                  <a:rPr lang="en-US" altLang="zh-CN" dirty="0"/>
                  <a:t>Cornfield </a:t>
                </a:r>
                <a:r>
                  <a:rPr lang="zh-CN" altLang="en-US" dirty="0"/>
                  <a:t>说，好的，我们接受两者不存在因果，那么，这个混杂与吸烟行为的相关性必须要强大到什么程度，才能将观测到的吸烟行为和肺癌相关性解释掉。</a:t>
                </a:r>
                <a:endParaRPr lang="en-US" altLang="zh-CN" dirty="0"/>
              </a:p>
              <a:p>
                <a:pPr lvl="1">
                  <a:lnSpc>
                    <a:spcPct val="120000"/>
                  </a:lnSpc>
                </a:pPr>
                <a:endParaRPr lang="en-US" altLang="zh-CN" dirty="0"/>
              </a:p>
              <a:p>
                <a:pPr lvl="1">
                  <a:lnSpc>
                    <a:spcPct val="120000"/>
                  </a:lnSpc>
                </a:pPr>
                <a:endParaRPr lang="en-US" altLang="zh-CN" dirty="0"/>
              </a:p>
              <a:p>
                <a:pPr lvl="1">
                  <a:lnSpc>
                    <a:spcPct val="120000"/>
                  </a:lnSpc>
                </a:pPr>
                <a:endParaRPr lang="en-US" altLang="zh-CN" dirty="0"/>
              </a:p>
              <a:p>
                <a:pPr lvl="1">
                  <a:lnSpc>
                    <a:spcPct val="120000"/>
                  </a:lnSpc>
                </a:pPr>
                <a:endParaRPr lang="en-US" altLang="zh-CN" dirty="0"/>
              </a:p>
              <a:p>
                <a:pPr lvl="1">
                  <a:lnSpc>
                    <a:spcPct val="120000"/>
                  </a:lnSpc>
                </a:pPr>
                <a:r>
                  <a:rPr lang="en-US" altLang="zh-CN" dirty="0"/>
                  <a:t>Cornfield et al. (1959, 2009) </a:t>
                </a:r>
                <a:r>
                  <a:rPr lang="zh-CN" altLang="en-US" dirty="0"/>
                  <a:t>证明</a:t>
                </a:r>
                <a:endParaRPr lang="en-US" altLang="zh-CN" dirty="0"/>
              </a:p>
              <a:p>
                <a:pPr marL="457200" lvl="1" indent="0">
                  <a:lnSpc>
                    <a:spcPct val="120000"/>
                  </a:lnSpc>
                  <a:buNone/>
                </a:pPr>
                <a14:m>
                  <m:oMathPara xmlns:m="http://schemas.openxmlformats.org/officeDocument/2006/math">
                    <m:oMath>
                      <m:f>
                        <m:fPr>
                          <m:ctrlPr>
                            <a:rPr lang="en-US" altLang="zh-CN">
                              <a:latin typeface="Cambria Math" panose="02040503050406030204" pitchFamily="18" charset="0"/>
                            </a:rPr>
                          </m:ctrlPr>
                        </m:fPr>
                        <m:num>
                          <m:r>
                            <m:rPr>
                              <m:sty m:val="p"/>
                            </m:rPr>
                            <a:rPr lang="en-US" altLang="zh-CN">
                              <a:latin typeface="Cambria Math" panose="02040503050406030204" pitchFamily="18" charset="0"/>
                            </a:rPr>
                            <m:t>Pr</m:t>
                          </m:r>
                          <m:r>
                            <a:rPr lang="zh-CN" altLang="en-US" i="1">
                              <a:latin typeface="Cambria Math" panose="02040503050406030204" pitchFamily="18" charset="0"/>
                            </a:rPr>
                            <m:t>⁡</m:t>
                          </m:r>
                          <m:r>
                            <a:rPr lang="en-US" altLang="zh-CN" i="1">
                              <a:latin typeface="Cambria Math" panose="02040503050406030204" pitchFamily="18" charset="0"/>
                            </a:rPr>
                            <m:t>[</m:t>
                          </m:r>
                          <m:r>
                            <a:rPr lang="zh-CN" altLang="en-US" i="1">
                              <a:latin typeface="Cambria Math" panose="02040503050406030204" pitchFamily="18" charset="0"/>
                            </a:rPr>
                            <m:t>𝑈</m:t>
                          </m:r>
                          <m:r>
                            <a:rPr lang="en-US" altLang="zh-CN" i="1">
                              <a:latin typeface="Cambria Math" panose="02040503050406030204" pitchFamily="18" charset="0"/>
                            </a:rPr>
                            <m:t>=1|</m:t>
                          </m:r>
                          <m:r>
                            <a:rPr lang="zh-CN" altLang="en-US" i="1">
                              <a:latin typeface="Cambria Math" panose="02040503050406030204" pitchFamily="18" charset="0"/>
                            </a:rPr>
                            <m:t>𝐷</m:t>
                          </m:r>
                          <m:r>
                            <a:rPr lang="en-US" altLang="zh-CN" i="1">
                              <a:latin typeface="Cambria Math" panose="02040503050406030204" pitchFamily="18" charset="0"/>
                            </a:rPr>
                            <m:t>=1]</m:t>
                          </m:r>
                        </m:num>
                        <m:den>
                          <m:r>
                            <m:rPr>
                              <m:sty m:val="p"/>
                            </m:rPr>
                            <a:rPr lang="en-US" altLang="zh-CN">
                              <a:latin typeface="Cambria Math" panose="02040503050406030204" pitchFamily="18" charset="0"/>
                            </a:rPr>
                            <m:t>Pr</m:t>
                          </m:r>
                          <m:r>
                            <a:rPr lang="en-US" altLang="zh-CN" i="1">
                              <a:latin typeface="Cambria Math" panose="02040503050406030204" pitchFamily="18" charset="0"/>
                            </a:rPr>
                            <m:t>⁡[</m:t>
                          </m:r>
                          <m:r>
                            <a:rPr lang="en-US" altLang="zh-CN" i="1">
                              <a:latin typeface="Cambria Math" panose="02040503050406030204" pitchFamily="18" charset="0"/>
                            </a:rPr>
                            <m:t>𝑈</m:t>
                          </m:r>
                          <m:r>
                            <a:rPr lang="en-US" altLang="zh-CN" i="1">
                              <a:latin typeface="Cambria Math" panose="02040503050406030204" pitchFamily="18" charset="0"/>
                            </a:rPr>
                            <m:t>=1|</m:t>
                          </m:r>
                          <m:r>
                            <a:rPr lang="en-US" altLang="zh-CN" i="1">
                              <a:latin typeface="Cambria Math" panose="02040503050406030204" pitchFamily="18" charset="0"/>
                            </a:rPr>
                            <m:t>𝐷</m:t>
                          </m:r>
                          <m:r>
                            <a:rPr lang="en-US" altLang="zh-CN" i="1">
                              <a:latin typeface="Cambria Math" panose="02040503050406030204" pitchFamily="18" charset="0"/>
                            </a:rPr>
                            <m:t>=0]</m:t>
                          </m:r>
                        </m:den>
                      </m:f>
                      <m:r>
                        <a:rPr lang="en-US" altLang="zh-CN" b="0" i="1" smtClean="0">
                          <a:latin typeface="Cambria Math" panose="02040503050406030204" pitchFamily="18" charset="0"/>
                        </a:rPr>
                        <m:t>≥</m:t>
                      </m:r>
                      <m:f>
                        <m:fPr>
                          <m:ctrlPr>
                            <a:rPr lang="en-US" altLang="zh-CN">
                              <a:latin typeface="Cambria Math" panose="02040503050406030204" pitchFamily="18" charset="0"/>
                            </a:rPr>
                          </m:ctrlPr>
                        </m:fPr>
                        <m:num>
                          <m:r>
                            <m:rPr>
                              <m:sty m:val="p"/>
                            </m:rPr>
                            <a:rPr lang="en-US" altLang="zh-CN">
                              <a:latin typeface="Cambria Math" panose="02040503050406030204" pitchFamily="18" charset="0"/>
                            </a:rPr>
                            <m:t>Pr</m:t>
                          </m:r>
                          <m:r>
                            <a:rPr lang="zh-CN" altLang="en-US" i="1">
                              <a:latin typeface="Cambria Math" panose="02040503050406030204" pitchFamily="18" charset="0"/>
                            </a:rPr>
                            <m:t>⁡</m:t>
                          </m:r>
                          <m:r>
                            <a:rPr lang="en-US" altLang="zh-CN" i="1">
                              <a:latin typeface="Cambria Math" panose="02040503050406030204" pitchFamily="18" charset="0"/>
                            </a:rPr>
                            <m:t>[</m:t>
                          </m:r>
                          <m:r>
                            <a:rPr lang="en-US" altLang="zh-CN" b="0" i="1" smtClean="0">
                              <a:latin typeface="Cambria Math" panose="02040503050406030204" pitchFamily="18" charset="0"/>
                            </a:rPr>
                            <m:t>𝑌</m:t>
                          </m:r>
                          <m:r>
                            <a:rPr lang="en-US" altLang="zh-CN" i="1">
                              <a:latin typeface="Cambria Math" panose="02040503050406030204" pitchFamily="18" charset="0"/>
                            </a:rPr>
                            <m:t>=1|</m:t>
                          </m:r>
                          <m:r>
                            <a:rPr lang="zh-CN" altLang="en-US" i="1">
                              <a:latin typeface="Cambria Math" panose="02040503050406030204" pitchFamily="18" charset="0"/>
                            </a:rPr>
                            <m:t>𝐷</m:t>
                          </m:r>
                          <m:r>
                            <a:rPr lang="en-US" altLang="zh-CN" i="1">
                              <a:latin typeface="Cambria Math" panose="02040503050406030204" pitchFamily="18" charset="0"/>
                            </a:rPr>
                            <m:t>=1]</m:t>
                          </m:r>
                        </m:num>
                        <m:den>
                          <m:r>
                            <m:rPr>
                              <m:sty m:val="p"/>
                            </m:rPr>
                            <a:rPr lang="en-US" altLang="zh-CN">
                              <a:latin typeface="Cambria Math" panose="02040503050406030204" pitchFamily="18" charset="0"/>
                            </a:rPr>
                            <m:t>Pr</m:t>
                          </m:r>
                          <m:r>
                            <a:rPr lang="en-US" altLang="zh-CN" i="1">
                              <a:latin typeface="Cambria Math" panose="02040503050406030204" pitchFamily="18" charset="0"/>
                            </a:rPr>
                            <m:t>⁡[</m:t>
                          </m:r>
                          <m:r>
                            <a:rPr lang="en-US" altLang="zh-CN" b="0" i="1" smtClean="0">
                              <a:latin typeface="Cambria Math" panose="02040503050406030204" pitchFamily="18" charset="0"/>
                            </a:rPr>
                            <m:t>𝑌</m:t>
                          </m:r>
                          <m:r>
                            <a:rPr lang="en-US" altLang="zh-CN" i="1">
                              <a:latin typeface="Cambria Math" panose="02040503050406030204" pitchFamily="18" charset="0"/>
                            </a:rPr>
                            <m:t>=1|</m:t>
                          </m:r>
                          <m:r>
                            <a:rPr lang="en-US" altLang="zh-CN" i="1">
                              <a:latin typeface="Cambria Math" panose="02040503050406030204" pitchFamily="18" charset="0"/>
                            </a:rPr>
                            <m:t>𝐷</m:t>
                          </m:r>
                          <m:r>
                            <a:rPr lang="en-US" altLang="zh-CN" i="1">
                              <a:latin typeface="Cambria Math" panose="02040503050406030204" pitchFamily="18" charset="0"/>
                            </a:rPr>
                            <m:t>=0]</m:t>
                          </m:r>
                        </m:den>
                      </m:f>
                      <m:r>
                        <a:rPr lang="en-US" altLang="zh-CN" b="0" i="1" smtClean="0">
                          <a:latin typeface="Cambria Math" panose="02040503050406030204" pitchFamily="18" charset="0"/>
                        </a:rPr>
                        <m:t>=9</m:t>
                      </m:r>
                    </m:oMath>
                  </m:oMathPara>
                </a14:m>
                <a:endParaRPr lang="en-US" altLang="zh-CN" b="0" dirty="0"/>
              </a:p>
              <a:p>
                <a:pPr marL="457200" lvl="1" indent="0">
                  <a:lnSpc>
                    <a:spcPct val="120000"/>
                  </a:lnSpc>
                  <a:buNone/>
                </a:pPr>
                <a:r>
                  <a:rPr lang="zh-CN" altLang="en-US" dirty="0"/>
                  <a:t>而在生物学上，吸烟和不吸烟的人拥有该基因的可能性超过</a:t>
                </a:r>
                <a:r>
                  <a:rPr lang="en-US" altLang="zh-CN" dirty="0"/>
                  <a:t>9 </a:t>
                </a:r>
                <a:r>
                  <a:rPr lang="zh-CN" altLang="en-US" dirty="0"/>
                  <a:t>倍是不可能的，比如不吸烟的人群中有</a:t>
                </a:r>
                <a:r>
                  <a:rPr lang="en-US" altLang="zh-CN" dirty="0"/>
                  <a:t>11% </a:t>
                </a:r>
                <a:r>
                  <a:rPr lang="zh-CN" altLang="en-US" dirty="0"/>
                  <a:t>有这种基因，那么吸烟的人群必须要达到</a:t>
                </a:r>
                <a:r>
                  <a:rPr lang="en-US" altLang="zh-CN" dirty="0"/>
                  <a:t>99%</a:t>
                </a:r>
                <a:r>
                  <a:rPr lang="zh-CN" altLang="en-US" dirty="0"/>
                  <a:t>，生物学者觉得不太可能。这说明𝐷 和𝑌 之间必须有一条直接路径，没有被混杂完全解释掉，从而说明吸烟对肺癌具有因果影响。</a:t>
                </a:r>
              </a:p>
            </p:txBody>
          </p:sp>
        </mc:Choice>
        <mc:Fallback xmlns="">
          <p:sp>
            <p:nvSpPr>
              <p:cNvPr id="3" name="内容占位符 2">
                <a:extLst>
                  <a:ext uri="{FF2B5EF4-FFF2-40B4-BE49-F238E27FC236}">
                    <a16:creationId xmlns:a16="http://schemas.microsoft.com/office/drawing/2014/main" id="{EEB51E35-D167-4689-D04B-7FD4B567382E}"/>
                  </a:ext>
                </a:extLst>
              </p:cNvPr>
              <p:cNvSpPr>
                <a:spLocks noGrp="1" noRot="1" noChangeAspect="1" noMove="1" noResize="1" noEditPoints="1" noAdjustHandles="1" noChangeArrowheads="1" noChangeShapeType="1" noTextEdit="1"/>
              </p:cNvSpPr>
              <p:nvPr>
                <p:ph idx="1"/>
              </p:nvPr>
            </p:nvSpPr>
            <p:spPr>
              <a:xfrm>
                <a:off x="628650" y="1825624"/>
                <a:ext cx="7886700" cy="4895851"/>
              </a:xfrm>
              <a:blipFill>
                <a:blip r:embed="rId2"/>
                <a:stretch>
                  <a:fillRect l="-696" t="-622" r="-1005" b="-74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598A57F-886F-C37C-C97A-0B6BAC05B62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71ACF31A-A447-2EA6-B0F1-413362F0AB4B}"/>
              </a:ext>
            </a:extLst>
          </p:cNvPr>
          <p:cNvSpPr>
            <a:spLocks noGrp="1"/>
          </p:cNvSpPr>
          <p:nvPr>
            <p:ph type="sldNum" sz="quarter" idx="12"/>
          </p:nvPr>
        </p:nvSpPr>
        <p:spPr/>
        <p:txBody>
          <a:bodyPr/>
          <a:lstStyle/>
          <a:p>
            <a:fld id="{D41FC515-8169-4A29-AA56-DBE520D5741B}" type="slidenum">
              <a:rPr lang="zh-CN" altLang="en-US" smtClean="0"/>
              <a:t>63</a:t>
            </a:fld>
            <a:endParaRPr lang="zh-CN" altLang="en-US"/>
          </a:p>
        </p:txBody>
      </p:sp>
      <p:pic>
        <p:nvPicPr>
          <p:cNvPr id="7" name="图片 6">
            <a:extLst>
              <a:ext uri="{FF2B5EF4-FFF2-40B4-BE49-F238E27FC236}">
                <a16:creationId xmlns:a16="http://schemas.microsoft.com/office/drawing/2014/main" id="{DDDC8618-75F0-AB60-4082-C054774CFA02}"/>
              </a:ext>
            </a:extLst>
          </p:cNvPr>
          <p:cNvPicPr>
            <a:picLocks noChangeAspect="1"/>
          </p:cNvPicPr>
          <p:nvPr/>
        </p:nvPicPr>
        <p:blipFill>
          <a:blip r:embed="rId3"/>
          <a:stretch>
            <a:fillRect/>
          </a:stretch>
        </p:blipFill>
        <p:spPr>
          <a:xfrm>
            <a:off x="3147010" y="3429000"/>
            <a:ext cx="1854558" cy="1068946"/>
          </a:xfrm>
          <a:prstGeom prst="rect">
            <a:avLst/>
          </a:prstGeom>
        </p:spPr>
      </p:pic>
    </p:spTree>
    <p:extLst>
      <p:ext uri="{BB962C8B-B14F-4D97-AF65-F5344CB8AC3E}">
        <p14:creationId xmlns:p14="http://schemas.microsoft.com/office/powerpoint/2010/main" val="27981105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709904-6AC7-F7B9-8903-FA3EC42CE8F5}"/>
              </a:ext>
            </a:extLst>
          </p:cNvPr>
          <p:cNvSpPr>
            <a:spLocks noGrp="1"/>
          </p:cNvSpPr>
          <p:nvPr>
            <p:ph type="title"/>
          </p:nvPr>
        </p:nvSpPr>
        <p:spPr/>
        <p:txBody>
          <a:bodyPr/>
          <a:lstStyle/>
          <a:p>
            <a:r>
              <a:rPr lang="zh-CN" altLang="en-US" dirty="0"/>
              <a:t>敏感性分析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38FC120-337A-6674-659D-FD6BAD18B60D}"/>
                  </a:ext>
                </a:extLst>
              </p:cNvPr>
              <p:cNvSpPr>
                <a:spLocks noGrp="1"/>
              </p:cNvSpPr>
              <p:nvPr>
                <p:ph idx="1"/>
              </p:nvPr>
            </p:nvSpPr>
            <p:spPr/>
            <p:txBody>
              <a:bodyPr>
                <a:normAutofit fontScale="55000" lnSpcReduction="20000"/>
              </a:bodyPr>
              <a:lstStyle/>
              <a:p>
                <a:pPr>
                  <a:lnSpc>
                    <a:spcPct val="120000"/>
                  </a:lnSpc>
                </a:pPr>
                <a:r>
                  <a:rPr lang="zh-CN" altLang="en-US" dirty="0"/>
                  <a:t>敏感性分析有很多文献，我们仅介绍一种相对比较简单的，</a:t>
                </a:r>
                <a:r>
                  <a:rPr lang="en-US" altLang="zh-CN" dirty="0"/>
                  <a:t>Cinelli and Hazlett (2020) </a:t>
                </a:r>
                <a:r>
                  <a:rPr lang="zh-CN" altLang="en-US" dirty="0"/>
                  <a:t>利用</a:t>
                </a:r>
                <a:r>
                  <a:rPr lang="en-US" altLang="zh-CN" dirty="0"/>
                  <a:t>OVB </a:t>
                </a:r>
                <a:r>
                  <a:rPr lang="zh-CN" altLang="en-US" dirty="0"/>
                  <a:t>进行敏感性分析</a:t>
                </a:r>
                <a:endParaRPr lang="en-US" altLang="zh-CN" dirty="0"/>
              </a:p>
              <a:p>
                <a:pPr marL="0" indent="0" algn="ctr">
                  <a:lnSpc>
                    <a:spcPct val="120000"/>
                  </a:lnSpc>
                  <a:buNone/>
                </a:pPr>
                <a:r>
                  <a:rPr lang="zh-CN" altLang="en-US" dirty="0"/>
                  <a:t>𝑌 </a:t>
                </a:r>
                <a:r>
                  <a:rPr lang="en-US" altLang="zh-CN" dirty="0"/>
                  <a:t>= </a:t>
                </a:r>
                <a:r>
                  <a:rPr lang="zh-CN" altLang="en-US" dirty="0"/>
                  <a:t>𝜏𝐷 </a:t>
                </a:r>
                <a:r>
                  <a:rPr lang="en-US" altLang="zh-CN" dirty="0"/>
                  <a:t>+ </a:t>
                </a:r>
                <a:r>
                  <a:rPr lang="zh-CN" altLang="en-US" dirty="0"/>
                  <a:t>𝑋𝛽 </a:t>
                </a:r>
                <a:r>
                  <a:rPr lang="en-US" altLang="zh-CN" dirty="0"/>
                  <a:t>+ </a:t>
                </a:r>
                <a:r>
                  <a:rPr lang="zh-CN" altLang="en-US" dirty="0"/>
                  <a:t>𝛾𝑈 </a:t>
                </a:r>
                <a:r>
                  <a:rPr lang="en-US" altLang="zh-CN" dirty="0"/>
                  <a:t>+ </a:t>
                </a:r>
                <a:r>
                  <a:rPr lang="zh-CN" altLang="en-US" dirty="0"/>
                  <a:t>𝑒</a:t>
                </a:r>
                <a:endParaRPr lang="en-US" altLang="zh-CN" dirty="0"/>
              </a:p>
              <a:p>
                <a:pPr>
                  <a:lnSpc>
                    <a:spcPct val="120000"/>
                  </a:lnSpc>
                </a:pPr>
                <a:r>
                  <a:rPr lang="zh-CN" altLang="en-US" dirty="0"/>
                  <a:t>使用的模型为</a:t>
                </a:r>
                <a:endParaRPr lang="en-US" altLang="zh-CN" dirty="0"/>
              </a:p>
              <a:p>
                <a:pPr marL="0" indent="0">
                  <a:lnSpc>
                    <a:spcPct val="120000"/>
                  </a:lnSpc>
                  <a:buNone/>
                </a:pPr>
                <a14:m>
                  <m:oMathPara xmlns:m="http://schemas.openxmlformats.org/officeDocument/2006/math">
                    <m:oMath>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𝜏</m:t>
                          </m:r>
                        </m:e>
                        <m:sub>
                          <m:r>
                            <a:rPr lang="zh-CN" altLang="en-US" i="1" dirty="0">
                              <a:latin typeface="Cambria Math" panose="02040503050406030204" pitchFamily="18" charset="0"/>
                            </a:rPr>
                            <m:t>𝑟𝑒𝑠</m:t>
                          </m:r>
                        </m:sub>
                      </m:sSub>
                      <m:r>
                        <a:rPr lang="zh-CN" altLang="en-US" i="1" dirty="0">
                          <a:latin typeface="Cambria Math" panose="02040503050406030204" pitchFamily="18" charset="0"/>
                        </a:rPr>
                        <m:t>𝐷</m:t>
                      </m:r>
                      <m:r>
                        <a:rPr lang="zh-CN" altLang="en-US" i="1" dirty="0">
                          <a:latin typeface="Cambria Math" panose="02040503050406030204" pitchFamily="18" charset="0"/>
                        </a:rPr>
                        <m:t> + </m:t>
                      </m:r>
                      <m:r>
                        <a:rPr lang="zh-CN" altLang="en-US" i="1" dirty="0">
                          <a:latin typeface="Cambria Math" panose="02040503050406030204" pitchFamily="18" charset="0"/>
                        </a:rPr>
                        <m:t>𝑋</m:t>
                      </m:r>
                      <m:r>
                        <a:rPr lang="zh-CN" altLang="en-US" i="1" dirty="0">
                          <a:latin typeface="Cambria Math" panose="02040503050406030204" pitchFamily="18" charset="0"/>
                        </a:rPr>
                        <m:t>𝛽</m:t>
                      </m:r>
                      <m:r>
                        <a:rPr lang="zh-CN" altLang="en-US" i="1" dirty="0">
                          <a:latin typeface="Cambria Math" panose="02040503050406030204" pitchFamily="18" charset="0"/>
                        </a:rPr>
                        <m:t> +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𝑒</m:t>
                          </m:r>
                        </m:e>
                        <m:sub>
                          <m:r>
                            <a:rPr lang="zh-CN" altLang="en-US" i="1" dirty="0">
                              <a:latin typeface="Cambria Math" panose="02040503050406030204" pitchFamily="18" charset="0"/>
                            </a:rPr>
                            <m:t>𝑟𝑒</m:t>
                          </m:r>
                          <m:r>
                            <a:rPr lang="zh-CN" altLang="en-US" i="1" dirty="0" smtClean="0">
                              <a:latin typeface="Cambria Math" panose="02040503050406030204" pitchFamily="18" charset="0"/>
                            </a:rPr>
                            <m:t>𝑠</m:t>
                          </m:r>
                        </m:sub>
                      </m:sSub>
                    </m:oMath>
                  </m:oMathPara>
                </a14:m>
                <a:endParaRPr lang="en-US" altLang="zh-CN" dirty="0"/>
              </a:p>
              <a:p>
                <a:pPr>
                  <a:lnSpc>
                    <a:spcPct val="120000"/>
                  </a:lnSpc>
                </a:pPr>
                <a:r>
                  <a:rPr lang="zh-CN" altLang="en-US" dirty="0"/>
                  <a:t>则 </a:t>
                </a:r>
                <a14:m>
                  <m:oMath xmlns:m="http://schemas.openxmlformats.org/officeDocument/2006/math">
                    <m:sSub>
                      <m:sSubPr>
                        <m:ctrlPr>
                          <a:rPr lang="zh-CN" altLang="en-US" i="1" dirty="0" smtClean="0">
                            <a:latin typeface="Cambria Math" panose="02040503050406030204" pitchFamily="18" charset="0"/>
                          </a:rPr>
                        </m:ctrlPr>
                      </m:sSubPr>
                      <m:e>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𝜏</m:t>
                            </m:r>
                          </m:e>
                        </m:acc>
                      </m:e>
                      <m:sub>
                        <m:r>
                          <a:rPr lang="zh-CN" altLang="en-US" i="1" dirty="0" smtClean="0">
                            <a:latin typeface="Cambria Math" panose="02040503050406030204" pitchFamily="18" charset="0"/>
                          </a:rPr>
                          <m:t>𝑟𝑒𝑠</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𝜏</m:t>
                        </m:r>
                      </m:e>
                    </m:acc>
                    <m:r>
                      <a:rPr lang="zh-CN" altLang="en-US" i="1" dirty="0">
                        <a:latin typeface="Cambria Math" panose="02040503050406030204" pitchFamily="18" charset="0"/>
                      </a:rPr>
                      <m:t> </m:t>
                    </m:r>
                    <m:r>
                      <a:rPr lang="en-US" altLang="zh-CN" i="1" dirty="0">
                        <a:latin typeface="Cambria Math" panose="02040503050406030204" pitchFamily="18" charset="0"/>
                      </a:rPr>
                      <m:t>+ </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𝛾</m:t>
                        </m:r>
                      </m:e>
                    </m:acc>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𝛿</m:t>
                        </m:r>
                      </m:e>
                    </m:acc>
                  </m:oMath>
                </a14:m>
                <a:endParaRPr lang="en-US" altLang="zh-CN" dirty="0"/>
              </a:p>
              <a:p>
                <a:pPr>
                  <a:lnSpc>
                    <a:spcPct val="120000"/>
                  </a:lnSpc>
                </a:pPr>
                <a:r>
                  <a:rPr lang="zh-CN" altLang="en-US" dirty="0"/>
                  <a:t>其中</a:t>
                </a:r>
                <a:endParaRPr lang="en-US" altLang="zh-CN" dirty="0"/>
              </a:p>
              <a:p>
                <a:pPr marL="0" indent="0">
                  <a:lnSpc>
                    <a:spcPct val="120000"/>
                  </a:lnSpc>
                  <a:buNone/>
                </a:pPr>
                <a14:m>
                  <m:oMathPara xmlns:m="http://schemas.openxmlformats.org/officeDocument/2006/math">
                    <m:o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𝛿</m:t>
                          </m:r>
                        </m:e>
                      </m:acc>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𝐶𝑜𝑣</m:t>
                          </m:r>
                          <m:d>
                            <m:dPr>
                              <m:ctrlPr>
                                <a:rPr lang="en-US" altLang="zh-CN" b="0" i="1" dirty="0" smtClean="0">
                                  <a:latin typeface="Cambria Math" panose="02040503050406030204" pitchFamily="18" charset="0"/>
                                </a:rPr>
                              </m:ctrlPr>
                            </m:dPr>
                            <m:e>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𝐷</m:t>
                                  </m:r>
                                </m:e>
                                <m: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𝑋</m:t>
                                  </m:r>
                                </m:sup>
                              </m:sSup>
                              <m:r>
                                <a:rPr lang="en-US" altLang="zh-CN" b="0" i="1" dirty="0" smtClean="0">
                                  <a:latin typeface="Cambria Math" panose="02040503050406030204" pitchFamily="18" charset="0"/>
                                </a:rPr>
                                <m:t>, </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𝑈</m:t>
                                  </m:r>
                                </m:e>
                                <m: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𝑋</m:t>
                                  </m:r>
                                </m:sup>
                              </m:sSup>
                            </m:e>
                          </m:d>
                        </m:num>
                        <m:den>
                          <m:r>
                            <a:rPr lang="en-US" altLang="zh-CN" b="0" i="1" dirty="0" smtClean="0">
                              <a:latin typeface="Cambria Math" panose="02040503050406030204" pitchFamily="18" charset="0"/>
                            </a:rPr>
                            <m:t>𝑉𝑎𝑟</m:t>
                          </m:r>
                          <m:d>
                            <m:dPr>
                              <m:ctrlPr>
                                <a:rPr lang="en-US" altLang="zh-CN" b="0" i="1" dirty="0" smtClean="0">
                                  <a:latin typeface="Cambria Math" panose="02040503050406030204" pitchFamily="18" charset="0"/>
                                </a:rPr>
                              </m:ctrlPr>
                            </m:dPr>
                            <m:e>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𝐷</m:t>
                                  </m:r>
                                </m:e>
                                <m: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𝑋</m:t>
                                  </m:r>
                                </m:sup>
                              </m:sSup>
                            </m:e>
                          </m:d>
                        </m:den>
                      </m:f>
                    </m:oMath>
                  </m:oMathPara>
                </a14:m>
                <a:endParaRPr lang="en-US" altLang="zh-CN" dirty="0"/>
              </a:p>
              <a:p>
                <a:pPr marL="0" indent="0">
                  <a:lnSpc>
                    <a:spcPct val="120000"/>
                  </a:lnSpc>
                  <a:buNone/>
                </a:pPr>
                <a:r>
                  <a:rPr lang="zh-CN" altLang="en-US" dirty="0"/>
                  <a:t>     𝐷⟂𝑋，𝑈 ⟂𝑋 表示𝐷 和𝑈 对𝑋 的回归残差，因而遗漏</a:t>
                </a:r>
                <a:r>
                  <a:rPr lang="en-US" altLang="zh-CN" dirty="0"/>
                  <a:t>1 </a:t>
                </a:r>
                <a:r>
                  <a:rPr lang="zh-CN" altLang="en-US" dirty="0"/>
                  <a:t>个混杂因素所造成的偏差为</a:t>
                </a:r>
                <a:endParaRPr lang="en-US" altLang="zh-CN" dirty="0"/>
              </a:p>
              <a:p>
                <a:pPr marL="0" indent="0">
                  <a:lnSpc>
                    <a:spcPct val="120000"/>
                  </a:lnSpc>
                  <a:buNone/>
                </a:pPr>
                <a:r>
                  <a:rPr lang="zh-CN" altLang="en-US" dirty="0"/>
                  <a:t>    </a:t>
                </a:r>
                <a14:m>
                  <m:oMath xmlns:m="http://schemas.openxmlformats.org/officeDocument/2006/math">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𝑏𝑖𝑎𝑠</m:t>
                        </m:r>
                      </m:e>
                    </m:acc>
                    <m:r>
                      <a:rPr lang="zh-CN" altLang="en-US" i="1" dirty="0">
                        <a:latin typeface="Cambria Math" panose="02040503050406030204" pitchFamily="18" charset="0"/>
                      </a:rPr>
                      <m:t> </m:t>
                    </m:r>
                    <m:r>
                      <a:rPr lang="en-US" altLang="zh-CN" i="1" dirty="0">
                        <a:latin typeface="Cambria Math" panose="02040503050406030204" pitchFamily="18" charset="0"/>
                      </a:rPr>
                      <m:t>= </m:t>
                    </m:r>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𝛾</m:t>
                        </m:r>
                      </m:e>
                    </m:acc>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𝛿</m:t>
                        </m:r>
                      </m:e>
                    </m:acc>
                    <m:r>
                      <a:rPr lang="en-US" altLang="zh-CN" i="1" dirty="0">
                        <a:latin typeface="Cambria Math" panose="02040503050406030204" pitchFamily="18" charset="0"/>
                      </a:rPr>
                      <m:t> </m:t>
                    </m:r>
                    <m:r>
                      <a:rPr lang="en-US" altLang="zh-CN" b="0" i="1" dirty="0" smtClean="0">
                        <a:latin typeface="Cambria Math" panose="02040503050406030204" pitchFamily="18" charset="0"/>
                      </a:rPr>
                      <m:t>    </m:t>
                    </m:r>
                    <m:r>
                      <a:rPr lang="en-US" altLang="zh-CN" i="1" dirty="0">
                        <a:latin typeface="Cambria Math" panose="02040503050406030204" pitchFamily="18" charset="0"/>
                      </a:rPr>
                      <m:t>(3</m:t>
                    </m:r>
                    <m:r>
                      <a:rPr lang="en-US" altLang="zh-CN" b="0" i="1" dirty="0" smtClean="0">
                        <a:latin typeface="Cambria Math" panose="02040503050406030204" pitchFamily="18" charset="0"/>
                      </a:rPr>
                      <m:t>4</m:t>
                    </m:r>
                    <m:r>
                      <a:rPr lang="en-US" altLang="zh-CN" i="1" dirty="0" smtClean="0">
                        <a:latin typeface="Cambria Math" panose="02040503050406030204" pitchFamily="18" charset="0"/>
                      </a:rPr>
                      <m:t>)</m:t>
                    </m:r>
                  </m:oMath>
                </a14:m>
                <a:endParaRPr lang="en-US" altLang="zh-CN" dirty="0"/>
              </a:p>
              <a:p>
                <a:pPr>
                  <a:lnSpc>
                    <a:spcPct val="120000"/>
                  </a:lnSpc>
                </a:pPr>
                <a14:m>
                  <m:oMath xmlns:m="http://schemas.openxmlformats.org/officeDocument/2006/math">
                    <m:acc>
                      <m:accPr>
                        <m:chr m:val="̂"/>
                        <m:ctrlPr>
                          <a:rPr lang="zh-CN" altLang="en-US" i="1" dirty="0" smtClean="0">
                            <a:latin typeface="Cambria Math" panose="02040503050406030204" pitchFamily="18" charset="0"/>
                          </a:rPr>
                        </m:ctrlPr>
                      </m:accPr>
                      <m:e>
                        <m:r>
                          <a:rPr lang="zh-CN" altLang="en-US" i="1" dirty="0" smtClean="0">
                            <a:latin typeface="Cambria Math" panose="02040503050406030204" pitchFamily="18" charset="0"/>
                          </a:rPr>
                          <m:t>𝛾</m:t>
                        </m:r>
                      </m:e>
                    </m:acc>
                  </m:oMath>
                </a14:m>
                <a:r>
                  <a:rPr lang="zh-CN" altLang="en-US" dirty="0"/>
                  <a:t>：混杂对结果的边际影响 </a:t>
                </a:r>
                <a:r>
                  <a:rPr lang="en-US" altLang="zh-CN" dirty="0"/>
                  <a:t>(impact)</a:t>
                </a:r>
                <a:r>
                  <a:rPr lang="zh-CN" altLang="en-US" dirty="0"/>
                  <a:t>，</a:t>
                </a:r>
                <a14:m>
                  <m:oMath xmlns:m="http://schemas.openxmlformats.org/officeDocument/2006/math">
                    <m:acc>
                      <m:accPr>
                        <m:chr m:val="̂"/>
                        <m:ctrlPr>
                          <a:rPr lang="zh-CN" altLang="en-US" i="1" dirty="0">
                            <a:latin typeface="Cambria Math" panose="02040503050406030204" pitchFamily="18" charset="0"/>
                          </a:rPr>
                        </m:ctrlPr>
                      </m:accPr>
                      <m:e>
                        <m:r>
                          <a:rPr lang="zh-CN" altLang="en-US" i="1" dirty="0">
                            <a:latin typeface="Cambria Math" panose="02040503050406030204" pitchFamily="18" charset="0"/>
                          </a:rPr>
                          <m:t>𝛿</m:t>
                        </m:r>
                      </m:e>
                    </m:acc>
                  </m:oMath>
                </a14:m>
                <a:r>
                  <a:rPr lang="zh-CN" altLang="en-US" dirty="0"/>
                  <a:t>：𝑈 对 𝐷（控制 𝑋 后</a:t>
                </a:r>
                <a:r>
                  <a:rPr lang="en-US" altLang="zh-CN" dirty="0"/>
                  <a:t>) </a:t>
                </a:r>
                <a:r>
                  <a:rPr lang="zh-CN" altLang="en-US" dirty="0"/>
                  <a:t>的回归系数，反映的是𝑈 的不平衡性</a:t>
                </a:r>
                <a:r>
                  <a:rPr lang="en-US" altLang="zh-CN" dirty="0"/>
                  <a:t>(imbalance)</a:t>
                </a:r>
                <a:r>
                  <a:rPr lang="zh-CN" altLang="en-US" dirty="0"/>
                  <a:t>。</a:t>
                </a:r>
              </a:p>
            </p:txBody>
          </p:sp>
        </mc:Choice>
        <mc:Fallback xmlns="">
          <p:sp>
            <p:nvSpPr>
              <p:cNvPr id="3" name="内容占位符 2">
                <a:extLst>
                  <a:ext uri="{FF2B5EF4-FFF2-40B4-BE49-F238E27FC236}">
                    <a16:creationId xmlns:a16="http://schemas.microsoft.com/office/drawing/2014/main" id="{738FC120-337A-6674-659D-FD6BAD18B60D}"/>
                  </a:ext>
                </a:extLst>
              </p:cNvPr>
              <p:cNvSpPr>
                <a:spLocks noGrp="1" noRot="1" noChangeAspect="1" noMove="1" noResize="1" noEditPoints="1" noAdjustHandles="1" noChangeArrowheads="1" noChangeShapeType="1" noTextEdit="1"/>
              </p:cNvSpPr>
              <p:nvPr>
                <p:ph idx="1"/>
              </p:nvPr>
            </p:nvSpPr>
            <p:spPr>
              <a:blipFill>
                <a:blip r:embed="rId2"/>
                <a:stretch>
                  <a:fillRect l="-232" t="-280"/>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D3B09F5-9CBF-5BBC-9A88-8B113A7C8EE6}"/>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CCB68F99-CA31-1E2D-6101-550C61F535EC}"/>
              </a:ext>
            </a:extLst>
          </p:cNvPr>
          <p:cNvSpPr>
            <a:spLocks noGrp="1"/>
          </p:cNvSpPr>
          <p:nvPr>
            <p:ph type="sldNum" sz="quarter" idx="12"/>
          </p:nvPr>
        </p:nvSpPr>
        <p:spPr/>
        <p:txBody>
          <a:bodyPr/>
          <a:lstStyle/>
          <a:p>
            <a:fld id="{D41FC515-8169-4A29-AA56-DBE520D5741B}" type="slidenum">
              <a:rPr lang="zh-CN" altLang="en-US" smtClean="0"/>
              <a:t>64</a:t>
            </a:fld>
            <a:endParaRPr lang="zh-CN" altLang="en-US"/>
          </a:p>
        </p:txBody>
      </p:sp>
    </p:spTree>
    <p:extLst>
      <p:ext uri="{BB962C8B-B14F-4D97-AF65-F5344CB8AC3E}">
        <p14:creationId xmlns:p14="http://schemas.microsoft.com/office/powerpoint/2010/main" val="2785499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3C9D49-73E4-431D-23A3-978A768FA6FD}"/>
              </a:ext>
            </a:extLst>
          </p:cNvPr>
          <p:cNvSpPr>
            <a:spLocks noGrp="1"/>
          </p:cNvSpPr>
          <p:nvPr>
            <p:ph type="title"/>
          </p:nvPr>
        </p:nvSpPr>
        <p:spPr/>
        <p:txBody>
          <a:bodyPr/>
          <a:lstStyle/>
          <a:p>
            <a:r>
              <a:rPr lang="zh-CN" altLang="en-US" dirty="0"/>
              <a:t>敏感性分析</a:t>
            </a:r>
          </a:p>
        </p:txBody>
      </p:sp>
      <p:sp>
        <p:nvSpPr>
          <p:cNvPr id="3" name="内容占位符 2">
            <a:extLst>
              <a:ext uri="{FF2B5EF4-FFF2-40B4-BE49-F238E27FC236}">
                <a16:creationId xmlns:a16="http://schemas.microsoft.com/office/drawing/2014/main" id="{5A890D95-F7EA-82EF-3674-362482420C58}"/>
              </a:ext>
            </a:extLst>
          </p:cNvPr>
          <p:cNvSpPr>
            <a:spLocks noGrp="1"/>
          </p:cNvSpPr>
          <p:nvPr>
            <p:ph idx="1"/>
          </p:nvPr>
        </p:nvSpPr>
        <p:spPr>
          <a:xfrm>
            <a:off x="628650" y="1825625"/>
            <a:ext cx="7886700" cy="963874"/>
          </a:xfrm>
        </p:spPr>
        <p:txBody>
          <a:bodyPr>
            <a:normAutofit fontScale="62500" lnSpcReduction="20000"/>
          </a:bodyPr>
          <a:lstStyle/>
          <a:p>
            <a:r>
              <a:rPr lang="zh-CN" altLang="en-US" dirty="0"/>
              <a:t>敏感性分析：混杂𝑈 造成的偏差大到什么程度，才能使估计的效应发生反转，在现实中可能吗？用</a:t>
            </a:r>
            <a:r>
              <a:rPr lang="en-US" altLang="zh-CN" dirty="0"/>
              <a:t>2002 </a:t>
            </a:r>
            <a:r>
              <a:rPr lang="zh-CN" altLang="en-US" dirty="0"/>
              <a:t>年</a:t>
            </a:r>
            <a:r>
              <a:rPr lang="en-US" altLang="zh-CN" dirty="0"/>
              <a:t>CHIP </a:t>
            </a:r>
            <a:r>
              <a:rPr lang="zh-CN" altLang="en-US" dirty="0"/>
              <a:t>城镇数据，做下列回归：</a:t>
            </a:r>
            <a:endParaRPr lang="en-US" altLang="zh-CN" dirty="0"/>
          </a:p>
          <a:p>
            <a:r>
              <a:rPr lang="en-US" altLang="zh-CN" dirty="0"/>
              <a:t>reg </a:t>
            </a:r>
            <a:r>
              <a:rPr lang="en-US" altLang="zh-CN" dirty="0" err="1"/>
              <a:t>lwage</a:t>
            </a:r>
            <a:r>
              <a:rPr lang="en-US" altLang="zh-CN" dirty="0"/>
              <a:t> college male age </a:t>
            </a:r>
            <a:r>
              <a:rPr lang="en-US" altLang="zh-CN" dirty="0" err="1"/>
              <a:t>agesq</a:t>
            </a:r>
            <a:r>
              <a:rPr lang="en-US" altLang="zh-CN" dirty="0"/>
              <a:t> </a:t>
            </a:r>
            <a:r>
              <a:rPr lang="en-US" altLang="zh-CN" dirty="0" err="1"/>
              <a:t>i.prov,vce</a:t>
            </a:r>
            <a:r>
              <a:rPr lang="en-US" altLang="zh-CN" dirty="0"/>
              <a:t>(robust)</a:t>
            </a:r>
          </a:p>
          <a:p>
            <a:endParaRPr lang="zh-CN" altLang="en-US" dirty="0"/>
          </a:p>
        </p:txBody>
      </p:sp>
      <p:sp>
        <p:nvSpPr>
          <p:cNvPr id="4" name="页脚占位符 3">
            <a:extLst>
              <a:ext uri="{FF2B5EF4-FFF2-40B4-BE49-F238E27FC236}">
                <a16:creationId xmlns:a16="http://schemas.microsoft.com/office/drawing/2014/main" id="{C312820B-3AC1-A735-B03B-20D7A521B980}"/>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79C25F1-8851-591D-B2B2-B01F1DC5CEF0}"/>
              </a:ext>
            </a:extLst>
          </p:cNvPr>
          <p:cNvSpPr>
            <a:spLocks noGrp="1"/>
          </p:cNvSpPr>
          <p:nvPr>
            <p:ph type="sldNum" sz="quarter" idx="12"/>
          </p:nvPr>
        </p:nvSpPr>
        <p:spPr/>
        <p:txBody>
          <a:bodyPr/>
          <a:lstStyle/>
          <a:p>
            <a:fld id="{D41FC515-8169-4A29-AA56-DBE520D5741B}" type="slidenum">
              <a:rPr lang="zh-CN" altLang="en-US" smtClean="0"/>
              <a:t>65</a:t>
            </a:fld>
            <a:endParaRPr lang="zh-CN" altLang="en-US"/>
          </a:p>
        </p:txBody>
      </p:sp>
      <p:pic>
        <p:nvPicPr>
          <p:cNvPr id="7" name="图片 6">
            <a:extLst>
              <a:ext uri="{FF2B5EF4-FFF2-40B4-BE49-F238E27FC236}">
                <a16:creationId xmlns:a16="http://schemas.microsoft.com/office/drawing/2014/main" id="{CE321FD3-D048-3956-FB47-DBAC237603C2}"/>
              </a:ext>
            </a:extLst>
          </p:cNvPr>
          <p:cNvPicPr>
            <a:picLocks noChangeAspect="1"/>
          </p:cNvPicPr>
          <p:nvPr/>
        </p:nvPicPr>
        <p:blipFill>
          <a:blip r:embed="rId2"/>
          <a:stretch>
            <a:fillRect/>
          </a:stretch>
        </p:blipFill>
        <p:spPr>
          <a:xfrm>
            <a:off x="2312965" y="2789499"/>
            <a:ext cx="4518070" cy="3290759"/>
          </a:xfrm>
          <a:prstGeom prst="rect">
            <a:avLst/>
          </a:prstGeom>
        </p:spPr>
      </p:pic>
    </p:spTree>
    <p:extLst>
      <p:ext uri="{BB962C8B-B14F-4D97-AF65-F5344CB8AC3E}">
        <p14:creationId xmlns:p14="http://schemas.microsoft.com/office/powerpoint/2010/main" val="34055218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1A673E-B07D-5332-EF06-1E797B5B8A8E}"/>
              </a:ext>
            </a:extLst>
          </p:cNvPr>
          <p:cNvSpPr>
            <a:spLocks noGrp="1"/>
          </p:cNvSpPr>
          <p:nvPr>
            <p:ph type="title"/>
          </p:nvPr>
        </p:nvSpPr>
        <p:spPr/>
        <p:txBody>
          <a:bodyPr/>
          <a:lstStyle/>
          <a:p>
            <a:r>
              <a:rPr lang="zh-CN" altLang="en-US" dirty="0"/>
              <a:t>敏感性分析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BA53B72-7D90-3ECA-E4A7-729FCA3F6682}"/>
                  </a:ext>
                </a:extLst>
              </p:cNvPr>
              <p:cNvSpPr>
                <a:spLocks noGrp="1"/>
              </p:cNvSpPr>
              <p:nvPr>
                <p:ph idx="1"/>
              </p:nvPr>
            </p:nvSpPr>
            <p:spPr/>
            <p:txBody>
              <a:bodyPr>
                <a:normAutofit fontScale="77500" lnSpcReduction="20000"/>
              </a:bodyPr>
              <a:lstStyle/>
              <a:p>
                <a:pPr>
                  <a:lnSpc>
                    <a:spcPct val="110000"/>
                  </a:lnSpc>
                </a:pPr>
                <a:r>
                  <a:rPr lang="en-US" altLang="zh-CN" dirty="0"/>
                  <a:t>Cinelli and Hazlett(2020) </a:t>
                </a:r>
                <a:r>
                  <a:rPr lang="zh-CN" altLang="en-US" dirty="0"/>
                  <a:t>将</a:t>
                </a:r>
                <a:r>
                  <a:rPr lang="en-US" altLang="zh-CN" dirty="0"/>
                  <a:t>(34) </a:t>
                </a:r>
                <a:r>
                  <a:rPr lang="zh-CN" altLang="en-US" dirty="0"/>
                  <a:t>重新改写成 </a:t>
                </a:r>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𝑅</m:t>
                        </m:r>
                      </m:e>
                      <m:sup>
                        <m:r>
                          <a:rPr lang="en-US" altLang="zh-CN" b="0" i="1" dirty="0" smtClean="0">
                            <a:latin typeface="Cambria Math" panose="02040503050406030204" pitchFamily="18" charset="0"/>
                          </a:rPr>
                          <m:t>2</m:t>
                        </m:r>
                      </m:sup>
                    </m:sSup>
                  </m:oMath>
                </a14:m>
                <a:r>
                  <a:rPr lang="en-US" altLang="zh-CN" dirty="0"/>
                  <a:t> </a:t>
                </a:r>
                <a:r>
                  <a:rPr lang="zh-CN" altLang="en-US" dirty="0"/>
                  <a:t>的形式：</a:t>
                </a:r>
                <a:endParaRPr lang="en-US" altLang="zh-CN" dirty="0"/>
              </a:p>
              <a:p>
                <a:pPr marL="0" indent="0">
                  <a:lnSpc>
                    <a:spcPct val="110000"/>
                  </a:lnSpc>
                  <a:buNone/>
                </a:pPr>
                <a14:m>
                  <m:oMathPara xmlns:m="http://schemas.openxmlformats.org/officeDocument/2006/math">
                    <m:oMath>
                      <m:acc>
                        <m:accPr>
                          <m:chr m:val="̂"/>
                          <m:ctrlPr>
                            <a:rPr lang="en-US" altLang="zh-CN" b="0" i="1" smtClean="0">
                              <a:latin typeface="Cambria Math" panose="02040503050406030204" pitchFamily="18" charset="0"/>
                            </a:rPr>
                          </m:ctrlPr>
                        </m:acc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𝑏𝑖𝑎𝑠</m:t>
                              </m:r>
                            </m:e>
                          </m:d>
                        </m:e>
                      </m:acc>
                      <m:r>
                        <a:rPr lang="en-US" altLang="zh-CN" b="0" i="1" smtClean="0">
                          <a:latin typeface="Cambria Math" panose="02040503050406030204" pitchFamily="18" charset="0"/>
                        </a:rPr>
                        <m:t>=</m:t>
                      </m:r>
                      <m:r>
                        <a:rPr lang="en-US" altLang="zh-CN" b="0" i="1" smtClean="0">
                          <a:latin typeface="Cambria Math" panose="02040503050406030204" pitchFamily="18" charset="0"/>
                        </a:rPr>
                        <m:t>𝑠𝑒</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smtClean="0">
                                  <a:latin typeface="Cambria Math" panose="02040503050406030204" pitchFamily="18" charset="0"/>
                                </a:rPr>
                                <m:t>𝑟𝑒𝑠</m:t>
                              </m:r>
                            </m:sub>
                          </m:sSub>
                        </m:e>
                      </m:d>
                      <m:rad>
                        <m:radPr>
                          <m:degHide m:val="on"/>
                          <m:ctrlPr>
                            <a:rPr lang="en-US" altLang="zh-CN" b="0" i="1" smtClean="0">
                              <a:latin typeface="Cambria Math" panose="02040503050406030204" pitchFamily="18" charset="0"/>
                            </a:rPr>
                          </m:ctrlPr>
                        </m:radPr>
                        <m:deg/>
                        <m:e>
                          <m:f>
                            <m:fPr>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𝑌</m:t>
                                  </m:r>
                                  <m:r>
                                    <a:rPr lang="en-US" altLang="zh-CN" i="1">
                                      <a:latin typeface="Cambria Math" panose="02040503050406030204" pitchFamily="18" charset="0"/>
                                    </a:rPr>
                                    <m:t>~</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𝐷</m:t>
                                  </m:r>
                                  <m:r>
                                    <a:rPr lang="en-US" altLang="zh-CN" i="1">
                                      <a:latin typeface="Cambria Math" panose="02040503050406030204" pitchFamily="18" charset="0"/>
                                    </a:rPr>
                                    <m:t>,</m:t>
                                  </m:r>
                                  <m:r>
                                    <a:rPr lang="en-US" altLang="zh-CN" i="1">
                                      <a:latin typeface="Cambria Math" panose="02040503050406030204" pitchFamily="18" charset="0"/>
                                    </a:rPr>
                                    <m:t>𝑋</m:t>
                                  </m:r>
                                </m:sub>
                                <m:sup>
                                  <m:r>
                                    <a:rPr lang="en-US" altLang="zh-CN" b="0" i="1" smtClean="0">
                                      <a:latin typeface="Cambria Math" panose="02040503050406030204" pitchFamily="18" charset="0"/>
                                    </a:rPr>
                                    <m:t>2</m:t>
                                  </m:r>
                                </m:sup>
                              </m:sSubSup>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𝑈</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sub>
                                <m:sup>
                                  <m:r>
                                    <a:rPr lang="en-US" altLang="zh-CN" b="0" i="1" smtClean="0">
                                      <a:latin typeface="Cambria Math" panose="02040503050406030204" pitchFamily="18" charset="0"/>
                                    </a:rPr>
                                    <m:t>2</m:t>
                                  </m:r>
                                </m:sup>
                              </m:sSubSup>
                            </m:num>
                            <m:den>
                              <m:r>
                                <a:rPr lang="en-US" altLang="zh-CN" b="0" i="1" smtClean="0">
                                  <a:latin typeface="Cambria Math" panose="02040503050406030204" pitchFamily="18" charset="0"/>
                                </a:rPr>
                                <m:t>1−</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𝑈</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sub>
                                <m:sup>
                                  <m:r>
                                    <a:rPr lang="en-US" altLang="zh-CN" b="0" i="1" smtClean="0">
                                      <a:latin typeface="Cambria Math" panose="02040503050406030204" pitchFamily="18" charset="0"/>
                                    </a:rPr>
                                    <m:t>2</m:t>
                                  </m:r>
                                </m:sup>
                              </m:sSubSup>
                            </m:den>
                          </m:f>
                          <m:r>
                            <a:rPr lang="en-US" altLang="zh-CN" b="0" i="1" smtClean="0">
                              <a:latin typeface="Cambria Math" panose="02040503050406030204" pitchFamily="18" charset="0"/>
                            </a:rPr>
                            <m:t>𝑑𝑓</m:t>
                          </m:r>
                          <m:r>
                            <a:rPr lang="en-US" altLang="zh-CN" b="0" i="1" smtClean="0">
                              <a:latin typeface="Cambria Math" panose="02040503050406030204" pitchFamily="18" charset="0"/>
                            </a:rPr>
                            <m:t>.</m:t>
                          </m:r>
                        </m:e>
                      </m:rad>
                      <m:r>
                        <a:rPr lang="en-US" altLang="zh-CN" b="0" i="1" smtClean="0">
                          <a:latin typeface="Cambria Math" panose="02040503050406030204" pitchFamily="18" charset="0"/>
                        </a:rPr>
                        <m:t>                                   (35)</m:t>
                      </m:r>
                    </m:oMath>
                  </m:oMathPara>
                </a14:m>
                <a:endParaRPr lang="en-US" altLang="zh-CN" dirty="0"/>
              </a:p>
              <a:p>
                <a:pPr>
                  <a:lnSpc>
                    <a:spcPct val="110000"/>
                  </a:lnSpc>
                </a:pPr>
                <a14:m>
                  <m:oMath xmlns:m="http://schemas.openxmlformats.org/officeDocument/2006/math">
                    <m:r>
                      <a:rPr lang="en-US" altLang="zh-CN" i="1">
                        <a:latin typeface="Cambria Math" panose="02040503050406030204" pitchFamily="18" charset="0"/>
                      </a:rPr>
                      <m:t>𝑠𝑒</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𝜏</m:t>
                                </m:r>
                              </m:e>
                            </m:acc>
                          </m:e>
                          <m:sub>
                            <m:r>
                              <a:rPr lang="en-US" altLang="zh-CN" i="1">
                                <a:latin typeface="Cambria Math" panose="02040503050406030204" pitchFamily="18" charset="0"/>
                              </a:rPr>
                              <m:t>𝑟𝑒𝑠</m:t>
                            </m:r>
                          </m:sub>
                        </m:sSub>
                      </m:e>
                    </m:d>
                  </m:oMath>
                </a14:m>
                <a:r>
                  <a:rPr lang="en-US" altLang="zh-CN" dirty="0"/>
                  <a:t> </a:t>
                </a:r>
                <a:r>
                  <a:rPr lang="zh-CN" altLang="en-US" dirty="0"/>
                  <a:t>为短回归的估计量的标准误，</a:t>
                </a:r>
                <a14:m>
                  <m:oMath xmlns:m="http://schemas.openxmlformats.org/officeDocument/2006/math">
                    <m:r>
                      <a:rPr lang="en-US" altLang="zh-CN" b="0" i="1" smtClean="0">
                        <a:latin typeface="Cambria Math" panose="02040503050406030204" pitchFamily="18" charset="0"/>
                      </a:rPr>
                      <m:t>𝑑𝑓</m:t>
                    </m:r>
                  </m:oMath>
                </a14:m>
                <a:r>
                  <a:rPr lang="zh-CN" altLang="en-US" dirty="0"/>
                  <a:t>为对应自由度，</a:t>
                </a:r>
                <a14:m>
                  <m:oMath xmlns:m="http://schemas.openxmlformats.org/officeDocument/2006/math">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𝑌</m:t>
                        </m:r>
                        <m:r>
                          <a:rPr lang="en-US" altLang="zh-CN" b="0" i="1" smtClean="0">
                            <a:latin typeface="Cambria Math" panose="02040503050406030204" pitchFamily="18" charset="0"/>
                          </a:rPr>
                          <m:t>~</m:t>
                        </m:r>
                        <m:r>
                          <a:rPr lang="en-US" altLang="zh-CN" b="0" i="1" smtClean="0">
                            <a:latin typeface="Cambria Math" panose="02040503050406030204" pitchFamily="18" charset="0"/>
                          </a:rPr>
                          <m:t>𝑈</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sub>
                      <m:sup>
                        <m:r>
                          <a:rPr lang="en-US" altLang="zh-CN" b="0" i="1" smtClean="0">
                            <a:latin typeface="Cambria Math" panose="02040503050406030204" pitchFamily="18" charset="0"/>
                          </a:rPr>
                          <m:t>2</m:t>
                        </m:r>
                      </m:sup>
                    </m:sSubSup>
                  </m:oMath>
                </a14:m>
                <a:r>
                  <a:rPr lang="zh-CN" altLang="en-US" dirty="0"/>
                  <a:t>是扣除</a:t>
                </a:r>
                <a14:m>
                  <m:oMath xmlns:m="http://schemas.openxmlformats.org/officeDocument/2006/math">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oMath>
                </a14:m>
                <a:r>
                  <a:rPr lang="zh-CN" altLang="en-US" dirty="0"/>
                  <a:t>后混杂与结果的偏相关系数，</a:t>
                </a:r>
                <a:r>
                  <a:rPr lang="en-US" altLang="zh-CN" dirty="0"/>
                  <a:t> </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𝑅</m:t>
                        </m:r>
                      </m:e>
                      <m:sub>
                        <m:r>
                          <a:rPr lang="en-US" altLang="zh-CN" b="0" i="1" smtClean="0">
                            <a:latin typeface="Cambria Math" panose="02040503050406030204" pitchFamily="18" charset="0"/>
                          </a:rPr>
                          <m:t>𝐷</m:t>
                        </m:r>
                        <m:r>
                          <a:rPr lang="en-US" altLang="zh-CN" i="1">
                            <a:latin typeface="Cambria Math" panose="02040503050406030204" pitchFamily="18" charset="0"/>
                          </a:rPr>
                          <m:t>~</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𝑋</m:t>
                        </m:r>
                      </m:sub>
                      <m:sup>
                        <m:r>
                          <a:rPr lang="en-US" altLang="zh-CN" i="1">
                            <a:latin typeface="Cambria Math" panose="02040503050406030204" pitchFamily="18" charset="0"/>
                          </a:rPr>
                          <m:t>2</m:t>
                        </m:r>
                      </m:sup>
                    </m:sSubSup>
                    <m:r>
                      <a:rPr lang="zh-CN" altLang="en-US" i="1" smtClean="0">
                        <a:latin typeface="Cambria Math" panose="02040503050406030204" pitchFamily="18" charset="0"/>
                      </a:rPr>
                      <m:t>为</m:t>
                    </m:r>
                  </m:oMath>
                </a14:m>
                <a:r>
                  <a:rPr lang="zh-CN" altLang="en-US" dirty="0"/>
                  <a:t>扣除</a:t>
                </a:r>
                <a14:m>
                  <m:oMath xmlns:m="http://schemas.openxmlformats.org/officeDocument/2006/math">
                    <m:r>
                      <a:rPr lang="en-US" altLang="zh-CN" b="0" i="1" smtClean="0">
                        <a:latin typeface="Cambria Math" panose="02040503050406030204" pitchFamily="18" charset="0"/>
                      </a:rPr>
                      <m:t>𝑥</m:t>
                    </m:r>
                  </m:oMath>
                </a14:m>
                <a:r>
                  <a:rPr lang="zh-CN" altLang="en-US" dirty="0"/>
                  <a:t>后混杂与干预的偏相关性。</a:t>
                </a:r>
                <a:endParaRPr lang="en-US" altLang="zh-CN" dirty="0"/>
              </a:p>
              <a:p>
                <a:pPr marL="0" indent="0" algn="ctr">
                  <a:lnSpc>
                    <a:spcPct val="110000"/>
                  </a:lnSpc>
                  <a:buNone/>
                </a:pP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m:t>
                        </m:r>
                        <m:r>
                          <a:rPr lang="en-US" altLang="zh-CN" b="0" i="1" smtClean="0">
                            <a:latin typeface="Cambria Math" panose="02040503050406030204" pitchFamily="18" charset="0"/>
                          </a:rPr>
                          <m:t>𝑏𝑖𝑎𝑠</m:t>
                        </m:r>
                      </m:e>
                    </m:acc>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𝜏</m:t>
                            </m:r>
                          </m:e>
                        </m:acc>
                      </m:e>
                      <m:sub>
                        <m:r>
                          <a:rPr lang="en-US" altLang="zh-CN" b="0" i="1" smtClean="0">
                            <a:latin typeface="Cambria Math" panose="02040503050406030204" pitchFamily="18" charset="0"/>
                          </a:rPr>
                          <m:t>𝑟𝑒𝑠</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𝑌</m:t>
                                </m:r>
                                <m:r>
                                  <a:rPr lang="en-US" altLang="zh-CN" b="0" i="1" smtClean="0">
                                    <a:latin typeface="Cambria Math" panose="02040503050406030204" pitchFamily="18" charset="0"/>
                                  </a:rPr>
                                  <m:t>~</m:t>
                                </m:r>
                                <m:r>
                                  <a:rPr lang="en-US" altLang="zh-CN" b="0" i="1" smtClean="0">
                                    <a:latin typeface="Cambria Math" panose="02040503050406030204" pitchFamily="18" charset="0"/>
                                  </a:rPr>
                                  <m:t>𝑈</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𝑈</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sub>
                            </m:sSub>
                          </m:e>
                        </m:d>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𝑌</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𝑋</m:t>
                            </m:r>
                          </m:sub>
                        </m:sSub>
                      </m:den>
                    </m:f>
                  </m:oMath>
                </a14:m>
                <a:r>
                  <a:rPr lang="en-US" altLang="zh-CN" b="0" dirty="0"/>
                  <a:t>,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𝑓</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2</m:t>
                            </m:r>
                          </m:sup>
                        </m:sSup>
                      </m:num>
                      <m:den>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𝑅</m:t>
                            </m:r>
                          </m:e>
                          <m:sup>
                            <m:r>
                              <a:rPr lang="en-US" altLang="zh-CN" b="0" i="1" smtClean="0">
                                <a:latin typeface="Cambria Math" panose="02040503050406030204" pitchFamily="18" charset="0"/>
                              </a:rPr>
                              <m:t>2</m:t>
                            </m:r>
                          </m:sup>
                        </m:sSup>
                      </m:den>
                    </m:f>
                    <m:r>
                      <a:rPr lang="zh-CN" altLang="en-US" i="1">
                        <a:latin typeface="Cambria Math" panose="02040503050406030204" pitchFamily="18" charset="0"/>
                      </a:rPr>
                      <m:t>称</m:t>
                    </m:r>
                  </m:oMath>
                </a14:m>
                <a:r>
                  <a:rPr lang="zh-CN" altLang="en-US" b="0" dirty="0"/>
                  <a:t>为</a:t>
                </a:r>
                <a:r>
                  <a:rPr lang="en-US" altLang="zh-CN" b="0" dirty="0"/>
                  <a:t>Cohen’s </a:t>
                </a:r>
                <a14:m>
                  <m:oMath xmlns:m="http://schemas.openxmlformats.org/officeDocument/2006/math">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𝑓</m:t>
                        </m:r>
                      </m:e>
                      <m:sup>
                        <m:r>
                          <a:rPr lang="en-US" altLang="zh-CN" b="0" i="1" dirty="0" smtClean="0">
                            <a:latin typeface="Cambria Math" panose="02040503050406030204" pitchFamily="18" charset="0"/>
                          </a:rPr>
                          <m:t>2</m:t>
                        </m:r>
                      </m:sup>
                    </m:sSup>
                  </m:oMath>
                </a14:m>
                <a:r>
                  <a:rPr lang="en-US" altLang="zh-CN" b="0" dirty="0"/>
                  <a:t>.  (36)</a:t>
                </a:r>
              </a:p>
              <a:p>
                <a:pPr>
                  <a:lnSpc>
                    <a:spcPct val="110000"/>
                  </a:lnSpc>
                </a:pPr>
                <a:r>
                  <a:rPr lang="en-US" altLang="zh-CN" dirty="0"/>
                  <a:t>Stata/R: </a:t>
                </a:r>
                <a:r>
                  <a:rPr lang="en-US" altLang="zh-CN" dirty="0" err="1"/>
                  <a:t>sensemakr</a:t>
                </a:r>
                <a:r>
                  <a:rPr lang="en-US" altLang="zh-CN" b="0" dirty="0"/>
                  <a:t>  </a:t>
                </a:r>
              </a:p>
              <a:p>
                <a:endParaRPr lang="en-US" altLang="zh-CN" dirty="0"/>
              </a:p>
              <a:p>
                <a:endParaRPr lang="en-US" altLang="zh-CN" dirty="0"/>
              </a:p>
              <a:p>
                <a:endParaRPr lang="en-US" altLang="zh-CN" dirty="0"/>
              </a:p>
              <a:p>
                <a:endParaRPr lang="zh-CN" altLang="en-US" dirty="0"/>
              </a:p>
            </p:txBody>
          </p:sp>
        </mc:Choice>
        <mc:Fallback xmlns="">
          <p:sp>
            <p:nvSpPr>
              <p:cNvPr id="3" name="内容占位符 2">
                <a:extLst>
                  <a:ext uri="{FF2B5EF4-FFF2-40B4-BE49-F238E27FC236}">
                    <a16:creationId xmlns:a16="http://schemas.microsoft.com/office/drawing/2014/main" id="{5BA53B72-7D90-3ECA-E4A7-729FCA3F6682}"/>
                  </a:ext>
                </a:extLst>
              </p:cNvPr>
              <p:cNvSpPr>
                <a:spLocks noGrp="1" noRot="1" noChangeAspect="1" noMove="1" noResize="1" noEditPoints="1" noAdjustHandles="1" noChangeArrowheads="1" noChangeShapeType="1" noTextEdit="1"/>
              </p:cNvSpPr>
              <p:nvPr>
                <p:ph idx="1"/>
              </p:nvPr>
            </p:nvSpPr>
            <p:spPr>
              <a:blipFill>
                <a:blip r:embed="rId2"/>
                <a:stretch>
                  <a:fillRect l="-850" t="-1541" r="-773"/>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B3CBFF0-3628-F611-C4C1-4E0E5674BA7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E210FF23-5B5C-EB58-409D-FAC194CC8D6B}"/>
              </a:ext>
            </a:extLst>
          </p:cNvPr>
          <p:cNvSpPr>
            <a:spLocks noGrp="1"/>
          </p:cNvSpPr>
          <p:nvPr>
            <p:ph type="sldNum" sz="quarter" idx="12"/>
          </p:nvPr>
        </p:nvSpPr>
        <p:spPr/>
        <p:txBody>
          <a:bodyPr/>
          <a:lstStyle/>
          <a:p>
            <a:fld id="{D41FC515-8169-4A29-AA56-DBE520D5741B}" type="slidenum">
              <a:rPr lang="zh-CN" altLang="en-US" smtClean="0"/>
              <a:t>66</a:t>
            </a:fld>
            <a:endParaRPr lang="zh-CN" altLang="en-US"/>
          </a:p>
        </p:txBody>
      </p:sp>
    </p:spTree>
    <p:extLst>
      <p:ext uri="{BB962C8B-B14F-4D97-AF65-F5344CB8AC3E}">
        <p14:creationId xmlns:p14="http://schemas.microsoft.com/office/powerpoint/2010/main" val="37784813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7B529C-34F3-4C44-70E2-187A2020FC52}"/>
              </a:ext>
            </a:extLst>
          </p:cNvPr>
          <p:cNvSpPr>
            <a:spLocks noGrp="1"/>
          </p:cNvSpPr>
          <p:nvPr>
            <p:ph type="title"/>
          </p:nvPr>
        </p:nvSpPr>
        <p:spPr/>
        <p:txBody>
          <a:bodyPr/>
          <a:lstStyle/>
          <a:p>
            <a:r>
              <a:rPr lang="zh-CN" altLang="en-US" dirty="0"/>
              <a:t>敏感性分析</a:t>
            </a:r>
          </a:p>
        </p:txBody>
      </p:sp>
      <p:pic>
        <p:nvPicPr>
          <p:cNvPr id="7" name="内容占位符 6">
            <a:extLst>
              <a:ext uri="{FF2B5EF4-FFF2-40B4-BE49-F238E27FC236}">
                <a16:creationId xmlns:a16="http://schemas.microsoft.com/office/drawing/2014/main" id="{9966B215-0D49-3D32-5665-491AECF017DE}"/>
              </a:ext>
            </a:extLst>
          </p:cNvPr>
          <p:cNvPicPr>
            <a:picLocks noGrp="1" noChangeAspect="1"/>
          </p:cNvPicPr>
          <p:nvPr>
            <p:ph idx="1"/>
          </p:nvPr>
        </p:nvPicPr>
        <p:blipFill>
          <a:blip r:embed="rId2"/>
          <a:stretch>
            <a:fillRect/>
          </a:stretch>
        </p:blipFill>
        <p:spPr>
          <a:xfrm>
            <a:off x="1575845" y="1825625"/>
            <a:ext cx="5992309" cy="4351338"/>
          </a:xfrm>
          <a:prstGeom prst="rect">
            <a:avLst/>
          </a:prstGeom>
        </p:spPr>
      </p:pic>
      <p:sp>
        <p:nvSpPr>
          <p:cNvPr id="4" name="页脚占位符 3">
            <a:extLst>
              <a:ext uri="{FF2B5EF4-FFF2-40B4-BE49-F238E27FC236}">
                <a16:creationId xmlns:a16="http://schemas.microsoft.com/office/drawing/2014/main" id="{2B627347-5634-1680-2303-38B9F791FAE1}"/>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6EEB6499-B003-BB09-AFDF-1E34835C8EA1}"/>
              </a:ext>
            </a:extLst>
          </p:cNvPr>
          <p:cNvSpPr>
            <a:spLocks noGrp="1"/>
          </p:cNvSpPr>
          <p:nvPr>
            <p:ph type="sldNum" sz="quarter" idx="12"/>
          </p:nvPr>
        </p:nvSpPr>
        <p:spPr/>
        <p:txBody>
          <a:bodyPr/>
          <a:lstStyle/>
          <a:p>
            <a:fld id="{D41FC515-8169-4A29-AA56-DBE520D5741B}" type="slidenum">
              <a:rPr lang="zh-CN" altLang="en-US" smtClean="0"/>
              <a:t>67</a:t>
            </a:fld>
            <a:endParaRPr lang="zh-CN" altLang="en-US"/>
          </a:p>
        </p:txBody>
      </p:sp>
    </p:spTree>
    <p:extLst>
      <p:ext uri="{BB962C8B-B14F-4D97-AF65-F5344CB8AC3E}">
        <p14:creationId xmlns:p14="http://schemas.microsoft.com/office/powerpoint/2010/main" val="19432172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838921-7EA1-F273-B6DE-B417C6F166E2}"/>
              </a:ext>
            </a:extLst>
          </p:cNvPr>
          <p:cNvSpPr>
            <a:spLocks noGrp="1"/>
          </p:cNvSpPr>
          <p:nvPr>
            <p:ph type="title"/>
          </p:nvPr>
        </p:nvSpPr>
        <p:spPr/>
        <p:txBody>
          <a:bodyPr/>
          <a:lstStyle/>
          <a:p>
            <a:r>
              <a:rPr lang="zh-CN" altLang="en-US" dirty="0"/>
              <a:t>敏感性分析</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53D28A1-E42E-F93F-598C-3EC596BCAC73}"/>
                  </a:ext>
                </a:extLst>
              </p:cNvPr>
              <p:cNvSpPr>
                <a:spLocks noGrp="1"/>
              </p:cNvSpPr>
              <p:nvPr>
                <p:ph idx="1"/>
              </p:nvPr>
            </p:nvSpPr>
            <p:spPr/>
            <p:txBody>
              <a:bodyPr>
                <a:normAutofit/>
              </a:bodyPr>
              <a:lstStyle/>
              <a:p>
                <a:r>
                  <a:rPr lang="zh-CN" altLang="en-US" sz="2400" dirty="0"/>
                  <a:t>稳健性值</a:t>
                </a:r>
                <a:r>
                  <a:rPr lang="en-US" altLang="zh-CN" sz="2400" dirty="0"/>
                  <a:t>(</a:t>
                </a:r>
                <a:r>
                  <a:rPr lang="en-US" altLang="zh-CN" sz="2400" dirty="0" err="1"/>
                  <a:t>Roubstness</a:t>
                </a:r>
                <a:r>
                  <a:rPr lang="en-US" altLang="zh-CN" sz="2400" dirty="0"/>
                  <a:t> value, </a:t>
                </a:r>
                <a14:m>
                  <m:oMath xmlns:m="http://schemas.openxmlformats.org/officeDocument/2006/math">
                    <m:r>
                      <a:rPr lang="zh-CN" altLang="en-US" sz="2400" i="1" dirty="0" smtClean="0">
                        <a:latin typeface="Cambria Math" panose="02040503050406030204" pitchFamily="18" charset="0"/>
                      </a:rPr>
                      <m:t>𝑅</m:t>
                    </m:r>
                    <m:sSub>
                      <m:sSubPr>
                        <m:ctrlPr>
                          <a:rPr lang="zh-CN" altLang="en-US" sz="2400" i="1" dirty="0" smtClean="0">
                            <a:latin typeface="Cambria Math" panose="02040503050406030204" pitchFamily="18" charset="0"/>
                          </a:rPr>
                        </m:ctrlPr>
                      </m:sSubPr>
                      <m:e>
                        <m:r>
                          <a:rPr lang="zh-CN" altLang="en-US" sz="2400" i="1" dirty="0" smtClean="0">
                            <a:latin typeface="Cambria Math" panose="02040503050406030204" pitchFamily="18" charset="0"/>
                          </a:rPr>
                          <m:t>𝑉</m:t>
                        </m:r>
                      </m:e>
                      <m:sub>
                        <m:r>
                          <a:rPr lang="zh-CN" altLang="en-US" sz="2400" i="1" dirty="0" smtClean="0">
                            <a:latin typeface="Cambria Math" panose="02040503050406030204" pitchFamily="18" charset="0"/>
                          </a:rPr>
                          <m:t>𝑞</m:t>
                        </m:r>
                      </m:sub>
                    </m:sSub>
                  </m:oMath>
                </a14:m>
                <a:r>
                  <a:rPr lang="en-US" altLang="zh-CN" sz="2400" dirty="0"/>
                  <a:t>)</a:t>
                </a:r>
                <a:r>
                  <a:rPr lang="zh-CN" altLang="en-US" sz="2400" dirty="0"/>
                  <a:t>：混杂因素与结果和干预的偏相关性强到什么程度才能使估计的效应下降</a:t>
                </a:r>
                <a:r>
                  <a:rPr lang="en-US" altLang="zh-CN" sz="2400" dirty="0"/>
                  <a:t>100</a:t>
                </a:r>
                <a:r>
                  <a:rPr lang="zh-CN" altLang="en-US" sz="2400" dirty="0"/>
                  <a:t>𝑞</a:t>
                </a:r>
                <a:r>
                  <a:rPr lang="en-US" altLang="zh-CN" sz="2400" dirty="0"/>
                  <a:t>%</a:t>
                </a:r>
                <a:r>
                  <a:rPr lang="zh-CN" altLang="en-US" sz="2400" dirty="0"/>
                  <a:t>，相关度即</a:t>
                </a:r>
                <a14:m>
                  <m:oMath xmlns:m="http://schemas.openxmlformats.org/officeDocument/2006/math">
                    <m:r>
                      <a:rPr lang="zh-CN" altLang="en-US" sz="2400" i="1" dirty="0" smtClean="0">
                        <a:latin typeface="Cambria Math" panose="02040503050406030204" pitchFamily="18" charset="0"/>
                      </a:rPr>
                      <m:t>𝑅</m:t>
                    </m:r>
                    <m:sSub>
                      <m:sSubPr>
                        <m:ctrlPr>
                          <a:rPr lang="zh-CN" altLang="en-US" sz="2400" i="1" dirty="0" smtClean="0">
                            <a:latin typeface="Cambria Math" panose="02040503050406030204" pitchFamily="18" charset="0"/>
                          </a:rPr>
                        </m:ctrlPr>
                      </m:sSubPr>
                      <m:e>
                        <m:r>
                          <a:rPr lang="zh-CN" altLang="en-US" sz="2400" i="1" dirty="0" smtClean="0">
                            <a:latin typeface="Cambria Math" panose="02040503050406030204" pitchFamily="18" charset="0"/>
                          </a:rPr>
                          <m:t>𝑉</m:t>
                        </m:r>
                      </m:e>
                      <m:sub>
                        <m:r>
                          <a:rPr lang="zh-CN" altLang="en-US" sz="2400" i="1" dirty="0" smtClean="0">
                            <a:latin typeface="Cambria Math" panose="02040503050406030204" pitchFamily="18" charset="0"/>
                          </a:rPr>
                          <m:t>𝑞</m:t>
                        </m:r>
                      </m:sub>
                    </m:sSub>
                    <m:r>
                      <a:rPr lang="en-US" altLang="zh-CN" sz="2400" i="1" dirty="0">
                        <a:latin typeface="Cambria Math" panose="02040503050406030204" pitchFamily="18" charset="0"/>
                      </a:rPr>
                      <m:t>%</m:t>
                    </m:r>
                  </m:oMath>
                </a14:m>
                <a:r>
                  <a:rPr lang="zh-CN" altLang="en-US" sz="2400" dirty="0"/>
                  <a:t>。</a:t>
                </a:r>
                <a:endParaRPr lang="en-US" altLang="zh-CN" sz="2400" dirty="0"/>
              </a:p>
              <a:p>
                <a14:m>
                  <m:oMath xmlns:m="http://schemas.openxmlformats.org/officeDocument/2006/math">
                    <m:sSubSup>
                      <m:sSubSupPr>
                        <m:ctrlPr>
                          <a:rPr lang="zh-CN" altLang="en-US" sz="2400" i="1" dirty="0" smtClean="0">
                            <a:latin typeface="Cambria Math" panose="02040503050406030204" pitchFamily="18" charset="0"/>
                          </a:rPr>
                        </m:ctrlPr>
                      </m:sSubSupPr>
                      <m:e>
                        <m:r>
                          <a:rPr lang="zh-CN" altLang="en-US" sz="2400" i="1" dirty="0" smtClean="0">
                            <a:latin typeface="Cambria Math" panose="02040503050406030204" pitchFamily="18" charset="0"/>
                          </a:rPr>
                          <m:t>𝑅</m:t>
                        </m:r>
                      </m:e>
                      <m:sub>
                        <m:r>
                          <a:rPr lang="zh-CN" altLang="en-US" sz="2400" i="1" dirty="0" smtClean="0">
                            <a:latin typeface="Cambria Math" panose="02040503050406030204" pitchFamily="18" charset="0"/>
                          </a:rPr>
                          <m:t>𝑌</m:t>
                        </m:r>
                        <m:r>
                          <a:rPr lang="zh-CN" altLang="en-US" sz="2400" i="1" dirty="0">
                            <a:latin typeface="Cambria Math" panose="02040503050406030204" pitchFamily="18" charset="0"/>
                          </a:rPr>
                          <m:t>∼</m:t>
                        </m:r>
                        <m:r>
                          <a:rPr lang="zh-CN" altLang="en-US" sz="2400" i="1" dirty="0">
                            <a:latin typeface="Cambria Math" panose="02040503050406030204" pitchFamily="18" charset="0"/>
                          </a:rPr>
                          <m:t>𝐷</m:t>
                        </m:r>
                        <m:r>
                          <a:rPr lang="en-US" altLang="zh-CN" sz="2400" i="1" dirty="0">
                            <a:latin typeface="Cambria Math" panose="02040503050406030204" pitchFamily="18" charset="0"/>
                          </a:rPr>
                          <m:t>|</m:t>
                        </m:r>
                        <m:r>
                          <a:rPr lang="zh-CN" altLang="en-US" sz="2400" i="1" dirty="0">
                            <a:latin typeface="Cambria Math" panose="02040503050406030204" pitchFamily="18" charset="0"/>
                          </a:rPr>
                          <m:t>𝑋</m:t>
                        </m:r>
                      </m:sub>
                      <m:sup>
                        <m:r>
                          <a:rPr lang="en-US" altLang="zh-CN" sz="2400" i="1" dirty="0" smtClean="0">
                            <a:latin typeface="Cambria Math" panose="02040503050406030204" pitchFamily="18" charset="0"/>
                          </a:rPr>
                          <m:t>2</m:t>
                        </m:r>
                      </m:sup>
                    </m:sSubSup>
                    <m:r>
                      <a:rPr lang="zh-CN" altLang="en-US" sz="2400" i="1" dirty="0">
                        <a:latin typeface="Cambria Math" panose="02040503050406030204" pitchFamily="18" charset="0"/>
                      </a:rPr>
                      <m:t> </m:t>
                    </m:r>
                  </m:oMath>
                </a14:m>
                <a:r>
                  <a:rPr lang="zh-CN" altLang="en-US" sz="2400" dirty="0"/>
                  <a:t>作为极端情形的度量指标：假设混杂因素与结果的偏相关性为</a:t>
                </a:r>
                <a:r>
                  <a:rPr lang="en-US" altLang="zh-CN" sz="2400" dirty="0"/>
                  <a:t>1 </a:t>
                </a:r>
                <a:r>
                  <a:rPr lang="zh-CN" altLang="en-US" sz="2400" dirty="0"/>
                  <a:t>时，要使估计的因果效应下降到 </a:t>
                </a:r>
                <a:r>
                  <a:rPr lang="en-US" altLang="zh-CN" sz="2400" dirty="0"/>
                  <a:t>0</a:t>
                </a:r>
                <a:r>
                  <a:rPr lang="zh-CN" altLang="en-US" sz="2400" dirty="0"/>
                  <a:t>，混杂因素与干预的偏相关性要达到什么程度？</a:t>
                </a:r>
              </a:p>
            </p:txBody>
          </p:sp>
        </mc:Choice>
        <mc:Fallback xmlns="">
          <p:sp>
            <p:nvSpPr>
              <p:cNvPr id="3" name="内容占位符 2">
                <a:extLst>
                  <a:ext uri="{FF2B5EF4-FFF2-40B4-BE49-F238E27FC236}">
                    <a16:creationId xmlns:a16="http://schemas.microsoft.com/office/drawing/2014/main" id="{553D28A1-E42E-F93F-598C-3EC596BCAC73}"/>
                  </a:ext>
                </a:extLst>
              </p:cNvPr>
              <p:cNvSpPr>
                <a:spLocks noGrp="1" noRot="1" noChangeAspect="1" noMove="1" noResize="1" noEditPoints="1" noAdjustHandles="1" noChangeArrowheads="1" noChangeShapeType="1" noTextEdit="1"/>
              </p:cNvSpPr>
              <p:nvPr>
                <p:ph idx="1"/>
              </p:nvPr>
            </p:nvSpPr>
            <p:spPr>
              <a:blipFill>
                <a:blip r:embed="rId2"/>
                <a:stretch>
                  <a:fillRect l="-1005" t="-1120" r="-115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0040ED7D-F30E-34CE-3A79-B5367A7C9EDE}"/>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AF125D8A-85F4-4072-BEDC-AFA6FB7E54B6}"/>
              </a:ext>
            </a:extLst>
          </p:cNvPr>
          <p:cNvSpPr>
            <a:spLocks noGrp="1"/>
          </p:cNvSpPr>
          <p:nvPr>
            <p:ph type="sldNum" sz="quarter" idx="12"/>
          </p:nvPr>
        </p:nvSpPr>
        <p:spPr/>
        <p:txBody>
          <a:bodyPr/>
          <a:lstStyle/>
          <a:p>
            <a:fld id="{D41FC515-8169-4A29-AA56-DBE520D5741B}" type="slidenum">
              <a:rPr lang="zh-CN" altLang="en-US" smtClean="0"/>
              <a:t>68</a:t>
            </a:fld>
            <a:endParaRPr lang="zh-CN" altLang="en-US"/>
          </a:p>
        </p:txBody>
      </p:sp>
      <p:pic>
        <p:nvPicPr>
          <p:cNvPr id="7" name="图片 6">
            <a:extLst>
              <a:ext uri="{FF2B5EF4-FFF2-40B4-BE49-F238E27FC236}">
                <a16:creationId xmlns:a16="http://schemas.microsoft.com/office/drawing/2014/main" id="{3D11FFCC-142B-299A-7CF3-EC487DCD7716}"/>
              </a:ext>
            </a:extLst>
          </p:cNvPr>
          <p:cNvPicPr>
            <a:picLocks noChangeAspect="1"/>
          </p:cNvPicPr>
          <p:nvPr/>
        </p:nvPicPr>
        <p:blipFill>
          <a:blip r:embed="rId3"/>
          <a:stretch>
            <a:fillRect/>
          </a:stretch>
        </p:blipFill>
        <p:spPr>
          <a:xfrm>
            <a:off x="742681" y="4515064"/>
            <a:ext cx="7658638" cy="1515346"/>
          </a:xfrm>
          <a:prstGeom prst="rect">
            <a:avLst/>
          </a:prstGeom>
        </p:spPr>
      </p:pic>
    </p:spTree>
    <p:extLst>
      <p:ext uri="{BB962C8B-B14F-4D97-AF65-F5344CB8AC3E}">
        <p14:creationId xmlns:p14="http://schemas.microsoft.com/office/powerpoint/2010/main" val="320181754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F46949-43E1-C31C-0B64-D1A4443F7AF3}"/>
              </a:ext>
            </a:extLst>
          </p:cNvPr>
          <p:cNvSpPr>
            <a:spLocks noGrp="1"/>
          </p:cNvSpPr>
          <p:nvPr>
            <p:ph type="title"/>
          </p:nvPr>
        </p:nvSpPr>
        <p:spPr/>
        <p:txBody>
          <a:bodyPr/>
          <a:lstStyle/>
          <a:p>
            <a:r>
              <a:rPr lang="zh-CN" altLang="en-US" dirty="0"/>
              <a:t>非混杂性假设检验</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B5EC827-CCE5-0EF0-B09A-C19783E40103}"/>
                  </a:ext>
                </a:extLst>
              </p:cNvPr>
              <p:cNvSpPr>
                <a:spLocks noGrp="1"/>
              </p:cNvSpPr>
              <p:nvPr>
                <p:ph idx="1"/>
              </p:nvPr>
            </p:nvSpPr>
            <p:spPr>
              <a:xfrm>
                <a:off x="628650" y="1825624"/>
                <a:ext cx="7886700" cy="4158487"/>
              </a:xfrm>
            </p:spPr>
            <p:txBody>
              <a:bodyPr>
                <a:normAutofit fontScale="62500" lnSpcReduction="20000"/>
              </a:bodyPr>
              <a:lstStyle/>
              <a:p>
                <a:pPr>
                  <a:lnSpc>
                    <a:spcPct val="120000"/>
                  </a:lnSpc>
                </a:pPr>
                <a:r>
                  <a:rPr lang="zh-CN" altLang="en-US" dirty="0"/>
                  <a:t>前述介绍了至少</a:t>
                </a:r>
                <a:r>
                  <a:rPr lang="en-US" altLang="zh-CN" dirty="0"/>
                  <a:t>4 </a:t>
                </a:r>
                <a:r>
                  <a:rPr lang="zh-CN" altLang="en-US" dirty="0"/>
                  <a:t>种方法估计因果效应，识别条件都是一样的：非混杂性和共同区间，共同区间是可以检验的，非混杂性依赖于看不到的潜在结果，是不可检验的。</a:t>
                </a:r>
                <a:endParaRPr lang="en-US" altLang="zh-CN" dirty="0"/>
              </a:p>
              <a:p>
                <a:pPr lvl="1">
                  <a:lnSpc>
                    <a:spcPct val="120000"/>
                  </a:lnSpc>
                </a:pPr>
                <a:r>
                  <a:rPr lang="en-US" altLang="zh-CN" dirty="0" err="1"/>
                  <a:t>Imbens</a:t>
                </a:r>
                <a:r>
                  <a:rPr lang="en-US" altLang="zh-CN" dirty="0"/>
                  <a:t>(2004)</a:t>
                </a:r>
                <a:r>
                  <a:rPr lang="zh-CN" altLang="en-US" dirty="0"/>
                  <a:t>、</a:t>
                </a:r>
                <a:r>
                  <a:rPr lang="en-US" altLang="zh-CN" dirty="0" err="1"/>
                  <a:t>Imbens</a:t>
                </a:r>
                <a:r>
                  <a:rPr lang="en-US" altLang="zh-CN" dirty="0"/>
                  <a:t> and Rubin (2015) </a:t>
                </a:r>
                <a:r>
                  <a:rPr lang="zh-CN" altLang="en-US" dirty="0"/>
                  <a:t>提供了两种间接的检验方法，相当于安慰剂检验吧：伪结果</a:t>
                </a:r>
                <a:r>
                  <a:rPr lang="en-US" altLang="zh-CN" dirty="0"/>
                  <a:t>(pseudo outcome) </a:t>
                </a:r>
                <a:r>
                  <a:rPr lang="zh-CN" altLang="en-US" dirty="0"/>
                  <a:t>和伪干预</a:t>
                </a:r>
                <a:r>
                  <a:rPr lang="en-US" altLang="zh-CN" dirty="0"/>
                  <a:t>(pseudo treatment) </a:t>
                </a:r>
                <a:r>
                  <a:rPr lang="zh-CN" altLang="en-US" dirty="0"/>
                  <a:t>检验。</a:t>
                </a:r>
                <a:endParaRPr lang="en-US" altLang="zh-CN" dirty="0"/>
              </a:p>
              <a:p>
                <a:pPr lvl="1">
                  <a:lnSpc>
                    <a:spcPct val="120000"/>
                  </a:lnSpc>
                </a:pPr>
                <a:r>
                  <a:rPr lang="zh-CN" altLang="en-US" dirty="0"/>
                  <a:t>伪结果是找一个事先不受干预影响的变量，通常使用滞后结果变量：</a:t>
                </a:r>
                <a:endParaRPr lang="en-US" altLang="zh-CN" dirty="0"/>
              </a:p>
              <a:p>
                <a:pPr marL="0" indent="0">
                  <a:lnSpc>
                    <a:spcPct val="120000"/>
                  </a:lnSpc>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𝐻</m:t>
                          </m:r>
                        </m:e>
                        <m:sub>
                          <m:r>
                            <a:rPr lang="en-US" altLang="zh-CN" b="0" i="1" dirty="0" smtClean="0">
                              <a:latin typeface="Cambria Math" panose="02040503050406030204" pitchFamily="18" charset="0"/>
                            </a:rPr>
                            <m:t>0</m:t>
                          </m:r>
                        </m:sub>
                      </m:sSub>
                      <m:r>
                        <a:rPr lang="zh-CN" altLang="en-US" i="1" dirty="0">
                          <a:latin typeface="Cambria Math" panose="02040503050406030204" pitchFamily="18" charset="0"/>
                        </a:rPr>
                        <m:t>: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𝐸</m:t>
                      </m:r>
                      <m:r>
                        <a:rPr lang="en-US" altLang="zh-CN"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𝑌</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𝑝</m:t>
                          </m:r>
                        </m:sup>
                      </m:sSubSup>
                      <m:r>
                        <a:rPr lang="zh-CN" altLang="en-US" sz="800" i="1" dirty="0" smtClean="0">
                          <a:latin typeface="Cambria Math" panose="02040503050406030204" pitchFamily="18" charset="0"/>
                        </a:rPr>
                        <m:t> </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en-US" altLang="zh-CN" b="0" i="1" dirty="0" smtClean="0">
                              <a:latin typeface="Cambria Math" panose="02040503050406030204" pitchFamily="18" charset="0"/>
                            </a:rPr>
                            <m:t>𝑖</m:t>
                          </m:r>
                        </m:sub>
                      </m:sSub>
                      <m:r>
                        <a:rPr lang="en-US" altLang="zh-CN" i="1" dirty="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𝐷</m:t>
                          </m:r>
                        </m:e>
                        <m:sub>
                          <m:r>
                            <a:rPr lang="en-US" altLang="zh-CN" b="0" i="1" dirty="0" smtClean="0">
                              <a:latin typeface="Cambria Math" panose="02040503050406030204" pitchFamily="18" charset="0"/>
                            </a:rPr>
                            <m:t>𝑖</m:t>
                          </m:r>
                        </m:sub>
                      </m:sSub>
                      <m:r>
                        <a:rPr lang="en-US" altLang="zh-CN" i="1" dirty="0">
                          <a:latin typeface="Cambria Math" panose="02040503050406030204" pitchFamily="18" charset="0"/>
                        </a:rPr>
                        <m:t>= 1] − </m:t>
                      </m:r>
                      <m:r>
                        <a:rPr lang="zh-CN" altLang="en-US" i="1" dirty="0">
                          <a:latin typeface="Cambria Math" panose="02040503050406030204" pitchFamily="18" charset="0"/>
                        </a:rPr>
                        <m:t>𝐸</m:t>
                      </m:r>
                      <m:r>
                        <a:rPr lang="en-US" altLang="zh-CN" i="1" dirty="0">
                          <a:latin typeface="Cambria Math" panose="02040503050406030204" pitchFamily="18" charset="0"/>
                        </a:rPr>
                        <m:t>[</m:t>
                      </m:r>
                      <m:sSubSup>
                        <m:sSubSupPr>
                          <m:ctrlPr>
                            <a:rPr lang="zh-CN" altLang="en-US" i="1" dirty="0">
                              <a:latin typeface="Cambria Math" panose="02040503050406030204" pitchFamily="18" charset="0"/>
                            </a:rPr>
                          </m:ctrlPr>
                        </m:sSubSupPr>
                        <m:e>
                          <m:r>
                            <a:rPr lang="zh-CN" altLang="en-US" i="1" dirty="0">
                              <a:latin typeface="Cambria Math" panose="02040503050406030204" pitchFamily="18" charset="0"/>
                            </a:rPr>
                            <m:t>𝑌</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𝑝</m:t>
                          </m:r>
                        </m:sup>
                      </m:sSubSup>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 1]} = 0,</m:t>
                      </m:r>
                    </m:oMath>
                  </m:oMathPara>
                </a14:m>
                <a:endParaRPr lang="en-US" altLang="zh-CN" dirty="0"/>
              </a:p>
              <a:p>
                <a:pPr marL="0" indent="0">
                  <a:lnSpc>
                    <a:spcPct val="120000"/>
                  </a:lnSpc>
                  <a:buNone/>
                </a:pPr>
                <a:r>
                  <a:rPr lang="zh-CN" altLang="en-US" dirty="0"/>
                  <a:t>    其中</a:t>
                </a:r>
                <a14:m>
                  <m:oMath xmlns:m="http://schemas.openxmlformats.org/officeDocument/2006/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𝑌</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𝑝</m:t>
                        </m:r>
                      </m:sup>
                    </m:sSubSup>
                    <m:r>
                      <a:rPr lang="zh-CN" altLang="en-US" i="1" dirty="0" smtClean="0">
                        <a:latin typeface="Cambria Math" panose="02040503050406030204" pitchFamily="18" charset="0"/>
                      </a:rPr>
                      <m:t> </m:t>
                    </m:r>
                  </m:oMath>
                </a14:m>
                <a:r>
                  <a:rPr lang="zh-CN" altLang="en-US" dirty="0"/>
                  <a:t>是伪结果，作为基准潜在结果</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𝑌</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i="1" dirty="0">
                        <a:latin typeface="Cambria Math" panose="02040503050406030204" pitchFamily="18" charset="0"/>
                      </a:rPr>
                      <m:t>0</m:t>
                    </m:r>
                    <m:r>
                      <a:rPr lang="en-US" altLang="zh-CN" b="0" i="1" dirty="0" smtClean="0">
                        <a:latin typeface="Cambria Math" panose="02040503050406030204" pitchFamily="18" charset="0"/>
                      </a:rPr>
                      <m:t>)</m:t>
                    </m:r>
                    <m:r>
                      <a:rPr lang="zh-CN" altLang="en-US" i="1" dirty="0">
                        <a:latin typeface="Cambria Math" panose="02040503050406030204" pitchFamily="18" charset="0"/>
                      </a:rPr>
                      <m:t> </m:t>
                    </m:r>
                  </m:oMath>
                </a14:m>
                <a:r>
                  <a:rPr lang="zh-CN" altLang="en-US" dirty="0"/>
                  <a:t>的代理变量。</a:t>
                </a:r>
                <a:endParaRPr lang="en-US" altLang="zh-CN" dirty="0"/>
              </a:p>
              <a:p>
                <a:pPr>
                  <a:lnSpc>
                    <a:spcPct val="120000"/>
                  </a:lnSpc>
                </a:pPr>
                <a:r>
                  <a:rPr lang="zh-CN" altLang="en-US" dirty="0"/>
                  <a:t>伪干预是使用一个虚拟的干预估计对原结果的因果效应，事先知道是没有影响的，通常使用多个控制组，比如有两个控制组，分别为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𝑇</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0 </m:t>
                    </m:r>
                  </m:oMath>
                </a14:m>
                <a:r>
                  <a:rPr lang="zh-CN" altLang="en-US" dirty="0"/>
                  <a:t>和 </a:t>
                </a:r>
                <a14:m>
                  <m:oMath xmlns:m="http://schemas.openxmlformats.org/officeDocument/2006/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𝑇</m:t>
                        </m:r>
                      </m:e>
                      <m:sub>
                        <m:r>
                          <a:rPr lang="zh-CN" altLang="en-US" i="1" dirty="0" smtClean="0">
                            <a:latin typeface="Cambria Math" panose="02040503050406030204" pitchFamily="18" charset="0"/>
                          </a:rPr>
                          <m:t>𝑖</m:t>
                        </m:r>
                      </m:sub>
                    </m:sSub>
                    <m:r>
                      <a:rPr lang="zh-CN" altLang="en-US" i="1" dirty="0" smtClean="0">
                        <a:latin typeface="Cambria Math" panose="02040503050406030204" pitchFamily="18" charset="0"/>
                      </a:rPr>
                      <m:t> </m:t>
                    </m:r>
                    <m:r>
                      <a:rPr lang="en-US" altLang="zh-CN" i="1" dirty="0">
                        <a:latin typeface="Cambria Math" panose="02040503050406030204" pitchFamily="18" charset="0"/>
                      </a:rPr>
                      <m:t>= −1</m:t>
                    </m:r>
                  </m:oMath>
                </a14:m>
                <a:r>
                  <a:rPr lang="en-US" altLang="zh-CN" dirty="0"/>
                  <a:t>.</a:t>
                </a:r>
              </a:p>
              <a:p>
                <a:pPr marL="0" indent="0">
                  <a:lnSpc>
                    <a:spcPct val="120000"/>
                  </a:lnSpc>
                  <a:buNone/>
                </a:pPr>
                <a14:m>
                  <m:oMathPara xmlns:m="http://schemas.openxmlformats.org/officeDocument/2006/math">
                    <m:oMath>
                      <m:sSub>
                        <m:sSubPr>
                          <m:ctrlPr>
                            <a:rPr lang="zh-CN" altLang="en-US" i="1" dirty="0" smtClean="0">
                              <a:latin typeface="Cambria Math" panose="02040503050406030204" pitchFamily="18" charset="0"/>
                            </a:rPr>
                          </m:ctrlPr>
                        </m:sSubPr>
                        <m:e>
                          <m:r>
                            <a:rPr lang="zh-CN" altLang="en-US" i="1" dirty="0" smtClean="0">
                              <a:latin typeface="Cambria Math" panose="02040503050406030204" pitchFamily="18" charset="0"/>
                            </a:rPr>
                            <m:t>𝐻</m:t>
                          </m:r>
                        </m:e>
                        <m:sub>
                          <m:r>
                            <a:rPr lang="en-US" altLang="zh-CN" i="1" dirty="0">
                              <a:latin typeface="Cambria Math" panose="02040503050406030204" pitchFamily="18" charset="0"/>
                            </a:rPr>
                            <m:t>0</m:t>
                          </m:r>
                        </m:sub>
                      </m:sSub>
                      <m:r>
                        <a:rPr lang="en-US" altLang="zh-CN" i="1" dirty="0">
                          <a:latin typeface="Cambria Math" panose="02040503050406030204" pitchFamily="18" charset="0"/>
                        </a:rPr>
                        <m:t> </m:t>
                      </m:r>
                      <m:r>
                        <a:rPr lang="zh-CN" altLang="en-US" i="1" dirty="0">
                          <a:latin typeface="Cambria Math" panose="02040503050406030204" pitchFamily="18" charset="0"/>
                        </a:rPr>
                        <m:t>: </m:t>
                      </m:r>
                      <m:r>
                        <a:rPr lang="zh-CN" altLang="en-US" i="1" dirty="0">
                          <a:latin typeface="Cambria Math" panose="02040503050406030204" pitchFamily="18" charset="0"/>
                        </a:rPr>
                        <m:t>𝐸</m:t>
                      </m:r>
                      <m:r>
                        <a:rPr lang="en-US" altLang="zh-CN" i="1" dirty="0">
                          <a:latin typeface="Cambria Math" panose="02040503050406030204" pitchFamily="18" charset="0"/>
                        </a:rPr>
                        <m:t>{</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0] − </m:t>
                      </m:r>
                      <m:r>
                        <a:rPr lang="zh-CN" altLang="en-US" i="1" dirty="0">
                          <a:latin typeface="Cambria Math" panose="02040503050406030204" pitchFamily="18" charset="0"/>
                        </a:rPr>
                        <m:t>𝐸</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𝑌</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𝑋</m:t>
                          </m:r>
                        </m:e>
                        <m:sub>
                          <m:r>
                            <a:rPr lang="zh-CN" altLang="en-US" i="1" dirty="0">
                              <a:latin typeface="Cambria Math" panose="02040503050406030204" pitchFamily="18" charset="0"/>
                            </a:rPr>
                            <m:t>𝑖</m:t>
                          </m:r>
                        </m:sub>
                      </m:sSub>
                      <m:r>
                        <a:rPr lang="en-US" altLang="zh-CN" i="1" dirty="0">
                          <a:latin typeface="Cambria Math" panose="02040503050406030204" pitchFamily="18" charset="0"/>
                        </a:rPr>
                        <m:t>, </m:t>
                      </m:r>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𝑇</m:t>
                          </m:r>
                        </m:e>
                        <m:sub>
                          <m:r>
                            <a:rPr lang="zh-CN" altLang="en-US" i="1" dirty="0">
                              <a:latin typeface="Cambria Math" panose="02040503050406030204" pitchFamily="18" charset="0"/>
                            </a:rPr>
                            <m:t>𝑖</m:t>
                          </m:r>
                        </m:sub>
                      </m:sSub>
                      <m:r>
                        <a:rPr lang="zh-CN" altLang="en-US" i="1" dirty="0">
                          <a:latin typeface="Cambria Math" panose="02040503050406030204" pitchFamily="18" charset="0"/>
                        </a:rPr>
                        <m:t> </m:t>
                      </m:r>
                      <m:r>
                        <a:rPr lang="en-US" altLang="zh-CN" i="1" dirty="0">
                          <a:latin typeface="Cambria Math" panose="02040503050406030204" pitchFamily="18" charset="0"/>
                        </a:rPr>
                        <m:t>= −1]} = 0,</m:t>
                      </m:r>
                    </m:oMath>
                  </m:oMathPara>
                </a14:m>
                <a:endParaRPr lang="zh-CN" altLang="en-US" dirty="0"/>
              </a:p>
            </p:txBody>
          </p:sp>
        </mc:Choice>
        <mc:Fallback xmlns="">
          <p:sp>
            <p:nvSpPr>
              <p:cNvPr id="3" name="内容占位符 2">
                <a:extLst>
                  <a:ext uri="{FF2B5EF4-FFF2-40B4-BE49-F238E27FC236}">
                    <a16:creationId xmlns:a16="http://schemas.microsoft.com/office/drawing/2014/main" id="{EB5EC827-CCE5-0EF0-B09A-C19783E40103}"/>
                  </a:ext>
                </a:extLst>
              </p:cNvPr>
              <p:cNvSpPr>
                <a:spLocks noGrp="1" noRot="1" noChangeAspect="1" noMove="1" noResize="1" noEditPoints="1" noAdjustHandles="1" noChangeArrowheads="1" noChangeShapeType="1" noTextEdit="1"/>
              </p:cNvSpPr>
              <p:nvPr>
                <p:ph idx="1"/>
              </p:nvPr>
            </p:nvSpPr>
            <p:spPr>
              <a:xfrm>
                <a:off x="628650" y="1825624"/>
                <a:ext cx="7886700" cy="4158487"/>
              </a:xfrm>
              <a:blipFill>
                <a:blip r:embed="rId2"/>
                <a:stretch>
                  <a:fillRect l="-464" t="-732" r="-154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16D5BCFB-ACB8-1B10-279B-84B6360EEE5D}"/>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C0D3C90-8DD8-FE85-FED7-6E39EF3079A6}"/>
              </a:ext>
            </a:extLst>
          </p:cNvPr>
          <p:cNvSpPr>
            <a:spLocks noGrp="1"/>
          </p:cNvSpPr>
          <p:nvPr>
            <p:ph type="sldNum" sz="quarter" idx="12"/>
          </p:nvPr>
        </p:nvSpPr>
        <p:spPr/>
        <p:txBody>
          <a:bodyPr/>
          <a:lstStyle/>
          <a:p>
            <a:fld id="{D41FC515-8169-4A29-AA56-DBE520D5741B}" type="slidenum">
              <a:rPr lang="zh-CN" altLang="en-US" smtClean="0"/>
              <a:t>69</a:t>
            </a:fld>
            <a:endParaRPr lang="zh-CN" altLang="en-US"/>
          </a:p>
        </p:txBody>
      </p:sp>
    </p:spTree>
    <p:extLst>
      <p:ext uri="{BB962C8B-B14F-4D97-AF65-F5344CB8AC3E}">
        <p14:creationId xmlns:p14="http://schemas.microsoft.com/office/powerpoint/2010/main" val="20798466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629663-ED66-CD1E-1057-5EED06534D72}"/>
              </a:ext>
            </a:extLst>
          </p:cNvPr>
          <p:cNvSpPr>
            <a:spLocks noGrp="1"/>
          </p:cNvSpPr>
          <p:nvPr>
            <p:ph type="title"/>
          </p:nvPr>
        </p:nvSpPr>
        <p:spPr/>
        <p:txBody>
          <a:bodyPr/>
          <a:lstStyle/>
          <a:p>
            <a:r>
              <a:rPr lang="zh-CN" altLang="en-US" dirty="0"/>
              <a:t>总结</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BB91812-89F0-B547-55E6-DE48810F4E3B}"/>
                  </a:ext>
                </a:extLst>
              </p:cNvPr>
              <p:cNvSpPr>
                <a:spLocks noGrp="1"/>
              </p:cNvSpPr>
              <p:nvPr>
                <p:ph idx="1"/>
              </p:nvPr>
            </p:nvSpPr>
            <p:spPr/>
            <p:txBody>
              <a:bodyPr>
                <a:normAutofit/>
              </a:bodyPr>
              <a:lstStyle/>
              <a:p>
                <a:r>
                  <a:rPr lang="zh-CN" altLang="en-US" dirty="0"/>
                  <a:t>在引入非混杂性假设下，数据生成过程类似于随机化实验，因而，可以使用分析实验的方法。</a:t>
                </a:r>
                <a:endParaRPr lang="en-US" altLang="zh-CN" dirty="0"/>
              </a:p>
              <a:p>
                <a:r>
                  <a:rPr lang="zh-CN" altLang="en-US" dirty="0"/>
                  <a:t>在非混杂性条件下，可以使用分层、匹配、回归、加权、双重稳健等估计方法。</a:t>
                </a:r>
                <a:endParaRPr lang="en-US" altLang="zh-CN" dirty="0"/>
              </a:p>
              <a:p>
                <a:r>
                  <a:rPr lang="zh-CN" altLang="en-US" dirty="0"/>
                  <a:t>结果的可信性依赖于引入的识别条件</a:t>
                </a:r>
                <a:r>
                  <a:rPr lang="en-US" altLang="zh-CN" dirty="0"/>
                  <a:t>——</a:t>
                </a:r>
                <a:r>
                  <a:rPr lang="zh-CN" altLang="en-US" dirty="0"/>
                  <a:t>非混杂性假设的合理性。</a:t>
                </a:r>
                <a:endParaRPr lang="en-US" altLang="zh-CN" dirty="0"/>
              </a:p>
              <a:p>
                <a:r>
                  <a:rPr lang="zh-CN" altLang="en-US" dirty="0"/>
                  <a:t>匹配还是一种研究设计，通过匹配可能将数据构造成类似随机化实验的数据，研究设计的体现。</a:t>
                </a:r>
                <a:endParaRPr lang="en-US" altLang="zh-CN" dirty="0"/>
              </a:p>
              <a:p>
                <a:pPr marL="0" indent="0">
                  <a:buNone/>
                </a:pPr>
                <a14:m>
                  <m:oMathPara xmlns:m="http://schemas.openxmlformats.org/officeDocument/2006/math">
                    <m:oMath>
                      <m:r>
                        <a:rPr lang="zh-CN" altLang="en-US" i="1" dirty="0" smtClean="0">
                          <a:latin typeface="Cambria Math" panose="02040503050406030204" pitchFamily="18" charset="0"/>
                        </a:rPr>
                        <m:t>𝑌</m:t>
                      </m:r>
                      <m:r>
                        <a:rPr lang="zh-CN" altLang="en-US" i="1" dirty="0" smtClean="0">
                          <a:latin typeface="Cambria Math" panose="02040503050406030204" pitchFamily="18" charset="0"/>
                        </a:rPr>
                        <m:t> = </m:t>
                      </m:r>
                      <m:r>
                        <a:rPr lang="zh-CN" altLang="en-US" i="1" dirty="0">
                          <a:latin typeface="Cambria Math" panose="02040503050406030204" pitchFamily="18" charset="0"/>
                        </a:rPr>
                        <m:t>𝛼</m:t>
                      </m:r>
                      <m:r>
                        <a:rPr lang="zh-CN" altLang="en-US" i="1" dirty="0">
                          <a:latin typeface="Cambria Math" panose="02040503050406030204" pitchFamily="18" charset="0"/>
                        </a:rPr>
                        <m:t> + </m:t>
                      </m:r>
                      <m:r>
                        <a:rPr lang="zh-CN" altLang="en-US" i="1" dirty="0">
                          <a:latin typeface="Cambria Math" panose="02040503050406030204" pitchFamily="18" charset="0"/>
                        </a:rPr>
                        <m:t>𝜏</m:t>
                      </m:r>
                      <m:r>
                        <a:rPr lang="zh-CN" altLang="en-US" i="1" dirty="0">
                          <a:latin typeface="Cambria Math" panose="02040503050406030204" pitchFamily="18" charset="0"/>
                        </a:rPr>
                        <m:t>𝐷</m:t>
                      </m:r>
                      <m:r>
                        <a:rPr lang="zh-CN" altLang="en-US" i="1" dirty="0">
                          <a:latin typeface="Cambria Math" panose="02040503050406030204" pitchFamily="18" charset="0"/>
                        </a:rPr>
                        <m:t> + </m:t>
                      </m:r>
                      <m:r>
                        <a:rPr lang="zh-CN" altLang="en-US" i="1" dirty="0">
                          <a:latin typeface="Cambria Math" panose="02040503050406030204" pitchFamily="18" charset="0"/>
                        </a:rPr>
                        <m:t>𝑋</m:t>
                      </m:r>
                      <m:r>
                        <a:rPr lang="en-US" altLang="zh-CN" i="1" dirty="0">
                          <a:latin typeface="Cambria Math" panose="02040503050406030204" pitchFamily="18" charset="0"/>
                        </a:rPr>
                        <m:t>′</m:t>
                      </m:r>
                      <m:r>
                        <a:rPr lang="zh-CN" altLang="en-US" i="1" dirty="0">
                          <a:latin typeface="Cambria Math" panose="02040503050406030204" pitchFamily="18" charset="0"/>
                        </a:rPr>
                        <m:t>𝛽</m:t>
                      </m:r>
                      <m:r>
                        <a:rPr lang="zh-CN" altLang="en-US" i="1" dirty="0">
                          <a:latin typeface="Cambria Math" panose="02040503050406030204" pitchFamily="18" charset="0"/>
                        </a:rPr>
                        <m:t> + </m:t>
                      </m:r>
                      <m:r>
                        <a:rPr lang="zh-CN" altLang="en-US" i="1" dirty="0">
                          <a:latin typeface="Cambria Math" panose="02040503050406030204" pitchFamily="18" charset="0"/>
                        </a:rPr>
                        <m:t>𝜀</m:t>
                      </m:r>
                    </m:oMath>
                  </m:oMathPara>
                </a14:m>
                <a:endParaRPr lang="zh-CN" altLang="en-US" dirty="0"/>
              </a:p>
            </p:txBody>
          </p:sp>
        </mc:Choice>
        <mc:Fallback xmlns="">
          <p:sp>
            <p:nvSpPr>
              <p:cNvPr id="3" name="内容占位符 2">
                <a:extLst>
                  <a:ext uri="{FF2B5EF4-FFF2-40B4-BE49-F238E27FC236}">
                    <a16:creationId xmlns:a16="http://schemas.microsoft.com/office/drawing/2014/main" id="{EBB91812-89F0-B547-55E6-DE48810F4E3B}"/>
                  </a:ext>
                </a:extLst>
              </p:cNvPr>
              <p:cNvSpPr>
                <a:spLocks noGrp="1" noRot="1" noChangeAspect="1" noMove="1" noResize="1" noEditPoints="1" noAdjustHandles="1" noChangeArrowheads="1" noChangeShapeType="1" noTextEdit="1"/>
              </p:cNvSpPr>
              <p:nvPr>
                <p:ph idx="1"/>
              </p:nvPr>
            </p:nvSpPr>
            <p:spPr>
              <a:blipFill>
                <a:blip r:embed="rId2"/>
                <a:stretch>
                  <a:fillRect l="-1391" t="-1401" r="-1159"/>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EFD06479-4938-BC62-CB0D-381F006082A8}"/>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427750E9-0B8E-A226-9046-3779AFDF94A9}"/>
              </a:ext>
            </a:extLst>
          </p:cNvPr>
          <p:cNvSpPr>
            <a:spLocks noGrp="1"/>
          </p:cNvSpPr>
          <p:nvPr>
            <p:ph type="sldNum" sz="quarter" idx="12"/>
          </p:nvPr>
        </p:nvSpPr>
        <p:spPr/>
        <p:txBody>
          <a:bodyPr/>
          <a:lstStyle/>
          <a:p>
            <a:fld id="{D41FC515-8169-4A29-AA56-DBE520D5741B}" type="slidenum">
              <a:rPr lang="zh-CN" altLang="en-US" smtClean="0"/>
              <a:t>70</a:t>
            </a:fld>
            <a:endParaRPr lang="zh-CN" altLang="en-US"/>
          </a:p>
        </p:txBody>
      </p:sp>
    </p:spTree>
    <p:extLst>
      <p:ext uri="{BB962C8B-B14F-4D97-AF65-F5344CB8AC3E}">
        <p14:creationId xmlns:p14="http://schemas.microsoft.com/office/powerpoint/2010/main" val="36019267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DEE9DB-B68E-B3DA-D8DB-1E5777FD6F0B}"/>
              </a:ext>
            </a:extLst>
          </p:cNvPr>
          <p:cNvSpPr>
            <a:spLocks noGrp="1"/>
          </p:cNvSpPr>
          <p:nvPr>
            <p:ph type="title"/>
          </p:nvPr>
        </p:nvSpPr>
        <p:spPr/>
        <p:txBody>
          <a:bodyPr/>
          <a:lstStyle/>
          <a:p>
            <a:r>
              <a:rPr lang="zh-CN" altLang="en-US" dirty="0"/>
              <a:t>参考文献</a:t>
            </a:r>
          </a:p>
        </p:txBody>
      </p:sp>
      <p:sp>
        <p:nvSpPr>
          <p:cNvPr id="3" name="内容占位符 2">
            <a:extLst>
              <a:ext uri="{FF2B5EF4-FFF2-40B4-BE49-F238E27FC236}">
                <a16:creationId xmlns:a16="http://schemas.microsoft.com/office/drawing/2014/main" id="{E91FD14F-2AE3-EAF6-7EFD-9B54F13AD653}"/>
              </a:ext>
            </a:extLst>
          </p:cNvPr>
          <p:cNvSpPr>
            <a:spLocks noGrp="1"/>
          </p:cNvSpPr>
          <p:nvPr>
            <p:ph idx="1"/>
          </p:nvPr>
        </p:nvSpPr>
        <p:spPr>
          <a:xfrm>
            <a:off x="628650" y="1383632"/>
            <a:ext cx="7886700" cy="4793331"/>
          </a:xfrm>
        </p:spPr>
        <p:txBody>
          <a:bodyPr>
            <a:noAutofit/>
          </a:bodyPr>
          <a:lstStyle/>
          <a:p>
            <a:pPr>
              <a:lnSpc>
                <a:spcPct val="120000"/>
              </a:lnSpc>
            </a:pPr>
            <a:r>
              <a:rPr lang="en-US" altLang="zh-CN" sz="1400" dirty="0"/>
              <a:t>Abadie, A. and </a:t>
            </a:r>
            <a:r>
              <a:rPr lang="en-US" altLang="zh-CN" sz="1400" dirty="0" err="1"/>
              <a:t>Imbens</a:t>
            </a:r>
            <a:r>
              <a:rPr lang="en-US" altLang="zh-CN" sz="1400" dirty="0"/>
              <a:t>, G. W. (2006). Large sample properties of matching estimators for average treatment effects. </a:t>
            </a:r>
            <a:r>
              <a:rPr lang="en-US" altLang="zh-CN" sz="1400" dirty="0" err="1"/>
              <a:t>Econometrica</a:t>
            </a:r>
            <a:r>
              <a:rPr lang="en-US" altLang="zh-CN" sz="1400" dirty="0"/>
              <a:t>, 74:235–267.</a:t>
            </a:r>
          </a:p>
          <a:p>
            <a:pPr>
              <a:lnSpc>
                <a:spcPct val="120000"/>
              </a:lnSpc>
            </a:pPr>
            <a:r>
              <a:rPr lang="en-US" altLang="zh-CN" sz="1400" dirty="0"/>
              <a:t>Abadie, A. and </a:t>
            </a:r>
            <a:r>
              <a:rPr lang="en-US" altLang="zh-CN" sz="1400" dirty="0" err="1"/>
              <a:t>Imbens</a:t>
            </a:r>
            <a:r>
              <a:rPr lang="en-US" altLang="zh-CN" sz="1400" dirty="0"/>
              <a:t>, G. W. (2008). On the failure of the bootstrap for matching estimators. </a:t>
            </a:r>
            <a:r>
              <a:rPr lang="en-US" altLang="zh-CN" sz="1400" dirty="0" err="1"/>
              <a:t>Econometrica</a:t>
            </a:r>
            <a:r>
              <a:rPr lang="en-US" altLang="zh-CN" sz="1400" dirty="0"/>
              <a:t>, 76:1537–1557.</a:t>
            </a:r>
          </a:p>
          <a:p>
            <a:pPr>
              <a:lnSpc>
                <a:spcPct val="120000"/>
              </a:lnSpc>
            </a:pPr>
            <a:r>
              <a:rPr lang="en-US" altLang="zh-CN" sz="1400" dirty="0"/>
              <a:t>Abadie, A. and </a:t>
            </a:r>
            <a:r>
              <a:rPr lang="en-US" altLang="zh-CN" sz="1400" dirty="0" err="1"/>
              <a:t>Imbens</a:t>
            </a:r>
            <a:r>
              <a:rPr lang="en-US" altLang="zh-CN" sz="1400" dirty="0"/>
              <a:t>, G. W. (2011). Bias-corrected matching estimators for average treatment effects. Journal of Business and Economic Statistics, 29:1–11.</a:t>
            </a:r>
          </a:p>
          <a:p>
            <a:pPr>
              <a:lnSpc>
                <a:spcPct val="120000"/>
              </a:lnSpc>
            </a:pPr>
            <a:r>
              <a:rPr lang="en-US" altLang="zh-CN" sz="1400" dirty="0"/>
              <a:t>Abadie, A., and Spiess, J. (2021). Robust Post-Matching Inference. Journal of the American Statistical Association, 117(538), 983–995.</a:t>
            </a:r>
          </a:p>
          <a:p>
            <a:pPr>
              <a:lnSpc>
                <a:spcPct val="120000"/>
              </a:lnSpc>
            </a:pPr>
            <a:r>
              <a:rPr lang="en-US" altLang="zh-CN" sz="1400" dirty="0"/>
              <a:t>Angrist, J. D., and Pischke, J. S. (2009). Mostly harmless econometrics: An empiricist’s companion. Princeton university press.</a:t>
            </a:r>
          </a:p>
          <a:p>
            <a:pPr>
              <a:lnSpc>
                <a:spcPct val="120000"/>
              </a:lnSpc>
            </a:pPr>
            <a:r>
              <a:rPr lang="en-US" altLang="zh-CN" sz="1400" dirty="0" err="1"/>
              <a:t>Chernozhukov</a:t>
            </a:r>
            <a:r>
              <a:rPr lang="en-US" altLang="zh-CN" sz="1400" dirty="0"/>
              <a:t>, Victor, Denis </a:t>
            </a:r>
            <a:r>
              <a:rPr lang="en-US" altLang="zh-CN" sz="1400" dirty="0" err="1"/>
              <a:t>Chetverikov</a:t>
            </a:r>
            <a:r>
              <a:rPr lang="en-US" altLang="zh-CN" sz="1400" dirty="0"/>
              <a:t>, Mert Demirer, Esther Duflo, Christian Hansen, Whitney Newey, James Robins, Double/debiased machine learning for treatment and structural parameters, The Econometrics Journal, Volume 21, Issue 1, 1 February 2018, Pages C1–C68.</a:t>
            </a:r>
          </a:p>
          <a:p>
            <a:pPr>
              <a:lnSpc>
                <a:spcPct val="120000"/>
              </a:lnSpc>
            </a:pPr>
            <a:r>
              <a:rPr lang="en-US" altLang="zh-CN" sz="1400" dirty="0" err="1"/>
              <a:t>Chernozhukov</a:t>
            </a:r>
            <a:r>
              <a:rPr lang="en-US" altLang="zh-CN" sz="1400" dirty="0"/>
              <a:t>, V., Hansen, C., Kallus, N., Spindler, M., and </a:t>
            </a:r>
            <a:r>
              <a:rPr lang="en-US" altLang="zh-CN" sz="1400" dirty="0" err="1"/>
              <a:t>Syrgkanis</a:t>
            </a:r>
            <a:r>
              <a:rPr lang="en-US" altLang="zh-CN" sz="1400" dirty="0"/>
              <a:t>, V. (2024). Applied causal inference powered by ML and AI. </a:t>
            </a:r>
            <a:r>
              <a:rPr lang="en-US" altLang="zh-CN" sz="1400" dirty="0" err="1"/>
              <a:t>arXiv</a:t>
            </a:r>
            <a:r>
              <a:rPr lang="en-US" altLang="zh-CN" sz="1400" dirty="0"/>
              <a:t> preprint arXiv:2403.02467.</a:t>
            </a:r>
          </a:p>
          <a:p>
            <a:pPr>
              <a:lnSpc>
                <a:spcPct val="120000"/>
              </a:lnSpc>
            </a:pPr>
            <a:r>
              <a:rPr lang="en-US" altLang="zh-CN" sz="1400" dirty="0"/>
              <a:t>Crump, R. K., Hotz, V. J., </a:t>
            </a:r>
            <a:r>
              <a:rPr lang="en-US" altLang="zh-CN" sz="1400" dirty="0" err="1"/>
              <a:t>Imbens</a:t>
            </a:r>
            <a:r>
              <a:rPr lang="en-US" altLang="zh-CN" sz="1400" dirty="0"/>
              <a:t>, G. W., and Mitnik, O. A. (2009). Dealing with limited overlap in estimation of average treatment effects. Biometrika,96:187–199..</a:t>
            </a:r>
            <a:endParaRPr lang="zh-CN" altLang="en-US" sz="1400" dirty="0"/>
          </a:p>
        </p:txBody>
      </p:sp>
      <p:sp>
        <p:nvSpPr>
          <p:cNvPr id="4" name="页脚占位符 3">
            <a:extLst>
              <a:ext uri="{FF2B5EF4-FFF2-40B4-BE49-F238E27FC236}">
                <a16:creationId xmlns:a16="http://schemas.microsoft.com/office/drawing/2014/main" id="{179491FE-6FC5-1F34-01CF-6C8DAF5BEE09}"/>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1CCE7A6E-6A16-ED9A-390C-60FDF511D76A}"/>
              </a:ext>
            </a:extLst>
          </p:cNvPr>
          <p:cNvSpPr>
            <a:spLocks noGrp="1"/>
          </p:cNvSpPr>
          <p:nvPr>
            <p:ph type="sldNum" sz="quarter" idx="12"/>
          </p:nvPr>
        </p:nvSpPr>
        <p:spPr/>
        <p:txBody>
          <a:bodyPr/>
          <a:lstStyle/>
          <a:p>
            <a:fld id="{D41FC515-8169-4A29-AA56-DBE520D5741B}" type="slidenum">
              <a:rPr lang="zh-CN" altLang="en-US" smtClean="0"/>
              <a:t>71</a:t>
            </a:fld>
            <a:endParaRPr lang="zh-CN" altLang="en-US" dirty="0"/>
          </a:p>
        </p:txBody>
      </p:sp>
    </p:spTree>
    <p:extLst>
      <p:ext uri="{BB962C8B-B14F-4D97-AF65-F5344CB8AC3E}">
        <p14:creationId xmlns:p14="http://schemas.microsoft.com/office/powerpoint/2010/main" val="31240345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5D5DB30-8C13-2884-4C3E-4AB971CC5025}"/>
              </a:ext>
            </a:extLst>
          </p:cNvPr>
          <p:cNvSpPr>
            <a:spLocks noGrp="1"/>
          </p:cNvSpPr>
          <p:nvPr>
            <p:ph idx="1"/>
          </p:nvPr>
        </p:nvSpPr>
        <p:spPr>
          <a:xfrm>
            <a:off x="628650" y="589547"/>
            <a:ext cx="7886700" cy="6003758"/>
          </a:xfrm>
        </p:spPr>
        <p:txBody>
          <a:bodyPr>
            <a:noAutofit/>
          </a:bodyPr>
          <a:lstStyle/>
          <a:p>
            <a:r>
              <a:rPr lang="en-US" altLang="zh-CN" sz="1400" dirty="0"/>
              <a:t>Dale, Stacy Berg, and Krueger, A. B. (2002). Estimating the Payoff to Attending a More Selective College: An Application of Selection on Observables and </a:t>
            </a:r>
            <a:r>
              <a:rPr lang="en-US" altLang="zh-CN" sz="1400" dirty="0" err="1"/>
              <a:t>Unobservables</a:t>
            </a:r>
            <a:r>
              <a:rPr lang="en-US" altLang="zh-CN" sz="1400" dirty="0"/>
              <a:t>. The Quarterly Journal of Economics, 117(4), 1491–1527</a:t>
            </a:r>
          </a:p>
          <a:p>
            <a:r>
              <a:rPr lang="en-US" altLang="zh-CN" sz="1400" dirty="0"/>
              <a:t>Heckman, J. J., Ichimura, H., and Todd, P. E. (1997). Matching as an econometric evaluation estimator: Evidence from evaluating a job training </a:t>
            </a:r>
            <a:r>
              <a:rPr lang="en-US" altLang="zh-CN" sz="1400" dirty="0" err="1"/>
              <a:t>programme</a:t>
            </a:r>
            <a:r>
              <a:rPr lang="en-US" altLang="zh-CN" sz="1400" dirty="0"/>
              <a:t>. The review of economic studies, 64(4), 605-654.</a:t>
            </a:r>
          </a:p>
          <a:p>
            <a:r>
              <a:rPr lang="en-US" altLang="zh-CN" sz="1400" dirty="0"/>
              <a:t>Heckman, J. J., Ichimura, H., and Todd, P. (1998). Matching as an econometric evaluation estimator. The review of economic studies, 65(2), 261-294.</a:t>
            </a:r>
          </a:p>
          <a:p>
            <a:r>
              <a:rPr lang="en-US" altLang="zh-CN" sz="1400" dirty="0" err="1"/>
              <a:t>Hern´an</a:t>
            </a:r>
            <a:r>
              <a:rPr lang="en-US" altLang="zh-CN" sz="1400" dirty="0"/>
              <a:t>, M. A. and Robins, J. M. (2020). Causal Inference: What If. Boca Raton: Chapman &amp; Hall/CRC.</a:t>
            </a:r>
          </a:p>
          <a:p>
            <a:r>
              <a:rPr lang="en-US" altLang="zh-CN" sz="1400" dirty="0"/>
              <a:t>Horvitz, D. G. and Thompson, D. J. (1952). A generalization of sampling without replacement from a finite universe. Journal of the American statistical Association, 47:663–685.</a:t>
            </a:r>
          </a:p>
          <a:p>
            <a:r>
              <a:rPr lang="en-US" altLang="zh-CN" sz="1400" dirty="0" err="1"/>
              <a:t>Imbens</a:t>
            </a:r>
            <a:r>
              <a:rPr lang="en-US" altLang="zh-CN" sz="1400" dirty="0"/>
              <a:t>, G. W. (2004). Nonparametric estimation of average treatment effects under exogeneity: A review. Review of Economics and statistics, 86(1), 4-29.</a:t>
            </a:r>
          </a:p>
          <a:p>
            <a:r>
              <a:rPr lang="en-US" altLang="zh-CN" sz="1400" dirty="0" err="1"/>
              <a:t>Imbens</a:t>
            </a:r>
            <a:r>
              <a:rPr lang="en-US" altLang="zh-CN" sz="1400" dirty="0"/>
              <a:t>, G. W., and Rubin, D. B. (2015). Causal inference in statistics, social, and biomedical sciences. Cambridge university press.</a:t>
            </a:r>
          </a:p>
          <a:p>
            <a:r>
              <a:rPr lang="en-US" altLang="zh-CN" sz="1400" dirty="0"/>
              <a:t>Lunceford, J. K. and Davidian, M. (2004). Stratification and weighting via the propensity score in estimation of causal treatment effects: a comparative study. Statistics in Medicine, 23:2937–2960.</a:t>
            </a:r>
          </a:p>
          <a:p>
            <a:r>
              <a:rPr lang="en-US" altLang="zh-CN" sz="1400" dirty="0"/>
              <a:t>Rosenbaum, P. R. (1987). Model-Based Direct Adjustment. Journal of the American Statistical Association, 82(398), 387–394.</a:t>
            </a:r>
          </a:p>
          <a:p>
            <a:r>
              <a:rPr lang="en-US" altLang="zh-CN" sz="1400" dirty="0"/>
              <a:t>Rosenbaum, P. R., and Rubin, D. B. (1983). The central role of the propensity score in observational studies for causal effects. </a:t>
            </a:r>
            <a:r>
              <a:rPr lang="en-US" altLang="zh-CN" sz="1400" dirty="0" err="1"/>
              <a:t>Biometrika</a:t>
            </a:r>
            <a:r>
              <a:rPr lang="en-US" altLang="zh-CN" sz="1400" dirty="0"/>
              <a:t>, 70(1), 41-55.</a:t>
            </a:r>
          </a:p>
          <a:p>
            <a:r>
              <a:rPr lang="en-US" altLang="zh-CN" sz="1400" dirty="0" err="1"/>
              <a:t>Słoczyński</a:t>
            </a:r>
            <a:r>
              <a:rPr lang="en-US" altLang="zh-CN" sz="1400" dirty="0"/>
              <a:t>, Tymon; Interpreting OLS </a:t>
            </a:r>
            <a:r>
              <a:rPr lang="en-US" altLang="zh-CN" sz="1400" dirty="0" err="1"/>
              <a:t>Estimands</a:t>
            </a:r>
            <a:r>
              <a:rPr lang="en-US" altLang="zh-CN" sz="1400" dirty="0"/>
              <a:t> When Treatment Effects Are Heterogeneous: Smaller Groups Get Larger Weights. The Review of Economics and Statistics 2022; 104 (3): 501–509.</a:t>
            </a:r>
            <a:endParaRPr lang="zh-CN" altLang="en-US" sz="1400" dirty="0"/>
          </a:p>
        </p:txBody>
      </p:sp>
      <p:sp>
        <p:nvSpPr>
          <p:cNvPr id="4" name="页脚占位符 3">
            <a:extLst>
              <a:ext uri="{FF2B5EF4-FFF2-40B4-BE49-F238E27FC236}">
                <a16:creationId xmlns:a16="http://schemas.microsoft.com/office/drawing/2014/main" id="{C083ED4B-AF41-AF00-1A4C-AFE80DEAD814}"/>
              </a:ext>
            </a:extLst>
          </p:cNvPr>
          <p:cNvSpPr>
            <a:spLocks noGrp="1"/>
          </p:cNvSpPr>
          <p:nvPr>
            <p:ph type="ftr" sz="quarter" idx="11"/>
          </p:nvPr>
        </p:nvSpPr>
        <p:spPr/>
        <p:txBody>
          <a:bodyPr/>
          <a:lstStyle/>
          <a:p>
            <a:r>
              <a:rPr lang="zh-CN" altLang="en-US"/>
              <a:t>ⓒ 赵西亮</a:t>
            </a:r>
          </a:p>
        </p:txBody>
      </p:sp>
      <p:sp>
        <p:nvSpPr>
          <p:cNvPr id="5" name="灯片编号占位符 4">
            <a:extLst>
              <a:ext uri="{FF2B5EF4-FFF2-40B4-BE49-F238E27FC236}">
                <a16:creationId xmlns:a16="http://schemas.microsoft.com/office/drawing/2014/main" id="{F26AFAC3-03E5-1483-A2FD-2D13665F1722}"/>
              </a:ext>
            </a:extLst>
          </p:cNvPr>
          <p:cNvSpPr>
            <a:spLocks noGrp="1"/>
          </p:cNvSpPr>
          <p:nvPr>
            <p:ph type="sldNum" sz="quarter" idx="12"/>
          </p:nvPr>
        </p:nvSpPr>
        <p:spPr/>
        <p:txBody>
          <a:bodyPr/>
          <a:lstStyle/>
          <a:p>
            <a:fld id="{D41FC515-8169-4A29-AA56-DBE520D5741B}" type="slidenum">
              <a:rPr lang="zh-CN" altLang="en-US" smtClean="0"/>
              <a:t>72</a:t>
            </a:fld>
            <a:endParaRPr lang="zh-CN" altLang="en-US"/>
          </a:p>
        </p:txBody>
      </p:sp>
    </p:spTree>
    <p:extLst>
      <p:ext uri="{BB962C8B-B14F-4D97-AF65-F5344CB8AC3E}">
        <p14:creationId xmlns:p14="http://schemas.microsoft.com/office/powerpoint/2010/main" val="244678532"/>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Times New Roman"/>
        <a:ea typeface="思源宋体 Heavy"/>
        <a:cs typeface=""/>
      </a:majorFont>
      <a:minorFont>
        <a:latin typeface="Times New Roman"/>
        <a:ea typeface="思源宋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2051</TotalTime>
  <Words>10361</Words>
  <Application>Microsoft Office PowerPoint</Application>
  <PresentationFormat>全屏显示(4:3)</PresentationFormat>
  <Paragraphs>648</Paragraphs>
  <Slides>72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72</vt:i4>
      </vt:variant>
    </vt:vector>
  </HeadingPairs>
  <TitlesOfParts>
    <vt:vector size="79" baseType="lpstr">
      <vt:lpstr>LMRoman8-Regular-Identity-H</vt:lpstr>
      <vt:lpstr>等线</vt:lpstr>
      <vt:lpstr>宋体</vt:lpstr>
      <vt:lpstr>Arial</vt:lpstr>
      <vt:lpstr>Cambria Math</vt:lpstr>
      <vt:lpstr>Times New Roman</vt:lpstr>
      <vt:lpstr>Office 主题​​</vt:lpstr>
      <vt:lpstr>非混杂性假设下的因果推断</vt:lpstr>
      <vt:lpstr>目录</vt:lpstr>
      <vt:lpstr>观测研究(Observational Studies)</vt:lpstr>
      <vt:lpstr>非混杂性</vt:lpstr>
      <vt:lpstr>非混杂性</vt:lpstr>
      <vt:lpstr>非混杂性</vt:lpstr>
      <vt:lpstr>非混杂性</vt:lpstr>
      <vt:lpstr>非混杂性</vt:lpstr>
      <vt:lpstr>分层</vt:lpstr>
      <vt:lpstr>回归</vt:lpstr>
      <vt:lpstr>回归</vt:lpstr>
      <vt:lpstr>回归</vt:lpstr>
      <vt:lpstr>回归</vt:lpstr>
      <vt:lpstr>回归</vt:lpstr>
      <vt:lpstr>回归</vt:lpstr>
      <vt:lpstr>使用倾向得分</vt:lpstr>
      <vt:lpstr>使用倾向得分</vt:lpstr>
      <vt:lpstr>根据倾向得分分层</vt:lpstr>
      <vt:lpstr>IPW</vt:lpstr>
      <vt:lpstr>IPW</vt:lpstr>
      <vt:lpstr>平衡分数特征</vt:lpstr>
      <vt:lpstr>回归</vt:lpstr>
      <vt:lpstr>双重稳健估计量(Double robust estimator)</vt:lpstr>
      <vt:lpstr>双重稳健估计量(Double robust estimator)</vt:lpstr>
      <vt:lpstr>双重稳健估计量(Double robust estimator)</vt:lpstr>
      <vt:lpstr>双重稳健估计量(Double robust estimator)</vt:lpstr>
      <vt:lpstr>ATT 的识别</vt:lpstr>
      <vt:lpstr>分层</vt:lpstr>
      <vt:lpstr>回归</vt:lpstr>
      <vt:lpstr>加权</vt:lpstr>
      <vt:lpstr>加权</vt:lpstr>
      <vt:lpstr>匹配</vt:lpstr>
      <vt:lpstr>匹配</vt:lpstr>
      <vt:lpstr>匹配</vt:lpstr>
      <vt:lpstr>匹配：匹配估计量的统计性质</vt:lpstr>
      <vt:lpstr>匹配：匹配估计量的统计性质</vt:lpstr>
      <vt:lpstr>匹配(Matching) 偏差调整的匹配估计量</vt:lpstr>
      <vt:lpstr>匹配(Matching) 偏差调整的匹配估计量</vt:lpstr>
      <vt:lpstr>匹配(Matching) 偏差调整的匹配估计量</vt:lpstr>
      <vt:lpstr>匹配：匹配诊断</vt:lpstr>
      <vt:lpstr>匹配：核匹配估计量</vt:lpstr>
      <vt:lpstr>匹配：核匹配估计量</vt:lpstr>
      <vt:lpstr>匹配：核匹配估计量</vt:lpstr>
      <vt:lpstr>匹配：LaLonde 的实验数据(NSW)</vt:lpstr>
      <vt:lpstr>匹配：LaLonde 的实验数据(NSW)</vt:lpstr>
      <vt:lpstr>匹配：LaLonde 的实验数据(NSW)</vt:lpstr>
      <vt:lpstr>匹配作为一种设计方法</vt:lpstr>
      <vt:lpstr>匹配作为一种设计方法：精英大学的作用</vt:lpstr>
      <vt:lpstr>匹配作为一种设计方法：精英大学的作用</vt:lpstr>
      <vt:lpstr>匹配作为一种设计方法：精英大学的作用</vt:lpstr>
      <vt:lpstr>匹配作为一种设计方法：精英大学的作用</vt:lpstr>
      <vt:lpstr>匹配作为一种设计方法：精英大学的作用</vt:lpstr>
      <vt:lpstr>匹配 软件</vt:lpstr>
      <vt:lpstr>倾向得分匹配</vt:lpstr>
      <vt:lpstr>双重机器学习</vt:lpstr>
      <vt:lpstr>双重机器学习</vt:lpstr>
      <vt:lpstr>双重机器学习</vt:lpstr>
      <vt:lpstr>双重机器学习</vt:lpstr>
      <vt:lpstr>双重机器学习</vt:lpstr>
      <vt:lpstr>双重机器学习</vt:lpstr>
      <vt:lpstr>敏感性分析</vt:lpstr>
      <vt:lpstr>敏感性分析</vt:lpstr>
      <vt:lpstr>敏感性分析</vt:lpstr>
      <vt:lpstr>敏感性分析</vt:lpstr>
      <vt:lpstr>敏感性分析</vt:lpstr>
      <vt:lpstr>敏感性分析</vt:lpstr>
      <vt:lpstr>敏感性分析</vt:lpstr>
      <vt:lpstr>敏感性分析</vt:lpstr>
      <vt:lpstr>非混杂性假设检验</vt:lpstr>
      <vt:lpstr>总结</vt:lpstr>
      <vt:lpstr>参考文献</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Xiliang ZHAO</dc:creator>
  <cp:lastModifiedBy>Xiliang ZHAO</cp:lastModifiedBy>
  <cp:revision>47</cp:revision>
  <dcterms:created xsi:type="dcterms:W3CDTF">2026-08-07T12:10:34Z</dcterms:created>
  <dcterms:modified xsi:type="dcterms:W3CDTF">2026-08-24T08:51:03Z</dcterms:modified>
</cp:coreProperties>
</file>
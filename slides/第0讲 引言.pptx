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7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3004A-1035-4AD2-BC4A-DB230EAABF41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5C349-FD8F-4A61-B7BE-408729C94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4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15A7-CEAA-43FE-A0C6-C344D2E1C420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9CB9-29D0-4350-825D-C0AA5096F718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35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CF1F-4D82-4E39-A2A2-35E2A1D1799F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82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3615-B586-42F4-9872-6C720AA0F56E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5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A3562-2CF1-4137-BC7A-0E1D3AD82A62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9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C70-57B0-4FDE-A935-0B961BFE496D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AC03-C0A7-4889-9992-72A6D2628D14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72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54344-EBCE-46E1-8116-31474348F6BE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8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E525-4771-468B-A8FB-DAB2047A4270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65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E2B5-2348-4A45-A5B7-02B2B64364E4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5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BAB9-886B-4640-A228-FB1A92425BDE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96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4183-C876-422B-881A-B6A8D40A16EE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4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usalml-book.org/" TargetMode="External"/><Relationship Id="rId2" Type="http://schemas.openxmlformats.org/officeDocument/2006/relationships/hyperlink" Target="https://arxiv.org/pdf/2305.1879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F542B-61BF-B3F0-4BDA-74B0A6C6C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绪论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648F99-2379-85D3-FB13-E8F0CF2C4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赵西亮</a:t>
            </a:r>
            <a:endParaRPr lang="en-US" altLang="zh-CN" dirty="0"/>
          </a:p>
          <a:p>
            <a:r>
              <a:rPr lang="zh-CN" altLang="en-US" dirty="0"/>
              <a:t>厦门大学经济学院</a:t>
            </a:r>
            <a:endParaRPr lang="en-US" altLang="zh-CN" dirty="0"/>
          </a:p>
          <a:p>
            <a:r>
              <a:rPr lang="zh-CN" altLang="en-US" dirty="0"/>
              <a:t>王亚南经济研究院</a:t>
            </a:r>
          </a:p>
        </p:txBody>
      </p:sp>
    </p:spTree>
    <p:extLst>
      <p:ext uri="{BB962C8B-B14F-4D97-AF65-F5344CB8AC3E}">
        <p14:creationId xmlns:p14="http://schemas.microsoft.com/office/powerpoint/2010/main" val="38299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EEAF5-9404-7B6C-8086-1F506EAD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156BCE-57E1-EB8B-4679-998A8FD76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课程说明</a:t>
            </a:r>
            <a:endParaRPr lang="en-US" altLang="zh-CN" dirty="0"/>
          </a:p>
          <a:p>
            <a:r>
              <a:rPr lang="zh-CN" altLang="en-US" dirty="0"/>
              <a:t>参考教材</a:t>
            </a:r>
            <a:endParaRPr lang="en-US" altLang="zh-CN" dirty="0"/>
          </a:p>
          <a:p>
            <a:r>
              <a:rPr lang="zh-CN" altLang="en-US" dirty="0"/>
              <a:t>两种计量研究范式</a:t>
            </a:r>
            <a:endParaRPr lang="en-US" altLang="zh-CN" dirty="0"/>
          </a:p>
          <a:p>
            <a:r>
              <a:rPr lang="zh-CN" altLang="en-US" dirty="0"/>
              <a:t>计量经济学的两个层面</a:t>
            </a:r>
            <a:endParaRPr lang="en-US" altLang="zh-CN" dirty="0"/>
          </a:p>
          <a:p>
            <a:r>
              <a:rPr lang="zh-CN" altLang="en-US"/>
              <a:t>课程计划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2E8418-D376-5AB9-6CF8-6A194404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52DF4D-F933-4B69-9BFE-1B91455D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446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AEE7-F033-0428-47C3-7C5F38993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F1366-2225-E4FE-E0E0-DCBE35AC7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因果推断，或基于设计的计量</a:t>
            </a:r>
            <a:r>
              <a:rPr lang="en-US" altLang="zh-CN" dirty="0"/>
              <a:t>(design-based approach)</a:t>
            </a:r>
          </a:p>
          <a:p>
            <a:r>
              <a:rPr lang="zh-CN" altLang="en-US" dirty="0"/>
              <a:t>教学目的：能读懂顶刊实证论文，能够进行实证研究。</a:t>
            </a:r>
            <a:endParaRPr lang="en-US" altLang="zh-CN" dirty="0"/>
          </a:p>
          <a:p>
            <a:r>
              <a:rPr lang="zh-CN" altLang="en-US" dirty="0"/>
              <a:t>内容：</a:t>
            </a:r>
          </a:p>
          <a:p>
            <a:pPr lvl="1"/>
            <a:r>
              <a:rPr lang="zh-CN" altLang="en-US" dirty="0"/>
              <a:t>统计推断：线性回归、机器学习、非参数回归</a:t>
            </a:r>
          </a:p>
          <a:p>
            <a:pPr lvl="1"/>
            <a:r>
              <a:rPr lang="zh-CN" altLang="en-US" dirty="0"/>
              <a:t>潜在结果框架、随机化实验、因果图</a:t>
            </a:r>
          </a:p>
          <a:p>
            <a:pPr lvl="1"/>
            <a:r>
              <a:rPr lang="zh-CN" altLang="en-US" dirty="0"/>
              <a:t>匹配、工具变量、双重差分（合成控制）、断点回归设计</a:t>
            </a:r>
          </a:p>
          <a:p>
            <a:pPr lvl="1"/>
            <a:r>
              <a:rPr lang="zh-CN" altLang="en-US" dirty="0"/>
              <a:t>因果中介分析</a:t>
            </a:r>
          </a:p>
          <a:p>
            <a:pPr lvl="1"/>
            <a:r>
              <a:rPr lang="zh-CN" altLang="en-US" dirty="0"/>
              <a:t>软件：</a:t>
            </a:r>
            <a:r>
              <a:rPr lang="en-US" altLang="zh-CN" dirty="0"/>
              <a:t>Stata(</a:t>
            </a:r>
            <a:r>
              <a:rPr lang="zh-CN" altLang="en-US" dirty="0"/>
              <a:t>学院</a:t>
            </a:r>
            <a:r>
              <a:rPr lang="en-US" altLang="zh-CN" dirty="0"/>
              <a:t>HPC)</a:t>
            </a:r>
            <a:r>
              <a:rPr lang="zh-CN" altLang="en-US" dirty="0"/>
              <a:t>。鼓励学习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Julia </a:t>
            </a:r>
            <a:r>
              <a:rPr lang="zh-CN" altLang="en-US" dirty="0"/>
              <a:t>等免费软件。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DFB288-DB65-ADF3-EA3B-6D4B5FD1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D86B50-247B-7658-ED5F-7C493BFB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248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9C12B-206C-71E0-60B4-808F60C6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参考教材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A6D926-6487-1466-837F-337830042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err="1"/>
              <a:t>Imbens</a:t>
            </a:r>
            <a:r>
              <a:rPr lang="en-US" altLang="zh-CN" dirty="0"/>
              <a:t> and Rubin (2015), Causal Inference for Statistics, Social and Biomedical Science: An Introduction, Cambridge University Press.</a:t>
            </a:r>
          </a:p>
          <a:p>
            <a:r>
              <a:rPr lang="en-US" altLang="zh-CN" dirty="0"/>
              <a:t>Ding, Peng (2024). A first course in causal inference. CRC Press. </a:t>
            </a:r>
            <a:r>
              <a:rPr lang="en-US" altLang="zh-CN" dirty="0">
                <a:hlinkClick r:id="rId2"/>
              </a:rPr>
              <a:t>https://arxiv.org/pdf/2305.18793</a:t>
            </a:r>
            <a:endParaRPr lang="en-US" altLang="zh-CN" dirty="0"/>
          </a:p>
          <a:p>
            <a:r>
              <a:rPr lang="en-US" altLang="zh-CN" dirty="0" err="1"/>
              <a:t>Chernozhukov</a:t>
            </a:r>
            <a:r>
              <a:rPr lang="en-US" altLang="zh-CN" dirty="0"/>
              <a:t>, C., C. Hansen, N. Kallus, M. Spindler, and V. </a:t>
            </a:r>
            <a:r>
              <a:rPr lang="en-US" altLang="zh-CN" dirty="0" err="1"/>
              <a:t>Syrgkanis</a:t>
            </a:r>
            <a:r>
              <a:rPr lang="en-US" altLang="zh-CN" dirty="0"/>
              <a:t>. (2024), Applied Causal Inference Powered by ML and AI, </a:t>
            </a:r>
            <a:r>
              <a:rPr lang="en-US" altLang="zh-CN" dirty="0">
                <a:hlinkClick r:id="rId3"/>
              </a:rPr>
              <a:t>https://www.causalml-book</a:t>
            </a:r>
            <a:r>
              <a:rPr lang="en-US" altLang="zh-CN">
                <a:hlinkClick r:id="rId3"/>
              </a:rPr>
              <a:t>.org</a:t>
            </a:r>
            <a:endParaRPr lang="en-US" altLang="zh-CN"/>
          </a:p>
          <a:p>
            <a:r>
              <a:rPr lang="en-US" altLang="zh-CN"/>
              <a:t>Angrist </a:t>
            </a:r>
            <a:r>
              <a:rPr lang="en-US" altLang="zh-CN" dirty="0"/>
              <a:t>and Pischke (2009), Mostly Harmless Econometrics: Empiricist’s Companion, Princeton University Press.</a:t>
            </a:r>
          </a:p>
          <a:p>
            <a:r>
              <a:rPr lang="zh-CN" altLang="en-US" dirty="0"/>
              <a:t>赵西亮，</a:t>
            </a:r>
            <a:r>
              <a:rPr lang="en-US" altLang="zh-CN" dirty="0"/>
              <a:t>《</a:t>
            </a:r>
            <a:r>
              <a:rPr lang="zh-CN" altLang="en-US" dirty="0"/>
              <a:t>基本设计的计量经济学</a:t>
            </a:r>
            <a:r>
              <a:rPr lang="en-US" altLang="zh-CN" dirty="0"/>
              <a:t>》</a:t>
            </a:r>
            <a:r>
              <a:rPr lang="zh-CN" altLang="en-US" dirty="0"/>
              <a:t>，北京大学出版社，</a:t>
            </a:r>
            <a:r>
              <a:rPr lang="en-US" altLang="zh-CN" dirty="0"/>
              <a:t>2026.7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19B500-6F1C-0785-03A7-94C0D75FB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09F0F0-2569-667F-FCC6-25BF6AF8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03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56DE6-1DC8-FFC0-CA86-E2E1BDDC3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两种计量研究范式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1BB04-999C-E173-511D-44F580959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结构计量</a:t>
            </a:r>
            <a:r>
              <a:rPr lang="en-US" altLang="zh-CN" dirty="0"/>
              <a:t>(structural econometrics)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也称为模型为基础的方法</a:t>
            </a:r>
            <a:r>
              <a:rPr lang="en-US" altLang="zh-CN" dirty="0"/>
              <a:t>(model-based approach, MBA)</a:t>
            </a:r>
          </a:p>
          <a:p>
            <a:pPr lvl="1"/>
            <a:r>
              <a:rPr lang="zh-CN" altLang="en-US" dirty="0"/>
              <a:t>根据经济理论建立起来的，通常利用线性结构方程组或联立方程组</a:t>
            </a:r>
            <a:r>
              <a:rPr lang="en-US" altLang="zh-CN" dirty="0"/>
              <a:t>(SEM) </a:t>
            </a:r>
            <a:r>
              <a:rPr lang="zh-CN" altLang="en-US" dirty="0"/>
              <a:t>构建</a:t>
            </a:r>
          </a:p>
          <a:p>
            <a:pPr lvl="1"/>
            <a:r>
              <a:rPr lang="zh-CN" altLang="en-US" dirty="0"/>
              <a:t>接近于科学方法：根据观察提出理论</a:t>
            </a:r>
            <a:r>
              <a:rPr lang="zh-CN" altLang="en-US" i="1" dirty="0"/>
              <a:t>→ </a:t>
            </a:r>
            <a:r>
              <a:rPr lang="zh-CN" altLang="en-US" dirty="0"/>
              <a:t>根据理论建立模型</a:t>
            </a:r>
            <a:r>
              <a:rPr lang="zh-CN" altLang="en-US" i="1" dirty="0"/>
              <a:t>→ </a:t>
            </a:r>
            <a:r>
              <a:rPr lang="zh-CN" altLang="en-US" dirty="0"/>
              <a:t>估计参数，进行预测、评估和福利分析</a:t>
            </a:r>
          </a:p>
          <a:p>
            <a:pPr lvl="1"/>
            <a:r>
              <a:rPr lang="en-US" altLang="zh-CN" dirty="0"/>
              <a:t>20 </a:t>
            </a:r>
            <a:r>
              <a:rPr lang="zh-CN" altLang="en-US" dirty="0"/>
              <a:t>世纪</a:t>
            </a:r>
            <a:r>
              <a:rPr lang="en-US" altLang="zh-CN" dirty="0"/>
              <a:t>30 </a:t>
            </a:r>
            <a:r>
              <a:rPr lang="zh-CN" altLang="en-US" dirty="0"/>
              <a:t>年代发展起来，</a:t>
            </a:r>
            <a:r>
              <a:rPr lang="en-US" altLang="zh-CN" dirty="0"/>
              <a:t>70 </a:t>
            </a:r>
            <a:r>
              <a:rPr lang="zh-CN" altLang="en-US" dirty="0"/>
              <a:t>年代是鼎盛，宏观计量模型用于宏观经济预测</a:t>
            </a:r>
          </a:p>
          <a:p>
            <a:pPr lvl="1"/>
            <a:r>
              <a:rPr lang="en-US" altLang="zh-CN" dirty="0"/>
              <a:t>70 </a:t>
            </a:r>
            <a:r>
              <a:rPr lang="zh-CN" altLang="en-US" dirty="0"/>
              <a:t>年代西方石油危机，结构计量不再用于经济预测，而只转向检验经济模型</a:t>
            </a:r>
          </a:p>
          <a:p>
            <a:pPr lvl="1"/>
            <a:r>
              <a:rPr lang="zh-CN" altLang="en-US" dirty="0"/>
              <a:t>但结构计量中留下来的很多术语，仍然在使用</a:t>
            </a:r>
          </a:p>
          <a:p>
            <a:pPr lvl="1"/>
            <a:r>
              <a:rPr lang="zh-CN" altLang="en-US" dirty="0"/>
              <a:t>反向工程</a:t>
            </a:r>
            <a:endParaRPr lang="en-US" altLang="zh-CN" dirty="0"/>
          </a:p>
          <a:p>
            <a:r>
              <a:rPr lang="zh-CN" altLang="en-US" dirty="0"/>
              <a:t>简约计量</a:t>
            </a:r>
            <a:r>
              <a:rPr lang="en-US" altLang="zh-CN" dirty="0"/>
              <a:t>(reduced-form approach)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后来，计量就转向单一方程模型（结构模型），不再建立联立方程组</a:t>
            </a:r>
          </a:p>
          <a:p>
            <a:pPr lvl="1"/>
            <a:r>
              <a:rPr lang="zh-CN" altLang="en-US" dirty="0"/>
              <a:t>注重利用外生的自然实验来识别因果效应</a:t>
            </a:r>
          </a:p>
          <a:p>
            <a:pPr lvl="1"/>
            <a:r>
              <a:rPr lang="zh-CN" altLang="en-US" dirty="0"/>
              <a:t>在因果推断中，甚至不引入单一方程，关注识别条件的讨论和研究设计</a:t>
            </a:r>
          </a:p>
          <a:p>
            <a:pPr lvl="1"/>
            <a:r>
              <a:rPr lang="zh-CN" altLang="en-US" dirty="0"/>
              <a:t>因而，也称为以设计为基础的计量</a:t>
            </a:r>
            <a:r>
              <a:rPr lang="en-US" altLang="zh-CN" dirty="0"/>
              <a:t>(design-based approach, DBA)</a:t>
            </a:r>
          </a:p>
          <a:p>
            <a:pPr lvl="1"/>
            <a:r>
              <a:rPr lang="zh-CN" altLang="en-US" dirty="0"/>
              <a:t>前向工程方法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AE7D02-24E6-C7AE-7481-B9354F18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C9F622-33A6-2E62-262E-3057C52C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3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AE02F-DA92-5EF0-DB28-91D6521FF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结构计量和简约式计量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E9120C-015F-1D0F-1709-87A025F12B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291397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简单的结构式模型</a:t>
                </a:r>
                <a:r>
                  <a:rPr lang="en-US" altLang="zh-CN" dirty="0"/>
                  <a:t>(structural form)</a:t>
                </a:r>
                <a:r>
                  <a:rPr lang="zh-CN" altLang="en-US" dirty="0"/>
                  <a:t>：根据经济理论建立的（线性结构）模型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𝑏𝑃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𝑐𝐼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(1)</m:t>
                          </m:r>
                        </m:e>
                        <m:e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𝑒𝑃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𝑓𝑊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(2)</m:t>
                          </m:r>
                        </m:e>
                        <m:e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(3)</m:t>
                          </m:r>
                        </m:e>
                      </m:eqAr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i="1" dirty="0"/>
                  <a:t> </a:t>
                </a:r>
                <a:r>
                  <a:rPr lang="zh-CN" altLang="en-US" dirty="0"/>
                  <a:t>表示商品需求量和商品供给量，</a:t>
                </a:r>
                <a:r>
                  <a:rPr lang="en-US" altLang="zh-CN" i="1" dirty="0"/>
                  <a:t>P </a:t>
                </a:r>
                <a:r>
                  <a:rPr lang="zh-CN" altLang="en-US" dirty="0"/>
                  <a:t>是商品价格，</a:t>
                </a:r>
                <a:r>
                  <a:rPr lang="en-US" altLang="zh-CN" i="1" dirty="0"/>
                  <a:t>I </a:t>
                </a:r>
                <a:r>
                  <a:rPr lang="zh-CN" altLang="en-US" dirty="0"/>
                  <a:t>是消费者收入，</a:t>
                </a:r>
                <a:r>
                  <a:rPr lang="en-US" altLang="zh-CN" i="1" dirty="0"/>
                  <a:t>W </a:t>
                </a:r>
                <a:r>
                  <a:rPr lang="zh-CN" altLang="en-US" dirty="0"/>
                  <a:t>是天气情况。</a:t>
                </a:r>
                <a:r>
                  <a:rPr lang="en-US" altLang="zh-CN" i="1" dirty="0"/>
                  <a:t>a, b, c, d, e, f </a:t>
                </a:r>
                <a:r>
                  <a:rPr lang="zh-CN" altLang="en-US" dirty="0"/>
                  <a:t>是结构式参数，反映的是因果效应，比如</a:t>
                </a:r>
                <a:r>
                  <a:rPr lang="en-US" altLang="zh-CN" i="1" dirty="0"/>
                  <a:t>b </a:t>
                </a:r>
                <a:r>
                  <a:rPr lang="zh-CN" altLang="en-US" dirty="0"/>
                  <a:t>表示价格上升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单位，需求变化</a:t>
                </a:r>
                <a:r>
                  <a:rPr lang="en-US" altLang="zh-CN" i="1" dirty="0"/>
                  <a:t>b </a:t>
                </a:r>
                <a:r>
                  <a:rPr lang="zh-CN" altLang="en-US" dirty="0"/>
                  <a:t>单位。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上述结构式的供求方程不能用</a:t>
                </a:r>
                <a:r>
                  <a:rPr lang="en-US" altLang="zh-CN" dirty="0"/>
                  <a:t>OLS </a:t>
                </a:r>
                <a:r>
                  <a:rPr lang="zh-CN" altLang="en-US" dirty="0"/>
                  <a:t>直接估计，因为</a:t>
                </a:r>
                <a:r>
                  <a:rPr lang="en-US" altLang="zh-CN" i="1" dirty="0"/>
                  <a:t>ε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和</a:t>
                </a:r>
                <a:r>
                  <a:rPr lang="en-US" altLang="zh-CN" i="1" dirty="0"/>
                  <a:t>ε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和</a:t>
                </a:r>
                <a:r>
                  <a:rPr lang="en-US" altLang="zh-CN" i="1" dirty="0"/>
                  <a:t>P </a:t>
                </a:r>
                <a:r>
                  <a:rPr lang="zh-CN" altLang="en-US" dirty="0"/>
                  <a:t>是相关的：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            (4)</m:t>
                          </m:r>
                        </m:e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𝑎𝑒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𝑏𝑑</m:t>
                              </m:r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𝑏𝑓</m:t>
                              </m:r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sSub>
                                <m:sSub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    (5)</m:t>
                          </m:r>
                        </m:e>
                      </m:eqAr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上式称为简化式</a:t>
                </a:r>
                <a:r>
                  <a:rPr lang="en-US" altLang="zh-CN" dirty="0"/>
                  <a:t>(reduced form)</a:t>
                </a:r>
                <a:r>
                  <a:rPr lang="zh-CN" altLang="en-US" dirty="0"/>
                  <a:t>，简化式可以直接用</a:t>
                </a:r>
                <a:r>
                  <a:rPr lang="en-US" altLang="zh-CN" dirty="0"/>
                  <a:t>OLS </a:t>
                </a:r>
                <a:r>
                  <a:rPr lang="zh-CN" altLang="en-US" dirty="0"/>
                  <a:t>估计：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            (6)</m:t>
                          </m:r>
                        </m:e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aln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2.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(7)</m:t>
                          </m:r>
                        </m:e>
                      </m:eqAr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E9120C-015F-1D0F-1709-87A025F12B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291397"/>
              </a:xfrm>
              <a:blipFill>
                <a:blip r:embed="rId2"/>
                <a:stretch>
                  <a:fillRect l="-309" t="-284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5F2928-C046-CAF5-B896-098673A8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21E1E7-438D-D09D-1076-90730255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13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5ED38-4665-CE8E-2C53-3279A8F62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结构计量和简约式计量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1137639-E252-27A1-197F-E542131702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895851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内生性、外生性概念来自于</a:t>
                </a:r>
                <a:r>
                  <a:rPr lang="en-US" altLang="zh-CN" dirty="0"/>
                  <a:t>SEM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关于简约式方法：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/>
                  <a:t>(6)(7)</a:t>
                </a:r>
                <a:r>
                  <a:rPr lang="zh-CN" altLang="en-US" dirty="0"/>
                  <a:t>：左手边为内生变量，右手边为外生变量，称为简化式。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简约式计量：只从单一方程出发，比如想估计需求函数</a:t>
                </a:r>
                <a:r>
                  <a:rPr lang="en-US" altLang="zh-CN" dirty="0"/>
                  <a:t>(41) </a:t>
                </a:r>
                <a:r>
                  <a:rPr lang="zh-CN" altLang="en-US" dirty="0"/>
                  <a:t>或需求系数</a:t>
                </a:r>
                <a:r>
                  <a:rPr lang="en-US" altLang="zh-CN" i="1" dirty="0"/>
                  <a:t>b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𝑏𝑃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𝑐𝐼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存在内生性问题，想办法识别</a:t>
                </a:r>
                <a:r>
                  <a:rPr lang="en-US" altLang="zh-CN" i="1" dirty="0"/>
                  <a:t>b</a:t>
                </a:r>
                <a:r>
                  <a:rPr lang="zh-CN" altLang="en-US" dirty="0"/>
                  <a:t>，上式仍然代表了结构方程，但不建立</a:t>
                </a:r>
                <a:r>
                  <a:rPr lang="en-US" altLang="zh-CN" dirty="0"/>
                  <a:t>SEM</a:t>
                </a:r>
                <a:r>
                  <a:rPr lang="zh-CN" altLang="en-US" dirty="0"/>
                  <a:t>，不关心供给方程或供给弹性。比如通过引入工具变量</a:t>
                </a:r>
                <a:r>
                  <a:rPr lang="en-US" altLang="zh-CN" i="1" dirty="0"/>
                  <a:t>W</a:t>
                </a:r>
                <a:r>
                  <a:rPr lang="zh-CN" altLang="en-US" dirty="0"/>
                  <a:t>，可以识别</a:t>
                </a:r>
                <a:r>
                  <a:rPr lang="en-US" altLang="zh-CN" i="1" dirty="0"/>
                  <a:t>b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以设计为基础的计量</a:t>
                </a:r>
                <a:r>
                  <a:rPr lang="en-US" altLang="zh-CN" dirty="0"/>
                  <a:t>(design-based approach)</a:t>
                </a:r>
                <a:r>
                  <a:rPr lang="zh-CN" altLang="en-US" dirty="0"/>
                  <a:t>，甚至没有结构方程，定义清楚目标参数，利用模拟实验的思路估计目标参数。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简约式方法可以分成两种类型：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单方程计量经济学：以单一结构方程为基础，强调利用外生自然实验识别因果效应，经济学实证中常用方法，那里引入的线性模型是结构模型。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以设计为基础的计量经济学，以随机化实验作为基础，强调研究设计，是因果推断的内容，可以不引入结构方程。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这两种类型一般均可以称为简约式计量</a:t>
                </a:r>
                <a:r>
                  <a:rPr lang="en-US" altLang="zh-CN" dirty="0"/>
                  <a:t>(reduced-form approach)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要区别结构方程和估计方程：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结构方程描述的是因果关系（可能是假设的）。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线性回归是参数估计方法，本身不涉及因果。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1137639-E252-27A1-197F-E542131702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895851"/>
              </a:xfrm>
              <a:blipFill>
                <a:blip r:embed="rId2"/>
                <a:stretch>
                  <a:fillRect l="-232" t="-2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C4A0C1-D5AD-FF02-0AC5-0298C5C8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8A9839-F5D3-D86B-82E9-853A0C5C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48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6F40E-06A0-EEAC-CAC6-0C17D06E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结构计量和简约式计量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207F96-E9A1-483E-70D4-E0A2D01B5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>
            <a:normAutofit fontScale="62500" lnSpcReduction="20000"/>
          </a:bodyPr>
          <a:lstStyle/>
          <a:p>
            <a:r>
              <a:rPr lang="zh-CN" altLang="en-US" dirty="0"/>
              <a:t>结构计量</a:t>
            </a:r>
            <a:r>
              <a:rPr lang="en-US" altLang="zh-CN" dirty="0"/>
              <a:t>(model-based approach)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范式：观察</a:t>
            </a:r>
            <a:r>
              <a:rPr lang="en-US" altLang="zh-CN" dirty="0"/>
              <a:t>——</a:t>
            </a:r>
            <a:r>
              <a:rPr lang="zh-CN" altLang="en-US" dirty="0"/>
              <a:t>构造理论模型</a:t>
            </a:r>
            <a:r>
              <a:rPr lang="en-US" altLang="zh-CN" dirty="0"/>
              <a:t>——</a:t>
            </a:r>
            <a:r>
              <a:rPr lang="zh-CN" altLang="en-US" dirty="0"/>
              <a:t>利用函数和分布假设识别参数。</a:t>
            </a:r>
          </a:p>
          <a:p>
            <a:pPr lvl="1"/>
            <a:r>
              <a:rPr lang="zh-CN" altLang="en-US" dirty="0"/>
              <a:t>好处：描述了整个经济系数的因果关系，可以进行政策评估、预测和外推评估。</a:t>
            </a:r>
            <a:r>
              <a:rPr lang="en-US" altLang="zh-CN" dirty="0"/>
              <a:t>Heckman (2005) </a:t>
            </a:r>
            <a:r>
              <a:rPr lang="zh-CN" altLang="en-US" dirty="0"/>
              <a:t>提出政策评估包括三种情况：已经发生的政策；在一个地区发生的政策应用在另一个地区的评估；从未发生的政策的评估。结构计量对于这三种政策都可以做。</a:t>
            </a:r>
          </a:p>
          <a:p>
            <a:pPr lvl="1"/>
            <a:r>
              <a:rPr lang="zh-CN" altLang="en-US" dirty="0"/>
              <a:t>坏处：依赖于函数形式（通常假设线性）和分布假设，存在模型误设的风险，或存在预测误差和评估偏差，实证结果不可信的问题。</a:t>
            </a:r>
            <a:endParaRPr lang="en-US" altLang="zh-CN" dirty="0"/>
          </a:p>
          <a:p>
            <a:r>
              <a:rPr lang="zh-CN" altLang="en-US" dirty="0"/>
              <a:t>简约计量</a:t>
            </a:r>
            <a:r>
              <a:rPr lang="en-US" altLang="zh-CN" dirty="0"/>
              <a:t>(design-based approach)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范式：定义目标参数</a:t>
            </a:r>
            <a:r>
              <a:rPr lang="en-US" altLang="zh-CN" dirty="0"/>
              <a:t>——</a:t>
            </a:r>
            <a:r>
              <a:rPr lang="zh-CN" altLang="en-US" dirty="0"/>
              <a:t>引入识别条件</a:t>
            </a:r>
            <a:r>
              <a:rPr lang="en-US" altLang="zh-CN" dirty="0"/>
              <a:t>——</a:t>
            </a:r>
            <a:r>
              <a:rPr lang="zh-CN" altLang="en-US" dirty="0"/>
              <a:t>估计参数。</a:t>
            </a:r>
          </a:p>
          <a:p>
            <a:pPr lvl="1"/>
            <a:r>
              <a:rPr lang="zh-CN" altLang="en-US" dirty="0"/>
              <a:t>好处：通常不引入函数形式和分布假设，估计结果更可信。</a:t>
            </a:r>
          </a:p>
          <a:p>
            <a:pPr lvl="1"/>
            <a:r>
              <a:rPr lang="zh-CN" altLang="en-US" dirty="0"/>
              <a:t>坏处：只能评估已经发生的政策，不能外推或转移评估（一个地区政策应用到一个新的地区）。</a:t>
            </a:r>
            <a:endParaRPr lang="en-US" altLang="zh-CN" dirty="0"/>
          </a:p>
          <a:p>
            <a:r>
              <a:rPr lang="zh-CN" altLang="en-US" dirty="0"/>
              <a:t>区别</a:t>
            </a:r>
            <a:endParaRPr lang="en-US" altLang="zh-CN" dirty="0"/>
          </a:p>
          <a:p>
            <a:pPr lvl="1"/>
            <a:r>
              <a:rPr lang="zh-CN" altLang="en-US" dirty="0"/>
              <a:t>目标参数：</a:t>
            </a:r>
            <a:r>
              <a:rPr lang="en-US" altLang="zh-CN" dirty="0"/>
              <a:t>MBA </a:t>
            </a:r>
            <a:r>
              <a:rPr lang="zh-CN" altLang="en-US" dirty="0"/>
              <a:t>中直接由系数定义，</a:t>
            </a:r>
            <a:r>
              <a:rPr lang="en-US" altLang="zh-CN" dirty="0"/>
              <a:t>DBA </a:t>
            </a:r>
            <a:r>
              <a:rPr lang="zh-CN" altLang="en-US" dirty="0"/>
              <a:t>中要用潜在结果定义</a:t>
            </a:r>
          </a:p>
          <a:p>
            <a:pPr lvl="1"/>
            <a:r>
              <a:rPr lang="zh-CN" altLang="en-US" dirty="0"/>
              <a:t>识别：</a:t>
            </a:r>
            <a:r>
              <a:rPr lang="en-US" altLang="zh-CN" dirty="0"/>
              <a:t>MBA </a:t>
            </a:r>
            <a:r>
              <a:rPr lang="zh-CN" altLang="en-US" dirty="0"/>
              <a:t>用函数形式和误差项分布假设识别参数，</a:t>
            </a:r>
            <a:r>
              <a:rPr lang="en-US" altLang="zh-CN" dirty="0"/>
              <a:t>DBA </a:t>
            </a:r>
            <a:r>
              <a:rPr lang="zh-CN" altLang="en-US" dirty="0"/>
              <a:t>利用自然实验识别</a:t>
            </a:r>
          </a:p>
          <a:p>
            <a:pPr lvl="1"/>
            <a:r>
              <a:rPr lang="zh-CN" altLang="en-US" dirty="0"/>
              <a:t>参数估计：</a:t>
            </a:r>
            <a:r>
              <a:rPr lang="en-US" altLang="zh-CN" dirty="0"/>
              <a:t>MBA </a:t>
            </a:r>
            <a:r>
              <a:rPr lang="zh-CN" altLang="en-US" dirty="0"/>
              <a:t>估计全部参数，</a:t>
            </a:r>
            <a:r>
              <a:rPr lang="en-US" altLang="zh-CN" dirty="0"/>
              <a:t>DBA </a:t>
            </a:r>
            <a:r>
              <a:rPr lang="zh-CN" altLang="en-US" dirty="0"/>
              <a:t>只估计部分参数</a:t>
            </a:r>
            <a:endParaRPr lang="en-US" altLang="zh-CN" dirty="0"/>
          </a:p>
          <a:p>
            <a:r>
              <a:rPr lang="zh-CN" altLang="en-US" dirty="0"/>
              <a:t>两种方法的结合：</a:t>
            </a:r>
            <a:r>
              <a:rPr lang="en-US" altLang="zh-CN" dirty="0"/>
              <a:t>Fehr and Goette (2007), Attanasio et al. (2012)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996D16-BA8E-C7A4-AC3F-D1D70A26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C7BED0-D873-C98D-CFF2-A563C486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71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825A6-0E5A-9DBB-C046-66887D68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计量经济学的两个层面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CFAE9-5388-66C8-4163-7CB7E723A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600" dirty="0"/>
              <a:t>因果推断：用（观测到的）相关关系推断（识别未观测的）因果关系，是实证研究的主要方面</a:t>
            </a:r>
            <a:r>
              <a:rPr lang="en-US" altLang="zh-CN" sz="1600" dirty="0"/>
              <a:t>(first-order)</a:t>
            </a:r>
            <a:r>
              <a:rPr lang="zh-CN" altLang="en-US" sz="1600" dirty="0"/>
              <a:t>。主要内容是识别和估计因果效应</a:t>
            </a:r>
            <a:r>
              <a:rPr lang="en-US" altLang="zh-CN" sz="1600" dirty="0"/>
              <a:t>(Causal Effects)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r>
              <a:rPr lang="zh-CN" altLang="en-US" sz="1600" dirty="0"/>
              <a:t>统计推断：用样本信息推断总体信息，是次要方面</a:t>
            </a:r>
            <a:r>
              <a:rPr lang="en-US" altLang="zh-CN" sz="1600" dirty="0"/>
              <a:t>(second-order)</a:t>
            </a:r>
            <a:r>
              <a:rPr lang="zh-CN" altLang="en-US" sz="1600" dirty="0"/>
              <a:t>。主要内容包括参数估计、假设检验、预测。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AADB98-0DC0-B2B5-660B-71A0176B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0086AF-D491-0E0B-D3B0-F216E08A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C9A23E-1D27-C145-B78E-3850F9FF3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09" y="3017347"/>
            <a:ext cx="6778581" cy="333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2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CA174-F808-4CF2-E76E-A435B859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F05FB8-CEE7-15A1-B7D7-747153931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先简单复习统计推断的知识</a:t>
            </a:r>
          </a:p>
          <a:p>
            <a:r>
              <a:rPr lang="zh-CN" altLang="en-US" dirty="0"/>
              <a:t>然后介绍因果推断</a:t>
            </a:r>
            <a:r>
              <a:rPr lang="en-US" altLang="zh-CN" dirty="0"/>
              <a:t>——</a:t>
            </a:r>
            <a:r>
              <a:rPr lang="zh-CN" altLang="en-US" dirty="0"/>
              <a:t>基于设计的计量</a:t>
            </a:r>
            <a:r>
              <a:rPr lang="en-US" altLang="zh-CN" dirty="0"/>
              <a:t>(DBA)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D4E11E-B50C-E162-EBC0-19FC8866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DB9AE3-71CB-1BE8-F7DC-78E22B5C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220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6E272-8A98-7027-2767-57F16C41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C0AB75-8516-4A3F-DE4F-9D3DB93A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300" dirty="0"/>
              <a:t>1. Angrist, Joshua D., and Jörn-Steffen Pischke. 2010. ”The Credibility Revolution in Empirical Economics How Better Research Design Is Taking the Con out of Econometrics.” Journal of Economic Perspectives, 24(2), 3-30.</a:t>
            </a:r>
          </a:p>
          <a:p>
            <a:r>
              <a:rPr lang="en-US" altLang="zh-CN" sz="1300" dirty="0"/>
              <a:t>2. Attanasio, O. P., </a:t>
            </a:r>
            <a:r>
              <a:rPr lang="en-US" altLang="zh-CN" sz="1300" dirty="0" err="1"/>
              <a:t>Meghir</a:t>
            </a:r>
            <a:r>
              <a:rPr lang="en-US" altLang="zh-CN" sz="1300" dirty="0"/>
              <a:t>, C., and Santiago, A. (2012). Education choices in Mexico: using a structural model and a randomized experiment to evaluate </a:t>
            </a:r>
            <a:r>
              <a:rPr lang="en-US" altLang="zh-CN" sz="1300" dirty="0" err="1"/>
              <a:t>Progresa</a:t>
            </a:r>
            <a:r>
              <a:rPr lang="en-US" altLang="zh-CN" sz="1300" dirty="0"/>
              <a:t>. The Review of Economic Studies, 79(1), 37-66.</a:t>
            </a:r>
          </a:p>
          <a:p>
            <a:r>
              <a:rPr lang="en-US" altLang="zh-CN" sz="1300" dirty="0"/>
              <a:t>3. Dehejia, R.H. and S. Wahba (1999), ”Causal Effects in Non-Experimental Studies: Re-Evaluating the Evaluation of Training Programs,” Journal of the American Statistical Association, vol. 94, 1053-1062.</a:t>
            </a:r>
          </a:p>
          <a:p>
            <a:r>
              <a:rPr lang="en-US" altLang="zh-CN" sz="1300" dirty="0"/>
              <a:t>4. Fehr, Ernst and Lorenz Goette, 2007. ”Do Workers Work More if Wages Are High? Evidence from a Randomized Field Experiment,” American Economic Review, American Economic Association, 97(1), 298-317.</a:t>
            </a:r>
          </a:p>
          <a:p>
            <a:r>
              <a:rPr lang="en-US" altLang="zh-CN" sz="1300" dirty="0"/>
              <a:t>5. </a:t>
            </a:r>
            <a:r>
              <a:rPr lang="en-US" altLang="zh-CN" sz="1300" dirty="0" err="1"/>
              <a:t>Imbens</a:t>
            </a:r>
            <a:r>
              <a:rPr lang="en-US" altLang="zh-CN" sz="1300" dirty="0"/>
              <a:t>, Guido W. 2010. ”Better LATE Than Nothing: Some Comments on Deaton (2009) and Heckman and Urzua (2009).” Journal of Economic Literature, 48(2), 399-423.</a:t>
            </a:r>
          </a:p>
          <a:p>
            <a:r>
              <a:rPr lang="en-US" altLang="zh-CN" sz="1300" dirty="0"/>
              <a:t>6. Keynes, J. M. (1940). On a method of statistical business-cycle research. A comment. The Economic Journal, 154-156.</a:t>
            </a:r>
          </a:p>
          <a:p>
            <a:r>
              <a:rPr lang="en-US" altLang="zh-CN" sz="1300" dirty="0"/>
              <a:t>7. Leamer, Edward E. (1983), “Let’s Take the Con Out of Econometrics”, The American Economic Review, 73(1), 31-43.</a:t>
            </a:r>
          </a:p>
          <a:p>
            <a:r>
              <a:rPr lang="en-US" altLang="zh-CN" sz="1300" dirty="0"/>
              <a:t>8. LaLonde , Robert J. (1986), “Evaluating the Econometric Evaluations of Training Programs with Experimental Data”, The American Economic Review, 76(4), 604-620.</a:t>
            </a:r>
          </a:p>
          <a:p>
            <a:r>
              <a:rPr lang="en-US" altLang="zh-CN" sz="1300" dirty="0"/>
              <a:t>9. Mogstad, Magne, and Alexander </a:t>
            </a:r>
            <a:r>
              <a:rPr lang="en-US" altLang="zh-CN" sz="1300" dirty="0" err="1"/>
              <a:t>Torgovitsky</a:t>
            </a:r>
            <a:r>
              <a:rPr lang="en-US" altLang="zh-CN" sz="1300" dirty="0"/>
              <a:t>. (2024). ”Instrumental Variables with Unobserved Heterogeneity in Treatment Effects”, NBER Working Paper No. w32927.</a:t>
            </a:r>
            <a:endParaRPr lang="zh-CN" altLang="en-US" sz="13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D06EA4-B4BB-D8B6-C8C8-037BF455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28147C-DE7F-AAE9-06DD-2EC938E3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284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宋体 Heavy"/>
        <a:cs typeface=""/>
      </a:majorFont>
      <a:minorFont>
        <a:latin typeface="Times New Roman"/>
        <a:ea typeface="思源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1320</TotalTime>
  <Words>2194</Words>
  <Application>Microsoft Office PowerPoint</Application>
  <PresentationFormat>全屏显示(4:3)</PresentationFormat>
  <Paragraphs>113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Cambria Math</vt:lpstr>
      <vt:lpstr>Times New Roman</vt:lpstr>
      <vt:lpstr>Office 主题​​</vt:lpstr>
      <vt:lpstr>绪论</vt:lpstr>
      <vt:lpstr>目录</vt:lpstr>
      <vt:lpstr>课程说明</vt:lpstr>
      <vt:lpstr>参考教材</vt:lpstr>
      <vt:lpstr>两种计量研究范式</vt:lpstr>
      <vt:lpstr>结构计量和简约式计量</vt:lpstr>
      <vt:lpstr>结构计量和简约式计量</vt:lpstr>
      <vt:lpstr>结构计量和简约式计量</vt:lpstr>
      <vt:lpstr>计量经济学的两个层面</vt:lpstr>
      <vt:lpstr>课程计划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Xiliang ZHAO</dc:creator>
  <cp:lastModifiedBy>Xiliang ZHAO</cp:lastModifiedBy>
  <cp:revision>29</cp:revision>
  <dcterms:created xsi:type="dcterms:W3CDTF">2026-08-07T12:10:34Z</dcterms:created>
  <dcterms:modified xsi:type="dcterms:W3CDTF">2026-08-15T14:46:21Z</dcterms:modified>
</cp:coreProperties>
</file>
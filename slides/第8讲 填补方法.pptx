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0" d="100"/>
          <a:sy n="60" d="100"/>
        </p:scale>
        <p:origin x="2126" y="3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F3004A-1035-4AD2-BC4A-DB230EAABF41}" type="datetimeFigureOut">
              <a:rPr lang="zh-CN" altLang="en-US" smtClean="0"/>
              <a:t>2026/8/25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55C349-FD8F-4A61-B7BE-408729C94B71}" type="slidenum">
              <a:rPr lang="zh-CN" altLang="en-US" smtClean="0"/>
              <a:t>‹#›</a:t>
            </a:fld>
            <a:endParaRPr lang="zh-CN" altLang="en-US"/>
          </a:p>
        </p:txBody>
      </p:sp>
    </p:spTree>
    <p:extLst>
      <p:ext uri="{BB962C8B-B14F-4D97-AF65-F5344CB8AC3E}">
        <p14:creationId xmlns:p14="http://schemas.microsoft.com/office/powerpoint/2010/main" val="56546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0"/>
            </a:lvl1pPr>
          </a:lstStyle>
          <a:p>
            <a:r>
              <a:rPr lang="zh-CN" altLang="en-US" dirty="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9A4515A7-CEAA-43FE-A0C6-C344D2E1C420}" type="datetime1">
              <a:rPr lang="zh-CN" altLang="en-US" smtClean="0"/>
              <a:t>2026/8/25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409680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fld id="{F1CD9CB9-29D0-4350-825D-C0AA5096F718}" type="datetime1">
              <a:rPr lang="zh-CN" altLang="en-US" smtClean="0"/>
              <a:t>2026/8/25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1112358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CDDCF1F-4D82-4E39-A2A2-35E2A1D1799F}" type="datetime1">
              <a:rPr lang="zh-CN" altLang="en-US" smtClean="0"/>
              <a:t>2026/8/25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2423829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A8DD3615-B586-42F4-9872-6C720AA0F56E}" type="datetime1">
              <a:rPr lang="zh-CN" altLang="en-US" smtClean="0"/>
              <a:t>2026/8/25</a:t>
            </a:fld>
            <a:endParaRPr lang="zh-CN" altLang="en-US"/>
          </a:p>
        </p:txBody>
      </p:sp>
      <p:sp>
        <p:nvSpPr>
          <p:cNvPr id="6" name="Footer Placeholder 5"/>
          <p:cNvSpPr>
            <a:spLocks noGrp="1"/>
          </p:cNvSpPr>
          <p:nvPr>
            <p:ph type="ftr" sz="quarter" idx="11"/>
          </p:nvPr>
        </p:nvSpPr>
        <p:spPr/>
        <p:txBody>
          <a:bodyPr/>
          <a:lstStyle/>
          <a:p>
            <a:r>
              <a:rPr lang="zh-CN" altLang="en-US"/>
              <a:t>ⓒ 赵西亮</a:t>
            </a:r>
          </a:p>
        </p:txBody>
      </p:sp>
      <p:sp>
        <p:nvSpPr>
          <p:cNvPr id="7" name="Slide Number Placeholder 6"/>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311557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6C0A3562-2CF1-4137-BC7A-0E1D3AD82A62}" type="datetime1">
              <a:rPr lang="zh-CN" altLang="en-US" smtClean="0"/>
              <a:t>2026/8/25</a:t>
            </a:fld>
            <a:endParaRPr lang="zh-CN" altLang="en-US"/>
          </a:p>
        </p:txBody>
      </p:sp>
      <p:sp>
        <p:nvSpPr>
          <p:cNvPr id="8" name="Footer Placeholder 7"/>
          <p:cNvSpPr>
            <a:spLocks noGrp="1"/>
          </p:cNvSpPr>
          <p:nvPr>
            <p:ph type="ftr" sz="quarter" idx="11"/>
          </p:nvPr>
        </p:nvSpPr>
        <p:spPr/>
        <p:txBody>
          <a:bodyPr/>
          <a:lstStyle/>
          <a:p>
            <a:r>
              <a:rPr lang="zh-CN" altLang="en-US"/>
              <a:t>ⓒ 赵西亮</a:t>
            </a:r>
          </a:p>
        </p:txBody>
      </p:sp>
      <p:sp>
        <p:nvSpPr>
          <p:cNvPr id="9" name="Slide Number Placeholder 8"/>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584099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3246C70-57B0-4FDE-A935-0B961BFE496D}" type="datetime1">
              <a:rPr lang="zh-CN" altLang="en-US" smtClean="0"/>
              <a:t>2026/8/25</a:t>
            </a:fld>
            <a:endParaRPr lang="zh-CN" altLang="en-US"/>
          </a:p>
        </p:txBody>
      </p:sp>
      <p:sp>
        <p:nvSpPr>
          <p:cNvPr id="4" name="Footer Placeholder 3"/>
          <p:cNvSpPr>
            <a:spLocks noGrp="1"/>
          </p:cNvSpPr>
          <p:nvPr>
            <p:ph type="ftr" sz="quarter" idx="11"/>
          </p:nvPr>
        </p:nvSpPr>
        <p:spPr/>
        <p:txBody>
          <a:bodyPr/>
          <a:lstStyle/>
          <a:p>
            <a:r>
              <a:rPr lang="zh-CN" altLang="en-US"/>
              <a:t>ⓒ 赵西亮</a:t>
            </a:r>
          </a:p>
        </p:txBody>
      </p:sp>
      <p:sp>
        <p:nvSpPr>
          <p:cNvPr id="5" name="Slide Number Placeholder 4"/>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267662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94AC03-C0A7-4889-9992-72A6D2628D14}" type="datetime1">
              <a:rPr lang="zh-CN" altLang="en-US" smtClean="0"/>
              <a:t>2026/8/25</a:t>
            </a:fld>
            <a:endParaRPr lang="zh-CN" altLang="en-US"/>
          </a:p>
        </p:txBody>
      </p:sp>
      <p:sp>
        <p:nvSpPr>
          <p:cNvPr id="3" name="Footer Placeholder 2"/>
          <p:cNvSpPr>
            <a:spLocks noGrp="1"/>
          </p:cNvSpPr>
          <p:nvPr>
            <p:ph type="ftr" sz="quarter" idx="11"/>
          </p:nvPr>
        </p:nvSpPr>
        <p:spPr/>
        <p:txBody>
          <a:bodyPr/>
          <a:lstStyle/>
          <a:p>
            <a:r>
              <a:rPr lang="zh-CN" altLang="en-US"/>
              <a:t>ⓒ 赵西亮</a:t>
            </a:r>
          </a:p>
        </p:txBody>
      </p:sp>
      <p:sp>
        <p:nvSpPr>
          <p:cNvPr id="4" name="Slide Number Placeholder 3"/>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4096729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F954344-EBCE-46E1-8116-31474348F6BE}" type="datetime1">
              <a:rPr lang="zh-CN" altLang="en-US" smtClean="0"/>
              <a:t>2026/8/25</a:t>
            </a:fld>
            <a:endParaRPr lang="zh-CN" altLang="en-US"/>
          </a:p>
        </p:txBody>
      </p:sp>
      <p:sp>
        <p:nvSpPr>
          <p:cNvPr id="6" name="Footer Placeholder 5"/>
          <p:cNvSpPr>
            <a:spLocks noGrp="1"/>
          </p:cNvSpPr>
          <p:nvPr>
            <p:ph type="ftr" sz="quarter" idx="11"/>
          </p:nvPr>
        </p:nvSpPr>
        <p:spPr/>
        <p:txBody>
          <a:bodyPr/>
          <a:lstStyle/>
          <a:p>
            <a:r>
              <a:rPr lang="zh-CN" altLang="en-US"/>
              <a:t>ⓒ 赵西亮</a:t>
            </a:r>
          </a:p>
        </p:txBody>
      </p:sp>
      <p:sp>
        <p:nvSpPr>
          <p:cNvPr id="7" name="Slide Number Placeholder 6"/>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1100183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E4BE525-4771-468B-A8FB-DAB2047A4270}" type="datetime1">
              <a:rPr lang="zh-CN" altLang="en-US" smtClean="0"/>
              <a:t>2026/8/25</a:t>
            </a:fld>
            <a:endParaRPr lang="zh-CN" altLang="en-US"/>
          </a:p>
        </p:txBody>
      </p:sp>
      <p:sp>
        <p:nvSpPr>
          <p:cNvPr id="6" name="Footer Placeholder 5"/>
          <p:cNvSpPr>
            <a:spLocks noGrp="1"/>
          </p:cNvSpPr>
          <p:nvPr>
            <p:ph type="ftr" sz="quarter" idx="11"/>
          </p:nvPr>
        </p:nvSpPr>
        <p:spPr/>
        <p:txBody>
          <a:bodyPr/>
          <a:lstStyle/>
          <a:p>
            <a:r>
              <a:rPr lang="zh-CN" altLang="en-US"/>
              <a:t>ⓒ 赵西亮</a:t>
            </a:r>
          </a:p>
        </p:txBody>
      </p:sp>
      <p:sp>
        <p:nvSpPr>
          <p:cNvPr id="7" name="Slide Number Placeholder 6"/>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2398654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188E2B5-2348-4A45-A5B7-02B2B64364E4}" type="datetime1">
              <a:rPr lang="zh-CN" altLang="en-US" smtClean="0"/>
              <a:t>2026/8/25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3404451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705BAB9-886B-4640-A228-FB1A92425BDE}" type="datetime1">
              <a:rPr lang="zh-CN" altLang="en-US" smtClean="0"/>
              <a:t>2026/8/25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509966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D44183-C876-422B-881A-B6A8D40A16EE}" type="datetime1">
              <a:rPr lang="zh-CN" altLang="en-US" smtClean="0"/>
              <a:t>2026/8/25</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 赵西亮</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15104984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8F58E5-B2B8-FEBB-8A41-24F534B6F746}"/>
              </a:ext>
            </a:extLst>
          </p:cNvPr>
          <p:cNvSpPr>
            <a:spLocks noGrp="1"/>
          </p:cNvSpPr>
          <p:nvPr>
            <p:ph type="ctrTitle"/>
          </p:nvPr>
        </p:nvSpPr>
        <p:spPr/>
        <p:txBody>
          <a:bodyPr/>
          <a:lstStyle/>
          <a:p>
            <a:r>
              <a:rPr lang="zh-CN" altLang="en-US" dirty="0"/>
              <a:t>缺失值填补方法</a:t>
            </a:r>
          </a:p>
        </p:txBody>
      </p:sp>
      <p:sp>
        <p:nvSpPr>
          <p:cNvPr id="3" name="副标题 2">
            <a:extLst>
              <a:ext uri="{FF2B5EF4-FFF2-40B4-BE49-F238E27FC236}">
                <a16:creationId xmlns:a16="http://schemas.microsoft.com/office/drawing/2014/main" id="{D2A12E75-A8A7-EF47-8BB0-5705F1BDB078}"/>
              </a:ext>
            </a:extLst>
          </p:cNvPr>
          <p:cNvSpPr>
            <a:spLocks noGrp="1"/>
          </p:cNvSpPr>
          <p:nvPr>
            <p:ph type="subTitle" idx="1"/>
          </p:nvPr>
        </p:nvSpPr>
        <p:spPr/>
        <p:txBody>
          <a:bodyPr/>
          <a:lstStyle/>
          <a:p>
            <a:r>
              <a:rPr lang="zh-CN" altLang="en-US" dirty="0"/>
              <a:t>赵西亮</a:t>
            </a:r>
            <a:endParaRPr lang="en-US" altLang="zh-CN" dirty="0"/>
          </a:p>
          <a:p>
            <a:r>
              <a:rPr lang="zh-CN" altLang="en-US" dirty="0"/>
              <a:t>厦门大学经济学院</a:t>
            </a:r>
            <a:endParaRPr lang="en-US" altLang="zh-CN" dirty="0"/>
          </a:p>
          <a:p>
            <a:r>
              <a:rPr lang="zh-CN" altLang="en-US" dirty="0"/>
              <a:t>王亚南经济研究院</a:t>
            </a:r>
          </a:p>
        </p:txBody>
      </p:sp>
    </p:spTree>
    <p:extLst>
      <p:ext uri="{BB962C8B-B14F-4D97-AF65-F5344CB8AC3E}">
        <p14:creationId xmlns:p14="http://schemas.microsoft.com/office/powerpoint/2010/main" val="4083691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FE0263-3E9F-871C-6CBB-5FE9A14268BD}"/>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7E4AC5FA-0F8B-7133-FC7C-04A961AE1A13}"/>
              </a:ext>
            </a:extLst>
          </p:cNvPr>
          <p:cNvSpPr>
            <a:spLocks noGrp="1"/>
          </p:cNvSpPr>
          <p:nvPr>
            <p:ph idx="1"/>
          </p:nvPr>
        </p:nvSpPr>
        <p:spPr/>
        <p:txBody>
          <a:bodyPr/>
          <a:lstStyle/>
          <a:p>
            <a:r>
              <a:rPr lang="zh-CN" altLang="en-US" dirty="0"/>
              <a:t>缺失值填补方法</a:t>
            </a:r>
            <a:r>
              <a:rPr lang="en-US" altLang="zh-CN" dirty="0"/>
              <a:t>(Imputation)</a:t>
            </a:r>
          </a:p>
          <a:p>
            <a:r>
              <a:rPr lang="zh-CN" altLang="en-US" dirty="0"/>
              <a:t>合成控制法</a:t>
            </a:r>
            <a:r>
              <a:rPr lang="en-US" altLang="zh-CN" dirty="0"/>
              <a:t>(Synthetic Control)</a:t>
            </a:r>
          </a:p>
          <a:p>
            <a:r>
              <a:rPr lang="zh-CN" altLang="en-US" dirty="0"/>
              <a:t>广义合成控制法</a:t>
            </a:r>
            <a:r>
              <a:rPr lang="en-US" altLang="zh-CN" dirty="0"/>
              <a:t>(Generalized Synthetic Control)</a:t>
            </a:r>
          </a:p>
          <a:p>
            <a:r>
              <a:rPr lang="zh-CN" altLang="en-US" dirty="0"/>
              <a:t>合成双重差分</a:t>
            </a:r>
            <a:r>
              <a:rPr lang="en-US" altLang="zh-CN" dirty="0"/>
              <a:t>(Synthetic Difference-in-differences)</a:t>
            </a:r>
            <a:endParaRPr lang="zh-CN" altLang="en-US" dirty="0"/>
          </a:p>
        </p:txBody>
      </p:sp>
      <p:sp>
        <p:nvSpPr>
          <p:cNvPr id="4" name="页脚占位符 3">
            <a:extLst>
              <a:ext uri="{FF2B5EF4-FFF2-40B4-BE49-F238E27FC236}">
                <a16:creationId xmlns:a16="http://schemas.microsoft.com/office/drawing/2014/main" id="{1D391952-40CE-EDEB-4F8D-80032F41252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A22D9F4-3CB9-BF29-8BB2-198B681A9FF0}"/>
              </a:ext>
            </a:extLst>
          </p:cNvPr>
          <p:cNvSpPr>
            <a:spLocks noGrp="1"/>
          </p:cNvSpPr>
          <p:nvPr>
            <p:ph type="sldNum" sz="quarter" idx="12"/>
          </p:nvPr>
        </p:nvSpPr>
        <p:spPr/>
        <p:txBody>
          <a:bodyPr/>
          <a:lstStyle/>
          <a:p>
            <a:fld id="{D41FC515-8169-4A29-AA56-DBE520D5741B}" type="slidenum">
              <a:rPr lang="zh-CN" altLang="en-US" smtClean="0"/>
              <a:t>2</a:t>
            </a:fld>
            <a:endParaRPr lang="zh-CN" altLang="en-US"/>
          </a:p>
        </p:txBody>
      </p:sp>
    </p:spTree>
    <p:extLst>
      <p:ext uri="{BB962C8B-B14F-4D97-AF65-F5344CB8AC3E}">
        <p14:creationId xmlns:p14="http://schemas.microsoft.com/office/powerpoint/2010/main" val="3441352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D81A2-358D-6CB1-545E-12B2A3A56902}"/>
              </a:ext>
            </a:extLst>
          </p:cNvPr>
          <p:cNvSpPr>
            <a:spLocks noGrp="1"/>
          </p:cNvSpPr>
          <p:nvPr>
            <p:ph type="title"/>
          </p:nvPr>
        </p:nvSpPr>
        <p:spPr/>
        <p:txBody>
          <a:bodyPr/>
          <a:lstStyle/>
          <a:p>
            <a:r>
              <a:rPr lang="zh-CN" altLang="en-US" dirty="0"/>
              <a:t>缺失值填补 </a:t>
            </a:r>
            <a:r>
              <a:rPr lang="en-US" altLang="zh-CN" dirty="0"/>
              <a:t>(imputation)</a:t>
            </a:r>
            <a:endParaRPr lang="zh-CN" altLang="en-US" dirty="0"/>
          </a:p>
        </p:txBody>
      </p:sp>
      <p:sp>
        <p:nvSpPr>
          <p:cNvPr id="3" name="内容占位符 2">
            <a:extLst>
              <a:ext uri="{FF2B5EF4-FFF2-40B4-BE49-F238E27FC236}">
                <a16:creationId xmlns:a16="http://schemas.microsoft.com/office/drawing/2014/main" id="{DDE61F38-3F8B-BE50-2030-AE050B3675CF}"/>
              </a:ext>
            </a:extLst>
          </p:cNvPr>
          <p:cNvSpPr>
            <a:spLocks noGrp="1"/>
          </p:cNvSpPr>
          <p:nvPr>
            <p:ph idx="1"/>
          </p:nvPr>
        </p:nvSpPr>
        <p:spPr/>
        <p:txBody>
          <a:bodyPr>
            <a:normAutofit fontScale="92500"/>
          </a:bodyPr>
          <a:lstStyle/>
          <a:p>
            <a:pPr>
              <a:lnSpc>
                <a:spcPct val="110000"/>
              </a:lnSpc>
            </a:pPr>
            <a:r>
              <a:rPr lang="en-US" altLang="zh-CN" dirty="0"/>
              <a:t>“At some level, all methods for causal inference can be viewed as imputation methods, although some more explicitly than others.”– </a:t>
            </a:r>
            <a:r>
              <a:rPr lang="en-US" altLang="zh-CN" dirty="0" err="1"/>
              <a:t>Imbens</a:t>
            </a:r>
            <a:r>
              <a:rPr lang="en-US" altLang="zh-CN" dirty="0"/>
              <a:t> and Rubin (2015)</a:t>
            </a:r>
          </a:p>
          <a:p>
            <a:pPr lvl="1">
              <a:lnSpc>
                <a:spcPct val="110000"/>
              </a:lnSpc>
            </a:pPr>
            <a:r>
              <a:rPr lang="zh-CN" altLang="en-US" dirty="0"/>
              <a:t>某种意义上，所有的因果推断方法都可以看作缺失值填补方法，有些显性的，有些没有那么明显。</a:t>
            </a:r>
            <a:endParaRPr lang="en-US" altLang="zh-CN" dirty="0"/>
          </a:p>
          <a:p>
            <a:pPr lvl="1">
              <a:lnSpc>
                <a:spcPct val="110000"/>
              </a:lnSpc>
            </a:pPr>
            <a:r>
              <a:rPr lang="en-US" altLang="zh-CN" dirty="0" err="1"/>
              <a:t>Borusyak</a:t>
            </a:r>
            <a:r>
              <a:rPr lang="en-US" altLang="zh-CN" dirty="0"/>
              <a:t> et al. (2024)</a:t>
            </a:r>
            <a:r>
              <a:rPr lang="zh-CN" altLang="en-US" dirty="0"/>
              <a:t>，</a:t>
            </a:r>
            <a:r>
              <a:rPr lang="en-US" altLang="zh-CN" dirty="0"/>
              <a:t>Gardner (2021)</a:t>
            </a:r>
            <a:r>
              <a:rPr lang="zh-CN" altLang="en-US" dirty="0"/>
              <a:t>，</a:t>
            </a:r>
            <a:r>
              <a:rPr lang="en-US" altLang="zh-CN" dirty="0"/>
              <a:t>Liu et al. (2022) </a:t>
            </a:r>
            <a:r>
              <a:rPr lang="zh-CN" altLang="en-US" dirty="0"/>
              <a:t>等提出的显性的缺失值填补方法。</a:t>
            </a:r>
            <a:endParaRPr lang="en-US" altLang="zh-CN" dirty="0"/>
          </a:p>
          <a:p>
            <a:pPr lvl="1">
              <a:lnSpc>
                <a:spcPct val="110000"/>
              </a:lnSpc>
            </a:pPr>
            <a:r>
              <a:rPr lang="en-US" altLang="zh-CN" dirty="0"/>
              <a:t>Abadie et al. (2010) </a:t>
            </a:r>
            <a:r>
              <a:rPr lang="zh-CN" altLang="en-US" dirty="0"/>
              <a:t>的合成控制法、</a:t>
            </a:r>
            <a:r>
              <a:rPr lang="en-US" altLang="zh-CN" dirty="0"/>
              <a:t>Hsiao et al. (2012) </a:t>
            </a:r>
            <a:r>
              <a:rPr lang="zh-CN" altLang="en-US" dirty="0"/>
              <a:t>的回归合成法和</a:t>
            </a:r>
            <a:r>
              <a:rPr lang="en-US" altLang="zh-CN" dirty="0"/>
              <a:t>Xu (2017)</a:t>
            </a:r>
            <a:r>
              <a:rPr lang="zh-CN" altLang="en-US" dirty="0"/>
              <a:t>的广义合成控制法等，也可以看作是缺失值填补方法。</a:t>
            </a:r>
          </a:p>
        </p:txBody>
      </p:sp>
      <p:sp>
        <p:nvSpPr>
          <p:cNvPr id="4" name="页脚占位符 3">
            <a:extLst>
              <a:ext uri="{FF2B5EF4-FFF2-40B4-BE49-F238E27FC236}">
                <a16:creationId xmlns:a16="http://schemas.microsoft.com/office/drawing/2014/main" id="{1C4D69FA-16D8-B9E4-9704-48D16CF2444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5F0E822-7633-1022-915A-6F3241C131C0}"/>
              </a:ext>
            </a:extLst>
          </p:cNvPr>
          <p:cNvSpPr>
            <a:spLocks noGrp="1"/>
          </p:cNvSpPr>
          <p:nvPr>
            <p:ph type="sldNum" sz="quarter" idx="12"/>
          </p:nvPr>
        </p:nvSpPr>
        <p:spPr/>
        <p:txBody>
          <a:bodyPr/>
          <a:lstStyle/>
          <a:p>
            <a:fld id="{D41FC515-8169-4A29-AA56-DBE520D5741B}" type="slidenum">
              <a:rPr lang="zh-CN" altLang="en-US" smtClean="0"/>
              <a:t>3</a:t>
            </a:fld>
            <a:endParaRPr lang="zh-CN" altLang="en-US"/>
          </a:p>
        </p:txBody>
      </p:sp>
    </p:spTree>
    <p:extLst>
      <p:ext uri="{BB962C8B-B14F-4D97-AF65-F5344CB8AC3E}">
        <p14:creationId xmlns:p14="http://schemas.microsoft.com/office/powerpoint/2010/main" val="792565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39F4E9-C494-352E-BFD5-488878C1B431}"/>
              </a:ext>
            </a:extLst>
          </p:cNvPr>
          <p:cNvSpPr>
            <a:spLocks noGrp="1"/>
          </p:cNvSpPr>
          <p:nvPr>
            <p:ph type="title"/>
          </p:nvPr>
        </p:nvSpPr>
        <p:spPr/>
        <p:txBody>
          <a:bodyPr/>
          <a:lstStyle/>
          <a:p>
            <a:r>
              <a:rPr lang="zh-CN" altLang="en-US" dirty="0"/>
              <a:t>缺失值填补 </a:t>
            </a:r>
            <a:r>
              <a:rPr lang="en-US" altLang="zh-CN" dirty="0"/>
              <a:t>(imputation)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2D21C56-36D3-2A14-A1FD-221209FA6619}"/>
                  </a:ext>
                </a:extLst>
              </p:cNvPr>
              <p:cNvSpPr>
                <a:spLocks noGrp="1"/>
              </p:cNvSpPr>
              <p:nvPr>
                <p:ph idx="1"/>
              </p:nvPr>
            </p:nvSpPr>
            <p:spPr/>
            <p:txBody>
              <a:bodyPr>
                <a:normAutofit/>
              </a:bodyPr>
              <a:lstStyle/>
              <a:p>
                <a:r>
                  <a:rPr lang="nb-NO" altLang="zh-CN" dirty="0"/>
                  <a:t>Borusyak et al. (2024)</a:t>
                </a:r>
                <a:r>
                  <a:rPr lang="zh-CN" altLang="nb-NO" dirty="0"/>
                  <a:t>，</a:t>
                </a:r>
                <a:r>
                  <a:rPr lang="nb-NO" altLang="zh-CN" dirty="0"/>
                  <a:t>Gardner (2021)</a:t>
                </a:r>
              </a:p>
              <a:p>
                <a:r>
                  <a:rPr lang="zh-CN" altLang="en-US" dirty="0"/>
                  <a:t>符号：</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𝑖𝑡</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𝟙</m:t>
                    </m:r>
                    <m:r>
                      <a:rPr lang="en-US" altLang="zh-CN" i="1" dirty="0">
                        <a:latin typeface="Cambria Math" panose="02040503050406030204" pitchFamily="18" charset="0"/>
                      </a:rPr>
                      <m:t>[</m:t>
                    </m:r>
                    <m:r>
                      <a:rPr lang="zh-CN" altLang="en-US" i="1" dirty="0">
                        <a:latin typeface="Cambria Math" panose="02040503050406030204" pitchFamily="18" charset="0"/>
                      </a:rPr>
                      <m:t>𝑡</m:t>
                    </m:r>
                    <m:r>
                      <a:rPr lang="zh-CN" altLang="en-US" i="1" dirty="0">
                        <a:latin typeface="Cambria Math" panose="02040503050406030204" pitchFamily="18" charset="0"/>
                      </a:rPr>
                      <m:t> ≥ </m:t>
                    </m:r>
                    <m:r>
                      <a:rPr lang="zh-CN" altLang="en-US" i="1" dirty="0">
                        <a:latin typeface="Cambria Math" panose="02040503050406030204" pitchFamily="18" charset="0"/>
                      </a:rPr>
                      <m:t>𝐸𝑖</m:t>
                    </m:r>
                    <m:r>
                      <a:rPr lang="en-US" altLang="zh-CN" i="1" dirty="0">
                        <a:latin typeface="Cambria Math" panose="02040503050406030204" pitchFamily="18" charset="0"/>
                      </a:rPr>
                      <m:t>]</m:t>
                    </m:r>
                    <m:r>
                      <a:rPr lang="zh-CN" altLang="en-US" i="1" dirty="0">
                        <a:latin typeface="Cambria Math" panose="02040503050406030204" pitchFamily="18" charset="0"/>
                      </a:rPr>
                      <m:t>，</m:t>
                    </m:r>
                    <m:sSub>
                      <m:sSubPr>
                        <m:ctrlPr>
                          <a:rPr lang="en-US" altLang="zh-CN" i="0" dirty="0">
                            <a:latin typeface="Cambria Math" panose="02040503050406030204" pitchFamily="18" charset="0"/>
                          </a:rPr>
                        </m:ctrlPr>
                      </m:sSubPr>
                      <m:e>
                        <m:r>
                          <m:rPr>
                            <m:sty m:val="p"/>
                          </m:rPr>
                          <a:rPr lang="en-US" altLang="zh-CN" i="0" dirty="0">
                            <a:latin typeface="Cambria Math" panose="02040503050406030204" pitchFamily="18" charset="0"/>
                          </a:rPr>
                          <m:t>Ω</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 {</m:t>
                    </m:r>
                    <m:r>
                      <a:rPr lang="zh-CN" altLang="en-US" i="1" dirty="0">
                        <a:latin typeface="Cambria Math" panose="02040503050406030204" pitchFamily="18" charset="0"/>
                      </a:rPr>
                      <m:t>𝑖𝑡</m:t>
                    </m:r>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𝑖𝑡</m:t>
                        </m:r>
                      </m:sub>
                    </m:sSub>
                    <m:r>
                      <a:rPr lang="zh-CN" altLang="en-US" i="1" dirty="0">
                        <a:latin typeface="Cambria Math" panose="02040503050406030204" pitchFamily="18" charset="0"/>
                      </a:rPr>
                      <m:t> </m:t>
                    </m:r>
                    <m:r>
                      <a:rPr lang="en-US" altLang="zh-CN" i="1" dirty="0">
                        <a:latin typeface="Cambria Math" panose="02040503050406030204" pitchFamily="18" charset="0"/>
                      </a:rPr>
                      <m:t>= 1}</m:t>
                    </m:r>
                    <m:r>
                      <a:rPr lang="zh-CN" altLang="en-US" i="1" dirty="0">
                        <a:latin typeface="Cambria Math" panose="02040503050406030204" pitchFamily="18" charset="0"/>
                      </a:rPr>
                      <m:t>，</m:t>
                    </m:r>
                    <m:sSub>
                      <m:sSubPr>
                        <m:ctrlPr>
                          <a:rPr lang="en-US" altLang="zh-CN" i="0" dirty="0">
                            <a:latin typeface="Cambria Math" panose="02040503050406030204" pitchFamily="18" charset="0"/>
                          </a:rPr>
                        </m:ctrlPr>
                      </m:sSubPr>
                      <m:e>
                        <m:r>
                          <m:rPr>
                            <m:sty m:val="p"/>
                          </m:rPr>
                          <a:rPr lang="en-US" altLang="zh-CN" i="0" dirty="0">
                            <a:latin typeface="Cambria Math" panose="02040503050406030204" pitchFamily="18" charset="0"/>
                          </a:rPr>
                          <m:t>Ω</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 {</m:t>
                    </m:r>
                    <m:r>
                      <a:rPr lang="zh-CN" altLang="en-US" i="1" dirty="0">
                        <a:latin typeface="Cambria Math" panose="02040503050406030204" pitchFamily="18" charset="0"/>
                      </a:rPr>
                      <m:t>𝑖𝑡</m:t>
                    </m:r>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𝑖𝑡</m:t>
                        </m:r>
                      </m:sub>
                    </m:sSub>
                    <m:r>
                      <a:rPr lang="zh-CN" altLang="en-US" i="1" dirty="0">
                        <a:latin typeface="Cambria Math" panose="02040503050406030204" pitchFamily="18" charset="0"/>
                      </a:rPr>
                      <m:t> </m:t>
                    </m:r>
                    <m:r>
                      <a:rPr lang="en-US" altLang="zh-CN" i="1" dirty="0">
                        <a:latin typeface="Cambria Math" panose="02040503050406030204" pitchFamily="18" charset="0"/>
                      </a:rPr>
                      <m:t>= 0}</m:t>
                    </m:r>
                  </m:oMath>
                </a14:m>
                <a:r>
                  <a:rPr lang="zh-CN" altLang="en-US" dirty="0"/>
                  <a:t>。</a:t>
                </a:r>
                <a:endParaRPr lang="en-US" altLang="zh-CN" dirty="0"/>
              </a:p>
              <a:p>
                <a:r>
                  <a:rPr lang="zh-CN" altLang="en-US" dirty="0"/>
                  <a:t>平行趋势假设：对于所有</a:t>
                </a:r>
                <a14:m>
                  <m:oMath xmlns:m="http://schemas.openxmlformats.org/officeDocument/2006/math">
                    <m:r>
                      <a:rPr lang="zh-CN" altLang="en-US" i="1" dirty="0" smtClean="0">
                        <a:latin typeface="Cambria Math" panose="02040503050406030204" pitchFamily="18" charset="0"/>
                      </a:rPr>
                      <m:t>𝑖𝑡</m:t>
                    </m:r>
                    <m:r>
                      <a:rPr lang="zh-CN" altLang="en-US" i="1" dirty="0" smtClean="0">
                        <a:latin typeface="Cambria Math" panose="02040503050406030204" pitchFamily="18" charset="0"/>
                      </a:rPr>
                      <m:t> ∈ </m:t>
                    </m:r>
                    <m:r>
                      <m:rPr>
                        <m:sty m:val="p"/>
                      </m:rPr>
                      <a:rPr lang="en-US" altLang="zh-CN" i="0" dirty="0">
                        <a:latin typeface="Cambria Math" panose="02040503050406030204" pitchFamily="18" charset="0"/>
                      </a:rPr>
                      <m:t>Ω</m:t>
                    </m:r>
                    <m:r>
                      <a:rPr lang="en-US" altLang="zh-CN" i="1" dirty="0">
                        <a:latin typeface="Cambria Math" panose="02040503050406030204" pitchFamily="18" charset="0"/>
                      </a:rPr>
                      <m:t> = </m:t>
                    </m:r>
                    <m:sSub>
                      <m:sSubPr>
                        <m:ctrlPr>
                          <a:rPr lang="en-US" altLang="zh-CN" i="0" dirty="0">
                            <a:latin typeface="Cambria Math" panose="02040503050406030204" pitchFamily="18" charset="0"/>
                          </a:rPr>
                        </m:ctrlPr>
                      </m:sSubPr>
                      <m:e>
                        <m:r>
                          <m:rPr>
                            <m:sty m:val="p"/>
                          </m:rPr>
                          <a:rPr lang="en-US" altLang="zh-CN" i="0" dirty="0">
                            <a:latin typeface="Cambria Math" panose="02040503050406030204" pitchFamily="18" charset="0"/>
                          </a:rPr>
                          <m:t>Ω</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sSub>
                      <m:sSubPr>
                        <m:ctrlPr>
                          <a:rPr lang="en-US" altLang="zh-CN" i="0" dirty="0">
                            <a:latin typeface="Cambria Math" panose="02040503050406030204" pitchFamily="18" charset="0"/>
                          </a:rPr>
                        </m:ctrlPr>
                      </m:sSubPr>
                      <m:e>
                        <m:r>
                          <m:rPr>
                            <m:sty m:val="p"/>
                          </m:rPr>
                          <a:rPr lang="en-US" altLang="zh-CN" i="0" dirty="0">
                            <a:latin typeface="Cambria Math" panose="02040503050406030204" pitchFamily="18" charset="0"/>
                          </a:rPr>
                          <m:t>Ω</m:t>
                        </m:r>
                      </m:e>
                      <m:sub>
                        <m:r>
                          <a:rPr lang="en-US" altLang="zh-CN" i="1" dirty="0">
                            <a:latin typeface="Cambria Math" panose="02040503050406030204" pitchFamily="18" charset="0"/>
                          </a:rPr>
                          <m:t>1</m:t>
                        </m:r>
                      </m:sub>
                    </m:sSub>
                  </m:oMath>
                </a14:m>
                <a:r>
                  <a:rPr lang="zh-CN" altLang="en-US" dirty="0"/>
                  <a:t>，存在</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𝜇</m:t>
                        </m:r>
                      </m:e>
                      <m:sub>
                        <m:r>
                          <a:rPr lang="zh-CN" altLang="en-US" i="1" dirty="0" smtClean="0">
                            <a:latin typeface="Cambria Math" panose="02040503050406030204" pitchFamily="18" charset="0"/>
                          </a:rPr>
                          <m:t>𝑖</m:t>
                        </m:r>
                      </m:sub>
                    </m:sSub>
                  </m:oMath>
                </a14:m>
                <a:r>
                  <a:rPr lang="zh-CN" altLang="en-US" dirty="0"/>
                  <a:t>、</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𝜆</m:t>
                        </m:r>
                      </m:e>
                      <m:sub>
                        <m:r>
                          <a:rPr lang="zh-CN" altLang="en-US" i="1" dirty="0" smtClean="0">
                            <a:latin typeface="Cambria Math" panose="02040503050406030204" pitchFamily="18" charset="0"/>
                          </a:rPr>
                          <m:t>𝑡</m:t>
                        </m:r>
                      </m:sub>
                    </m:sSub>
                  </m:oMath>
                </a14:m>
                <a:r>
                  <a:rPr lang="zh-CN" altLang="en-US" dirty="0"/>
                  <a:t>，使得</a:t>
                </a:r>
                <a:endParaRPr lang="en-US" altLang="zh-CN" dirty="0"/>
              </a:p>
              <a:p>
                <a:pPr marL="0" indent="0">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oMath>
                  </m:oMathPara>
                </a14:m>
                <a:endParaRPr lang="en-US" altLang="zh-CN" dirty="0"/>
              </a:p>
              <a:p>
                <a:r>
                  <a:rPr lang="zh-CN" altLang="en-US" dirty="0"/>
                  <a:t>无预期效应假设：对于所有</a:t>
                </a:r>
                <a14:m>
                  <m:oMath xmlns:m="http://schemas.openxmlformats.org/officeDocument/2006/math">
                    <m:r>
                      <a:rPr lang="zh-CN" altLang="en-US" i="1" dirty="0" smtClean="0">
                        <a:latin typeface="Cambria Math" panose="02040503050406030204" pitchFamily="18" charset="0"/>
                      </a:rPr>
                      <m:t>𝑖𝑡</m:t>
                    </m:r>
                    <m:r>
                      <a:rPr lang="zh-CN" altLang="en-US" i="1" dirty="0" smtClean="0">
                        <a:latin typeface="Cambria Math" panose="02040503050406030204" pitchFamily="18" charset="0"/>
                      </a:rPr>
                      <m:t> ∈ </m:t>
                    </m:r>
                    <m:sSub>
                      <m:sSubPr>
                        <m:ctrlPr>
                          <a:rPr lang="en-US" altLang="zh-CN" i="0" dirty="0">
                            <a:latin typeface="Cambria Math" panose="02040503050406030204" pitchFamily="18" charset="0"/>
                          </a:rPr>
                        </m:ctrlPr>
                      </m:sSubPr>
                      <m:e>
                        <m:r>
                          <m:rPr>
                            <m:sty m:val="p"/>
                          </m:rPr>
                          <a:rPr lang="en-US" altLang="zh-CN" i="0" dirty="0">
                            <a:latin typeface="Cambria Math" panose="02040503050406030204" pitchFamily="18" charset="0"/>
                          </a:rPr>
                          <m:t>Ω</m:t>
                        </m:r>
                      </m:e>
                      <m:sub>
                        <m:r>
                          <a:rPr lang="en-US" altLang="zh-CN" i="1" dirty="0">
                            <a:latin typeface="Cambria Math" panose="02040503050406030204" pitchFamily="18" charset="0"/>
                          </a:rPr>
                          <m:t>0</m:t>
                        </m:r>
                      </m:sub>
                    </m:sSub>
                    <m:r>
                      <a:rPr lang="zh-CN" altLang="en-US"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𝑖𝑡</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𝑖𝑡</m:t>
                        </m:r>
                      </m:sub>
                    </m:sSub>
                    <m:r>
                      <a:rPr lang="en-US" altLang="zh-CN" i="1" dirty="0">
                        <a:latin typeface="Cambria Math" panose="02040503050406030204" pitchFamily="18" charset="0"/>
                      </a:rPr>
                      <m:t>(0)</m:t>
                    </m:r>
                  </m:oMath>
                </a14:m>
                <a:r>
                  <a:rPr lang="zh-CN" altLang="en-US" dirty="0"/>
                  <a:t>。</a:t>
                </a:r>
              </a:p>
            </p:txBody>
          </p:sp>
        </mc:Choice>
        <mc:Fallback xmlns="">
          <p:sp>
            <p:nvSpPr>
              <p:cNvPr id="3" name="内容占位符 2">
                <a:extLst>
                  <a:ext uri="{FF2B5EF4-FFF2-40B4-BE49-F238E27FC236}">
                    <a16:creationId xmlns:a16="http://schemas.microsoft.com/office/drawing/2014/main" id="{82D21C56-36D3-2A14-A1FD-221209FA6619}"/>
                  </a:ext>
                </a:extLst>
              </p:cNvPr>
              <p:cNvSpPr>
                <a:spLocks noGrp="1" noRot="1" noChangeAspect="1" noMove="1" noResize="1" noEditPoints="1" noAdjustHandles="1" noChangeArrowheads="1" noChangeShapeType="1" noTextEdit="1"/>
              </p:cNvSpPr>
              <p:nvPr>
                <p:ph idx="1"/>
              </p:nvPr>
            </p:nvSpPr>
            <p:spPr>
              <a:blipFill>
                <a:blip r:embed="rId2"/>
                <a:stretch>
                  <a:fillRect l="-1391" t="-14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36756D41-BB1E-AD34-0E36-E5958E9D95A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40290EE-A565-6B03-92CD-3193C199FD91}"/>
              </a:ext>
            </a:extLst>
          </p:cNvPr>
          <p:cNvSpPr>
            <a:spLocks noGrp="1"/>
          </p:cNvSpPr>
          <p:nvPr>
            <p:ph type="sldNum" sz="quarter" idx="12"/>
          </p:nvPr>
        </p:nvSpPr>
        <p:spPr/>
        <p:txBody>
          <a:bodyPr/>
          <a:lstStyle/>
          <a:p>
            <a:fld id="{D41FC515-8169-4A29-AA56-DBE520D5741B}" type="slidenum">
              <a:rPr lang="zh-CN" altLang="en-US" smtClean="0"/>
              <a:t>4</a:t>
            </a:fld>
            <a:endParaRPr lang="zh-CN" altLang="en-US"/>
          </a:p>
        </p:txBody>
      </p:sp>
    </p:spTree>
    <p:extLst>
      <p:ext uri="{BB962C8B-B14F-4D97-AF65-F5344CB8AC3E}">
        <p14:creationId xmlns:p14="http://schemas.microsoft.com/office/powerpoint/2010/main" val="3852408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21A21B-1E76-E56A-5D22-34B16E7B899C}"/>
              </a:ext>
            </a:extLst>
          </p:cNvPr>
          <p:cNvSpPr>
            <a:spLocks noGrp="1"/>
          </p:cNvSpPr>
          <p:nvPr>
            <p:ph type="title"/>
          </p:nvPr>
        </p:nvSpPr>
        <p:spPr/>
        <p:txBody>
          <a:bodyPr/>
          <a:lstStyle/>
          <a:p>
            <a:r>
              <a:rPr lang="zh-CN" altLang="en-US" dirty="0"/>
              <a:t>缺失值填补</a:t>
            </a:r>
            <a:r>
              <a:rPr lang="en-US" altLang="zh-CN" dirty="0"/>
              <a:t>(imputation)</a:t>
            </a:r>
            <a:br>
              <a:rPr lang="en-US" altLang="zh-CN" dirty="0"/>
            </a:br>
            <a:r>
              <a:rPr lang="zh-CN" altLang="en-US" sz="2400" dirty="0"/>
              <a:t>估计方法：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E1DA79F-D0CE-8F8E-C529-CC9F379989EB}"/>
                  </a:ext>
                </a:extLst>
              </p:cNvPr>
              <p:cNvSpPr>
                <a:spLocks noGrp="1"/>
              </p:cNvSpPr>
              <p:nvPr>
                <p:ph idx="1"/>
              </p:nvPr>
            </p:nvSpPr>
            <p:spPr/>
            <p:txBody>
              <a:bodyPr>
                <a:normAutofit fontScale="85000" lnSpcReduction="10000"/>
              </a:bodyPr>
              <a:lstStyle/>
              <a:p>
                <a:r>
                  <a:rPr lang="zh-CN" altLang="en-US" dirty="0"/>
                  <a:t>用控制状态的观测值</a:t>
                </a:r>
                <a14:m>
                  <m:oMath xmlns:m="http://schemas.openxmlformats.org/officeDocument/2006/math">
                    <m:r>
                      <a:rPr lang="zh-CN" altLang="en-US" i="1" dirty="0" smtClean="0">
                        <a:latin typeface="Cambria Math" panose="02040503050406030204" pitchFamily="18" charset="0"/>
                      </a:rPr>
                      <m:t>𝑖𝑡</m:t>
                    </m:r>
                    <m:r>
                      <a:rPr lang="zh-CN" altLang="en-US" i="1" dirty="0" smtClean="0">
                        <a:latin typeface="Cambria Math" panose="02040503050406030204" pitchFamily="18" charset="0"/>
                      </a:rPr>
                      <m:t> ∈ </m:t>
                    </m:r>
                    <m:sSub>
                      <m:sSubPr>
                        <m:ctrlPr>
                          <a:rPr lang="en-US" altLang="zh-CN" i="0" dirty="0">
                            <a:latin typeface="Cambria Math" panose="02040503050406030204" pitchFamily="18" charset="0"/>
                          </a:rPr>
                        </m:ctrlPr>
                      </m:sSubPr>
                      <m:e>
                        <m:r>
                          <m:rPr>
                            <m:sty m:val="p"/>
                          </m:rPr>
                          <a:rPr lang="en-US" altLang="zh-CN" i="0" dirty="0">
                            <a:latin typeface="Cambria Math" panose="02040503050406030204" pitchFamily="18" charset="0"/>
                          </a:rPr>
                          <m:t>Ω</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m:t>
                    </m:r>
                  </m:oMath>
                </a14:m>
                <a:r>
                  <a:rPr lang="zh-CN" altLang="en-US" dirty="0"/>
                  <a:t>估计模型：</a:t>
                </a:r>
                <a:endParaRPr lang="en-US" altLang="zh-CN" dirty="0"/>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oMath>
                  </m:oMathPara>
                </a14:m>
                <a:endParaRPr lang="en-US" altLang="zh-CN" dirty="0"/>
              </a:p>
              <a:p>
                <a:pPr marL="0" indent="0">
                  <a:buNone/>
                </a:pPr>
                <a:r>
                  <a:rPr lang="zh-CN" altLang="de-DE" dirty="0"/>
                  <a:t>    得到</a:t>
                </a:r>
                <a14:m>
                  <m:oMath xmlns:m="http://schemas.openxmlformats.org/officeDocument/2006/math">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𝜇</m:t>
                            </m:r>
                          </m:e>
                        </m:acc>
                      </m:e>
                      <m:sub>
                        <m:r>
                          <a:rPr lang="en-US" altLang="zh-CN" b="0" i="1" dirty="0" smtClean="0">
                            <a:latin typeface="Cambria Math" panose="02040503050406030204" pitchFamily="18" charset="0"/>
                          </a:rPr>
                          <m:t>𝑖</m:t>
                        </m:r>
                      </m:sub>
                    </m:sSub>
                    <m:r>
                      <a:rPr lang="de-DE"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𝜆</m:t>
                            </m:r>
                          </m:e>
                        </m:acc>
                      </m:e>
                      <m:sub>
                        <m:r>
                          <a:rPr lang="de-DE" altLang="zh-CN" i="1" dirty="0" smtClean="0">
                            <a:latin typeface="Cambria Math" panose="02040503050406030204" pitchFamily="18" charset="0"/>
                          </a:rPr>
                          <m:t>𝑡</m:t>
                        </m:r>
                      </m:sub>
                    </m:sSub>
                  </m:oMath>
                </a14:m>
                <a:r>
                  <a:rPr lang="zh-CN" altLang="de-DE" dirty="0"/>
                  <a:t>，</a:t>
                </a:r>
                <a:endParaRPr lang="en-US" altLang="zh-CN" dirty="0"/>
              </a:p>
              <a:p>
                <a:r>
                  <a:rPr lang="zh-CN" altLang="en-US" dirty="0"/>
                  <a:t>对于干预状态的观测</a:t>
                </a:r>
                <a:r>
                  <a:rPr lang="en-US" altLang="zh-CN" dirty="0"/>
                  <a:t> </a:t>
                </a:r>
                <a14:m>
                  <m:oMath xmlns:m="http://schemas.openxmlformats.org/officeDocument/2006/math">
                    <m:r>
                      <a:rPr lang="en-US" altLang="zh-CN" i="1" dirty="0" smtClean="0">
                        <a:latin typeface="Cambria Math" panose="02040503050406030204" pitchFamily="18" charset="0"/>
                      </a:rPr>
                      <m:t>𝑖𝑡</m:t>
                    </m:r>
                    <m:r>
                      <a:rPr lang="en-US" altLang="zh-CN" i="1" dirty="0" smtClean="0">
                        <a:latin typeface="Cambria Math" panose="02040503050406030204" pitchFamily="18" charset="0"/>
                      </a:rPr>
                      <m:t>∈</m:t>
                    </m:r>
                    <m:sSub>
                      <m:sSubPr>
                        <m:ctrlPr>
                          <a:rPr lang="en-US" altLang="zh-CN" i="0" dirty="0" smtClean="0">
                            <a:latin typeface="Cambria Math" panose="02040503050406030204" pitchFamily="18" charset="0"/>
                          </a:rPr>
                        </m:ctrlPr>
                      </m:sSubPr>
                      <m:e>
                        <m:r>
                          <m:rPr>
                            <m:sty m:val="p"/>
                          </m:rPr>
                          <a:rPr lang="en-US" altLang="zh-CN" i="0" dirty="0" smtClean="0">
                            <a:latin typeface="Cambria Math" panose="02040503050406030204" pitchFamily="18" charset="0"/>
                          </a:rPr>
                          <m:t>Ω</m:t>
                        </m:r>
                      </m:e>
                      <m:sub>
                        <m:r>
                          <a:rPr lang="en-US" altLang="zh-CN" i="1" dirty="0" smtClean="0">
                            <a:latin typeface="Cambria Math" panose="02040503050406030204" pitchFamily="18" charset="0"/>
                          </a:rPr>
                          <m:t>1</m:t>
                        </m:r>
                      </m:sub>
                    </m:sSub>
                  </m:oMath>
                </a14:m>
                <a:r>
                  <a:rPr lang="zh-CN" altLang="en-US" dirty="0"/>
                  <a:t>，估计反事实结果</a:t>
                </a:r>
                <a:endParaRPr lang="en-US" altLang="zh-CN" dirty="0"/>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𝑌</m:t>
                              </m:r>
                            </m:e>
                          </m:acc>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𝜇</m:t>
                              </m:r>
                            </m:e>
                          </m:acc>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𝜆</m:t>
                              </m:r>
                            </m:e>
                          </m:acc>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oMath>
                  </m:oMathPara>
                </a14:m>
                <a:endParaRPr lang="en-US" altLang="zh-CN" dirty="0"/>
              </a:p>
              <a:p>
                <a:r>
                  <a:rPr lang="zh-CN" altLang="en-US" dirty="0"/>
                  <a:t>对于</a:t>
                </a:r>
                <a:r>
                  <a:rPr lang="en-US" altLang="zh-CN" dirty="0"/>
                  <a:t> </a:t>
                </a:r>
                <a14:m>
                  <m:oMath xmlns:m="http://schemas.openxmlformats.org/officeDocument/2006/math">
                    <m:r>
                      <a:rPr lang="en-US" altLang="zh-CN" i="1" dirty="0" smtClean="0">
                        <a:latin typeface="Cambria Math" panose="02040503050406030204" pitchFamily="18" charset="0"/>
                      </a:rPr>
                      <m:t>𝑖𝑡</m:t>
                    </m:r>
                    <m:r>
                      <a:rPr lang="en-US" altLang="zh-CN" i="1" dirty="0" smtClean="0">
                        <a:latin typeface="Cambria Math" panose="02040503050406030204" pitchFamily="18" charset="0"/>
                      </a:rPr>
                      <m:t>∈</m:t>
                    </m:r>
                    <m:sSub>
                      <m:sSubPr>
                        <m:ctrlPr>
                          <a:rPr lang="en-US" altLang="zh-CN" i="0" dirty="0" smtClean="0">
                            <a:latin typeface="Cambria Math" panose="02040503050406030204" pitchFamily="18" charset="0"/>
                          </a:rPr>
                        </m:ctrlPr>
                      </m:sSubPr>
                      <m:e>
                        <m:r>
                          <m:rPr>
                            <m:sty m:val="p"/>
                          </m:rPr>
                          <a:rPr lang="en-US" altLang="zh-CN" i="0" dirty="0" smtClean="0">
                            <a:latin typeface="Cambria Math" panose="02040503050406030204" pitchFamily="18" charset="0"/>
                          </a:rPr>
                          <m:t>Ω</m:t>
                        </m:r>
                      </m:e>
                      <m:sub>
                        <m:r>
                          <a:rPr lang="en-US" altLang="zh-CN" i="1" dirty="0" smtClean="0">
                            <a:latin typeface="Cambria Math" panose="02040503050406030204" pitchFamily="18" charset="0"/>
                          </a:rPr>
                          <m:t>1</m:t>
                        </m:r>
                      </m:sub>
                    </m:sSub>
                  </m:oMath>
                </a14:m>
                <a:r>
                  <a:rPr lang="zh-CN" altLang="en-US" dirty="0"/>
                  <a:t>，估计个体因果效应</a:t>
                </a:r>
                <a:endParaRPr lang="en-US" altLang="zh-CN" dirty="0"/>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𝑌</m:t>
                              </m:r>
                            </m:e>
                          </m:acc>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oMath>
                  </m:oMathPara>
                </a14:m>
                <a:endParaRPr lang="en-US" altLang="zh-CN" dirty="0"/>
              </a:p>
              <a:p>
                <a:r>
                  <a:rPr lang="zh-CN" altLang="en-US" dirty="0"/>
                  <a:t>并利用合适权重进行加权平均，得到目标参数：</a:t>
                </a:r>
                <a:endParaRPr lang="en-US" altLang="zh-CN" dirty="0"/>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e>
                        <m:sub>
                          <m:r>
                            <a:rPr lang="zh-CN" altLang="en-US" i="1" smtClean="0">
                              <a:latin typeface="Cambria Math" panose="02040503050406030204" pitchFamily="18" charset="0"/>
                            </a:rPr>
                            <m:t>𝐴𝑇𝑇</m:t>
                          </m:r>
                        </m:sub>
                      </m:sSub>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𝑖𝑡</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𝑖𝑡</m:t>
                              </m:r>
                            </m:sub>
                          </m:sSub>
                        </m:e>
                      </m:nary>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oMath>
                  </m:oMathPara>
                </a14:m>
                <a:endParaRPr lang="zh-CN" altLang="en-US" dirty="0"/>
              </a:p>
            </p:txBody>
          </p:sp>
        </mc:Choice>
        <mc:Fallback xmlns="">
          <p:sp>
            <p:nvSpPr>
              <p:cNvPr id="3" name="内容占位符 2">
                <a:extLst>
                  <a:ext uri="{FF2B5EF4-FFF2-40B4-BE49-F238E27FC236}">
                    <a16:creationId xmlns:a16="http://schemas.microsoft.com/office/drawing/2014/main" id="{EE1DA79F-D0CE-8F8E-C529-CC9F379989EB}"/>
                  </a:ext>
                </a:extLst>
              </p:cNvPr>
              <p:cNvSpPr>
                <a:spLocks noGrp="1" noRot="1" noChangeAspect="1" noMove="1" noResize="1" noEditPoints="1" noAdjustHandles="1" noChangeArrowheads="1" noChangeShapeType="1" noTextEdit="1"/>
              </p:cNvSpPr>
              <p:nvPr>
                <p:ph idx="1"/>
              </p:nvPr>
            </p:nvSpPr>
            <p:spPr>
              <a:blipFill>
                <a:blip r:embed="rId2"/>
                <a:stretch>
                  <a:fillRect l="-1005" t="-19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8411B894-7486-01EA-E1C2-761E2A8E47F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41EB5F8-37CA-918C-A4D3-593670EC5F3C}"/>
              </a:ext>
            </a:extLst>
          </p:cNvPr>
          <p:cNvSpPr>
            <a:spLocks noGrp="1"/>
          </p:cNvSpPr>
          <p:nvPr>
            <p:ph type="sldNum" sz="quarter" idx="12"/>
          </p:nvPr>
        </p:nvSpPr>
        <p:spPr/>
        <p:txBody>
          <a:bodyPr/>
          <a:lstStyle/>
          <a:p>
            <a:fld id="{D41FC515-8169-4A29-AA56-DBE520D5741B}" type="slidenum">
              <a:rPr lang="zh-CN" altLang="en-US" smtClean="0"/>
              <a:t>5</a:t>
            </a:fld>
            <a:endParaRPr lang="zh-CN" altLang="en-US"/>
          </a:p>
        </p:txBody>
      </p:sp>
    </p:spTree>
    <p:extLst>
      <p:ext uri="{BB962C8B-B14F-4D97-AF65-F5344CB8AC3E}">
        <p14:creationId xmlns:p14="http://schemas.microsoft.com/office/powerpoint/2010/main" val="402840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42ED34-3807-A627-5372-65A12EAB9B2D}"/>
              </a:ext>
            </a:extLst>
          </p:cNvPr>
          <p:cNvSpPr>
            <a:spLocks noGrp="1"/>
          </p:cNvSpPr>
          <p:nvPr>
            <p:ph type="title"/>
          </p:nvPr>
        </p:nvSpPr>
        <p:spPr/>
        <p:txBody>
          <a:bodyPr/>
          <a:lstStyle/>
          <a:p>
            <a:r>
              <a:rPr lang="zh-CN" altLang="en-US" dirty="0"/>
              <a:t>缺失值填补</a:t>
            </a:r>
            <a:r>
              <a:rPr lang="en-US" altLang="zh-CN" dirty="0"/>
              <a:t>(imputation)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BF6832B-612C-8DC5-273D-171E970B4CC7}"/>
                  </a:ext>
                </a:extLst>
              </p:cNvPr>
              <p:cNvSpPr>
                <a:spLocks noGrp="1"/>
              </p:cNvSpPr>
              <p:nvPr>
                <p:ph idx="1"/>
              </p:nvPr>
            </p:nvSpPr>
            <p:spPr/>
            <p:txBody>
              <a:bodyPr>
                <a:normAutofit fontScale="92500" lnSpcReduction="10000"/>
              </a:bodyPr>
              <a:lstStyle/>
              <a:p>
                <a:r>
                  <a:rPr lang="zh-CN" altLang="en-US" dirty="0"/>
                  <a:t>更一般化的设定，将平行趋势假设修改为：对于任意𝑖𝑡 ∈ </a:t>
                </a:r>
                <a:r>
                  <a:rPr lang="en-US" altLang="zh-CN" dirty="0"/>
                  <a:t>Ω</a:t>
                </a:r>
                <a:r>
                  <a:rPr lang="zh-CN" altLang="en-US" dirty="0"/>
                  <a:t>，</a:t>
                </a:r>
                <a:endParaRPr lang="en-US" altLang="zh-CN" dirty="0"/>
              </a:p>
              <a:p>
                <a:pPr marL="0" indent="0">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r>
                        <a:rPr lang="zh-CN" altLang="en-US" i="1" smtClean="0">
                          <a:latin typeface="Cambria Math" panose="02040503050406030204" pitchFamily="18" charset="0"/>
                        </a:rPr>
                        <m:t>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m:t>
                          </m:r>
                        </m:e>
                        <m:sub>
                          <m:r>
                            <a:rPr lang="zh-CN" altLang="en-US" i="1" smtClean="0">
                              <a:latin typeface="Cambria Math" panose="02040503050406030204" pitchFamily="18" charset="0"/>
                            </a:rPr>
                            <m:t>𝑖𝑡</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𝜆</m:t>
                      </m:r>
                      <m:r>
                        <a:rPr lang="zh-CN" altLang="en-US" i="1" smtClean="0">
                          <a:latin typeface="Cambria Math" panose="02040503050406030204" pitchFamily="18" charset="0"/>
                        </a:rPr>
                        <m:t>,</m:t>
                      </m:r>
                    </m:oMath>
                  </m:oMathPara>
                </a14:m>
                <a:endParaRPr lang="en-US" altLang="zh-CN" dirty="0"/>
              </a:p>
              <a:p>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𝐴</m:t>
                        </m:r>
                      </m:e>
                      <m:sub>
                        <m:r>
                          <a:rPr lang="zh-CN" altLang="en-US" i="1" dirty="0" smtClean="0">
                            <a:latin typeface="Cambria Math" panose="02040503050406030204" pitchFamily="18" charset="0"/>
                          </a:rPr>
                          <m:t>𝑖𝑡</m:t>
                        </m:r>
                      </m:sub>
                    </m:sSub>
                    <m:r>
                      <a:rPr lang="zh-CN" altLang="en-US" i="1" dirty="0" smtClean="0">
                        <a:latin typeface="Cambria Math" panose="02040503050406030204" pitchFamily="18" charset="0"/>
                      </a:rPr>
                      <m:t> </m:t>
                    </m:r>
                  </m:oMath>
                </a14:m>
                <a:r>
                  <a:rPr lang="zh-CN" altLang="en-US" dirty="0"/>
                  <a:t>和</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𝑋</m:t>
                        </m:r>
                      </m:e>
                      <m:sub>
                        <m:r>
                          <a:rPr lang="zh-CN" altLang="en-US" i="1" dirty="0" smtClean="0">
                            <a:latin typeface="Cambria Math" panose="02040503050406030204" pitchFamily="18" charset="0"/>
                          </a:rPr>
                          <m:t>𝑖𝑡</m:t>
                        </m:r>
                      </m:sub>
                    </m:sSub>
                  </m:oMath>
                </a14:m>
                <a:r>
                  <a:rPr lang="zh-CN" altLang="en-US" dirty="0"/>
                  <a:t> 是已知的非随机向量。</a:t>
                </a:r>
                <a:endParaRPr lang="en-US" altLang="zh-CN" dirty="0"/>
              </a:p>
              <a:p>
                <a:r>
                  <a:rPr lang="zh-CN" altLang="en-US" dirty="0"/>
                  <a:t>第</a:t>
                </a:r>
                <a:r>
                  <a:rPr lang="en-US" altLang="zh-CN" dirty="0"/>
                  <a:t>1 </a:t>
                </a:r>
                <a:r>
                  <a:rPr lang="zh-CN" altLang="en-US" dirty="0"/>
                  <a:t>项包含个体固定效应，但也允许它们和不受干预影响的观测协变量交互，比如可以包括个体特定的趋势。第</a:t>
                </a:r>
                <a:r>
                  <a:rPr lang="en-US" altLang="zh-CN" dirty="0"/>
                  <a:t>2 </a:t>
                </a:r>
                <a:r>
                  <a:rPr lang="zh-CN" altLang="en-US" dirty="0"/>
                  <a:t>项也包括个体时间效应，但允许时变协变量，比如</a:t>
                </a:r>
                <a14:m>
                  <m:oMath xmlns:m="http://schemas.openxmlformats.org/officeDocument/2006/math">
                    <m:sSubSup>
                      <m:sSubSupPr>
                        <m:ctrlPr>
                          <a:rPr lang="zh-CN" altLang="en-US" i="1" dirty="0" smtClean="0">
                            <a:latin typeface="Cambria Math" panose="02040503050406030204" pitchFamily="18" charset="0"/>
                          </a:rPr>
                        </m:ctrlPr>
                      </m:sSubSupPr>
                      <m:e>
                        <m:r>
                          <a:rPr lang="zh-CN" altLang="en-US" i="1" dirty="0" smtClean="0">
                            <a:latin typeface="Cambria Math" panose="02040503050406030204" pitchFamily="18" charset="0"/>
                          </a:rPr>
                          <m:t>𝑋</m:t>
                        </m:r>
                      </m:e>
                      <m:sub>
                        <m:r>
                          <a:rPr lang="zh-CN" altLang="en-US" i="1" dirty="0" smtClean="0">
                            <a:latin typeface="Cambria Math" panose="02040503050406030204" pitchFamily="18" charset="0"/>
                          </a:rPr>
                          <m:t>𝑖</m:t>
                        </m:r>
                        <m:r>
                          <a:rPr lang="zh-CN" altLang="en-US" i="1" dirty="0">
                            <a:latin typeface="Cambria Math" panose="02040503050406030204" pitchFamily="18" charset="0"/>
                          </a:rPr>
                          <m:t>𝑡</m:t>
                        </m:r>
                      </m:sub>
                      <m:sup>
                        <m:r>
                          <a:rPr lang="en-US" altLang="zh-CN" i="1" dirty="0" smtClean="0">
                            <a:latin typeface="Cambria Math" panose="02040503050406030204" pitchFamily="18" charset="0"/>
                          </a:rPr>
                          <m:t>′</m:t>
                        </m:r>
                      </m:sup>
                    </m:sSubSup>
                    <m:r>
                      <a:rPr lang="zh-CN" altLang="en-US" i="1" dirty="0">
                        <a:latin typeface="Cambria Math" panose="02040503050406030204" pitchFamily="18" charset="0"/>
                      </a:rPr>
                      <m:t>𝜆</m:t>
                    </m:r>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𝜆</m:t>
                        </m:r>
                      </m:e>
                      <m:sub>
                        <m:r>
                          <a:rPr lang="zh-CN" altLang="en-US" i="1" dirty="0">
                            <a:latin typeface="Cambria Math" panose="02040503050406030204" pitchFamily="18" charset="0"/>
                          </a:rPr>
                          <m:t>𝑡</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sSubSup>
                      <m:sSubSupPr>
                        <m:ctrlPr>
                          <a:rPr lang="zh-CN" altLang="en-US" i="1" dirty="0">
                            <a:latin typeface="Cambria Math" panose="02040503050406030204" pitchFamily="18" charset="0"/>
                          </a:rPr>
                        </m:ctrlPr>
                      </m:sSubSupPr>
                      <m:e>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𝑋</m:t>
                            </m:r>
                          </m:e>
                        </m:acc>
                      </m:e>
                      <m:sub>
                        <m:r>
                          <a:rPr lang="zh-CN" altLang="en-US" i="1" dirty="0" smtClean="0">
                            <a:latin typeface="Cambria Math" panose="02040503050406030204" pitchFamily="18" charset="0"/>
                          </a:rPr>
                          <m:t>𝑖</m:t>
                        </m:r>
                        <m:r>
                          <a:rPr lang="zh-CN" altLang="en-US" i="1" dirty="0">
                            <a:latin typeface="Cambria Math" panose="02040503050406030204" pitchFamily="18" charset="0"/>
                          </a:rPr>
                          <m:t>𝑡</m:t>
                        </m:r>
                      </m:sub>
                      <m:sup>
                        <m:r>
                          <a:rPr lang="en-US" altLang="zh-CN" i="1" dirty="0" smtClean="0">
                            <a:latin typeface="Cambria Math" panose="02040503050406030204" pitchFamily="18" charset="0"/>
                          </a:rPr>
                          <m:t>′</m:t>
                        </m:r>
                      </m:sup>
                    </m:sSubSup>
                    <m:r>
                      <a:rPr lang="zh-CN" altLang="en-US" i="1" dirty="0">
                        <a:latin typeface="Cambria Math" panose="02040503050406030204" pitchFamily="18" charset="0"/>
                      </a:rPr>
                      <m:t> </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𝜆</m:t>
                        </m:r>
                      </m:e>
                    </m:acc>
                  </m:oMath>
                </a14:m>
                <a:r>
                  <a:rPr lang="zh-CN" altLang="en-US" dirty="0"/>
                  <a:t>。</a:t>
                </a:r>
                <a:endParaRPr lang="en-US" altLang="zh-CN" dirty="0"/>
              </a:p>
              <a:p>
                <a:r>
                  <a:rPr lang="zh-CN" altLang="en-US" dirty="0"/>
                  <a:t>类似因子模型</a:t>
                </a:r>
                <a:r>
                  <a:rPr lang="en-US" altLang="zh-CN" dirty="0"/>
                  <a:t>(Factor model)</a:t>
                </a:r>
                <a:r>
                  <a:rPr lang="zh-CN" altLang="en-US" dirty="0"/>
                  <a:t>，但这里要求</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𝐴</m:t>
                        </m:r>
                      </m:e>
                      <m:sub>
                        <m:r>
                          <a:rPr lang="zh-CN" altLang="en-US" i="1" dirty="0" smtClean="0">
                            <a:latin typeface="Cambria Math" panose="02040503050406030204" pitchFamily="18" charset="0"/>
                          </a:rPr>
                          <m:t>𝑖𝑡</m:t>
                        </m:r>
                      </m:sub>
                    </m:sSub>
                  </m:oMath>
                </a14:m>
                <a:r>
                  <a:rPr lang="zh-CN" altLang="en-US" dirty="0"/>
                  <a:t> 是可观测的</a:t>
                </a:r>
              </a:p>
            </p:txBody>
          </p:sp>
        </mc:Choice>
        <mc:Fallback xmlns="">
          <p:sp>
            <p:nvSpPr>
              <p:cNvPr id="3" name="内容占位符 2">
                <a:extLst>
                  <a:ext uri="{FF2B5EF4-FFF2-40B4-BE49-F238E27FC236}">
                    <a16:creationId xmlns:a16="http://schemas.microsoft.com/office/drawing/2014/main" id="{7BF6832B-612C-8DC5-273D-171E970B4CC7}"/>
                  </a:ext>
                </a:extLst>
              </p:cNvPr>
              <p:cNvSpPr>
                <a:spLocks noGrp="1" noRot="1" noChangeAspect="1" noMove="1" noResize="1" noEditPoints="1" noAdjustHandles="1" noChangeArrowheads="1" noChangeShapeType="1" noTextEdit="1"/>
              </p:cNvSpPr>
              <p:nvPr>
                <p:ph idx="1"/>
              </p:nvPr>
            </p:nvSpPr>
            <p:spPr>
              <a:blipFill>
                <a:blip r:embed="rId2"/>
                <a:stretch>
                  <a:fillRect l="-1159" t="-2101" r="-773"/>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E9075AE-0528-5730-FB3A-5DF1199AC05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BE2F0D1-23E6-38AF-99B3-F9A96A44D271}"/>
              </a:ext>
            </a:extLst>
          </p:cNvPr>
          <p:cNvSpPr>
            <a:spLocks noGrp="1"/>
          </p:cNvSpPr>
          <p:nvPr>
            <p:ph type="sldNum" sz="quarter" idx="12"/>
          </p:nvPr>
        </p:nvSpPr>
        <p:spPr/>
        <p:txBody>
          <a:bodyPr/>
          <a:lstStyle/>
          <a:p>
            <a:fld id="{D41FC515-8169-4A29-AA56-DBE520D5741B}" type="slidenum">
              <a:rPr lang="zh-CN" altLang="en-US" smtClean="0"/>
              <a:t>6</a:t>
            </a:fld>
            <a:endParaRPr lang="zh-CN" altLang="en-US"/>
          </a:p>
        </p:txBody>
      </p:sp>
    </p:spTree>
    <p:extLst>
      <p:ext uri="{BB962C8B-B14F-4D97-AF65-F5344CB8AC3E}">
        <p14:creationId xmlns:p14="http://schemas.microsoft.com/office/powerpoint/2010/main" val="156126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45126F-6587-45A6-C27D-9EA92E805140}"/>
              </a:ext>
            </a:extLst>
          </p:cNvPr>
          <p:cNvSpPr>
            <a:spLocks noGrp="1"/>
          </p:cNvSpPr>
          <p:nvPr>
            <p:ph type="title"/>
          </p:nvPr>
        </p:nvSpPr>
        <p:spPr/>
        <p:txBody>
          <a:bodyPr/>
          <a:lstStyle/>
          <a:p>
            <a:r>
              <a:rPr lang="zh-CN" altLang="en-US" dirty="0"/>
              <a:t>缺失值填补</a:t>
            </a:r>
            <a:r>
              <a:rPr lang="en-US" altLang="zh-CN" dirty="0"/>
              <a:t>(imputation)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9C4500E-0FB0-1A51-D1A6-E7D709EF4901}"/>
                  </a:ext>
                </a:extLst>
              </p:cNvPr>
              <p:cNvSpPr>
                <a:spLocks noGrp="1"/>
              </p:cNvSpPr>
              <p:nvPr>
                <p:ph idx="1"/>
              </p:nvPr>
            </p:nvSpPr>
            <p:spPr/>
            <p:txBody>
              <a:bodyPr>
                <a:normAutofit fontScale="92500" lnSpcReduction="20000"/>
              </a:bodyPr>
              <a:lstStyle/>
              <a:p>
                <a:r>
                  <a:rPr lang="zh-CN" altLang="en-US" dirty="0"/>
                  <a:t>估计方法：</a:t>
                </a:r>
                <a:endParaRPr lang="en-US" altLang="zh-CN" dirty="0"/>
              </a:p>
              <a:p>
                <a:pPr lvl="1"/>
                <a:r>
                  <a:rPr lang="zh-CN" altLang="en-US" dirty="0"/>
                  <a:t>用控制状态的观测𝑖𝑡 ∈ </a:t>
                </a:r>
                <a:r>
                  <a:rPr lang="en-US" altLang="zh-CN" dirty="0"/>
                  <a:t>Ω0 </a:t>
                </a:r>
                <a:r>
                  <a:rPr lang="zh-CN" altLang="en-US" dirty="0"/>
                  <a:t>估计模型：</a:t>
                </a:r>
                <a:endParaRPr lang="en-US" altLang="zh-CN" dirty="0"/>
              </a:p>
              <a:p>
                <a:pPr marL="457200" lvl="1"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m:t>
                          </m:r>
                        </m:e>
                        <m:sub>
                          <m:r>
                            <a:rPr lang="zh-CN" altLang="en-US" i="1" smtClean="0">
                              <a:latin typeface="Cambria Math" panose="02040503050406030204" pitchFamily="18" charset="0"/>
                            </a:rPr>
                            <m:t>𝑖𝑡</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𝜆</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oMath>
                  </m:oMathPara>
                </a14:m>
                <a:endParaRPr lang="en-US" altLang="zh-CN" dirty="0"/>
              </a:p>
              <a:p>
                <a:pPr lvl="1"/>
                <a:r>
                  <a:rPr lang="zh-CN" altLang="en-US" dirty="0"/>
                  <a:t>得到估计值 </a:t>
                </a:r>
                <a14:m>
                  <m:oMath xmlns:m="http://schemas.openxmlformats.org/officeDocument/2006/math">
                    <m:sSub>
                      <m:sSubPr>
                        <m:ctrlPr>
                          <a:rPr lang="zh-CN" altLang="en-US" i="1" dirty="0" smtClean="0">
                            <a:latin typeface="Cambria Math" panose="02040503050406030204" pitchFamily="18" charset="0"/>
                          </a:rPr>
                        </m:ctrlPr>
                      </m:sSubPr>
                      <m:e>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𝜇</m:t>
                            </m:r>
                          </m:e>
                        </m:acc>
                      </m:e>
                      <m:sub>
                        <m:r>
                          <a:rPr lang="en-US" altLang="zh-CN" b="0" i="1" dirty="0" smtClean="0">
                            <a:latin typeface="Cambria Math" panose="02040503050406030204" pitchFamily="18" charset="0"/>
                          </a:rPr>
                          <m:t>𝑖</m:t>
                        </m:r>
                      </m:sub>
                    </m:sSub>
                  </m:oMath>
                </a14:m>
                <a:r>
                  <a:rPr lang="zh-CN" altLang="en-US" dirty="0"/>
                  <a:t> 和 </a:t>
                </a:r>
                <a14:m>
                  <m:oMath xmlns:m="http://schemas.openxmlformats.org/officeDocument/2006/math">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𝜆</m:t>
                        </m:r>
                      </m:e>
                    </m:acc>
                  </m:oMath>
                </a14:m>
                <a:r>
                  <a:rPr lang="zh-CN" altLang="en-US" dirty="0"/>
                  <a:t>。</a:t>
                </a:r>
                <a:endParaRPr lang="en-US" altLang="zh-CN" dirty="0"/>
              </a:p>
              <a:p>
                <a:pPr lvl="1"/>
                <a:r>
                  <a:rPr lang="zh-CN" altLang="en-US" dirty="0"/>
                  <a:t>用干预状态的观测𝑖𝑡 ∈ </a:t>
                </a:r>
                <a:r>
                  <a:rPr lang="en-US" altLang="zh-CN" dirty="0"/>
                  <a:t>Ω1 </a:t>
                </a:r>
                <a:r>
                  <a:rPr lang="zh-CN" altLang="en-US" dirty="0"/>
                  <a:t>估计反事实结果：</a:t>
                </a:r>
                <a:endParaRPr lang="en-US" altLang="zh-CN" dirty="0"/>
              </a:p>
              <a:p>
                <a:pPr marL="457200" lvl="1" indent="0" algn="ctr">
                  <a:buNone/>
                </a:pPr>
                <a14:m>
                  <m:oMath xmlns:m="http://schemas.openxmlformats.org/officeDocument/2006/math">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𝑌</m:t>
                            </m:r>
                          </m:e>
                        </m:acc>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𝐴</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m:t>
                        </m:r>
                      </m:e>
                      <m:sub>
                        <m:r>
                          <a:rPr lang="zh-CN" altLang="en-US" i="1" smtClean="0">
                            <a:latin typeface="Cambria Math" panose="02040503050406030204" pitchFamily="18" charset="0"/>
                          </a:rPr>
                          <m:t>𝑖𝑡</m:t>
                        </m:r>
                      </m:sub>
                    </m:sSub>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𝜇</m:t>
                            </m:r>
                          </m:e>
                        </m:acc>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𝜆</m:t>
                        </m:r>
                      </m:e>
                    </m:acc>
                    <m:r>
                      <a:rPr lang="zh-CN" altLang="en-US" i="1" smtClean="0">
                        <a:latin typeface="Cambria Math" panose="02040503050406030204" pitchFamily="18" charset="0"/>
                      </a:rPr>
                      <m:t>,</m:t>
                    </m:r>
                  </m:oMath>
                </a14:m>
                <a:r>
                  <a:rPr lang="zh-CN" altLang="en-US" dirty="0"/>
                  <a:t> </a:t>
                </a:r>
                <a:endParaRPr lang="en-US" altLang="zh-CN" dirty="0"/>
              </a:p>
              <a:p>
                <a:pPr lvl="1"/>
                <a:r>
                  <a:rPr lang="zh-CN" altLang="en-US" dirty="0"/>
                  <a:t>并估计出个体因果效应</a:t>
                </a:r>
                <a:endParaRPr lang="en-US" altLang="zh-CN" dirty="0"/>
              </a:p>
              <a:p>
                <a:pPr marL="457200" lvl="1" indent="0">
                  <a:buNone/>
                </a:pPr>
                <a14:m>
                  <m:oMathPara xmlns:m="http://schemas.openxmlformats.org/officeDocument/2006/math">
                    <m:oMath>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𝑌</m:t>
                              </m:r>
                            </m:e>
                          </m:acc>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oMath>
                  </m:oMathPara>
                </a14:m>
                <a:endParaRPr lang="en-US" altLang="zh-CN" dirty="0"/>
              </a:p>
              <a:p>
                <a:pPr lvl="1"/>
                <a:r>
                  <a:rPr lang="zh-CN" altLang="en-US" dirty="0"/>
                  <a:t>利用合适权重加权平均得到目标参数估计</a:t>
                </a:r>
                <a:endParaRPr lang="en-US" altLang="zh-CN" dirty="0"/>
              </a:p>
              <a:p>
                <a:pPr marL="457200" lvl="1" indent="0">
                  <a:buNone/>
                </a:pPr>
                <a14:m>
                  <m:oMathPara xmlns:m="http://schemas.openxmlformats.org/officeDocument/2006/math">
                    <m:oMath>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e>
                        <m:sub>
                          <m:r>
                            <a:rPr lang="zh-CN" altLang="en-US" i="1" smtClean="0">
                              <a:latin typeface="Cambria Math" panose="02040503050406030204" pitchFamily="18" charset="0"/>
                            </a:rPr>
                            <m:t>𝐴𝑇𝑇</m:t>
                          </m:r>
                        </m:sub>
                      </m:sSub>
                      <m:r>
                        <a:rPr lang="zh-CN" altLang="en-US" i="1" smtClean="0">
                          <a:latin typeface="Cambria Math" panose="02040503050406030204" pitchFamily="18" charset="0"/>
                        </a:rPr>
                        <m:t>=</m:t>
                      </m:r>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𝑖𝑡</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m:rPr>
                                  <m:sty m:val="p"/>
                                </m:rPr>
                                <a:rPr lang="zh-CN" altLang="en-US" i="1" smtClean="0">
                                  <a:latin typeface="Cambria Math" panose="02040503050406030204" pitchFamily="18" charset="0"/>
                                </a:rPr>
                                <m:t>Ω</m:t>
                              </m:r>
                            </m:e>
                            <m:sub>
                              <m:r>
                                <a:rPr lang="zh-CN" altLang="en-US" i="1" smtClean="0">
                                  <a:latin typeface="Cambria Math" panose="02040503050406030204" pitchFamily="18" charset="0"/>
                                </a:rPr>
                                <m:t>1</m:t>
                              </m:r>
                            </m:sub>
                          </m:sSub>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𝑖𝑡</m:t>
                              </m:r>
                            </m:sub>
                          </m:sSub>
                        </m:e>
                      </m:nary>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oMath>
                  </m:oMathPara>
                </a14:m>
                <a:endParaRPr lang="en-US" altLang="zh-CN" dirty="0"/>
              </a:p>
              <a:p>
                <a:pPr lvl="1"/>
                <a:r>
                  <a:rPr lang="en-US" altLang="zh-CN" dirty="0"/>
                  <a:t>Stata: </a:t>
                </a:r>
                <a:r>
                  <a:rPr lang="en-US" altLang="zh-CN" dirty="0" err="1"/>
                  <a:t>didimpuation</a:t>
                </a:r>
                <a:r>
                  <a:rPr lang="en-US" altLang="zh-CN" dirty="0"/>
                  <a:t>, did2s</a:t>
                </a:r>
                <a:endParaRPr lang="zh-CN" altLang="en-US" dirty="0"/>
              </a:p>
            </p:txBody>
          </p:sp>
        </mc:Choice>
        <mc:Fallback xmlns="">
          <p:sp>
            <p:nvSpPr>
              <p:cNvPr id="3" name="内容占位符 2">
                <a:extLst>
                  <a:ext uri="{FF2B5EF4-FFF2-40B4-BE49-F238E27FC236}">
                    <a16:creationId xmlns:a16="http://schemas.microsoft.com/office/drawing/2014/main" id="{D9C4500E-0FB0-1A51-D1A6-E7D709EF4901}"/>
                  </a:ext>
                </a:extLst>
              </p:cNvPr>
              <p:cNvSpPr>
                <a:spLocks noGrp="1" noRot="1" noChangeAspect="1" noMove="1" noResize="1" noEditPoints="1" noAdjustHandles="1" noChangeArrowheads="1" noChangeShapeType="1" noTextEdit="1"/>
              </p:cNvSpPr>
              <p:nvPr>
                <p:ph idx="1"/>
              </p:nvPr>
            </p:nvSpPr>
            <p:spPr>
              <a:blipFill>
                <a:blip r:embed="rId2"/>
                <a:stretch>
                  <a:fillRect l="-1159" t="-3081" b="-19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7E48F01-B3A7-D528-E9DA-65DB439D40B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E823A02-2C00-24F6-1172-A1AC9890953A}"/>
              </a:ext>
            </a:extLst>
          </p:cNvPr>
          <p:cNvSpPr>
            <a:spLocks noGrp="1"/>
          </p:cNvSpPr>
          <p:nvPr>
            <p:ph type="sldNum" sz="quarter" idx="12"/>
          </p:nvPr>
        </p:nvSpPr>
        <p:spPr/>
        <p:txBody>
          <a:bodyPr/>
          <a:lstStyle/>
          <a:p>
            <a:fld id="{D41FC515-8169-4A29-AA56-DBE520D5741B}" type="slidenum">
              <a:rPr lang="zh-CN" altLang="en-US" smtClean="0"/>
              <a:t>7</a:t>
            </a:fld>
            <a:endParaRPr lang="zh-CN" altLang="en-US"/>
          </a:p>
        </p:txBody>
      </p:sp>
    </p:spTree>
    <p:extLst>
      <p:ext uri="{BB962C8B-B14F-4D97-AF65-F5344CB8AC3E}">
        <p14:creationId xmlns:p14="http://schemas.microsoft.com/office/powerpoint/2010/main" val="3630705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39CDEF-7328-A459-C234-D43EBB365E45}"/>
              </a:ext>
            </a:extLst>
          </p:cNvPr>
          <p:cNvSpPr>
            <a:spLocks noGrp="1"/>
          </p:cNvSpPr>
          <p:nvPr>
            <p:ph type="title"/>
          </p:nvPr>
        </p:nvSpPr>
        <p:spPr/>
        <p:txBody>
          <a:bodyPr/>
          <a:lstStyle/>
          <a:p>
            <a:r>
              <a:rPr lang="zh-CN" altLang="en-US" dirty="0"/>
              <a:t>合成控制法</a:t>
            </a:r>
          </a:p>
        </p:txBody>
      </p:sp>
      <p:sp>
        <p:nvSpPr>
          <p:cNvPr id="3" name="内容占位符 2">
            <a:extLst>
              <a:ext uri="{FF2B5EF4-FFF2-40B4-BE49-F238E27FC236}">
                <a16:creationId xmlns:a16="http://schemas.microsoft.com/office/drawing/2014/main" id="{336F4FFE-8BED-7783-EB5D-2E268FC44CEB}"/>
              </a:ext>
            </a:extLst>
          </p:cNvPr>
          <p:cNvSpPr>
            <a:spLocks noGrp="1"/>
          </p:cNvSpPr>
          <p:nvPr>
            <p:ph idx="1"/>
          </p:nvPr>
        </p:nvSpPr>
        <p:spPr/>
        <p:txBody>
          <a:bodyPr>
            <a:normAutofit/>
          </a:bodyPr>
          <a:lstStyle/>
          <a:p>
            <a:r>
              <a:rPr lang="en-US" altLang="zh-CN" dirty="0"/>
              <a:t>“the most important innovation in the policy evaluation literature in the last 15 years.”—Athey and </a:t>
            </a:r>
            <a:r>
              <a:rPr lang="en-US" altLang="zh-CN" dirty="0" err="1"/>
              <a:t>Imbens</a:t>
            </a:r>
            <a:r>
              <a:rPr lang="en-US" altLang="zh-CN" dirty="0"/>
              <a:t> (2017)</a:t>
            </a:r>
          </a:p>
          <a:p>
            <a:pPr lvl="1"/>
            <a:r>
              <a:rPr lang="fr-FR" altLang="zh-CN" dirty="0"/>
              <a:t>Abadie (2003), Abadie et al. (2010), Abadie (2021)</a:t>
            </a:r>
          </a:p>
          <a:p>
            <a:pPr lvl="1"/>
            <a:r>
              <a:rPr lang="zh-CN" altLang="en-US" dirty="0"/>
              <a:t>政策干预在加重层面产生影响（比如城市、省份或国家层面）</a:t>
            </a:r>
            <a:endParaRPr lang="en-US" altLang="zh-CN" dirty="0"/>
          </a:p>
          <a:p>
            <a:pPr lvl="1"/>
            <a:r>
              <a:rPr lang="zh-CN" altLang="en-US" dirty="0"/>
              <a:t>利用</a:t>
            </a:r>
            <a:r>
              <a:rPr lang="en-US" altLang="zh-CN" dirty="0"/>
              <a:t>DID </a:t>
            </a:r>
            <a:r>
              <a:rPr lang="zh-CN" altLang="en-US" dirty="0"/>
              <a:t>面临选择控制组的困难，随意性大</a:t>
            </a:r>
            <a:r>
              <a:rPr lang="en-US" altLang="zh-CN" dirty="0"/>
              <a:t>(Card, 1990)</a:t>
            </a:r>
          </a:p>
          <a:p>
            <a:pPr lvl="1"/>
            <a:r>
              <a:rPr lang="zh-CN" altLang="en-US" dirty="0"/>
              <a:t>如果研究对象是加总层面的数据，利用可选的控制组通过一定方法合成一个可比的控制，比</a:t>
            </a:r>
            <a:r>
              <a:rPr lang="en-US" altLang="zh-CN" dirty="0"/>
              <a:t>DID </a:t>
            </a:r>
            <a:r>
              <a:rPr lang="zh-CN" altLang="en-US" dirty="0"/>
              <a:t>更好。</a:t>
            </a:r>
          </a:p>
        </p:txBody>
      </p:sp>
      <p:sp>
        <p:nvSpPr>
          <p:cNvPr id="4" name="页脚占位符 3">
            <a:extLst>
              <a:ext uri="{FF2B5EF4-FFF2-40B4-BE49-F238E27FC236}">
                <a16:creationId xmlns:a16="http://schemas.microsoft.com/office/drawing/2014/main" id="{4E0FA07E-D992-CECE-3C76-30B6A96F533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C08418B-2FA1-ADFE-5B4F-DB1860783D11}"/>
              </a:ext>
            </a:extLst>
          </p:cNvPr>
          <p:cNvSpPr>
            <a:spLocks noGrp="1"/>
          </p:cNvSpPr>
          <p:nvPr>
            <p:ph type="sldNum" sz="quarter" idx="12"/>
          </p:nvPr>
        </p:nvSpPr>
        <p:spPr/>
        <p:txBody>
          <a:bodyPr/>
          <a:lstStyle/>
          <a:p>
            <a:fld id="{D41FC515-8169-4A29-AA56-DBE520D5741B}" type="slidenum">
              <a:rPr lang="zh-CN" altLang="en-US" smtClean="0"/>
              <a:t>8</a:t>
            </a:fld>
            <a:endParaRPr lang="zh-CN" altLang="en-US"/>
          </a:p>
        </p:txBody>
      </p:sp>
    </p:spTree>
    <p:extLst>
      <p:ext uri="{BB962C8B-B14F-4D97-AF65-F5344CB8AC3E}">
        <p14:creationId xmlns:p14="http://schemas.microsoft.com/office/powerpoint/2010/main" val="4019336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F05EE8-0499-0EB9-F6FC-D00100869BD7}"/>
              </a:ext>
            </a:extLst>
          </p:cNvPr>
          <p:cNvSpPr>
            <a:spLocks noGrp="1"/>
          </p:cNvSpPr>
          <p:nvPr>
            <p:ph type="title"/>
          </p:nvPr>
        </p:nvSpPr>
        <p:spPr/>
        <p:txBody>
          <a:bodyPr/>
          <a:lstStyle/>
          <a:p>
            <a:r>
              <a:rPr lang="zh-CN" altLang="en-US" dirty="0"/>
              <a:t>合成控制法</a:t>
            </a:r>
            <a:br>
              <a:rPr lang="en-US" altLang="zh-CN" dirty="0"/>
            </a:br>
            <a:r>
              <a:rPr lang="zh-CN" altLang="en-US" sz="2400" dirty="0"/>
              <a:t>基本设定</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66908E30-2A24-41C5-B95A-4AD4805D8BB0}"/>
                  </a:ext>
                </a:extLst>
              </p:cNvPr>
              <p:cNvSpPr>
                <a:spLocks noGrp="1"/>
              </p:cNvSpPr>
              <p:nvPr>
                <p:ph idx="1"/>
              </p:nvPr>
            </p:nvSpPr>
            <p:spPr/>
            <p:txBody>
              <a:bodyPr>
                <a:normAutofit/>
              </a:bodyPr>
              <a:lstStyle/>
              <a:p>
                <a:r>
                  <a:rPr lang="zh-CN" altLang="en-US" sz="1400" dirty="0"/>
                  <a:t>𝑁 </a:t>
                </a:r>
                <a:r>
                  <a:rPr lang="en-US" altLang="zh-CN" sz="1400" dirty="0"/>
                  <a:t>+ 1 </a:t>
                </a:r>
                <a:r>
                  <a:rPr lang="zh-CN" altLang="en-US" sz="1400" dirty="0"/>
                  <a:t>个地区，区域</a:t>
                </a:r>
                <a:r>
                  <a:rPr lang="en-US" altLang="zh-CN" sz="1400" dirty="0"/>
                  <a:t>1 </a:t>
                </a:r>
                <a:r>
                  <a:rPr lang="zh-CN" altLang="en-US" sz="1400" dirty="0"/>
                  <a:t>干预，其他</a:t>
                </a:r>
                <a:r>
                  <a:rPr lang="en-US" altLang="zh-CN" sz="1400" dirty="0"/>
                  <a:t>N </a:t>
                </a:r>
                <a:r>
                  <a:rPr lang="zh-CN" altLang="en-US" sz="1400" dirty="0"/>
                  <a:t>个地区为潜在控制组</a:t>
                </a:r>
                <a:r>
                  <a:rPr lang="en-US" altLang="zh-CN" sz="1400" dirty="0"/>
                  <a:t>(”donor pool”)</a:t>
                </a:r>
                <a:r>
                  <a:rPr lang="zh-CN" altLang="en-US" sz="1400" dirty="0"/>
                  <a:t>。</a:t>
                </a:r>
                <a:endParaRPr lang="en-US" altLang="zh-CN" sz="1400" dirty="0"/>
              </a:p>
              <a:p>
                <a14:m>
                  <m:oMath xmlns:m="http://schemas.openxmlformats.org/officeDocument/2006/math">
                    <m:sSub>
                      <m:sSubPr>
                        <m:ctrlPr>
                          <a:rPr lang="zh-CN" altLang="en-US" sz="1400" i="1" dirty="0" smtClean="0">
                            <a:latin typeface="Cambria Math" panose="02040503050406030204" pitchFamily="18" charset="0"/>
                          </a:rPr>
                        </m:ctrlPr>
                      </m:sSubPr>
                      <m:e>
                        <m:r>
                          <a:rPr lang="zh-CN" altLang="en-US" sz="1400" i="1" dirty="0" smtClean="0">
                            <a:latin typeface="Cambria Math" panose="02040503050406030204" pitchFamily="18" charset="0"/>
                          </a:rPr>
                          <m:t>𝑌</m:t>
                        </m:r>
                      </m:e>
                      <m:sub>
                        <m:r>
                          <a:rPr lang="zh-CN" altLang="en-US" sz="1400" i="1" dirty="0" smtClean="0">
                            <a:latin typeface="Cambria Math" panose="02040503050406030204" pitchFamily="18" charset="0"/>
                          </a:rPr>
                          <m:t>𝑖𝑡</m:t>
                        </m:r>
                      </m:sub>
                    </m:sSub>
                    <m:r>
                      <a:rPr lang="en-US" altLang="zh-CN" sz="1400" i="1" dirty="0">
                        <a:latin typeface="Cambria Math" panose="02040503050406030204" pitchFamily="18" charset="0"/>
                      </a:rPr>
                      <m:t>(0) </m:t>
                    </m:r>
                  </m:oMath>
                </a14:m>
                <a:r>
                  <a:rPr lang="zh-CN" altLang="en-US" sz="1400" dirty="0"/>
                  <a:t>表示区域𝑖 没有干预时的潜在结果，𝑖 </a:t>
                </a:r>
                <a:r>
                  <a:rPr lang="en-US" altLang="zh-CN" sz="1400" dirty="0"/>
                  <a:t>= 1, … , </a:t>
                </a:r>
                <a:r>
                  <a:rPr lang="zh-CN" altLang="en-US" sz="1400" dirty="0"/>
                  <a:t>𝑁 </a:t>
                </a:r>
                <a:r>
                  <a:rPr lang="en-US" altLang="zh-CN" sz="1400" dirty="0"/>
                  <a:t>+ 1, </a:t>
                </a:r>
                <a:r>
                  <a:rPr lang="zh-CN" altLang="en-US" sz="1400" dirty="0"/>
                  <a:t>𝑡 </a:t>
                </a:r>
                <a:r>
                  <a:rPr lang="en-US" altLang="zh-CN" sz="1400" dirty="0"/>
                  <a:t>= 1, … , </a:t>
                </a:r>
                <a:r>
                  <a:rPr lang="zh-CN" altLang="en-US" sz="1400" dirty="0"/>
                  <a:t>𝑇 。</a:t>
                </a:r>
                <a:endParaRPr lang="en-US" altLang="zh-CN" sz="1400" dirty="0"/>
              </a:p>
              <a:p>
                <a14:m>
                  <m:oMath xmlns:m="http://schemas.openxmlformats.org/officeDocument/2006/math">
                    <m:sSub>
                      <m:sSubPr>
                        <m:ctrlPr>
                          <a:rPr lang="zh-CN" altLang="en-US" sz="1400" i="1" dirty="0" smtClean="0">
                            <a:latin typeface="Cambria Math" panose="02040503050406030204" pitchFamily="18" charset="0"/>
                          </a:rPr>
                        </m:ctrlPr>
                      </m:sSubPr>
                      <m:e>
                        <m:r>
                          <a:rPr lang="zh-CN" altLang="en-US" sz="1400" i="1" dirty="0" smtClean="0">
                            <a:latin typeface="Cambria Math" panose="02040503050406030204" pitchFamily="18" charset="0"/>
                          </a:rPr>
                          <m:t>𝑇</m:t>
                        </m:r>
                      </m:e>
                      <m:sub>
                        <m:r>
                          <a:rPr lang="en-US" altLang="zh-CN" sz="1400" i="1" dirty="0">
                            <a:latin typeface="Cambria Math" panose="02040503050406030204" pitchFamily="18" charset="0"/>
                          </a:rPr>
                          <m:t>0</m:t>
                        </m:r>
                      </m:sub>
                    </m:sSub>
                    <m:r>
                      <a:rPr lang="en-US" altLang="zh-CN" sz="1400" i="1" dirty="0">
                        <a:latin typeface="Cambria Math" panose="02040503050406030204" pitchFamily="18" charset="0"/>
                      </a:rPr>
                      <m:t> </m:t>
                    </m:r>
                  </m:oMath>
                </a14:m>
                <a:r>
                  <a:rPr lang="zh-CN" altLang="en-US" sz="1400" dirty="0"/>
                  <a:t>为临界时点，</a:t>
                </a:r>
                <a14:m>
                  <m:oMath xmlns:m="http://schemas.openxmlformats.org/officeDocument/2006/math">
                    <m:r>
                      <a:rPr lang="en-US" altLang="zh-CN" sz="1400" i="1" dirty="0" smtClean="0">
                        <a:latin typeface="Cambria Math" panose="02040503050406030204" pitchFamily="18" charset="0"/>
                      </a:rPr>
                      <m:t>1 ≤ </m:t>
                    </m:r>
                    <m:sSub>
                      <m:sSubPr>
                        <m:ctrlPr>
                          <a:rPr lang="zh-CN" altLang="en-US" sz="1400" i="1" dirty="0">
                            <a:latin typeface="Cambria Math" panose="02040503050406030204" pitchFamily="18" charset="0"/>
                          </a:rPr>
                        </m:ctrlPr>
                      </m:sSubPr>
                      <m:e>
                        <m:r>
                          <a:rPr lang="zh-CN" altLang="en-US" sz="1400" i="1" dirty="0">
                            <a:latin typeface="Cambria Math" panose="02040503050406030204" pitchFamily="18" charset="0"/>
                          </a:rPr>
                          <m:t>𝑇</m:t>
                        </m:r>
                      </m:e>
                      <m:sub>
                        <m:r>
                          <a:rPr lang="en-US" altLang="zh-CN" sz="1400" i="1" dirty="0">
                            <a:latin typeface="Cambria Math" panose="02040503050406030204" pitchFamily="18" charset="0"/>
                          </a:rPr>
                          <m:t>0</m:t>
                        </m:r>
                      </m:sub>
                    </m:sSub>
                    <m:r>
                      <a:rPr lang="en-US" altLang="zh-CN" sz="1400" i="1" dirty="0">
                        <a:latin typeface="Cambria Math" panose="02040503050406030204" pitchFamily="18" charset="0"/>
                      </a:rPr>
                      <m:t> &lt; </m:t>
                    </m:r>
                    <m:r>
                      <a:rPr lang="zh-CN" altLang="en-US" sz="1400" i="1" dirty="0">
                        <a:latin typeface="Cambria Math" panose="02040503050406030204" pitchFamily="18" charset="0"/>
                      </a:rPr>
                      <m:t>𝑇</m:t>
                    </m:r>
                    <m:r>
                      <a:rPr lang="zh-CN" altLang="en-US" sz="1400" i="1" dirty="0">
                        <a:latin typeface="Cambria Math" panose="02040503050406030204" pitchFamily="18" charset="0"/>
                      </a:rPr>
                      <m:t> </m:t>
                    </m:r>
                  </m:oMath>
                </a14:m>
                <a:r>
                  <a:rPr lang="zh-CN" altLang="en-US" sz="1400" dirty="0"/>
                  <a:t>。</a:t>
                </a:r>
                <a14:m>
                  <m:oMath xmlns:m="http://schemas.openxmlformats.org/officeDocument/2006/math">
                    <m:sSub>
                      <m:sSubPr>
                        <m:ctrlPr>
                          <a:rPr lang="zh-CN" altLang="en-US" sz="1400" i="1" dirty="0" smtClean="0">
                            <a:latin typeface="Cambria Math" panose="02040503050406030204" pitchFamily="18" charset="0"/>
                          </a:rPr>
                        </m:ctrlPr>
                      </m:sSubPr>
                      <m:e>
                        <m:r>
                          <a:rPr lang="zh-CN" altLang="en-US" sz="1400" i="1" dirty="0" smtClean="0">
                            <a:latin typeface="Cambria Math" panose="02040503050406030204" pitchFamily="18" charset="0"/>
                          </a:rPr>
                          <m:t>𝑇</m:t>
                        </m:r>
                      </m:e>
                      <m:sub>
                        <m:r>
                          <a:rPr lang="en-US" altLang="zh-CN" sz="1400" i="1" dirty="0">
                            <a:latin typeface="Cambria Math" panose="02040503050406030204" pitchFamily="18" charset="0"/>
                          </a:rPr>
                          <m:t>0</m:t>
                        </m:r>
                      </m:sub>
                    </m:sSub>
                  </m:oMath>
                </a14:m>
                <a:r>
                  <a:rPr lang="en-US" altLang="zh-CN" sz="1400" dirty="0"/>
                  <a:t> </a:t>
                </a:r>
                <a:r>
                  <a:rPr lang="zh-CN" altLang="en-US" sz="1400" dirty="0"/>
                  <a:t>期及之前均为非干预期。</a:t>
                </a:r>
                <a:endParaRPr lang="en-US" altLang="zh-CN" sz="1400" dirty="0"/>
              </a:p>
              <a:p>
                <a14:m>
                  <m:oMath xmlns:m="http://schemas.openxmlformats.org/officeDocument/2006/math">
                    <m:sSub>
                      <m:sSubPr>
                        <m:ctrlPr>
                          <a:rPr lang="zh-CN" altLang="en-US" sz="1400" i="1" dirty="0" smtClean="0">
                            <a:latin typeface="Cambria Math" panose="02040503050406030204" pitchFamily="18" charset="0"/>
                          </a:rPr>
                        </m:ctrlPr>
                      </m:sSubPr>
                      <m:e>
                        <m:r>
                          <a:rPr lang="zh-CN" altLang="en-US" sz="1400" i="1" dirty="0" smtClean="0">
                            <a:latin typeface="Cambria Math" panose="02040503050406030204" pitchFamily="18" charset="0"/>
                          </a:rPr>
                          <m:t>𝑌</m:t>
                        </m:r>
                      </m:e>
                      <m:sub>
                        <m:r>
                          <a:rPr lang="zh-CN" altLang="en-US" sz="1400" i="1" dirty="0" smtClean="0">
                            <a:latin typeface="Cambria Math" panose="02040503050406030204" pitchFamily="18" charset="0"/>
                          </a:rPr>
                          <m:t>𝑖𝑡</m:t>
                        </m:r>
                      </m:sub>
                    </m:sSub>
                    <m:r>
                      <a:rPr lang="en-US" altLang="zh-CN" sz="1400" i="1" dirty="0">
                        <a:latin typeface="Cambria Math" panose="02040503050406030204" pitchFamily="18" charset="0"/>
                      </a:rPr>
                      <m:t>(1) </m:t>
                    </m:r>
                  </m:oMath>
                </a14:m>
                <a:r>
                  <a:rPr lang="zh-CN" altLang="en-US" sz="1400" dirty="0"/>
                  <a:t>为𝑡 期地区𝑖 干预时的潜在结果，</a:t>
                </a:r>
                <a14:m>
                  <m:oMath xmlns:m="http://schemas.openxmlformats.org/officeDocument/2006/math">
                    <m:r>
                      <a:rPr lang="zh-CN" altLang="en-US" sz="1400" i="1" dirty="0" smtClean="0">
                        <a:latin typeface="Cambria Math" panose="02040503050406030204" pitchFamily="18" charset="0"/>
                      </a:rPr>
                      <m:t>𝑡</m:t>
                    </m:r>
                    <m:r>
                      <a:rPr lang="zh-CN" altLang="en-US" sz="1400" i="1" dirty="0" smtClean="0">
                        <a:latin typeface="Cambria Math" panose="02040503050406030204" pitchFamily="18" charset="0"/>
                      </a:rPr>
                      <m:t> &gt; </m:t>
                    </m:r>
                    <m:sSub>
                      <m:sSubPr>
                        <m:ctrlPr>
                          <a:rPr lang="zh-CN" altLang="en-US" sz="1400" i="1" dirty="0">
                            <a:latin typeface="Cambria Math" panose="02040503050406030204" pitchFamily="18" charset="0"/>
                          </a:rPr>
                        </m:ctrlPr>
                      </m:sSubPr>
                      <m:e>
                        <m:r>
                          <a:rPr lang="zh-CN" altLang="en-US" sz="1400" i="1" dirty="0">
                            <a:latin typeface="Cambria Math" panose="02040503050406030204" pitchFamily="18" charset="0"/>
                          </a:rPr>
                          <m:t>𝑇</m:t>
                        </m:r>
                      </m:e>
                      <m:sub>
                        <m:r>
                          <a:rPr lang="en-US" altLang="zh-CN" sz="1400" i="1" dirty="0">
                            <a:latin typeface="Cambria Math" panose="02040503050406030204" pitchFamily="18" charset="0"/>
                          </a:rPr>
                          <m:t>0</m:t>
                        </m:r>
                      </m:sub>
                    </m:sSub>
                  </m:oMath>
                </a14:m>
                <a:r>
                  <a:rPr lang="zh-CN" altLang="en-US" sz="1400" dirty="0"/>
                  <a:t>。</a:t>
                </a:r>
                <a:endParaRPr lang="en-US" altLang="zh-CN" sz="1400" dirty="0"/>
              </a:p>
              <a:p>
                <a:r>
                  <a:rPr lang="zh-CN" altLang="en-US" sz="1400" dirty="0"/>
                  <a:t>干预对干预前结果没有影响。</a:t>
                </a:r>
                <a:endParaRPr lang="en-US" altLang="zh-CN" sz="1400" dirty="0"/>
              </a:p>
              <a:p>
                <a:r>
                  <a:rPr lang="zh-CN" altLang="en-US" sz="1400" dirty="0"/>
                  <a:t>𝑖 </a:t>
                </a:r>
                <a:r>
                  <a:rPr lang="en-US" altLang="zh-CN" sz="1400" dirty="0"/>
                  <a:t>= 1</a:t>
                </a:r>
                <a:r>
                  <a:rPr lang="zh-CN" altLang="en-US" sz="1400" dirty="0"/>
                  <a:t>，</a:t>
                </a:r>
                <a14:m>
                  <m:oMath xmlns:m="http://schemas.openxmlformats.org/officeDocument/2006/math">
                    <m:r>
                      <a:rPr lang="zh-CN" altLang="en-US" sz="1400" i="1" dirty="0" smtClean="0">
                        <a:latin typeface="Cambria Math" panose="02040503050406030204" pitchFamily="18" charset="0"/>
                      </a:rPr>
                      <m:t>𝑡</m:t>
                    </m:r>
                    <m:r>
                      <a:rPr lang="zh-CN" altLang="en-US" sz="1400" i="1" dirty="0" smtClean="0">
                        <a:latin typeface="Cambria Math" panose="02040503050406030204" pitchFamily="18" charset="0"/>
                      </a:rPr>
                      <m:t> ∈ {</m:t>
                    </m:r>
                    <m:sSub>
                      <m:sSubPr>
                        <m:ctrlPr>
                          <a:rPr lang="zh-CN" altLang="en-US" sz="1400" i="1" dirty="0">
                            <a:latin typeface="Cambria Math" panose="02040503050406030204" pitchFamily="18" charset="0"/>
                          </a:rPr>
                        </m:ctrlPr>
                      </m:sSubPr>
                      <m:e>
                        <m:r>
                          <a:rPr lang="zh-CN" altLang="en-US" sz="1400" i="1" dirty="0">
                            <a:latin typeface="Cambria Math" panose="02040503050406030204" pitchFamily="18" charset="0"/>
                          </a:rPr>
                          <m:t>𝑇</m:t>
                        </m:r>
                      </m:e>
                      <m:sub>
                        <m:r>
                          <a:rPr lang="en-US" altLang="zh-CN" sz="1400" i="1" dirty="0">
                            <a:latin typeface="Cambria Math" panose="02040503050406030204" pitchFamily="18" charset="0"/>
                          </a:rPr>
                          <m:t>0</m:t>
                        </m:r>
                      </m:sub>
                    </m:sSub>
                    <m:r>
                      <a:rPr lang="en-US" altLang="zh-CN" sz="1400" i="1" dirty="0">
                        <a:latin typeface="Cambria Math" panose="02040503050406030204" pitchFamily="18" charset="0"/>
                      </a:rPr>
                      <m:t> + 1, … , </m:t>
                    </m:r>
                    <m:r>
                      <a:rPr lang="zh-CN" altLang="en-US" sz="1400" i="1" dirty="0">
                        <a:latin typeface="Cambria Math" panose="02040503050406030204" pitchFamily="18" charset="0"/>
                      </a:rPr>
                      <m:t>𝑇</m:t>
                    </m:r>
                    <m:r>
                      <a:rPr lang="zh-CN" altLang="en-US" sz="1400" i="1" dirty="0">
                        <a:latin typeface="Cambria Math" panose="02040503050406030204" pitchFamily="18" charset="0"/>
                      </a:rPr>
                      <m:t> } </m:t>
                    </m:r>
                  </m:oMath>
                </a14:m>
                <a:r>
                  <a:rPr lang="zh-CN" altLang="en-US" sz="1400" dirty="0"/>
                  <a:t>时，</a:t>
                </a:r>
                <a14:m>
                  <m:oMath xmlns:m="http://schemas.openxmlformats.org/officeDocument/2006/math">
                    <m:sSub>
                      <m:sSubPr>
                        <m:ctrlPr>
                          <a:rPr lang="zh-CN" altLang="en-US" sz="1400" i="1" dirty="0" smtClean="0">
                            <a:latin typeface="Cambria Math" panose="02040503050406030204" pitchFamily="18" charset="0"/>
                          </a:rPr>
                        </m:ctrlPr>
                      </m:sSubPr>
                      <m:e>
                        <m:r>
                          <a:rPr lang="zh-CN" altLang="en-US" sz="1400" i="1" dirty="0" smtClean="0">
                            <a:latin typeface="Cambria Math" panose="02040503050406030204" pitchFamily="18" charset="0"/>
                          </a:rPr>
                          <m:t>𝐷</m:t>
                        </m:r>
                      </m:e>
                      <m:sub>
                        <m:r>
                          <a:rPr lang="zh-CN" altLang="en-US" sz="1400" i="1" dirty="0" smtClean="0">
                            <a:latin typeface="Cambria Math" panose="02040503050406030204" pitchFamily="18" charset="0"/>
                          </a:rPr>
                          <m:t>𝑖𝑡</m:t>
                        </m:r>
                      </m:sub>
                    </m:sSub>
                    <m:r>
                      <a:rPr lang="zh-CN" altLang="en-US" sz="1400" i="1" dirty="0" smtClean="0">
                        <a:latin typeface="Cambria Math" panose="02040503050406030204" pitchFamily="18" charset="0"/>
                      </a:rPr>
                      <m:t> </m:t>
                    </m:r>
                    <m:r>
                      <a:rPr lang="en-US" altLang="zh-CN" sz="1400" i="1" dirty="0">
                        <a:latin typeface="Cambria Math" panose="02040503050406030204" pitchFamily="18" charset="0"/>
                      </a:rPr>
                      <m:t>= 1</m:t>
                    </m:r>
                  </m:oMath>
                </a14:m>
                <a:r>
                  <a:rPr lang="zh-CN" altLang="en-US" sz="1400" dirty="0"/>
                  <a:t>，其它，</a:t>
                </a:r>
                <a14:m>
                  <m:oMath xmlns:m="http://schemas.openxmlformats.org/officeDocument/2006/math">
                    <m:sSub>
                      <m:sSubPr>
                        <m:ctrlPr>
                          <a:rPr lang="zh-CN" altLang="en-US" sz="1400" i="1" dirty="0" smtClean="0">
                            <a:latin typeface="Cambria Math" panose="02040503050406030204" pitchFamily="18" charset="0"/>
                          </a:rPr>
                        </m:ctrlPr>
                      </m:sSubPr>
                      <m:e>
                        <m:r>
                          <a:rPr lang="zh-CN" altLang="en-US" sz="1400" i="1" dirty="0" smtClean="0">
                            <a:latin typeface="Cambria Math" panose="02040503050406030204" pitchFamily="18" charset="0"/>
                          </a:rPr>
                          <m:t>𝐷</m:t>
                        </m:r>
                      </m:e>
                      <m:sub>
                        <m:r>
                          <a:rPr lang="zh-CN" altLang="en-US" sz="1400" i="1" dirty="0" smtClean="0">
                            <a:latin typeface="Cambria Math" panose="02040503050406030204" pitchFamily="18" charset="0"/>
                          </a:rPr>
                          <m:t>𝑖𝑡</m:t>
                        </m:r>
                      </m:sub>
                    </m:sSub>
                    <m:r>
                      <a:rPr lang="zh-CN" altLang="en-US" sz="1400" i="1" dirty="0" smtClean="0">
                        <a:latin typeface="Cambria Math" panose="02040503050406030204" pitchFamily="18" charset="0"/>
                      </a:rPr>
                      <m:t> </m:t>
                    </m:r>
                    <m:r>
                      <a:rPr lang="en-US" altLang="zh-CN" sz="1400" i="1" dirty="0">
                        <a:latin typeface="Cambria Math" panose="02040503050406030204" pitchFamily="18" charset="0"/>
                      </a:rPr>
                      <m:t>= 0</m:t>
                    </m:r>
                  </m:oMath>
                </a14:m>
                <a:r>
                  <a:rPr lang="zh-CN" altLang="en-US" sz="1400" dirty="0"/>
                  <a:t>。</a:t>
                </a:r>
              </a:p>
            </p:txBody>
          </p:sp>
        </mc:Choice>
        <mc:Fallback>
          <p:sp>
            <p:nvSpPr>
              <p:cNvPr id="3" name="内容占位符 2">
                <a:extLst>
                  <a:ext uri="{FF2B5EF4-FFF2-40B4-BE49-F238E27FC236}">
                    <a16:creationId xmlns:a16="http://schemas.microsoft.com/office/drawing/2014/main" id="{66908E30-2A24-41C5-B95A-4AD4805D8BB0}"/>
                  </a:ext>
                </a:extLst>
              </p:cNvPr>
              <p:cNvSpPr>
                <a:spLocks noGrp="1" noRot="1" noChangeAspect="1" noMove="1" noResize="1" noEditPoints="1" noAdjustHandles="1" noChangeArrowheads="1" noChangeShapeType="1" noTextEdit="1"/>
              </p:cNvSpPr>
              <p:nvPr>
                <p:ph idx="1"/>
              </p:nvPr>
            </p:nvSpPr>
            <p:spPr>
              <a:blipFill>
                <a:blip r:embed="rId2"/>
                <a:stretch>
                  <a:fillRect l="-77" t="-2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95DC497-184B-8829-EA61-8985B95EC0B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328B300-DD9E-0407-F201-BAF40D2F87E9}"/>
              </a:ext>
            </a:extLst>
          </p:cNvPr>
          <p:cNvSpPr>
            <a:spLocks noGrp="1"/>
          </p:cNvSpPr>
          <p:nvPr>
            <p:ph type="sldNum" sz="quarter" idx="12"/>
          </p:nvPr>
        </p:nvSpPr>
        <p:spPr/>
        <p:txBody>
          <a:bodyPr/>
          <a:lstStyle/>
          <a:p>
            <a:fld id="{D41FC515-8169-4A29-AA56-DBE520D5741B}" type="slidenum">
              <a:rPr lang="zh-CN" altLang="en-US" smtClean="0"/>
              <a:t>9</a:t>
            </a:fld>
            <a:endParaRPr lang="zh-CN" altLang="en-US"/>
          </a:p>
        </p:txBody>
      </p:sp>
      <p:pic>
        <p:nvPicPr>
          <p:cNvPr id="7" name="图片 6">
            <a:extLst>
              <a:ext uri="{FF2B5EF4-FFF2-40B4-BE49-F238E27FC236}">
                <a16:creationId xmlns:a16="http://schemas.microsoft.com/office/drawing/2014/main" id="{8037EFE6-CCE0-6392-7613-4F6CF9C971DC}"/>
              </a:ext>
            </a:extLst>
          </p:cNvPr>
          <p:cNvPicPr>
            <a:picLocks noChangeAspect="1"/>
          </p:cNvPicPr>
          <p:nvPr/>
        </p:nvPicPr>
        <p:blipFill>
          <a:blip r:embed="rId3"/>
          <a:stretch>
            <a:fillRect/>
          </a:stretch>
        </p:blipFill>
        <p:spPr>
          <a:xfrm>
            <a:off x="1880527" y="3935479"/>
            <a:ext cx="4577423" cy="2785997"/>
          </a:xfrm>
          <a:prstGeom prst="rect">
            <a:avLst/>
          </a:prstGeom>
        </p:spPr>
      </p:pic>
    </p:spTree>
    <p:extLst>
      <p:ext uri="{BB962C8B-B14F-4D97-AF65-F5344CB8AC3E}">
        <p14:creationId xmlns:p14="http://schemas.microsoft.com/office/powerpoint/2010/main" val="2164689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600F4D-DC9E-6B84-0E34-3BE6EF526EC6}"/>
              </a:ext>
            </a:extLst>
          </p:cNvPr>
          <p:cNvSpPr>
            <a:spLocks noGrp="1"/>
          </p:cNvSpPr>
          <p:nvPr>
            <p:ph type="title"/>
          </p:nvPr>
        </p:nvSpPr>
        <p:spPr/>
        <p:txBody>
          <a:bodyPr/>
          <a:lstStyle/>
          <a:p>
            <a:r>
              <a:rPr lang="zh-CN" altLang="en-US" dirty="0"/>
              <a:t>双重差分法</a:t>
            </a:r>
          </a:p>
        </p:txBody>
      </p:sp>
      <p:pic>
        <p:nvPicPr>
          <p:cNvPr id="7" name="内容占位符 6">
            <a:extLst>
              <a:ext uri="{FF2B5EF4-FFF2-40B4-BE49-F238E27FC236}">
                <a16:creationId xmlns:a16="http://schemas.microsoft.com/office/drawing/2014/main" id="{71DA0B75-360B-756E-E88B-C7D7C527F2E3}"/>
              </a:ext>
            </a:extLst>
          </p:cNvPr>
          <p:cNvPicPr>
            <a:picLocks noGrp="1" noChangeAspect="1"/>
          </p:cNvPicPr>
          <p:nvPr>
            <p:ph idx="1"/>
          </p:nvPr>
        </p:nvPicPr>
        <p:blipFill>
          <a:blip r:embed="rId2"/>
          <a:stretch>
            <a:fillRect/>
          </a:stretch>
        </p:blipFill>
        <p:spPr>
          <a:xfrm>
            <a:off x="1093196" y="1825625"/>
            <a:ext cx="6957608" cy="4351338"/>
          </a:xfrm>
          <a:prstGeom prst="rect">
            <a:avLst/>
          </a:prstGeom>
        </p:spPr>
      </p:pic>
      <p:sp>
        <p:nvSpPr>
          <p:cNvPr id="4" name="页脚占位符 3">
            <a:extLst>
              <a:ext uri="{FF2B5EF4-FFF2-40B4-BE49-F238E27FC236}">
                <a16:creationId xmlns:a16="http://schemas.microsoft.com/office/drawing/2014/main" id="{D4B78772-CE98-758B-8D3B-3D4BEBC045D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A6CFEB5-C6C8-F630-E142-74AE411B6A0A}"/>
              </a:ext>
            </a:extLst>
          </p:cNvPr>
          <p:cNvSpPr>
            <a:spLocks noGrp="1"/>
          </p:cNvSpPr>
          <p:nvPr>
            <p:ph type="sldNum" sz="quarter" idx="12"/>
          </p:nvPr>
        </p:nvSpPr>
        <p:spPr/>
        <p:txBody>
          <a:bodyPr/>
          <a:lstStyle/>
          <a:p>
            <a:fld id="{D41FC515-8169-4A29-AA56-DBE520D5741B}" type="slidenum">
              <a:rPr lang="zh-CN" altLang="en-US" smtClean="0"/>
              <a:t>10</a:t>
            </a:fld>
            <a:endParaRPr lang="zh-CN" altLang="en-US"/>
          </a:p>
        </p:txBody>
      </p:sp>
    </p:spTree>
    <p:extLst>
      <p:ext uri="{BB962C8B-B14F-4D97-AF65-F5344CB8AC3E}">
        <p14:creationId xmlns:p14="http://schemas.microsoft.com/office/powerpoint/2010/main" val="202991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4FDC94-89F3-A8A6-7B59-8D7A1640C7ED}"/>
              </a:ext>
            </a:extLst>
          </p:cNvPr>
          <p:cNvSpPr>
            <a:spLocks noGrp="1"/>
          </p:cNvSpPr>
          <p:nvPr>
            <p:ph type="title"/>
          </p:nvPr>
        </p:nvSpPr>
        <p:spPr/>
        <p:txBody>
          <a:bodyPr/>
          <a:lstStyle/>
          <a:p>
            <a:r>
              <a:rPr lang="zh-CN" altLang="en-US" dirty="0"/>
              <a:t>合成控制法</a:t>
            </a:r>
          </a:p>
        </p:txBody>
      </p:sp>
      <p:pic>
        <p:nvPicPr>
          <p:cNvPr id="7" name="内容占位符 6">
            <a:extLst>
              <a:ext uri="{FF2B5EF4-FFF2-40B4-BE49-F238E27FC236}">
                <a16:creationId xmlns:a16="http://schemas.microsoft.com/office/drawing/2014/main" id="{57FA0FA7-9EA5-F8DF-8950-A7FA695DA515}"/>
              </a:ext>
            </a:extLst>
          </p:cNvPr>
          <p:cNvPicPr>
            <a:picLocks noGrp="1" noChangeAspect="1"/>
          </p:cNvPicPr>
          <p:nvPr>
            <p:ph idx="1"/>
          </p:nvPr>
        </p:nvPicPr>
        <p:blipFill>
          <a:blip r:embed="rId2"/>
          <a:stretch>
            <a:fillRect/>
          </a:stretch>
        </p:blipFill>
        <p:spPr>
          <a:xfrm>
            <a:off x="1072751" y="1825625"/>
            <a:ext cx="6998497" cy="4351338"/>
          </a:xfrm>
          <a:prstGeom prst="rect">
            <a:avLst/>
          </a:prstGeom>
        </p:spPr>
      </p:pic>
      <p:sp>
        <p:nvSpPr>
          <p:cNvPr id="4" name="页脚占位符 3">
            <a:extLst>
              <a:ext uri="{FF2B5EF4-FFF2-40B4-BE49-F238E27FC236}">
                <a16:creationId xmlns:a16="http://schemas.microsoft.com/office/drawing/2014/main" id="{A6521627-83F0-BACD-AC81-2BD5E8D6C9A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32963AC-D52C-3849-8694-B46D68140A0A}"/>
              </a:ext>
            </a:extLst>
          </p:cNvPr>
          <p:cNvSpPr>
            <a:spLocks noGrp="1"/>
          </p:cNvSpPr>
          <p:nvPr>
            <p:ph type="sldNum" sz="quarter" idx="12"/>
          </p:nvPr>
        </p:nvSpPr>
        <p:spPr/>
        <p:txBody>
          <a:bodyPr/>
          <a:lstStyle/>
          <a:p>
            <a:fld id="{D41FC515-8169-4A29-AA56-DBE520D5741B}" type="slidenum">
              <a:rPr lang="zh-CN" altLang="en-US" smtClean="0"/>
              <a:t>11</a:t>
            </a:fld>
            <a:endParaRPr lang="zh-CN" altLang="en-US"/>
          </a:p>
        </p:txBody>
      </p:sp>
    </p:spTree>
    <p:extLst>
      <p:ext uri="{BB962C8B-B14F-4D97-AF65-F5344CB8AC3E}">
        <p14:creationId xmlns:p14="http://schemas.microsoft.com/office/powerpoint/2010/main" val="2458298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3D1B30-75F8-8244-8779-0BA432FFD117}"/>
              </a:ext>
            </a:extLst>
          </p:cNvPr>
          <p:cNvSpPr>
            <a:spLocks noGrp="1"/>
          </p:cNvSpPr>
          <p:nvPr>
            <p:ph type="title"/>
          </p:nvPr>
        </p:nvSpPr>
        <p:spPr/>
        <p:txBody>
          <a:bodyPr/>
          <a:lstStyle/>
          <a:p>
            <a:r>
              <a:rPr lang="zh-CN" altLang="en-US" dirty="0"/>
              <a:t>合成控制法</a:t>
            </a:r>
            <a:br>
              <a:rPr lang="zh-CN" altLang="en-US" dirty="0"/>
            </a:br>
            <a:r>
              <a:rPr lang="zh-CN" altLang="en-US" sz="2400" dirty="0"/>
              <a:t>基本设定</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39C7393-F6CE-B4AF-473B-1D0DE90DCE23}"/>
                  </a:ext>
                </a:extLst>
              </p:cNvPr>
              <p:cNvSpPr>
                <a:spLocks noGrp="1"/>
              </p:cNvSpPr>
              <p:nvPr>
                <p:ph idx="1"/>
              </p:nvPr>
            </p:nvSpPr>
            <p:spPr/>
            <p:txBody>
              <a:bodyPr>
                <a:normAutofit fontScale="85000" lnSpcReduction="20000"/>
              </a:bodyPr>
              <a:lstStyle/>
              <a:p>
                <a:pPr>
                  <a:lnSpc>
                    <a:spcPct val="110000"/>
                  </a:lnSpc>
                </a:pPr>
                <a:r>
                  <a:rPr lang="zh-CN" altLang="en-US" dirty="0"/>
                  <a:t>个体𝑖 在𝑡 期的观测结果为：</a:t>
                </a:r>
                <a:endParaRPr lang="en-US" altLang="zh-CN" dirty="0"/>
              </a:p>
              <a:p>
                <a:pPr marL="0" indent="0">
                  <a:lnSpc>
                    <a:spcPct val="11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Sub>
                        </m:e>
                      </m:d>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𝑖𝑡</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oMath>
                  </m:oMathPara>
                </a14:m>
                <a:endParaRPr lang="en-US" altLang="zh-CN" dirty="0"/>
              </a:p>
              <a:p>
                <a:pPr>
                  <a:lnSpc>
                    <a:spcPct val="110000"/>
                  </a:lnSpc>
                </a:pPr>
                <a:r>
                  <a:rPr lang="zh-CN" altLang="en-US" dirty="0"/>
                  <a:t>为叙述方便，假设第</a:t>
                </a:r>
                <a:r>
                  <a:rPr lang="en-US" altLang="zh-CN" dirty="0"/>
                  <a:t>1 </a:t>
                </a:r>
                <a:r>
                  <a:rPr lang="zh-CN" altLang="en-US" dirty="0"/>
                  <a:t>个个体在𝑇</a:t>
                </a:r>
                <a:r>
                  <a:rPr lang="en-US" altLang="zh-CN" dirty="0"/>
                  <a:t>0(1 ≤ </a:t>
                </a:r>
                <a:r>
                  <a:rPr lang="zh-CN" altLang="en-US" dirty="0"/>
                  <a:t>𝑇</a:t>
                </a:r>
                <a:r>
                  <a:rPr lang="en-US" altLang="zh-CN" dirty="0"/>
                  <a:t>0 &lt; </a:t>
                </a:r>
                <a:r>
                  <a:rPr lang="zh-CN" altLang="en-US" dirty="0"/>
                  <a:t>𝑇 </a:t>
                </a:r>
                <a:r>
                  <a:rPr lang="en-US" altLang="zh-CN" dirty="0"/>
                  <a:t>) </a:t>
                </a:r>
                <a:r>
                  <a:rPr lang="zh-CN" altLang="en-US" dirty="0"/>
                  <a:t>期后受到政策干预，而其他𝑁 个个体所有时期均没有受到政策影响，即，</a:t>
                </a:r>
                <a:endParaRPr lang="en-US" altLang="zh-CN" dirty="0"/>
              </a:p>
              <a:p>
                <a:pPr marL="0" indent="0">
                  <a:lnSpc>
                    <a:spcPct val="11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m>
                                <m:mPr>
                                  <m:mcs>
                                    <m:mc>
                                      <m:mcPr>
                                        <m:count m:val="2"/>
                                        <m:mcJc m:val="center"/>
                                      </m:mcPr>
                                    </m:mc>
                                  </m:mcs>
                                  <m:ctrlPr>
                                    <a:rPr lang="zh-CN" altLang="en-US" i="1" smtClean="0">
                                      <a:latin typeface="Cambria Math" panose="02040503050406030204" pitchFamily="18" charset="0"/>
                                    </a:rPr>
                                  </m:ctrlPr>
                                </m:mPr>
                                <m:mr>
                                  <m:e>
                                    <m:r>
                                      <a:rPr lang="zh-CN" altLang="en-US" i="1" smtClean="0">
                                        <a:latin typeface="Cambria Math" panose="02040503050406030204" pitchFamily="18" charset="0"/>
                                      </a:rPr>
                                      <m:t>1</m:t>
                                    </m:r>
                                  </m:e>
                                  <m:e>
                                    <m:r>
                                      <a:rPr lang="zh-CN" altLang="en-US" i="1" smtClean="0">
                                        <a:latin typeface="Cambria Math" panose="02040503050406030204" pitchFamily="18" charset="0"/>
                                      </a:rPr>
                                      <m:t>𝑖</m:t>
                                    </m:r>
                                    <m:r>
                                      <a:rPr lang="zh-CN" altLang="en-US" i="1" smtClean="0">
                                        <a:latin typeface="Cambria Math" panose="02040503050406030204" pitchFamily="18" charset="0"/>
                                      </a:rPr>
                                      <m:t>=1, </m:t>
                                    </m:r>
                                    <m:r>
                                      <a:rPr lang="zh-CN" altLang="en-US" i="1" smtClean="0">
                                        <a:latin typeface="Cambria Math" panose="02040503050406030204" pitchFamily="18" charset="0"/>
                                      </a:rPr>
                                      <m:t>𝑡</m:t>
                                    </m:r>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e>
                                </m:mr>
                                <m:mr>
                                  <m:e>
                                    <m:r>
                                      <a:rPr lang="zh-CN" altLang="en-US" i="1" smtClean="0">
                                        <a:latin typeface="Cambria Math" panose="02040503050406030204" pitchFamily="18" charset="0"/>
                                      </a:rPr>
                                      <m:t>0</m:t>
                                    </m:r>
                                  </m:e>
                                  <m:e>
                                    <m:r>
                                      <m:rPr>
                                        <m:nor/>
                                      </m:rPr>
                                      <a:rPr lang="zh-CN" altLang="en-US" i="0" smtClean="0">
                                        <a:latin typeface="Cambria Math" panose="02040503050406030204" pitchFamily="18" charset="0"/>
                                      </a:rPr>
                                      <m:t>其他</m:t>
                                    </m:r>
                                    <m:r>
                                      <a:rPr lang="zh-CN" altLang="en-US" i="1" smtClean="0">
                                        <a:latin typeface="Cambria Math" panose="02040503050406030204" pitchFamily="18" charset="0"/>
                                      </a:rPr>
                                      <m:t>.</m:t>
                                    </m:r>
                                  </m:e>
                                </m:mr>
                              </m:m>
                            </m:e>
                          </m:d>
                        </m:e>
                      </m:eqArr>
                    </m:oMath>
                  </m:oMathPara>
                </a14:m>
                <a:endParaRPr lang="en-US" altLang="zh-CN" dirty="0"/>
              </a:p>
              <a:p>
                <a:pPr>
                  <a:lnSpc>
                    <a:spcPct val="110000"/>
                  </a:lnSpc>
                </a:pPr>
                <a:r>
                  <a:rPr lang="zh-CN" altLang="en-US" dirty="0"/>
                  <a:t>目标是估计政策影响</a:t>
                </a:r>
                <a:r>
                  <a:rPr lang="en-US" altLang="zh-CN" dirty="0"/>
                  <a:t>(</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en-US" altLang="zh-CN" i="1" dirty="0">
                            <a:latin typeface="Cambria Math" panose="02040503050406030204" pitchFamily="18" charset="0"/>
                          </a:rPr>
                          <m:t>1</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𝑇</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+1</m:t>
                        </m:r>
                      </m:sub>
                    </m:sSub>
                    <m:r>
                      <a:rPr lang="en-US" altLang="zh-CN" i="1" dirty="0">
                        <a:latin typeface="Cambria Math" panose="02040503050406030204" pitchFamily="18" charset="0"/>
                      </a:rPr>
                      <m:t>, … , </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en-US" altLang="zh-CN" i="1" dirty="0" smtClean="0">
                            <a:latin typeface="Cambria Math" panose="02040503050406030204" pitchFamily="18" charset="0"/>
                          </a:rPr>
                          <m:t>1</m:t>
                        </m:r>
                        <m:r>
                          <a:rPr lang="zh-CN" altLang="en-US" i="1" dirty="0" smtClean="0">
                            <a:latin typeface="Cambria Math" panose="02040503050406030204" pitchFamily="18" charset="0"/>
                          </a:rPr>
                          <m:t>𝑇</m:t>
                        </m:r>
                      </m:sub>
                    </m:sSub>
                  </m:oMath>
                </a14:m>
                <a:r>
                  <a:rPr lang="zh-CN" altLang="en-US" i="0" dirty="0">
                    <a:latin typeface="+mj-lt"/>
                  </a:rPr>
                  <a:t> </a:t>
                </a:r>
                <a14:m>
                  <m:oMath xmlns:m="http://schemas.openxmlformats.org/officeDocument/2006/math">
                    <m:r>
                      <a:rPr lang="zh-CN" altLang="en-US" i="1" dirty="0">
                        <a:latin typeface="Cambria Math" panose="02040503050406030204" pitchFamily="18" charset="0"/>
                      </a:rPr>
                      <m:t> </m:t>
                    </m:r>
                  </m:oMath>
                </a14:m>
                <a:r>
                  <a:rPr lang="en-US" altLang="zh-CN" dirty="0"/>
                  <a:t>)</a:t>
                </a:r>
                <a:r>
                  <a:rPr lang="zh-CN" altLang="en-US" dirty="0"/>
                  <a:t>，对于</a:t>
                </a:r>
                <a14:m>
                  <m:oMath xmlns:m="http://schemas.openxmlformats.org/officeDocument/2006/math">
                    <m:r>
                      <a:rPr lang="zh-CN" altLang="en-US" i="1" dirty="0" smtClean="0">
                        <a:latin typeface="Cambria Math" panose="02040503050406030204" pitchFamily="18" charset="0"/>
                      </a:rPr>
                      <m:t>𝑡</m:t>
                    </m:r>
                    <m:r>
                      <a:rPr lang="zh-CN" altLang="en-US" i="1" dirty="0" smtClean="0">
                        <a:latin typeface="Cambria Math" panose="02040503050406030204" pitchFamily="18" charset="0"/>
                      </a:rPr>
                      <m:t> &gt;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𝑇</m:t>
                        </m:r>
                      </m:e>
                      <m:sub>
                        <m:r>
                          <a:rPr lang="en-US" altLang="zh-CN" i="1" dirty="0">
                            <a:latin typeface="Cambria Math" panose="02040503050406030204" pitchFamily="18" charset="0"/>
                          </a:rPr>
                          <m:t>0</m:t>
                        </m:r>
                      </m:sub>
                    </m:sSub>
                  </m:oMath>
                </a14:m>
                <a:r>
                  <a:rPr lang="zh-CN" altLang="en-US" dirty="0"/>
                  <a:t>，</a:t>
                </a:r>
                <a:endParaRPr lang="en-US" altLang="zh-CN" dirty="0"/>
              </a:p>
              <a:p>
                <a:pPr marL="0" indent="0">
                  <a:lnSpc>
                    <a:spcPct val="11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1</m:t>
                              </m:r>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r>
                                <a:rPr lang="zh-CN" altLang="en-US" i="1" smtClean="0">
                                  <a:latin typeface="Cambria Math" panose="02040503050406030204" pitchFamily="18" charset="0"/>
                                </a:rPr>
                                <m:t>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r>
                                <a:rPr lang="zh-CN" altLang="en-US" i="1" smtClean="0">
                                  <a:latin typeface="Cambria Math" panose="02040503050406030204" pitchFamily="18" charset="0"/>
                                </a:rPr>
                                <m:t>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1</m:t>
                              </m:r>
                              <m:r>
                                <a:rPr lang="zh-CN" altLang="en-US" i="1" smtClean="0">
                                  <a:latin typeface="Cambria Math" panose="02040503050406030204" pitchFamily="18" charset="0"/>
                                </a:rPr>
                                <m:t>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eqArr>
                    </m:oMath>
                  </m:oMathPara>
                </a14:m>
                <a:endParaRPr lang="en-US" altLang="zh-CN" dirty="0"/>
              </a:p>
              <a:p>
                <a:pPr>
                  <a:lnSpc>
                    <a:spcPct val="110000"/>
                  </a:lnSpc>
                </a:pPr>
                <a:r>
                  <a:rPr lang="zh-CN" altLang="en-US" dirty="0"/>
                  <a:t>如何估计反事实结果</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en-US" altLang="zh-CN" i="1" dirty="0">
                            <a:latin typeface="Cambria Math" panose="02040503050406030204" pitchFamily="18" charset="0"/>
                          </a:rPr>
                          <m:t>1</m:t>
                        </m:r>
                        <m:r>
                          <a:rPr lang="zh-CN" altLang="en-US" i="1" dirty="0">
                            <a:latin typeface="Cambria Math" panose="02040503050406030204" pitchFamily="18" charset="0"/>
                          </a:rPr>
                          <m:t>𝑡</m:t>
                        </m:r>
                      </m:sub>
                    </m:sSub>
                    <m:r>
                      <a:rPr lang="en-US" altLang="zh-CN" i="1" dirty="0">
                        <a:latin typeface="Cambria Math" panose="02040503050406030204" pitchFamily="18" charset="0"/>
                      </a:rPr>
                      <m:t>(0)</m:t>
                    </m:r>
                  </m:oMath>
                </a14:m>
                <a:r>
                  <a:rPr lang="zh-CN" altLang="en-US" dirty="0"/>
                  <a:t>？</a:t>
                </a:r>
              </a:p>
            </p:txBody>
          </p:sp>
        </mc:Choice>
        <mc:Fallback>
          <p:sp>
            <p:nvSpPr>
              <p:cNvPr id="3" name="内容占位符 2">
                <a:extLst>
                  <a:ext uri="{FF2B5EF4-FFF2-40B4-BE49-F238E27FC236}">
                    <a16:creationId xmlns:a16="http://schemas.microsoft.com/office/drawing/2014/main" id="{339C7393-F6CE-B4AF-473B-1D0DE90DCE23}"/>
                  </a:ext>
                </a:extLst>
              </p:cNvPr>
              <p:cNvSpPr>
                <a:spLocks noGrp="1" noRot="1" noChangeAspect="1" noMove="1" noResize="1" noEditPoints="1" noAdjustHandles="1" noChangeArrowheads="1" noChangeShapeType="1" noTextEdit="1"/>
              </p:cNvSpPr>
              <p:nvPr>
                <p:ph idx="1"/>
              </p:nvPr>
            </p:nvSpPr>
            <p:spPr>
              <a:blipFill>
                <a:blip r:embed="rId2"/>
                <a:stretch>
                  <a:fillRect l="-1005" t="-2101" r="-386"/>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73909BC4-AD28-D83D-256E-53940320820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487A45C-8FA5-9A39-D034-BCD1E268F505}"/>
              </a:ext>
            </a:extLst>
          </p:cNvPr>
          <p:cNvSpPr>
            <a:spLocks noGrp="1"/>
          </p:cNvSpPr>
          <p:nvPr>
            <p:ph type="sldNum" sz="quarter" idx="12"/>
          </p:nvPr>
        </p:nvSpPr>
        <p:spPr/>
        <p:txBody>
          <a:bodyPr/>
          <a:lstStyle/>
          <a:p>
            <a:fld id="{D41FC515-8169-4A29-AA56-DBE520D5741B}" type="slidenum">
              <a:rPr lang="zh-CN" altLang="en-US" smtClean="0"/>
              <a:t>12</a:t>
            </a:fld>
            <a:endParaRPr lang="zh-CN" altLang="en-US"/>
          </a:p>
        </p:txBody>
      </p:sp>
    </p:spTree>
    <p:extLst>
      <p:ext uri="{BB962C8B-B14F-4D97-AF65-F5344CB8AC3E}">
        <p14:creationId xmlns:p14="http://schemas.microsoft.com/office/powerpoint/2010/main" val="2851694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439C0B-AE93-F492-2737-915ECA693034}"/>
              </a:ext>
            </a:extLst>
          </p:cNvPr>
          <p:cNvSpPr>
            <a:spLocks noGrp="1"/>
          </p:cNvSpPr>
          <p:nvPr>
            <p:ph type="title"/>
          </p:nvPr>
        </p:nvSpPr>
        <p:spPr/>
        <p:txBody>
          <a:bodyPr/>
          <a:lstStyle/>
          <a:p>
            <a:r>
              <a:rPr lang="zh-CN" altLang="en-US" dirty="0"/>
              <a:t>合成控制法</a:t>
            </a:r>
            <a:br>
              <a:rPr lang="zh-CN" altLang="en-US" dirty="0"/>
            </a:br>
            <a:r>
              <a:rPr lang="zh-CN" altLang="en-US" sz="2400" dirty="0"/>
              <a:t>理论基础</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BDA5406A-9861-20B7-14ED-08E774504CBF}"/>
                  </a:ext>
                </a:extLst>
              </p:cNvPr>
              <p:cNvSpPr>
                <a:spLocks noGrp="1"/>
              </p:cNvSpPr>
              <p:nvPr>
                <p:ph idx="1"/>
              </p:nvPr>
            </p:nvSpPr>
            <p:spPr/>
            <p:txBody>
              <a:bodyPr>
                <a:normAutofit fontScale="77500" lnSpcReduction="20000"/>
              </a:bodyPr>
              <a:lstStyle/>
              <a:p>
                <a:pPr>
                  <a:lnSpc>
                    <a:spcPct val="110000"/>
                  </a:lnSpc>
                </a:pPr>
                <a:r>
                  <a:rPr lang="zh-CN" altLang="en-US" dirty="0"/>
                  <a:t>假设</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𝑖𝑡</m:t>
                        </m:r>
                      </m:sub>
                    </m:sSub>
                    <m:r>
                      <a:rPr lang="en-US" altLang="zh-CN" i="1" dirty="0">
                        <a:latin typeface="Cambria Math" panose="02040503050406030204" pitchFamily="18" charset="0"/>
                      </a:rPr>
                      <m:t>(0) </m:t>
                    </m:r>
                  </m:oMath>
                </a14:m>
                <a:r>
                  <a:rPr lang="zh-CN" altLang="en-US" dirty="0"/>
                  <a:t>可以用下列（因子）模型</a:t>
                </a:r>
                <a:r>
                  <a:rPr lang="en-US" altLang="zh-CN" dirty="0"/>
                  <a:t>(factor model) </a:t>
                </a:r>
                <a:r>
                  <a:rPr lang="zh-CN" altLang="en-US" dirty="0"/>
                  <a:t>表示：</a:t>
                </a:r>
                <a:endParaRPr lang="en-US" altLang="zh-CN" dirty="0"/>
              </a:p>
              <a:p>
                <a:pPr marL="0" indent="0">
                  <a:lnSpc>
                    <a:spcPct val="11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𝛿</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𝜃</m:t>
                              </m:r>
                            </m:e>
                            <m:sub>
                              <m:r>
                                <a:rPr lang="zh-CN" altLang="en-US" i="1" smtClean="0">
                                  <a:latin typeface="Cambria Math" panose="02040503050406030204" pitchFamily="18" charset="0"/>
                                </a:rPr>
                                <m:t>𝑡</m:t>
                              </m:r>
                            </m:sub>
                          </m:sSub>
                          <m:sSub>
                            <m:sSubPr>
                              <m:ctrlPr>
                                <a:rPr lang="zh-CN" altLang="en-US" b="1" i="1" smtClean="0">
                                  <a:latin typeface="Cambria Math" panose="02040503050406030204" pitchFamily="18" charset="0"/>
                                </a:rPr>
                              </m:ctrlPr>
                            </m:sSubPr>
                            <m:e>
                              <m:r>
                                <a:rPr lang="zh-CN" altLang="en-US" b="1" i="1" smtClean="0">
                                  <a:latin typeface="Cambria Math" panose="02040503050406030204" pitchFamily="18" charset="0"/>
                                </a:rPr>
                                <m:t>𝐙</m:t>
                              </m:r>
                            </m:e>
                            <m:sub>
                              <m:r>
                                <a:rPr lang="zh-CN" altLang="en-US" b="0" i="1" smtClean="0">
                                  <a:latin typeface="Cambria Math" panose="02040503050406030204" pitchFamily="18" charset="0"/>
                                </a:rPr>
                                <m:t>𝑖</m:t>
                              </m:r>
                            </m:sub>
                          </m:sSub>
                          <m:r>
                            <a:rPr lang="zh-CN" altLang="en-US" b="0" i="1" smtClean="0">
                              <a:latin typeface="Cambria Math" panose="02040503050406030204" pitchFamily="18" charset="0"/>
                            </a:rPr>
                            <m:t>+</m:t>
                          </m:r>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𝜆</m:t>
                              </m:r>
                            </m:e>
                            <m:sub>
                              <m:r>
                                <a:rPr lang="zh-CN" altLang="en-US" b="0" i="1" smtClean="0">
                                  <a:latin typeface="Cambria Math" panose="02040503050406030204" pitchFamily="18" charset="0"/>
                                </a:rPr>
                                <m:t>𝑡</m:t>
                              </m:r>
                            </m:sub>
                          </m:sSub>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𝜇</m:t>
                              </m:r>
                            </m:e>
                            <m:sub>
                              <m:r>
                                <a:rPr lang="zh-CN" altLang="en-US" b="0" i="1" smtClean="0">
                                  <a:latin typeface="Cambria Math" panose="02040503050406030204" pitchFamily="18" charset="0"/>
                                </a:rPr>
                                <m:t>𝑖</m:t>
                              </m:r>
                            </m:sub>
                          </m:sSub>
                          <m:r>
                            <a:rPr lang="zh-CN" altLang="en-US" b="0" i="1" smtClean="0">
                              <a:latin typeface="Cambria Math" panose="02040503050406030204" pitchFamily="18" charset="0"/>
                            </a:rPr>
                            <m:t>+</m:t>
                          </m:r>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𝜀</m:t>
                              </m:r>
                            </m:e>
                            <m:sub>
                              <m:r>
                                <a:rPr lang="zh-CN" altLang="en-US" b="0" i="1" smtClean="0">
                                  <a:latin typeface="Cambria Math" panose="02040503050406030204" pitchFamily="18" charset="0"/>
                                </a:rPr>
                                <m:t>𝑖𝑡</m:t>
                              </m:r>
                            </m:sub>
                          </m:sSub>
                          <m:r>
                            <a:rPr lang="zh-CN" altLang="en-US" b="0" i="1" smtClean="0">
                              <a:latin typeface="Cambria Math" panose="02040503050406030204" pitchFamily="18" charset="0"/>
                            </a:rPr>
                            <m:t>,</m:t>
                          </m:r>
                          <m:r>
                            <a:rPr lang="zh-CN" altLang="en-US" b="0" i="1" smtClean="0">
                              <a:latin typeface="Cambria Math" panose="02040503050406030204" pitchFamily="18" charset="0"/>
                            </a:rPr>
                            <m:t>𝑖</m:t>
                          </m:r>
                          <m:r>
                            <a:rPr lang="zh-CN" altLang="en-US" b="0" i="1" smtClean="0">
                              <a:latin typeface="Cambria Math" panose="02040503050406030204" pitchFamily="18" charset="0"/>
                            </a:rPr>
                            <m:t>=1,…,</m:t>
                          </m:r>
                          <m:r>
                            <a:rPr lang="zh-CN" altLang="en-US" b="0" i="1" smtClean="0">
                              <a:latin typeface="Cambria Math" panose="02040503050406030204" pitchFamily="18" charset="0"/>
                            </a:rPr>
                            <m:t>𝑁</m:t>
                          </m:r>
                          <m:r>
                            <a:rPr lang="zh-CN" altLang="en-US" b="0" i="1" smtClean="0">
                              <a:latin typeface="Cambria Math" panose="02040503050406030204" pitchFamily="18" charset="0"/>
                            </a:rPr>
                            <m:t>+1,</m:t>
                          </m:r>
                          <m:r>
                            <a:rPr lang="zh-CN" altLang="en-US" b="0" i="1" smtClean="0">
                              <a:latin typeface="Cambria Math" panose="02040503050406030204" pitchFamily="18" charset="0"/>
                            </a:rPr>
                            <m:t>𝑡</m:t>
                          </m:r>
                          <m:r>
                            <a:rPr lang="zh-CN" altLang="en-US" b="0" i="1" smtClean="0">
                              <a:latin typeface="Cambria Math" panose="02040503050406030204" pitchFamily="18" charset="0"/>
                            </a:rPr>
                            <m:t>=1,…,</m:t>
                          </m:r>
                          <m:r>
                            <a:rPr lang="zh-CN" altLang="en-US" b="0" i="1" smtClean="0">
                              <a:latin typeface="Cambria Math" panose="02040503050406030204" pitchFamily="18" charset="0"/>
                            </a:rPr>
                            <m:t>𝑇</m:t>
                          </m:r>
                          <m:r>
                            <a:rPr lang="zh-CN" altLang="en-US" b="0" i="1" smtClean="0">
                              <a:latin typeface="Cambria Math" panose="02040503050406030204" pitchFamily="18" charset="0"/>
                            </a:rPr>
                            <m:t>.</m:t>
                          </m:r>
                        </m:e>
                        <m:e>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𝑌</m:t>
                              </m:r>
                            </m:e>
                            <m:sub>
                              <m:r>
                                <a:rPr lang="zh-CN" altLang="en-US" b="0" i="1" smtClean="0">
                                  <a:latin typeface="Cambria Math" panose="02040503050406030204" pitchFamily="18" charset="0"/>
                                </a:rPr>
                                <m:t>𝑖𝑡</m:t>
                              </m:r>
                            </m:sub>
                          </m:sSub>
                          <m:d>
                            <m:dPr>
                              <m:ctrlPr>
                                <a:rPr lang="zh-CN" altLang="en-US" b="0" i="1" smtClean="0">
                                  <a:latin typeface="Cambria Math" panose="02040503050406030204" pitchFamily="18" charset="0"/>
                                </a:rPr>
                              </m:ctrlPr>
                            </m:dPr>
                            <m:e>
                              <m:r>
                                <a:rPr lang="zh-CN" altLang="en-US" b="0" i="1" smtClean="0">
                                  <a:latin typeface="Cambria Math" panose="02040503050406030204" pitchFamily="18" charset="0"/>
                                </a:rPr>
                                <m:t>1</m:t>
                              </m:r>
                            </m:e>
                          </m:d>
                          <m:r>
                            <m:rPr>
                              <m:aln/>
                            </m:rPr>
                            <a:rPr lang="zh-CN" altLang="en-US" b="0" i="1" smtClean="0">
                              <a:latin typeface="Cambria Math" panose="02040503050406030204" pitchFamily="18" charset="0"/>
                            </a:rPr>
                            <m:t>&amp;</m:t>
                          </m:r>
                          <m:r>
                            <a:rPr lang="zh-CN" altLang="en-US" b="0" i="1" smtClean="0">
                              <a:latin typeface="Cambria Math" panose="02040503050406030204" pitchFamily="18" charset="0"/>
                            </a:rPr>
                            <m:t>=</m:t>
                          </m:r>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𝑌</m:t>
                              </m:r>
                            </m:e>
                            <m:sub>
                              <m:r>
                                <a:rPr lang="zh-CN" altLang="en-US" b="0" i="1" smtClean="0">
                                  <a:latin typeface="Cambria Math" panose="02040503050406030204" pitchFamily="18" charset="0"/>
                                </a:rPr>
                                <m:t>𝑖𝑡</m:t>
                              </m:r>
                            </m:sub>
                          </m:sSub>
                          <m:d>
                            <m:dPr>
                              <m:ctrlPr>
                                <a:rPr lang="zh-CN" altLang="en-US" b="0" i="1" smtClean="0">
                                  <a:latin typeface="Cambria Math" panose="02040503050406030204" pitchFamily="18" charset="0"/>
                                </a:rPr>
                              </m:ctrlPr>
                            </m:dPr>
                            <m:e>
                              <m:r>
                                <a:rPr lang="zh-CN" altLang="en-US" b="0" i="1" smtClean="0">
                                  <a:latin typeface="Cambria Math" panose="02040503050406030204" pitchFamily="18" charset="0"/>
                                </a:rPr>
                                <m:t>0</m:t>
                              </m:r>
                            </m:e>
                          </m:d>
                          <m:r>
                            <a:rPr lang="zh-CN" altLang="en-US" b="0" i="1" smtClean="0">
                              <a:latin typeface="Cambria Math" panose="02040503050406030204" pitchFamily="18" charset="0"/>
                            </a:rPr>
                            <m:t>+</m:t>
                          </m:r>
                          <m:sSub>
                            <m:sSubPr>
                              <m:ctrlPr>
                                <a:rPr lang="zh-CN" altLang="en-US" b="0" i="1" smtClean="0">
                                  <a:latin typeface="Cambria Math" panose="02040503050406030204" pitchFamily="18" charset="0"/>
                                </a:rPr>
                              </m:ctrlPr>
                            </m:sSubPr>
                            <m:e>
                              <m:r>
                                <a:rPr lang="zh-CN" altLang="en-US" b="0" i="1" smtClean="0">
                                  <a:latin typeface="Cambria Math" panose="02040503050406030204" pitchFamily="18" charset="0"/>
                                </a:rPr>
                                <m:t>𝜏</m:t>
                              </m:r>
                            </m:e>
                            <m:sub>
                              <m:r>
                                <a:rPr lang="zh-CN" altLang="en-US" b="0" i="1" smtClean="0">
                                  <a:latin typeface="Cambria Math" panose="02040503050406030204" pitchFamily="18" charset="0"/>
                                </a:rPr>
                                <m:t>𝑖𝑡</m:t>
                              </m:r>
                            </m:sub>
                          </m:sSub>
                        </m:e>
                      </m:eqArr>
                    </m:oMath>
                  </m:oMathPara>
                </a14:m>
                <a:endParaRPr lang="en-US" altLang="zh-CN" dirty="0"/>
              </a:p>
              <a:p>
                <a:pPr>
                  <a:lnSpc>
                    <a:spcPct val="110000"/>
                  </a:lnSpc>
                </a:pPr>
                <a:r>
                  <a:rPr lang="zh-CN" altLang="en-US" dirty="0"/>
                  <a:t>假设存在𝑅 个时变的因子（信号）</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𝜆</m:t>
                        </m:r>
                      </m:e>
                      <m:sub>
                        <m:r>
                          <a:rPr lang="zh-CN" altLang="en-US" i="1" dirty="0" smtClean="0">
                            <a:latin typeface="Cambria Math" panose="02040503050406030204" pitchFamily="18" charset="0"/>
                          </a:rPr>
                          <m:t>𝑡</m:t>
                        </m:r>
                      </m:sub>
                    </m:sSub>
                  </m:oMath>
                </a14:m>
                <a:r>
                  <a:rPr lang="zh-CN" altLang="en-US" dirty="0"/>
                  <a:t>，因子载荷为</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𝜇</m:t>
                        </m:r>
                      </m:e>
                      <m:sub>
                        <m:r>
                          <a:rPr lang="zh-CN" altLang="en-US" i="1" dirty="0" smtClean="0">
                            <a:latin typeface="Cambria Math" panose="02040503050406030204" pitchFamily="18" charset="0"/>
                          </a:rPr>
                          <m:t>𝑖</m:t>
                        </m:r>
                      </m:sub>
                    </m:sSub>
                  </m:oMath>
                </a14:m>
                <a:r>
                  <a:rPr lang="zh-CN" altLang="en-US" dirty="0"/>
                  <a:t>，也可理解为未观测特征。</a:t>
                </a:r>
                <a:endParaRPr lang="en-US" altLang="zh-CN" dirty="0"/>
              </a:p>
              <a:p>
                <a:pPr>
                  <a:lnSpc>
                    <a:spcPct val="110000"/>
                  </a:lnSpc>
                </a:pPr>
                <a:r>
                  <a:rPr lang="zh-CN" altLang="en-US" dirty="0"/>
                  <a:t>因为对于干预组和控制组个体，这些“混杂”</a:t>
                </a:r>
                <a14:m>
                  <m:oMath xmlns:m="http://schemas.openxmlformats.org/officeDocument/2006/math">
                    <m:r>
                      <a:rPr lang="en-US" altLang="zh-CN" i="1" dirty="0" smtClean="0">
                        <a:latin typeface="Cambria Math" panose="02040503050406030204" pitchFamily="18" charset="0"/>
                      </a:rPr>
                      <m:t>(</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𝒁</m:t>
                        </m:r>
                      </m:e>
                      <m:sub>
                        <m:r>
                          <a:rPr lang="zh-CN" altLang="en-US" b="1" i="1" dirty="0">
                            <a:latin typeface="Cambria Math" panose="02040503050406030204" pitchFamily="18" charset="0"/>
                          </a:rPr>
                          <m:t>𝒊</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oMath>
                </a14:m>
                <a:r>
                  <a:rPr lang="zh-CN" altLang="en-US" dirty="0"/>
                  <a:t>会影响结果和干预，我们可以利用这些信息“平衡”这些混杂。</a:t>
                </a:r>
              </a:p>
            </p:txBody>
          </p:sp>
        </mc:Choice>
        <mc:Fallback>
          <p:sp>
            <p:nvSpPr>
              <p:cNvPr id="3" name="内容占位符 2">
                <a:extLst>
                  <a:ext uri="{FF2B5EF4-FFF2-40B4-BE49-F238E27FC236}">
                    <a16:creationId xmlns:a16="http://schemas.microsoft.com/office/drawing/2014/main" id="{BDA5406A-9861-20B7-14ED-08E774504CBF}"/>
                  </a:ext>
                </a:extLst>
              </p:cNvPr>
              <p:cNvSpPr>
                <a:spLocks noGrp="1" noRot="1" noChangeAspect="1" noMove="1" noResize="1" noEditPoints="1" noAdjustHandles="1" noChangeArrowheads="1" noChangeShapeType="1" noTextEdit="1"/>
              </p:cNvSpPr>
              <p:nvPr>
                <p:ph idx="1"/>
              </p:nvPr>
            </p:nvSpPr>
            <p:spPr>
              <a:blipFill>
                <a:blip r:embed="rId2"/>
                <a:stretch>
                  <a:fillRect l="-850" t="-1541" r="-927"/>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F24BA39-B843-F149-D2E0-3A85429660D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571CD59-D6ED-A37F-2F05-BC053B5433AD}"/>
              </a:ext>
            </a:extLst>
          </p:cNvPr>
          <p:cNvSpPr>
            <a:spLocks noGrp="1"/>
          </p:cNvSpPr>
          <p:nvPr>
            <p:ph type="sldNum" sz="quarter" idx="12"/>
          </p:nvPr>
        </p:nvSpPr>
        <p:spPr/>
        <p:txBody>
          <a:bodyPr/>
          <a:lstStyle/>
          <a:p>
            <a:fld id="{D41FC515-8169-4A29-AA56-DBE520D5741B}" type="slidenum">
              <a:rPr lang="zh-CN" altLang="en-US" smtClean="0"/>
              <a:t>13</a:t>
            </a:fld>
            <a:endParaRPr lang="zh-CN" altLang="en-US"/>
          </a:p>
        </p:txBody>
      </p:sp>
    </p:spTree>
    <p:extLst>
      <p:ext uri="{BB962C8B-B14F-4D97-AF65-F5344CB8AC3E}">
        <p14:creationId xmlns:p14="http://schemas.microsoft.com/office/powerpoint/2010/main" val="3444411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385829-6ED3-4D57-CF50-081591377223}"/>
              </a:ext>
            </a:extLst>
          </p:cNvPr>
          <p:cNvSpPr>
            <a:spLocks noGrp="1"/>
          </p:cNvSpPr>
          <p:nvPr>
            <p:ph type="title"/>
          </p:nvPr>
        </p:nvSpPr>
        <p:spPr/>
        <p:txBody>
          <a:bodyPr/>
          <a:lstStyle/>
          <a:p>
            <a:r>
              <a:rPr lang="zh-CN" altLang="en-US" dirty="0"/>
              <a:t>合成控制法</a:t>
            </a:r>
            <a:br>
              <a:rPr lang="zh-CN" altLang="en-US" dirty="0"/>
            </a:br>
            <a:r>
              <a:rPr lang="zh-CN" altLang="en-US" sz="2400" dirty="0"/>
              <a:t>理论基础</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63D9AC68-A2A2-30F5-5980-0EC18D1E6066}"/>
                  </a:ext>
                </a:extLst>
              </p:cNvPr>
              <p:cNvSpPr>
                <a:spLocks noGrp="1"/>
              </p:cNvSpPr>
              <p:nvPr>
                <p:ph idx="1"/>
              </p:nvPr>
            </p:nvSpPr>
            <p:spPr/>
            <p:txBody>
              <a:bodyPr>
                <a:noAutofit/>
              </a:bodyPr>
              <a:lstStyle/>
              <a:p>
                <a:r>
                  <a:rPr lang="zh-CN" altLang="en-US" sz="1600" dirty="0"/>
                  <a:t>假设</a:t>
                </a:r>
                <a14:m>
                  <m:oMath xmlns:m="http://schemas.openxmlformats.org/officeDocument/2006/math">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𝑌</m:t>
                        </m:r>
                      </m:e>
                      <m:sub>
                        <m:r>
                          <a:rPr lang="zh-CN" altLang="en-US" sz="1600" i="1" dirty="0">
                            <a:latin typeface="Cambria Math" panose="02040503050406030204" pitchFamily="18" charset="0"/>
                          </a:rPr>
                          <m:t>𝑖𝑡</m:t>
                        </m:r>
                      </m:sub>
                    </m:sSub>
                    <m:r>
                      <a:rPr lang="en-US" altLang="zh-CN" sz="1600" i="1" dirty="0">
                        <a:latin typeface="Cambria Math" panose="02040503050406030204" pitchFamily="18" charset="0"/>
                      </a:rPr>
                      <m:t>(0)</m:t>
                    </m:r>
                  </m:oMath>
                </a14:m>
                <a:r>
                  <a:rPr lang="zh-CN" altLang="en-US" sz="1600" dirty="0"/>
                  <a:t>可以用下列（因子）模型</a:t>
                </a:r>
                <a:r>
                  <a:rPr lang="en-US" altLang="zh-CN" sz="1600" dirty="0"/>
                  <a:t>(factor model) </a:t>
                </a:r>
                <a:r>
                  <a:rPr lang="zh-CN" altLang="en-US" sz="1600" dirty="0"/>
                  <a:t>表示：</a:t>
                </a:r>
                <a:endParaRPr lang="en-US" altLang="zh-CN" sz="1600" dirty="0"/>
              </a:p>
              <a:p>
                <a:pPr marL="0" indent="0">
                  <a:buNone/>
                </a:pPr>
                <a14:m>
                  <m:oMathPara xmlns:m="http://schemas.openxmlformats.org/officeDocument/2006/math">
                    <m:oMath>
                      <m:eqArr>
                        <m:eqArrPr>
                          <m:ctrlPr>
                            <a:rPr lang="zh-CN" altLang="en-US" sz="1600" i="1" smtClean="0">
                              <a:latin typeface="Cambria Math" panose="02040503050406030204" pitchFamily="18" charset="0"/>
                            </a:rPr>
                          </m:ctrlPr>
                        </m:eqArr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𝛿</m:t>
                              </m:r>
                            </m:e>
                            <m:sub>
                              <m:r>
                                <a:rPr lang="zh-CN" altLang="en-US" sz="1600" i="1" smtClean="0">
                                  <a:latin typeface="Cambria Math" panose="02040503050406030204" pitchFamily="18" charset="0"/>
                                </a:rPr>
                                <m:t>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𝜃</m:t>
                              </m:r>
                            </m:e>
                            <m:sub>
                              <m:r>
                                <a:rPr lang="zh-CN" altLang="en-US" sz="1600" i="1" smtClean="0">
                                  <a:latin typeface="Cambria Math" panose="02040503050406030204" pitchFamily="18" charset="0"/>
                                </a:rPr>
                                <m:t>𝑡</m:t>
                              </m:r>
                            </m:sub>
                          </m:sSub>
                          <m:sSub>
                            <m:sSubPr>
                              <m:ctrlPr>
                                <a:rPr lang="zh-CN" altLang="en-US" sz="1600" b="1" i="1" smtClean="0">
                                  <a:latin typeface="Cambria Math" panose="02040503050406030204" pitchFamily="18" charset="0"/>
                                </a:rPr>
                              </m:ctrlPr>
                            </m:sSubPr>
                            <m:e>
                              <m:r>
                                <a:rPr lang="zh-CN" altLang="en-US" sz="1600" b="1" i="1" smtClean="0">
                                  <a:latin typeface="Cambria Math" panose="02040503050406030204" pitchFamily="18" charset="0"/>
                                </a:rPr>
                                <m:t>𝐙</m:t>
                              </m:r>
                            </m:e>
                            <m:sub>
                              <m:r>
                                <a:rPr lang="zh-CN" altLang="en-US" sz="1600" b="0" i="1" smtClean="0">
                                  <a:latin typeface="Cambria Math" panose="02040503050406030204" pitchFamily="18" charset="0"/>
                                </a:rPr>
                                <m:t>𝑖</m:t>
                              </m:r>
                            </m:sub>
                          </m:sSub>
                          <m:r>
                            <a:rPr lang="zh-CN" altLang="en-US" sz="1600" b="0" i="1" smtClean="0">
                              <a:latin typeface="Cambria Math" panose="02040503050406030204" pitchFamily="18" charset="0"/>
                            </a:rPr>
                            <m:t>+</m:t>
                          </m:r>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𝜆</m:t>
                              </m:r>
                            </m:e>
                            <m:sub>
                              <m:r>
                                <a:rPr lang="zh-CN" altLang="en-US" sz="1600" b="0" i="1" smtClean="0">
                                  <a:latin typeface="Cambria Math" panose="02040503050406030204" pitchFamily="18" charset="0"/>
                                </a:rPr>
                                <m:t>𝑡</m:t>
                              </m:r>
                            </m:sub>
                          </m:sSub>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𝜇</m:t>
                              </m:r>
                            </m:e>
                            <m:sub>
                              <m:r>
                                <a:rPr lang="zh-CN" altLang="en-US" sz="1600" b="0" i="1" smtClean="0">
                                  <a:latin typeface="Cambria Math" panose="02040503050406030204" pitchFamily="18" charset="0"/>
                                </a:rPr>
                                <m:t>𝑖</m:t>
                              </m:r>
                            </m:sub>
                          </m:sSub>
                          <m:r>
                            <a:rPr lang="zh-CN" altLang="en-US" sz="1600" b="0" i="1" smtClean="0">
                              <a:latin typeface="Cambria Math" panose="02040503050406030204" pitchFamily="18" charset="0"/>
                            </a:rPr>
                            <m:t>+</m:t>
                          </m:r>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𝜀</m:t>
                              </m:r>
                            </m:e>
                            <m:sub>
                              <m:r>
                                <a:rPr lang="zh-CN" altLang="en-US" sz="1600" b="0" i="1" smtClean="0">
                                  <a:latin typeface="Cambria Math" panose="02040503050406030204" pitchFamily="18" charset="0"/>
                                </a:rPr>
                                <m:t>𝑖𝑡</m:t>
                              </m:r>
                            </m:sub>
                          </m:sSub>
                          <m:r>
                            <a:rPr lang="zh-CN" altLang="en-US" sz="1600" b="0" i="1" smtClean="0">
                              <a:latin typeface="Cambria Math" panose="02040503050406030204" pitchFamily="18" charset="0"/>
                            </a:rPr>
                            <m:t>,</m:t>
                          </m:r>
                          <m:r>
                            <a:rPr lang="zh-CN" altLang="en-US" sz="1600" b="0" i="1" smtClean="0">
                              <a:latin typeface="Cambria Math" panose="02040503050406030204" pitchFamily="18" charset="0"/>
                            </a:rPr>
                            <m:t>𝑖</m:t>
                          </m:r>
                          <m:r>
                            <a:rPr lang="zh-CN" altLang="en-US" sz="1600" b="0" i="1" smtClean="0">
                              <a:latin typeface="Cambria Math" panose="02040503050406030204" pitchFamily="18" charset="0"/>
                            </a:rPr>
                            <m:t>=1,…,</m:t>
                          </m:r>
                          <m:r>
                            <a:rPr lang="zh-CN" altLang="en-US" sz="1600" b="0" i="1" smtClean="0">
                              <a:latin typeface="Cambria Math" panose="02040503050406030204" pitchFamily="18" charset="0"/>
                            </a:rPr>
                            <m:t>𝑁</m:t>
                          </m:r>
                          <m:r>
                            <a:rPr lang="zh-CN" altLang="en-US" sz="1600" b="0" i="1" smtClean="0">
                              <a:latin typeface="Cambria Math" panose="02040503050406030204" pitchFamily="18" charset="0"/>
                            </a:rPr>
                            <m:t>+1,</m:t>
                          </m:r>
                          <m:r>
                            <a:rPr lang="zh-CN" altLang="en-US" sz="1600" b="0" i="1" smtClean="0">
                              <a:latin typeface="Cambria Math" panose="02040503050406030204" pitchFamily="18" charset="0"/>
                            </a:rPr>
                            <m:t>𝑡</m:t>
                          </m:r>
                          <m:r>
                            <a:rPr lang="zh-CN" altLang="en-US" sz="1600" b="0" i="1" smtClean="0">
                              <a:latin typeface="Cambria Math" panose="02040503050406030204" pitchFamily="18" charset="0"/>
                            </a:rPr>
                            <m:t>=1,…,</m:t>
                          </m:r>
                          <m:r>
                            <a:rPr lang="zh-CN" altLang="en-US" sz="1600" b="0" i="1" smtClean="0">
                              <a:latin typeface="Cambria Math" panose="02040503050406030204" pitchFamily="18" charset="0"/>
                            </a:rPr>
                            <m:t>𝑇</m:t>
                          </m:r>
                          <m:r>
                            <a:rPr lang="zh-CN" altLang="en-US" sz="1600" b="0" i="1" smtClean="0">
                              <a:latin typeface="Cambria Math" panose="02040503050406030204" pitchFamily="18" charset="0"/>
                            </a:rPr>
                            <m:t>.</m:t>
                          </m:r>
                        </m:e>
                        <m:e>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𝑌</m:t>
                              </m:r>
                            </m:e>
                            <m:sub>
                              <m:r>
                                <a:rPr lang="zh-CN" altLang="en-US" sz="1600" b="0" i="1" smtClean="0">
                                  <a:latin typeface="Cambria Math" panose="02040503050406030204" pitchFamily="18" charset="0"/>
                                </a:rPr>
                                <m:t>𝑖𝑡</m:t>
                              </m:r>
                            </m:sub>
                          </m:sSub>
                          <m:d>
                            <m:dPr>
                              <m:ctrlPr>
                                <a:rPr lang="zh-CN" altLang="en-US" sz="1600" b="0" i="1" smtClean="0">
                                  <a:latin typeface="Cambria Math" panose="02040503050406030204" pitchFamily="18" charset="0"/>
                                </a:rPr>
                              </m:ctrlPr>
                            </m:dPr>
                            <m:e>
                              <m:r>
                                <a:rPr lang="zh-CN" altLang="en-US" sz="1600" b="0" i="1" smtClean="0">
                                  <a:latin typeface="Cambria Math" panose="02040503050406030204" pitchFamily="18" charset="0"/>
                                </a:rPr>
                                <m:t>1</m:t>
                              </m:r>
                            </m:e>
                          </m:d>
                          <m:r>
                            <m:rPr>
                              <m:aln/>
                            </m:rPr>
                            <a:rPr lang="zh-CN" altLang="en-US" sz="1600" b="0" i="1" smtClean="0">
                              <a:latin typeface="Cambria Math" panose="02040503050406030204" pitchFamily="18" charset="0"/>
                            </a:rPr>
                            <m:t>&amp;</m:t>
                          </m:r>
                          <m:r>
                            <a:rPr lang="zh-CN" altLang="en-US" sz="1600" b="0" i="1" smtClean="0">
                              <a:latin typeface="Cambria Math" panose="02040503050406030204" pitchFamily="18" charset="0"/>
                            </a:rPr>
                            <m:t>=</m:t>
                          </m:r>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𝑌</m:t>
                              </m:r>
                            </m:e>
                            <m:sub>
                              <m:r>
                                <a:rPr lang="zh-CN" altLang="en-US" sz="1600" b="0" i="1" smtClean="0">
                                  <a:latin typeface="Cambria Math" panose="02040503050406030204" pitchFamily="18" charset="0"/>
                                </a:rPr>
                                <m:t>𝑖𝑡</m:t>
                              </m:r>
                            </m:sub>
                          </m:sSub>
                          <m:d>
                            <m:dPr>
                              <m:ctrlPr>
                                <a:rPr lang="zh-CN" altLang="en-US" sz="1600" b="0" i="1" smtClean="0">
                                  <a:latin typeface="Cambria Math" panose="02040503050406030204" pitchFamily="18" charset="0"/>
                                </a:rPr>
                              </m:ctrlPr>
                            </m:dPr>
                            <m:e>
                              <m:r>
                                <a:rPr lang="zh-CN" altLang="en-US" sz="1600" b="0" i="1" smtClean="0">
                                  <a:latin typeface="Cambria Math" panose="02040503050406030204" pitchFamily="18" charset="0"/>
                                </a:rPr>
                                <m:t>0</m:t>
                              </m:r>
                            </m:e>
                          </m:d>
                          <m:r>
                            <a:rPr lang="zh-CN" altLang="en-US" sz="1600" b="0" i="1" smtClean="0">
                              <a:latin typeface="Cambria Math" panose="02040503050406030204" pitchFamily="18" charset="0"/>
                            </a:rPr>
                            <m:t>+</m:t>
                          </m:r>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𝜏</m:t>
                              </m:r>
                            </m:e>
                            <m:sub>
                              <m:r>
                                <a:rPr lang="zh-CN" altLang="en-US" sz="1600" b="0" i="1" smtClean="0">
                                  <a:latin typeface="Cambria Math" panose="02040503050406030204" pitchFamily="18" charset="0"/>
                                </a:rPr>
                                <m:t>𝑖𝑡</m:t>
                              </m:r>
                            </m:sub>
                          </m:sSub>
                        </m:e>
                      </m:eqArr>
                    </m:oMath>
                  </m:oMathPara>
                </a14:m>
                <a:endParaRPr lang="en-US" altLang="zh-CN" sz="1600" dirty="0"/>
              </a:p>
              <a:p>
                <a:r>
                  <a:rPr lang="zh-CN" altLang="en-US" sz="1600" dirty="0"/>
                  <a:t>令𝑊 </a:t>
                </a:r>
                <a:r>
                  <a:rPr lang="en-US" altLang="zh-CN" sz="1600" dirty="0"/>
                  <a:t>= (</a:t>
                </a:r>
                <a:r>
                  <a:rPr lang="zh-CN" altLang="en-US" sz="1600" dirty="0"/>
                  <a:t>𝑤</a:t>
                </a:r>
                <a:r>
                  <a:rPr lang="en-US" altLang="zh-CN" sz="1600" dirty="0"/>
                  <a:t>2, … , </a:t>
                </a:r>
                <a:r>
                  <a:rPr lang="zh-CN" altLang="en-US" sz="1600" dirty="0"/>
                  <a:t>𝑤𝑁</a:t>
                </a:r>
                <a:r>
                  <a:rPr lang="en-US" altLang="zh-CN" sz="1600" dirty="0"/>
                  <a:t>+1)′</a:t>
                </a:r>
                <a:r>
                  <a:rPr lang="zh-CN" altLang="en-US" sz="1600" dirty="0"/>
                  <a:t>，满足𝑤𝑖 ≥ </a:t>
                </a:r>
                <a:r>
                  <a:rPr lang="en-US" altLang="zh-CN" sz="1600" dirty="0"/>
                  <a:t>0 </a:t>
                </a:r>
                <a:r>
                  <a:rPr lang="zh-CN" altLang="en-US" sz="1600" dirty="0"/>
                  <a:t>且𝑤</a:t>
                </a:r>
                <a:r>
                  <a:rPr lang="en-US" altLang="zh-CN" sz="1600" dirty="0"/>
                  <a:t>2 + ⋯ + </a:t>
                </a:r>
                <a:r>
                  <a:rPr lang="zh-CN" altLang="en-US" sz="1600" dirty="0"/>
                  <a:t>𝑤𝑁</a:t>
                </a:r>
                <a:r>
                  <a:rPr lang="en-US" altLang="zh-CN" sz="1600" dirty="0"/>
                  <a:t>+1 = 1</a:t>
                </a:r>
                <a:r>
                  <a:rPr lang="zh-CN" altLang="en-US" sz="1600" dirty="0"/>
                  <a:t>。合成控制模型为：</a:t>
                </a:r>
                <a:endParaRPr lang="en-US" altLang="zh-CN" sz="1600" dirty="0"/>
              </a:p>
              <a:p>
                <a:pPr marL="0" indent="0">
                  <a:buNone/>
                </a:pPr>
                <a14:m>
                  <m:oMathPara xmlns:m="http://schemas.openxmlformats.org/officeDocument/2006/math">
                    <m:oMath>
                      <m:eqArr>
                        <m:eqArrPr>
                          <m:ctrlPr>
                            <a:rPr lang="zh-CN" altLang="en-US" sz="1600" i="1" smtClean="0">
                              <a:latin typeface="Cambria Math" panose="02040503050406030204" pitchFamily="18" charset="0"/>
                            </a:rPr>
                          </m:ctrlPr>
                        </m:eqArrPr>
                        <m:e>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=2</m:t>
                              </m:r>
                            </m:sub>
                            <m:sup>
                              <m:r>
                                <a:rPr lang="zh-CN" altLang="en-US" sz="1600" i="1" smtClean="0">
                                  <a:latin typeface="Cambria Math" panose="02040503050406030204" pitchFamily="18" charset="0"/>
                                </a:rPr>
                                <m:t>𝑁</m:t>
                              </m:r>
                              <m:r>
                                <a:rPr lang="zh-CN" altLang="en-US" sz="1600" i="1" smtClean="0">
                                  <a:latin typeface="Cambria Math" panose="02040503050406030204" pitchFamily="18" charset="0"/>
                                </a:rPr>
                                <m:t>+1</m:t>
                              </m:r>
                            </m:sup>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𝑤</m:t>
                                  </m:r>
                                </m:e>
                                <m:sub>
                                  <m:r>
                                    <a:rPr lang="zh-CN" altLang="en-US" sz="1600" i="1" smtClean="0">
                                      <a:latin typeface="Cambria Math" panose="02040503050406030204" pitchFamily="18" charset="0"/>
                                    </a:rPr>
                                    <m:t>𝑖</m:t>
                                  </m:r>
                                </m:sub>
                              </m:sSub>
                            </m:e>
                          </m:nary>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𝛿</m:t>
                              </m:r>
                            </m:e>
                            <m:sub>
                              <m:r>
                                <a:rPr lang="zh-CN" altLang="en-US" sz="1600" i="1" smtClean="0">
                                  <a:latin typeface="Cambria Math" panose="02040503050406030204" pitchFamily="18" charset="0"/>
                                </a:rPr>
                                <m:t>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𝜃</m:t>
                              </m:r>
                            </m:e>
                            <m:sub>
                              <m:r>
                                <a:rPr lang="zh-CN" altLang="en-US" sz="1600" i="1" smtClean="0">
                                  <a:latin typeface="Cambria Math" panose="02040503050406030204" pitchFamily="18" charset="0"/>
                                </a:rPr>
                                <m:t>𝑡</m:t>
                              </m:r>
                            </m:sub>
                          </m:sSub>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=2</m:t>
                              </m:r>
                            </m:sub>
                            <m:sup>
                              <m:r>
                                <a:rPr lang="zh-CN" altLang="en-US" sz="1600" i="1" smtClean="0">
                                  <a:latin typeface="Cambria Math" panose="02040503050406030204" pitchFamily="18" charset="0"/>
                                </a:rPr>
                                <m:t>𝑁</m:t>
                              </m:r>
                              <m:r>
                                <a:rPr lang="zh-CN" altLang="en-US" sz="1600" i="1" smtClean="0">
                                  <a:latin typeface="Cambria Math" panose="02040503050406030204" pitchFamily="18" charset="0"/>
                                </a:rPr>
                                <m:t>+1</m:t>
                              </m:r>
                            </m:sup>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𝑤</m:t>
                                  </m:r>
                                </m:e>
                                <m:sub>
                                  <m:r>
                                    <a:rPr lang="zh-CN" altLang="en-US" sz="1600" i="1" smtClean="0">
                                      <a:latin typeface="Cambria Math" panose="02040503050406030204" pitchFamily="18" charset="0"/>
                                    </a:rPr>
                                    <m:t>𝑖</m:t>
                                  </m:r>
                                </m:sub>
                              </m:sSub>
                            </m:e>
                          </m:nary>
                          <m:sSub>
                            <m:sSubPr>
                              <m:ctrlPr>
                                <a:rPr lang="zh-CN" altLang="en-US" sz="1600" b="1" i="1" smtClean="0">
                                  <a:latin typeface="Cambria Math" panose="02040503050406030204" pitchFamily="18" charset="0"/>
                                </a:rPr>
                              </m:ctrlPr>
                            </m:sSubPr>
                            <m:e>
                              <m:r>
                                <a:rPr lang="zh-CN" altLang="en-US" sz="1600" b="1" i="1" smtClean="0">
                                  <a:latin typeface="Cambria Math" panose="02040503050406030204" pitchFamily="18" charset="0"/>
                                </a:rPr>
                                <m:t>𝐙</m:t>
                              </m:r>
                            </m:e>
                            <m:sub>
                              <m:r>
                                <a:rPr lang="zh-CN" altLang="en-US" sz="1600" b="0" i="1" smtClean="0">
                                  <a:latin typeface="Cambria Math" panose="02040503050406030204" pitchFamily="18" charset="0"/>
                                </a:rPr>
                                <m:t>𝑖</m:t>
                              </m:r>
                            </m:sub>
                          </m:sSub>
                          <m:r>
                            <a:rPr lang="zh-CN" altLang="en-US" sz="1600" b="0" i="1" smtClean="0">
                              <a:latin typeface="Cambria Math" panose="02040503050406030204" pitchFamily="18" charset="0"/>
                            </a:rPr>
                            <m:t>+</m:t>
                          </m:r>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𝜆</m:t>
                              </m:r>
                            </m:e>
                            <m:sub>
                              <m:r>
                                <a:rPr lang="zh-CN" altLang="en-US" sz="1600" b="0" i="1" smtClean="0">
                                  <a:latin typeface="Cambria Math" panose="02040503050406030204" pitchFamily="18" charset="0"/>
                                </a:rPr>
                                <m:t>𝑡</m:t>
                              </m:r>
                            </m:sub>
                          </m:sSub>
                          <m:nary>
                            <m:naryPr>
                              <m:chr m:val="∑"/>
                              <m:limLoc m:val="undOvr"/>
                              <m:ctrlPr>
                                <a:rPr lang="zh-CN" altLang="en-US" sz="1600" b="0" i="1" smtClean="0">
                                  <a:latin typeface="Cambria Math" panose="02040503050406030204" pitchFamily="18" charset="0"/>
                                </a:rPr>
                              </m:ctrlPr>
                            </m:naryPr>
                            <m:sub>
                              <m:r>
                                <a:rPr lang="zh-CN" altLang="en-US" sz="1600" b="0" i="1" smtClean="0">
                                  <a:latin typeface="Cambria Math" panose="02040503050406030204" pitchFamily="18" charset="0"/>
                                </a:rPr>
                                <m:t>𝑖</m:t>
                              </m:r>
                              <m:r>
                                <a:rPr lang="zh-CN" altLang="en-US" sz="1600" b="0" i="1" smtClean="0">
                                  <a:latin typeface="Cambria Math" panose="02040503050406030204" pitchFamily="18" charset="0"/>
                                </a:rPr>
                                <m:t>=2</m:t>
                              </m:r>
                            </m:sub>
                            <m:sup>
                              <m:r>
                                <a:rPr lang="zh-CN" altLang="en-US" sz="1600" b="0" i="1" smtClean="0">
                                  <a:latin typeface="Cambria Math" panose="02040503050406030204" pitchFamily="18" charset="0"/>
                                </a:rPr>
                                <m:t>𝑁</m:t>
                              </m:r>
                              <m:r>
                                <a:rPr lang="zh-CN" altLang="en-US" sz="1600" b="0" i="1" smtClean="0">
                                  <a:latin typeface="Cambria Math" panose="02040503050406030204" pitchFamily="18" charset="0"/>
                                </a:rPr>
                                <m:t>+1</m:t>
                              </m:r>
                            </m:sup>
                            <m:e>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𝑤</m:t>
                                  </m:r>
                                </m:e>
                                <m:sub>
                                  <m:r>
                                    <a:rPr lang="zh-CN" altLang="en-US" sz="1600" b="0" i="1" smtClean="0">
                                      <a:latin typeface="Cambria Math" panose="02040503050406030204" pitchFamily="18" charset="0"/>
                                    </a:rPr>
                                    <m:t>𝑖</m:t>
                                  </m:r>
                                </m:sub>
                              </m:sSub>
                            </m:e>
                          </m:nary>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𝜇</m:t>
                              </m:r>
                            </m:e>
                            <m:sub>
                              <m:r>
                                <a:rPr lang="zh-CN" altLang="en-US" sz="1600" b="0" i="1" smtClean="0">
                                  <a:latin typeface="Cambria Math" panose="02040503050406030204" pitchFamily="18" charset="0"/>
                                </a:rPr>
                                <m:t>𝑖</m:t>
                              </m:r>
                            </m:sub>
                          </m:sSub>
                          <m:r>
                            <a:rPr lang="zh-CN" altLang="en-US" sz="1600" b="0" i="1" smtClean="0">
                              <a:latin typeface="Cambria Math" panose="02040503050406030204" pitchFamily="18" charset="0"/>
                            </a:rPr>
                            <m:t>+</m:t>
                          </m:r>
                          <m:nary>
                            <m:naryPr>
                              <m:chr m:val="∑"/>
                              <m:limLoc m:val="undOvr"/>
                              <m:ctrlPr>
                                <a:rPr lang="zh-CN" altLang="en-US" sz="1600" b="0" i="1" smtClean="0">
                                  <a:latin typeface="Cambria Math" panose="02040503050406030204" pitchFamily="18" charset="0"/>
                                </a:rPr>
                              </m:ctrlPr>
                            </m:naryPr>
                            <m:sub>
                              <m:r>
                                <a:rPr lang="zh-CN" altLang="en-US" sz="1600" b="0" i="1" smtClean="0">
                                  <a:latin typeface="Cambria Math" panose="02040503050406030204" pitchFamily="18" charset="0"/>
                                </a:rPr>
                                <m:t>𝑖</m:t>
                              </m:r>
                              <m:r>
                                <a:rPr lang="zh-CN" altLang="en-US" sz="1600" b="0" i="1" smtClean="0">
                                  <a:latin typeface="Cambria Math" panose="02040503050406030204" pitchFamily="18" charset="0"/>
                                </a:rPr>
                                <m:t>=2</m:t>
                              </m:r>
                            </m:sub>
                            <m:sup>
                              <m:r>
                                <a:rPr lang="zh-CN" altLang="en-US" sz="1600" b="0" i="1" smtClean="0">
                                  <a:latin typeface="Cambria Math" panose="02040503050406030204" pitchFamily="18" charset="0"/>
                                </a:rPr>
                                <m:t>𝑁</m:t>
                              </m:r>
                              <m:r>
                                <a:rPr lang="zh-CN" altLang="en-US" sz="1600" b="0" i="1" smtClean="0">
                                  <a:latin typeface="Cambria Math" panose="02040503050406030204" pitchFamily="18" charset="0"/>
                                </a:rPr>
                                <m:t>+1</m:t>
                              </m:r>
                            </m:sup>
                            <m:e>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𝜀</m:t>
                                  </m:r>
                                </m:e>
                                <m:sub>
                                  <m:r>
                                    <a:rPr lang="zh-CN" altLang="en-US" sz="1600" b="0" i="1" smtClean="0">
                                      <a:latin typeface="Cambria Math" panose="02040503050406030204" pitchFamily="18" charset="0"/>
                                    </a:rPr>
                                    <m:t>𝑖𝑡</m:t>
                                  </m:r>
                                </m:sub>
                              </m:sSub>
                            </m:e>
                          </m:nary>
                          <m:r>
                            <a:rPr lang="zh-CN" altLang="en-US" sz="1600" b="0" i="1" smtClean="0">
                              <a:latin typeface="Cambria Math" panose="02040503050406030204" pitchFamily="18" charset="0"/>
                            </a:rPr>
                            <m:t>,</m:t>
                          </m:r>
                        </m:e>
                      </m:eqArr>
                    </m:oMath>
                  </m:oMathPara>
                </a14:m>
                <a:endParaRPr lang="en-US" altLang="zh-CN" sz="1600" dirty="0"/>
              </a:p>
              <a:p>
                <a:r>
                  <a:rPr lang="zh-CN" altLang="en-US" sz="1600" dirty="0"/>
                  <a:t>选择权重</a:t>
                </a:r>
                <a14:m>
                  <m:oMath xmlns:m="http://schemas.openxmlformats.org/officeDocument/2006/math">
                    <m:sSup>
                      <m:sSupPr>
                        <m:ctrlPr>
                          <a:rPr lang="zh-CN" altLang="en-US" sz="1600" i="1" dirty="0" smtClean="0">
                            <a:latin typeface="Cambria Math" panose="02040503050406030204" pitchFamily="18" charset="0"/>
                          </a:rPr>
                        </m:ctrlPr>
                      </m:sSupPr>
                      <m:e>
                        <m:r>
                          <a:rPr lang="zh-CN" altLang="en-US" sz="1600" i="1" dirty="0" smtClean="0">
                            <a:latin typeface="Cambria Math" panose="02040503050406030204" pitchFamily="18" charset="0"/>
                          </a:rPr>
                          <m:t>𝑊</m:t>
                        </m:r>
                      </m:e>
                      <m:sup>
                        <m:r>
                          <a:rPr lang="zh-CN" altLang="en-US" sz="1600" i="1" dirty="0" smtClean="0">
                            <a:latin typeface="Cambria Math" panose="02040503050406030204" pitchFamily="18" charset="0"/>
                          </a:rPr>
                          <m:t>∗</m:t>
                        </m:r>
                      </m:sup>
                    </m:sSup>
                    <m:r>
                      <a:rPr lang="zh-CN" altLang="en-US" sz="1600" i="1" dirty="0" smtClean="0">
                        <a:latin typeface="Cambria Math" panose="02040503050406030204" pitchFamily="18" charset="0"/>
                      </a:rPr>
                      <m:t> </m:t>
                    </m:r>
                    <m:r>
                      <a:rPr lang="en-US" altLang="zh-CN" sz="1600" i="1" dirty="0">
                        <a:latin typeface="Cambria Math" panose="02040503050406030204" pitchFamily="18" charset="0"/>
                      </a:rPr>
                      <m:t>= (</m:t>
                    </m:r>
                    <m:sSup>
                      <m:sSupPr>
                        <m:ctrlPr>
                          <a:rPr lang="zh-CN" altLang="en-US" sz="1600" i="1" dirty="0">
                            <a:latin typeface="Cambria Math" panose="02040503050406030204" pitchFamily="18" charset="0"/>
                          </a:rPr>
                        </m:ctrlPr>
                      </m:sSupPr>
                      <m:e>
                        <m:r>
                          <a:rPr lang="zh-CN" altLang="en-US" sz="1600" i="1" dirty="0">
                            <a:latin typeface="Cambria Math" panose="02040503050406030204" pitchFamily="18" charset="0"/>
                          </a:rPr>
                          <m:t>𝑤</m:t>
                        </m:r>
                      </m:e>
                      <m:sup>
                        <m:r>
                          <a:rPr lang="zh-CN" altLang="en-US" sz="1600" i="1" dirty="0">
                            <a:latin typeface="Cambria Math" panose="02040503050406030204" pitchFamily="18" charset="0"/>
                          </a:rPr>
                          <m:t>∗</m:t>
                        </m:r>
                        <m:r>
                          <a:rPr lang="en-US" altLang="zh-CN" sz="1600" i="1" dirty="0">
                            <a:latin typeface="Cambria Math" panose="02040503050406030204" pitchFamily="18" charset="0"/>
                          </a:rPr>
                          <m:t>2</m:t>
                        </m:r>
                      </m:sup>
                    </m:sSup>
                    <m:r>
                      <a:rPr lang="en-US" altLang="zh-CN" sz="1600" i="1" dirty="0">
                        <a:latin typeface="Cambria Math" panose="02040503050406030204" pitchFamily="18" charset="0"/>
                      </a:rPr>
                      <m:t>, … , </m:t>
                    </m:r>
                    <m:sSup>
                      <m:sSupPr>
                        <m:ctrlPr>
                          <a:rPr lang="zh-CN" altLang="en-US" sz="1600" i="1" dirty="0">
                            <a:latin typeface="Cambria Math" panose="02040503050406030204" pitchFamily="18" charset="0"/>
                          </a:rPr>
                        </m:ctrlPr>
                      </m:sSupPr>
                      <m:e>
                        <m:r>
                          <a:rPr lang="zh-CN" altLang="en-US" sz="1600" i="1" dirty="0">
                            <a:latin typeface="Cambria Math" panose="02040503050406030204" pitchFamily="18" charset="0"/>
                          </a:rPr>
                          <m:t>𝑤</m:t>
                        </m:r>
                      </m:e>
                      <m:sup>
                        <m:r>
                          <a:rPr lang="zh-CN" altLang="en-US" sz="1600" i="1" dirty="0">
                            <a:latin typeface="Cambria Math" panose="02040503050406030204" pitchFamily="18" charset="0"/>
                          </a:rPr>
                          <m:t>∗</m:t>
                        </m:r>
                        <m:r>
                          <a:rPr lang="zh-CN" altLang="en-US" sz="1600" i="1" dirty="0">
                            <a:latin typeface="Cambria Math" panose="02040503050406030204" pitchFamily="18" charset="0"/>
                          </a:rPr>
                          <m:t>𝑁</m:t>
                        </m:r>
                        <m:r>
                          <a:rPr lang="en-US" altLang="zh-CN" sz="1600" i="1" dirty="0">
                            <a:latin typeface="Cambria Math" panose="02040503050406030204" pitchFamily="18" charset="0"/>
                          </a:rPr>
                          <m:t>+1</m:t>
                        </m:r>
                      </m:sup>
                    </m:sSup>
                    <m:r>
                      <a:rPr lang="en-US" altLang="zh-CN" sz="1600" i="1" dirty="0">
                        <a:latin typeface="Cambria Math" panose="02040503050406030204" pitchFamily="18" charset="0"/>
                      </a:rPr>
                      <m:t>)</m:t>
                    </m:r>
                  </m:oMath>
                </a14:m>
                <a:r>
                  <a:rPr lang="zh-CN" altLang="en-US" sz="1600" dirty="0"/>
                  <a:t>，使得下列平衡性条件成立：</a:t>
                </a:r>
                <a:endParaRPr lang="en-US" altLang="zh-CN" sz="1600" dirty="0"/>
              </a:p>
              <a:p>
                <a:pPr marL="0" indent="0">
                  <a:buNone/>
                </a:pPr>
                <a14:m>
                  <m:oMathPara xmlns:m="http://schemas.openxmlformats.org/officeDocument/2006/math">
                    <m:oMath>
                      <m:eqArr>
                        <m:eqArrPr>
                          <m:ctrlPr>
                            <a:rPr lang="zh-CN" altLang="en-US" sz="1600" i="1" smtClean="0">
                              <a:latin typeface="Cambria Math" panose="02040503050406030204" pitchFamily="18" charset="0"/>
                            </a:rPr>
                          </m:ctrlPr>
                        </m:eqArrPr>
                        <m:e>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𝑗</m:t>
                              </m:r>
                              <m:r>
                                <a:rPr lang="zh-CN" altLang="en-US" sz="1600" i="1" smtClean="0">
                                  <a:latin typeface="Cambria Math" panose="02040503050406030204" pitchFamily="18" charset="0"/>
                                </a:rPr>
                                <m:t>=2</m:t>
                              </m:r>
                            </m:sub>
                            <m:sup>
                              <m:r>
                                <a:rPr lang="zh-CN" altLang="en-US" sz="1600" i="1" smtClean="0">
                                  <a:latin typeface="Cambria Math" panose="02040503050406030204" pitchFamily="18" charset="0"/>
                                </a:rPr>
                                <m:t>𝑁</m:t>
                              </m:r>
                              <m:r>
                                <a:rPr lang="zh-CN" altLang="en-US" sz="1600" i="1" smtClean="0">
                                  <a:latin typeface="Cambria Math" panose="02040503050406030204" pitchFamily="18" charset="0"/>
                                </a:rPr>
                                <m:t>+1</m:t>
                              </m:r>
                            </m:sup>
                            <m:e>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𝑤</m:t>
                                  </m:r>
                                </m:e>
                                <m:sub>
                                  <m:r>
                                    <a:rPr lang="zh-CN" altLang="en-US" sz="1600" i="1" smtClean="0">
                                      <a:latin typeface="Cambria Math" panose="02040503050406030204" pitchFamily="18" charset="0"/>
                                    </a:rPr>
                                    <m:t>𝑗</m:t>
                                  </m:r>
                                </m:sub>
                                <m:sup>
                                  <m:r>
                                    <a:rPr lang="zh-CN" altLang="en-US" sz="1600" i="1" smtClean="0">
                                      <a:latin typeface="Cambria Math" panose="02040503050406030204" pitchFamily="18" charset="0"/>
                                    </a:rPr>
                                    <m:t>∗</m:t>
                                  </m:r>
                                </m:sup>
                              </m:sSubSup>
                            </m:e>
                          </m:nary>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𝑗</m:t>
                              </m:r>
                              <m:r>
                                <a:rPr lang="zh-CN" altLang="en-US" sz="1600" i="1" smtClean="0">
                                  <a:latin typeface="Cambria Math" panose="02040503050406030204" pitchFamily="18" charset="0"/>
                                </a:rPr>
                                <m:t>1</m:t>
                              </m:r>
                            </m:sub>
                          </m:sSub>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11</m:t>
                              </m:r>
                            </m:sub>
                          </m:sSub>
                          <m:r>
                            <a:rPr lang="zh-CN" altLang="en-US" sz="1600" i="1" smtClean="0">
                              <a:latin typeface="Cambria Math" panose="02040503050406030204" pitchFamily="18" charset="0"/>
                            </a:rPr>
                            <m:t>,</m:t>
                          </m:r>
                          <m:r>
                            <m:rPr>
                              <m:aln/>
                            </m:rPr>
                            <a:rPr lang="zh-CN" altLang="en-US" sz="1600" i="1" smtClean="0">
                              <a:latin typeface="Cambria Math" panose="02040503050406030204" pitchFamily="18" charset="0"/>
                            </a:rPr>
                            <m:t>&amp;</m:t>
                          </m:r>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𝑗</m:t>
                              </m:r>
                              <m:r>
                                <a:rPr lang="zh-CN" altLang="en-US" sz="1600" i="1" smtClean="0">
                                  <a:latin typeface="Cambria Math" panose="02040503050406030204" pitchFamily="18" charset="0"/>
                                </a:rPr>
                                <m:t>=2</m:t>
                              </m:r>
                            </m:sub>
                            <m:sup>
                              <m:r>
                                <a:rPr lang="zh-CN" altLang="en-US" sz="1600" i="1" smtClean="0">
                                  <a:latin typeface="Cambria Math" panose="02040503050406030204" pitchFamily="18" charset="0"/>
                                </a:rPr>
                                <m:t>𝑁</m:t>
                              </m:r>
                              <m:r>
                                <a:rPr lang="zh-CN" altLang="en-US" sz="1600" i="1" smtClean="0">
                                  <a:latin typeface="Cambria Math" panose="02040503050406030204" pitchFamily="18" charset="0"/>
                                </a:rPr>
                                <m:t>+1</m:t>
                              </m:r>
                            </m:sup>
                            <m:e>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𝑤</m:t>
                                  </m:r>
                                </m:e>
                                <m:sub>
                                  <m:r>
                                    <a:rPr lang="zh-CN" altLang="en-US" sz="1600" i="1" smtClean="0">
                                      <a:latin typeface="Cambria Math" panose="02040503050406030204" pitchFamily="18" charset="0"/>
                                    </a:rPr>
                                    <m:t>𝑗</m:t>
                                  </m:r>
                                </m:sub>
                                <m:sup>
                                  <m:r>
                                    <a:rPr lang="zh-CN" altLang="en-US" sz="1600" i="1" smtClean="0">
                                      <a:latin typeface="Cambria Math" panose="02040503050406030204" pitchFamily="18" charset="0"/>
                                    </a:rPr>
                                    <m:t>∗</m:t>
                                  </m:r>
                                </m:sup>
                              </m:sSubSup>
                            </m:e>
                          </m:nary>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𝑗</m:t>
                              </m:r>
                              <m:r>
                                <a:rPr lang="zh-CN" altLang="en-US" sz="1600" i="1" smtClean="0">
                                  <a:latin typeface="Cambria Math" panose="02040503050406030204" pitchFamily="18" charset="0"/>
                                </a:rPr>
                                <m:t>2</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12</m:t>
                              </m:r>
                            </m:sub>
                          </m:sSub>
                          <m:r>
                            <a:rPr lang="zh-CN" altLang="en-US" sz="1600" i="1" smtClean="0">
                              <a:latin typeface="Cambria Math" panose="02040503050406030204" pitchFamily="18" charset="0"/>
                            </a:rPr>
                            <m:t>,</m:t>
                          </m:r>
                          <m:r>
                            <m:rPr>
                              <m:aln/>
                            </m:rPr>
                            <a:rPr lang="zh-CN" altLang="en-US" sz="1600" i="1" smtClean="0">
                              <a:latin typeface="Cambria Math" panose="02040503050406030204" pitchFamily="18" charset="0"/>
                            </a:rPr>
                            <m:t>&amp;</m:t>
                          </m:r>
                          <m:r>
                            <a:rPr lang="en-US" altLang="zh-CN" sz="1600" b="0" i="1" smtClean="0">
                              <a:latin typeface="Cambria Math" panose="02040503050406030204" pitchFamily="18" charset="0"/>
                            </a:rPr>
                            <m:t> </m:t>
                          </m:r>
                          <m:r>
                            <a:rPr lang="zh-CN" altLang="en-US" sz="1600" i="1" smtClean="0">
                              <a:latin typeface="Cambria Math" panose="02040503050406030204" pitchFamily="18" charset="0"/>
                            </a:rPr>
                            <m:t>⋯,</m:t>
                          </m:r>
                        </m:e>
                        <m:e>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𝑗</m:t>
                              </m:r>
                              <m:r>
                                <a:rPr lang="zh-CN" altLang="en-US" sz="1600" i="1" smtClean="0">
                                  <a:latin typeface="Cambria Math" panose="02040503050406030204" pitchFamily="18" charset="0"/>
                                </a:rPr>
                                <m:t>=2</m:t>
                              </m:r>
                            </m:sub>
                            <m:sup>
                              <m:r>
                                <a:rPr lang="zh-CN" altLang="en-US" sz="1600" i="1" smtClean="0">
                                  <a:latin typeface="Cambria Math" panose="02040503050406030204" pitchFamily="18" charset="0"/>
                                </a:rPr>
                                <m:t>𝑁</m:t>
                              </m:r>
                              <m:r>
                                <a:rPr lang="zh-CN" altLang="en-US" sz="1600" i="1" smtClean="0">
                                  <a:latin typeface="Cambria Math" panose="02040503050406030204" pitchFamily="18" charset="0"/>
                                </a:rPr>
                                <m:t>+1</m:t>
                              </m:r>
                            </m:sup>
                            <m:e>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𝑤</m:t>
                                  </m:r>
                                </m:e>
                                <m:sub>
                                  <m:r>
                                    <a:rPr lang="zh-CN" altLang="en-US" sz="1600" i="1" smtClean="0">
                                      <a:latin typeface="Cambria Math" panose="02040503050406030204" pitchFamily="18" charset="0"/>
                                    </a:rPr>
                                    <m:t>𝑗</m:t>
                                  </m:r>
                                </m:sub>
                                <m:sup>
                                  <m:r>
                                    <a:rPr lang="zh-CN" altLang="en-US" sz="1600" i="1" smtClean="0">
                                      <a:latin typeface="Cambria Math" panose="02040503050406030204" pitchFamily="18" charset="0"/>
                                    </a:rPr>
                                    <m:t>∗</m:t>
                                  </m:r>
                                </m:sup>
                              </m:sSubSup>
                            </m:e>
                          </m:nary>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𝑗</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0</m:t>
                                  </m:r>
                                </m:sub>
                              </m:sSub>
                            </m:sub>
                          </m:sSub>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1</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0</m:t>
                                  </m:r>
                                </m:sub>
                              </m:sSub>
                            </m:sub>
                          </m:sSub>
                          <m:r>
                            <a:rPr lang="zh-CN" altLang="en-US" sz="1600" i="1" smtClean="0">
                              <a:latin typeface="Cambria Math" panose="02040503050406030204" pitchFamily="18" charset="0"/>
                            </a:rPr>
                            <m:t>,</m:t>
                          </m:r>
                          <m:r>
                            <m:rPr>
                              <m:aln/>
                            </m:rPr>
                            <a:rPr lang="zh-CN" altLang="en-US" sz="1600" i="1" smtClean="0">
                              <a:latin typeface="Cambria Math" panose="02040503050406030204" pitchFamily="18" charset="0"/>
                            </a:rPr>
                            <m:t>&amp;</m:t>
                          </m:r>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𝑗</m:t>
                              </m:r>
                              <m:r>
                                <a:rPr lang="zh-CN" altLang="en-US" sz="1600" i="1" smtClean="0">
                                  <a:latin typeface="Cambria Math" panose="02040503050406030204" pitchFamily="18" charset="0"/>
                                </a:rPr>
                                <m:t>=2</m:t>
                              </m:r>
                            </m:sub>
                            <m:sup>
                              <m:r>
                                <a:rPr lang="zh-CN" altLang="en-US" sz="1600" i="1" smtClean="0">
                                  <a:latin typeface="Cambria Math" panose="02040503050406030204" pitchFamily="18" charset="0"/>
                                </a:rPr>
                                <m:t>𝑁</m:t>
                              </m:r>
                              <m:r>
                                <a:rPr lang="zh-CN" altLang="en-US" sz="1600" i="1" smtClean="0">
                                  <a:latin typeface="Cambria Math" panose="02040503050406030204" pitchFamily="18" charset="0"/>
                                </a:rPr>
                                <m:t>+1</m:t>
                              </m:r>
                            </m:sup>
                            <m:e>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𝑤</m:t>
                                  </m:r>
                                </m:e>
                                <m:sub>
                                  <m:r>
                                    <a:rPr lang="zh-CN" altLang="en-US" sz="1600" i="1" smtClean="0">
                                      <a:latin typeface="Cambria Math" panose="02040503050406030204" pitchFamily="18" charset="0"/>
                                    </a:rPr>
                                    <m:t>𝑗</m:t>
                                  </m:r>
                                </m:sub>
                                <m:sup>
                                  <m:r>
                                    <a:rPr lang="zh-CN" altLang="en-US" sz="1600" i="1" smtClean="0">
                                      <a:latin typeface="Cambria Math" panose="02040503050406030204" pitchFamily="18" charset="0"/>
                                    </a:rPr>
                                    <m:t>∗</m:t>
                                  </m:r>
                                </m:sup>
                              </m:sSubSup>
                            </m:e>
                          </m:nary>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𝑍</m:t>
                              </m:r>
                            </m:e>
                            <m:sub>
                              <m:r>
                                <a:rPr lang="zh-CN" altLang="en-US" sz="1600" i="1" smtClean="0">
                                  <a:latin typeface="Cambria Math" panose="02040503050406030204" pitchFamily="18" charset="0"/>
                                </a:rPr>
                                <m:t>𝑗</m:t>
                              </m:r>
                            </m:sub>
                          </m:sSub>
                          <m:r>
                            <a:rPr lang="zh-CN" altLang="en-US" sz="1600" i="1" smtClean="0">
                              <a:latin typeface="Cambria Math" panose="02040503050406030204" pitchFamily="18" charset="0"/>
                            </a:rPr>
                            <m:t>=</m:t>
                          </m:r>
                          <m:sSub>
                            <m:sSubPr>
                              <m:ctrlPr>
                                <a:rPr lang="zh-CN" altLang="en-US" sz="1600" b="1" i="1" smtClean="0">
                                  <a:latin typeface="Cambria Math" panose="02040503050406030204" pitchFamily="18" charset="0"/>
                                </a:rPr>
                              </m:ctrlPr>
                            </m:sSubPr>
                            <m:e>
                              <m:r>
                                <a:rPr lang="zh-CN" altLang="en-US" sz="1600" b="1" i="1" smtClean="0">
                                  <a:latin typeface="Cambria Math" panose="02040503050406030204" pitchFamily="18" charset="0"/>
                                </a:rPr>
                                <m:t>𝐙</m:t>
                              </m:r>
                            </m:e>
                            <m:sub>
                              <m:r>
                                <a:rPr lang="zh-CN" altLang="en-US" sz="1600" b="0" i="1" smtClean="0">
                                  <a:latin typeface="Cambria Math" panose="02040503050406030204" pitchFamily="18" charset="0"/>
                                </a:rPr>
                                <m:t>1.</m:t>
                              </m:r>
                            </m:sub>
                          </m:sSub>
                          <m:r>
                            <m:rPr>
                              <m:aln/>
                            </m:rPr>
                            <a:rPr lang="zh-CN" altLang="en-US" sz="1600" b="0" i="1" smtClean="0">
                              <a:latin typeface="Cambria Math" panose="02040503050406030204" pitchFamily="18" charset="0"/>
                            </a:rPr>
                            <m:t>&amp;</m:t>
                          </m:r>
                        </m:e>
                      </m:eqArr>
                    </m:oMath>
                  </m:oMathPara>
                </a14:m>
                <a:endParaRPr lang="en-US" altLang="zh-CN" sz="1600" dirty="0"/>
              </a:p>
              <a:p>
                <a:r>
                  <a:rPr lang="zh-CN" altLang="en-US" sz="1600" dirty="0"/>
                  <a:t>当</a:t>
                </a:r>
                <a14:m>
                  <m:oMath xmlns:m="http://schemas.openxmlformats.org/officeDocument/2006/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𝑇</m:t>
                        </m:r>
                      </m:e>
                      <m:sub>
                        <m:r>
                          <a:rPr lang="en-US" altLang="zh-CN" sz="1600" i="1" dirty="0">
                            <a:latin typeface="Cambria Math" panose="02040503050406030204" pitchFamily="18" charset="0"/>
                          </a:rPr>
                          <m:t>0</m:t>
                        </m:r>
                      </m:sub>
                    </m:sSub>
                  </m:oMath>
                </a14:m>
                <a:r>
                  <a:rPr lang="en-US" altLang="zh-CN" sz="1600" dirty="0"/>
                  <a:t> </a:t>
                </a:r>
                <a:r>
                  <a:rPr lang="zh-CN" altLang="en-US" sz="1600" dirty="0"/>
                  <a:t>很大时，</a:t>
                </a:r>
                <a14:m>
                  <m:oMath xmlns:m="http://schemas.openxmlformats.org/officeDocument/2006/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𝜏</m:t>
                        </m:r>
                      </m:e>
                      <m:sub>
                        <m:r>
                          <a:rPr lang="en-US" altLang="zh-CN" sz="1600" i="1" dirty="0">
                            <a:latin typeface="Cambria Math" panose="02040503050406030204" pitchFamily="18" charset="0"/>
                          </a:rPr>
                          <m:t>1</m:t>
                        </m:r>
                        <m:r>
                          <a:rPr lang="zh-CN" altLang="en-US" sz="1600" i="1" dirty="0">
                            <a:latin typeface="Cambria Math" panose="02040503050406030204" pitchFamily="18" charset="0"/>
                          </a:rPr>
                          <m:t>𝑡</m:t>
                        </m:r>
                      </m:sub>
                    </m:sSub>
                  </m:oMath>
                </a14:m>
                <a:r>
                  <a:rPr lang="zh-CN" altLang="en-US" sz="1600" dirty="0"/>
                  <a:t> 的一个近似估计量为：</a:t>
                </a:r>
                <a:endParaRPr lang="en-US" altLang="zh-CN" sz="1600" dirty="0"/>
              </a:p>
              <a:p>
                <a:pPr marL="0" indent="0">
                  <a:buNone/>
                </a:pPr>
                <a14:m>
                  <m:oMathPara xmlns:m="http://schemas.openxmlformats.org/officeDocument/2006/math">
                    <m:oMath>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𝜏</m:t>
                              </m:r>
                            </m:e>
                          </m:acc>
                        </m:e>
                        <m:sub>
                          <m:r>
                            <a:rPr lang="zh-CN" altLang="en-US" sz="1600" i="1" smtClean="0">
                              <a:latin typeface="Cambria Math" panose="02040503050406030204" pitchFamily="18" charset="0"/>
                            </a:rPr>
                            <m:t>1</m:t>
                          </m:r>
                          <m:r>
                            <a:rPr lang="zh-CN" altLang="en-US" sz="1600" i="1" smtClean="0">
                              <a:latin typeface="Cambria Math" panose="02040503050406030204" pitchFamily="18" charset="0"/>
                            </a:rPr>
                            <m:t>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1</m:t>
                          </m:r>
                          <m:r>
                            <a:rPr lang="zh-CN" altLang="en-US" sz="1600" i="1" smtClean="0">
                              <a:latin typeface="Cambria Math" panose="02040503050406030204" pitchFamily="18" charset="0"/>
                            </a:rPr>
                            <m:t>𝑡</m:t>
                          </m:r>
                        </m:sub>
                      </m:sSub>
                      <m:r>
                        <a:rPr lang="zh-CN" altLang="en-US" sz="1600" i="1" smtClean="0">
                          <a:latin typeface="Cambria Math" panose="02040503050406030204" pitchFamily="18" charset="0"/>
                        </a:rPr>
                        <m:t>−</m:t>
                      </m:r>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=2</m:t>
                          </m:r>
                        </m:sub>
                        <m:sup>
                          <m:r>
                            <a:rPr lang="zh-CN" altLang="en-US" sz="1600" i="1" smtClean="0">
                              <a:latin typeface="Cambria Math" panose="02040503050406030204" pitchFamily="18" charset="0"/>
                            </a:rPr>
                            <m:t>𝑁</m:t>
                          </m:r>
                          <m:r>
                            <a:rPr lang="zh-CN" altLang="en-US" sz="1600" i="1" smtClean="0">
                              <a:latin typeface="Cambria Math" panose="02040503050406030204" pitchFamily="18" charset="0"/>
                            </a:rPr>
                            <m:t>+1</m:t>
                          </m:r>
                        </m:sup>
                        <m:e>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𝑤</m:t>
                              </m:r>
                            </m:e>
                            <m:sub>
                              <m:r>
                                <a:rPr lang="zh-CN" altLang="en-US" sz="1600" i="1" smtClean="0">
                                  <a:latin typeface="Cambria Math" panose="02040503050406030204" pitchFamily="18" charset="0"/>
                                </a:rPr>
                                <m:t>𝑖</m:t>
                              </m:r>
                            </m:sub>
                            <m:sup>
                              <m:r>
                                <a:rPr lang="zh-CN" altLang="en-US" sz="1600" i="1" smtClean="0">
                                  <a:latin typeface="Cambria Math" panose="02040503050406030204" pitchFamily="18" charset="0"/>
                                </a:rPr>
                                <m:t>∗</m:t>
                              </m:r>
                            </m:sup>
                          </m:sSubSup>
                        </m:e>
                      </m:nary>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 </m:t>
                      </m:r>
                      <m:r>
                        <a:rPr lang="zh-CN" altLang="en-US" sz="1600" i="1" smtClean="0">
                          <a:latin typeface="Cambria Math" panose="02040503050406030204" pitchFamily="18" charset="0"/>
                        </a:rPr>
                        <m:t>𝑡</m:t>
                      </m:r>
                      <m:r>
                        <a:rPr lang="zh-CN" altLang="en-US" sz="1600" i="1" smtClean="0">
                          <a:latin typeface="Cambria Math" panose="02040503050406030204" pitchFamily="18" charset="0"/>
                        </a:rPr>
                        <m:t>∈</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+1,…,</m:t>
                          </m:r>
                          <m:r>
                            <a:rPr lang="zh-CN" altLang="en-US" sz="1600" i="1" smtClean="0">
                              <a:latin typeface="Cambria Math" panose="02040503050406030204" pitchFamily="18" charset="0"/>
                            </a:rPr>
                            <m:t>𝑇</m:t>
                          </m:r>
                        </m:e>
                      </m:d>
                      <m:r>
                        <a:rPr lang="zh-CN" altLang="en-US" sz="1600" i="1" smtClean="0">
                          <a:latin typeface="Cambria Math" panose="02040503050406030204" pitchFamily="18" charset="0"/>
                        </a:rPr>
                        <m:t>.</m:t>
                      </m:r>
                    </m:oMath>
                  </m:oMathPara>
                </a14:m>
                <a:endParaRPr lang="zh-CN" altLang="en-US" sz="1600" dirty="0"/>
              </a:p>
            </p:txBody>
          </p:sp>
        </mc:Choice>
        <mc:Fallback>
          <p:sp>
            <p:nvSpPr>
              <p:cNvPr id="3" name="内容占位符 2">
                <a:extLst>
                  <a:ext uri="{FF2B5EF4-FFF2-40B4-BE49-F238E27FC236}">
                    <a16:creationId xmlns:a16="http://schemas.microsoft.com/office/drawing/2014/main" id="{63D9AC68-A2A2-30F5-5980-0EC18D1E6066}"/>
                  </a:ext>
                </a:extLst>
              </p:cNvPr>
              <p:cNvSpPr>
                <a:spLocks noGrp="1" noRot="1" noChangeAspect="1" noMove="1" noResize="1" noEditPoints="1" noAdjustHandles="1" noChangeArrowheads="1" noChangeShapeType="1" noTextEdit="1"/>
              </p:cNvSpPr>
              <p:nvPr>
                <p:ph idx="1"/>
              </p:nvPr>
            </p:nvSpPr>
            <p:spPr>
              <a:blipFill>
                <a:blip r:embed="rId2"/>
                <a:stretch>
                  <a:fillRect l="-309" t="-420" b="-8683"/>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67890E14-562D-BDA4-DDBF-B18BE73D977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027D82D-31B5-1B55-828C-0491E249E730}"/>
              </a:ext>
            </a:extLst>
          </p:cNvPr>
          <p:cNvSpPr>
            <a:spLocks noGrp="1"/>
          </p:cNvSpPr>
          <p:nvPr>
            <p:ph type="sldNum" sz="quarter" idx="12"/>
          </p:nvPr>
        </p:nvSpPr>
        <p:spPr/>
        <p:txBody>
          <a:bodyPr/>
          <a:lstStyle/>
          <a:p>
            <a:fld id="{D41FC515-8169-4A29-AA56-DBE520D5741B}" type="slidenum">
              <a:rPr lang="zh-CN" altLang="en-US" smtClean="0"/>
              <a:t>14</a:t>
            </a:fld>
            <a:endParaRPr lang="zh-CN" altLang="en-US"/>
          </a:p>
        </p:txBody>
      </p:sp>
    </p:spTree>
    <p:extLst>
      <p:ext uri="{BB962C8B-B14F-4D97-AF65-F5344CB8AC3E}">
        <p14:creationId xmlns:p14="http://schemas.microsoft.com/office/powerpoint/2010/main" val="3457040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D613FD-4072-1D39-5378-2DFE5E0000B7}"/>
              </a:ext>
            </a:extLst>
          </p:cNvPr>
          <p:cNvSpPr>
            <a:spLocks noGrp="1"/>
          </p:cNvSpPr>
          <p:nvPr>
            <p:ph type="title"/>
          </p:nvPr>
        </p:nvSpPr>
        <p:spPr/>
        <p:txBody>
          <a:bodyPr/>
          <a:lstStyle/>
          <a:p>
            <a:r>
              <a:rPr lang="zh-CN" altLang="en-US" dirty="0"/>
              <a:t>合成控制法</a:t>
            </a:r>
            <a:br>
              <a:rPr lang="zh-CN" altLang="en-US" dirty="0"/>
            </a:br>
            <a:r>
              <a:rPr lang="zh-CN" altLang="en-US" sz="2400" dirty="0"/>
              <a:t>实施方法和假设检验</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41560F45-CEBA-E12E-394E-767B6E37DB26}"/>
                  </a:ext>
                </a:extLst>
              </p:cNvPr>
              <p:cNvSpPr>
                <a:spLocks noGrp="1"/>
              </p:cNvSpPr>
              <p:nvPr>
                <p:ph idx="1"/>
              </p:nvPr>
            </p:nvSpPr>
            <p:spPr/>
            <p:txBody>
              <a:bodyPr>
                <a:normAutofit fontScale="70000" lnSpcReduction="20000"/>
              </a:bodyPr>
              <a:lstStyle/>
              <a:p>
                <a:pPr>
                  <a:lnSpc>
                    <a:spcPct val="120000"/>
                  </a:lnSpc>
                </a:pPr>
                <a:r>
                  <a:rPr lang="zh-CN" altLang="en-US" dirty="0"/>
                  <a:t>令</a:t>
                </a:r>
                <a14:m>
                  <m:oMath xmlns:m="http://schemas.openxmlformats.org/officeDocument/2006/math">
                    <m:r>
                      <a:rPr lang="zh-CN" altLang="en-US" i="1" dirty="0" smtClean="0">
                        <a:latin typeface="Cambria Math" panose="02040503050406030204" pitchFamily="18" charset="0"/>
                      </a:rPr>
                      <m:t>𝑊</m:t>
                    </m:r>
                    <m:r>
                      <a:rPr lang="zh-CN" altLang="en-US" i="1" dirty="0" smtClean="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𝑤</m:t>
                        </m:r>
                      </m:e>
                      <m:sub>
                        <m:r>
                          <a:rPr lang="en-US" altLang="zh-CN" i="1" dirty="0">
                            <a:latin typeface="Cambria Math" panose="02040503050406030204" pitchFamily="18" charset="0"/>
                          </a:rPr>
                          <m:t>2</m:t>
                        </m:r>
                      </m:sub>
                    </m:sSub>
                    <m:r>
                      <a:rPr lang="en-US" altLang="zh-CN" i="1" dirty="0">
                        <a:latin typeface="Cambria Math" panose="02040503050406030204" pitchFamily="18" charset="0"/>
                      </a:rPr>
                      <m:t>, …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𝑤</m:t>
                        </m:r>
                      </m:e>
                      <m:sub>
                        <m:r>
                          <a:rPr lang="zh-CN" altLang="en-US" i="1" dirty="0">
                            <a:latin typeface="Cambria Math" panose="02040503050406030204" pitchFamily="18" charset="0"/>
                          </a:rPr>
                          <m:t>𝑁</m:t>
                        </m:r>
                        <m:r>
                          <a:rPr lang="en-US" altLang="zh-CN" i="1" dirty="0">
                            <a:latin typeface="Cambria Math" panose="02040503050406030204" pitchFamily="18" charset="0"/>
                          </a:rPr>
                          <m:t>+1</m:t>
                        </m:r>
                      </m:sub>
                    </m:sSub>
                    <m:r>
                      <a:rPr lang="en-US" altLang="zh-CN" i="1" dirty="0">
                        <a:latin typeface="Cambria Math" panose="02040503050406030204" pitchFamily="18" charset="0"/>
                      </a:rPr>
                      <m:t>)′ </m:t>
                    </m:r>
                  </m:oMath>
                </a14:m>
                <a:r>
                  <a:rPr lang="zh-CN" altLang="en-US" dirty="0"/>
                  <a:t>为权重，一般称为合成控制。</a:t>
                </a:r>
                <a:endParaRPr lang="en-US" altLang="zh-CN" dirty="0"/>
              </a:p>
              <a:p>
                <a:pPr>
                  <a:lnSpc>
                    <a:spcPct val="120000"/>
                  </a:lnSpc>
                </a:pPr>
                <a:r>
                  <a:rPr lang="zh-CN" altLang="en-US" dirty="0"/>
                  <a:t>令</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𝑋</m:t>
                        </m:r>
                      </m:e>
                      <m:sub>
                        <m:r>
                          <a:rPr lang="en-US" altLang="zh-CN" i="1" dirty="0">
                            <a:latin typeface="Cambria Math" panose="02040503050406030204" pitchFamily="18" charset="0"/>
                          </a:rPr>
                          <m:t>1</m:t>
                        </m:r>
                      </m:sub>
                    </m:sSub>
                  </m:oMath>
                </a14:m>
                <a:r>
                  <a:rPr lang="en-US" altLang="zh-CN" dirty="0"/>
                  <a:t> </a:t>
                </a:r>
                <a:r>
                  <a:rPr lang="zh-CN" altLang="en-US" dirty="0"/>
                  <a:t>为𝑘 </a:t>
                </a:r>
                <a:r>
                  <a:rPr lang="en-US" altLang="zh-CN" dirty="0"/>
                  <a:t>× 1 </a:t>
                </a:r>
                <a:r>
                  <a:rPr lang="zh-CN" altLang="en-US" dirty="0"/>
                  <a:t>的特征向量（干预前干预组的特征），</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𝑋</m:t>
                        </m:r>
                      </m:e>
                      <m:sub>
                        <m:r>
                          <a:rPr lang="en-US" altLang="zh-CN" i="1" dirty="0">
                            <a:latin typeface="Cambria Math" panose="02040503050406030204" pitchFamily="18" charset="0"/>
                          </a:rPr>
                          <m:t>0</m:t>
                        </m:r>
                      </m:sub>
                    </m:sSub>
                  </m:oMath>
                </a14:m>
                <a:r>
                  <a:rPr lang="zh-CN" altLang="en-US" dirty="0"/>
                  <a:t>为𝑘 </a:t>
                </a:r>
                <a:r>
                  <a:rPr lang="en-US" altLang="zh-CN" dirty="0"/>
                  <a:t>× </a:t>
                </a:r>
                <a:r>
                  <a:rPr lang="zh-CN" altLang="en-US" dirty="0"/>
                  <a:t>𝑁 的矩阵为控制组的特征。</a:t>
                </a:r>
                <a:endParaRPr lang="en-US" altLang="zh-CN" dirty="0"/>
              </a:p>
              <a:p>
                <a:pPr>
                  <a:lnSpc>
                    <a:spcPct val="120000"/>
                  </a:lnSpc>
                </a:pP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𝑊</m:t>
                        </m:r>
                      </m:e>
                      <m:sub>
                        <m:r>
                          <a:rPr lang="zh-CN" altLang="en-US" i="1" dirty="0" smtClean="0">
                            <a:latin typeface="Cambria Math" panose="02040503050406030204" pitchFamily="18" charset="0"/>
                          </a:rPr>
                          <m:t>∗</m:t>
                        </m:r>
                      </m:sub>
                    </m:sSub>
                  </m:oMath>
                </a14:m>
                <a:r>
                  <a:rPr lang="zh-CN" altLang="en-US" dirty="0"/>
                  <a:t> 的选择，通过最小化两者的距离</a:t>
                </a:r>
                <a14:m>
                  <m:oMath xmlns:m="http://schemas.openxmlformats.org/officeDocument/2006/math">
                    <m:r>
                      <a:rPr lang="en-US" altLang="zh-CN" i="1" dirty="0" smtClean="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en-US" altLang="zh-CN" i="1" dirty="0">
                            <a:latin typeface="Cambria Math" panose="02040503050406030204" pitchFamily="18" charset="0"/>
                          </a:rPr>
                          <m:t>0</m:t>
                        </m:r>
                      </m:sub>
                    </m:sSub>
                    <m:r>
                      <a:rPr lang="zh-CN" altLang="en-US" i="1" dirty="0">
                        <a:latin typeface="Cambria Math" panose="02040503050406030204" pitchFamily="18" charset="0"/>
                      </a:rPr>
                      <m:t>𝑊</m:t>
                    </m:r>
                    <m:r>
                      <a:rPr lang="zh-CN" altLang="en-US" i="1" dirty="0">
                        <a:latin typeface="Cambria Math" panose="02040503050406030204" pitchFamily="18" charset="0"/>
                      </a:rPr>
                      <m:t> ‖</m:t>
                    </m:r>
                  </m:oMath>
                </a14:m>
                <a:r>
                  <a:rPr lang="zh-CN" altLang="en-US" dirty="0"/>
                  <a:t>。</a:t>
                </a:r>
                <a:endParaRPr lang="en-US" altLang="zh-CN" dirty="0"/>
              </a:p>
              <a:p>
                <a:pPr lvl="1">
                  <a:lnSpc>
                    <a:spcPct val="120000"/>
                  </a:lnSpc>
                </a:pPr>
                <a:r>
                  <a:rPr lang="zh-CN" altLang="en-US" dirty="0"/>
                  <a:t>通常</a:t>
                </a:r>
                <a:endParaRPr lang="en-US" altLang="zh-CN" dirty="0"/>
              </a:p>
              <a:p>
                <a:pPr marL="457200" lvl="1" indent="0">
                  <a:lnSpc>
                    <a:spcPct val="120000"/>
                  </a:lnSpc>
                  <a:buNone/>
                </a:pPr>
                <a14:m>
                  <m:oMathPara xmlns:m="http://schemas.openxmlformats.org/officeDocument/2006/math">
                    <m:oMath>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𝑊</m:t>
                          </m:r>
                        </m:e>
                      </m:d>
                      <m:r>
                        <a:rPr lang="zh-CN" altLang="en-US" i="1" smtClean="0">
                          <a:latin typeface="Cambria Math" panose="02040503050406030204" pitchFamily="18" charset="0"/>
                        </a:rPr>
                        <m:t>=</m:t>
                      </m:r>
                      <m:rad>
                        <m:radPr>
                          <m:degHide m:val="on"/>
                          <m:ctrlPr>
                            <a:rPr lang="zh-CN" altLang="en-US" i="1" smtClean="0">
                              <a:latin typeface="Cambria Math" panose="02040503050406030204" pitchFamily="18" charset="0"/>
                            </a:rPr>
                          </m:ctrlPr>
                        </m:radPr>
                        <m:deg/>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ℎ</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𝑘</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𝑣</m:t>
                                  </m:r>
                                </m:e>
                                <m:sub>
                                  <m:r>
                                    <a:rPr lang="zh-CN" altLang="en-US" i="1" smtClean="0">
                                      <a:latin typeface="Cambria Math" panose="02040503050406030204" pitchFamily="18" charset="0"/>
                                    </a:rPr>
                                    <m:t>ℎ</m:t>
                                  </m:r>
                                </m:sub>
                              </m:sSub>
                            </m:e>
                          </m:nary>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ℎ</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2</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ℎ</m:t>
                                      </m:r>
                                      <m:r>
                                        <a:rPr lang="zh-CN" altLang="en-US" i="1" smtClean="0">
                                          <a:latin typeface="Cambria Math" panose="02040503050406030204" pitchFamily="18" charset="0"/>
                                        </a:rPr>
                                        <m:t>2</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𝑁</m:t>
                                      </m:r>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ℎ𝑁</m:t>
                                      </m:r>
                                      <m:r>
                                        <a:rPr lang="zh-CN" altLang="en-US" i="1" smtClean="0">
                                          <a:latin typeface="Cambria Math" panose="02040503050406030204" pitchFamily="18" charset="0"/>
                                        </a:rPr>
                                        <m:t>+1</m:t>
                                      </m:r>
                                    </m:sub>
                                  </m:sSub>
                                </m:e>
                              </m:d>
                            </m:e>
                            <m:sup>
                              <m:r>
                                <a:rPr lang="zh-CN" altLang="en-US" i="1" smtClean="0">
                                  <a:latin typeface="Cambria Math" panose="02040503050406030204" pitchFamily="18" charset="0"/>
                                </a:rPr>
                                <m:t>2</m:t>
                              </m:r>
                            </m:sup>
                          </m:sSup>
                        </m:e>
                      </m:rad>
                    </m:oMath>
                  </m:oMathPara>
                </a14:m>
                <a:endParaRPr lang="en-US" altLang="zh-CN" dirty="0"/>
              </a:p>
              <a:p>
                <a:pPr lvl="1">
                  <a:lnSpc>
                    <a:spcPct val="120000"/>
                  </a:lnSpc>
                </a:pP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𝑣</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𝑣</m:t>
                        </m:r>
                      </m:e>
                      <m:sub>
                        <m:r>
                          <a:rPr lang="zh-CN" altLang="en-US" i="1" dirty="0">
                            <a:latin typeface="Cambria Math" panose="02040503050406030204" pitchFamily="18" charset="0"/>
                          </a:rPr>
                          <m:t>𝑘</m:t>
                        </m:r>
                      </m:sub>
                    </m:sSub>
                    <m:r>
                      <a:rPr lang="zh-CN" altLang="en-US" i="1" dirty="0">
                        <a:latin typeface="Cambria Math" panose="02040503050406030204" pitchFamily="18" charset="0"/>
                      </a:rPr>
                      <m:t> </m:t>
                    </m:r>
                  </m:oMath>
                </a14:m>
                <a:r>
                  <a:rPr lang="zh-CN" altLang="en-US" dirty="0"/>
                  <a:t>反映了𝑘 个观测特征对结果𝑌</a:t>
                </a:r>
                <a:r>
                  <a:rPr lang="en-US" altLang="zh-CN" dirty="0"/>
                  <a:t>01</a:t>
                </a:r>
                <a:r>
                  <a:rPr lang="zh-CN" altLang="en-US" dirty="0"/>
                  <a:t>𝑡 预测能力的好坏。</a:t>
                </a:r>
                <a:endParaRPr lang="en-US" altLang="zh-CN" dirty="0"/>
              </a:p>
              <a:p>
                <a:pPr lvl="1">
                  <a:lnSpc>
                    <a:spcPct val="120000"/>
                  </a:lnSpc>
                </a:pPr>
                <a14:m>
                  <m:oMath xmlns:m="http://schemas.openxmlformats.org/officeDocument/2006/math">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𝑣</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𝑣</m:t>
                        </m:r>
                      </m:e>
                      <m:sub>
                        <m:r>
                          <a:rPr lang="zh-CN" altLang="en-US" i="1" dirty="0">
                            <a:latin typeface="Cambria Math" panose="02040503050406030204" pitchFamily="18" charset="0"/>
                          </a:rPr>
                          <m:t>𝑘</m:t>
                        </m:r>
                      </m:sub>
                    </m:sSub>
                  </m:oMath>
                </a14:m>
                <a:r>
                  <a:rPr lang="zh-CN" altLang="en-US" dirty="0"/>
                  <a:t> 可能利用样本外验证的方法进行选择（统计学习的方法，比如交叉验证）。</a:t>
                </a:r>
              </a:p>
            </p:txBody>
          </p:sp>
        </mc:Choice>
        <mc:Fallback>
          <p:sp>
            <p:nvSpPr>
              <p:cNvPr id="3" name="内容占位符 2">
                <a:extLst>
                  <a:ext uri="{FF2B5EF4-FFF2-40B4-BE49-F238E27FC236}">
                    <a16:creationId xmlns:a16="http://schemas.microsoft.com/office/drawing/2014/main" id="{41560F45-CEBA-E12E-394E-767B6E37DB26}"/>
                  </a:ext>
                </a:extLst>
              </p:cNvPr>
              <p:cNvSpPr>
                <a:spLocks noGrp="1" noRot="1" noChangeAspect="1" noMove="1" noResize="1" noEditPoints="1" noAdjustHandles="1" noChangeArrowheads="1" noChangeShapeType="1" noTextEdit="1"/>
              </p:cNvSpPr>
              <p:nvPr>
                <p:ph idx="1"/>
              </p:nvPr>
            </p:nvSpPr>
            <p:spPr>
              <a:blipFill>
                <a:blip r:embed="rId2"/>
                <a:stretch>
                  <a:fillRect l="-696" t="-700" r="-77"/>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4B101F0-F4FE-BEE4-4DF9-509CC69F51F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8AB987D-FF09-AEC1-BE9D-9EC2418A9EE5}"/>
              </a:ext>
            </a:extLst>
          </p:cNvPr>
          <p:cNvSpPr>
            <a:spLocks noGrp="1"/>
          </p:cNvSpPr>
          <p:nvPr>
            <p:ph type="sldNum" sz="quarter" idx="12"/>
          </p:nvPr>
        </p:nvSpPr>
        <p:spPr/>
        <p:txBody>
          <a:bodyPr/>
          <a:lstStyle/>
          <a:p>
            <a:fld id="{D41FC515-8169-4A29-AA56-DBE520D5741B}" type="slidenum">
              <a:rPr lang="zh-CN" altLang="en-US" smtClean="0"/>
              <a:t>15</a:t>
            </a:fld>
            <a:endParaRPr lang="zh-CN" altLang="en-US"/>
          </a:p>
        </p:txBody>
      </p:sp>
    </p:spTree>
    <p:extLst>
      <p:ext uri="{BB962C8B-B14F-4D97-AF65-F5344CB8AC3E}">
        <p14:creationId xmlns:p14="http://schemas.microsoft.com/office/powerpoint/2010/main" val="67226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89121D-9524-BD05-0D1C-3F427AD89933}"/>
              </a:ext>
            </a:extLst>
          </p:cNvPr>
          <p:cNvSpPr>
            <a:spLocks noGrp="1"/>
          </p:cNvSpPr>
          <p:nvPr>
            <p:ph type="title"/>
          </p:nvPr>
        </p:nvSpPr>
        <p:spPr/>
        <p:txBody>
          <a:bodyPr/>
          <a:lstStyle/>
          <a:p>
            <a:r>
              <a:rPr lang="zh-CN" altLang="en-US" dirty="0"/>
              <a:t>合成控制法</a:t>
            </a:r>
            <a:br>
              <a:rPr lang="zh-CN" altLang="en-US" dirty="0"/>
            </a:br>
            <a:r>
              <a:rPr lang="en-US" altLang="zh-CN" sz="2400" dirty="0"/>
              <a:t>Abadie et al. (2015)</a:t>
            </a:r>
            <a:endParaRPr lang="zh-CN" altLang="en-US" sz="2400" dirty="0"/>
          </a:p>
        </p:txBody>
      </p:sp>
      <p:pic>
        <p:nvPicPr>
          <p:cNvPr id="7" name="内容占位符 6">
            <a:extLst>
              <a:ext uri="{FF2B5EF4-FFF2-40B4-BE49-F238E27FC236}">
                <a16:creationId xmlns:a16="http://schemas.microsoft.com/office/drawing/2014/main" id="{23EB1E0A-08C0-9EFD-7143-63FCC9336C4B}"/>
              </a:ext>
            </a:extLst>
          </p:cNvPr>
          <p:cNvPicPr>
            <a:picLocks noGrp="1" noChangeAspect="1"/>
          </p:cNvPicPr>
          <p:nvPr>
            <p:ph idx="1"/>
          </p:nvPr>
        </p:nvPicPr>
        <p:blipFill>
          <a:blip r:embed="rId2"/>
          <a:stretch>
            <a:fillRect/>
          </a:stretch>
        </p:blipFill>
        <p:spPr>
          <a:xfrm>
            <a:off x="1777284" y="2339919"/>
            <a:ext cx="5589431" cy="3322749"/>
          </a:xfrm>
          <a:prstGeom prst="rect">
            <a:avLst/>
          </a:prstGeom>
        </p:spPr>
      </p:pic>
      <p:sp>
        <p:nvSpPr>
          <p:cNvPr id="4" name="页脚占位符 3">
            <a:extLst>
              <a:ext uri="{FF2B5EF4-FFF2-40B4-BE49-F238E27FC236}">
                <a16:creationId xmlns:a16="http://schemas.microsoft.com/office/drawing/2014/main" id="{D4AD105D-05B3-C6B0-9B1F-7821173E6D7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8CFFA84-A66A-C057-A6D8-A15EFA077299}"/>
              </a:ext>
            </a:extLst>
          </p:cNvPr>
          <p:cNvSpPr>
            <a:spLocks noGrp="1"/>
          </p:cNvSpPr>
          <p:nvPr>
            <p:ph type="sldNum" sz="quarter" idx="12"/>
          </p:nvPr>
        </p:nvSpPr>
        <p:spPr/>
        <p:txBody>
          <a:bodyPr/>
          <a:lstStyle/>
          <a:p>
            <a:fld id="{D41FC515-8169-4A29-AA56-DBE520D5741B}" type="slidenum">
              <a:rPr lang="zh-CN" altLang="en-US" smtClean="0"/>
              <a:t>16</a:t>
            </a:fld>
            <a:endParaRPr lang="zh-CN" altLang="en-US"/>
          </a:p>
        </p:txBody>
      </p:sp>
    </p:spTree>
    <p:extLst>
      <p:ext uri="{BB962C8B-B14F-4D97-AF65-F5344CB8AC3E}">
        <p14:creationId xmlns:p14="http://schemas.microsoft.com/office/powerpoint/2010/main" val="2176012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A4836A-0E76-B023-4B03-AD111D44724F}"/>
              </a:ext>
            </a:extLst>
          </p:cNvPr>
          <p:cNvSpPr>
            <a:spLocks noGrp="1"/>
          </p:cNvSpPr>
          <p:nvPr>
            <p:ph type="title"/>
          </p:nvPr>
        </p:nvSpPr>
        <p:spPr/>
        <p:txBody>
          <a:bodyPr/>
          <a:lstStyle/>
          <a:p>
            <a:r>
              <a:rPr lang="zh-CN" altLang="en-US" dirty="0"/>
              <a:t>合成控制法</a:t>
            </a:r>
            <a:br>
              <a:rPr lang="zh-CN" altLang="en-US" dirty="0"/>
            </a:br>
            <a:r>
              <a:rPr lang="en-US" altLang="zh-CN" sz="2400" dirty="0"/>
              <a:t>Abadie et al. (2015)</a:t>
            </a:r>
            <a:endParaRPr lang="zh-CN" altLang="en-US" sz="2400" dirty="0"/>
          </a:p>
        </p:txBody>
      </p:sp>
      <p:pic>
        <p:nvPicPr>
          <p:cNvPr id="7" name="内容占位符 6">
            <a:extLst>
              <a:ext uri="{FF2B5EF4-FFF2-40B4-BE49-F238E27FC236}">
                <a16:creationId xmlns:a16="http://schemas.microsoft.com/office/drawing/2014/main" id="{AB2075A2-0CCA-CD80-146A-DF3A8902FCE3}"/>
              </a:ext>
            </a:extLst>
          </p:cNvPr>
          <p:cNvPicPr>
            <a:picLocks noGrp="1" noChangeAspect="1"/>
          </p:cNvPicPr>
          <p:nvPr>
            <p:ph idx="1"/>
          </p:nvPr>
        </p:nvPicPr>
        <p:blipFill>
          <a:blip r:embed="rId2"/>
          <a:stretch>
            <a:fillRect/>
          </a:stretch>
        </p:blipFill>
        <p:spPr>
          <a:xfrm>
            <a:off x="1897920" y="1702721"/>
            <a:ext cx="5006870" cy="3957743"/>
          </a:xfrm>
          <a:prstGeom prst="rect">
            <a:avLst/>
          </a:prstGeom>
        </p:spPr>
      </p:pic>
      <p:sp>
        <p:nvSpPr>
          <p:cNvPr id="4" name="页脚占位符 3">
            <a:extLst>
              <a:ext uri="{FF2B5EF4-FFF2-40B4-BE49-F238E27FC236}">
                <a16:creationId xmlns:a16="http://schemas.microsoft.com/office/drawing/2014/main" id="{4963822E-0C26-3129-D9F3-42D5583DF65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761AF8B-FD19-A063-9B21-2457A6C086BB}"/>
              </a:ext>
            </a:extLst>
          </p:cNvPr>
          <p:cNvSpPr>
            <a:spLocks noGrp="1"/>
          </p:cNvSpPr>
          <p:nvPr>
            <p:ph type="sldNum" sz="quarter" idx="12"/>
          </p:nvPr>
        </p:nvSpPr>
        <p:spPr/>
        <p:txBody>
          <a:bodyPr/>
          <a:lstStyle/>
          <a:p>
            <a:fld id="{D41FC515-8169-4A29-AA56-DBE520D5741B}" type="slidenum">
              <a:rPr lang="zh-CN" altLang="en-US" smtClean="0"/>
              <a:t>17</a:t>
            </a:fld>
            <a:endParaRPr lang="zh-CN" altLang="en-US"/>
          </a:p>
        </p:txBody>
      </p:sp>
    </p:spTree>
    <p:extLst>
      <p:ext uri="{BB962C8B-B14F-4D97-AF65-F5344CB8AC3E}">
        <p14:creationId xmlns:p14="http://schemas.microsoft.com/office/powerpoint/2010/main" val="3622364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35383-07AC-B564-EE04-CC66BD0E265D}"/>
              </a:ext>
            </a:extLst>
          </p:cNvPr>
          <p:cNvSpPr>
            <a:spLocks noGrp="1"/>
          </p:cNvSpPr>
          <p:nvPr>
            <p:ph type="title"/>
          </p:nvPr>
        </p:nvSpPr>
        <p:spPr/>
        <p:txBody>
          <a:bodyPr/>
          <a:lstStyle/>
          <a:p>
            <a:r>
              <a:rPr lang="zh-CN" altLang="en-US" dirty="0"/>
              <a:t>合成控制法</a:t>
            </a:r>
            <a:br>
              <a:rPr lang="zh-CN" altLang="en-US" dirty="0"/>
            </a:br>
            <a:r>
              <a:rPr lang="en-US" altLang="zh-CN" sz="2400" dirty="0"/>
              <a:t>Abadie et al. (2015)</a:t>
            </a:r>
            <a:endParaRPr lang="zh-CN" altLang="en-US" sz="2400" dirty="0"/>
          </a:p>
        </p:txBody>
      </p:sp>
      <p:pic>
        <p:nvPicPr>
          <p:cNvPr id="7" name="内容占位符 6">
            <a:extLst>
              <a:ext uri="{FF2B5EF4-FFF2-40B4-BE49-F238E27FC236}">
                <a16:creationId xmlns:a16="http://schemas.microsoft.com/office/drawing/2014/main" id="{5E2FCDB6-6725-138E-1A6E-F13B82E6FA97}"/>
              </a:ext>
            </a:extLst>
          </p:cNvPr>
          <p:cNvPicPr>
            <a:picLocks noGrp="1" noChangeAspect="1"/>
          </p:cNvPicPr>
          <p:nvPr>
            <p:ph idx="1"/>
          </p:nvPr>
        </p:nvPicPr>
        <p:blipFill>
          <a:blip r:embed="rId2"/>
          <a:stretch>
            <a:fillRect/>
          </a:stretch>
        </p:blipFill>
        <p:spPr>
          <a:xfrm>
            <a:off x="1079612" y="1937084"/>
            <a:ext cx="6969514" cy="4119398"/>
          </a:xfrm>
          <a:prstGeom prst="rect">
            <a:avLst/>
          </a:prstGeom>
        </p:spPr>
      </p:pic>
      <p:sp>
        <p:nvSpPr>
          <p:cNvPr id="4" name="页脚占位符 3">
            <a:extLst>
              <a:ext uri="{FF2B5EF4-FFF2-40B4-BE49-F238E27FC236}">
                <a16:creationId xmlns:a16="http://schemas.microsoft.com/office/drawing/2014/main" id="{B1CA302C-F726-9F93-F486-67796AA4E81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D17E5A3-BF46-7B86-5A90-0B2E4D4A1CA2}"/>
              </a:ext>
            </a:extLst>
          </p:cNvPr>
          <p:cNvSpPr>
            <a:spLocks noGrp="1"/>
          </p:cNvSpPr>
          <p:nvPr>
            <p:ph type="sldNum" sz="quarter" idx="12"/>
          </p:nvPr>
        </p:nvSpPr>
        <p:spPr/>
        <p:txBody>
          <a:bodyPr/>
          <a:lstStyle/>
          <a:p>
            <a:fld id="{D41FC515-8169-4A29-AA56-DBE520D5741B}" type="slidenum">
              <a:rPr lang="zh-CN" altLang="en-US" smtClean="0"/>
              <a:t>18</a:t>
            </a:fld>
            <a:endParaRPr lang="zh-CN" altLang="en-US"/>
          </a:p>
        </p:txBody>
      </p:sp>
    </p:spTree>
    <p:extLst>
      <p:ext uri="{BB962C8B-B14F-4D97-AF65-F5344CB8AC3E}">
        <p14:creationId xmlns:p14="http://schemas.microsoft.com/office/powerpoint/2010/main" val="2674000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D7AA74-A20E-9091-1A01-71A7ED3CD5E4}"/>
              </a:ext>
            </a:extLst>
          </p:cNvPr>
          <p:cNvSpPr>
            <a:spLocks noGrp="1"/>
          </p:cNvSpPr>
          <p:nvPr>
            <p:ph type="title"/>
          </p:nvPr>
        </p:nvSpPr>
        <p:spPr/>
        <p:txBody>
          <a:bodyPr/>
          <a:lstStyle/>
          <a:p>
            <a:r>
              <a:rPr lang="zh-CN" altLang="en-US" dirty="0"/>
              <a:t>合成控制法</a:t>
            </a:r>
            <a:br>
              <a:rPr lang="zh-CN" altLang="en-US" dirty="0"/>
            </a:br>
            <a:r>
              <a:rPr lang="zh-CN" altLang="en-US" sz="2400" dirty="0"/>
              <a:t>实施方法和假设检验</a:t>
            </a:r>
          </a:p>
        </p:txBody>
      </p:sp>
      <p:sp>
        <p:nvSpPr>
          <p:cNvPr id="3" name="内容占位符 2">
            <a:extLst>
              <a:ext uri="{FF2B5EF4-FFF2-40B4-BE49-F238E27FC236}">
                <a16:creationId xmlns:a16="http://schemas.microsoft.com/office/drawing/2014/main" id="{47E47972-BDFA-C988-BDF0-695C5B62DF07}"/>
              </a:ext>
            </a:extLst>
          </p:cNvPr>
          <p:cNvSpPr>
            <a:spLocks noGrp="1"/>
          </p:cNvSpPr>
          <p:nvPr>
            <p:ph idx="1"/>
          </p:nvPr>
        </p:nvSpPr>
        <p:spPr/>
        <p:txBody>
          <a:bodyPr/>
          <a:lstStyle/>
          <a:p>
            <a:r>
              <a:rPr lang="zh-CN" altLang="en-US" dirty="0"/>
              <a:t>合成的可信性依赖于合成的控制组对干预前干预个体路径</a:t>
            </a:r>
            <a:r>
              <a:rPr lang="en-US" altLang="zh-CN" dirty="0"/>
              <a:t>(trajectory) </a:t>
            </a:r>
            <a:r>
              <a:rPr lang="zh-CN" altLang="en-US" dirty="0"/>
              <a:t>的拟合程度。干预前路径拟合的好坏反映了平衡混杂</a:t>
            </a:r>
            <a:r>
              <a:rPr lang="en-US" altLang="zh-CN" dirty="0"/>
              <a:t>(</a:t>
            </a:r>
            <a:r>
              <a:rPr lang="en-US" altLang="zh-CN" b="1" dirty="0"/>
              <a:t>Z</a:t>
            </a:r>
            <a:r>
              <a:rPr lang="zh-CN" altLang="en-US" dirty="0"/>
              <a:t>𝑖</a:t>
            </a:r>
            <a:r>
              <a:rPr lang="en-US" altLang="zh-CN" dirty="0"/>
              <a:t>, </a:t>
            </a:r>
            <a:r>
              <a:rPr lang="zh-CN" altLang="en-US" dirty="0"/>
              <a:t>𝜇𝑖</a:t>
            </a:r>
            <a:r>
              <a:rPr lang="en-US" altLang="zh-CN" dirty="0"/>
              <a:t>) </a:t>
            </a:r>
            <a:r>
              <a:rPr lang="zh-CN" altLang="en-US" dirty="0"/>
              <a:t>的好坏。</a:t>
            </a:r>
            <a:endParaRPr lang="en-US" altLang="zh-CN" dirty="0"/>
          </a:p>
          <a:p>
            <a:r>
              <a:rPr lang="zh-CN" altLang="en-US" dirty="0"/>
              <a:t>事前如果拟合比较差，</a:t>
            </a:r>
            <a:r>
              <a:rPr lang="en-US" altLang="zh-CN" dirty="0"/>
              <a:t>Abadie et al. (2010) </a:t>
            </a:r>
            <a:r>
              <a:rPr lang="zh-CN" altLang="en-US" dirty="0"/>
              <a:t>建议不要使用合成控制法。</a:t>
            </a:r>
            <a:endParaRPr lang="en-US" altLang="zh-CN" dirty="0"/>
          </a:p>
          <a:p>
            <a:r>
              <a:rPr lang="zh-CN" altLang="en-US" dirty="0"/>
              <a:t>特别是当𝑇</a:t>
            </a:r>
            <a:r>
              <a:rPr lang="en-US" altLang="zh-CN" dirty="0"/>
              <a:t>0 </a:t>
            </a:r>
            <a:r>
              <a:rPr lang="zh-CN" altLang="en-US" dirty="0"/>
              <a:t>比较短，而𝑁 比较大的，这时容易造成过度拟合的风险。</a:t>
            </a:r>
            <a:endParaRPr lang="en-US" altLang="zh-CN" dirty="0"/>
          </a:p>
          <a:p>
            <a:r>
              <a:rPr lang="zh-CN" altLang="en-US" dirty="0"/>
              <a:t>为了降低过度拟合风险，将潜在控制组个体限制在与干预组个体比较相似的群体中。</a:t>
            </a:r>
          </a:p>
        </p:txBody>
      </p:sp>
      <p:sp>
        <p:nvSpPr>
          <p:cNvPr id="4" name="页脚占位符 3">
            <a:extLst>
              <a:ext uri="{FF2B5EF4-FFF2-40B4-BE49-F238E27FC236}">
                <a16:creationId xmlns:a16="http://schemas.microsoft.com/office/drawing/2014/main" id="{49203B05-08BB-CC48-2B4B-7B1BA8DADF1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9D91E00-5E85-9FD2-4EAB-B0F107DC287C}"/>
              </a:ext>
            </a:extLst>
          </p:cNvPr>
          <p:cNvSpPr>
            <a:spLocks noGrp="1"/>
          </p:cNvSpPr>
          <p:nvPr>
            <p:ph type="sldNum" sz="quarter" idx="12"/>
          </p:nvPr>
        </p:nvSpPr>
        <p:spPr/>
        <p:txBody>
          <a:bodyPr/>
          <a:lstStyle/>
          <a:p>
            <a:fld id="{D41FC515-8169-4A29-AA56-DBE520D5741B}" type="slidenum">
              <a:rPr lang="zh-CN" altLang="en-US" smtClean="0"/>
              <a:t>19</a:t>
            </a:fld>
            <a:endParaRPr lang="zh-CN" altLang="en-US"/>
          </a:p>
        </p:txBody>
      </p:sp>
    </p:spTree>
    <p:extLst>
      <p:ext uri="{BB962C8B-B14F-4D97-AF65-F5344CB8AC3E}">
        <p14:creationId xmlns:p14="http://schemas.microsoft.com/office/powerpoint/2010/main" val="3728196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609A8C-83CC-6E68-6A7B-924A1738CD52}"/>
              </a:ext>
            </a:extLst>
          </p:cNvPr>
          <p:cNvSpPr>
            <a:spLocks noGrp="1"/>
          </p:cNvSpPr>
          <p:nvPr>
            <p:ph type="title"/>
          </p:nvPr>
        </p:nvSpPr>
        <p:spPr/>
        <p:txBody>
          <a:bodyPr/>
          <a:lstStyle/>
          <a:p>
            <a:r>
              <a:rPr lang="zh-CN" altLang="en-US" dirty="0"/>
              <a:t>合成控制法</a:t>
            </a:r>
            <a:br>
              <a:rPr lang="zh-CN" altLang="en-US" dirty="0"/>
            </a:br>
            <a:r>
              <a:rPr lang="zh-CN" altLang="en-US" sz="2400" dirty="0"/>
              <a:t>实施方法和假设检验</a:t>
            </a:r>
          </a:p>
        </p:txBody>
      </p:sp>
      <p:sp>
        <p:nvSpPr>
          <p:cNvPr id="3" name="内容占位符 2">
            <a:extLst>
              <a:ext uri="{FF2B5EF4-FFF2-40B4-BE49-F238E27FC236}">
                <a16:creationId xmlns:a16="http://schemas.microsoft.com/office/drawing/2014/main" id="{640654A9-A495-248A-54F6-7FDCDBC2F83C}"/>
              </a:ext>
            </a:extLst>
          </p:cNvPr>
          <p:cNvSpPr>
            <a:spLocks noGrp="1"/>
          </p:cNvSpPr>
          <p:nvPr>
            <p:ph idx="1"/>
          </p:nvPr>
        </p:nvSpPr>
        <p:spPr/>
        <p:txBody>
          <a:bodyPr/>
          <a:lstStyle/>
          <a:p>
            <a:r>
              <a:rPr lang="zh-CN" altLang="en-US" dirty="0"/>
              <a:t>假设检验：由于个体一般较少，</a:t>
            </a:r>
            <a:r>
              <a:rPr lang="en-US" altLang="zh-CN" dirty="0"/>
              <a:t>Abadie et al. (2010) </a:t>
            </a:r>
            <a:r>
              <a:rPr lang="zh-CN" altLang="en-US" dirty="0"/>
              <a:t>提出随机置换检验</a:t>
            </a:r>
            <a:r>
              <a:rPr lang="en-US" altLang="zh-CN" dirty="0"/>
              <a:t>(permutation test)</a:t>
            </a:r>
            <a:r>
              <a:rPr lang="zh-CN" altLang="en-US" dirty="0"/>
              <a:t>。</a:t>
            </a:r>
            <a:endParaRPr lang="en-US" altLang="zh-CN" dirty="0"/>
          </a:p>
          <a:p>
            <a:r>
              <a:rPr lang="zh-CN" altLang="en-US" dirty="0"/>
              <a:t>随机置换检验就是从潜在控制组中随机选取一个个体作为伪干预个体，进行合成控制估计，得到相应的安慰剂效应</a:t>
            </a:r>
            <a:r>
              <a:rPr lang="en-US" altLang="zh-CN" dirty="0"/>
              <a:t>(placebo effects)</a:t>
            </a:r>
          </a:p>
          <a:p>
            <a:r>
              <a:rPr lang="zh-CN" altLang="en-US" dirty="0"/>
              <a:t>真正的干预个体的因果效应应该在置换分布中处于显著极端的位置。</a:t>
            </a:r>
          </a:p>
        </p:txBody>
      </p:sp>
      <p:sp>
        <p:nvSpPr>
          <p:cNvPr id="4" name="页脚占位符 3">
            <a:extLst>
              <a:ext uri="{FF2B5EF4-FFF2-40B4-BE49-F238E27FC236}">
                <a16:creationId xmlns:a16="http://schemas.microsoft.com/office/drawing/2014/main" id="{28F3ED73-41B3-1038-9CCC-1E7499D3BDF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97B78B4-C5C1-0789-9136-3AB12E72B0AD}"/>
              </a:ext>
            </a:extLst>
          </p:cNvPr>
          <p:cNvSpPr>
            <a:spLocks noGrp="1"/>
          </p:cNvSpPr>
          <p:nvPr>
            <p:ph type="sldNum" sz="quarter" idx="12"/>
          </p:nvPr>
        </p:nvSpPr>
        <p:spPr/>
        <p:txBody>
          <a:bodyPr/>
          <a:lstStyle/>
          <a:p>
            <a:fld id="{D41FC515-8169-4A29-AA56-DBE520D5741B}" type="slidenum">
              <a:rPr lang="zh-CN" altLang="en-US" smtClean="0"/>
              <a:t>20</a:t>
            </a:fld>
            <a:endParaRPr lang="zh-CN" altLang="en-US"/>
          </a:p>
        </p:txBody>
      </p:sp>
    </p:spTree>
    <p:extLst>
      <p:ext uri="{BB962C8B-B14F-4D97-AF65-F5344CB8AC3E}">
        <p14:creationId xmlns:p14="http://schemas.microsoft.com/office/powerpoint/2010/main" val="265841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4FE411-F09B-15A6-4D82-3D0A5FCC1893}"/>
              </a:ext>
            </a:extLst>
          </p:cNvPr>
          <p:cNvSpPr>
            <a:spLocks noGrp="1"/>
          </p:cNvSpPr>
          <p:nvPr>
            <p:ph type="title"/>
          </p:nvPr>
        </p:nvSpPr>
        <p:spPr/>
        <p:txBody>
          <a:bodyPr/>
          <a:lstStyle/>
          <a:p>
            <a:r>
              <a:rPr lang="zh-CN" altLang="en-US" dirty="0"/>
              <a:t>合成控制法</a:t>
            </a:r>
            <a:br>
              <a:rPr lang="zh-CN" altLang="en-US" dirty="0"/>
            </a:br>
            <a:r>
              <a:rPr lang="zh-CN" altLang="en-US" sz="2400" dirty="0"/>
              <a:t>实施方法和假设检验</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2D58A73-2BE7-D94C-0777-76F44E8C7006}"/>
                  </a:ext>
                </a:extLst>
              </p:cNvPr>
              <p:cNvSpPr>
                <a:spLocks noGrp="1"/>
              </p:cNvSpPr>
              <p:nvPr>
                <p:ph idx="1"/>
              </p:nvPr>
            </p:nvSpPr>
            <p:spPr/>
            <p:txBody>
              <a:bodyPr>
                <a:normAutofit fontScale="77500" lnSpcReduction="20000"/>
              </a:bodyPr>
              <a:lstStyle/>
              <a:p>
                <a:pPr>
                  <a:lnSpc>
                    <a:spcPct val="120000"/>
                  </a:lnSpc>
                </a:pPr>
                <a:r>
                  <a:rPr lang="zh-CN" altLang="en-US" dirty="0"/>
                  <a:t>因为干预前结果变量合成的效应对于不同样本个体可能不同，这增加了置换检验的复杂度。</a:t>
                </a:r>
                <a:endParaRPr lang="en-US" altLang="zh-CN" dirty="0"/>
              </a:p>
              <a:p>
                <a:pPr>
                  <a:lnSpc>
                    <a:spcPct val="120000"/>
                  </a:lnSpc>
                </a:pPr>
                <a:r>
                  <a:rPr lang="en-US" altLang="zh-CN" dirty="0"/>
                  <a:t>Abadie et al. (2010) </a:t>
                </a:r>
                <a:r>
                  <a:rPr lang="zh-CN" altLang="en-US" dirty="0"/>
                  <a:t>提出可以用干预前后的均方误差比</a:t>
                </a:r>
                <a:r>
                  <a:rPr lang="en-US" altLang="zh-CN" dirty="0"/>
                  <a:t>(MSPE) </a:t>
                </a:r>
                <a:r>
                  <a:rPr lang="zh-CN" altLang="en-US" dirty="0"/>
                  <a:t>作为检验统计量，令</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𝑅</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𝑡</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𝑡</m:t>
                              </m:r>
                            </m:e>
                            <m:sub>
                              <m:r>
                                <a:rPr lang="zh-CN" altLang="en-US" i="1" smtClean="0">
                                  <a:latin typeface="Cambria Math" panose="02040503050406030204" pitchFamily="18" charset="0"/>
                                </a:rPr>
                                <m:t>2</m:t>
                              </m:r>
                            </m:sub>
                          </m:sSub>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𝑡</m:t>
                              </m:r>
                            </m:e>
                            <m:sub>
                              <m:r>
                                <a:rPr lang="zh-CN" altLang="en-US" i="1" smtClean="0">
                                  <a:latin typeface="Cambria Math" panose="02040503050406030204" pitchFamily="18" charset="0"/>
                                </a:rPr>
                                <m:t>2</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𝑡</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+1</m:t>
                          </m:r>
                        </m:den>
                      </m:f>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𝑡</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𝑡</m:t>
                              </m:r>
                            </m:e>
                            <m:sub>
                              <m:r>
                                <a:rPr lang="zh-CN" altLang="en-US" i="1" smtClean="0">
                                  <a:latin typeface="Cambria Math" panose="02040503050406030204" pitchFamily="18" charset="0"/>
                                </a:rPr>
                                <m:t>1</m:t>
                              </m:r>
                            </m:sub>
                          </m:sSub>
                        </m:sub>
                        <m:sup>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𝑡</m:t>
                              </m:r>
                            </m:e>
                            <m:sub>
                              <m:r>
                                <a:rPr lang="zh-CN" altLang="en-US" i="1" smtClean="0">
                                  <a:latin typeface="Cambria Math" panose="02040503050406030204" pitchFamily="18" charset="0"/>
                                </a:rPr>
                                <m:t>2</m:t>
                              </m:r>
                            </m:sub>
                          </m:sSub>
                        </m:sup>
                        <m:e>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𝑌</m:t>
                                          </m:r>
                                        </m:e>
                                      </m:acc>
                                    </m:e>
                                    <m:sub>
                                      <m:r>
                                        <a:rPr lang="zh-CN" altLang="en-US" i="1" smtClean="0">
                                          <a:latin typeface="Cambria Math" panose="02040503050406030204" pitchFamily="18" charset="0"/>
                                        </a:rPr>
                                        <m:t>𝑖𝑡</m:t>
                                      </m:r>
                                    </m:sub>
                                  </m:sSub>
                                </m:e>
                              </m:d>
                            </m:e>
                            <m:sup>
                              <m:r>
                                <a:rPr lang="zh-CN" altLang="en-US" i="1" smtClean="0">
                                  <a:latin typeface="Cambria Math" panose="02040503050406030204" pitchFamily="18" charset="0"/>
                                </a:rPr>
                                <m:t>2</m:t>
                              </m:r>
                            </m:sup>
                          </m:sSup>
                        </m:e>
                      </m:nary>
                    </m:oMath>
                  </m:oMathPara>
                </a14:m>
                <a:endParaRPr lang="en-US" altLang="zh-CN" dirty="0"/>
              </a:p>
              <a:p>
                <a:pPr>
                  <a:lnSpc>
                    <a:spcPct val="120000"/>
                  </a:lnSpc>
                </a:pPr>
                <a:r>
                  <a:rPr lang="en-US" altLang="zh-CN" dirty="0"/>
                  <a:t>Abadie et al.(2010) </a:t>
                </a:r>
                <a:r>
                  <a:rPr lang="zh-CN" altLang="en-US" dirty="0"/>
                  <a:t>提出利用下列统计量的置换分布进行检验</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𝑟</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𝑅</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+1,</m:t>
                              </m:r>
                              <m:r>
                                <a:rPr lang="zh-CN" altLang="en-US" i="1" smtClean="0">
                                  <a:latin typeface="Cambria Math" panose="02040503050406030204" pitchFamily="18" charset="0"/>
                                </a:rPr>
                                <m:t>𝑇</m:t>
                              </m:r>
                            </m:e>
                          </m:d>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𝑅</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0</m:t>
                                  </m:r>
                                </m:sub>
                              </m:sSub>
                            </m:e>
                          </m:d>
                        </m:den>
                      </m:f>
                    </m:oMath>
                  </m:oMathPara>
                </a14:m>
                <a:endParaRPr lang="zh-CN" altLang="en-US" dirty="0"/>
              </a:p>
            </p:txBody>
          </p:sp>
        </mc:Choice>
        <mc:Fallback xmlns="">
          <p:sp>
            <p:nvSpPr>
              <p:cNvPr id="3" name="内容占位符 2">
                <a:extLst>
                  <a:ext uri="{FF2B5EF4-FFF2-40B4-BE49-F238E27FC236}">
                    <a16:creationId xmlns:a16="http://schemas.microsoft.com/office/drawing/2014/main" id="{F2D58A73-2BE7-D94C-0777-76F44E8C7006}"/>
                  </a:ext>
                </a:extLst>
              </p:cNvPr>
              <p:cNvSpPr>
                <a:spLocks noGrp="1" noRot="1" noChangeAspect="1" noMove="1" noResize="1" noEditPoints="1" noAdjustHandles="1" noChangeArrowheads="1" noChangeShapeType="1" noTextEdit="1"/>
              </p:cNvSpPr>
              <p:nvPr>
                <p:ph idx="1"/>
              </p:nvPr>
            </p:nvSpPr>
            <p:spPr>
              <a:blipFill>
                <a:blip r:embed="rId2"/>
                <a:stretch>
                  <a:fillRect l="-850" t="-840" r="-185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64F9FCC-452F-54A1-BE3D-30F86166B70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516D9BA-773C-CCD3-DF57-EB5A88A24436}"/>
              </a:ext>
            </a:extLst>
          </p:cNvPr>
          <p:cNvSpPr>
            <a:spLocks noGrp="1"/>
          </p:cNvSpPr>
          <p:nvPr>
            <p:ph type="sldNum" sz="quarter" idx="12"/>
          </p:nvPr>
        </p:nvSpPr>
        <p:spPr/>
        <p:txBody>
          <a:bodyPr/>
          <a:lstStyle/>
          <a:p>
            <a:fld id="{D41FC515-8169-4A29-AA56-DBE520D5741B}" type="slidenum">
              <a:rPr lang="zh-CN" altLang="en-US" smtClean="0"/>
              <a:t>21</a:t>
            </a:fld>
            <a:endParaRPr lang="zh-CN" altLang="en-US"/>
          </a:p>
        </p:txBody>
      </p:sp>
    </p:spTree>
    <p:extLst>
      <p:ext uri="{BB962C8B-B14F-4D97-AF65-F5344CB8AC3E}">
        <p14:creationId xmlns:p14="http://schemas.microsoft.com/office/powerpoint/2010/main" val="22952114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348C7A-B212-C81E-1347-2BE81F8A4330}"/>
              </a:ext>
            </a:extLst>
          </p:cNvPr>
          <p:cNvSpPr>
            <a:spLocks noGrp="1"/>
          </p:cNvSpPr>
          <p:nvPr>
            <p:ph type="title"/>
          </p:nvPr>
        </p:nvSpPr>
        <p:spPr/>
        <p:txBody>
          <a:bodyPr/>
          <a:lstStyle/>
          <a:p>
            <a:r>
              <a:rPr lang="zh-CN" altLang="en-US" dirty="0"/>
              <a:t>合成控制法</a:t>
            </a:r>
            <a:br>
              <a:rPr lang="zh-CN" altLang="en-US" dirty="0"/>
            </a:br>
            <a:r>
              <a:rPr lang="zh-CN" altLang="en-US" sz="2400" dirty="0"/>
              <a:t>实施方法和假设检验</a:t>
            </a:r>
          </a:p>
        </p:txBody>
      </p:sp>
      <p:pic>
        <p:nvPicPr>
          <p:cNvPr id="7" name="内容占位符 6">
            <a:extLst>
              <a:ext uri="{FF2B5EF4-FFF2-40B4-BE49-F238E27FC236}">
                <a16:creationId xmlns:a16="http://schemas.microsoft.com/office/drawing/2014/main" id="{DB73B7F9-C095-8984-981E-FC84EBC46815}"/>
              </a:ext>
            </a:extLst>
          </p:cNvPr>
          <p:cNvPicPr>
            <a:picLocks noGrp="1" noChangeAspect="1"/>
          </p:cNvPicPr>
          <p:nvPr>
            <p:ph idx="1"/>
          </p:nvPr>
        </p:nvPicPr>
        <p:blipFill>
          <a:blip r:embed="rId2"/>
          <a:stretch>
            <a:fillRect/>
          </a:stretch>
        </p:blipFill>
        <p:spPr>
          <a:xfrm>
            <a:off x="2228045" y="1898818"/>
            <a:ext cx="4687910" cy="4204952"/>
          </a:xfrm>
          <a:prstGeom prst="rect">
            <a:avLst/>
          </a:prstGeom>
        </p:spPr>
      </p:pic>
      <p:sp>
        <p:nvSpPr>
          <p:cNvPr id="4" name="页脚占位符 3">
            <a:extLst>
              <a:ext uri="{FF2B5EF4-FFF2-40B4-BE49-F238E27FC236}">
                <a16:creationId xmlns:a16="http://schemas.microsoft.com/office/drawing/2014/main" id="{57437E13-293E-FEAD-7710-C1541FB240D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241F735-0D58-24B2-7BE0-D825E60AA5D5}"/>
              </a:ext>
            </a:extLst>
          </p:cNvPr>
          <p:cNvSpPr>
            <a:spLocks noGrp="1"/>
          </p:cNvSpPr>
          <p:nvPr>
            <p:ph type="sldNum" sz="quarter" idx="12"/>
          </p:nvPr>
        </p:nvSpPr>
        <p:spPr/>
        <p:txBody>
          <a:bodyPr/>
          <a:lstStyle/>
          <a:p>
            <a:fld id="{D41FC515-8169-4A29-AA56-DBE520D5741B}" type="slidenum">
              <a:rPr lang="zh-CN" altLang="en-US" smtClean="0"/>
              <a:t>22</a:t>
            </a:fld>
            <a:endParaRPr lang="zh-CN" altLang="en-US"/>
          </a:p>
        </p:txBody>
      </p:sp>
    </p:spTree>
    <p:extLst>
      <p:ext uri="{BB962C8B-B14F-4D97-AF65-F5344CB8AC3E}">
        <p14:creationId xmlns:p14="http://schemas.microsoft.com/office/powerpoint/2010/main" val="2920285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723CC8-7D61-9D19-E195-6E4B68A462C6}"/>
              </a:ext>
            </a:extLst>
          </p:cNvPr>
          <p:cNvSpPr>
            <a:spLocks noGrp="1"/>
          </p:cNvSpPr>
          <p:nvPr>
            <p:ph type="title"/>
          </p:nvPr>
        </p:nvSpPr>
        <p:spPr/>
        <p:txBody>
          <a:bodyPr>
            <a:normAutofit/>
          </a:bodyPr>
          <a:lstStyle/>
          <a:p>
            <a:r>
              <a:rPr lang="zh-CN" altLang="en-US" dirty="0"/>
              <a:t>合成控制法</a:t>
            </a:r>
            <a:br>
              <a:rPr lang="zh-CN" altLang="en-US" sz="2800" dirty="0"/>
            </a:br>
            <a:r>
              <a:rPr lang="zh-CN" altLang="en-US" sz="1600" dirty="0"/>
              <a:t>案例：</a:t>
            </a:r>
            <a:r>
              <a:rPr lang="en-US" altLang="zh-CN" sz="1600" dirty="0"/>
              <a:t>Abadie et al. (2010) Estimating the effect of California’s tobacco control program</a:t>
            </a:r>
            <a:endParaRPr lang="zh-CN" altLang="en-US" sz="1600" dirty="0"/>
          </a:p>
        </p:txBody>
      </p:sp>
      <p:sp>
        <p:nvSpPr>
          <p:cNvPr id="3" name="内容占位符 2">
            <a:extLst>
              <a:ext uri="{FF2B5EF4-FFF2-40B4-BE49-F238E27FC236}">
                <a16:creationId xmlns:a16="http://schemas.microsoft.com/office/drawing/2014/main" id="{715007B6-2004-A1D8-F82D-9438B3417871}"/>
              </a:ext>
            </a:extLst>
          </p:cNvPr>
          <p:cNvSpPr>
            <a:spLocks noGrp="1"/>
          </p:cNvSpPr>
          <p:nvPr>
            <p:ph idx="1"/>
          </p:nvPr>
        </p:nvSpPr>
        <p:spPr/>
        <p:txBody>
          <a:bodyPr>
            <a:normAutofit fontScale="77500" lnSpcReduction="20000"/>
          </a:bodyPr>
          <a:lstStyle/>
          <a:p>
            <a:pPr>
              <a:lnSpc>
                <a:spcPct val="120000"/>
              </a:lnSpc>
            </a:pPr>
            <a:r>
              <a:rPr lang="en-US" altLang="zh-CN" dirty="0"/>
              <a:t>1988 </a:t>
            </a:r>
            <a:r>
              <a:rPr lang="zh-CN" altLang="en-US" dirty="0"/>
              <a:t>年，加州通过</a:t>
            </a:r>
            <a:r>
              <a:rPr lang="en-US" altLang="zh-CN" dirty="0"/>
              <a:t>99 </a:t>
            </a:r>
            <a:r>
              <a:rPr lang="zh-CN" altLang="en-US" dirty="0"/>
              <a:t>议案，每包香烟的消费税提高</a:t>
            </a:r>
            <a:r>
              <a:rPr lang="en-US" altLang="zh-CN" dirty="0"/>
              <a:t>25 </a:t>
            </a:r>
            <a:r>
              <a:rPr lang="zh-CN" altLang="en-US" dirty="0"/>
              <a:t>美分。考察该议案对加州香烟消费的影响。</a:t>
            </a:r>
            <a:endParaRPr lang="en-US" altLang="zh-CN" dirty="0"/>
          </a:p>
          <a:p>
            <a:pPr lvl="1">
              <a:lnSpc>
                <a:spcPct val="120000"/>
              </a:lnSpc>
            </a:pPr>
            <a:r>
              <a:rPr lang="zh-CN" altLang="en-US" dirty="0"/>
              <a:t>干预个体：加州</a:t>
            </a:r>
            <a:endParaRPr lang="en-US" altLang="zh-CN" dirty="0"/>
          </a:p>
          <a:p>
            <a:pPr lvl="1">
              <a:lnSpc>
                <a:spcPct val="120000"/>
              </a:lnSpc>
            </a:pPr>
            <a:r>
              <a:rPr lang="zh-CN" altLang="en-US" dirty="0"/>
              <a:t>结果变量：</a:t>
            </a:r>
            <a:r>
              <a:rPr lang="en-US" altLang="zh-CN" dirty="0"/>
              <a:t>1988 </a:t>
            </a:r>
            <a:r>
              <a:rPr lang="zh-CN" altLang="en-US" dirty="0"/>
              <a:t>年后的加州香烟消费</a:t>
            </a:r>
            <a:endParaRPr lang="en-US" altLang="zh-CN" dirty="0"/>
          </a:p>
          <a:p>
            <a:pPr lvl="1">
              <a:lnSpc>
                <a:spcPct val="120000"/>
              </a:lnSpc>
            </a:pPr>
            <a:r>
              <a:rPr lang="zh-CN" altLang="en-US" dirty="0"/>
              <a:t>潜在控制：美国其他州</a:t>
            </a:r>
            <a:endParaRPr lang="en-US" altLang="zh-CN" dirty="0"/>
          </a:p>
          <a:p>
            <a:pPr lvl="1">
              <a:lnSpc>
                <a:spcPct val="120000"/>
              </a:lnSpc>
            </a:pPr>
            <a:r>
              <a:rPr lang="zh-CN" altLang="en-US" dirty="0"/>
              <a:t>协变量：</a:t>
            </a:r>
            <a:r>
              <a:rPr lang="en-US" altLang="zh-CN" dirty="0"/>
              <a:t>1988 </a:t>
            </a:r>
            <a:r>
              <a:rPr lang="zh-CN" altLang="en-US" dirty="0"/>
              <a:t>年前能够预测州水平香烟消费的变量，包括香烟平均零售价格、州人均收入（取对数）、州人口中</a:t>
            </a:r>
            <a:r>
              <a:rPr lang="en-US" altLang="zh-CN" dirty="0"/>
              <a:t>15-24 </a:t>
            </a:r>
            <a:r>
              <a:rPr lang="zh-CN" altLang="en-US" dirty="0"/>
              <a:t>岁所占百分比、州人均啤酒消费量，这些协变量均用</a:t>
            </a:r>
            <a:r>
              <a:rPr lang="en-US" altLang="zh-CN" dirty="0"/>
              <a:t>1980-1988 </a:t>
            </a:r>
            <a:r>
              <a:rPr lang="zh-CN" altLang="en-US" dirty="0"/>
              <a:t>年平均值。另外，还引入了</a:t>
            </a:r>
            <a:r>
              <a:rPr lang="en-US" altLang="zh-CN" dirty="0"/>
              <a:t>1975</a:t>
            </a:r>
            <a:r>
              <a:rPr lang="zh-CN" altLang="en-US" dirty="0"/>
              <a:t>、</a:t>
            </a:r>
            <a:r>
              <a:rPr lang="en-US" altLang="zh-CN" dirty="0"/>
              <a:t>1980</a:t>
            </a:r>
            <a:r>
              <a:rPr lang="zh-CN" altLang="en-US" dirty="0"/>
              <a:t>、</a:t>
            </a:r>
            <a:r>
              <a:rPr lang="en-US" altLang="zh-CN" dirty="0"/>
              <a:t>1985 </a:t>
            </a:r>
            <a:r>
              <a:rPr lang="zh-CN" altLang="en-US" dirty="0"/>
              <a:t>年三个年份的人均香烟消费量作为协变量。</a:t>
            </a:r>
            <a:endParaRPr lang="en-US" altLang="zh-CN" dirty="0"/>
          </a:p>
          <a:p>
            <a:pPr>
              <a:lnSpc>
                <a:spcPct val="120000"/>
              </a:lnSpc>
            </a:pPr>
            <a:r>
              <a:rPr lang="zh-CN" altLang="en-US" dirty="0"/>
              <a:t>数据：</a:t>
            </a:r>
            <a:r>
              <a:rPr lang="en-US" altLang="zh-CN" dirty="0"/>
              <a:t>1970-2000 </a:t>
            </a:r>
            <a:r>
              <a:rPr lang="zh-CN" altLang="en-US" dirty="0"/>
              <a:t>年美国各州数据（删除该时期也出台了香烟控制的州数据）共有</a:t>
            </a:r>
            <a:r>
              <a:rPr lang="en-US" altLang="zh-CN" dirty="0"/>
              <a:t>38 </a:t>
            </a:r>
            <a:r>
              <a:rPr lang="zh-CN" altLang="en-US" dirty="0"/>
              <a:t>个州作为潜在的控制组</a:t>
            </a:r>
            <a:r>
              <a:rPr lang="en-US" altLang="zh-CN" dirty="0"/>
              <a:t>(pool)</a:t>
            </a:r>
            <a:r>
              <a:rPr lang="zh-CN" altLang="en-US" dirty="0"/>
              <a:t>。</a:t>
            </a:r>
          </a:p>
        </p:txBody>
      </p:sp>
      <p:sp>
        <p:nvSpPr>
          <p:cNvPr id="4" name="页脚占位符 3">
            <a:extLst>
              <a:ext uri="{FF2B5EF4-FFF2-40B4-BE49-F238E27FC236}">
                <a16:creationId xmlns:a16="http://schemas.microsoft.com/office/drawing/2014/main" id="{6836A6FD-B1F9-B4DB-DB81-45C46533181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398EB1C-99AC-4E31-FAD9-33204BDCD389}"/>
              </a:ext>
            </a:extLst>
          </p:cNvPr>
          <p:cNvSpPr>
            <a:spLocks noGrp="1"/>
          </p:cNvSpPr>
          <p:nvPr>
            <p:ph type="sldNum" sz="quarter" idx="12"/>
          </p:nvPr>
        </p:nvSpPr>
        <p:spPr/>
        <p:txBody>
          <a:bodyPr/>
          <a:lstStyle/>
          <a:p>
            <a:fld id="{D41FC515-8169-4A29-AA56-DBE520D5741B}" type="slidenum">
              <a:rPr lang="zh-CN" altLang="en-US" smtClean="0"/>
              <a:t>23</a:t>
            </a:fld>
            <a:endParaRPr lang="zh-CN" altLang="en-US"/>
          </a:p>
        </p:txBody>
      </p:sp>
    </p:spTree>
    <p:extLst>
      <p:ext uri="{BB962C8B-B14F-4D97-AF65-F5344CB8AC3E}">
        <p14:creationId xmlns:p14="http://schemas.microsoft.com/office/powerpoint/2010/main" val="402696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2AFF85-38E5-CF12-0560-FBE1A879FD78}"/>
              </a:ext>
            </a:extLst>
          </p:cNvPr>
          <p:cNvSpPr>
            <a:spLocks noGrp="1"/>
          </p:cNvSpPr>
          <p:nvPr>
            <p:ph type="title"/>
          </p:nvPr>
        </p:nvSpPr>
        <p:spPr/>
        <p:txBody>
          <a:bodyPr>
            <a:normAutofit/>
          </a:bodyPr>
          <a:lstStyle/>
          <a:p>
            <a:r>
              <a:rPr lang="zh-CN" altLang="en-US" dirty="0"/>
              <a:t>合成控制法</a:t>
            </a:r>
            <a:br>
              <a:rPr lang="zh-CN" altLang="en-US" dirty="0"/>
            </a:br>
            <a:r>
              <a:rPr lang="zh-CN" altLang="en-US" sz="1600" dirty="0"/>
              <a:t>案例：</a:t>
            </a:r>
            <a:r>
              <a:rPr lang="en-US" altLang="zh-CN" sz="1600" dirty="0"/>
              <a:t>Abadie et al. (2010) Estimating the effect of California’s tobacco control program</a:t>
            </a:r>
            <a:endParaRPr lang="zh-CN" altLang="en-US" sz="1600" dirty="0"/>
          </a:p>
        </p:txBody>
      </p:sp>
      <p:pic>
        <p:nvPicPr>
          <p:cNvPr id="7" name="内容占位符 6">
            <a:extLst>
              <a:ext uri="{FF2B5EF4-FFF2-40B4-BE49-F238E27FC236}">
                <a16:creationId xmlns:a16="http://schemas.microsoft.com/office/drawing/2014/main" id="{CAEFCF54-836A-E89D-B9D3-0B578CF6A3B9}"/>
              </a:ext>
            </a:extLst>
          </p:cNvPr>
          <p:cNvPicPr>
            <a:picLocks noGrp="1" noChangeAspect="1"/>
          </p:cNvPicPr>
          <p:nvPr>
            <p:ph idx="1"/>
          </p:nvPr>
        </p:nvPicPr>
        <p:blipFill>
          <a:blip r:embed="rId2"/>
          <a:stretch>
            <a:fillRect/>
          </a:stretch>
        </p:blipFill>
        <p:spPr>
          <a:xfrm>
            <a:off x="1934112" y="1825625"/>
            <a:ext cx="5275775" cy="4351338"/>
          </a:xfrm>
          <a:prstGeom prst="rect">
            <a:avLst/>
          </a:prstGeom>
        </p:spPr>
      </p:pic>
      <p:sp>
        <p:nvSpPr>
          <p:cNvPr id="4" name="页脚占位符 3">
            <a:extLst>
              <a:ext uri="{FF2B5EF4-FFF2-40B4-BE49-F238E27FC236}">
                <a16:creationId xmlns:a16="http://schemas.microsoft.com/office/drawing/2014/main" id="{F20BE17D-9D01-2625-3250-1B295B394EE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D9F5093-B4A2-A75C-B717-74859D703EA8}"/>
              </a:ext>
            </a:extLst>
          </p:cNvPr>
          <p:cNvSpPr>
            <a:spLocks noGrp="1"/>
          </p:cNvSpPr>
          <p:nvPr>
            <p:ph type="sldNum" sz="quarter" idx="12"/>
          </p:nvPr>
        </p:nvSpPr>
        <p:spPr/>
        <p:txBody>
          <a:bodyPr/>
          <a:lstStyle/>
          <a:p>
            <a:fld id="{D41FC515-8169-4A29-AA56-DBE520D5741B}" type="slidenum">
              <a:rPr lang="zh-CN" altLang="en-US" smtClean="0"/>
              <a:t>24</a:t>
            </a:fld>
            <a:endParaRPr lang="zh-CN" altLang="en-US"/>
          </a:p>
        </p:txBody>
      </p:sp>
    </p:spTree>
    <p:extLst>
      <p:ext uri="{BB962C8B-B14F-4D97-AF65-F5344CB8AC3E}">
        <p14:creationId xmlns:p14="http://schemas.microsoft.com/office/powerpoint/2010/main" val="35779825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456013-5A57-8C95-DEFA-7F3AD890CF38}"/>
              </a:ext>
            </a:extLst>
          </p:cNvPr>
          <p:cNvSpPr>
            <a:spLocks noGrp="1"/>
          </p:cNvSpPr>
          <p:nvPr>
            <p:ph type="title"/>
          </p:nvPr>
        </p:nvSpPr>
        <p:spPr/>
        <p:txBody>
          <a:bodyPr>
            <a:normAutofit/>
          </a:bodyPr>
          <a:lstStyle/>
          <a:p>
            <a:r>
              <a:rPr lang="zh-CN" altLang="en-US" dirty="0"/>
              <a:t>合成控制法</a:t>
            </a:r>
            <a:br>
              <a:rPr lang="zh-CN" altLang="en-US" dirty="0"/>
            </a:br>
            <a:r>
              <a:rPr lang="zh-CN" altLang="en-US" sz="1600" dirty="0"/>
              <a:t>案例：</a:t>
            </a:r>
            <a:r>
              <a:rPr lang="en-US" altLang="zh-CN" sz="1600" dirty="0"/>
              <a:t>Abadie et al. (2010) Estimating the effect of California’s tobacco control program</a:t>
            </a:r>
            <a:endParaRPr lang="zh-CN" altLang="en-US" sz="1600" dirty="0"/>
          </a:p>
        </p:txBody>
      </p:sp>
      <p:pic>
        <p:nvPicPr>
          <p:cNvPr id="7" name="内容占位符 6">
            <a:extLst>
              <a:ext uri="{FF2B5EF4-FFF2-40B4-BE49-F238E27FC236}">
                <a16:creationId xmlns:a16="http://schemas.microsoft.com/office/drawing/2014/main" id="{2853E252-2DB4-BEBF-5A9A-3BD61F44D712}"/>
              </a:ext>
            </a:extLst>
          </p:cNvPr>
          <p:cNvPicPr>
            <a:picLocks noGrp="1" noChangeAspect="1"/>
          </p:cNvPicPr>
          <p:nvPr>
            <p:ph idx="1"/>
          </p:nvPr>
        </p:nvPicPr>
        <p:blipFill>
          <a:blip r:embed="rId2"/>
          <a:stretch>
            <a:fillRect/>
          </a:stretch>
        </p:blipFill>
        <p:spPr>
          <a:xfrm>
            <a:off x="914400" y="1972871"/>
            <a:ext cx="7315200" cy="4056845"/>
          </a:xfrm>
          <a:prstGeom prst="rect">
            <a:avLst/>
          </a:prstGeom>
        </p:spPr>
      </p:pic>
      <p:sp>
        <p:nvSpPr>
          <p:cNvPr id="4" name="页脚占位符 3">
            <a:extLst>
              <a:ext uri="{FF2B5EF4-FFF2-40B4-BE49-F238E27FC236}">
                <a16:creationId xmlns:a16="http://schemas.microsoft.com/office/drawing/2014/main" id="{81D3652D-2CE3-1695-752A-607D81E150D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BC5E01D-9D19-1C4D-8F0F-50EFA39AE7C8}"/>
              </a:ext>
            </a:extLst>
          </p:cNvPr>
          <p:cNvSpPr>
            <a:spLocks noGrp="1"/>
          </p:cNvSpPr>
          <p:nvPr>
            <p:ph type="sldNum" sz="quarter" idx="12"/>
          </p:nvPr>
        </p:nvSpPr>
        <p:spPr/>
        <p:txBody>
          <a:bodyPr/>
          <a:lstStyle/>
          <a:p>
            <a:fld id="{D41FC515-8169-4A29-AA56-DBE520D5741B}" type="slidenum">
              <a:rPr lang="zh-CN" altLang="en-US" smtClean="0"/>
              <a:t>25</a:t>
            </a:fld>
            <a:endParaRPr lang="zh-CN" altLang="en-US"/>
          </a:p>
        </p:txBody>
      </p:sp>
    </p:spTree>
    <p:extLst>
      <p:ext uri="{BB962C8B-B14F-4D97-AF65-F5344CB8AC3E}">
        <p14:creationId xmlns:p14="http://schemas.microsoft.com/office/powerpoint/2010/main" val="3513553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0EB244-4F06-97A5-F31B-0579E5850672}"/>
              </a:ext>
            </a:extLst>
          </p:cNvPr>
          <p:cNvSpPr>
            <a:spLocks noGrp="1"/>
          </p:cNvSpPr>
          <p:nvPr>
            <p:ph type="title"/>
          </p:nvPr>
        </p:nvSpPr>
        <p:spPr/>
        <p:txBody>
          <a:bodyPr>
            <a:normAutofit/>
          </a:bodyPr>
          <a:lstStyle/>
          <a:p>
            <a:r>
              <a:rPr lang="zh-CN" altLang="en-US" dirty="0"/>
              <a:t>合成控制法</a:t>
            </a:r>
            <a:br>
              <a:rPr lang="zh-CN" altLang="en-US" dirty="0"/>
            </a:br>
            <a:r>
              <a:rPr lang="zh-CN" altLang="en-US" sz="1600" dirty="0"/>
              <a:t>案例：</a:t>
            </a:r>
            <a:r>
              <a:rPr lang="en-US" altLang="zh-CN" sz="1600" dirty="0"/>
              <a:t>Abadie et al. (2010) Estimating the effect of California’s tobacco control program</a:t>
            </a:r>
            <a:endParaRPr lang="zh-CN" altLang="en-US" sz="1600" dirty="0"/>
          </a:p>
        </p:txBody>
      </p:sp>
      <p:pic>
        <p:nvPicPr>
          <p:cNvPr id="7" name="内容占位符 6">
            <a:extLst>
              <a:ext uri="{FF2B5EF4-FFF2-40B4-BE49-F238E27FC236}">
                <a16:creationId xmlns:a16="http://schemas.microsoft.com/office/drawing/2014/main" id="{291C1923-9B7E-2C24-5D40-F3CC4EA664F5}"/>
              </a:ext>
            </a:extLst>
          </p:cNvPr>
          <p:cNvPicPr>
            <a:picLocks noGrp="1" noChangeAspect="1"/>
          </p:cNvPicPr>
          <p:nvPr>
            <p:ph idx="1"/>
          </p:nvPr>
        </p:nvPicPr>
        <p:blipFill>
          <a:blip r:embed="rId2"/>
          <a:stretch>
            <a:fillRect/>
          </a:stretch>
        </p:blipFill>
        <p:spPr>
          <a:xfrm>
            <a:off x="1249250" y="2565299"/>
            <a:ext cx="6645499" cy="2871989"/>
          </a:xfrm>
          <a:prstGeom prst="rect">
            <a:avLst/>
          </a:prstGeom>
        </p:spPr>
      </p:pic>
      <p:sp>
        <p:nvSpPr>
          <p:cNvPr id="4" name="页脚占位符 3">
            <a:extLst>
              <a:ext uri="{FF2B5EF4-FFF2-40B4-BE49-F238E27FC236}">
                <a16:creationId xmlns:a16="http://schemas.microsoft.com/office/drawing/2014/main" id="{CBEE968C-97CC-F5CF-ED0F-79F753359AB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BABF511-07BE-BFF0-3FCA-1F652541A9C4}"/>
              </a:ext>
            </a:extLst>
          </p:cNvPr>
          <p:cNvSpPr>
            <a:spLocks noGrp="1"/>
          </p:cNvSpPr>
          <p:nvPr>
            <p:ph type="sldNum" sz="quarter" idx="12"/>
          </p:nvPr>
        </p:nvSpPr>
        <p:spPr/>
        <p:txBody>
          <a:bodyPr/>
          <a:lstStyle/>
          <a:p>
            <a:fld id="{D41FC515-8169-4A29-AA56-DBE520D5741B}" type="slidenum">
              <a:rPr lang="zh-CN" altLang="en-US" smtClean="0"/>
              <a:t>26</a:t>
            </a:fld>
            <a:endParaRPr lang="zh-CN" altLang="en-US"/>
          </a:p>
        </p:txBody>
      </p:sp>
    </p:spTree>
    <p:extLst>
      <p:ext uri="{BB962C8B-B14F-4D97-AF65-F5344CB8AC3E}">
        <p14:creationId xmlns:p14="http://schemas.microsoft.com/office/powerpoint/2010/main" val="10149343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DF8939-E21C-83E4-B664-029B0CFC3841}"/>
              </a:ext>
            </a:extLst>
          </p:cNvPr>
          <p:cNvSpPr>
            <a:spLocks noGrp="1"/>
          </p:cNvSpPr>
          <p:nvPr>
            <p:ph type="title"/>
          </p:nvPr>
        </p:nvSpPr>
        <p:spPr/>
        <p:txBody>
          <a:bodyPr>
            <a:normAutofit/>
          </a:bodyPr>
          <a:lstStyle/>
          <a:p>
            <a:r>
              <a:rPr lang="zh-CN" altLang="en-US" dirty="0"/>
              <a:t>合成控制法</a:t>
            </a:r>
            <a:br>
              <a:rPr lang="zh-CN" altLang="en-US" dirty="0"/>
            </a:br>
            <a:r>
              <a:rPr lang="zh-CN" altLang="en-US" sz="1600" dirty="0"/>
              <a:t>案例：</a:t>
            </a:r>
            <a:r>
              <a:rPr lang="en-US" altLang="zh-CN" sz="1600" dirty="0"/>
              <a:t>Abadie et al. (2010) Estimating the effect of California’s tobacco control program</a:t>
            </a:r>
            <a:endParaRPr lang="zh-CN" altLang="en-US" sz="1600" dirty="0"/>
          </a:p>
        </p:txBody>
      </p:sp>
      <p:pic>
        <p:nvPicPr>
          <p:cNvPr id="7" name="内容占位符 6">
            <a:extLst>
              <a:ext uri="{FF2B5EF4-FFF2-40B4-BE49-F238E27FC236}">
                <a16:creationId xmlns:a16="http://schemas.microsoft.com/office/drawing/2014/main" id="{5A448A1C-D4E7-BC80-2A4B-415A789CCD87}"/>
              </a:ext>
            </a:extLst>
          </p:cNvPr>
          <p:cNvPicPr>
            <a:picLocks noGrp="1" noChangeAspect="1"/>
          </p:cNvPicPr>
          <p:nvPr>
            <p:ph idx="1"/>
          </p:nvPr>
        </p:nvPicPr>
        <p:blipFill>
          <a:blip r:embed="rId2"/>
          <a:stretch>
            <a:fillRect/>
          </a:stretch>
        </p:blipFill>
        <p:spPr>
          <a:xfrm>
            <a:off x="1915145" y="1825625"/>
            <a:ext cx="5313709" cy="4351338"/>
          </a:xfrm>
          <a:prstGeom prst="rect">
            <a:avLst/>
          </a:prstGeom>
        </p:spPr>
      </p:pic>
      <p:sp>
        <p:nvSpPr>
          <p:cNvPr id="4" name="页脚占位符 3">
            <a:extLst>
              <a:ext uri="{FF2B5EF4-FFF2-40B4-BE49-F238E27FC236}">
                <a16:creationId xmlns:a16="http://schemas.microsoft.com/office/drawing/2014/main" id="{F7725192-4EB3-CBDD-8BFA-06B0D7448BA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066B72A-4AAC-8637-769F-87AC1DDE6030}"/>
              </a:ext>
            </a:extLst>
          </p:cNvPr>
          <p:cNvSpPr>
            <a:spLocks noGrp="1"/>
          </p:cNvSpPr>
          <p:nvPr>
            <p:ph type="sldNum" sz="quarter" idx="12"/>
          </p:nvPr>
        </p:nvSpPr>
        <p:spPr/>
        <p:txBody>
          <a:bodyPr/>
          <a:lstStyle/>
          <a:p>
            <a:fld id="{D41FC515-8169-4A29-AA56-DBE520D5741B}" type="slidenum">
              <a:rPr lang="zh-CN" altLang="en-US" smtClean="0"/>
              <a:t>27</a:t>
            </a:fld>
            <a:endParaRPr lang="zh-CN" altLang="en-US"/>
          </a:p>
        </p:txBody>
      </p:sp>
    </p:spTree>
    <p:extLst>
      <p:ext uri="{BB962C8B-B14F-4D97-AF65-F5344CB8AC3E}">
        <p14:creationId xmlns:p14="http://schemas.microsoft.com/office/powerpoint/2010/main" val="3571517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8F8379-BCAC-1960-3533-F9300D75F0C2}"/>
              </a:ext>
            </a:extLst>
          </p:cNvPr>
          <p:cNvSpPr>
            <a:spLocks noGrp="1"/>
          </p:cNvSpPr>
          <p:nvPr>
            <p:ph type="title"/>
          </p:nvPr>
        </p:nvSpPr>
        <p:spPr/>
        <p:txBody>
          <a:bodyPr>
            <a:normAutofit/>
          </a:bodyPr>
          <a:lstStyle/>
          <a:p>
            <a:r>
              <a:rPr lang="zh-CN" altLang="en-US" dirty="0"/>
              <a:t>合成控制法</a:t>
            </a:r>
            <a:br>
              <a:rPr lang="zh-CN" altLang="en-US" dirty="0"/>
            </a:br>
            <a:r>
              <a:rPr lang="zh-CN" altLang="en-US" sz="1600" dirty="0"/>
              <a:t>案例：</a:t>
            </a:r>
            <a:r>
              <a:rPr lang="en-US" altLang="zh-CN" sz="1600" dirty="0"/>
              <a:t>Abadie et al. (2010) Estimating the effect of California’s tobacco control program</a:t>
            </a:r>
            <a:endParaRPr lang="zh-CN" altLang="en-US" sz="1600" dirty="0"/>
          </a:p>
        </p:txBody>
      </p:sp>
      <p:pic>
        <p:nvPicPr>
          <p:cNvPr id="7" name="内容占位符 6">
            <a:extLst>
              <a:ext uri="{FF2B5EF4-FFF2-40B4-BE49-F238E27FC236}">
                <a16:creationId xmlns:a16="http://schemas.microsoft.com/office/drawing/2014/main" id="{1B58DD3D-A483-2DD2-7BBB-6187E36DC312}"/>
              </a:ext>
            </a:extLst>
          </p:cNvPr>
          <p:cNvPicPr>
            <a:picLocks noGrp="1" noChangeAspect="1"/>
          </p:cNvPicPr>
          <p:nvPr>
            <p:ph idx="1"/>
          </p:nvPr>
        </p:nvPicPr>
        <p:blipFill>
          <a:blip r:embed="rId2"/>
          <a:stretch>
            <a:fillRect/>
          </a:stretch>
        </p:blipFill>
        <p:spPr>
          <a:xfrm>
            <a:off x="1914511" y="1825625"/>
            <a:ext cx="5314977" cy="4351338"/>
          </a:xfrm>
          <a:prstGeom prst="rect">
            <a:avLst/>
          </a:prstGeom>
        </p:spPr>
      </p:pic>
      <p:sp>
        <p:nvSpPr>
          <p:cNvPr id="4" name="页脚占位符 3">
            <a:extLst>
              <a:ext uri="{FF2B5EF4-FFF2-40B4-BE49-F238E27FC236}">
                <a16:creationId xmlns:a16="http://schemas.microsoft.com/office/drawing/2014/main" id="{8EFE337A-77D5-C6C5-A4E8-3C528B936C8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47A4A12-E749-6F44-71C2-39E3B934A5F3}"/>
              </a:ext>
            </a:extLst>
          </p:cNvPr>
          <p:cNvSpPr>
            <a:spLocks noGrp="1"/>
          </p:cNvSpPr>
          <p:nvPr>
            <p:ph type="sldNum" sz="quarter" idx="12"/>
          </p:nvPr>
        </p:nvSpPr>
        <p:spPr/>
        <p:txBody>
          <a:bodyPr/>
          <a:lstStyle/>
          <a:p>
            <a:fld id="{D41FC515-8169-4A29-AA56-DBE520D5741B}" type="slidenum">
              <a:rPr lang="zh-CN" altLang="en-US" smtClean="0"/>
              <a:t>28</a:t>
            </a:fld>
            <a:endParaRPr lang="zh-CN" altLang="en-US"/>
          </a:p>
        </p:txBody>
      </p:sp>
    </p:spTree>
    <p:extLst>
      <p:ext uri="{BB962C8B-B14F-4D97-AF65-F5344CB8AC3E}">
        <p14:creationId xmlns:p14="http://schemas.microsoft.com/office/powerpoint/2010/main" val="20849063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5B0A54-B098-B9D7-39C9-40195F8583E6}"/>
              </a:ext>
            </a:extLst>
          </p:cNvPr>
          <p:cNvSpPr>
            <a:spLocks noGrp="1"/>
          </p:cNvSpPr>
          <p:nvPr>
            <p:ph type="title"/>
          </p:nvPr>
        </p:nvSpPr>
        <p:spPr/>
        <p:txBody>
          <a:bodyPr>
            <a:normAutofit/>
          </a:bodyPr>
          <a:lstStyle/>
          <a:p>
            <a:r>
              <a:rPr lang="zh-CN" altLang="en-US" dirty="0"/>
              <a:t>合成控制法</a:t>
            </a:r>
            <a:br>
              <a:rPr lang="zh-CN" altLang="en-US" dirty="0"/>
            </a:br>
            <a:r>
              <a:rPr lang="zh-CN" altLang="en-US" sz="1600" dirty="0"/>
              <a:t>案例：</a:t>
            </a:r>
            <a:r>
              <a:rPr lang="en-US" altLang="zh-CN" sz="1600" dirty="0"/>
              <a:t>Abadie et al. (2010) Estimating the effect of California’s tobacco control program</a:t>
            </a:r>
            <a:endParaRPr lang="zh-CN" altLang="en-US" sz="1600" dirty="0"/>
          </a:p>
        </p:txBody>
      </p:sp>
      <p:pic>
        <p:nvPicPr>
          <p:cNvPr id="7" name="内容占位符 6">
            <a:extLst>
              <a:ext uri="{FF2B5EF4-FFF2-40B4-BE49-F238E27FC236}">
                <a16:creationId xmlns:a16="http://schemas.microsoft.com/office/drawing/2014/main" id="{22BE57D0-A522-51D5-4350-3502899ED6AA}"/>
              </a:ext>
            </a:extLst>
          </p:cNvPr>
          <p:cNvPicPr>
            <a:picLocks noGrp="1" noChangeAspect="1"/>
          </p:cNvPicPr>
          <p:nvPr>
            <p:ph idx="1"/>
          </p:nvPr>
        </p:nvPicPr>
        <p:blipFill>
          <a:blip r:embed="rId2"/>
          <a:stretch>
            <a:fillRect/>
          </a:stretch>
        </p:blipFill>
        <p:spPr>
          <a:xfrm>
            <a:off x="1030310" y="2201471"/>
            <a:ext cx="7083380" cy="3599645"/>
          </a:xfrm>
          <a:prstGeom prst="rect">
            <a:avLst/>
          </a:prstGeom>
        </p:spPr>
      </p:pic>
      <p:sp>
        <p:nvSpPr>
          <p:cNvPr id="4" name="页脚占位符 3">
            <a:extLst>
              <a:ext uri="{FF2B5EF4-FFF2-40B4-BE49-F238E27FC236}">
                <a16:creationId xmlns:a16="http://schemas.microsoft.com/office/drawing/2014/main" id="{0B130E51-CF22-2835-EE4E-217B0F68F6D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5B961C4-5518-FF91-0AAC-DE441D1D3A74}"/>
              </a:ext>
            </a:extLst>
          </p:cNvPr>
          <p:cNvSpPr>
            <a:spLocks noGrp="1"/>
          </p:cNvSpPr>
          <p:nvPr>
            <p:ph type="sldNum" sz="quarter" idx="12"/>
          </p:nvPr>
        </p:nvSpPr>
        <p:spPr/>
        <p:txBody>
          <a:bodyPr/>
          <a:lstStyle/>
          <a:p>
            <a:fld id="{D41FC515-8169-4A29-AA56-DBE520D5741B}" type="slidenum">
              <a:rPr lang="zh-CN" altLang="en-US" smtClean="0"/>
              <a:t>29</a:t>
            </a:fld>
            <a:endParaRPr lang="zh-CN" altLang="en-US"/>
          </a:p>
        </p:txBody>
      </p:sp>
    </p:spTree>
    <p:extLst>
      <p:ext uri="{BB962C8B-B14F-4D97-AF65-F5344CB8AC3E}">
        <p14:creationId xmlns:p14="http://schemas.microsoft.com/office/powerpoint/2010/main" val="31161515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503F11-6430-79A0-F7DA-853825D6C5CC}"/>
              </a:ext>
            </a:extLst>
          </p:cNvPr>
          <p:cNvSpPr>
            <a:spLocks noGrp="1"/>
          </p:cNvSpPr>
          <p:nvPr>
            <p:ph type="title"/>
          </p:nvPr>
        </p:nvSpPr>
        <p:spPr/>
        <p:txBody>
          <a:bodyPr>
            <a:normAutofit/>
          </a:bodyPr>
          <a:lstStyle/>
          <a:p>
            <a:r>
              <a:rPr lang="zh-CN" altLang="en-US" dirty="0"/>
              <a:t>合成控制法</a:t>
            </a:r>
            <a:br>
              <a:rPr lang="zh-CN" altLang="en-US" dirty="0"/>
            </a:br>
            <a:r>
              <a:rPr lang="zh-CN" altLang="en-US" sz="1600" dirty="0"/>
              <a:t>案例：</a:t>
            </a:r>
            <a:r>
              <a:rPr lang="en-US" altLang="zh-CN" sz="1600" dirty="0"/>
              <a:t>Abadie et al. (2010) Estimating the effect of California’s tobacco control program</a:t>
            </a:r>
            <a:endParaRPr lang="zh-CN" altLang="en-US" sz="1600" dirty="0"/>
          </a:p>
        </p:txBody>
      </p:sp>
      <p:pic>
        <p:nvPicPr>
          <p:cNvPr id="7" name="内容占位符 6">
            <a:extLst>
              <a:ext uri="{FF2B5EF4-FFF2-40B4-BE49-F238E27FC236}">
                <a16:creationId xmlns:a16="http://schemas.microsoft.com/office/drawing/2014/main" id="{34383197-1C71-2D32-2674-6DF1AA168120}"/>
              </a:ext>
            </a:extLst>
          </p:cNvPr>
          <p:cNvPicPr>
            <a:picLocks noGrp="1" noChangeAspect="1"/>
          </p:cNvPicPr>
          <p:nvPr>
            <p:ph idx="1"/>
          </p:nvPr>
        </p:nvPicPr>
        <p:blipFill>
          <a:blip r:embed="rId2"/>
          <a:stretch>
            <a:fillRect/>
          </a:stretch>
        </p:blipFill>
        <p:spPr>
          <a:xfrm>
            <a:off x="628650" y="2100643"/>
            <a:ext cx="3503054" cy="3464417"/>
          </a:xfrm>
          <a:prstGeom prst="rect">
            <a:avLst/>
          </a:prstGeom>
        </p:spPr>
      </p:pic>
      <p:sp>
        <p:nvSpPr>
          <p:cNvPr id="4" name="页脚占位符 3">
            <a:extLst>
              <a:ext uri="{FF2B5EF4-FFF2-40B4-BE49-F238E27FC236}">
                <a16:creationId xmlns:a16="http://schemas.microsoft.com/office/drawing/2014/main" id="{C237227C-2868-18AD-1E39-A59DC503316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2ABD1CC-8CA7-431C-FBA1-E37989BADEA1}"/>
              </a:ext>
            </a:extLst>
          </p:cNvPr>
          <p:cNvSpPr>
            <a:spLocks noGrp="1"/>
          </p:cNvSpPr>
          <p:nvPr>
            <p:ph type="sldNum" sz="quarter" idx="12"/>
          </p:nvPr>
        </p:nvSpPr>
        <p:spPr/>
        <p:txBody>
          <a:bodyPr/>
          <a:lstStyle/>
          <a:p>
            <a:fld id="{D41FC515-8169-4A29-AA56-DBE520D5741B}" type="slidenum">
              <a:rPr lang="zh-CN" altLang="en-US" smtClean="0"/>
              <a:t>30</a:t>
            </a:fld>
            <a:endParaRPr lang="zh-CN" altLang="en-US"/>
          </a:p>
        </p:txBody>
      </p:sp>
      <p:pic>
        <p:nvPicPr>
          <p:cNvPr id="10" name="图片 9">
            <a:extLst>
              <a:ext uri="{FF2B5EF4-FFF2-40B4-BE49-F238E27FC236}">
                <a16:creationId xmlns:a16="http://schemas.microsoft.com/office/drawing/2014/main" id="{603F2B7D-DD08-F5EF-1148-1205E1719E9B}"/>
              </a:ext>
            </a:extLst>
          </p:cNvPr>
          <p:cNvPicPr>
            <a:picLocks noChangeAspect="1"/>
          </p:cNvPicPr>
          <p:nvPr/>
        </p:nvPicPr>
        <p:blipFill>
          <a:blip r:embed="rId3"/>
          <a:stretch>
            <a:fillRect/>
          </a:stretch>
        </p:blipFill>
        <p:spPr>
          <a:xfrm>
            <a:off x="4572000" y="2036249"/>
            <a:ext cx="3477296" cy="3528811"/>
          </a:xfrm>
          <a:prstGeom prst="rect">
            <a:avLst/>
          </a:prstGeom>
        </p:spPr>
      </p:pic>
    </p:spTree>
    <p:extLst>
      <p:ext uri="{BB962C8B-B14F-4D97-AF65-F5344CB8AC3E}">
        <p14:creationId xmlns:p14="http://schemas.microsoft.com/office/powerpoint/2010/main" val="25190475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3FC818-DAF4-097F-1A38-FC83A39F4982}"/>
              </a:ext>
            </a:extLst>
          </p:cNvPr>
          <p:cNvSpPr>
            <a:spLocks noGrp="1"/>
          </p:cNvSpPr>
          <p:nvPr>
            <p:ph type="title"/>
          </p:nvPr>
        </p:nvSpPr>
        <p:spPr/>
        <p:txBody>
          <a:bodyPr>
            <a:normAutofit/>
          </a:bodyPr>
          <a:lstStyle/>
          <a:p>
            <a:r>
              <a:rPr lang="zh-CN" altLang="en-US" dirty="0"/>
              <a:t>合成控制法</a:t>
            </a:r>
            <a:br>
              <a:rPr lang="zh-CN" altLang="en-US" dirty="0"/>
            </a:br>
            <a:r>
              <a:rPr lang="zh-CN" altLang="en-US" sz="1600" dirty="0"/>
              <a:t>案例：</a:t>
            </a:r>
            <a:r>
              <a:rPr lang="en-US" altLang="zh-CN" sz="1600" dirty="0"/>
              <a:t>Abadie et al. (2010) Estimating the effect of California’s tobacco control program</a:t>
            </a:r>
            <a:endParaRPr lang="zh-CN" altLang="en-US" sz="1600" dirty="0"/>
          </a:p>
        </p:txBody>
      </p:sp>
      <p:sp>
        <p:nvSpPr>
          <p:cNvPr id="3" name="内容占位符 2">
            <a:extLst>
              <a:ext uri="{FF2B5EF4-FFF2-40B4-BE49-F238E27FC236}">
                <a16:creationId xmlns:a16="http://schemas.microsoft.com/office/drawing/2014/main" id="{1A6B674C-2F09-C480-1BF9-08C9756C8931}"/>
              </a:ext>
            </a:extLst>
          </p:cNvPr>
          <p:cNvSpPr>
            <a:spLocks noGrp="1"/>
          </p:cNvSpPr>
          <p:nvPr>
            <p:ph idx="1"/>
          </p:nvPr>
        </p:nvSpPr>
        <p:spPr/>
        <p:txBody>
          <a:bodyPr/>
          <a:lstStyle/>
          <a:p>
            <a:r>
              <a:rPr lang="en-US" altLang="zh-CN" dirty="0"/>
              <a:t>Abadie </a:t>
            </a:r>
            <a:r>
              <a:rPr lang="zh-CN" altLang="en-US" dirty="0"/>
              <a:t>的</a:t>
            </a:r>
            <a:r>
              <a:rPr lang="en-US" altLang="zh-CN" dirty="0"/>
              <a:t>r </a:t>
            </a:r>
            <a:r>
              <a:rPr lang="zh-CN" altLang="en-US" dirty="0"/>
              <a:t>统计量：</a:t>
            </a:r>
          </a:p>
        </p:txBody>
      </p:sp>
      <p:sp>
        <p:nvSpPr>
          <p:cNvPr id="4" name="页脚占位符 3">
            <a:extLst>
              <a:ext uri="{FF2B5EF4-FFF2-40B4-BE49-F238E27FC236}">
                <a16:creationId xmlns:a16="http://schemas.microsoft.com/office/drawing/2014/main" id="{38549F1D-217E-86BA-49EF-03F27EDDCA6C}"/>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D816E21E-01C3-6B3C-3D08-175A158C4583}"/>
              </a:ext>
            </a:extLst>
          </p:cNvPr>
          <p:cNvSpPr>
            <a:spLocks noGrp="1"/>
          </p:cNvSpPr>
          <p:nvPr>
            <p:ph type="sldNum" sz="quarter" idx="12"/>
          </p:nvPr>
        </p:nvSpPr>
        <p:spPr/>
        <p:txBody>
          <a:bodyPr/>
          <a:lstStyle/>
          <a:p>
            <a:fld id="{D41FC515-8169-4A29-AA56-DBE520D5741B}" type="slidenum">
              <a:rPr lang="zh-CN" altLang="en-US" smtClean="0"/>
              <a:t>31</a:t>
            </a:fld>
            <a:endParaRPr lang="zh-CN" altLang="en-US"/>
          </a:p>
        </p:txBody>
      </p:sp>
      <p:pic>
        <p:nvPicPr>
          <p:cNvPr id="7" name="图片 6">
            <a:extLst>
              <a:ext uri="{FF2B5EF4-FFF2-40B4-BE49-F238E27FC236}">
                <a16:creationId xmlns:a16="http://schemas.microsoft.com/office/drawing/2014/main" id="{ED0F4D8D-527F-344C-06E4-34C22746615B}"/>
              </a:ext>
            </a:extLst>
          </p:cNvPr>
          <p:cNvPicPr>
            <a:picLocks noChangeAspect="1"/>
          </p:cNvPicPr>
          <p:nvPr/>
        </p:nvPicPr>
        <p:blipFill>
          <a:blip r:embed="rId2"/>
          <a:stretch>
            <a:fillRect/>
          </a:stretch>
        </p:blipFill>
        <p:spPr>
          <a:xfrm>
            <a:off x="2358105" y="2499460"/>
            <a:ext cx="4099845" cy="3856891"/>
          </a:xfrm>
          <a:prstGeom prst="rect">
            <a:avLst/>
          </a:prstGeom>
        </p:spPr>
      </p:pic>
    </p:spTree>
    <p:extLst>
      <p:ext uri="{BB962C8B-B14F-4D97-AF65-F5344CB8AC3E}">
        <p14:creationId xmlns:p14="http://schemas.microsoft.com/office/powerpoint/2010/main" val="8105457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D5F8-96F3-3525-5682-D312482128FB}"/>
              </a:ext>
            </a:extLst>
          </p:cNvPr>
          <p:cNvSpPr>
            <a:spLocks noGrp="1"/>
          </p:cNvSpPr>
          <p:nvPr>
            <p:ph type="title"/>
          </p:nvPr>
        </p:nvSpPr>
        <p:spPr/>
        <p:txBody>
          <a:bodyPr>
            <a:normAutofit/>
          </a:bodyPr>
          <a:lstStyle/>
          <a:p>
            <a:r>
              <a:rPr lang="zh-CN" altLang="en-US" dirty="0"/>
              <a:t>合成控制法</a:t>
            </a:r>
            <a:br>
              <a:rPr lang="zh-CN" altLang="en-US" dirty="0"/>
            </a:br>
            <a:r>
              <a:rPr lang="zh-CN" altLang="en-US" sz="1600" dirty="0"/>
              <a:t>案例：</a:t>
            </a:r>
            <a:r>
              <a:rPr lang="en-US" altLang="zh-CN" sz="1600" dirty="0"/>
              <a:t>Abadie et al. (2010) Estimating the effect of California’s tobacco control program</a:t>
            </a:r>
            <a:endParaRPr lang="zh-CN" altLang="en-US" sz="1600" dirty="0"/>
          </a:p>
        </p:txBody>
      </p:sp>
      <p:sp>
        <p:nvSpPr>
          <p:cNvPr id="3" name="内容占位符 2">
            <a:extLst>
              <a:ext uri="{FF2B5EF4-FFF2-40B4-BE49-F238E27FC236}">
                <a16:creationId xmlns:a16="http://schemas.microsoft.com/office/drawing/2014/main" id="{78AAAA9B-1172-768E-EDFB-B250D8E8C724}"/>
              </a:ext>
            </a:extLst>
          </p:cNvPr>
          <p:cNvSpPr>
            <a:spLocks noGrp="1"/>
          </p:cNvSpPr>
          <p:nvPr>
            <p:ph idx="1"/>
          </p:nvPr>
        </p:nvSpPr>
        <p:spPr/>
        <p:txBody>
          <a:bodyPr>
            <a:normAutofit/>
          </a:bodyPr>
          <a:lstStyle/>
          <a:p>
            <a:r>
              <a:rPr lang="zh-CN" altLang="en-US" sz="1600" dirty="0"/>
              <a:t>时间安慰剂检验</a:t>
            </a:r>
            <a:r>
              <a:rPr lang="en-US" altLang="zh-CN" sz="1600" dirty="0"/>
              <a:t>(backdating)</a:t>
            </a:r>
            <a:r>
              <a:rPr lang="zh-CN" altLang="en-US" sz="1600" dirty="0"/>
              <a:t>，可以用于检验预期效应，也可以用于检验合成控制的效果。</a:t>
            </a:r>
            <a:endParaRPr lang="en-US" altLang="zh-CN" sz="1600" dirty="0"/>
          </a:p>
          <a:p>
            <a:r>
              <a:rPr lang="zh-CN" altLang="en-US" sz="1600" dirty="0"/>
              <a:t>稳健性检验。可以通过改变潜在控制组</a:t>
            </a:r>
            <a:r>
              <a:rPr lang="en-US" altLang="zh-CN" sz="1600" dirty="0"/>
              <a:t>(donor pool) </a:t>
            </a:r>
            <a:r>
              <a:rPr lang="zh-CN" altLang="en-US" sz="1600" dirty="0"/>
              <a:t>和控制变量，检验合成控制的稳健性。</a:t>
            </a:r>
          </a:p>
        </p:txBody>
      </p:sp>
      <p:sp>
        <p:nvSpPr>
          <p:cNvPr id="4" name="页脚占位符 3">
            <a:extLst>
              <a:ext uri="{FF2B5EF4-FFF2-40B4-BE49-F238E27FC236}">
                <a16:creationId xmlns:a16="http://schemas.microsoft.com/office/drawing/2014/main" id="{11756932-7931-2268-931C-D1EC4D1C805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30F8DFB-EF6D-A442-82F4-E75B97842704}"/>
              </a:ext>
            </a:extLst>
          </p:cNvPr>
          <p:cNvSpPr>
            <a:spLocks noGrp="1"/>
          </p:cNvSpPr>
          <p:nvPr>
            <p:ph type="sldNum" sz="quarter" idx="12"/>
          </p:nvPr>
        </p:nvSpPr>
        <p:spPr/>
        <p:txBody>
          <a:bodyPr/>
          <a:lstStyle/>
          <a:p>
            <a:fld id="{D41FC515-8169-4A29-AA56-DBE520D5741B}" type="slidenum">
              <a:rPr lang="zh-CN" altLang="en-US" smtClean="0"/>
              <a:t>32</a:t>
            </a:fld>
            <a:endParaRPr lang="zh-CN" altLang="en-US"/>
          </a:p>
        </p:txBody>
      </p:sp>
      <p:pic>
        <p:nvPicPr>
          <p:cNvPr id="7" name="图片 6">
            <a:extLst>
              <a:ext uri="{FF2B5EF4-FFF2-40B4-BE49-F238E27FC236}">
                <a16:creationId xmlns:a16="http://schemas.microsoft.com/office/drawing/2014/main" id="{D31E02F8-1AE0-EC71-1CD6-9A269004E259}"/>
              </a:ext>
            </a:extLst>
          </p:cNvPr>
          <p:cNvPicPr>
            <a:picLocks noChangeAspect="1"/>
          </p:cNvPicPr>
          <p:nvPr/>
        </p:nvPicPr>
        <p:blipFill>
          <a:blip r:embed="rId2"/>
          <a:stretch>
            <a:fillRect/>
          </a:stretch>
        </p:blipFill>
        <p:spPr>
          <a:xfrm>
            <a:off x="2454632" y="3058729"/>
            <a:ext cx="4234735" cy="3297622"/>
          </a:xfrm>
          <a:prstGeom prst="rect">
            <a:avLst/>
          </a:prstGeom>
        </p:spPr>
      </p:pic>
    </p:spTree>
    <p:extLst>
      <p:ext uri="{BB962C8B-B14F-4D97-AF65-F5344CB8AC3E}">
        <p14:creationId xmlns:p14="http://schemas.microsoft.com/office/powerpoint/2010/main" val="17837323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71DC65-CFDD-B149-EA7C-ABE9ED877277}"/>
              </a:ext>
            </a:extLst>
          </p:cNvPr>
          <p:cNvSpPr>
            <a:spLocks noGrp="1"/>
          </p:cNvSpPr>
          <p:nvPr>
            <p:ph type="title"/>
          </p:nvPr>
        </p:nvSpPr>
        <p:spPr/>
        <p:txBody>
          <a:bodyPr/>
          <a:lstStyle/>
          <a:p>
            <a:r>
              <a:rPr lang="zh-CN" altLang="en-US" dirty="0"/>
              <a:t>合成控制法</a:t>
            </a:r>
            <a:br>
              <a:rPr lang="zh-CN" altLang="en-US" dirty="0"/>
            </a:br>
            <a:r>
              <a:rPr lang="zh-CN" altLang="en-US" sz="2400" dirty="0"/>
              <a:t>限制</a:t>
            </a:r>
          </a:p>
        </p:txBody>
      </p:sp>
      <p:sp>
        <p:nvSpPr>
          <p:cNvPr id="3" name="内容占位符 2">
            <a:extLst>
              <a:ext uri="{FF2B5EF4-FFF2-40B4-BE49-F238E27FC236}">
                <a16:creationId xmlns:a16="http://schemas.microsoft.com/office/drawing/2014/main" id="{3F704F16-E56E-F02C-268D-8E434138D239}"/>
              </a:ext>
            </a:extLst>
          </p:cNvPr>
          <p:cNvSpPr>
            <a:spLocks noGrp="1"/>
          </p:cNvSpPr>
          <p:nvPr>
            <p:ph idx="1"/>
          </p:nvPr>
        </p:nvSpPr>
        <p:spPr/>
        <p:txBody>
          <a:bodyPr/>
          <a:lstStyle/>
          <a:p>
            <a:r>
              <a:rPr lang="zh-CN" altLang="en-US" dirty="0"/>
              <a:t>一次考虑一个干预组</a:t>
            </a:r>
            <a:endParaRPr lang="en-US" altLang="zh-CN" dirty="0"/>
          </a:p>
          <a:p>
            <a:r>
              <a:rPr lang="zh-CN" altLang="en-US" dirty="0"/>
              <a:t>一次处理一个结果</a:t>
            </a:r>
            <a:endParaRPr lang="en-US" altLang="zh-CN" dirty="0"/>
          </a:p>
          <a:p>
            <a:r>
              <a:rPr lang="zh-CN" altLang="en-US" dirty="0"/>
              <a:t>实施速度慢，有时很难找到解</a:t>
            </a:r>
            <a:endParaRPr lang="en-US" altLang="zh-CN" dirty="0"/>
          </a:p>
          <a:p>
            <a:r>
              <a:rPr lang="zh-CN" altLang="en-US" dirty="0"/>
              <a:t>用户自由度比较大，比如可以人为选择协变量</a:t>
            </a:r>
          </a:p>
        </p:txBody>
      </p:sp>
      <p:sp>
        <p:nvSpPr>
          <p:cNvPr id="4" name="页脚占位符 3">
            <a:extLst>
              <a:ext uri="{FF2B5EF4-FFF2-40B4-BE49-F238E27FC236}">
                <a16:creationId xmlns:a16="http://schemas.microsoft.com/office/drawing/2014/main" id="{51D6DCAE-E5AC-3BDF-548C-E5BF7D3D9F5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368BE5F-7A19-86DF-ECF2-3ADE4523C4EF}"/>
              </a:ext>
            </a:extLst>
          </p:cNvPr>
          <p:cNvSpPr>
            <a:spLocks noGrp="1"/>
          </p:cNvSpPr>
          <p:nvPr>
            <p:ph type="sldNum" sz="quarter" idx="12"/>
          </p:nvPr>
        </p:nvSpPr>
        <p:spPr/>
        <p:txBody>
          <a:bodyPr/>
          <a:lstStyle/>
          <a:p>
            <a:fld id="{D41FC515-8169-4A29-AA56-DBE520D5741B}" type="slidenum">
              <a:rPr lang="zh-CN" altLang="en-US" smtClean="0"/>
              <a:t>33</a:t>
            </a:fld>
            <a:endParaRPr lang="zh-CN" altLang="en-US"/>
          </a:p>
        </p:txBody>
      </p:sp>
    </p:spTree>
    <p:extLst>
      <p:ext uri="{BB962C8B-B14F-4D97-AF65-F5344CB8AC3E}">
        <p14:creationId xmlns:p14="http://schemas.microsoft.com/office/powerpoint/2010/main" val="41149611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59AB48-DD3B-A265-7E5D-D8EFFFABBC04}"/>
              </a:ext>
            </a:extLst>
          </p:cNvPr>
          <p:cNvSpPr>
            <a:spLocks noGrp="1"/>
          </p:cNvSpPr>
          <p:nvPr>
            <p:ph type="title"/>
          </p:nvPr>
        </p:nvSpPr>
        <p:spPr/>
        <p:txBody>
          <a:bodyPr/>
          <a:lstStyle/>
          <a:p>
            <a:r>
              <a:rPr lang="zh-CN" altLang="en-US" dirty="0"/>
              <a:t>广义合成控制法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2AD15B9-669E-77FE-285F-FC15F0B08B89}"/>
                  </a:ext>
                </a:extLst>
              </p:cNvPr>
              <p:cNvSpPr>
                <a:spLocks noGrp="1"/>
              </p:cNvSpPr>
              <p:nvPr>
                <p:ph idx="1"/>
              </p:nvPr>
            </p:nvSpPr>
            <p:spPr/>
            <p:txBody>
              <a:bodyPr>
                <a:noAutofit/>
              </a:bodyPr>
              <a:lstStyle/>
              <a:p>
                <a:r>
                  <a:rPr lang="en-US" altLang="zh-CN" sz="1600" dirty="0"/>
                  <a:t>Xu (2017) </a:t>
                </a:r>
                <a:r>
                  <a:rPr lang="zh-CN" altLang="en-US" sz="1600" dirty="0"/>
                  <a:t>在</a:t>
                </a:r>
                <a:r>
                  <a:rPr lang="en-US" altLang="zh-CN" sz="1600" dirty="0"/>
                  <a:t>Bai (2009) </a:t>
                </a:r>
                <a:r>
                  <a:rPr lang="zh-CN" altLang="en-US" sz="1600" dirty="0"/>
                  <a:t>因子模型的基础上，提出了广义合成控制法</a:t>
                </a:r>
                <a:r>
                  <a:rPr lang="en-US" altLang="zh-CN" sz="1600" dirty="0"/>
                  <a:t>(Generalized Synthetic Control)</a:t>
                </a:r>
                <a:r>
                  <a:rPr lang="zh-CN" altLang="en-US" sz="1600" dirty="0"/>
                  <a:t>，假设𝑌𝑖𝑡</a:t>
                </a:r>
                <a:r>
                  <a:rPr lang="en-US" altLang="zh-CN" sz="1600" dirty="0"/>
                  <a:t>(0) </a:t>
                </a:r>
                <a:r>
                  <a:rPr lang="zh-CN" altLang="en-US" sz="1600" dirty="0"/>
                  <a:t>由下列因子模型决定：</a:t>
                </a:r>
                <a:endParaRPr lang="en-US" altLang="zh-CN" sz="1600" dirty="0"/>
              </a:p>
              <a:p>
                <a:pPr marL="0" indent="0">
                  <a:buNone/>
                </a:pPr>
                <a14:m>
                  <m:oMathPara xmlns:m="http://schemas.openxmlformats.org/officeDocument/2006/math">
                    <m:oMath>
                      <m:eqArr>
                        <m:eqArrPr>
                          <m:ctrlPr>
                            <a:rPr lang="zh-CN" altLang="en-US" sz="1600" i="1" smtClean="0">
                              <a:latin typeface="Cambria Math" panose="02040503050406030204" pitchFamily="18" charset="0"/>
                            </a:rPr>
                          </m:ctrlPr>
                        </m:eqArr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𝛽</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𝜆</m:t>
                              </m:r>
                            </m:e>
                            <m:sub>
                              <m:r>
                                <a:rPr lang="zh-CN" altLang="en-US" sz="1600" i="1" smtClean="0">
                                  <a:latin typeface="Cambria Math" panose="02040503050406030204" pitchFamily="18" charset="0"/>
                                </a:rPr>
                                <m:t>𝑡</m:t>
                              </m:r>
                            </m:sub>
                          </m:s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𝜇</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𝜀</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e>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1</m:t>
                              </m:r>
                            </m:e>
                          </m:d>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e>
                      </m:eqArr>
                    </m:oMath>
                  </m:oMathPara>
                </a14:m>
                <a:endParaRPr lang="en-US" altLang="zh-CN" sz="1600" dirty="0"/>
              </a:p>
              <a:p>
                <a:r>
                  <a:rPr lang="zh-CN" altLang="en-US" sz="1600" dirty="0"/>
                  <a:t>或者</a:t>
                </a:r>
                <a:endParaRPr lang="en-US" altLang="zh-CN" sz="1600" dirty="0"/>
              </a:p>
              <a:p>
                <a:pPr marL="0" indent="0">
                  <a:buNone/>
                </a:pPr>
                <a14:m>
                  <m:oMathPara xmlns:m="http://schemas.openxmlformats.org/officeDocument/2006/math">
                    <m:oMath>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𝑖𝑡</m:t>
                          </m:r>
                        </m:sub>
                      </m:s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𝛽</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𝜆</m:t>
                          </m:r>
                        </m:e>
                        <m:sub>
                          <m:r>
                            <a:rPr lang="zh-CN" altLang="en-US" sz="1600" i="1" smtClean="0">
                              <a:latin typeface="Cambria Math" panose="02040503050406030204" pitchFamily="18" charset="0"/>
                            </a:rPr>
                            <m:t>𝑡</m:t>
                          </m:r>
                        </m:sub>
                      </m:s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𝜇</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𝜀</m:t>
                          </m:r>
                        </m:e>
                        <m:sub>
                          <m:r>
                            <a:rPr lang="zh-CN" altLang="en-US" sz="1600" i="1" smtClean="0">
                              <a:latin typeface="Cambria Math" panose="02040503050406030204" pitchFamily="18" charset="0"/>
                            </a:rPr>
                            <m:t>𝑖𝑡</m:t>
                          </m:r>
                        </m:sub>
                      </m:sSub>
                    </m:oMath>
                  </m:oMathPara>
                </a14:m>
                <a:endParaRPr lang="en-US" altLang="zh-CN" sz="1600" dirty="0"/>
              </a:p>
              <a:p>
                <a:r>
                  <a:rPr lang="zh-CN" altLang="en-US" sz="1600" dirty="0"/>
                  <a:t>𝜆𝑡 </a:t>
                </a:r>
                <a:r>
                  <a:rPr lang="en-US" altLang="zh-CN" sz="1600" dirty="0"/>
                  <a:t>= (</a:t>
                </a:r>
                <a:r>
                  <a:rPr lang="zh-CN" altLang="en-US" sz="1600" dirty="0"/>
                  <a:t>𝜆</a:t>
                </a:r>
                <a:r>
                  <a:rPr lang="en-US" altLang="zh-CN" sz="1600" dirty="0"/>
                  <a:t>1</a:t>
                </a:r>
                <a:r>
                  <a:rPr lang="zh-CN" altLang="en-US" sz="1600" dirty="0"/>
                  <a:t>𝑡</a:t>
                </a:r>
                <a:r>
                  <a:rPr lang="en-US" altLang="zh-CN" sz="1600" dirty="0"/>
                  <a:t>, … , </a:t>
                </a:r>
                <a:r>
                  <a:rPr lang="zh-CN" altLang="en-US" sz="1600" dirty="0"/>
                  <a:t>𝜆𝑟𝑡</a:t>
                </a:r>
                <a:r>
                  <a:rPr lang="en-US" altLang="zh-CN" sz="1600" dirty="0"/>
                  <a:t>) </a:t>
                </a:r>
                <a:r>
                  <a:rPr lang="zh-CN" altLang="en-US" sz="1600" dirty="0"/>
                  <a:t>是</a:t>
                </a:r>
                <a:r>
                  <a:rPr lang="en-US" altLang="zh-CN" sz="1600" dirty="0"/>
                  <a:t>1 × </a:t>
                </a:r>
                <a:r>
                  <a:rPr lang="zh-CN" altLang="en-US" sz="1600" dirty="0"/>
                  <a:t>𝑟 的未观测的共同因子向量，𝜇𝑖 </a:t>
                </a:r>
                <a:r>
                  <a:rPr lang="en-US" altLang="zh-CN" sz="1600" dirty="0"/>
                  <a:t>= (</a:t>
                </a:r>
                <a:r>
                  <a:rPr lang="zh-CN" altLang="en-US" sz="1600" dirty="0"/>
                  <a:t>𝜇𝑖</a:t>
                </a:r>
                <a:r>
                  <a:rPr lang="en-US" altLang="zh-CN" sz="1600" dirty="0"/>
                  <a:t>1, … , </a:t>
                </a:r>
                <a:r>
                  <a:rPr lang="zh-CN" altLang="en-US" sz="1600" dirty="0"/>
                  <a:t>𝜇𝑖𝑟</a:t>
                </a:r>
                <a:r>
                  <a:rPr lang="en-US" altLang="zh-CN" sz="1600" dirty="0"/>
                  <a:t>)′ </a:t>
                </a:r>
                <a:r>
                  <a:rPr lang="zh-CN" altLang="en-US" sz="1600" dirty="0"/>
                  <a:t>是𝑟 </a:t>
                </a:r>
                <a:r>
                  <a:rPr lang="en-US" altLang="zh-CN" sz="1600" dirty="0"/>
                  <a:t>× 1</a:t>
                </a:r>
                <a:r>
                  <a:rPr lang="zh-CN" altLang="en-US" sz="1600" dirty="0"/>
                  <a:t>的未知的因子载荷</a:t>
                </a:r>
                <a:r>
                  <a:rPr lang="en-US" altLang="zh-CN" sz="1600" dirty="0"/>
                  <a:t>(factor loadings)</a:t>
                </a:r>
                <a:r>
                  <a:rPr lang="zh-CN" altLang="en-US" sz="1600" dirty="0"/>
                  <a:t>。</a:t>
                </a:r>
                <a:endParaRPr lang="en-US" altLang="zh-CN" sz="1600" dirty="0"/>
              </a:p>
              <a:p>
                <a:r>
                  <a:rPr lang="zh-CN" altLang="en-US" sz="1600" dirty="0"/>
                  <a:t>若令𝜆</a:t>
                </a:r>
                <a:r>
                  <a:rPr lang="en-US" altLang="zh-CN" sz="1600" dirty="0"/>
                  <a:t>1</a:t>
                </a:r>
                <a:r>
                  <a:rPr lang="zh-CN" altLang="en-US" sz="1600" dirty="0"/>
                  <a:t>𝑡 </a:t>
                </a:r>
                <a:r>
                  <a:rPr lang="en-US" altLang="zh-CN" sz="1600" dirty="0"/>
                  <a:t>= 1</a:t>
                </a:r>
                <a:r>
                  <a:rPr lang="zh-CN" altLang="en-US" sz="1600" dirty="0"/>
                  <a:t>，𝜇𝑖</a:t>
                </a:r>
                <a:r>
                  <a:rPr lang="en-US" altLang="zh-CN" sz="1600" dirty="0"/>
                  <a:t>2 = 1</a:t>
                </a:r>
                <a:r>
                  <a:rPr lang="zh-CN" altLang="en-US" sz="1600" dirty="0"/>
                  <a:t>，并记𝜇𝑖</a:t>
                </a:r>
                <a:r>
                  <a:rPr lang="en-US" altLang="zh-CN" sz="1600" dirty="0"/>
                  <a:t>1 = </a:t>
                </a:r>
                <a:r>
                  <a:rPr lang="zh-CN" altLang="en-US" sz="1600" dirty="0"/>
                  <a:t>𝜇𝑖，𝜆</a:t>
                </a:r>
                <a:r>
                  <a:rPr lang="en-US" altLang="zh-CN" sz="1600" dirty="0"/>
                  <a:t>2</a:t>
                </a:r>
                <a:r>
                  <a:rPr lang="zh-CN" altLang="en-US" sz="1600" dirty="0"/>
                  <a:t>𝑡 </a:t>
                </a:r>
                <a:r>
                  <a:rPr lang="en-US" altLang="zh-CN" sz="1600" dirty="0"/>
                  <a:t>= </a:t>
                </a:r>
                <a:r>
                  <a:rPr lang="zh-CN" altLang="en-US" sz="1600" dirty="0"/>
                  <a:t>𝜆𝑡，则𝜆</a:t>
                </a:r>
                <a:r>
                  <a:rPr lang="en-US" altLang="zh-CN" sz="1600" dirty="0"/>
                  <a:t>1</a:t>
                </a:r>
                <a:r>
                  <a:rPr lang="zh-CN" altLang="en-US" sz="1600" dirty="0"/>
                  <a:t>𝑡𝜇𝑖</a:t>
                </a:r>
                <a:r>
                  <a:rPr lang="en-US" altLang="zh-CN" sz="1600" dirty="0"/>
                  <a:t>1 + </a:t>
                </a:r>
                <a:r>
                  <a:rPr lang="zh-CN" altLang="en-US" sz="1600" dirty="0"/>
                  <a:t>𝜆</a:t>
                </a:r>
                <a:r>
                  <a:rPr lang="en-US" altLang="zh-CN" sz="1600" dirty="0"/>
                  <a:t>2</a:t>
                </a:r>
                <a:r>
                  <a:rPr lang="zh-CN" altLang="en-US" sz="1600" dirty="0"/>
                  <a:t>𝑡𝜇𝑖</a:t>
                </a:r>
                <a:r>
                  <a:rPr lang="en-US" altLang="zh-CN" sz="1600" dirty="0"/>
                  <a:t>2 = </a:t>
                </a:r>
                <a:r>
                  <a:rPr lang="zh-CN" altLang="en-US" sz="1600" dirty="0"/>
                  <a:t>𝜇𝑖 </a:t>
                </a:r>
                <a:r>
                  <a:rPr lang="en-US" altLang="zh-CN" sz="1600" dirty="0"/>
                  <a:t>+ </a:t>
                </a:r>
                <a:r>
                  <a:rPr lang="zh-CN" altLang="en-US" sz="1600" dirty="0"/>
                  <a:t>𝜆𝑡，为通常的双向固定效应模型。</a:t>
                </a:r>
                <a:endParaRPr lang="en-US" altLang="zh-CN" sz="1600" dirty="0"/>
              </a:p>
              <a:p>
                <a:r>
                  <a:rPr lang="zh-CN" altLang="en-US" sz="1600" dirty="0"/>
                  <a:t>该模型还可以包含个体特定的线性或非线性趋势等。特别是未观测变量𝑈𝑖𝑡 只要能分解为相乘的形式，即𝑈𝑖𝑡 </a:t>
                </a:r>
                <a:r>
                  <a:rPr lang="en-US" altLang="zh-CN" sz="1600" dirty="0"/>
                  <a:t>= </a:t>
                </a:r>
                <a:r>
                  <a:rPr lang="zh-CN" altLang="en-US" sz="1600" dirty="0"/>
                  <a:t>𝑎𝑖 </a:t>
                </a:r>
                <a:r>
                  <a:rPr lang="en-US" altLang="zh-CN" sz="1600" dirty="0"/>
                  <a:t>× </a:t>
                </a:r>
                <a:r>
                  <a:rPr lang="zh-CN" altLang="en-US" sz="1600" dirty="0"/>
                  <a:t>𝑏𝑡，就可以被𝜆𝑡𝜇𝑖 捕捉。</a:t>
                </a:r>
                <a:endParaRPr lang="en-US" altLang="zh-CN" sz="1600" dirty="0"/>
              </a:p>
              <a:p>
                <a:r>
                  <a:rPr lang="zh-CN" altLang="en-US" sz="1600" dirty="0"/>
                  <a:t>应用中对因子进行标准化，并令因子载荷相互正交，即令  </a:t>
                </a:r>
                <a14:m>
                  <m:oMath xmlns:m="http://schemas.openxmlformats.org/officeDocument/2006/math">
                    <m:r>
                      <a:rPr lang="en-US" altLang="zh-CN" sz="1600" i="1" dirty="0" smtClean="0">
                        <a:latin typeface="Cambria Math" panose="02040503050406030204" pitchFamily="18" charset="0"/>
                      </a:rPr>
                      <m:t>𝐹</m:t>
                    </m:r>
                    <m:r>
                      <a:rPr lang="en-US" altLang="zh-CN" sz="1600" i="1" dirty="0" smtClean="0">
                        <a:latin typeface="Cambria Math" panose="02040503050406030204" pitchFamily="18" charset="0"/>
                      </a:rPr>
                      <m:t>′</m:t>
                    </m:r>
                    <m:r>
                      <a:rPr lang="en-US" altLang="zh-CN" sz="1600" i="1" dirty="0" smtClean="0">
                        <a:latin typeface="Cambria Math" panose="02040503050406030204" pitchFamily="18" charset="0"/>
                      </a:rPr>
                      <m:t>𝐹</m:t>
                    </m:r>
                    <m:r>
                      <a:rPr lang="en-US" altLang="zh-CN" sz="1600" i="1" dirty="0">
                        <a:latin typeface="Cambria Math" panose="02040503050406030204" pitchFamily="18" charset="0"/>
                      </a:rPr>
                      <m:t>/</m:t>
                    </m:r>
                    <m:r>
                      <a:rPr lang="en-US" altLang="zh-CN" sz="1600" i="1" dirty="0">
                        <a:latin typeface="Cambria Math" panose="02040503050406030204" pitchFamily="18" charset="0"/>
                      </a:rPr>
                      <m:t>𝑇</m:t>
                    </m:r>
                    <m:r>
                      <a:rPr lang="en-US" altLang="zh-CN" sz="1600" i="1" dirty="0">
                        <a:latin typeface="Cambria Math" panose="02040503050406030204" pitchFamily="18" charset="0"/>
                      </a:rPr>
                      <m:t>=</m:t>
                    </m:r>
                    <m:sSub>
                      <m:sSubPr>
                        <m:ctrlPr>
                          <a:rPr lang="en-US" altLang="zh-CN" sz="1600" i="1" dirty="0" err="1">
                            <a:latin typeface="Cambria Math" panose="02040503050406030204" pitchFamily="18" charset="0"/>
                          </a:rPr>
                        </m:ctrlPr>
                      </m:sSubPr>
                      <m:e>
                        <m:r>
                          <a:rPr lang="en-US" altLang="zh-CN" sz="1600" i="1" dirty="0" err="1">
                            <a:latin typeface="Cambria Math" panose="02040503050406030204" pitchFamily="18" charset="0"/>
                          </a:rPr>
                          <m:t>𝐼</m:t>
                        </m:r>
                      </m:e>
                      <m:sub>
                        <m:r>
                          <a:rPr lang="en-US" altLang="zh-CN" sz="1600" i="1" dirty="0" err="1">
                            <a:latin typeface="Cambria Math" panose="02040503050406030204" pitchFamily="18" charset="0"/>
                          </a:rPr>
                          <m:t>𝑟</m:t>
                        </m:r>
                      </m:sub>
                    </m:sSub>
                  </m:oMath>
                </a14:m>
                <a:r>
                  <a:rPr lang="zh-CN" altLang="en-US" sz="1600" dirty="0"/>
                  <a:t>，</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𝑀</m:t>
                        </m:r>
                      </m:e>
                      <m:sub>
                        <m:r>
                          <a:rPr lang="en-US" altLang="zh-CN" sz="1600" i="1" dirty="0" err="1">
                            <a:latin typeface="Cambria Math" panose="02040503050406030204" pitchFamily="18" charset="0"/>
                          </a:rPr>
                          <m:t>𝑐</m:t>
                        </m:r>
                      </m:sub>
                    </m:sSub>
                    <m:r>
                      <a:rPr lang="en-US" altLang="zh-CN" sz="1600" i="1" dirty="0" err="1">
                        <a:latin typeface="Cambria Math" panose="02040503050406030204" pitchFamily="18" charset="0"/>
                      </a:rPr>
                      <m:t>′</m:t>
                    </m:r>
                    <m:r>
                      <a:rPr lang="en-US" altLang="zh-CN" sz="1600" b="0" i="1" dirty="0" smtClean="0">
                        <a:latin typeface="Cambria Math" panose="02040503050406030204" pitchFamily="18" charset="0"/>
                      </a:rPr>
                      <m:t> </m:t>
                    </m:r>
                    <m:sSub>
                      <m:sSubPr>
                        <m:ctrlPr>
                          <a:rPr lang="en-US" altLang="zh-CN" sz="1600" i="1" dirty="0" err="1">
                            <a:latin typeface="Cambria Math" panose="02040503050406030204" pitchFamily="18" charset="0"/>
                          </a:rPr>
                        </m:ctrlPr>
                      </m:sSubPr>
                      <m:e>
                        <m:r>
                          <a:rPr lang="en-US" altLang="zh-CN" sz="1600" i="1" dirty="0" err="1">
                            <a:latin typeface="Cambria Math" panose="02040503050406030204" pitchFamily="18" charset="0"/>
                          </a:rPr>
                          <m:t>𝑀</m:t>
                        </m:r>
                      </m:e>
                      <m:sub>
                        <m:r>
                          <a:rPr lang="en-US" altLang="zh-CN" sz="1600" i="1" dirty="0" err="1">
                            <a:latin typeface="Cambria Math" panose="02040503050406030204" pitchFamily="18" charset="0"/>
                          </a:rPr>
                          <m:t>𝑐</m:t>
                        </m:r>
                      </m:sub>
                    </m:sSub>
                  </m:oMath>
                </a14:m>
                <a:r>
                  <a:rPr lang="zh-CN" altLang="en-US" sz="1600" dirty="0"/>
                  <a:t>是对角阵，其中，</a:t>
                </a:r>
                <a14:m>
                  <m:oMath xmlns:m="http://schemas.openxmlformats.org/officeDocument/2006/math">
                    <m:r>
                      <a:rPr lang="en-US" altLang="zh-CN" sz="1600" i="1" dirty="0" smtClean="0">
                        <a:latin typeface="Cambria Math" panose="02040503050406030204" pitchFamily="18" charset="0"/>
                      </a:rPr>
                      <m:t>𝐹</m:t>
                    </m:r>
                    <m:r>
                      <a:rPr lang="en-US" altLang="zh-CN" sz="1600" i="1" dirty="0" smtClean="0">
                        <a:latin typeface="Cambria Math" panose="02040503050406030204" pitchFamily="18" charset="0"/>
                      </a:rPr>
                      <m:t>=(</m:t>
                    </m:r>
                    <m:sSubSup>
                      <m:sSubSupPr>
                        <m:ctrlPr>
                          <a:rPr lang="en-US" altLang="zh-CN" sz="1600" i="1" dirty="0" smtClean="0">
                            <a:latin typeface="Cambria Math" panose="02040503050406030204" pitchFamily="18" charset="0"/>
                          </a:rPr>
                        </m:ctrlPr>
                      </m:sSubSupPr>
                      <m:e>
                        <m:r>
                          <a:rPr lang="en-US" altLang="zh-CN" sz="1600" i="1" dirty="0" smtClean="0">
                            <a:latin typeface="Cambria Math" panose="02040503050406030204" pitchFamily="18" charset="0"/>
                          </a:rPr>
                          <m:t>𝜆</m:t>
                        </m:r>
                      </m:e>
                      <m:sub>
                        <m:r>
                          <a:rPr lang="en-US" altLang="zh-CN" sz="1600" i="1" dirty="0" smtClean="0">
                            <a:latin typeface="Cambria Math" panose="02040503050406030204" pitchFamily="18" charset="0"/>
                          </a:rPr>
                          <m:t>1</m:t>
                        </m:r>
                      </m:sub>
                      <m:sup>
                        <m:r>
                          <a:rPr lang="en-US" altLang="zh-CN" sz="1600" i="1" dirty="0" smtClean="0">
                            <a:latin typeface="Cambria Math" panose="02040503050406030204" pitchFamily="18" charset="0"/>
                          </a:rPr>
                          <m:t>′</m:t>
                        </m:r>
                      </m:sup>
                    </m:sSubSup>
                    <m:r>
                      <a:rPr lang="en-US" altLang="zh-CN" sz="1600" i="1" dirty="0" smtClean="0">
                        <a:latin typeface="Cambria Math" panose="02040503050406030204" pitchFamily="18" charset="0"/>
                      </a:rPr>
                      <m:t>,…,</m:t>
                    </m:r>
                    <m:sSubSup>
                      <m:sSubSupPr>
                        <m:ctrlPr>
                          <a:rPr lang="en-US" altLang="zh-CN" sz="1600" i="1" dirty="0" smtClean="0">
                            <a:latin typeface="Cambria Math" panose="02040503050406030204" pitchFamily="18" charset="0"/>
                          </a:rPr>
                        </m:ctrlPr>
                      </m:sSubSupPr>
                      <m:e>
                        <m:r>
                          <a:rPr lang="en-US" altLang="zh-CN" sz="1600" i="1" dirty="0" smtClean="0">
                            <a:latin typeface="Cambria Math" panose="02040503050406030204" pitchFamily="18" charset="0"/>
                          </a:rPr>
                          <m:t>𝜆</m:t>
                        </m:r>
                      </m:e>
                      <m:sub>
                        <m:r>
                          <a:rPr lang="en-US" altLang="zh-CN" sz="1600" i="1" dirty="0" err="1" smtClean="0">
                            <a:latin typeface="Cambria Math" panose="02040503050406030204" pitchFamily="18" charset="0"/>
                          </a:rPr>
                          <m:t>𝑇</m:t>
                        </m:r>
                      </m:sub>
                      <m:sup>
                        <m:r>
                          <a:rPr lang="en-US" altLang="zh-CN" sz="1600" i="1" dirty="0" smtClean="0">
                            <a:latin typeface="Cambria Math" panose="02040503050406030204" pitchFamily="18" charset="0"/>
                          </a:rPr>
                          <m:t>′</m:t>
                        </m:r>
                      </m:sup>
                    </m:sSubSup>
                    <m:r>
                      <a:rPr lang="en-US" altLang="zh-CN" sz="1600" i="1" dirty="0" smtClean="0">
                        <a:latin typeface="Cambria Math" panose="02040503050406030204" pitchFamily="18" charset="0"/>
                      </a:rPr>
                      <m:t>)′</m:t>
                    </m:r>
                  </m:oMath>
                </a14:m>
                <a:r>
                  <a:rPr lang="en-US" altLang="zh-CN" sz="1600" dirty="0"/>
                  <a:t> </a:t>
                </a:r>
                <a:r>
                  <a:rPr lang="zh-CN" altLang="en-US" sz="1600" dirty="0"/>
                  <a:t>为</a:t>
                </a:r>
                <a14:m>
                  <m:oMath xmlns:m="http://schemas.openxmlformats.org/officeDocument/2006/math">
                    <m:r>
                      <a:rPr lang="en-US" altLang="zh-CN" sz="1600" i="1" dirty="0" smtClean="0">
                        <a:latin typeface="Cambria Math" panose="02040503050406030204" pitchFamily="18" charset="0"/>
                      </a:rPr>
                      <m:t>𝑇</m:t>
                    </m:r>
                    <m:r>
                      <a:rPr lang="en-US" altLang="zh-CN" sz="1600" i="1" dirty="0" smtClean="0">
                        <a:latin typeface="Cambria Math" panose="02040503050406030204" pitchFamily="18" charset="0"/>
                      </a:rPr>
                      <m:t>× </m:t>
                    </m:r>
                    <m:r>
                      <a:rPr lang="en-US" altLang="zh-CN" sz="1600" i="1" dirty="0">
                        <a:latin typeface="Cambria Math" panose="02040503050406030204" pitchFamily="18" charset="0"/>
                      </a:rPr>
                      <m:t>𝑟</m:t>
                    </m:r>
                    <m:r>
                      <a:rPr lang="en-US" altLang="zh-CN" sz="1600" b="0" i="1" dirty="0" smtClean="0">
                        <a:latin typeface="Cambria Math" panose="02040503050406030204" pitchFamily="18" charset="0"/>
                      </a:rPr>
                      <m:t> </m:t>
                    </m:r>
                  </m:oMath>
                </a14:m>
                <a:r>
                  <a:rPr lang="zh-CN" altLang="en-US" sz="1600" dirty="0"/>
                  <a:t>的因子矩阵，</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𝑀</m:t>
                        </m:r>
                      </m:e>
                      <m:sub>
                        <m:r>
                          <a:rPr lang="en-US" altLang="zh-CN" sz="1600" i="1" dirty="0" smtClean="0">
                            <a:latin typeface="Cambria Math" panose="02040503050406030204" pitchFamily="18" charset="0"/>
                          </a:rPr>
                          <m:t>𝑐</m:t>
                        </m:r>
                      </m:sub>
                    </m:sSub>
                    <m:r>
                      <a:rPr lang="en-US" altLang="zh-CN" sz="1600" i="1" dirty="0">
                        <a:latin typeface="Cambria Math" panose="02040503050406030204" pitchFamily="18" charset="0"/>
                      </a:rPr>
                      <m:t>=(</m:t>
                    </m:r>
                    <m:sSubSup>
                      <m:sSubSupPr>
                        <m:ctrlPr>
                          <a:rPr lang="en-US" altLang="zh-CN" sz="1600" i="1" dirty="0" smtClean="0">
                            <a:latin typeface="Cambria Math" panose="02040503050406030204" pitchFamily="18" charset="0"/>
                          </a:rPr>
                        </m:ctrlPr>
                      </m:sSubSupPr>
                      <m:e>
                        <m:r>
                          <a:rPr lang="en-US" altLang="zh-CN" sz="1600" i="1" dirty="0" smtClean="0">
                            <a:latin typeface="Cambria Math" panose="02040503050406030204" pitchFamily="18" charset="0"/>
                          </a:rPr>
                          <m:t>𝜇</m:t>
                        </m:r>
                      </m:e>
                      <m:sub>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𝑁</m:t>
                            </m:r>
                          </m:e>
                          <m:sub>
                            <m:r>
                              <a:rPr lang="en-US" altLang="zh-CN" sz="1600" i="1" dirty="0">
                                <a:latin typeface="Cambria Math" panose="02040503050406030204" pitchFamily="18" charset="0"/>
                              </a:rPr>
                              <m:t>𝑡</m:t>
                            </m:r>
                            <m:r>
                              <a:rPr lang="en-US" altLang="zh-CN" sz="1600" i="1" dirty="0">
                                <a:latin typeface="Cambria Math" panose="02040503050406030204" pitchFamily="18" charset="0"/>
                              </a:rPr>
                              <m:t>+1</m:t>
                            </m:r>
                          </m:sub>
                        </m:sSub>
                      </m:sub>
                      <m:sup>
                        <m:r>
                          <a:rPr lang="en-US" altLang="zh-CN" sz="1600" i="1" dirty="0">
                            <a:latin typeface="Cambria Math" panose="02040503050406030204" pitchFamily="18" charset="0"/>
                          </a:rPr>
                          <m:t>′</m:t>
                        </m:r>
                      </m:sup>
                    </m:sSubSup>
                    <m:r>
                      <a:rPr lang="en-US" altLang="zh-CN" sz="1600" i="1" dirty="0">
                        <a:latin typeface="Cambria Math" panose="02040503050406030204" pitchFamily="18" charset="0"/>
                      </a:rPr>
                      <m:t>,</m:t>
                    </m:r>
                    <m:r>
                      <a:rPr lang="en-US" altLang="zh-CN" sz="1600" i="1" dirty="0" smtClean="0">
                        <a:latin typeface="Cambria Math" panose="02040503050406030204" pitchFamily="18" charset="0"/>
                      </a:rPr>
                      <m:t>…</m:t>
                    </m:r>
                    <m:r>
                      <a:rPr lang="en-US" altLang="zh-CN" sz="1600" i="1" dirty="0">
                        <a:latin typeface="Cambria Math" panose="02040503050406030204" pitchFamily="18" charset="0"/>
                      </a:rPr>
                      <m:t>,</m:t>
                    </m:r>
                    <m:sSubSup>
                      <m:sSubSupPr>
                        <m:ctrlPr>
                          <a:rPr lang="en-US" altLang="zh-CN" sz="1600" i="1" dirty="0" smtClean="0">
                            <a:latin typeface="Cambria Math" panose="02040503050406030204" pitchFamily="18" charset="0"/>
                          </a:rPr>
                        </m:ctrlPr>
                      </m:sSubSupPr>
                      <m:e>
                        <m:r>
                          <a:rPr lang="en-US" altLang="zh-CN" sz="1600" i="1" dirty="0" smtClean="0">
                            <a:latin typeface="Cambria Math" panose="02040503050406030204" pitchFamily="18" charset="0"/>
                          </a:rPr>
                          <m:t>𝜇</m:t>
                        </m:r>
                      </m:e>
                      <m:sub>
                        <m:r>
                          <a:rPr lang="en-US" altLang="zh-CN" sz="1600" i="1" dirty="0">
                            <a:latin typeface="Cambria Math" panose="02040503050406030204" pitchFamily="18" charset="0"/>
                          </a:rPr>
                          <m:t>𝑁</m:t>
                        </m:r>
                      </m:sub>
                      <m:sup>
                        <m:r>
                          <a:rPr lang="en-US" altLang="zh-CN" sz="1600" i="1" dirty="0" smtClean="0">
                            <a:latin typeface="Cambria Math" panose="02040503050406030204" pitchFamily="18" charset="0"/>
                          </a:rPr>
                          <m:t>′</m:t>
                        </m:r>
                      </m:sup>
                    </m:sSubSup>
                    <m:r>
                      <a:rPr lang="en-US" altLang="zh-CN" sz="1600" i="1" dirty="0">
                        <a:latin typeface="Cambria Math" panose="02040503050406030204" pitchFamily="18" charset="0"/>
                      </a:rPr>
                      <m:t>)′</m:t>
                    </m:r>
                  </m:oMath>
                </a14:m>
                <a:r>
                  <a:rPr lang="en-US" altLang="zh-CN" sz="1600" dirty="0"/>
                  <a:t>$</a:t>
                </a:r>
                <a:r>
                  <a:rPr lang="zh-CN" altLang="en-US" sz="1600" dirty="0"/>
                  <a:t>为控制组的因子载荷矩阵，为</a:t>
                </a:r>
                <a:r>
                  <a:rPr lang="en-US" altLang="zh-CN" sz="1600" dirty="0"/>
                  <a:t> </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𝑁</m:t>
                        </m:r>
                      </m:e>
                      <m:sub>
                        <m:r>
                          <a:rPr lang="en-US" altLang="zh-CN" sz="1600" i="1" dirty="0" smtClean="0">
                            <a:latin typeface="Cambria Math" panose="02040503050406030204" pitchFamily="18" charset="0"/>
                          </a:rPr>
                          <m:t>𝑐</m:t>
                        </m:r>
                      </m:sub>
                    </m:sSub>
                    <m:r>
                      <a:rPr lang="en-US" altLang="zh-CN" sz="1600" i="1" dirty="0" smtClean="0">
                        <a:latin typeface="Cambria Math" panose="02040503050406030204" pitchFamily="18" charset="0"/>
                      </a:rPr>
                      <m:t>×</m:t>
                    </m:r>
                    <m:r>
                      <a:rPr lang="en-US" altLang="zh-CN" sz="1600" i="1" dirty="0">
                        <a:latin typeface="Cambria Math" panose="02040503050406030204" pitchFamily="18" charset="0"/>
                      </a:rPr>
                      <m:t> </m:t>
                    </m:r>
                    <m:r>
                      <a:rPr lang="en-US" altLang="zh-CN" sz="1600" i="1" dirty="0">
                        <a:latin typeface="Cambria Math" panose="02040503050406030204" pitchFamily="18" charset="0"/>
                      </a:rPr>
                      <m:t>𝑟</m:t>
                    </m:r>
                  </m:oMath>
                </a14:m>
                <a:r>
                  <a:rPr lang="zh-CN" altLang="en-US" sz="1600" dirty="0"/>
                  <a:t>。</a:t>
                </a:r>
              </a:p>
            </p:txBody>
          </p:sp>
        </mc:Choice>
        <mc:Fallback xmlns="">
          <p:sp>
            <p:nvSpPr>
              <p:cNvPr id="3" name="内容占位符 2">
                <a:extLst>
                  <a:ext uri="{FF2B5EF4-FFF2-40B4-BE49-F238E27FC236}">
                    <a16:creationId xmlns:a16="http://schemas.microsoft.com/office/drawing/2014/main" id="{12AD15B9-669E-77FE-285F-FC15F0B08B89}"/>
                  </a:ext>
                </a:extLst>
              </p:cNvPr>
              <p:cNvSpPr>
                <a:spLocks noGrp="1" noRot="1" noChangeAspect="1" noMove="1" noResize="1" noEditPoints="1" noAdjustHandles="1" noChangeArrowheads="1" noChangeShapeType="1" noTextEdit="1"/>
              </p:cNvSpPr>
              <p:nvPr>
                <p:ph idx="1"/>
              </p:nvPr>
            </p:nvSpPr>
            <p:spPr>
              <a:blipFill>
                <a:blip r:embed="rId2"/>
                <a:stretch>
                  <a:fillRect l="-309" t="-420" r="-77" b="-322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9BA087E-4C64-A649-966C-88D393DD4F6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E52470E-8B86-FE27-ABF1-8CAAE829F522}"/>
              </a:ext>
            </a:extLst>
          </p:cNvPr>
          <p:cNvSpPr>
            <a:spLocks noGrp="1"/>
          </p:cNvSpPr>
          <p:nvPr>
            <p:ph type="sldNum" sz="quarter" idx="12"/>
          </p:nvPr>
        </p:nvSpPr>
        <p:spPr/>
        <p:txBody>
          <a:bodyPr/>
          <a:lstStyle/>
          <a:p>
            <a:fld id="{D41FC515-8169-4A29-AA56-DBE520D5741B}" type="slidenum">
              <a:rPr lang="zh-CN" altLang="en-US" smtClean="0"/>
              <a:t>34</a:t>
            </a:fld>
            <a:endParaRPr lang="zh-CN" altLang="en-US"/>
          </a:p>
        </p:txBody>
      </p:sp>
    </p:spTree>
    <p:extLst>
      <p:ext uri="{BB962C8B-B14F-4D97-AF65-F5344CB8AC3E}">
        <p14:creationId xmlns:p14="http://schemas.microsoft.com/office/powerpoint/2010/main" val="32885190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92AEAB-2FD6-5E23-CFE1-AF8A4D005A22}"/>
              </a:ext>
            </a:extLst>
          </p:cNvPr>
          <p:cNvSpPr>
            <a:spLocks noGrp="1"/>
          </p:cNvSpPr>
          <p:nvPr>
            <p:ph type="title"/>
          </p:nvPr>
        </p:nvSpPr>
        <p:spPr/>
        <p:txBody>
          <a:bodyPr/>
          <a:lstStyle/>
          <a:p>
            <a:r>
              <a:rPr lang="zh-CN" altLang="en-US" dirty="0"/>
              <a:t>广义合成控制法</a:t>
            </a:r>
            <a:br>
              <a:rPr lang="zh-CN" altLang="en-US" dirty="0"/>
            </a:br>
            <a:r>
              <a:rPr lang="zh-CN" altLang="en-US" sz="2400" dirty="0"/>
              <a:t>估计方法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CEB52B3-9C9E-FEAE-59F4-5D649770A3B8}"/>
                  </a:ext>
                </a:extLst>
              </p:cNvPr>
              <p:cNvSpPr>
                <a:spLocks noGrp="1"/>
              </p:cNvSpPr>
              <p:nvPr>
                <p:ph idx="1"/>
              </p:nvPr>
            </p:nvSpPr>
            <p:spPr/>
            <p:txBody>
              <a:bodyPr>
                <a:noAutofit/>
              </a:bodyPr>
              <a:lstStyle/>
              <a:p>
                <a:r>
                  <a:rPr lang="zh-CN" altLang="en-US" sz="1600" dirty="0"/>
                  <a:t>根据</a:t>
                </a:r>
                <a:r>
                  <a:rPr lang="en-US" altLang="zh-CN" sz="1600" dirty="0"/>
                  <a:t>Bai (2009)</a:t>
                </a:r>
                <a:r>
                  <a:rPr lang="zh-CN" altLang="en-US" sz="1600" dirty="0"/>
                  <a:t>，构造下列估计步骤：</a:t>
                </a:r>
                <a:endParaRPr lang="en-US" altLang="zh-CN" sz="1600" dirty="0"/>
              </a:p>
              <a:p>
                <a:pPr lvl="1"/>
                <a:r>
                  <a:rPr lang="zh-CN" altLang="en-US" sz="1600" dirty="0"/>
                  <a:t>利用控制组数据估计系数、因子和控制组因子载荷</a:t>
                </a:r>
                <a:r>
                  <a:rPr lang="en-US" altLang="zh-CN" sz="1600" dirty="0"/>
                  <a:t>(</a:t>
                </a:r>
                <a:r>
                  <a:rPr lang="zh-CN" altLang="en-US" sz="1600" dirty="0"/>
                  <a:t>𝛽</a:t>
                </a:r>
                <a:r>
                  <a:rPr lang="en-US" altLang="zh-CN" sz="1600" dirty="0"/>
                  <a:t>, </a:t>
                </a:r>
                <a:r>
                  <a:rPr lang="zh-CN" altLang="en-US" sz="1600" dirty="0"/>
                  <a:t>𝐹 </a:t>
                </a:r>
                <a:r>
                  <a:rPr lang="en-US" altLang="zh-CN" sz="1600" dirty="0"/>
                  <a:t>, </a:t>
                </a:r>
                <a:r>
                  <a:rPr lang="zh-CN" altLang="en-US" sz="1600" dirty="0"/>
                  <a:t>𝑀𝑐</a:t>
                </a:r>
                <a:r>
                  <a:rPr lang="en-US" altLang="zh-CN" sz="1600" dirty="0"/>
                  <a:t>)</a:t>
                </a:r>
                <a:r>
                  <a:rPr lang="zh-CN" altLang="en-US" sz="1600" dirty="0"/>
                  <a:t>：</a:t>
                </a:r>
                <a:endParaRPr lang="en-US" altLang="zh-CN" sz="1600" dirty="0"/>
              </a:p>
              <a:p>
                <a:pPr marL="457200" lvl="1" indent="0">
                  <a:buNone/>
                </a:pPr>
                <a14:m>
                  <m:oMathPara xmlns:m="http://schemas.openxmlformats.org/officeDocument/2006/math">
                    <m:oMath>
                      <m:eqArr>
                        <m:eqArrPr>
                          <m:ctrlPr>
                            <a:rPr lang="zh-CN" altLang="en-US" sz="1600" i="1" smtClean="0">
                              <a:latin typeface="Cambria Math" panose="02040503050406030204" pitchFamily="18" charset="0"/>
                            </a:rPr>
                          </m:ctrlPr>
                        </m:eqArrPr>
                        <m:e>
                          <m:r>
                            <m:rPr>
                              <m:aln/>
                            </m:rPr>
                            <a:rPr lang="zh-CN" altLang="en-US" sz="1600" i="1" smtClean="0">
                              <a:latin typeface="Cambria Math" panose="02040503050406030204" pitchFamily="18" charset="0"/>
                            </a:rPr>
                            <m:t>&amp;</m:t>
                          </m:r>
                          <m:d>
                            <m:dPr>
                              <m:ctrlPr>
                                <a:rPr lang="zh-CN" altLang="en-US" sz="1600" i="1" smtClean="0">
                                  <a:latin typeface="Cambria Math" panose="02040503050406030204" pitchFamily="18" charset="0"/>
                                </a:rPr>
                              </m:ctrlPr>
                            </m:d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𝛽</m:t>
                                  </m:r>
                                </m:e>
                              </m:acc>
                              <m:r>
                                <a:rPr lang="zh-CN" altLang="en-US" sz="1600" i="1" smtClean="0">
                                  <a:latin typeface="Cambria Math" panose="02040503050406030204" pitchFamily="18" charset="0"/>
                                </a:rPr>
                                <m:t>,</m:t>
                              </m:r>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𝐹</m:t>
                                  </m:r>
                                </m:e>
                              </m:acc>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𝑀</m:t>
                                      </m:r>
                                    </m:e>
                                  </m:acc>
                                </m:e>
                                <m:sub>
                                  <m:r>
                                    <a:rPr lang="zh-CN" altLang="en-US" sz="1600" i="1" smtClean="0">
                                      <a:latin typeface="Cambria Math" panose="02040503050406030204" pitchFamily="18" charset="0"/>
                                    </a:rPr>
                                    <m:t>𝑐</m:t>
                                  </m:r>
                                </m:sub>
                              </m:sSub>
                            </m:e>
                          </m:d>
                          <m:r>
                            <a:rPr lang="zh-CN" altLang="en-US" sz="1600" i="1" smtClean="0">
                              <a:latin typeface="Cambria Math" panose="02040503050406030204" pitchFamily="18" charset="0"/>
                            </a:rPr>
                            <m:t>=</m:t>
                          </m:r>
                          <m:limLow>
                            <m:limLowPr>
                              <m:ctrlPr>
                                <a:rPr lang="zh-CN" altLang="en-US" sz="1600" i="1" smtClean="0">
                                  <a:latin typeface="Cambria Math" panose="02040503050406030204" pitchFamily="18" charset="0"/>
                                </a:rPr>
                              </m:ctrlPr>
                            </m:limLowPr>
                            <m:e>
                              <m:func>
                                <m:funcPr>
                                  <m:ctrlPr>
                                    <a:rPr lang="zh-CN" altLang="en-US" sz="1600" i="1" smtClean="0">
                                      <a:latin typeface="Cambria Math" panose="02040503050406030204" pitchFamily="18" charset="0"/>
                                    </a:rPr>
                                  </m:ctrlPr>
                                </m:funcPr>
                                <m:fName>
                                  <m:r>
                                    <m:rPr>
                                      <m:sty m:val="p"/>
                                    </m:rPr>
                                    <a:rPr lang="zh-CN" altLang="en-US" sz="1600" i="1" smtClean="0">
                                      <a:latin typeface="Cambria Math" panose="02040503050406030204" pitchFamily="18" charset="0"/>
                                    </a:rPr>
                                    <m:t>arg</m:t>
                                  </m:r>
                                </m:fName>
                                <m:e>
                                  <m:r>
                                    <a:rPr lang="zh-CN" altLang="en-US" sz="1600" i="1" smtClean="0">
                                      <a:latin typeface="Cambria Math" panose="02040503050406030204" pitchFamily="18" charset="0"/>
                                    </a:rPr>
                                    <m:t>​</m:t>
                                  </m:r>
                                </m:e>
                              </m:func>
                              <m:r>
                                <m:rPr>
                                  <m:sty m:val="p"/>
                                </m:rPr>
                                <a:rPr lang="zh-CN" altLang="en-US" sz="1600" i="1" smtClean="0">
                                  <a:latin typeface="Cambria Math" panose="02040503050406030204" pitchFamily="18" charset="0"/>
                                </a:rPr>
                                <m:t>min</m:t>
                              </m:r>
                            </m:e>
                            <m:lim>
                              <m:r>
                                <a:rPr lang="zh-CN" altLang="en-US" sz="1600" i="1" smtClean="0">
                                  <a:latin typeface="Cambria Math" panose="02040503050406030204" pitchFamily="18" charset="0"/>
                                </a:rPr>
                                <m:t>𝛽</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𝐹</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𝑀</m:t>
                                  </m:r>
                                </m:e>
                                <m:sub>
                                  <m:r>
                                    <a:rPr lang="zh-CN" altLang="en-US" sz="1600" i="1" smtClean="0">
                                      <a:latin typeface="Cambria Math" panose="02040503050406030204" pitchFamily="18" charset="0"/>
                                    </a:rPr>
                                    <m:t>𝑐</m:t>
                                  </m:r>
                                </m:sub>
                              </m:sSub>
                            </m:lim>
                          </m:limLow>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𝒞</m:t>
                              </m:r>
                            </m:sub>
                            <m:sup/>
                            <m:e>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𝛽</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𝐹</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𝜇</m:t>
                                      </m:r>
                                    </m:e>
                                    <m:sub>
                                      <m:r>
                                        <a:rPr lang="zh-CN" altLang="en-US" sz="1600" i="1" smtClean="0">
                                          <a:latin typeface="Cambria Math" panose="02040503050406030204" pitchFamily="18" charset="0"/>
                                        </a:rPr>
                                        <m:t>𝑖</m:t>
                                      </m:r>
                                    </m:sub>
                                  </m:sSub>
                                </m:e>
                              </m:d>
                            </m:e>
                          </m:nary>
                          <m:r>
                            <a:rPr lang="zh-CN" altLang="en-US" sz="1600" i="1" smtClean="0">
                              <a:latin typeface="Cambria Math" panose="02040503050406030204" pitchFamily="18" charset="0"/>
                            </a:rPr>
                            <m:t>′</m:t>
                          </m:r>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𝛽</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𝐹</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𝜇</m:t>
                                  </m:r>
                                </m:e>
                                <m:sub>
                                  <m:r>
                                    <a:rPr lang="zh-CN" altLang="en-US" sz="1600" i="1" smtClean="0">
                                      <a:latin typeface="Cambria Math" panose="02040503050406030204" pitchFamily="18" charset="0"/>
                                    </a:rPr>
                                    <m:t>𝑖</m:t>
                                  </m:r>
                                </m:sub>
                              </m:sSub>
                            </m:e>
                          </m:d>
                          <m:r>
                            <a:rPr lang="zh-CN" altLang="en-US" sz="1600" i="1" smtClean="0">
                              <a:latin typeface="Cambria Math" panose="02040503050406030204" pitchFamily="18" charset="0"/>
                            </a:rPr>
                            <m:t>,</m:t>
                          </m:r>
                        </m:e>
                        <m:e>
                          <m:r>
                            <m:rPr>
                              <m:aln/>
                            </m:rPr>
                            <a:rPr lang="zh-CN" altLang="en-US" sz="1600" i="1" smtClean="0">
                              <a:latin typeface="Cambria Math" panose="02040503050406030204" pitchFamily="18" charset="0"/>
                            </a:rPr>
                            <m:t>&amp;</m:t>
                          </m:r>
                          <m:r>
                            <m:rPr>
                              <m:nor/>
                            </m:rPr>
                            <a:rPr lang="zh-CN" altLang="en-US" sz="1600" i="0" smtClean="0">
                              <a:latin typeface="Cambria Math" panose="02040503050406030204" pitchFamily="18" charset="0"/>
                            </a:rPr>
                            <m:t>s.t. </m:t>
                          </m:r>
                          <m:r>
                            <a:rPr lang="zh-CN" altLang="en-US" sz="1600" i="1" smtClean="0">
                              <a:latin typeface="Cambria Math" panose="02040503050406030204" pitchFamily="18" charset="0"/>
                            </a:rPr>
                            <m:t>𝐹</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𝐹</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𝑇</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𝐼</m:t>
                              </m:r>
                            </m:e>
                            <m:sub>
                              <m:r>
                                <a:rPr lang="zh-CN" altLang="en-US" sz="1600" i="1" smtClean="0">
                                  <a:latin typeface="Cambria Math" panose="02040503050406030204" pitchFamily="18" charset="0"/>
                                </a:rPr>
                                <m:t>𝑟</m:t>
                              </m:r>
                            </m:sub>
                          </m:sSub>
                          <m:r>
                            <a:rPr lang="zh-CN" altLang="en-US" sz="1600" i="1" smtClean="0">
                              <a:latin typeface="Cambria Math" panose="02040503050406030204" pitchFamily="18" charset="0"/>
                            </a:rPr>
                            <m:t>,</m:t>
                          </m:r>
                          <m:r>
                            <m:rPr>
                              <m:nor/>
                            </m:rPr>
                            <a:rPr lang="zh-CN" altLang="en-US" sz="1600" i="0" smtClean="0">
                              <a:latin typeface="Cambria Math" panose="02040503050406030204" pitchFamily="18" charset="0"/>
                            </a:rPr>
                            <m:t> 且 </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𝑀</m:t>
                              </m:r>
                            </m:e>
                            <m:sub>
                              <m:r>
                                <a:rPr lang="zh-CN" altLang="en-US" sz="1600" i="1" smtClean="0">
                                  <a:latin typeface="Cambria Math" panose="02040503050406030204" pitchFamily="18" charset="0"/>
                                </a:rPr>
                                <m:t>𝑐</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𝑀</m:t>
                              </m:r>
                            </m:e>
                            <m:sub>
                              <m:r>
                                <a:rPr lang="zh-CN" altLang="en-US" sz="1600" i="1" smtClean="0">
                                  <a:latin typeface="Cambria Math" panose="02040503050406030204" pitchFamily="18" charset="0"/>
                                </a:rPr>
                                <m:t>𝑐</m:t>
                              </m:r>
                            </m:sub>
                          </m:sSub>
                          <m:r>
                            <a:rPr lang="zh-CN" altLang="en-US" sz="1600" i="1" smtClean="0">
                              <a:latin typeface="Cambria Math" panose="02040503050406030204" pitchFamily="18" charset="0"/>
                            </a:rPr>
                            <m:t>=</m:t>
                          </m:r>
                          <m:r>
                            <m:rPr>
                              <m:nor/>
                            </m:rPr>
                            <a:rPr lang="zh-CN" altLang="en-US" sz="1600" i="0" smtClean="0">
                              <a:latin typeface="Cambria Math" panose="02040503050406030204" pitchFamily="18" charset="0"/>
                            </a:rPr>
                            <m:t>对角阵</m:t>
                          </m:r>
                          <m:r>
                            <a:rPr lang="zh-CN" altLang="en-US" sz="1600" i="1" smtClean="0">
                              <a:latin typeface="Cambria Math" panose="02040503050406030204" pitchFamily="18" charset="0"/>
                            </a:rPr>
                            <m:t>.</m:t>
                          </m:r>
                        </m:e>
                      </m:eqArr>
                    </m:oMath>
                  </m:oMathPara>
                </a14:m>
                <a:endParaRPr lang="en-US" altLang="zh-CN" sz="1600" dirty="0"/>
              </a:p>
              <a:p>
                <a:pPr lvl="1"/>
                <a:r>
                  <a:rPr lang="zh-CN" altLang="en-US" sz="1600" dirty="0"/>
                  <a:t>利用干预组干预前数据估计干预组因子载荷：</a:t>
                </a:r>
                <a:endParaRPr lang="en-US" altLang="zh-CN" sz="1600" dirty="0"/>
              </a:p>
              <a:p>
                <a:pPr marL="457200" lvl="1" indent="0">
                  <a:buNone/>
                </a:pPr>
                <a14:m>
                  <m:oMathPara xmlns:m="http://schemas.openxmlformats.org/officeDocument/2006/math">
                    <m:oMath>
                      <m:eqArr>
                        <m:eqArrPr>
                          <m:ctrlPr>
                            <a:rPr lang="zh-CN" altLang="en-US" sz="1600" i="1" smtClean="0">
                              <a:latin typeface="Cambria Math" panose="02040503050406030204" pitchFamily="18" charset="0"/>
                            </a:rPr>
                          </m:ctrlPr>
                        </m:eqArrPr>
                        <m:e>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𝜇</m:t>
                                  </m:r>
                                </m:e>
                              </m:acc>
                            </m:e>
                            <m:sub>
                              <m:r>
                                <a:rPr lang="zh-CN" altLang="en-US" sz="1600" i="1" smtClean="0">
                                  <a:latin typeface="Cambria Math" panose="02040503050406030204" pitchFamily="18" charset="0"/>
                                </a:rPr>
                                <m:t>𝑖</m:t>
                              </m:r>
                            </m:sub>
                          </m:sSub>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limLow>
                            <m:limLowPr>
                              <m:ctrlPr>
                                <a:rPr lang="zh-CN" altLang="en-US" sz="1600" i="1" smtClean="0">
                                  <a:latin typeface="Cambria Math" panose="02040503050406030204" pitchFamily="18" charset="0"/>
                                </a:rPr>
                              </m:ctrlPr>
                            </m:limLowPr>
                            <m:e>
                              <m:func>
                                <m:funcPr>
                                  <m:ctrlPr>
                                    <a:rPr lang="zh-CN" altLang="en-US" sz="1600" i="1" smtClean="0">
                                      <a:latin typeface="Cambria Math" panose="02040503050406030204" pitchFamily="18" charset="0"/>
                                    </a:rPr>
                                  </m:ctrlPr>
                                </m:funcPr>
                                <m:fName>
                                  <m:r>
                                    <m:rPr>
                                      <m:sty m:val="p"/>
                                    </m:rPr>
                                    <a:rPr lang="zh-CN" altLang="en-US" sz="1600" i="1" smtClean="0">
                                      <a:latin typeface="Cambria Math" panose="02040503050406030204" pitchFamily="18" charset="0"/>
                                    </a:rPr>
                                    <m:t>arg</m:t>
                                  </m:r>
                                </m:fName>
                                <m:e>
                                  <m:r>
                                    <a:rPr lang="zh-CN" altLang="en-US" sz="1600" i="1" smtClean="0">
                                      <a:latin typeface="Cambria Math" panose="02040503050406030204" pitchFamily="18" charset="0"/>
                                    </a:rPr>
                                    <m:t>​</m:t>
                                  </m:r>
                                </m:e>
                              </m:func>
                              <m:r>
                                <m:rPr>
                                  <m:sty m:val="p"/>
                                </m:rPr>
                                <a:rPr lang="zh-CN" altLang="en-US" sz="1600" i="1" smtClean="0">
                                  <a:latin typeface="Cambria Math" panose="02040503050406030204" pitchFamily="18" charset="0"/>
                                </a:rPr>
                                <m:t>min</m:t>
                              </m:r>
                            </m:e>
                            <m:lim>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𝜇</m:t>
                                  </m:r>
                                </m:e>
                                <m:sub>
                                  <m:r>
                                    <a:rPr lang="zh-CN" altLang="en-US" sz="1600" i="1" smtClean="0">
                                      <a:latin typeface="Cambria Math" panose="02040503050406030204" pitchFamily="18" charset="0"/>
                                    </a:rPr>
                                    <m:t>𝑖</m:t>
                                  </m:r>
                                </m:sub>
                              </m:sSub>
                            </m:lim>
                          </m:limLow>
                          <m:d>
                            <m:dPr>
                              <m:ctrlPr>
                                <a:rPr lang="zh-CN" altLang="en-US" sz="1600" i="1" smtClean="0">
                                  <a:latin typeface="Cambria Math" panose="02040503050406030204" pitchFamily="18" charset="0"/>
                                </a:rPr>
                              </m:ctrlPr>
                            </m:dPr>
                            <m:e>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sub>
                                <m:sup>
                                  <m:r>
                                    <a:rPr lang="zh-CN" altLang="en-US" sz="1600" i="1" smtClean="0">
                                      <a:latin typeface="Cambria Math" panose="02040503050406030204" pitchFamily="18" charset="0"/>
                                    </a:rPr>
                                    <m:t>0</m:t>
                                  </m:r>
                                </m:sup>
                              </m:sSubSup>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up>
                                  <m:r>
                                    <a:rPr lang="zh-CN" altLang="en-US" sz="1600" i="1" smtClean="0">
                                      <a:latin typeface="Cambria Math" panose="02040503050406030204" pitchFamily="18" charset="0"/>
                                    </a:rPr>
                                    <m:t>0</m:t>
                                  </m:r>
                                </m:sup>
                              </m:sSubSup>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𝛽</m:t>
                                  </m:r>
                                </m:e>
                              </m:acc>
                              <m:r>
                                <a:rPr lang="zh-CN" altLang="en-US" sz="1600" i="1" smtClean="0">
                                  <a:latin typeface="Cambria Math" panose="02040503050406030204" pitchFamily="18" charset="0"/>
                                </a:rPr>
                                <m:t>−</m:t>
                              </m:r>
                              <m:sSup>
                                <m:sSupPr>
                                  <m:ctrlPr>
                                    <a:rPr lang="zh-CN" altLang="en-US" sz="1600" i="1" smtClean="0">
                                      <a:latin typeface="Cambria Math" panose="02040503050406030204" pitchFamily="18" charset="0"/>
                                    </a:rPr>
                                  </m:ctrlPr>
                                </m:sSup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𝐹</m:t>
                                      </m:r>
                                    </m:e>
                                  </m:acc>
                                </m:e>
                                <m:sup>
                                  <m:r>
                                    <a:rPr lang="zh-CN" altLang="en-US" sz="1600" i="1" smtClean="0">
                                      <a:latin typeface="Cambria Math" panose="02040503050406030204" pitchFamily="18" charset="0"/>
                                    </a:rPr>
                                    <m:t>0</m:t>
                                  </m:r>
                                </m:sup>
                              </m:sSup>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𝜇</m:t>
                                  </m:r>
                                </m:e>
                                <m:sub>
                                  <m:r>
                                    <a:rPr lang="zh-CN" altLang="en-US" sz="1600" i="1" smtClean="0">
                                      <a:latin typeface="Cambria Math" panose="02040503050406030204" pitchFamily="18" charset="0"/>
                                    </a:rPr>
                                    <m:t>𝑖</m:t>
                                  </m:r>
                                </m:sub>
                              </m:sSub>
                            </m:e>
                          </m:d>
                          <m:r>
                            <a:rPr lang="zh-CN" altLang="en-US" sz="1600" i="1" smtClean="0">
                              <a:latin typeface="Cambria Math" panose="02040503050406030204" pitchFamily="18" charset="0"/>
                            </a:rPr>
                            <m:t>′</m:t>
                          </m:r>
                          <m:d>
                            <m:dPr>
                              <m:ctrlPr>
                                <a:rPr lang="zh-CN" altLang="en-US" sz="1600" i="1" smtClean="0">
                                  <a:latin typeface="Cambria Math" panose="02040503050406030204" pitchFamily="18" charset="0"/>
                                </a:rPr>
                              </m:ctrlPr>
                            </m:dPr>
                            <m:e>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sub>
                                <m:sup>
                                  <m:r>
                                    <a:rPr lang="zh-CN" altLang="en-US" sz="1600" i="1" smtClean="0">
                                      <a:latin typeface="Cambria Math" panose="02040503050406030204" pitchFamily="18" charset="0"/>
                                    </a:rPr>
                                    <m:t>0</m:t>
                                  </m:r>
                                </m:sup>
                              </m:sSubSup>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up>
                                  <m:r>
                                    <a:rPr lang="zh-CN" altLang="en-US" sz="1600" i="1" smtClean="0">
                                      <a:latin typeface="Cambria Math" panose="02040503050406030204" pitchFamily="18" charset="0"/>
                                    </a:rPr>
                                    <m:t>0</m:t>
                                  </m:r>
                                </m:sup>
                              </m:sSubSup>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𝛽</m:t>
                                  </m:r>
                                </m:e>
                              </m:acc>
                              <m:r>
                                <a:rPr lang="zh-CN" altLang="en-US" sz="1600" i="1" smtClean="0">
                                  <a:latin typeface="Cambria Math" panose="02040503050406030204" pitchFamily="18" charset="0"/>
                                </a:rPr>
                                <m:t>−</m:t>
                              </m:r>
                              <m:sSup>
                                <m:sSupPr>
                                  <m:ctrlPr>
                                    <a:rPr lang="zh-CN" altLang="en-US" sz="1600" i="1" smtClean="0">
                                      <a:latin typeface="Cambria Math" panose="02040503050406030204" pitchFamily="18" charset="0"/>
                                    </a:rPr>
                                  </m:ctrlPr>
                                </m:sSup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𝐹</m:t>
                                      </m:r>
                                    </m:e>
                                  </m:acc>
                                </m:e>
                                <m:sup>
                                  <m:r>
                                    <a:rPr lang="zh-CN" altLang="en-US" sz="1600" i="1" smtClean="0">
                                      <a:latin typeface="Cambria Math" panose="02040503050406030204" pitchFamily="18" charset="0"/>
                                    </a:rPr>
                                    <m:t>0</m:t>
                                  </m:r>
                                </m:sup>
                              </m:sSup>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𝜇</m:t>
                                  </m:r>
                                </m:e>
                                <m:sub>
                                  <m:r>
                                    <a:rPr lang="zh-CN" altLang="en-US" sz="1600" i="1" smtClean="0">
                                      <a:latin typeface="Cambria Math" panose="02040503050406030204" pitchFamily="18" charset="0"/>
                                    </a:rPr>
                                    <m:t>𝑖</m:t>
                                  </m:r>
                                </m:sub>
                              </m:sSub>
                            </m:e>
                          </m:d>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sSup>
                            <m:sSupPr>
                              <m:ctrlPr>
                                <a:rPr lang="zh-CN" altLang="en-US" sz="1600" i="1" smtClean="0">
                                  <a:latin typeface="Cambria Math" panose="02040503050406030204" pitchFamily="18" charset="0"/>
                                </a:rPr>
                              </m:ctrlPr>
                            </m:sSupPr>
                            <m:e>
                              <m:d>
                                <m:dPr>
                                  <m:ctrlPr>
                                    <a:rPr lang="zh-CN" altLang="en-US" sz="1600" i="1" smtClean="0">
                                      <a:latin typeface="Cambria Math" panose="02040503050406030204" pitchFamily="18" charset="0"/>
                                    </a:rPr>
                                  </m:ctrlPr>
                                </m:dPr>
                                <m:e>
                                  <m:sSup>
                                    <m:sSupPr>
                                      <m:ctrlPr>
                                        <a:rPr lang="zh-CN" altLang="en-US" sz="1600" i="1" smtClean="0">
                                          <a:latin typeface="Cambria Math" panose="02040503050406030204" pitchFamily="18" charset="0"/>
                                        </a:rPr>
                                      </m:ctrlPr>
                                    </m:sSup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𝐹</m:t>
                                          </m:r>
                                        </m:e>
                                      </m:acc>
                                    </m:e>
                                    <m:sup>
                                      <m:r>
                                        <a:rPr lang="zh-CN" altLang="en-US" sz="1600" i="1" smtClean="0">
                                          <a:latin typeface="Cambria Math" panose="02040503050406030204" pitchFamily="18" charset="0"/>
                                        </a:rPr>
                                        <m:t>0′</m:t>
                                      </m:r>
                                    </m:sup>
                                  </m:sSup>
                                  <m:sSup>
                                    <m:sSupPr>
                                      <m:ctrlPr>
                                        <a:rPr lang="zh-CN" altLang="en-US" sz="1600" i="1" smtClean="0">
                                          <a:latin typeface="Cambria Math" panose="02040503050406030204" pitchFamily="18" charset="0"/>
                                        </a:rPr>
                                      </m:ctrlPr>
                                    </m:sSup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𝐹</m:t>
                                          </m:r>
                                        </m:e>
                                      </m:acc>
                                    </m:e>
                                    <m:sup>
                                      <m:r>
                                        <a:rPr lang="zh-CN" altLang="en-US" sz="1600" i="1" smtClean="0">
                                          <a:latin typeface="Cambria Math" panose="02040503050406030204" pitchFamily="18" charset="0"/>
                                        </a:rPr>
                                        <m:t>0</m:t>
                                      </m:r>
                                    </m:sup>
                                  </m:sSup>
                                </m:e>
                              </m:d>
                            </m:e>
                            <m:sup>
                              <m:r>
                                <a:rPr lang="zh-CN" altLang="en-US" sz="1600" i="1" smtClean="0">
                                  <a:latin typeface="Cambria Math" panose="02040503050406030204" pitchFamily="18" charset="0"/>
                                </a:rPr>
                                <m:t>−1</m:t>
                              </m:r>
                            </m:sup>
                          </m:sSup>
                          <m:sSup>
                            <m:sSupPr>
                              <m:ctrlPr>
                                <a:rPr lang="zh-CN" altLang="en-US" sz="1600" i="1" smtClean="0">
                                  <a:latin typeface="Cambria Math" panose="02040503050406030204" pitchFamily="18" charset="0"/>
                                </a:rPr>
                              </m:ctrlPr>
                            </m:sSup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𝐹</m:t>
                                  </m:r>
                                </m:e>
                              </m:acc>
                            </m:e>
                            <m:sup>
                              <m:r>
                                <a:rPr lang="zh-CN" altLang="en-US" sz="1600" i="1" smtClean="0">
                                  <a:latin typeface="Cambria Math" panose="02040503050406030204" pitchFamily="18" charset="0"/>
                                </a:rPr>
                                <m:t>0′</m:t>
                              </m:r>
                            </m:sup>
                          </m:sSup>
                          <m:d>
                            <m:dPr>
                              <m:ctrlPr>
                                <a:rPr lang="zh-CN" altLang="en-US" sz="1600" i="1" smtClean="0">
                                  <a:latin typeface="Cambria Math" panose="02040503050406030204" pitchFamily="18" charset="0"/>
                                </a:rPr>
                              </m:ctrlPr>
                            </m:dPr>
                            <m:e>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sub>
                                <m:sup>
                                  <m:r>
                                    <a:rPr lang="zh-CN" altLang="en-US" sz="1600" i="1" smtClean="0">
                                      <a:latin typeface="Cambria Math" panose="02040503050406030204" pitchFamily="18" charset="0"/>
                                    </a:rPr>
                                    <m:t>0</m:t>
                                  </m:r>
                                </m:sup>
                              </m:sSubSup>
                              <m:r>
                                <a:rPr lang="zh-CN" altLang="en-US" sz="1600" i="1" smtClean="0">
                                  <a:latin typeface="Cambria Math" panose="02040503050406030204" pitchFamily="18" charset="0"/>
                                </a:rPr>
                                <m:t>−</m:t>
                              </m:r>
                              <m:sSubSup>
                                <m:sSubSupPr>
                                  <m:ctrlPr>
                                    <a:rPr lang="zh-CN" altLang="en-US" sz="1600" i="1" smtClean="0">
                                      <a:latin typeface="Cambria Math" panose="02040503050406030204" pitchFamily="18" charset="0"/>
                                    </a:rPr>
                                  </m:ctrlPr>
                                </m:sSubSup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up>
                                  <m:r>
                                    <a:rPr lang="zh-CN" altLang="en-US" sz="1600" i="1" smtClean="0">
                                      <a:latin typeface="Cambria Math" panose="02040503050406030204" pitchFamily="18" charset="0"/>
                                    </a:rPr>
                                    <m:t>0</m:t>
                                  </m:r>
                                </m:sup>
                              </m:sSubSup>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𝛽</m:t>
                                  </m:r>
                                </m:e>
                              </m:acc>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𝑖</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𝒯</m:t>
                          </m:r>
                          <m:r>
                            <a:rPr lang="zh-CN" altLang="en-US" sz="1600" i="1" smtClean="0">
                              <a:latin typeface="Cambria Math" panose="02040503050406030204" pitchFamily="18" charset="0"/>
                            </a:rPr>
                            <m:t>.</m:t>
                          </m:r>
                        </m:e>
                      </m:eqArr>
                    </m:oMath>
                  </m:oMathPara>
                </a14:m>
                <a:endParaRPr lang="en-US" altLang="zh-CN" sz="1600" dirty="0"/>
              </a:p>
              <a:p>
                <a:pPr marL="457200" lvl="1" indent="0">
                  <a:buNone/>
                </a:pPr>
                <a:r>
                  <a:rPr lang="zh-CN" altLang="en-US" sz="1600" dirty="0"/>
                  <a:t>其中 </a:t>
                </a:r>
                <a14:m>
                  <m:oMath xmlns:m="http://schemas.openxmlformats.org/officeDocument/2006/math">
                    <m:acc>
                      <m:accPr>
                        <m:chr m:val="̂"/>
                        <m:ctrlPr>
                          <a:rPr lang="zh-CN" altLang="en-US" sz="1600" i="1" dirty="0" smtClean="0">
                            <a:latin typeface="Cambria Math" panose="02040503050406030204" pitchFamily="18" charset="0"/>
                          </a:rPr>
                        </m:ctrlPr>
                      </m:accPr>
                      <m:e>
                        <m:r>
                          <a:rPr lang="zh-CN" altLang="en-US" sz="1600" i="1" dirty="0" smtClean="0">
                            <a:latin typeface="Cambria Math" panose="02040503050406030204" pitchFamily="18" charset="0"/>
                          </a:rPr>
                          <m:t>𝛽</m:t>
                        </m:r>
                      </m:e>
                    </m:acc>
                  </m:oMath>
                </a14:m>
                <a:r>
                  <a:rPr lang="zh-CN" altLang="en-US" sz="1600" dirty="0"/>
                  <a:t> 和 </a:t>
                </a:r>
                <a14:m>
                  <m:oMath xmlns:m="http://schemas.openxmlformats.org/officeDocument/2006/math">
                    <m:acc>
                      <m:accPr>
                        <m:chr m:val="̂"/>
                        <m:ctrlPr>
                          <a:rPr lang="zh-CN" altLang="en-US" sz="1600" i="1" dirty="0" smtClean="0">
                            <a:latin typeface="Cambria Math" panose="02040503050406030204" pitchFamily="18" charset="0"/>
                          </a:rPr>
                        </m:ctrlPr>
                      </m:accPr>
                      <m:e>
                        <m:r>
                          <a:rPr lang="zh-CN" altLang="en-US" sz="1600" i="1" dirty="0" smtClean="0">
                            <a:latin typeface="Cambria Math" panose="02040503050406030204" pitchFamily="18" charset="0"/>
                          </a:rPr>
                          <m:t>𝐹</m:t>
                        </m:r>
                      </m:e>
                    </m:acc>
                    <m:r>
                      <a:rPr lang="en-US" altLang="zh-CN" sz="1600" i="1" dirty="0">
                        <a:latin typeface="Cambria Math" panose="02040503050406030204" pitchFamily="18" charset="0"/>
                      </a:rPr>
                      <m:t>0</m:t>
                    </m:r>
                  </m:oMath>
                </a14:m>
                <a:r>
                  <a:rPr lang="en-US" altLang="zh-CN" sz="1600" dirty="0"/>
                  <a:t> </a:t>
                </a:r>
                <a:r>
                  <a:rPr lang="zh-CN" altLang="en-US" sz="1600" dirty="0"/>
                  <a:t>来自于第 </a:t>
                </a:r>
                <a:r>
                  <a:rPr lang="en-US" altLang="zh-CN" sz="1600" dirty="0"/>
                  <a:t>1 </a:t>
                </a:r>
                <a:r>
                  <a:rPr lang="zh-CN" altLang="en-US" sz="1600" dirty="0"/>
                  <a:t>阶段的估计，上标“</a:t>
                </a:r>
                <a:r>
                  <a:rPr lang="en-US" altLang="zh-CN" sz="1600" dirty="0"/>
                  <a:t>0</a:t>
                </a:r>
                <a:r>
                  <a:rPr lang="zh-CN" altLang="en-US" sz="1600" dirty="0"/>
                  <a:t>”表示干预前期。</a:t>
                </a:r>
                <a:endParaRPr lang="en-US" altLang="zh-CN" sz="1600" dirty="0"/>
              </a:p>
              <a:p>
                <a:pPr lvl="1"/>
                <a:r>
                  <a:rPr lang="zh-CN" altLang="en-US" sz="1600" dirty="0"/>
                  <a:t>利用前两步的估计，计算干预组的反事实结果：</a:t>
                </a:r>
                <a:endParaRPr lang="en-US" altLang="zh-CN" sz="1600" dirty="0"/>
              </a:p>
              <a:p>
                <a:pPr marL="457200" lvl="1" indent="0">
                  <a:buNone/>
                </a:pPr>
                <a14:m>
                  <m:oMathPara xmlns:m="http://schemas.openxmlformats.org/officeDocument/2006/math">
                    <m:oMath>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𝑌</m:t>
                              </m:r>
                            </m:e>
                          </m:acc>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𝛽</m:t>
                          </m:r>
                        </m:e>
                      </m:acc>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𝜆</m:t>
                              </m:r>
                            </m:e>
                          </m:acc>
                        </m:e>
                        <m:sub>
                          <m:r>
                            <a:rPr lang="zh-CN" altLang="en-US" sz="1600" i="1" smtClean="0">
                              <a:latin typeface="Cambria Math" panose="02040503050406030204" pitchFamily="18" charset="0"/>
                            </a:rPr>
                            <m:t>𝑡</m:t>
                          </m:r>
                        </m:sub>
                      </m:sSub>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𝜇</m:t>
                              </m:r>
                            </m:e>
                          </m:acc>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𝑖</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𝒯</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𝑡</m:t>
                      </m:r>
                      <m:r>
                        <a:rPr lang="zh-CN" altLang="en-US" sz="1600" i="1" smtClean="0">
                          <a:latin typeface="Cambria Math" panose="02040503050406030204" pitchFamily="18" charset="0"/>
                        </a:rPr>
                        <m:t>&gt;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0.</m:t>
                          </m:r>
                        </m:sub>
                      </m:sSub>
                    </m:oMath>
                  </m:oMathPara>
                </a14:m>
                <a:endParaRPr lang="en-US" altLang="zh-CN" sz="1600" dirty="0"/>
              </a:p>
              <a:p>
                <a:pPr marL="457200" lvl="1" indent="0">
                  <a:buNone/>
                </a:pPr>
                <a:r>
                  <a:rPr lang="zh-CN" altLang="en-US" sz="1600" dirty="0"/>
                  <a:t>最后，可以估计目标参数：</a:t>
                </a:r>
                <a:endParaRPr lang="en-US" altLang="zh-CN" sz="1600" dirty="0"/>
              </a:p>
              <a:p>
                <a:pPr marL="457200" lvl="1" indent="0">
                  <a:buNone/>
                </a:pPr>
                <a14:m>
                  <m:oMathPara xmlns:m="http://schemas.openxmlformats.org/officeDocument/2006/math">
                    <m:oMath>
                      <m:sSub>
                        <m:sSubPr>
                          <m:ctrlPr>
                            <a:rPr lang="zh-CN" altLang="en-US" sz="1600" i="1" smtClean="0">
                              <a:latin typeface="Cambria Math" panose="02040503050406030204" pitchFamily="18" charset="0"/>
                            </a:rPr>
                          </m:ctrlPr>
                        </m:sSub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𝜏</m:t>
                              </m:r>
                            </m:e>
                          </m:acc>
                        </m:e>
                        <m:sub>
                          <m:r>
                            <a:rPr lang="zh-CN" altLang="en-US" sz="1600" i="1" smtClean="0">
                              <a:latin typeface="Cambria Math" panose="02040503050406030204" pitchFamily="18" charset="0"/>
                            </a:rPr>
                            <m:t>𝐴𝑇𝑇</m:t>
                          </m:r>
                        </m:sub>
                      </m:sSub>
                      <m:r>
                        <a:rPr lang="zh-CN" altLang="en-US" sz="1600" i="1" smtClean="0">
                          <a:latin typeface="Cambria Math" panose="02040503050406030204" pitchFamily="18" charset="0"/>
                        </a:rPr>
                        <m:t>=</m:t>
                      </m:r>
                      <m:f>
                        <m:fPr>
                          <m:ctrlPr>
                            <a:rPr lang="zh-CN" altLang="en-US" sz="1600" i="1" smtClean="0">
                              <a:latin typeface="Cambria Math" panose="02040503050406030204" pitchFamily="18" charset="0"/>
                            </a:rPr>
                          </m:ctrlPr>
                        </m:fPr>
                        <m:num>
                          <m:r>
                            <a:rPr lang="zh-CN" altLang="en-US" sz="1600" i="1" smtClean="0">
                              <a:latin typeface="Cambria Math" panose="02040503050406030204" pitchFamily="18" charset="0"/>
                            </a:rPr>
                            <m:t>1</m:t>
                          </m:r>
                        </m:num>
                        <m:den>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𝑁</m:t>
                              </m:r>
                            </m:e>
                            <m:sub>
                              <m:r>
                                <a:rPr lang="zh-CN" altLang="en-US" sz="1600" i="1" smtClean="0">
                                  <a:latin typeface="Cambria Math" panose="02040503050406030204" pitchFamily="18" charset="0"/>
                                </a:rPr>
                                <m:t>𝑡</m:t>
                              </m:r>
                            </m:sub>
                          </m:sSub>
                        </m:den>
                      </m:f>
                      <m:nary>
                        <m:naryPr>
                          <m:chr m:val="∑"/>
                          <m:limLoc m:val="undOvr"/>
                          <m:supHide m:val="on"/>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𝒯</m:t>
                          </m:r>
                        </m:sub>
                        <m:sup/>
                        <m:e>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𝑌</m:t>
                                      </m:r>
                                    </m:e>
                                  </m:acc>
                                </m:e>
                                <m:sub>
                                  <m:r>
                                    <a:rPr lang="zh-CN" altLang="en-US" sz="1600" i="1" smtClean="0">
                                      <a:latin typeface="Cambria Math" panose="02040503050406030204" pitchFamily="18" charset="0"/>
                                    </a:rPr>
                                    <m:t>𝑖𝑡</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e>
                          </m:d>
                        </m:e>
                      </m:nary>
                      <m:r>
                        <a:rPr lang="zh-CN" altLang="en-US" sz="1600" i="1" smtClean="0">
                          <a:latin typeface="Cambria Math" panose="02040503050406030204" pitchFamily="18" charset="0"/>
                        </a:rPr>
                        <m:t>,</m:t>
                      </m:r>
                      <m:r>
                        <a:rPr lang="zh-CN" altLang="en-US" sz="1600" i="1" smtClean="0">
                          <a:latin typeface="Cambria Math" panose="02040503050406030204" pitchFamily="18" charset="0"/>
                        </a:rPr>
                        <m:t>𝑡</m:t>
                      </m:r>
                      <m:r>
                        <a:rPr lang="zh-CN" altLang="en-US" sz="1600" i="1" smtClean="0">
                          <a:latin typeface="Cambria Math" panose="02040503050406030204" pitchFamily="18" charset="0"/>
                        </a:rPr>
                        <m:t>&gt;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0.</m:t>
                          </m:r>
                        </m:sub>
                      </m:sSub>
                    </m:oMath>
                  </m:oMathPara>
                </a14:m>
                <a:endParaRPr lang="zh-CN" altLang="en-US" sz="1600" dirty="0"/>
              </a:p>
            </p:txBody>
          </p:sp>
        </mc:Choice>
        <mc:Fallback xmlns="">
          <p:sp>
            <p:nvSpPr>
              <p:cNvPr id="3" name="内容占位符 2">
                <a:extLst>
                  <a:ext uri="{FF2B5EF4-FFF2-40B4-BE49-F238E27FC236}">
                    <a16:creationId xmlns:a16="http://schemas.microsoft.com/office/drawing/2014/main" id="{7CEB52B3-9C9E-FEAE-59F4-5D649770A3B8}"/>
                  </a:ext>
                </a:extLst>
              </p:cNvPr>
              <p:cNvSpPr>
                <a:spLocks noGrp="1" noRot="1" noChangeAspect="1" noMove="1" noResize="1" noEditPoints="1" noAdjustHandles="1" noChangeArrowheads="1" noChangeShapeType="1" noTextEdit="1"/>
              </p:cNvSpPr>
              <p:nvPr>
                <p:ph idx="1"/>
              </p:nvPr>
            </p:nvSpPr>
            <p:spPr>
              <a:blipFill>
                <a:blip r:embed="rId2"/>
                <a:stretch>
                  <a:fillRect l="-309" t="-42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A4EFC06E-63FD-7401-F5EB-9993F89CDB03}"/>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5413506-2097-EA76-0275-5DE37CD8583E}"/>
              </a:ext>
            </a:extLst>
          </p:cNvPr>
          <p:cNvSpPr>
            <a:spLocks noGrp="1"/>
          </p:cNvSpPr>
          <p:nvPr>
            <p:ph type="sldNum" sz="quarter" idx="12"/>
          </p:nvPr>
        </p:nvSpPr>
        <p:spPr/>
        <p:txBody>
          <a:bodyPr/>
          <a:lstStyle/>
          <a:p>
            <a:fld id="{D41FC515-8169-4A29-AA56-DBE520D5741B}" type="slidenum">
              <a:rPr lang="zh-CN" altLang="en-US" smtClean="0"/>
              <a:t>35</a:t>
            </a:fld>
            <a:endParaRPr lang="zh-CN" altLang="en-US"/>
          </a:p>
        </p:txBody>
      </p:sp>
    </p:spTree>
    <p:extLst>
      <p:ext uri="{BB962C8B-B14F-4D97-AF65-F5344CB8AC3E}">
        <p14:creationId xmlns:p14="http://schemas.microsoft.com/office/powerpoint/2010/main" val="38034546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849534-9AB9-1584-DC4C-37695F9DE9C0}"/>
              </a:ext>
            </a:extLst>
          </p:cNvPr>
          <p:cNvSpPr>
            <a:spLocks noGrp="1"/>
          </p:cNvSpPr>
          <p:nvPr>
            <p:ph type="title"/>
          </p:nvPr>
        </p:nvSpPr>
        <p:spPr/>
        <p:txBody>
          <a:bodyPr/>
          <a:lstStyle/>
          <a:p>
            <a:r>
              <a:rPr lang="zh-CN" altLang="en-US" dirty="0"/>
              <a:t>广义合成控制法</a:t>
            </a:r>
            <a:br>
              <a:rPr lang="zh-CN" altLang="en-US" dirty="0"/>
            </a:br>
            <a:r>
              <a:rPr lang="zh-CN" altLang="en-US" sz="2400" dirty="0"/>
              <a:t>估计方法</a:t>
            </a:r>
            <a:endParaRPr lang="zh-CN" altLang="en-US" dirty="0"/>
          </a:p>
        </p:txBody>
      </p:sp>
      <p:pic>
        <p:nvPicPr>
          <p:cNvPr id="7" name="内容占位符 6">
            <a:extLst>
              <a:ext uri="{FF2B5EF4-FFF2-40B4-BE49-F238E27FC236}">
                <a16:creationId xmlns:a16="http://schemas.microsoft.com/office/drawing/2014/main" id="{BEE25F55-6926-DBF5-B6EA-04DBF1A8DBE9}"/>
              </a:ext>
            </a:extLst>
          </p:cNvPr>
          <p:cNvPicPr>
            <a:picLocks noGrp="1" noChangeAspect="1"/>
          </p:cNvPicPr>
          <p:nvPr>
            <p:ph idx="1"/>
          </p:nvPr>
        </p:nvPicPr>
        <p:blipFill>
          <a:blip r:embed="rId2"/>
          <a:stretch>
            <a:fillRect/>
          </a:stretch>
        </p:blipFill>
        <p:spPr>
          <a:xfrm>
            <a:off x="775651" y="1690689"/>
            <a:ext cx="7396076" cy="4501538"/>
          </a:xfrm>
          <a:prstGeom prst="rect">
            <a:avLst/>
          </a:prstGeom>
        </p:spPr>
      </p:pic>
      <p:sp>
        <p:nvSpPr>
          <p:cNvPr id="4" name="页脚占位符 3">
            <a:extLst>
              <a:ext uri="{FF2B5EF4-FFF2-40B4-BE49-F238E27FC236}">
                <a16:creationId xmlns:a16="http://schemas.microsoft.com/office/drawing/2014/main" id="{2B32F855-1CDE-7DC1-C4D3-75BB76A6EC3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B43EF24-03A7-E339-A4A9-F19B872C8C4F}"/>
              </a:ext>
            </a:extLst>
          </p:cNvPr>
          <p:cNvSpPr>
            <a:spLocks noGrp="1"/>
          </p:cNvSpPr>
          <p:nvPr>
            <p:ph type="sldNum" sz="quarter" idx="12"/>
          </p:nvPr>
        </p:nvSpPr>
        <p:spPr/>
        <p:txBody>
          <a:bodyPr/>
          <a:lstStyle/>
          <a:p>
            <a:fld id="{D41FC515-8169-4A29-AA56-DBE520D5741B}" type="slidenum">
              <a:rPr lang="zh-CN" altLang="en-US" smtClean="0"/>
              <a:t>36</a:t>
            </a:fld>
            <a:endParaRPr lang="zh-CN" altLang="en-US"/>
          </a:p>
        </p:txBody>
      </p:sp>
    </p:spTree>
    <p:extLst>
      <p:ext uri="{BB962C8B-B14F-4D97-AF65-F5344CB8AC3E}">
        <p14:creationId xmlns:p14="http://schemas.microsoft.com/office/powerpoint/2010/main" val="38670744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3826A7-725B-69FE-1D83-42D80C7F7C1C}"/>
              </a:ext>
            </a:extLst>
          </p:cNvPr>
          <p:cNvSpPr>
            <a:spLocks noGrp="1"/>
          </p:cNvSpPr>
          <p:nvPr>
            <p:ph type="title"/>
          </p:nvPr>
        </p:nvSpPr>
        <p:spPr/>
        <p:txBody>
          <a:bodyPr/>
          <a:lstStyle/>
          <a:p>
            <a:r>
              <a:rPr lang="zh-CN" altLang="en-US" dirty="0"/>
              <a:t>广义合成控制法</a:t>
            </a:r>
          </a:p>
        </p:txBody>
      </p:sp>
      <p:sp>
        <p:nvSpPr>
          <p:cNvPr id="3" name="内容占位符 2">
            <a:extLst>
              <a:ext uri="{FF2B5EF4-FFF2-40B4-BE49-F238E27FC236}">
                <a16:creationId xmlns:a16="http://schemas.microsoft.com/office/drawing/2014/main" id="{A6DF058D-5E23-24C4-531C-D329A783EA6B}"/>
              </a:ext>
            </a:extLst>
          </p:cNvPr>
          <p:cNvSpPr>
            <a:spLocks noGrp="1"/>
          </p:cNvSpPr>
          <p:nvPr>
            <p:ph idx="1"/>
          </p:nvPr>
        </p:nvSpPr>
        <p:spPr/>
        <p:txBody>
          <a:bodyPr>
            <a:normAutofit fontScale="85000" lnSpcReduction="20000"/>
          </a:bodyPr>
          <a:lstStyle/>
          <a:p>
            <a:pPr>
              <a:lnSpc>
                <a:spcPct val="110000"/>
              </a:lnSpc>
            </a:pPr>
            <a:r>
              <a:rPr lang="zh-CN" altLang="da-DK" dirty="0"/>
              <a:t>和</a:t>
            </a:r>
            <a:r>
              <a:rPr lang="da-DK" altLang="zh-CN" dirty="0"/>
              <a:t>Borusyak et al. (2024)</a:t>
            </a:r>
            <a:r>
              <a:rPr lang="zh-CN" altLang="da-DK" dirty="0"/>
              <a:t>、</a:t>
            </a:r>
            <a:r>
              <a:rPr lang="da-DK" altLang="zh-CN" dirty="0"/>
              <a:t>Gardner (2021) </a:t>
            </a:r>
            <a:r>
              <a:rPr lang="zh-CN" altLang="da-DK" dirty="0"/>
              <a:t>的</a:t>
            </a:r>
            <a:r>
              <a:rPr lang="da-DK" altLang="zh-CN" dirty="0"/>
              <a:t>impuation </a:t>
            </a:r>
            <a:r>
              <a:rPr lang="zh-CN" altLang="da-DK" dirty="0"/>
              <a:t>方法相似</a:t>
            </a:r>
            <a:endParaRPr lang="en-US" altLang="zh-CN" dirty="0"/>
          </a:p>
          <a:p>
            <a:pPr>
              <a:lnSpc>
                <a:spcPct val="110000"/>
              </a:lnSpc>
            </a:pPr>
            <a:r>
              <a:rPr lang="en-US" altLang="zh-CN" dirty="0"/>
              <a:t>Xu (2017) </a:t>
            </a:r>
            <a:r>
              <a:rPr lang="zh-CN" altLang="en-US" dirty="0"/>
              <a:t>的模型蕴含了</a:t>
            </a:r>
            <a:r>
              <a:rPr lang="en-US" altLang="zh-CN" dirty="0" err="1"/>
              <a:t>Borusyak</a:t>
            </a:r>
            <a:r>
              <a:rPr lang="en-US" altLang="zh-CN" dirty="0"/>
              <a:t> et al. (2024) </a:t>
            </a:r>
            <a:r>
              <a:rPr lang="zh-CN" altLang="en-US" dirty="0"/>
              <a:t>的设定，且允许因子是未观测的，因而可以控制未观测的混杂。</a:t>
            </a:r>
            <a:endParaRPr lang="en-US" altLang="zh-CN" dirty="0"/>
          </a:p>
          <a:p>
            <a:pPr>
              <a:lnSpc>
                <a:spcPct val="110000"/>
              </a:lnSpc>
            </a:pPr>
            <a:r>
              <a:rPr lang="zh-CN" altLang="en-US" dirty="0"/>
              <a:t>这种方法的好处是在模型设定正确的情况下，不存在负权重问题。容易估计静态和动态因果效应。</a:t>
            </a:r>
            <a:endParaRPr lang="en-US" altLang="zh-CN" dirty="0"/>
          </a:p>
          <a:p>
            <a:pPr>
              <a:lnSpc>
                <a:spcPct val="110000"/>
              </a:lnSpc>
            </a:pPr>
            <a:r>
              <a:rPr lang="en-US" altLang="zh-CN" dirty="0"/>
              <a:t>Abadie et al. (2010) </a:t>
            </a:r>
            <a:r>
              <a:rPr lang="zh-CN" altLang="en-US" dirty="0"/>
              <a:t>的合成控制法，通过权重平衡混杂𝜇𝑖，</a:t>
            </a:r>
            <a:r>
              <a:rPr lang="en-US" altLang="zh-CN" dirty="0"/>
              <a:t>Xu (2017) </a:t>
            </a:r>
            <a:r>
              <a:rPr lang="zh-CN" altLang="en-US" dirty="0"/>
              <a:t>直接估计出</a:t>
            </a:r>
          </a:p>
          <a:p>
            <a:pPr>
              <a:lnSpc>
                <a:spcPct val="110000"/>
              </a:lnSpc>
            </a:pPr>
            <a:r>
              <a:rPr lang="zh-CN" altLang="en-US" dirty="0"/>
              <a:t>混杂，可以使用多个干预组个体以及交错政策的情况。</a:t>
            </a:r>
            <a:endParaRPr lang="en-US" altLang="zh-CN" dirty="0"/>
          </a:p>
          <a:p>
            <a:pPr>
              <a:lnSpc>
                <a:spcPct val="110000"/>
              </a:lnSpc>
            </a:pPr>
            <a:r>
              <a:rPr lang="en-US" altLang="zh-CN" dirty="0"/>
              <a:t>Stata: </a:t>
            </a:r>
            <a:r>
              <a:rPr lang="en-US" altLang="zh-CN" dirty="0" err="1"/>
              <a:t>fect</a:t>
            </a:r>
            <a:r>
              <a:rPr lang="en-US" altLang="zh-CN" dirty="0"/>
              <a:t>, R: </a:t>
            </a:r>
            <a:r>
              <a:rPr lang="en-US" altLang="zh-CN" dirty="0" err="1"/>
              <a:t>gsynth</a:t>
            </a:r>
            <a:endParaRPr lang="zh-CN" altLang="en-US" dirty="0"/>
          </a:p>
        </p:txBody>
      </p:sp>
      <p:sp>
        <p:nvSpPr>
          <p:cNvPr id="4" name="页脚占位符 3">
            <a:extLst>
              <a:ext uri="{FF2B5EF4-FFF2-40B4-BE49-F238E27FC236}">
                <a16:creationId xmlns:a16="http://schemas.microsoft.com/office/drawing/2014/main" id="{F7C2B064-C3EA-F1AD-A357-92969037C16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DD54C39-FD50-509E-8B46-534CC3928D4C}"/>
              </a:ext>
            </a:extLst>
          </p:cNvPr>
          <p:cNvSpPr>
            <a:spLocks noGrp="1"/>
          </p:cNvSpPr>
          <p:nvPr>
            <p:ph type="sldNum" sz="quarter" idx="12"/>
          </p:nvPr>
        </p:nvSpPr>
        <p:spPr/>
        <p:txBody>
          <a:bodyPr/>
          <a:lstStyle/>
          <a:p>
            <a:fld id="{D41FC515-8169-4A29-AA56-DBE520D5741B}" type="slidenum">
              <a:rPr lang="zh-CN" altLang="en-US" smtClean="0"/>
              <a:t>37</a:t>
            </a:fld>
            <a:endParaRPr lang="zh-CN" altLang="en-US"/>
          </a:p>
        </p:txBody>
      </p:sp>
    </p:spTree>
    <p:extLst>
      <p:ext uri="{BB962C8B-B14F-4D97-AF65-F5344CB8AC3E}">
        <p14:creationId xmlns:p14="http://schemas.microsoft.com/office/powerpoint/2010/main" val="15445282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A7E0C0-4941-DAAD-AFC2-34447DC63E01}"/>
              </a:ext>
            </a:extLst>
          </p:cNvPr>
          <p:cNvSpPr>
            <a:spLocks noGrp="1"/>
          </p:cNvSpPr>
          <p:nvPr>
            <p:ph type="title"/>
          </p:nvPr>
        </p:nvSpPr>
        <p:spPr/>
        <p:txBody>
          <a:bodyPr/>
          <a:lstStyle/>
          <a:p>
            <a:r>
              <a:rPr lang="zh-CN" altLang="en-US" dirty="0"/>
              <a:t>合成双重差分</a:t>
            </a:r>
          </a:p>
        </p:txBody>
      </p:sp>
      <p:sp>
        <p:nvSpPr>
          <p:cNvPr id="3" name="内容占位符 2">
            <a:extLst>
              <a:ext uri="{FF2B5EF4-FFF2-40B4-BE49-F238E27FC236}">
                <a16:creationId xmlns:a16="http://schemas.microsoft.com/office/drawing/2014/main" id="{EA109B00-56C2-A7DC-359C-F487C014BE7A}"/>
              </a:ext>
            </a:extLst>
          </p:cNvPr>
          <p:cNvSpPr>
            <a:spLocks noGrp="1"/>
          </p:cNvSpPr>
          <p:nvPr>
            <p:ph idx="1"/>
          </p:nvPr>
        </p:nvSpPr>
        <p:spPr/>
        <p:txBody>
          <a:bodyPr>
            <a:normAutofit/>
          </a:bodyPr>
          <a:lstStyle/>
          <a:p>
            <a:r>
              <a:rPr lang="en-US" altLang="zh-CN" sz="1600" dirty="0"/>
              <a:t>Arkhangelsky et al. (2021) </a:t>
            </a:r>
            <a:r>
              <a:rPr lang="zh-CN" altLang="en-US" sz="1600" dirty="0"/>
              <a:t>将合成控制法和双重差分法结合起来，提出了合成双重差分方法</a:t>
            </a:r>
            <a:r>
              <a:rPr lang="en-US" altLang="zh-CN" sz="1600" dirty="0"/>
              <a:t>(synthetic difference-in-difference)</a:t>
            </a:r>
          </a:p>
          <a:p>
            <a:r>
              <a:rPr lang="zh-CN" altLang="en-US" sz="1600" dirty="0"/>
              <a:t>合成控制法主要使用了个体之间的关系，没有考虑时间上的依赖关系，</a:t>
            </a:r>
            <a:r>
              <a:rPr lang="en-US" altLang="zh-CN" sz="1600" dirty="0"/>
              <a:t>SDID </a:t>
            </a:r>
            <a:r>
              <a:rPr lang="zh-CN" altLang="en-US" sz="1600" dirty="0"/>
              <a:t>将时间上的依赖关系同时考虑进去，从而形成合成的平行趋势。</a:t>
            </a:r>
          </a:p>
        </p:txBody>
      </p:sp>
      <p:sp>
        <p:nvSpPr>
          <p:cNvPr id="4" name="页脚占位符 3">
            <a:extLst>
              <a:ext uri="{FF2B5EF4-FFF2-40B4-BE49-F238E27FC236}">
                <a16:creationId xmlns:a16="http://schemas.microsoft.com/office/drawing/2014/main" id="{87D4ADAE-BFF5-801B-68DA-937BEDF86E0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FA3C749-939B-5097-E76B-5526F3E19F8B}"/>
              </a:ext>
            </a:extLst>
          </p:cNvPr>
          <p:cNvSpPr>
            <a:spLocks noGrp="1"/>
          </p:cNvSpPr>
          <p:nvPr>
            <p:ph type="sldNum" sz="quarter" idx="12"/>
          </p:nvPr>
        </p:nvSpPr>
        <p:spPr/>
        <p:txBody>
          <a:bodyPr/>
          <a:lstStyle/>
          <a:p>
            <a:fld id="{D41FC515-8169-4A29-AA56-DBE520D5741B}" type="slidenum">
              <a:rPr lang="zh-CN" altLang="en-US" smtClean="0"/>
              <a:t>38</a:t>
            </a:fld>
            <a:endParaRPr lang="zh-CN" altLang="en-US"/>
          </a:p>
        </p:txBody>
      </p:sp>
      <p:pic>
        <p:nvPicPr>
          <p:cNvPr id="7" name="图片 6">
            <a:extLst>
              <a:ext uri="{FF2B5EF4-FFF2-40B4-BE49-F238E27FC236}">
                <a16:creationId xmlns:a16="http://schemas.microsoft.com/office/drawing/2014/main" id="{0836615B-E6F1-8FBA-FDE8-A6340F97FF66}"/>
              </a:ext>
            </a:extLst>
          </p:cNvPr>
          <p:cNvPicPr>
            <a:picLocks noChangeAspect="1"/>
          </p:cNvPicPr>
          <p:nvPr/>
        </p:nvPicPr>
        <p:blipFill>
          <a:blip r:embed="rId2"/>
          <a:stretch>
            <a:fillRect/>
          </a:stretch>
        </p:blipFill>
        <p:spPr>
          <a:xfrm>
            <a:off x="1415861" y="3166907"/>
            <a:ext cx="5640946" cy="3554569"/>
          </a:xfrm>
          <a:prstGeom prst="rect">
            <a:avLst/>
          </a:prstGeom>
        </p:spPr>
      </p:pic>
    </p:spTree>
    <p:extLst>
      <p:ext uri="{BB962C8B-B14F-4D97-AF65-F5344CB8AC3E}">
        <p14:creationId xmlns:p14="http://schemas.microsoft.com/office/powerpoint/2010/main" val="11670446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F89A4-CAA6-3C1B-52FF-A970AC6EA8CF}"/>
              </a:ext>
            </a:extLst>
          </p:cNvPr>
          <p:cNvSpPr>
            <a:spLocks noGrp="1"/>
          </p:cNvSpPr>
          <p:nvPr>
            <p:ph type="title"/>
          </p:nvPr>
        </p:nvSpPr>
        <p:spPr/>
        <p:txBody>
          <a:bodyPr/>
          <a:lstStyle/>
          <a:p>
            <a:r>
              <a:rPr lang="zh-CN" altLang="en-US" dirty="0"/>
              <a:t>合成双重差分</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272A099-A9C8-00F7-3583-150FBD877870}"/>
                  </a:ext>
                </a:extLst>
              </p:cNvPr>
              <p:cNvSpPr>
                <a:spLocks noGrp="1"/>
              </p:cNvSpPr>
              <p:nvPr>
                <p:ph idx="1"/>
              </p:nvPr>
            </p:nvSpPr>
            <p:spPr/>
            <p:txBody>
              <a:bodyPr>
                <a:normAutofit fontScale="77500" lnSpcReduction="20000"/>
              </a:bodyPr>
              <a:lstStyle/>
              <a:p>
                <a:r>
                  <a:rPr lang="zh-CN" altLang="en-US" dirty="0"/>
                  <a:t>识别条件：</a:t>
                </a:r>
                <a:endParaRPr lang="en-US" altLang="zh-CN" dirty="0"/>
              </a:p>
              <a:p>
                <a:pPr marL="0" indent="0">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𝑖</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=0</m:t>
                          </m:r>
                        </m:e>
                      </m:d>
                    </m:oMath>
                  </m:oMathPara>
                </a14:m>
                <a:endParaRPr lang="en-US" altLang="zh-CN" dirty="0"/>
              </a:p>
              <a:p>
                <a:r>
                  <a:rPr lang="zh-CN" altLang="en-US" dirty="0"/>
                  <a:t>因果识别：</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𝜏</m:t>
                          </m:r>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=1</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=1</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=1</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𝑖</m:t>
                                      </m:r>
                                    </m:sub>
                                  </m:sSub>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𝐷</m:t>
                              </m:r>
                              <m:r>
                                <a:rPr lang="zh-CN" altLang="en-US" i="1" smtClean="0">
                                  <a:latin typeface="Cambria Math" panose="02040503050406030204" pitchFamily="18" charset="0"/>
                                </a:rPr>
                                <m:t>=0</m:t>
                              </m:r>
                            </m:e>
                          </m:d>
                        </m:e>
                      </m:eqArr>
                    </m:oMath>
                  </m:oMathPara>
                </a14:m>
                <a:endParaRPr lang="zh-CN" altLang="en-US" dirty="0"/>
              </a:p>
            </p:txBody>
          </p:sp>
        </mc:Choice>
        <mc:Fallback xmlns="">
          <p:sp>
            <p:nvSpPr>
              <p:cNvPr id="3" name="内容占位符 2">
                <a:extLst>
                  <a:ext uri="{FF2B5EF4-FFF2-40B4-BE49-F238E27FC236}">
                    <a16:creationId xmlns:a16="http://schemas.microsoft.com/office/drawing/2014/main" id="{0272A099-A9C8-00F7-3583-150FBD877870}"/>
                  </a:ext>
                </a:extLst>
              </p:cNvPr>
              <p:cNvSpPr>
                <a:spLocks noGrp="1" noRot="1" noChangeAspect="1" noMove="1" noResize="1" noEditPoints="1" noAdjustHandles="1" noChangeArrowheads="1" noChangeShapeType="1" noTextEdit="1"/>
              </p:cNvSpPr>
              <p:nvPr>
                <p:ph idx="1"/>
              </p:nvPr>
            </p:nvSpPr>
            <p:spPr>
              <a:blipFill>
                <a:blip r:embed="rId2"/>
                <a:stretch>
                  <a:fillRect l="-850" t="-238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7CE891BD-60D6-B317-C3CD-50810B8929DC}"/>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D4DEB21-8D95-28B6-57BD-B0CC3BD57CF4}"/>
              </a:ext>
            </a:extLst>
          </p:cNvPr>
          <p:cNvSpPr>
            <a:spLocks noGrp="1"/>
          </p:cNvSpPr>
          <p:nvPr>
            <p:ph type="sldNum" sz="quarter" idx="12"/>
          </p:nvPr>
        </p:nvSpPr>
        <p:spPr/>
        <p:txBody>
          <a:bodyPr/>
          <a:lstStyle/>
          <a:p>
            <a:fld id="{D41FC515-8169-4A29-AA56-DBE520D5741B}" type="slidenum">
              <a:rPr lang="zh-CN" altLang="en-US" smtClean="0"/>
              <a:t>39</a:t>
            </a:fld>
            <a:endParaRPr lang="zh-CN" altLang="en-US"/>
          </a:p>
        </p:txBody>
      </p:sp>
    </p:spTree>
    <p:extLst>
      <p:ext uri="{BB962C8B-B14F-4D97-AF65-F5344CB8AC3E}">
        <p14:creationId xmlns:p14="http://schemas.microsoft.com/office/powerpoint/2010/main" val="17200092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6E1367-1B4F-B8E2-6E63-1C378E4D1B2B}"/>
              </a:ext>
            </a:extLst>
          </p:cNvPr>
          <p:cNvSpPr>
            <a:spLocks noGrp="1"/>
          </p:cNvSpPr>
          <p:nvPr>
            <p:ph type="title"/>
          </p:nvPr>
        </p:nvSpPr>
        <p:spPr/>
        <p:txBody>
          <a:bodyPr/>
          <a:lstStyle/>
          <a:p>
            <a:r>
              <a:rPr lang="zh-CN" altLang="en-US" dirty="0"/>
              <a:t>合成双重差分</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996E82D-CC90-1F87-112B-8C41E5FE8532}"/>
                  </a:ext>
                </a:extLst>
              </p:cNvPr>
              <p:cNvSpPr>
                <a:spLocks noGrp="1"/>
              </p:cNvSpPr>
              <p:nvPr>
                <p:ph idx="1"/>
              </p:nvPr>
            </p:nvSpPr>
            <p:spPr/>
            <p:txBody>
              <a:bodyPr>
                <a:normAutofit fontScale="77500" lnSpcReduction="20000"/>
              </a:bodyPr>
              <a:lstStyle/>
              <a:p>
                <a:r>
                  <a:rPr lang="zh-CN" altLang="en-US" dirty="0"/>
                  <a:t>合成控制：利用</a:t>
                </a:r>
                <a14:m>
                  <m:oMath xmlns:m="http://schemas.openxmlformats.org/officeDocument/2006/math">
                    <m:r>
                      <a:rPr lang="zh-CN" altLang="en-US" i="1" dirty="0" smtClean="0">
                        <a:latin typeface="Cambria Math" panose="02040503050406030204" pitchFamily="18" charset="0"/>
                      </a:rPr>
                      <m:t>𝑡</m:t>
                    </m:r>
                    <m:r>
                      <a:rPr lang="zh-CN" altLang="en-US" i="1" dirty="0" smtClean="0">
                        <a:latin typeface="Cambria Math" panose="02040503050406030204" pitchFamily="18" charset="0"/>
                      </a:rPr>
                      <m:t> ≤ </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𝑇</m:t>
                        </m:r>
                      </m:e>
                      <m:sub>
                        <m:r>
                          <a:rPr lang="en-US" altLang="zh-CN" i="1" dirty="0">
                            <a:latin typeface="Cambria Math" panose="02040503050406030204" pitchFamily="18" charset="0"/>
                          </a:rPr>
                          <m:t>0</m:t>
                        </m:r>
                      </m:sub>
                    </m:sSub>
                  </m:oMath>
                </a14:m>
                <a:r>
                  <a:rPr lang="zh-CN" altLang="en-US" dirty="0"/>
                  <a:t>，构造合成控制</a:t>
                </a:r>
                <a:r>
                  <a:rPr lang="en-US" altLang="zh-CN" dirty="0"/>
                  <a:t> </a:t>
                </a:r>
                <a14:m>
                  <m:oMath xmlns:m="http://schemas.openxmlformats.org/officeDocument/2006/math">
                    <m:sSub>
                      <m:sSubPr>
                        <m:ctrlPr>
                          <a:rPr lang="pl-PL" altLang="zh-CN" i="1" dirty="0" smtClean="0">
                            <a:latin typeface="Cambria Math" panose="02040503050406030204" pitchFamily="18" charset="0"/>
                          </a:rPr>
                        </m:ctrlPr>
                      </m:sSubPr>
                      <m:e>
                        <m:r>
                          <a:rPr lang="pl-PL" altLang="zh-CN" i="1" dirty="0" smtClean="0">
                            <a:latin typeface="Cambria Math" panose="02040503050406030204" pitchFamily="18" charset="0"/>
                          </a:rPr>
                          <m:t>𝑤</m:t>
                        </m:r>
                      </m:e>
                      <m:sub>
                        <m:r>
                          <a:rPr lang="pl-PL" altLang="zh-CN" i="1" dirty="0" smtClean="0">
                            <a:latin typeface="Cambria Math" panose="02040503050406030204" pitchFamily="18" charset="0"/>
                          </a:rPr>
                          <m:t>𝑖</m:t>
                        </m:r>
                      </m:sub>
                    </m:sSub>
                  </m:oMath>
                </a14:m>
                <a:r>
                  <a:rPr lang="zh-CN" altLang="pl-PL" dirty="0"/>
                  <a:t>，</a:t>
                </a:r>
                <a14:m>
                  <m:oMath xmlns:m="http://schemas.openxmlformats.org/officeDocument/2006/math">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𝑁</m:t>
                        </m:r>
                        <m:r>
                          <a:rPr lang="en-US" altLang="zh-CN" b="0" i="1" dirty="0" smtClean="0">
                            <a:latin typeface="Cambria Math" panose="02040503050406030204" pitchFamily="18" charset="0"/>
                          </a:rPr>
                          <m:t>−1</m:t>
                        </m:r>
                      </m:sup>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𝑖</m:t>
                            </m:r>
                          </m:sub>
                        </m:sSub>
                      </m:e>
                    </m:nary>
                    <m:r>
                      <a:rPr lang="pl-PL" altLang="zh-CN" i="1" dirty="0" smtClean="0">
                        <a:latin typeface="Cambria Math" panose="02040503050406030204" pitchFamily="18" charset="0"/>
                      </a:rPr>
                      <m:t>=1</m:t>
                    </m:r>
                  </m:oMath>
                </a14:m>
                <a:endParaRPr lang="en-US" altLang="zh-CN" dirty="0"/>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𝑁𝑡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r>
                            <a:rPr lang="zh-CN" altLang="en-US" i="1" smtClean="0">
                              <a:latin typeface="Cambria Math" panose="02040503050406030204" pitchFamily="18" charset="0"/>
                            </a:rPr>
                            <m:t>−1</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e>
                      </m:nary>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oMath>
                  </m:oMathPara>
                </a14:m>
                <a:endParaRPr lang="en-US" altLang="zh-CN" dirty="0"/>
              </a:p>
              <a:p>
                <a:r>
                  <a:rPr lang="zh-CN" altLang="en-US" dirty="0"/>
                  <a:t>水平回归：利用𝐷 </a:t>
                </a:r>
                <a:r>
                  <a:rPr lang="en-US" altLang="zh-CN" dirty="0"/>
                  <a:t>= 0</a:t>
                </a:r>
                <a:r>
                  <a:rPr lang="zh-CN" altLang="en-US" dirty="0"/>
                  <a:t>，构造时间权重𝜆</a:t>
                </a:r>
                <a:r>
                  <a:rPr lang="en-US" altLang="zh-CN" dirty="0"/>
                  <a:t>1</a:t>
                </a:r>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𝑣</m:t>
                          </m:r>
                        </m:e>
                        <m:sub>
                          <m:r>
                            <a:rPr lang="zh-CN" altLang="en-US" i="1" smtClean="0">
                              <a:latin typeface="Cambria Math" panose="02040503050406030204" pitchFamily="18" charset="0"/>
                            </a:rPr>
                            <m:t>𝑖𝑡</m:t>
                          </m:r>
                        </m:sub>
                      </m:sSub>
                    </m:oMath>
                  </m:oMathPara>
                </a14:m>
                <a:endParaRPr lang="en-US" altLang="zh-CN" dirty="0"/>
              </a:p>
              <a:p>
                <a:r>
                  <a:rPr lang="zh-CN" altLang="en-US" dirty="0"/>
                  <a:t>更一般地，利用𝐷 </a:t>
                </a:r>
                <a:r>
                  <a:rPr lang="en-US" altLang="zh-CN" dirty="0"/>
                  <a:t>= 0</a:t>
                </a:r>
                <a:r>
                  <a:rPr lang="zh-CN" altLang="en-US" dirty="0"/>
                  <a:t>，构造时间权重𝜆𝑡，满足</a:t>
                </a:r>
                <a14:m>
                  <m:oMath xmlns:m="http://schemas.openxmlformats.org/officeDocument/2006/math">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up>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0</m:t>
                            </m:r>
                          </m:sub>
                        </m:s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𝑡</m:t>
                            </m:r>
                          </m:sub>
                        </m:sSub>
                      </m:e>
                    </m:nary>
                    <m:r>
                      <a:rPr lang="en-US" altLang="zh-CN" i="1">
                        <a:latin typeface="Cambria Math" panose="02040503050406030204" pitchFamily="18" charset="0"/>
                      </a:rPr>
                      <m:t>=1</m:t>
                    </m:r>
                  </m:oMath>
                </a14:m>
                <a:r>
                  <a:rPr lang="zh-CN" altLang="en-US" dirty="0"/>
                  <a:t>，</a:t>
                </a:r>
                <a:endParaRPr lang="en-US" altLang="zh-CN" dirty="0"/>
              </a:p>
              <a:p>
                <a:pPr marL="0" indent="0">
                  <a:buNone/>
                </a:pPr>
                <a14:m>
                  <m:oMathPara xmlns:m="http://schemas.openxmlformats.org/officeDocument/2006/math">
                    <m:oMath>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0</m:t>
                              </m:r>
                            </m:sub>
                          </m:sSub>
                        </m:den>
                      </m:f>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𝑡</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+1</m:t>
                          </m:r>
                        </m:sub>
                        <m:sup>
                          <m:r>
                            <a:rPr lang="zh-CN" altLang="en-US" i="1" smtClean="0">
                              <a:latin typeface="Cambria Math" panose="02040503050406030204" pitchFamily="18" charset="0"/>
                            </a:rPr>
                            <m:t>𝑇</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e>
                      </m:nary>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𝑡</m:t>
                          </m:r>
                          <m:r>
                            <a:rPr lang="zh-CN" altLang="en-US" i="1" smtClean="0">
                              <a:latin typeface="Cambria Math" panose="02040503050406030204" pitchFamily="18" charset="0"/>
                            </a:rPr>
                            <m:t>=1</m:t>
                          </m:r>
                        </m:sub>
                        <m:sup>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0</m:t>
                              </m:r>
                            </m:sub>
                          </m:s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𝜆</m:t>
                              </m:r>
                            </m:e>
                            <m:sub>
                              <m:r>
                                <a:rPr lang="zh-CN" altLang="en-US" i="1" smtClean="0">
                                  <a:latin typeface="Cambria Math" panose="02040503050406030204" pitchFamily="18" charset="0"/>
                                </a:rPr>
                                <m:t>𝑡</m:t>
                              </m:r>
                            </m:sub>
                          </m:sSub>
                        </m:e>
                      </m:nary>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𝑣</m:t>
                          </m:r>
                        </m:e>
                        <m:sub>
                          <m:r>
                            <a:rPr lang="zh-CN" altLang="en-US" i="1" smtClean="0">
                              <a:latin typeface="Cambria Math" panose="02040503050406030204" pitchFamily="18" charset="0"/>
                            </a:rPr>
                            <m:t>𝑖𝑡</m:t>
                          </m:r>
                        </m:sub>
                      </m:sSub>
                    </m:oMath>
                  </m:oMathPara>
                </a14:m>
                <a:endParaRPr lang="zh-CN" altLang="en-US" dirty="0"/>
              </a:p>
            </p:txBody>
          </p:sp>
        </mc:Choice>
        <mc:Fallback xmlns="">
          <p:sp>
            <p:nvSpPr>
              <p:cNvPr id="3" name="内容占位符 2">
                <a:extLst>
                  <a:ext uri="{FF2B5EF4-FFF2-40B4-BE49-F238E27FC236}">
                    <a16:creationId xmlns:a16="http://schemas.microsoft.com/office/drawing/2014/main" id="{F996E82D-CC90-1F87-112B-8C41E5FE8532}"/>
                  </a:ext>
                </a:extLst>
              </p:cNvPr>
              <p:cNvSpPr>
                <a:spLocks noGrp="1" noRot="1" noChangeAspect="1" noMove="1" noResize="1" noEditPoints="1" noAdjustHandles="1" noChangeArrowheads="1" noChangeShapeType="1" noTextEdit="1"/>
              </p:cNvSpPr>
              <p:nvPr>
                <p:ph idx="1"/>
              </p:nvPr>
            </p:nvSpPr>
            <p:spPr>
              <a:blipFill>
                <a:blip r:embed="rId2"/>
                <a:stretch>
                  <a:fillRect l="-850" t="-1372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971E80D9-77F4-FC4C-19B4-8D36F30D45B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9FBA6AA-99E4-F8A9-6A14-6D9DF5A0606F}"/>
              </a:ext>
            </a:extLst>
          </p:cNvPr>
          <p:cNvSpPr>
            <a:spLocks noGrp="1"/>
          </p:cNvSpPr>
          <p:nvPr>
            <p:ph type="sldNum" sz="quarter" idx="12"/>
          </p:nvPr>
        </p:nvSpPr>
        <p:spPr/>
        <p:txBody>
          <a:bodyPr/>
          <a:lstStyle/>
          <a:p>
            <a:fld id="{D41FC515-8169-4A29-AA56-DBE520D5741B}" type="slidenum">
              <a:rPr lang="zh-CN" altLang="en-US" smtClean="0"/>
              <a:t>40</a:t>
            </a:fld>
            <a:endParaRPr lang="zh-CN" altLang="en-US"/>
          </a:p>
        </p:txBody>
      </p:sp>
    </p:spTree>
    <p:extLst>
      <p:ext uri="{BB962C8B-B14F-4D97-AF65-F5344CB8AC3E}">
        <p14:creationId xmlns:p14="http://schemas.microsoft.com/office/powerpoint/2010/main" val="38645488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3EA800-AC73-F009-EF67-9027420A7FD4}"/>
              </a:ext>
            </a:extLst>
          </p:cNvPr>
          <p:cNvSpPr>
            <a:spLocks noGrp="1"/>
          </p:cNvSpPr>
          <p:nvPr>
            <p:ph type="title"/>
          </p:nvPr>
        </p:nvSpPr>
        <p:spPr/>
        <p:txBody>
          <a:bodyPr/>
          <a:lstStyle/>
          <a:p>
            <a:r>
              <a:rPr lang="zh-CN" altLang="en-US" dirty="0"/>
              <a:t>合成双重差分</a:t>
            </a:r>
            <a:br>
              <a:rPr lang="zh-CN" altLang="en-US" dirty="0"/>
            </a:br>
            <a:r>
              <a:rPr lang="zh-CN" altLang="en-US" sz="2400" dirty="0"/>
              <a:t>实施步骤</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FCCD88F-FDEF-B1DC-8D66-81E0AFB7CF5A}"/>
                  </a:ext>
                </a:extLst>
              </p:cNvPr>
              <p:cNvSpPr>
                <a:spLocks noGrp="1"/>
              </p:cNvSpPr>
              <p:nvPr>
                <p:ph idx="1"/>
              </p:nvPr>
            </p:nvSpPr>
            <p:spPr/>
            <p:txBody>
              <a:bodyPr>
                <a:noAutofit/>
              </a:bodyPr>
              <a:lstStyle/>
              <a:p>
                <a:pPr>
                  <a:lnSpc>
                    <a:spcPct val="120000"/>
                  </a:lnSpc>
                </a:pPr>
                <a:r>
                  <a:rPr lang="zh-CN" altLang="en-US" sz="1400" dirty="0"/>
                  <a:t>用干预前数据</a:t>
                </a:r>
                <a:r>
                  <a:rPr lang="en-US" altLang="zh-CN" sz="1400" dirty="0"/>
                  <a:t>(</a:t>
                </a:r>
                <a:r>
                  <a:rPr lang="zh-CN" altLang="en-US" sz="1400" dirty="0"/>
                  <a:t>𝑡 ≤ 𝑇</a:t>
                </a:r>
                <a:r>
                  <a:rPr lang="en-US" altLang="zh-CN" sz="1400" dirty="0"/>
                  <a:t>0) </a:t>
                </a:r>
                <a:r>
                  <a:rPr lang="zh-CN" altLang="en-US" sz="1400" dirty="0"/>
                  <a:t>估计个体权重𝑤𝑖</a:t>
                </a:r>
                <a:endParaRPr lang="en-US" altLang="zh-CN" sz="1400" dirty="0"/>
              </a:p>
              <a:p>
                <a:pPr marL="0" indent="0">
                  <a:lnSpc>
                    <a:spcPct val="120000"/>
                  </a:lnSpc>
                  <a:buNone/>
                </a:pPr>
                <a14:m>
                  <m:oMathPara xmlns:m="http://schemas.openxmlformats.org/officeDocument/2006/math">
                    <m:oMath>
                      <m:d>
                        <m:dPr>
                          <m:ctrlPr>
                            <a:rPr lang="zh-CN" altLang="en-US" sz="1400" i="1" smtClean="0">
                              <a:latin typeface="Cambria Math" panose="02040503050406030204" pitchFamily="18" charset="0"/>
                            </a:rPr>
                          </m:ctrlPr>
                        </m:dPr>
                        <m:e>
                          <m:sSub>
                            <m:sSubPr>
                              <m:ctrlPr>
                                <a:rPr lang="zh-CN" altLang="en-US" sz="1400" i="1" smtClean="0">
                                  <a:latin typeface="Cambria Math" panose="02040503050406030204" pitchFamily="18" charset="0"/>
                                </a:rPr>
                              </m:ctrlPr>
                            </m:sSubPr>
                            <m:e>
                              <m:acc>
                                <m:accPr>
                                  <m:chr m:val="ˆ"/>
                                  <m:ctrlPr>
                                    <a:rPr lang="zh-CN" altLang="en-US" sz="1400" i="1" smtClean="0">
                                      <a:latin typeface="Cambria Math" panose="02040503050406030204" pitchFamily="18" charset="0"/>
                                    </a:rPr>
                                  </m:ctrlPr>
                                </m:accPr>
                                <m:e>
                                  <m:r>
                                    <a:rPr lang="zh-CN" altLang="en-US" sz="1400" i="1" smtClean="0">
                                      <a:latin typeface="Cambria Math" panose="02040503050406030204" pitchFamily="18" charset="0"/>
                                    </a:rPr>
                                    <m:t>𝑤</m:t>
                                  </m:r>
                                </m:e>
                              </m:acc>
                            </m:e>
                            <m:sub>
                              <m:r>
                                <a:rPr lang="zh-CN" altLang="en-US" sz="1400" i="1" smtClean="0">
                                  <a:latin typeface="Cambria Math" panose="02040503050406030204" pitchFamily="18" charset="0"/>
                                </a:rPr>
                                <m:t>0</m:t>
                              </m:r>
                            </m:sub>
                          </m:sSub>
                          <m:r>
                            <a:rPr lang="zh-CN" altLang="en-US" sz="1400" i="1" smtClean="0">
                              <a:latin typeface="Cambria Math" panose="02040503050406030204" pitchFamily="18" charset="0"/>
                            </a:rPr>
                            <m:t>,</m:t>
                          </m:r>
                          <m:acc>
                            <m:accPr>
                              <m:chr m:val="ˆ"/>
                              <m:ctrlPr>
                                <a:rPr lang="zh-CN" altLang="en-US" sz="1400" i="1" smtClean="0">
                                  <a:latin typeface="Cambria Math" panose="02040503050406030204" pitchFamily="18" charset="0"/>
                                </a:rPr>
                              </m:ctrlPr>
                            </m:accPr>
                            <m:e>
                              <m:r>
                                <a:rPr lang="zh-CN" altLang="en-US" sz="1400" i="1" smtClean="0">
                                  <a:latin typeface="Cambria Math" panose="02040503050406030204" pitchFamily="18" charset="0"/>
                                </a:rPr>
                                <m:t>𝑤</m:t>
                              </m:r>
                            </m:e>
                          </m:acc>
                        </m:e>
                      </m:d>
                      <m:r>
                        <a:rPr lang="zh-CN" altLang="en-US" sz="1400" i="1" smtClean="0">
                          <a:latin typeface="Cambria Math" panose="02040503050406030204" pitchFamily="18" charset="0"/>
                        </a:rPr>
                        <m:t>=</m:t>
                      </m:r>
                      <m:limLow>
                        <m:limLowPr>
                          <m:ctrlPr>
                            <a:rPr lang="zh-CN" altLang="en-US" sz="1400" i="1" smtClean="0">
                              <a:latin typeface="Cambria Math" panose="02040503050406030204" pitchFamily="18" charset="0"/>
                            </a:rPr>
                          </m:ctrlPr>
                        </m:limLowPr>
                        <m:e>
                          <m:func>
                            <m:funcPr>
                              <m:ctrlPr>
                                <a:rPr lang="zh-CN" altLang="en-US" sz="1400" i="1" smtClean="0">
                                  <a:latin typeface="Cambria Math" panose="02040503050406030204" pitchFamily="18" charset="0"/>
                                </a:rPr>
                              </m:ctrlPr>
                            </m:funcPr>
                            <m:fName>
                              <m:r>
                                <m:rPr>
                                  <m:sty m:val="p"/>
                                </m:rPr>
                                <a:rPr lang="zh-CN" altLang="en-US" sz="1400" i="1" smtClean="0">
                                  <a:latin typeface="Cambria Math" panose="02040503050406030204" pitchFamily="18" charset="0"/>
                                </a:rPr>
                                <m:t>arg</m:t>
                              </m:r>
                            </m:fName>
                            <m:e>
                              <m:r>
                                <a:rPr lang="zh-CN" altLang="en-US" sz="1400" i="1" smtClean="0">
                                  <a:latin typeface="Cambria Math" panose="02040503050406030204" pitchFamily="18" charset="0"/>
                                </a:rPr>
                                <m:t>​</m:t>
                              </m:r>
                            </m:e>
                          </m:func>
                          <m:r>
                            <m:rPr>
                              <m:sty m:val="p"/>
                            </m:rPr>
                            <a:rPr lang="zh-CN" altLang="en-US" sz="1400" i="1" smtClean="0">
                              <a:latin typeface="Cambria Math" panose="02040503050406030204" pitchFamily="18" charset="0"/>
                            </a:rPr>
                            <m:t>min</m:t>
                          </m:r>
                        </m:e>
                        <m:lim>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𝑤</m:t>
                              </m:r>
                            </m:e>
                            <m:sub>
                              <m:r>
                                <a:rPr lang="zh-CN" altLang="en-US" sz="1400" i="1" smtClean="0">
                                  <a:latin typeface="Cambria Math" panose="02040503050406030204" pitchFamily="18" charset="0"/>
                                </a:rPr>
                                <m:t>0</m:t>
                              </m:r>
                            </m:sub>
                          </m:sSub>
                          <m:r>
                            <a:rPr lang="zh-CN" altLang="en-US" sz="1400" i="1" smtClean="0">
                              <a:latin typeface="Cambria Math" panose="02040503050406030204" pitchFamily="18" charset="0"/>
                            </a:rPr>
                            <m:t>∈</m:t>
                          </m:r>
                          <m:r>
                            <a:rPr lang="zh-CN" altLang="en-US" sz="1400" i="1" smtClean="0">
                              <a:latin typeface="Cambria Math" panose="02040503050406030204" pitchFamily="18" charset="0"/>
                            </a:rPr>
                            <m:t>𝑅</m:t>
                          </m:r>
                          <m:r>
                            <a:rPr lang="zh-CN" altLang="en-US" sz="1400" i="1" smtClean="0">
                              <a:latin typeface="Cambria Math" panose="02040503050406030204" pitchFamily="18" charset="0"/>
                            </a:rPr>
                            <m:t>,</m:t>
                          </m:r>
                          <m:r>
                            <a:rPr lang="zh-CN" altLang="en-US" sz="1400" i="1" smtClean="0">
                              <a:latin typeface="Cambria Math" panose="02040503050406030204" pitchFamily="18" charset="0"/>
                            </a:rPr>
                            <m:t>𝑤</m:t>
                          </m:r>
                          <m:r>
                            <a:rPr lang="zh-CN" altLang="en-US" sz="1400" i="1" smtClean="0">
                              <a:latin typeface="Cambria Math" panose="02040503050406030204" pitchFamily="18" charset="0"/>
                            </a:rPr>
                            <m:t>∈</m:t>
                          </m:r>
                          <m:r>
                            <m:rPr>
                              <m:sty m:val="p"/>
                            </m:rPr>
                            <a:rPr lang="zh-CN" altLang="en-US" sz="1400" i="1" smtClean="0">
                              <a:latin typeface="Cambria Math" panose="02040503050406030204" pitchFamily="18" charset="0"/>
                            </a:rPr>
                            <m:t>Ω</m:t>
                          </m:r>
                        </m:lim>
                      </m:limLow>
                      <m:nary>
                        <m:naryPr>
                          <m:chr m:val="∑"/>
                          <m:limLoc m:val="undOvr"/>
                          <m:ctrlPr>
                            <a:rPr lang="zh-CN" altLang="en-US" sz="1400" i="1" smtClean="0">
                              <a:latin typeface="Cambria Math" panose="02040503050406030204" pitchFamily="18" charset="0"/>
                            </a:rPr>
                          </m:ctrlPr>
                        </m:naryPr>
                        <m:sub>
                          <m:r>
                            <a:rPr lang="zh-CN" altLang="en-US" sz="1400" i="1" smtClean="0">
                              <a:latin typeface="Cambria Math" panose="02040503050406030204" pitchFamily="18" charset="0"/>
                            </a:rPr>
                            <m:t>𝑡</m:t>
                          </m:r>
                          <m:r>
                            <a:rPr lang="zh-CN" altLang="en-US" sz="1400" i="1" smtClean="0">
                              <a:latin typeface="Cambria Math" panose="02040503050406030204" pitchFamily="18" charset="0"/>
                            </a:rPr>
                            <m:t>=1</m:t>
                          </m:r>
                        </m:sub>
                        <m:sup>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𝑇</m:t>
                              </m:r>
                            </m:e>
                            <m:sub>
                              <m:r>
                                <a:rPr lang="zh-CN" altLang="en-US" sz="1400" i="1" smtClean="0">
                                  <a:latin typeface="Cambria Math" panose="02040503050406030204" pitchFamily="18" charset="0"/>
                                </a:rPr>
                                <m:t>0</m:t>
                              </m:r>
                            </m:sub>
                          </m:sSub>
                        </m:sup>
                        <m:e>
                          <m:sSup>
                            <m:sSupPr>
                              <m:ctrlPr>
                                <a:rPr lang="zh-CN" altLang="en-US" sz="1400" i="1" smtClean="0">
                                  <a:latin typeface="Cambria Math" panose="02040503050406030204" pitchFamily="18" charset="0"/>
                                </a:rPr>
                              </m:ctrlPr>
                            </m:sSupPr>
                            <m:e>
                              <m:d>
                                <m:dPr>
                                  <m:ctrlPr>
                                    <a:rPr lang="zh-CN" altLang="en-US" sz="1400" i="1" smtClean="0">
                                      <a:latin typeface="Cambria Math" panose="02040503050406030204" pitchFamily="18" charset="0"/>
                                    </a:rPr>
                                  </m:ctrlPr>
                                </m:dPr>
                                <m:e>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𝑤</m:t>
                                      </m:r>
                                    </m:e>
                                    <m:sub>
                                      <m:r>
                                        <a:rPr lang="zh-CN" altLang="en-US" sz="1400" i="1" smtClean="0">
                                          <a:latin typeface="Cambria Math" panose="02040503050406030204" pitchFamily="18" charset="0"/>
                                        </a:rPr>
                                        <m:t>0</m:t>
                                      </m:r>
                                    </m:sub>
                                  </m:sSub>
                                  <m:r>
                                    <a:rPr lang="zh-CN" altLang="en-US" sz="1400" i="1" smtClean="0">
                                      <a:latin typeface="Cambria Math" panose="02040503050406030204" pitchFamily="18" charset="0"/>
                                    </a:rPr>
                                    <m:t>+</m:t>
                                  </m:r>
                                  <m:nary>
                                    <m:naryPr>
                                      <m:chr m:val="∑"/>
                                      <m:limLoc m:val="undOvr"/>
                                      <m:ctrlPr>
                                        <a:rPr lang="zh-CN" altLang="en-US" sz="1400" i="1" smtClean="0">
                                          <a:latin typeface="Cambria Math" panose="02040503050406030204" pitchFamily="18" charset="0"/>
                                        </a:rPr>
                                      </m:ctrlPr>
                                    </m:naryPr>
                                    <m:sub>
                                      <m:r>
                                        <a:rPr lang="zh-CN" altLang="en-US" sz="1400" i="1" smtClean="0">
                                          <a:latin typeface="Cambria Math" panose="02040503050406030204" pitchFamily="18" charset="0"/>
                                        </a:rPr>
                                        <m:t>𝑖</m:t>
                                      </m:r>
                                      <m:r>
                                        <a:rPr lang="zh-CN" altLang="en-US" sz="1400" i="1" smtClean="0">
                                          <a:latin typeface="Cambria Math" panose="02040503050406030204" pitchFamily="18" charset="0"/>
                                        </a:rPr>
                                        <m:t>=1</m:t>
                                      </m:r>
                                    </m:sub>
                                    <m:sup>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𝑁</m:t>
                                          </m:r>
                                        </m:e>
                                        <m:sub>
                                          <m:r>
                                            <a:rPr lang="zh-CN" altLang="en-US" sz="1400" i="1" smtClean="0">
                                              <a:latin typeface="Cambria Math" panose="02040503050406030204" pitchFamily="18" charset="0"/>
                                            </a:rPr>
                                            <m:t>𝑐</m:t>
                                          </m:r>
                                        </m:sub>
                                      </m:sSub>
                                    </m:sup>
                                    <m:e>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𝑤</m:t>
                                          </m:r>
                                        </m:e>
                                        <m:sub>
                                          <m:r>
                                            <a:rPr lang="zh-CN" altLang="en-US" sz="1400" i="1" smtClean="0">
                                              <a:latin typeface="Cambria Math" panose="02040503050406030204" pitchFamily="18" charset="0"/>
                                            </a:rPr>
                                            <m:t>𝑖</m:t>
                                          </m:r>
                                        </m:sub>
                                      </m:sSub>
                                    </m:e>
                                  </m:nary>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𝑌</m:t>
                                      </m:r>
                                    </m:e>
                                    <m:sub>
                                      <m:r>
                                        <a:rPr lang="zh-CN" altLang="en-US" sz="1400" i="1" smtClean="0">
                                          <a:latin typeface="Cambria Math" panose="02040503050406030204" pitchFamily="18" charset="0"/>
                                        </a:rPr>
                                        <m:t>𝑖𝑡</m:t>
                                      </m:r>
                                    </m:sub>
                                  </m:sSub>
                                  <m:r>
                                    <a:rPr lang="zh-CN" altLang="en-US" sz="1400" i="1" smtClean="0">
                                      <a:latin typeface="Cambria Math" panose="02040503050406030204" pitchFamily="18" charset="0"/>
                                    </a:rPr>
                                    <m:t>−</m:t>
                                  </m:r>
                                  <m:f>
                                    <m:fPr>
                                      <m:ctrlPr>
                                        <a:rPr lang="zh-CN" altLang="en-US" sz="1400" i="1" smtClean="0">
                                          <a:latin typeface="Cambria Math" panose="02040503050406030204" pitchFamily="18" charset="0"/>
                                        </a:rPr>
                                      </m:ctrlPr>
                                    </m:fPr>
                                    <m:num>
                                      <m:r>
                                        <a:rPr lang="zh-CN" altLang="en-US" sz="1400" i="1" smtClean="0">
                                          <a:latin typeface="Cambria Math" panose="02040503050406030204" pitchFamily="18" charset="0"/>
                                        </a:rPr>
                                        <m:t>1</m:t>
                                      </m:r>
                                    </m:num>
                                    <m:den>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𝑁</m:t>
                                          </m:r>
                                        </m:e>
                                        <m:sub>
                                          <m:r>
                                            <a:rPr lang="zh-CN" altLang="en-US" sz="1400" i="1" smtClean="0">
                                              <a:latin typeface="Cambria Math" panose="02040503050406030204" pitchFamily="18" charset="0"/>
                                            </a:rPr>
                                            <m:t>𝑡</m:t>
                                          </m:r>
                                        </m:sub>
                                      </m:sSub>
                                    </m:den>
                                  </m:f>
                                  <m:nary>
                                    <m:naryPr>
                                      <m:chr m:val="∑"/>
                                      <m:limLoc m:val="undOvr"/>
                                      <m:ctrlPr>
                                        <a:rPr lang="zh-CN" altLang="en-US" sz="1400" i="1" smtClean="0">
                                          <a:latin typeface="Cambria Math" panose="02040503050406030204" pitchFamily="18" charset="0"/>
                                        </a:rPr>
                                      </m:ctrlPr>
                                    </m:naryPr>
                                    <m:sub>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𝑁</m:t>
                                          </m:r>
                                        </m:e>
                                        <m:sub>
                                          <m:r>
                                            <a:rPr lang="zh-CN" altLang="en-US" sz="1400" i="1" smtClean="0">
                                              <a:latin typeface="Cambria Math" panose="02040503050406030204" pitchFamily="18" charset="0"/>
                                            </a:rPr>
                                            <m:t>𝑐</m:t>
                                          </m:r>
                                        </m:sub>
                                      </m:sSub>
                                      <m:r>
                                        <a:rPr lang="zh-CN" altLang="en-US" sz="1400" i="1" smtClean="0">
                                          <a:latin typeface="Cambria Math" panose="02040503050406030204" pitchFamily="18" charset="0"/>
                                        </a:rPr>
                                        <m:t>+1</m:t>
                                      </m:r>
                                    </m:sub>
                                    <m:sup>
                                      <m:r>
                                        <a:rPr lang="zh-CN" altLang="en-US" sz="1400" i="1" smtClean="0">
                                          <a:latin typeface="Cambria Math" panose="02040503050406030204" pitchFamily="18" charset="0"/>
                                        </a:rPr>
                                        <m:t>𝑁</m:t>
                                      </m:r>
                                    </m:sup>
                                    <m:e>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𝑌</m:t>
                                          </m:r>
                                        </m:e>
                                        <m:sub>
                                          <m:r>
                                            <a:rPr lang="zh-CN" altLang="en-US" sz="1400" i="1" smtClean="0">
                                              <a:latin typeface="Cambria Math" panose="02040503050406030204" pitchFamily="18" charset="0"/>
                                            </a:rPr>
                                            <m:t>𝑖𝑡</m:t>
                                          </m:r>
                                        </m:sub>
                                      </m:sSub>
                                    </m:e>
                                  </m:nary>
                                </m:e>
                              </m:d>
                            </m:e>
                            <m:sup>
                              <m:r>
                                <a:rPr lang="zh-CN" altLang="en-US" sz="1400" i="1" smtClean="0">
                                  <a:latin typeface="Cambria Math" panose="02040503050406030204" pitchFamily="18" charset="0"/>
                                </a:rPr>
                                <m:t>2</m:t>
                              </m:r>
                            </m:sup>
                          </m:sSup>
                        </m:e>
                      </m:nary>
                      <m:r>
                        <a:rPr lang="zh-CN" altLang="en-US" sz="1400" i="1" smtClean="0">
                          <a:latin typeface="Cambria Math" panose="02040503050406030204" pitchFamily="18" charset="0"/>
                        </a:rPr>
                        <m:t>+</m:t>
                      </m:r>
                      <m:sSup>
                        <m:sSupPr>
                          <m:ctrlPr>
                            <a:rPr lang="zh-CN" altLang="en-US" sz="1400" i="1" smtClean="0">
                              <a:latin typeface="Cambria Math" panose="02040503050406030204" pitchFamily="18" charset="0"/>
                            </a:rPr>
                          </m:ctrlPr>
                        </m:sSupPr>
                        <m:e>
                          <m:r>
                            <a:rPr lang="zh-CN" altLang="en-US" sz="1400" i="1" smtClean="0">
                              <a:latin typeface="Cambria Math" panose="02040503050406030204" pitchFamily="18" charset="0"/>
                            </a:rPr>
                            <m:t>𝜁</m:t>
                          </m:r>
                        </m:e>
                        <m:sup>
                          <m:r>
                            <a:rPr lang="zh-CN" altLang="en-US" sz="1400" i="1" smtClean="0">
                              <a:latin typeface="Cambria Math" panose="02040503050406030204" pitchFamily="18" charset="0"/>
                            </a:rPr>
                            <m:t>2</m:t>
                          </m:r>
                        </m:sup>
                      </m:sSup>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𝑇</m:t>
                          </m:r>
                        </m:e>
                        <m:sub>
                          <m:r>
                            <a:rPr lang="zh-CN" altLang="en-US" sz="1400" i="1" smtClean="0">
                              <a:latin typeface="Cambria Math" panose="02040503050406030204" pitchFamily="18" charset="0"/>
                            </a:rPr>
                            <m:t>0</m:t>
                          </m:r>
                        </m:sub>
                      </m:sSub>
                      <m:r>
                        <a:rPr lang="zh-CN" altLang="en-US" sz="1400" i="1" smtClean="0">
                          <a:latin typeface="Cambria Math" panose="02040503050406030204" pitchFamily="18" charset="0"/>
                        </a:rPr>
                        <m:t>‖</m:t>
                      </m:r>
                      <m:r>
                        <a:rPr lang="zh-CN" altLang="en-US" sz="1400" i="1" smtClean="0">
                          <a:latin typeface="Cambria Math" panose="02040503050406030204" pitchFamily="18" charset="0"/>
                        </a:rPr>
                        <m:t>𝑤</m:t>
                      </m:r>
                      <m:sSubSup>
                        <m:sSubSupPr>
                          <m:ctrlPr>
                            <a:rPr lang="zh-CN" altLang="en-US" sz="1400" i="1" smtClean="0">
                              <a:latin typeface="Cambria Math" panose="02040503050406030204" pitchFamily="18" charset="0"/>
                            </a:rPr>
                          </m:ctrlPr>
                        </m:sSubSupPr>
                        <m:e>
                          <m:r>
                            <a:rPr lang="zh-CN" altLang="en-US" sz="1400" i="1" smtClean="0">
                              <a:latin typeface="Cambria Math" panose="02040503050406030204" pitchFamily="18" charset="0"/>
                            </a:rPr>
                            <m:t>‖</m:t>
                          </m:r>
                        </m:e>
                        <m:sub>
                          <m:r>
                            <a:rPr lang="zh-CN" altLang="en-US" sz="1400" i="1" smtClean="0">
                              <a:latin typeface="Cambria Math" panose="02040503050406030204" pitchFamily="18" charset="0"/>
                            </a:rPr>
                            <m:t>2</m:t>
                          </m:r>
                        </m:sub>
                        <m:sup>
                          <m:r>
                            <a:rPr lang="zh-CN" altLang="en-US" sz="1400" i="1" smtClean="0">
                              <a:latin typeface="Cambria Math" panose="02040503050406030204" pitchFamily="18" charset="0"/>
                            </a:rPr>
                            <m:t>2</m:t>
                          </m:r>
                        </m:sup>
                      </m:sSubSup>
                      <m:r>
                        <a:rPr lang="zh-CN" altLang="en-US" sz="1400" i="1" smtClean="0">
                          <a:latin typeface="Cambria Math" panose="02040503050406030204" pitchFamily="18" charset="0"/>
                        </a:rPr>
                        <m:t>,</m:t>
                      </m:r>
                    </m:oMath>
                  </m:oMathPara>
                </a14:m>
                <a:endParaRPr lang="en-US" altLang="zh-CN" sz="1400" dirty="0"/>
              </a:p>
              <a:p>
                <a:pPr marL="0" indent="0">
                  <a:lnSpc>
                    <a:spcPct val="120000"/>
                  </a:lnSpc>
                  <a:buNone/>
                </a:pPr>
                <a14:m>
                  <m:oMathPara xmlns:m="http://schemas.openxmlformats.org/officeDocument/2006/math">
                    <m:oMath>
                      <m:r>
                        <m:rPr>
                          <m:sty m:val="p"/>
                        </m:rPr>
                        <a:rPr lang="zh-CN" altLang="en-US" sz="1400" i="1" smtClean="0">
                          <a:latin typeface="Cambria Math" panose="02040503050406030204" pitchFamily="18" charset="0"/>
                        </a:rPr>
                        <m:t>Ω</m:t>
                      </m:r>
                      <m:r>
                        <a:rPr lang="zh-CN" altLang="en-US" sz="1400" i="1" smtClean="0">
                          <a:latin typeface="Cambria Math" panose="02040503050406030204" pitchFamily="18" charset="0"/>
                        </a:rPr>
                        <m:t>=</m:t>
                      </m:r>
                      <m:d>
                        <m:dPr>
                          <m:begChr m:val="{"/>
                          <m:endChr m:val="}"/>
                          <m:ctrlPr>
                            <a:rPr lang="zh-CN" altLang="en-US" sz="1400" i="1" smtClean="0">
                              <a:latin typeface="Cambria Math" panose="02040503050406030204" pitchFamily="18" charset="0"/>
                            </a:rPr>
                          </m:ctrlPr>
                        </m:dPr>
                        <m:e>
                          <m:r>
                            <a:rPr lang="zh-CN" altLang="en-US" sz="1400" i="1" smtClean="0">
                              <a:latin typeface="Cambria Math" panose="02040503050406030204" pitchFamily="18" charset="0"/>
                            </a:rPr>
                            <m:t>𝑤</m:t>
                          </m:r>
                          <m:r>
                            <a:rPr lang="zh-CN" altLang="en-US" sz="1400" i="1" smtClean="0">
                              <a:latin typeface="Cambria Math" panose="02040503050406030204" pitchFamily="18" charset="0"/>
                            </a:rPr>
                            <m:t>∈</m:t>
                          </m:r>
                          <m:sSubSup>
                            <m:sSubSupPr>
                              <m:ctrlPr>
                                <a:rPr lang="zh-CN" altLang="en-US" sz="1400" i="1" smtClean="0">
                                  <a:latin typeface="Cambria Math" panose="02040503050406030204" pitchFamily="18" charset="0"/>
                                </a:rPr>
                              </m:ctrlPr>
                            </m:sSubSupPr>
                            <m:e>
                              <m:r>
                                <a:rPr lang="zh-CN" altLang="en-US" sz="1400" i="1" smtClean="0">
                                  <a:latin typeface="Cambria Math" panose="02040503050406030204" pitchFamily="18" charset="0"/>
                                </a:rPr>
                                <m:t>𝑅</m:t>
                              </m:r>
                            </m:e>
                            <m:sub>
                              <m:r>
                                <a:rPr lang="zh-CN" altLang="en-US" sz="1400" i="1" smtClean="0">
                                  <a:latin typeface="Cambria Math" panose="02040503050406030204" pitchFamily="18" charset="0"/>
                                </a:rPr>
                                <m:t>+</m:t>
                              </m:r>
                            </m:sub>
                            <m:sup>
                              <m:r>
                                <a:rPr lang="zh-CN" altLang="en-US" sz="1400" i="1" smtClean="0">
                                  <a:latin typeface="Cambria Math" panose="02040503050406030204" pitchFamily="18" charset="0"/>
                                </a:rPr>
                                <m:t>𝑁</m:t>
                              </m:r>
                            </m:sup>
                          </m:sSubSup>
                          <m:r>
                            <a:rPr lang="zh-CN" altLang="en-US" sz="1400" i="1" smtClean="0">
                              <a:latin typeface="Cambria Math" panose="02040503050406030204" pitchFamily="18" charset="0"/>
                            </a:rPr>
                            <m:t>:</m:t>
                          </m:r>
                          <m:nary>
                            <m:naryPr>
                              <m:chr m:val="∑"/>
                              <m:limLoc m:val="undOvr"/>
                              <m:ctrlPr>
                                <a:rPr lang="zh-CN" altLang="en-US" sz="1400" i="1" smtClean="0">
                                  <a:latin typeface="Cambria Math" panose="02040503050406030204" pitchFamily="18" charset="0"/>
                                </a:rPr>
                              </m:ctrlPr>
                            </m:naryPr>
                            <m:sub>
                              <m:r>
                                <a:rPr lang="zh-CN" altLang="en-US" sz="1400" i="1" smtClean="0">
                                  <a:latin typeface="Cambria Math" panose="02040503050406030204" pitchFamily="18" charset="0"/>
                                </a:rPr>
                                <m:t>𝑖</m:t>
                              </m:r>
                              <m:r>
                                <a:rPr lang="zh-CN" altLang="en-US" sz="1400" i="1" smtClean="0">
                                  <a:latin typeface="Cambria Math" panose="02040503050406030204" pitchFamily="18" charset="0"/>
                                </a:rPr>
                                <m:t>=1</m:t>
                              </m:r>
                            </m:sub>
                            <m:sup>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𝑁</m:t>
                                  </m:r>
                                </m:e>
                                <m:sub>
                                  <m:r>
                                    <a:rPr lang="zh-CN" altLang="en-US" sz="1400" i="1" smtClean="0">
                                      <a:latin typeface="Cambria Math" panose="02040503050406030204" pitchFamily="18" charset="0"/>
                                    </a:rPr>
                                    <m:t>𝑐</m:t>
                                  </m:r>
                                </m:sub>
                              </m:sSub>
                            </m:sup>
                            <m:e>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𝑤</m:t>
                                  </m:r>
                                </m:e>
                                <m:sub>
                                  <m:r>
                                    <a:rPr lang="zh-CN" altLang="en-US" sz="1400" i="1" smtClean="0">
                                      <a:latin typeface="Cambria Math" panose="02040503050406030204" pitchFamily="18" charset="0"/>
                                    </a:rPr>
                                    <m:t>𝑖</m:t>
                                  </m:r>
                                </m:sub>
                              </m:sSub>
                            </m:e>
                          </m:nary>
                          <m:r>
                            <a:rPr lang="zh-CN" altLang="en-US" sz="1400" i="1" smtClean="0">
                              <a:latin typeface="Cambria Math" panose="02040503050406030204" pitchFamily="18" charset="0"/>
                            </a:rPr>
                            <m:t>=1,</m:t>
                          </m:r>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𝑤</m:t>
                              </m:r>
                            </m:e>
                            <m:sub>
                              <m:r>
                                <a:rPr lang="zh-CN" altLang="en-US" sz="1400" i="1" smtClean="0">
                                  <a:latin typeface="Cambria Math" panose="02040503050406030204" pitchFamily="18" charset="0"/>
                                </a:rPr>
                                <m:t>𝑖</m:t>
                              </m:r>
                            </m:sub>
                          </m:sSub>
                          <m:r>
                            <a:rPr lang="zh-CN" altLang="en-US" sz="1400" i="1" smtClean="0">
                              <a:latin typeface="Cambria Math" panose="02040503050406030204" pitchFamily="18" charset="0"/>
                            </a:rPr>
                            <m:t>=</m:t>
                          </m:r>
                          <m:sSubSup>
                            <m:sSubSupPr>
                              <m:ctrlPr>
                                <a:rPr lang="zh-CN" altLang="en-US" sz="1400" i="1" smtClean="0">
                                  <a:latin typeface="Cambria Math" panose="02040503050406030204" pitchFamily="18" charset="0"/>
                                </a:rPr>
                              </m:ctrlPr>
                            </m:sSubSupPr>
                            <m:e>
                              <m:r>
                                <a:rPr lang="zh-CN" altLang="en-US" sz="1400" i="1" smtClean="0">
                                  <a:latin typeface="Cambria Math" panose="02040503050406030204" pitchFamily="18" charset="0"/>
                                </a:rPr>
                                <m:t>𝑁</m:t>
                              </m:r>
                            </m:e>
                            <m:sub>
                              <m:r>
                                <a:rPr lang="zh-CN" altLang="en-US" sz="1400" i="1" smtClean="0">
                                  <a:latin typeface="Cambria Math" panose="02040503050406030204" pitchFamily="18" charset="0"/>
                                </a:rPr>
                                <m:t>𝑡</m:t>
                              </m:r>
                            </m:sub>
                            <m:sup>
                              <m:r>
                                <a:rPr lang="zh-CN" altLang="en-US" sz="1400" i="1" smtClean="0">
                                  <a:latin typeface="Cambria Math" panose="02040503050406030204" pitchFamily="18" charset="0"/>
                                </a:rPr>
                                <m:t>−1</m:t>
                              </m:r>
                            </m:sup>
                          </m:sSubSup>
                          <m:r>
                            <m:rPr>
                              <m:nor/>
                            </m:rPr>
                            <a:rPr lang="zh-CN" altLang="en-US" sz="1400" i="0" smtClean="0">
                              <a:latin typeface="Cambria Math" panose="02040503050406030204" pitchFamily="18" charset="0"/>
                            </a:rPr>
                            <m:t> for all </m:t>
                          </m:r>
                          <m:r>
                            <a:rPr lang="zh-CN" altLang="en-US" sz="1400" i="1" smtClean="0">
                              <a:latin typeface="Cambria Math" panose="02040503050406030204" pitchFamily="18" charset="0"/>
                            </a:rPr>
                            <m:t>𝑖</m:t>
                          </m:r>
                          <m:r>
                            <a:rPr lang="zh-CN" altLang="en-US" sz="1400" i="1" smtClean="0">
                              <a:latin typeface="Cambria Math" panose="02040503050406030204" pitchFamily="18" charset="0"/>
                            </a:rPr>
                            <m:t>=</m:t>
                          </m:r>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𝑁</m:t>
                              </m:r>
                            </m:e>
                            <m:sub>
                              <m:r>
                                <a:rPr lang="zh-CN" altLang="en-US" sz="1400" i="1" smtClean="0">
                                  <a:latin typeface="Cambria Math" panose="02040503050406030204" pitchFamily="18" charset="0"/>
                                </a:rPr>
                                <m:t>𝑐</m:t>
                              </m:r>
                            </m:sub>
                          </m:sSub>
                          <m:r>
                            <a:rPr lang="zh-CN" altLang="en-US" sz="1400" i="1" smtClean="0">
                              <a:latin typeface="Cambria Math" panose="02040503050406030204" pitchFamily="18" charset="0"/>
                            </a:rPr>
                            <m:t>+1,…,</m:t>
                          </m:r>
                          <m:r>
                            <a:rPr lang="zh-CN" altLang="en-US" sz="1400" i="1" smtClean="0">
                              <a:latin typeface="Cambria Math" panose="02040503050406030204" pitchFamily="18" charset="0"/>
                            </a:rPr>
                            <m:t>𝑁</m:t>
                          </m:r>
                        </m:e>
                      </m:d>
                      <m:r>
                        <a:rPr lang="zh-CN" altLang="en-US" sz="1400" i="1" smtClean="0">
                          <a:latin typeface="Cambria Math" panose="02040503050406030204" pitchFamily="18" charset="0"/>
                        </a:rPr>
                        <m:t>,</m:t>
                      </m:r>
                    </m:oMath>
                  </m:oMathPara>
                </a14:m>
                <a:endParaRPr lang="en-US" altLang="zh-CN" sz="1400" dirty="0"/>
              </a:p>
              <a:p>
                <a:pPr marL="0" indent="0">
                  <a:lnSpc>
                    <a:spcPct val="120000"/>
                  </a:lnSpc>
                  <a:buNone/>
                </a:pPr>
                <a:r>
                  <a:rPr lang="zh-CN" altLang="en-US" sz="1400" dirty="0"/>
                  <a:t>其中</a:t>
                </a:r>
                <a14:m>
                  <m:oMath xmlns:m="http://schemas.openxmlformats.org/officeDocument/2006/math">
                    <m:r>
                      <a:rPr lang="zh-CN" altLang="en-US" sz="1400" i="1" smtClean="0">
                        <a:latin typeface="Cambria Math" panose="02040503050406030204" pitchFamily="18" charset="0"/>
                      </a:rPr>
                      <m:t>𝜁</m:t>
                    </m:r>
                    <m:r>
                      <a:rPr lang="zh-CN" altLang="en-US" sz="1400" i="1" smtClean="0">
                        <a:latin typeface="Cambria Math" panose="02040503050406030204" pitchFamily="18" charset="0"/>
                      </a:rPr>
                      <m:t>=</m:t>
                    </m:r>
                    <m:sSup>
                      <m:sSupPr>
                        <m:ctrlPr>
                          <a:rPr lang="zh-CN" altLang="en-US" sz="1400" i="1" smtClean="0">
                            <a:latin typeface="Cambria Math" panose="02040503050406030204" pitchFamily="18" charset="0"/>
                          </a:rPr>
                        </m:ctrlPr>
                      </m:sSupPr>
                      <m:e>
                        <m:d>
                          <m:dPr>
                            <m:ctrlPr>
                              <a:rPr lang="zh-CN" altLang="en-US" sz="1400" i="1" smtClean="0">
                                <a:latin typeface="Cambria Math" panose="02040503050406030204" pitchFamily="18" charset="0"/>
                              </a:rPr>
                            </m:ctrlPr>
                          </m:dPr>
                          <m:e>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𝑁</m:t>
                                </m:r>
                              </m:e>
                              <m:sub>
                                <m:r>
                                  <a:rPr lang="zh-CN" altLang="en-US" sz="1400" i="1" smtClean="0">
                                    <a:latin typeface="Cambria Math" panose="02040503050406030204" pitchFamily="18" charset="0"/>
                                  </a:rPr>
                                  <m:t>𝑡</m:t>
                                </m:r>
                              </m:sub>
                            </m:sSub>
                            <m:d>
                              <m:dPr>
                                <m:ctrlPr>
                                  <a:rPr lang="zh-CN" altLang="en-US" sz="1400" i="1" smtClean="0">
                                    <a:latin typeface="Cambria Math" panose="02040503050406030204" pitchFamily="18" charset="0"/>
                                  </a:rPr>
                                </m:ctrlPr>
                              </m:dPr>
                              <m:e>
                                <m:r>
                                  <a:rPr lang="zh-CN" altLang="en-US" sz="1400" i="1" smtClean="0">
                                    <a:latin typeface="Cambria Math" panose="02040503050406030204" pitchFamily="18" charset="0"/>
                                  </a:rPr>
                                  <m:t>𝑇</m:t>
                                </m:r>
                                <m:r>
                                  <a:rPr lang="zh-CN" altLang="en-US" sz="1400" i="1" smtClean="0">
                                    <a:latin typeface="Cambria Math" panose="02040503050406030204" pitchFamily="18" charset="0"/>
                                  </a:rPr>
                                  <m:t>−</m:t>
                                </m:r>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𝑇</m:t>
                                    </m:r>
                                  </m:e>
                                  <m:sub>
                                    <m:r>
                                      <a:rPr lang="zh-CN" altLang="en-US" sz="1400" i="1" smtClean="0">
                                        <a:latin typeface="Cambria Math" panose="02040503050406030204" pitchFamily="18" charset="0"/>
                                      </a:rPr>
                                      <m:t>0</m:t>
                                    </m:r>
                                  </m:sub>
                                </m:sSub>
                              </m:e>
                            </m:d>
                          </m:e>
                        </m:d>
                      </m:e>
                      <m:sup>
                        <m:r>
                          <a:rPr lang="zh-CN" altLang="en-US" sz="1400" i="1" smtClean="0">
                            <a:latin typeface="Cambria Math" panose="02040503050406030204" pitchFamily="18" charset="0"/>
                          </a:rPr>
                          <m:t>1/4</m:t>
                        </m:r>
                      </m:sup>
                    </m:sSup>
                    <m:acc>
                      <m:accPr>
                        <m:chr m:val="ˆ"/>
                        <m:ctrlPr>
                          <a:rPr lang="zh-CN" altLang="en-US" sz="1400" i="1" smtClean="0">
                            <a:latin typeface="Cambria Math" panose="02040503050406030204" pitchFamily="18" charset="0"/>
                          </a:rPr>
                        </m:ctrlPr>
                      </m:accPr>
                      <m:e>
                        <m:r>
                          <a:rPr lang="zh-CN" altLang="en-US" sz="1400" i="1" smtClean="0">
                            <a:latin typeface="Cambria Math" panose="02040503050406030204" pitchFamily="18" charset="0"/>
                          </a:rPr>
                          <m:t>𝜎</m:t>
                        </m:r>
                      </m:e>
                    </m:acc>
                    <m:r>
                      <a:rPr lang="zh-CN" altLang="en-US" sz="1400" i="1" smtClean="0">
                        <a:latin typeface="Cambria Math" panose="02040503050406030204" pitchFamily="18" charset="0"/>
                      </a:rPr>
                      <m:t>,</m:t>
                    </m:r>
                    <m:sSup>
                      <m:sSupPr>
                        <m:ctrlPr>
                          <a:rPr lang="zh-CN" altLang="en-US" sz="1400" i="1" smtClean="0">
                            <a:latin typeface="Cambria Math" panose="02040503050406030204" pitchFamily="18" charset="0"/>
                          </a:rPr>
                        </m:ctrlPr>
                      </m:sSupPr>
                      <m:e>
                        <m:acc>
                          <m:accPr>
                            <m:chr m:val="ˆ"/>
                            <m:ctrlPr>
                              <a:rPr lang="zh-CN" altLang="en-US" sz="1400" i="1" smtClean="0">
                                <a:latin typeface="Cambria Math" panose="02040503050406030204" pitchFamily="18" charset="0"/>
                              </a:rPr>
                            </m:ctrlPr>
                          </m:accPr>
                          <m:e>
                            <m:r>
                              <a:rPr lang="zh-CN" altLang="en-US" sz="1400" i="1" smtClean="0">
                                <a:latin typeface="Cambria Math" panose="02040503050406030204" pitchFamily="18" charset="0"/>
                              </a:rPr>
                              <m:t>𝜎</m:t>
                            </m:r>
                          </m:e>
                        </m:acc>
                      </m:e>
                      <m:sup>
                        <m:r>
                          <a:rPr lang="zh-CN" altLang="en-US" sz="1400" i="1" smtClean="0">
                            <a:latin typeface="Cambria Math" panose="02040503050406030204" pitchFamily="18" charset="0"/>
                          </a:rPr>
                          <m:t>2</m:t>
                        </m:r>
                      </m:sup>
                    </m:sSup>
                    <m:r>
                      <a:rPr lang="zh-CN" altLang="en-US" sz="1400" i="1" smtClean="0">
                        <a:latin typeface="Cambria Math" panose="02040503050406030204" pitchFamily="18" charset="0"/>
                      </a:rPr>
                      <m:t>=</m:t>
                    </m:r>
                    <m:f>
                      <m:fPr>
                        <m:ctrlPr>
                          <a:rPr lang="zh-CN" altLang="en-US" sz="1400" i="1" smtClean="0">
                            <a:latin typeface="Cambria Math" panose="02040503050406030204" pitchFamily="18" charset="0"/>
                          </a:rPr>
                        </m:ctrlPr>
                      </m:fPr>
                      <m:num>
                        <m:r>
                          <a:rPr lang="zh-CN" altLang="en-US" sz="1400" i="1" smtClean="0">
                            <a:latin typeface="Cambria Math" panose="02040503050406030204" pitchFamily="18" charset="0"/>
                          </a:rPr>
                          <m:t>1</m:t>
                        </m:r>
                      </m:num>
                      <m:den>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𝑁</m:t>
                            </m:r>
                          </m:e>
                          <m:sub>
                            <m:r>
                              <a:rPr lang="zh-CN" altLang="en-US" sz="1400" i="1" smtClean="0">
                                <a:latin typeface="Cambria Math" panose="02040503050406030204" pitchFamily="18" charset="0"/>
                              </a:rPr>
                              <m:t>𝑐</m:t>
                            </m:r>
                          </m:sub>
                        </m:sSub>
                        <m:d>
                          <m:dPr>
                            <m:ctrlPr>
                              <a:rPr lang="zh-CN" altLang="en-US" sz="1400" i="1" smtClean="0">
                                <a:latin typeface="Cambria Math" panose="02040503050406030204" pitchFamily="18" charset="0"/>
                              </a:rPr>
                            </m:ctrlPr>
                          </m:dPr>
                          <m:e>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𝑇</m:t>
                                </m:r>
                              </m:e>
                              <m:sub>
                                <m:r>
                                  <a:rPr lang="zh-CN" altLang="en-US" sz="1400" i="1" smtClean="0">
                                    <a:latin typeface="Cambria Math" panose="02040503050406030204" pitchFamily="18" charset="0"/>
                                  </a:rPr>
                                  <m:t>0</m:t>
                                </m:r>
                              </m:sub>
                            </m:sSub>
                            <m:r>
                              <a:rPr lang="zh-CN" altLang="en-US" sz="1400" i="1" smtClean="0">
                                <a:latin typeface="Cambria Math" panose="02040503050406030204" pitchFamily="18" charset="0"/>
                              </a:rPr>
                              <m:t>−1</m:t>
                            </m:r>
                          </m:e>
                        </m:d>
                      </m:den>
                    </m:f>
                    <m:nary>
                      <m:naryPr>
                        <m:chr m:val="∑"/>
                        <m:limLoc m:val="undOvr"/>
                        <m:ctrlPr>
                          <a:rPr lang="zh-CN" altLang="en-US" sz="1400" i="1" smtClean="0">
                            <a:latin typeface="Cambria Math" panose="02040503050406030204" pitchFamily="18" charset="0"/>
                          </a:rPr>
                        </m:ctrlPr>
                      </m:naryPr>
                      <m:sub>
                        <m:r>
                          <a:rPr lang="zh-CN" altLang="en-US" sz="1400" i="1" smtClean="0">
                            <a:latin typeface="Cambria Math" panose="02040503050406030204" pitchFamily="18" charset="0"/>
                          </a:rPr>
                          <m:t>𝑖</m:t>
                        </m:r>
                        <m:r>
                          <a:rPr lang="zh-CN" altLang="en-US" sz="1400" i="1" smtClean="0">
                            <a:latin typeface="Cambria Math" panose="02040503050406030204" pitchFamily="18" charset="0"/>
                          </a:rPr>
                          <m:t>=1</m:t>
                        </m:r>
                      </m:sub>
                      <m:sup>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𝑁</m:t>
                            </m:r>
                          </m:e>
                          <m:sub>
                            <m:r>
                              <a:rPr lang="zh-CN" altLang="en-US" sz="1400" i="1" smtClean="0">
                                <a:latin typeface="Cambria Math" panose="02040503050406030204" pitchFamily="18" charset="0"/>
                              </a:rPr>
                              <m:t>𝑐</m:t>
                            </m:r>
                          </m:sub>
                        </m:sSub>
                      </m:sup>
                      <m:e>
                        <m:nary>
                          <m:naryPr>
                            <m:chr m:val="∑"/>
                            <m:limLoc m:val="undOvr"/>
                            <m:ctrlPr>
                              <a:rPr lang="zh-CN" altLang="en-US" sz="1400" i="1" smtClean="0">
                                <a:latin typeface="Cambria Math" panose="02040503050406030204" pitchFamily="18" charset="0"/>
                              </a:rPr>
                            </m:ctrlPr>
                          </m:naryPr>
                          <m:sub>
                            <m:r>
                              <a:rPr lang="zh-CN" altLang="en-US" sz="1400" i="1" smtClean="0">
                                <a:latin typeface="Cambria Math" panose="02040503050406030204" pitchFamily="18" charset="0"/>
                              </a:rPr>
                              <m:t>𝑡</m:t>
                            </m:r>
                            <m:r>
                              <a:rPr lang="zh-CN" altLang="en-US" sz="1400" i="1" smtClean="0">
                                <a:latin typeface="Cambria Math" panose="02040503050406030204" pitchFamily="18" charset="0"/>
                              </a:rPr>
                              <m:t>=1</m:t>
                            </m:r>
                          </m:sub>
                          <m:sup>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𝑇</m:t>
                                </m:r>
                              </m:e>
                              <m:sub>
                                <m:r>
                                  <a:rPr lang="zh-CN" altLang="en-US" sz="1400" i="1" smtClean="0">
                                    <a:latin typeface="Cambria Math" panose="02040503050406030204" pitchFamily="18" charset="0"/>
                                  </a:rPr>
                                  <m:t>0</m:t>
                                </m:r>
                              </m:sub>
                            </m:sSub>
                            <m:r>
                              <a:rPr lang="zh-CN" altLang="en-US" sz="1400" i="1" smtClean="0">
                                <a:latin typeface="Cambria Math" panose="02040503050406030204" pitchFamily="18" charset="0"/>
                              </a:rPr>
                              <m:t>−1</m:t>
                            </m:r>
                          </m:sup>
                          <m:e>
                            <m:sSup>
                              <m:sSupPr>
                                <m:ctrlPr>
                                  <a:rPr lang="zh-CN" altLang="en-US" sz="1400" i="1" smtClean="0">
                                    <a:latin typeface="Cambria Math" panose="02040503050406030204" pitchFamily="18" charset="0"/>
                                  </a:rPr>
                                </m:ctrlPr>
                              </m:sSupPr>
                              <m:e>
                                <m:d>
                                  <m:dPr>
                                    <m:ctrlPr>
                                      <a:rPr lang="zh-CN" altLang="en-US" sz="1400" i="1" smtClean="0">
                                        <a:latin typeface="Cambria Math" panose="02040503050406030204" pitchFamily="18" charset="0"/>
                                      </a:rPr>
                                    </m:ctrlPr>
                                  </m:dPr>
                                  <m:e>
                                    <m:sSub>
                                      <m:sSubPr>
                                        <m:ctrlPr>
                                          <a:rPr lang="zh-CN" altLang="en-US" sz="1400" i="1" smtClean="0">
                                            <a:latin typeface="Cambria Math" panose="02040503050406030204" pitchFamily="18" charset="0"/>
                                          </a:rPr>
                                        </m:ctrlPr>
                                      </m:sSubPr>
                                      <m:e>
                                        <m:r>
                                          <m:rPr>
                                            <m:sty m:val="p"/>
                                          </m:rPr>
                                          <a:rPr lang="zh-CN" altLang="en-US" sz="1400" i="1" smtClean="0">
                                            <a:latin typeface="Cambria Math" panose="02040503050406030204" pitchFamily="18" charset="0"/>
                                          </a:rPr>
                                          <m:t>Δ</m:t>
                                        </m:r>
                                      </m:e>
                                      <m:sub>
                                        <m:r>
                                          <a:rPr lang="zh-CN" altLang="en-US" sz="1400" i="1" smtClean="0">
                                            <a:latin typeface="Cambria Math" panose="02040503050406030204" pitchFamily="18" charset="0"/>
                                          </a:rPr>
                                          <m:t>𝑖𝑡</m:t>
                                        </m:r>
                                      </m:sub>
                                    </m:sSub>
                                    <m:r>
                                      <a:rPr lang="zh-CN" altLang="en-US" sz="1400" i="1" smtClean="0">
                                        <a:latin typeface="Cambria Math" panose="02040503050406030204" pitchFamily="18" charset="0"/>
                                      </a:rPr>
                                      <m:t>−</m:t>
                                    </m:r>
                                    <m:acc>
                                      <m:accPr>
                                        <m:chr m:val="̅"/>
                                        <m:ctrlPr>
                                          <a:rPr lang="zh-CN" altLang="en-US" sz="1400" i="1" smtClean="0">
                                            <a:latin typeface="Cambria Math" panose="02040503050406030204" pitchFamily="18" charset="0"/>
                                          </a:rPr>
                                        </m:ctrlPr>
                                      </m:accPr>
                                      <m:e>
                                        <m:r>
                                          <m:rPr>
                                            <m:sty m:val="p"/>
                                          </m:rPr>
                                          <a:rPr lang="zh-CN" altLang="en-US" sz="1400" i="1" smtClean="0">
                                            <a:latin typeface="Cambria Math" panose="02040503050406030204" pitchFamily="18" charset="0"/>
                                          </a:rPr>
                                          <m:t>Δ</m:t>
                                        </m:r>
                                      </m:e>
                                    </m:acc>
                                  </m:e>
                                </m:d>
                              </m:e>
                              <m:sup>
                                <m:r>
                                  <a:rPr lang="zh-CN" altLang="en-US" sz="1400" i="1" smtClean="0">
                                    <a:latin typeface="Cambria Math" panose="02040503050406030204" pitchFamily="18" charset="0"/>
                                  </a:rPr>
                                  <m:t>2</m:t>
                                </m:r>
                              </m:sup>
                            </m:sSup>
                          </m:e>
                        </m:nary>
                      </m:e>
                    </m:nary>
                    <m:r>
                      <a:rPr lang="zh-CN" altLang="en-US" sz="1400" i="1" smtClean="0">
                        <a:latin typeface="Cambria Math" panose="02040503050406030204" pitchFamily="18" charset="0"/>
                      </a:rPr>
                      <m:t>,</m:t>
                    </m:r>
                    <m:sSub>
                      <m:sSubPr>
                        <m:ctrlPr>
                          <a:rPr lang="zh-CN" altLang="en-US" sz="1400" i="1" smtClean="0">
                            <a:latin typeface="Cambria Math" panose="02040503050406030204" pitchFamily="18" charset="0"/>
                          </a:rPr>
                        </m:ctrlPr>
                      </m:sSubPr>
                      <m:e>
                        <m:r>
                          <m:rPr>
                            <m:sty m:val="p"/>
                          </m:rPr>
                          <a:rPr lang="zh-CN" altLang="en-US" sz="1400" i="1" smtClean="0">
                            <a:latin typeface="Cambria Math" panose="02040503050406030204" pitchFamily="18" charset="0"/>
                          </a:rPr>
                          <m:t>Δ</m:t>
                        </m:r>
                      </m:e>
                      <m:sub>
                        <m:r>
                          <a:rPr lang="zh-CN" altLang="en-US" sz="1400" i="1" smtClean="0">
                            <a:latin typeface="Cambria Math" panose="02040503050406030204" pitchFamily="18" charset="0"/>
                          </a:rPr>
                          <m:t>𝑖𝑡</m:t>
                        </m:r>
                      </m:sub>
                    </m:sSub>
                    <m:r>
                      <a:rPr lang="zh-CN" altLang="en-US" sz="1400" i="1" smtClean="0">
                        <a:latin typeface="Cambria Math" panose="02040503050406030204" pitchFamily="18" charset="0"/>
                      </a:rPr>
                      <m:t>=</m:t>
                    </m:r>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𝑌</m:t>
                        </m:r>
                      </m:e>
                      <m:sub>
                        <m:r>
                          <a:rPr lang="zh-CN" altLang="en-US" sz="1400" i="1" smtClean="0">
                            <a:latin typeface="Cambria Math" panose="02040503050406030204" pitchFamily="18" charset="0"/>
                          </a:rPr>
                          <m:t>𝑖𝑡</m:t>
                        </m:r>
                        <m:r>
                          <a:rPr lang="zh-CN" altLang="en-US" sz="1400" i="1" smtClean="0">
                            <a:latin typeface="Cambria Math" panose="02040503050406030204" pitchFamily="18" charset="0"/>
                          </a:rPr>
                          <m:t>+1</m:t>
                        </m:r>
                      </m:sub>
                    </m:sSub>
                    <m:r>
                      <a:rPr lang="zh-CN" altLang="en-US" sz="1400" i="1" smtClean="0">
                        <a:latin typeface="Cambria Math" panose="02040503050406030204" pitchFamily="18" charset="0"/>
                      </a:rPr>
                      <m:t>−</m:t>
                    </m:r>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𝑌</m:t>
                        </m:r>
                      </m:e>
                      <m:sub>
                        <m:r>
                          <a:rPr lang="zh-CN" altLang="en-US" sz="1400" i="1" smtClean="0">
                            <a:latin typeface="Cambria Math" panose="02040503050406030204" pitchFamily="18" charset="0"/>
                          </a:rPr>
                          <m:t>𝑖𝑡</m:t>
                        </m:r>
                      </m:sub>
                    </m:sSub>
                  </m:oMath>
                </a14:m>
                <a:r>
                  <a:rPr lang="zh-CN" altLang="en-US" sz="1400" dirty="0"/>
                  <a:t>。</a:t>
                </a:r>
                <a:endParaRPr lang="en-US" altLang="zh-CN" sz="1400" dirty="0"/>
              </a:p>
              <a:p>
                <a:pPr>
                  <a:lnSpc>
                    <a:spcPct val="120000"/>
                  </a:lnSpc>
                </a:pPr>
                <a:r>
                  <a:rPr lang="zh-CN" altLang="en-US" sz="1400" dirty="0"/>
                  <a:t>用控制组数据𝑖 ≤ 𝑁𝑐 估计时间权重𝜆𝑡，</a:t>
                </a:r>
                <a:endParaRPr lang="en-US" altLang="zh-CN" sz="1400" dirty="0"/>
              </a:p>
              <a:p>
                <a:pPr marL="0" indent="0">
                  <a:lnSpc>
                    <a:spcPct val="120000"/>
                  </a:lnSpc>
                  <a:buNone/>
                </a:pPr>
                <a14:m>
                  <m:oMathPara xmlns:m="http://schemas.openxmlformats.org/officeDocument/2006/math">
                    <m:oMath>
                      <m:d>
                        <m:dPr>
                          <m:ctrlPr>
                            <a:rPr lang="zh-CN" altLang="en-US" sz="1400" i="1" smtClean="0">
                              <a:latin typeface="Cambria Math" panose="02040503050406030204" pitchFamily="18" charset="0"/>
                            </a:rPr>
                          </m:ctrlPr>
                        </m:dPr>
                        <m:e>
                          <m:sSub>
                            <m:sSubPr>
                              <m:ctrlPr>
                                <a:rPr lang="zh-CN" altLang="en-US" sz="1400" i="1" smtClean="0">
                                  <a:latin typeface="Cambria Math" panose="02040503050406030204" pitchFamily="18" charset="0"/>
                                </a:rPr>
                              </m:ctrlPr>
                            </m:sSubPr>
                            <m:e>
                              <m:acc>
                                <m:accPr>
                                  <m:chr m:val="ˆ"/>
                                  <m:ctrlPr>
                                    <a:rPr lang="zh-CN" altLang="en-US" sz="1400" i="1" smtClean="0">
                                      <a:latin typeface="Cambria Math" panose="02040503050406030204" pitchFamily="18" charset="0"/>
                                    </a:rPr>
                                  </m:ctrlPr>
                                </m:accPr>
                                <m:e>
                                  <m:r>
                                    <a:rPr lang="zh-CN" altLang="en-US" sz="1400" i="1" smtClean="0">
                                      <a:latin typeface="Cambria Math" panose="02040503050406030204" pitchFamily="18" charset="0"/>
                                    </a:rPr>
                                    <m:t>𝜆</m:t>
                                  </m:r>
                                </m:e>
                              </m:acc>
                            </m:e>
                            <m:sub>
                              <m:r>
                                <a:rPr lang="zh-CN" altLang="en-US" sz="1400" i="1" smtClean="0">
                                  <a:latin typeface="Cambria Math" panose="02040503050406030204" pitchFamily="18" charset="0"/>
                                </a:rPr>
                                <m:t>0</m:t>
                              </m:r>
                            </m:sub>
                          </m:sSub>
                          <m:r>
                            <a:rPr lang="zh-CN" altLang="en-US" sz="1400" i="1" smtClean="0">
                              <a:latin typeface="Cambria Math" panose="02040503050406030204" pitchFamily="18" charset="0"/>
                            </a:rPr>
                            <m:t>,</m:t>
                          </m:r>
                          <m:acc>
                            <m:accPr>
                              <m:chr m:val="ˆ"/>
                              <m:ctrlPr>
                                <a:rPr lang="zh-CN" altLang="en-US" sz="1400" i="1" smtClean="0">
                                  <a:latin typeface="Cambria Math" panose="02040503050406030204" pitchFamily="18" charset="0"/>
                                </a:rPr>
                              </m:ctrlPr>
                            </m:accPr>
                            <m:e>
                              <m:r>
                                <a:rPr lang="zh-CN" altLang="en-US" sz="1400" i="1" smtClean="0">
                                  <a:latin typeface="Cambria Math" panose="02040503050406030204" pitchFamily="18" charset="0"/>
                                </a:rPr>
                                <m:t>𝜆</m:t>
                              </m:r>
                            </m:e>
                          </m:acc>
                        </m:e>
                      </m:d>
                      <m:r>
                        <a:rPr lang="zh-CN" altLang="en-US" sz="1400" i="1" smtClean="0">
                          <a:latin typeface="Cambria Math" panose="02040503050406030204" pitchFamily="18" charset="0"/>
                        </a:rPr>
                        <m:t>=</m:t>
                      </m:r>
                      <m:limLow>
                        <m:limLowPr>
                          <m:ctrlPr>
                            <a:rPr lang="zh-CN" altLang="en-US" sz="1400" i="1" smtClean="0">
                              <a:latin typeface="Cambria Math" panose="02040503050406030204" pitchFamily="18" charset="0"/>
                            </a:rPr>
                          </m:ctrlPr>
                        </m:limLowPr>
                        <m:e>
                          <m:func>
                            <m:funcPr>
                              <m:ctrlPr>
                                <a:rPr lang="zh-CN" altLang="en-US" sz="1400" i="1" smtClean="0">
                                  <a:latin typeface="Cambria Math" panose="02040503050406030204" pitchFamily="18" charset="0"/>
                                </a:rPr>
                              </m:ctrlPr>
                            </m:funcPr>
                            <m:fName>
                              <m:r>
                                <m:rPr>
                                  <m:sty m:val="p"/>
                                </m:rPr>
                                <a:rPr lang="zh-CN" altLang="en-US" sz="1400" i="1" smtClean="0">
                                  <a:latin typeface="Cambria Math" panose="02040503050406030204" pitchFamily="18" charset="0"/>
                                </a:rPr>
                                <m:t>arg</m:t>
                              </m:r>
                            </m:fName>
                            <m:e>
                              <m:r>
                                <a:rPr lang="zh-CN" altLang="en-US" sz="1400" i="1" smtClean="0">
                                  <a:latin typeface="Cambria Math" panose="02040503050406030204" pitchFamily="18" charset="0"/>
                                </a:rPr>
                                <m:t>​</m:t>
                              </m:r>
                            </m:e>
                          </m:func>
                          <m:r>
                            <m:rPr>
                              <m:sty m:val="p"/>
                            </m:rPr>
                            <a:rPr lang="zh-CN" altLang="en-US" sz="1400" i="1" smtClean="0">
                              <a:latin typeface="Cambria Math" panose="02040503050406030204" pitchFamily="18" charset="0"/>
                            </a:rPr>
                            <m:t>min</m:t>
                          </m:r>
                        </m:e>
                        <m:lim>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𝜆</m:t>
                              </m:r>
                            </m:e>
                            <m:sub>
                              <m:r>
                                <a:rPr lang="zh-CN" altLang="en-US" sz="1400" i="1" smtClean="0">
                                  <a:latin typeface="Cambria Math" panose="02040503050406030204" pitchFamily="18" charset="0"/>
                                </a:rPr>
                                <m:t>0</m:t>
                              </m:r>
                            </m:sub>
                          </m:sSub>
                          <m:r>
                            <a:rPr lang="zh-CN" altLang="en-US" sz="1400" i="1" smtClean="0">
                              <a:latin typeface="Cambria Math" panose="02040503050406030204" pitchFamily="18" charset="0"/>
                            </a:rPr>
                            <m:t>∈</m:t>
                          </m:r>
                          <m:r>
                            <a:rPr lang="zh-CN" altLang="en-US" sz="1400" i="1" smtClean="0">
                              <a:latin typeface="Cambria Math" panose="02040503050406030204" pitchFamily="18" charset="0"/>
                            </a:rPr>
                            <m:t>𝑅</m:t>
                          </m:r>
                          <m:r>
                            <a:rPr lang="zh-CN" altLang="en-US" sz="1400" i="1" smtClean="0">
                              <a:latin typeface="Cambria Math" panose="02040503050406030204" pitchFamily="18" charset="0"/>
                            </a:rPr>
                            <m:t>,</m:t>
                          </m:r>
                          <m:r>
                            <a:rPr lang="zh-CN" altLang="en-US" sz="1400" i="1" smtClean="0">
                              <a:latin typeface="Cambria Math" panose="02040503050406030204" pitchFamily="18" charset="0"/>
                            </a:rPr>
                            <m:t>𝜆</m:t>
                          </m:r>
                          <m:r>
                            <a:rPr lang="zh-CN" altLang="en-US" sz="1400" i="1" smtClean="0">
                              <a:latin typeface="Cambria Math" panose="02040503050406030204" pitchFamily="18" charset="0"/>
                            </a:rPr>
                            <m:t>∈</m:t>
                          </m:r>
                          <m:r>
                            <m:rPr>
                              <m:sty m:val="p"/>
                            </m:rPr>
                            <a:rPr lang="zh-CN" altLang="en-US" sz="1400" i="1" smtClean="0">
                              <a:latin typeface="Cambria Math" panose="02040503050406030204" pitchFamily="18" charset="0"/>
                            </a:rPr>
                            <m:t>Λ</m:t>
                          </m:r>
                        </m:lim>
                      </m:limLow>
                      <m:nary>
                        <m:naryPr>
                          <m:chr m:val="∑"/>
                          <m:limLoc m:val="undOvr"/>
                          <m:ctrlPr>
                            <a:rPr lang="zh-CN" altLang="en-US" sz="1400" i="1" smtClean="0">
                              <a:latin typeface="Cambria Math" panose="02040503050406030204" pitchFamily="18" charset="0"/>
                            </a:rPr>
                          </m:ctrlPr>
                        </m:naryPr>
                        <m:sub>
                          <m:r>
                            <a:rPr lang="zh-CN" altLang="en-US" sz="1400" i="1" smtClean="0">
                              <a:latin typeface="Cambria Math" panose="02040503050406030204" pitchFamily="18" charset="0"/>
                            </a:rPr>
                            <m:t>𝑖</m:t>
                          </m:r>
                          <m:r>
                            <a:rPr lang="zh-CN" altLang="en-US" sz="1400" i="1" smtClean="0">
                              <a:latin typeface="Cambria Math" panose="02040503050406030204" pitchFamily="18" charset="0"/>
                            </a:rPr>
                            <m:t>=1</m:t>
                          </m:r>
                        </m:sub>
                        <m:sup>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𝑁</m:t>
                              </m:r>
                            </m:e>
                            <m:sub>
                              <m:r>
                                <a:rPr lang="zh-CN" altLang="en-US" sz="1400" i="1" smtClean="0">
                                  <a:latin typeface="Cambria Math" panose="02040503050406030204" pitchFamily="18" charset="0"/>
                                </a:rPr>
                                <m:t>𝑐</m:t>
                              </m:r>
                            </m:sub>
                          </m:sSub>
                        </m:sup>
                        <m:e>
                          <m:sSup>
                            <m:sSupPr>
                              <m:ctrlPr>
                                <a:rPr lang="zh-CN" altLang="en-US" sz="1400" i="1" smtClean="0">
                                  <a:latin typeface="Cambria Math" panose="02040503050406030204" pitchFamily="18" charset="0"/>
                                </a:rPr>
                              </m:ctrlPr>
                            </m:sSupPr>
                            <m:e>
                              <m:d>
                                <m:dPr>
                                  <m:ctrlPr>
                                    <a:rPr lang="zh-CN" altLang="en-US" sz="1400" i="1" smtClean="0">
                                      <a:latin typeface="Cambria Math" panose="02040503050406030204" pitchFamily="18" charset="0"/>
                                    </a:rPr>
                                  </m:ctrlPr>
                                </m:dPr>
                                <m:e>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𝜆</m:t>
                                      </m:r>
                                    </m:e>
                                    <m:sub>
                                      <m:r>
                                        <a:rPr lang="zh-CN" altLang="en-US" sz="1400" i="1" smtClean="0">
                                          <a:latin typeface="Cambria Math" panose="02040503050406030204" pitchFamily="18" charset="0"/>
                                        </a:rPr>
                                        <m:t>0</m:t>
                                      </m:r>
                                    </m:sub>
                                  </m:sSub>
                                  <m:r>
                                    <a:rPr lang="zh-CN" altLang="en-US" sz="1400" i="1" smtClean="0">
                                      <a:latin typeface="Cambria Math" panose="02040503050406030204" pitchFamily="18" charset="0"/>
                                    </a:rPr>
                                    <m:t>+</m:t>
                                  </m:r>
                                  <m:nary>
                                    <m:naryPr>
                                      <m:chr m:val="∑"/>
                                      <m:limLoc m:val="undOvr"/>
                                      <m:ctrlPr>
                                        <a:rPr lang="zh-CN" altLang="en-US" sz="1400" i="1" smtClean="0">
                                          <a:latin typeface="Cambria Math" panose="02040503050406030204" pitchFamily="18" charset="0"/>
                                        </a:rPr>
                                      </m:ctrlPr>
                                    </m:naryPr>
                                    <m:sub>
                                      <m:r>
                                        <a:rPr lang="zh-CN" altLang="en-US" sz="1400" i="1" smtClean="0">
                                          <a:latin typeface="Cambria Math" panose="02040503050406030204" pitchFamily="18" charset="0"/>
                                        </a:rPr>
                                        <m:t>𝑡</m:t>
                                      </m:r>
                                      <m:r>
                                        <a:rPr lang="zh-CN" altLang="en-US" sz="1400" i="1" smtClean="0">
                                          <a:latin typeface="Cambria Math" panose="02040503050406030204" pitchFamily="18" charset="0"/>
                                        </a:rPr>
                                        <m:t>=1</m:t>
                                      </m:r>
                                    </m:sub>
                                    <m:sup>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𝑇</m:t>
                                          </m:r>
                                        </m:e>
                                        <m:sub>
                                          <m:r>
                                            <a:rPr lang="zh-CN" altLang="en-US" sz="1400" i="1" smtClean="0">
                                              <a:latin typeface="Cambria Math" panose="02040503050406030204" pitchFamily="18" charset="0"/>
                                            </a:rPr>
                                            <m:t>0</m:t>
                                          </m:r>
                                        </m:sub>
                                      </m:sSub>
                                    </m:sup>
                                    <m:e>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𝜆</m:t>
                                          </m:r>
                                        </m:e>
                                        <m:sub>
                                          <m:r>
                                            <a:rPr lang="zh-CN" altLang="en-US" sz="1400" i="1" smtClean="0">
                                              <a:latin typeface="Cambria Math" panose="02040503050406030204" pitchFamily="18" charset="0"/>
                                            </a:rPr>
                                            <m:t>𝑡</m:t>
                                          </m:r>
                                        </m:sub>
                                      </m:sSub>
                                    </m:e>
                                  </m:nary>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𝑌</m:t>
                                      </m:r>
                                    </m:e>
                                    <m:sub>
                                      <m:r>
                                        <a:rPr lang="zh-CN" altLang="en-US" sz="1400" i="1" smtClean="0">
                                          <a:latin typeface="Cambria Math" panose="02040503050406030204" pitchFamily="18" charset="0"/>
                                        </a:rPr>
                                        <m:t>𝑖𝑡</m:t>
                                      </m:r>
                                    </m:sub>
                                  </m:sSub>
                                  <m:r>
                                    <a:rPr lang="zh-CN" altLang="en-US" sz="1400" i="1" smtClean="0">
                                      <a:latin typeface="Cambria Math" panose="02040503050406030204" pitchFamily="18" charset="0"/>
                                    </a:rPr>
                                    <m:t>−</m:t>
                                  </m:r>
                                  <m:f>
                                    <m:fPr>
                                      <m:ctrlPr>
                                        <a:rPr lang="zh-CN" altLang="en-US" sz="1400" i="1" smtClean="0">
                                          <a:latin typeface="Cambria Math" panose="02040503050406030204" pitchFamily="18" charset="0"/>
                                        </a:rPr>
                                      </m:ctrlPr>
                                    </m:fPr>
                                    <m:num>
                                      <m:r>
                                        <a:rPr lang="zh-CN" altLang="en-US" sz="1400" i="1" smtClean="0">
                                          <a:latin typeface="Cambria Math" panose="02040503050406030204" pitchFamily="18" charset="0"/>
                                        </a:rPr>
                                        <m:t>1</m:t>
                                      </m:r>
                                    </m:num>
                                    <m:den>
                                      <m:r>
                                        <a:rPr lang="zh-CN" altLang="en-US" sz="1400" i="1" smtClean="0">
                                          <a:latin typeface="Cambria Math" panose="02040503050406030204" pitchFamily="18" charset="0"/>
                                        </a:rPr>
                                        <m:t>𝑇</m:t>
                                      </m:r>
                                      <m:r>
                                        <a:rPr lang="zh-CN" altLang="en-US" sz="1400" i="1" smtClean="0">
                                          <a:latin typeface="Cambria Math" panose="02040503050406030204" pitchFamily="18" charset="0"/>
                                        </a:rPr>
                                        <m:t>−</m:t>
                                      </m:r>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𝑇</m:t>
                                          </m:r>
                                        </m:e>
                                        <m:sub>
                                          <m:r>
                                            <a:rPr lang="zh-CN" altLang="en-US" sz="1400" i="1" smtClean="0">
                                              <a:latin typeface="Cambria Math" panose="02040503050406030204" pitchFamily="18" charset="0"/>
                                            </a:rPr>
                                            <m:t>0</m:t>
                                          </m:r>
                                        </m:sub>
                                      </m:sSub>
                                    </m:den>
                                  </m:f>
                                  <m:nary>
                                    <m:naryPr>
                                      <m:chr m:val="∑"/>
                                      <m:limLoc m:val="undOvr"/>
                                      <m:ctrlPr>
                                        <a:rPr lang="zh-CN" altLang="en-US" sz="1400" i="1" smtClean="0">
                                          <a:latin typeface="Cambria Math" panose="02040503050406030204" pitchFamily="18" charset="0"/>
                                        </a:rPr>
                                      </m:ctrlPr>
                                    </m:naryPr>
                                    <m:sub>
                                      <m:r>
                                        <a:rPr lang="zh-CN" altLang="en-US" sz="1400" i="1" smtClean="0">
                                          <a:latin typeface="Cambria Math" panose="02040503050406030204" pitchFamily="18" charset="0"/>
                                        </a:rPr>
                                        <m:t>𝑡</m:t>
                                      </m:r>
                                      <m:r>
                                        <a:rPr lang="zh-CN" altLang="en-US" sz="1400" i="1" smtClean="0">
                                          <a:latin typeface="Cambria Math" panose="02040503050406030204" pitchFamily="18" charset="0"/>
                                        </a:rPr>
                                        <m:t>=</m:t>
                                      </m:r>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𝑇</m:t>
                                          </m:r>
                                        </m:e>
                                        <m:sub>
                                          <m:r>
                                            <a:rPr lang="zh-CN" altLang="en-US" sz="1400" i="1" smtClean="0">
                                              <a:latin typeface="Cambria Math" panose="02040503050406030204" pitchFamily="18" charset="0"/>
                                            </a:rPr>
                                            <m:t>0</m:t>
                                          </m:r>
                                        </m:sub>
                                      </m:sSub>
                                      <m:r>
                                        <a:rPr lang="zh-CN" altLang="en-US" sz="1400" i="1" smtClean="0">
                                          <a:latin typeface="Cambria Math" panose="02040503050406030204" pitchFamily="18" charset="0"/>
                                        </a:rPr>
                                        <m:t>+1</m:t>
                                      </m:r>
                                    </m:sub>
                                    <m:sup>
                                      <m:r>
                                        <a:rPr lang="zh-CN" altLang="en-US" sz="1400" i="1" smtClean="0">
                                          <a:latin typeface="Cambria Math" panose="02040503050406030204" pitchFamily="18" charset="0"/>
                                        </a:rPr>
                                        <m:t>𝑇</m:t>
                                      </m:r>
                                    </m:sup>
                                    <m:e>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𝑌</m:t>
                                          </m:r>
                                        </m:e>
                                        <m:sub>
                                          <m:r>
                                            <a:rPr lang="zh-CN" altLang="en-US" sz="1400" i="1" smtClean="0">
                                              <a:latin typeface="Cambria Math" panose="02040503050406030204" pitchFamily="18" charset="0"/>
                                            </a:rPr>
                                            <m:t>𝑖𝑡</m:t>
                                          </m:r>
                                        </m:sub>
                                      </m:sSub>
                                    </m:e>
                                  </m:nary>
                                </m:e>
                              </m:d>
                            </m:e>
                            <m:sup>
                              <m:r>
                                <a:rPr lang="zh-CN" altLang="en-US" sz="1400" i="1" smtClean="0">
                                  <a:latin typeface="Cambria Math" panose="02040503050406030204" pitchFamily="18" charset="0"/>
                                </a:rPr>
                                <m:t>2</m:t>
                              </m:r>
                            </m:sup>
                          </m:sSup>
                        </m:e>
                      </m:nary>
                      <m:r>
                        <a:rPr lang="zh-CN" altLang="en-US" sz="1400" i="1" smtClean="0">
                          <a:latin typeface="Cambria Math" panose="02040503050406030204" pitchFamily="18" charset="0"/>
                        </a:rPr>
                        <m:t>,</m:t>
                      </m:r>
                    </m:oMath>
                  </m:oMathPara>
                </a14:m>
                <a:endParaRPr lang="en-US" altLang="zh-CN" sz="1400" dirty="0"/>
              </a:p>
              <a:p>
                <a:pPr marL="0" indent="0">
                  <a:lnSpc>
                    <a:spcPct val="120000"/>
                  </a:lnSpc>
                  <a:buNone/>
                </a:pPr>
                <a14:m>
                  <m:oMathPara xmlns:m="http://schemas.openxmlformats.org/officeDocument/2006/math">
                    <m:oMath>
                      <m:r>
                        <m:rPr>
                          <m:sty m:val="p"/>
                        </m:rPr>
                        <a:rPr lang="zh-CN" altLang="en-US" sz="1400" i="1" smtClean="0">
                          <a:latin typeface="Cambria Math" panose="02040503050406030204" pitchFamily="18" charset="0"/>
                        </a:rPr>
                        <m:t>Λ</m:t>
                      </m:r>
                      <m:r>
                        <a:rPr lang="zh-CN" altLang="en-US" sz="1400" i="1" smtClean="0">
                          <a:latin typeface="Cambria Math" panose="02040503050406030204" pitchFamily="18" charset="0"/>
                        </a:rPr>
                        <m:t>=</m:t>
                      </m:r>
                      <m:d>
                        <m:dPr>
                          <m:begChr m:val="{"/>
                          <m:endChr m:val="}"/>
                          <m:ctrlPr>
                            <a:rPr lang="zh-CN" altLang="en-US" sz="1400" i="1" smtClean="0">
                              <a:latin typeface="Cambria Math" panose="02040503050406030204" pitchFamily="18" charset="0"/>
                            </a:rPr>
                          </m:ctrlPr>
                        </m:dPr>
                        <m:e>
                          <m:r>
                            <a:rPr lang="zh-CN" altLang="en-US" sz="1400" i="1" smtClean="0">
                              <a:latin typeface="Cambria Math" panose="02040503050406030204" pitchFamily="18" charset="0"/>
                            </a:rPr>
                            <m:t>𝜆</m:t>
                          </m:r>
                          <m:r>
                            <a:rPr lang="zh-CN" altLang="en-US" sz="1400" i="1" smtClean="0">
                              <a:latin typeface="Cambria Math" panose="02040503050406030204" pitchFamily="18" charset="0"/>
                            </a:rPr>
                            <m:t>∈</m:t>
                          </m:r>
                          <m:sSubSup>
                            <m:sSubSupPr>
                              <m:ctrlPr>
                                <a:rPr lang="zh-CN" altLang="en-US" sz="1400" i="1" smtClean="0">
                                  <a:latin typeface="Cambria Math" panose="02040503050406030204" pitchFamily="18" charset="0"/>
                                </a:rPr>
                              </m:ctrlPr>
                            </m:sSubSupPr>
                            <m:e>
                              <m:r>
                                <a:rPr lang="zh-CN" altLang="en-US" sz="1400" i="1" smtClean="0">
                                  <a:latin typeface="Cambria Math" panose="02040503050406030204" pitchFamily="18" charset="0"/>
                                </a:rPr>
                                <m:t>𝑅</m:t>
                              </m:r>
                            </m:e>
                            <m:sub>
                              <m:r>
                                <a:rPr lang="zh-CN" altLang="en-US" sz="1400" i="1" smtClean="0">
                                  <a:latin typeface="Cambria Math" panose="02040503050406030204" pitchFamily="18" charset="0"/>
                                </a:rPr>
                                <m:t>+</m:t>
                              </m:r>
                            </m:sub>
                            <m:sup>
                              <m:r>
                                <a:rPr lang="zh-CN" altLang="en-US" sz="1400" i="1" smtClean="0">
                                  <a:latin typeface="Cambria Math" panose="02040503050406030204" pitchFamily="18" charset="0"/>
                                </a:rPr>
                                <m:t>𝑇</m:t>
                              </m:r>
                            </m:sup>
                          </m:sSubSup>
                          <m:r>
                            <a:rPr lang="zh-CN" altLang="en-US" sz="1400" i="1" smtClean="0">
                              <a:latin typeface="Cambria Math" panose="02040503050406030204" pitchFamily="18" charset="0"/>
                            </a:rPr>
                            <m:t>:</m:t>
                          </m:r>
                          <m:nary>
                            <m:naryPr>
                              <m:chr m:val="∑"/>
                              <m:limLoc m:val="undOvr"/>
                              <m:ctrlPr>
                                <a:rPr lang="zh-CN" altLang="en-US" sz="1400" i="1" smtClean="0">
                                  <a:latin typeface="Cambria Math" panose="02040503050406030204" pitchFamily="18" charset="0"/>
                                </a:rPr>
                              </m:ctrlPr>
                            </m:naryPr>
                            <m:sub>
                              <m:r>
                                <a:rPr lang="zh-CN" altLang="en-US" sz="1400" i="1" smtClean="0">
                                  <a:latin typeface="Cambria Math" panose="02040503050406030204" pitchFamily="18" charset="0"/>
                                </a:rPr>
                                <m:t>𝑡</m:t>
                              </m:r>
                              <m:r>
                                <a:rPr lang="zh-CN" altLang="en-US" sz="1400" i="1" smtClean="0">
                                  <a:latin typeface="Cambria Math" panose="02040503050406030204" pitchFamily="18" charset="0"/>
                                </a:rPr>
                                <m:t>=1</m:t>
                              </m:r>
                            </m:sub>
                            <m:sup>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𝑇</m:t>
                                  </m:r>
                                </m:e>
                                <m:sub>
                                  <m:r>
                                    <a:rPr lang="zh-CN" altLang="en-US" sz="1400" i="1" smtClean="0">
                                      <a:latin typeface="Cambria Math" panose="02040503050406030204" pitchFamily="18" charset="0"/>
                                    </a:rPr>
                                    <m:t>0</m:t>
                                  </m:r>
                                </m:sub>
                              </m:sSub>
                            </m:sup>
                            <m:e>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𝜆</m:t>
                                  </m:r>
                                </m:e>
                                <m:sub>
                                  <m:r>
                                    <a:rPr lang="zh-CN" altLang="en-US" sz="1400" i="1" smtClean="0">
                                      <a:latin typeface="Cambria Math" panose="02040503050406030204" pitchFamily="18" charset="0"/>
                                    </a:rPr>
                                    <m:t>𝑡</m:t>
                                  </m:r>
                                </m:sub>
                              </m:sSub>
                            </m:e>
                          </m:nary>
                          <m:r>
                            <a:rPr lang="zh-CN" altLang="en-US" sz="1400" i="1" smtClean="0">
                              <a:latin typeface="Cambria Math" panose="02040503050406030204" pitchFamily="18" charset="0"/>
                            </a:rPr>
                            <m:t>=1,</m:t>
                          </m:r>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𝜆</m:t>
                              </m:r>
                            </m:e>
                            <m:sub>
                              <m:r>
                                <a:rPr lang="zh-CN" altLang="en-US" sz="1400" i="1" smtClean="0">
                                  <a:latin typeface="Cambria Math" panose="02040503050406030204" pitchFamily="18" charset="0"/>
                                </a:rPr>
                                <m:t>𝑡</m:t>
                              </m:r>
                            </m:sub>
                          </m:sSub>
                          <m:r>
                            <a:rPr lang="zh-CN" altLang="en-US" sz="1400" i="1" smtClean="0">
                              <a:latin typeface="Cambria Math" panose="02040503050406030204" pitchFamily="18" charset="0"/>
                            </a:rPr>
                            <m:t>=</m:t>
                          </m:r>
                          <m:sSup>
                            <m:sSupPr>
                              <m:ctrlPr>
                                <a:rPr lang="zh-CN" altLang="en-US" sz="1400" i="1" smtClean="0">
                                  <a:latin typeface="Cambria Math" panose="02040503050406030204" pitchFamily="18" charset="0"/>
                                </a:rPr>
                              </m:ctrlPr>
                            </m:sSupPr>
                            <m:e>
                              <m:d>
                                <m:dPr>
                                  <m:ctrlPr>
                                    <a:rPr lang="zh-CN" altLang="en-US" sz="1400" i="1" smtClean="0">
                                      <a:latin typeface="Cambria Math" panose="02040503050406030204" pitchFamily="18" charset="0"/>
                                    </a:rPr>
                                  </m:ctrlPr>
                                </m:dPr>
                                <m:e>
                                  <m:r>
                                    <a:rPr lang="zh-CN" altLang="en-US" sz="1400" i="1" smtClean="0">
                                      <a:latin typeface="Cambria Math" panose="02040503050406030204" pitchFamily="18" charset="0"/>
                                    </a:rPr>
                                    <m:t>𝑇</m:t>
                                  </m:r>
                                  <m:r>
                                    <a:rPr lang="zh-CN" altLang="en-US" sz="1400" i="1" smtClean="0">
                                      <a:latin typeface="Cambria Math" panose="02040503050406030204" pitchFamily="18" charset="0"/>
                                    </a:rPr>
                                    <m:t>−</m:t>
                                  </m:r>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𝑇</m:t>
                                      </m:r>
                                    </m:e>
                                    <m:sub>
                                      <m:r>
                                        <a:rPr lang="zh-CN" altLang="en-US" sz="1400" i="1" smtClean="0">
                                          <a:latin typeface="Cambria Math" panose="02040503050406030204" pitchFamily="18" charset="0"/>
                                        </a:rPr>
                                        <m:t>0</m:t>
                                      </m:r>
                                    </m:sub>
                                  </m:sSub>
                                </m:e>
                              </m:d>
                            </m:e>
                            <m:sup>
                              <m:r>
                                <a:rPr lang="zh-CN" altLang="en-US" sz="1400" i="1" smtClean="0">
                                  <a:latin typeface="Cambria Math" panose="02040503050406030204" pitchFamily="18" charset="0"/>
                                </a:rPr>
                                <m:t>−1</m:t>
                              </m:r>
                            </m:sup>
                          </m:sSup>
                          <m:r>
                            <m:rPr>
                              <m:nor/>
                            </m:rPr>
                            <a:rPr lang="zh-CN" altLang="en-US" sz="1400" i="0" smtClean="0">
                              <a:latin typeface="Cambria Math" panose="02040503050406030204" pitchFamily="18" charset="0"/>
                            </a:rPr>
                            <m:t> for all </m:t>
                          </m:r>
                          <m:r>
                            <a:rPr lang="zh-CN" altLang="en-US" sz="1400" i="1" smtClean="0">
                              <a:latin typeface="Cambria Math" panose="02040503050406030204" pitchFamily="18" charset="0"/>
                            </a:rPr>
                            <m:t>𝑡</m:t>
                          </m:r>
                          <m:r>
                            <a:rPr lang="zh-CN" altLang="en-US" sz="1400" i="1" smtClean="0">
                              <a:latin typeface="Cambria Math" panose="02040503050406030204" pitchFamily="18" charset="0"/>
                            </a:rPr>
                            <m:t>=</m:t>
                          </m:r>
                          <m:sSub>
                            <m:sSubPr>
                              <m:ctrlPr>
                                <a:rPr lang="zh-CN" altLang="en-US" sz="1400" i="1" smtClean="0">
                                  <a:latin typeface="Cambria Math" panose="02040503050406030204" pitchFamily="18" charset="0"/>
                                </a:rPr>
                              </m:ctrlPr>
                            </m:sSubPr>
                            <m:e>
                              <m:r>
                                <a:rPr lang="zh-CN" altLang="en-US" sz="1400" i="1" smtClean="0">
                                  <a:latin typeface="Cambria Math" panose="02040503050406030204" pitchFamily="18" charset="0"/>
                                </a:rPr>
                                <m:t>𝑇</m:t>
                              </m:r>
                            </m:e>
                            <m:sub>
                              <m:r>
                                <a:rPr lang="zh-CN" altLang="en-US" sz="1400" i="1" smtClean="0">
                                  <a:latin typeface="Cambria Math" panose="02040503050406030204" pitchFamily="18" charset="0"/>
                                </a:rPr>
                                <m:t>0</m:t>
                              </m:r>
                            </m:sub>
                          </m:sSub>
                          <m:r>
                            <a:rPr lang="zh-CN" altLang="en-US" sz="1400" i="1" smtClean="0">
                              <a:latin typeface="Cambria Math" panose="02040503050406030204" pitchFamily="18" charset="0"/>
                            </a:rPr>
                            <m:t>+1,…,</m:t>
                          </m:r>
                          <m:r>
                            <a:rPr lang="zh-CN" altLang="en-US" sz="1400" i="1" smtClean="0">
                              <a:latin typeface="Cambria Math" panose="02040503050406030204" pitchFamily="18" charset="0"/>
                            </a:rPr>
                            <m:t>𝑇</m:t>
                          </m:r>
                        </m:e>
                      </m:d>
                      <m:r>
                        <a:rPr lang="zh-CN" altLang="en-US" sz="1400" i="1" smtClean="0">
                          <a:latin typeface="Cambria Math" panose="02040503050406030204" pitchFamily="18" charset="0"/>
                        </a:rPr>
                        <m:t>.</m:t>
                      </m:r>
                    </m:oMath>
                  </m:oMathPara>
                </a14:m>
                <a:endParaRPr lang="zh-CN" altLang="en-US" sz="1400" dirty="0"/>
              </a:p>
            </p:txBody>
          </p:sp>
        </mc:Choice>
        <mc:Fallback xmlns="">
          <p:sp>
            <p:nvSpPr>
              <p:cNvPr id="3" name="内容占位符 2">
                <a:extLst>
                  <a:ext uri="{FF2B5EF4-FFF2-40B4-BE49-F238E27FC236}">
                    <a16:creationId xmlns:a16="http://schemas.microsoft.com/office/drawing/2014/main" id="{7FCCD88F-FDEF-B1DC-8D66-81E0AFB7CF5A}"/>
                  </a:ext>
                </a:extLst>
              </p:cNvPr>
              <p:cNvSpPr>
                <a:spLocks noGrp="1" noRot="1" noChangeAspect="1" noMove="1" noResize="1" noEditPoints="1" noAdjustHandles="1" noChangeArrowheads="1" noChangeShapeType="1" noTextEdit="1"/>
              </p:cNvSpPr>
              <p:nvPr>
                <p:ph idx="1"/>
              </p:nvPr>
            </p:nvSpPr>
            <p:spPr>
              <a:blipFill>
                <a:blip r:embed="rId2"/>
                <a:stretch>
                  <a:fillRect l="-232" b="-6443"/>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FC354FE-A77F-88D4-F2A5-679BA4FC3B4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C59700D-E375-0E0B-2DC0-1417D6117C96}"/>
              </a:ext>
            </a:extLst>
          </p:cNvPr>
          <p:cNvSpPr>
            <a:spLocks noGrp="1"/>
          </p:cNvSpPr>
          <p:nvPr>
            <p:ph type="sldNum" sz="quarter" idx="12"/>
          </p:nvPr>
        </p:nvSpPr>
        <p:spPr/>
        <p:txBody>
          <a:bodyPr/>
          <a:lstStyle/>
          <a:p>
            <a:fld id="{D41FC515-8169-4A29-AA56-DBE520D5741B}" type="slidenum">
              <a:rPr lang="zh-CN" altLang="en-US" smtClean="0"/>
              <a:t>41</a:t>
            </a:fld>
            <a:endParaRPr lang="zh-CN" altLang="en-US"/>
          </a:p>
        </p:txBody>
      </p:sp>
    </p:spTree>
    <p:extLst>
      <p:ext uri="{BB962C8B-B14F-4D97-AF65-F5344CB8AC3E}">
        <p14:creationId xmlns:p14="http://schemas.microsoft.com/office/powerpoint/2010/main" val="42817102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994717-9808-5D21-66C7-70DF9649A3F7}"/>
              </a:ext>
            </a:extLst>
          </p:cNvPr>
          <p:cNvSpPr>
            <a:spLocks noGrp="1"/>
          </p:cNvSpPr>
          <p:nvPr>
            <p:ph type="title"/>
          </p:nvPr>
        </p:nvSpPr>
        <p:spPr/>
        <p:txBody>
          <a:bodyPr/>
          <a:lstStyle/>
          <a:p>
            <a:r>
              <a:rPr lang="zh-CN" altLang="en-US" dirty="0"/>
              <a:t>合成双重差分</a:t>
            </a:r>
            <a:br>
              <a:rPr lang="zh-CN" altLang="en-US" dirty="0"/>
            </a:br>
            <a:r>
              <a:rPr lang="zh-CN" altLang="en-US" sz="2400" dirty="0"/>
              <a:t>实施步骤</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6DDDD82-A2A8-DE9D-CBF8-CBEDA2165A3A}"/>
                  </a:ext>
                </a:extLst>
              </p:cNvPr>
              <p:cNvSpPr>
                <a:spLocks noGrp="1"/>
              </p:cNvSpPr>
              <p:nvPr>
                <p:ph idx="1"/>
              </p:nvPr>
            </p:nvSpPr>
            <p:spPr/>
            <p:txBody>
              <a:bodyPr>
                <a:noAutofit/>
              </a:bodyPr>
              <a:lstStyle/>
              <a:p>
                <a:r>
                  <a:rPr lang="zh-CN" altLang="en-US" sz="1600" dirty="0"/>
                  <a:t>通过加权</a:t>
                </a:r>
                <a:r>
                  <a:rPr lang="en-US" altLang="zh-CN" sz="1600" dirty="0"/>
                  <a:t>DID </a:t>
                </a:r>
                <a:r>
                  <a:rPr lang="zh-CN" altLang="en-US" sz="1600" dirty="0"/>
                  <a:t>回归得到</a:t>
                </a:r>
                <a:r>
                  <a:rPr lang="en-US" altLang="zh-CN" sz="1600" dirty="0"/>
                  <a:t>SDID </a:t>
                </a:r>
                <a:r>
                  <a:rPr lang="zh-CN" altLang="en-US" sz="1600" dirty="0"/>
                  <a:t>估计量，</a:t>
                </a:r>
                <a:endParaRPr lang="en-US" altLang="zh-CN" sz="1600" dirty="0"/>
              </a:p>
              <a:p>
                <a14:m>
                  <m:oMath xmlns:m="http://schemas.openxmlformats.org/officeDocument/2006/math">
                    <m:d>
                      <m:dPr>
                        <m:ctrlPr>
                          <a:rPr lang="zh-CN" altLang="en-US" sz="1600" i="1" smtClean="0">
                            <a:latin typeface="Cambria Math" panose="02040503050406030204" pitchFamily="18" charset="0"/>
                          </a:rPr>
                        </m:ctrlPr>
                      </m:dPr>
                      <m:e>
                        <m:sSup>
                          <m:sSupPr>
                            <m:ctrlPr>
                              <a:rPr lang="zh-CN" altLang="en-US" sz="1600" i="1" smtClean="0">
                                <a:latin typeface="Cambria Math" panose="02040503050406030204" pitchFamily="18" charset="0"/>
                              </a:rPr>
                            </m:ctrlPr>
                          </m:sSup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𝜏</m:t>
                                </m:r>
                              </m:e>
                            </m:acc>
                          </m:e>
                          <m:sup>
                            <m:r>
                              <a:rPr lang="zh-CN" altLang="en-US" sz="1600" i="1" smtClean="0">
                                <a:latin typeface="Cambria Math" panose="02040503050406030204" pitchFamily="18" charset="0"/>
                              </a:rPr>
                              <m:t>𝑠𝑑𝑖𝑑</m:t>
                            </m:r>
                          </m:sup>
                        </m:sSup>
                        <m:r>
                          <a:rPr lang="zh-CN" altLang="en-US" sz="1600" i="1" smtClean="0">
                            <a:latin typeface="Cambria Math" panose="02040503050406030204" pitchFamily="18" charset="0"/>
                          </a:rPr>
                          <m:t>,</m:t>
                        </m:r>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𝜇</m:t>
                            </m:r>
                          </m:e>
                        </m:acc>
                        <m:r>
                          <a:rPr lang="zh-CN" altLang="en-US" sz="1600" i="1" smtClean="0">
                            <a:latin typeface="Cambria Math" panose="02040503050406030204" pitchFamily="18" charset="0"/>
                          </a:rPr>
                          <m:t>,</m:t>
                        </m:r>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𝛼</m:t>
                            </m:r>
                          </m:e>
                        </m:acc>
                        <m:r>
                          <a:rPr lang="zh-CN" altLang="en-US" sz="1600" i="1" smtClean="0">
                            <a:latin typeface="Cambria Math" panose="02040503050406030204" pitchFamily="18" charset="0"/>
                          </a:rPr>
                          <m:t>,</m:t>
                        </m:r>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𝛽</m:t>
                            </m:r>
                          </m:e>
                        </m:acc>
                      </m:e>
                    </m:d>
                    <m:r>
                      <a:rPr lang="zh-CN" altLang="en-US" sz="1600" i="1" smtClean="0">
                        <a:latin typeface="Cambria Math" panose="02040503050406030204" pitchFamily="18" charset="0"/>
                      </a:rPr>
                      <m:t>=</m:t>
                    </m:r>
                    <m:limLow>
                      <m:limLowPr>
                        <m:ctrlPr>
                          <a:rPr lang="zh-CN" altLang="en-US" sz="1600" i="1" smtClean="0">
                            <a:latin typeface="Cambria Math" panose="02040503050406030204" pitchFamily="18" charset="0"/>
                          </a:rPr>
                        </m:ctrlPr>
                      </m:limLowPr>
                      <m:e>
                        <m:func>
                          <m:funcPr>
                            <m:ctrlPr>
                              <a:rPr lang="zh-CN" altLang="en-US" sz="1600" i="1" smtClean="0">
                                <a:latin typeface="Cambria Math" panose="02040503050406030204" pitchFamily="18" charset="0"/>
                              </a:rPr>
                            </m:ctrlPr>
                          </m:funcPr>
                          <m:fName>
                            <m:r>
                              <m:rPr>
                                <m:sty m:val="p"/>
                              </m:rPr>
                              <a:rPr lang="zh-CN" altLang="en-US" sz="1600" i="1" smtClean="0">
                                <a:latin typeface="Cambria Math" panose="02040503050406030204" pitchFamily="18" charset="0"/>
                              </a:rPr>
                              <m:t>arg</m:t>
                            </m:r>
                          </m:fName>
                          <m:e>
                            <m:r>
                              <a:rPr lang="zh-CN" altLang="en-US" sz="1600" i="1" smtClean="0">
                                <a:latin typeface="Cambria Math" panose="02040503050406030204" pitchFamily="18" charset="0"/>
                              </a:rPr>
                              <m:t>​</m:t>
                            </m:r>
                          </m:e>
                        </m:func>
                        <m:r>
                          <m:rPr>
                            <m:sty m:val="p"/>
                          </m:rPr>
                          <a:rPr lang="zh-CN" altLang="en-US" sz="1600" i="1" smtClean="0">
                            <a:latin typeface="Cambria Math" panose="02040503050406030204" pitchFamily="18" charset="0"/>
                          </a:rPr>
                          <m:t>min</m:t>
                        </m:r>
                      </m:e>
                      <m:lim>
                        <m:r>
                          <a:rPr lang="zh-CN" altLang="en-US" sz="1600" i="1" smtClean="0">
                            <a:latin typeface="Cambria Math" panose="02040503050406030204" pitchFamily="18" charset="0"/>
                          </a:rPr>
                          <m:t>𝜏</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𝜇</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𝛼</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𝛽</m:t>
                        </m:r>
                      </m:lim>
                    </m:limLow>
                    <m:d>
                      <m:dPr>
                        <m:begChr m:val="{"/>
                        <m:endChr m:val="}"/>
                        <m:ctrlPr>
                          <a:rPr lang="zh-CN" altLang="en-US" sz="1600" i="1" smtClean="0">
                            <a:latin typeface="Cambria Math" panose="02040503050406030204" pitchFamily="18" charset="0"/>
                          </a:rPr>
                        </m:ctrlPr>
                      </m:dPr>
                      <m:e>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=1</m:t>
                            </m:r>
                          </m:sub>
                          <m:sup>
                            <m:r>
                              <a:rPr lang="zh-CN" altLang="en-US" sz="1600" i="1" smtClean="0">
                                <a:latin typeface="Cambria Math" panose="02040503050406030204" pitchFamily="18" charset="0"/>
                              </a:rPr>
                              <m:t>𝑁</m:t>
                            </m:r>
                          </m:sup>
                          <m:e>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𝑡</m:t>
                                </m:r>
                                <m:r>
                                  <a:rPr lang="zh-CN" altLang="en-US" sz="1600" i="1" smtClean="0">
                                    <a:latin typeface="Cambria Math" panose="02040503050406030204" pitchFamily="18" charset="0"/>
                                  </a:rPr>
                                  <m:t>=1</m:t>
                                </m:r>
                              </m:sub>
                              <m:sup>
                                <m:r>
                                  <a:rPr lang="zh-CN" altLang="en-US" sz="1600" i="1" smtClean="0">
                                    <a:latin typeface="Cambria Math" panose="02040503050406030204" pitchFamily="18" charset="0"/>
                                  </a:rPr>
                                  <m:t>𝑇</m:t>
                                </m:r>
                              </m:sup>
                              <m:e>
                                <m:sSup>
                                  <m:sSupPr>
                                    <m:ctrlPr>
                                      <a:rPr lang="zh-CN" altLang="en-US" sz="1600" i="1" smtClean="0">
                                        <a:latin typeface="Cambria Math" panose="02040503050406030204" pitchFamily="18" charset="0"/>
                                      </a:rPr>
                                    </m:ctrlPr>
                                  </m:sSupPr>
                                  <m:e>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𝜇</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𝛼</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𝛽</m:t>
                                            </m:r>
                                          </m:e>
                                          <m:sub>
                                            <m:r>
                                              <a:rPr lang="zh-CN" altLang="en-US" sz="1600" i="1" smtClean="0">
                                                <a:latin typeface="Cambria Math" panose="02040503050406030204" pitchFamily="18" charset="0"/>
                                              </a:rPr>
                                              <m:t>𝑡</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𝜏</m:t>
                                        </m:r>
                                      </m:e>
                                    </m:d>
                                  </m:e>
                                  <m:sup>
                                    <m:r>
                                      <a:rPr lang="zh-CN" altLang="en-US" sz="1600" i="1" smtClean="0">
                                        <a:latin typeface="Cambria Math" panose="02040503050406030204" pitchFamily="18" charset="0"/>
                                      </a:rPr>
                                      <m:t>2</m:t>
                                    </m:r>
                                  </m:sup>
                                </m:sSup>
                              </m:e>
                            </m:nary>
                          </m:e>
                        </m:nary>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𝑤</m:t>
                                </m:r>
                              </m:e>
                            </m:acc>
                          </m:e>
                          <m:sub>
                            <m:r>
                              <a:rPr lang="zh-CN" altLang="en-US" sz="1600" i="1" smtClean="0">
                                <a:latin typeface="Cambria Math" panose="02040503050406030204" pitchFamily="18" charset="0"/>
                              </a:rPr>
                              <m:t>𝑖</m:t>
                            </m:r>
                          </m:sub>
                        </m:sSub>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𝜆</m:t>
                                </m:r>
                              </m:e>
                            </m:acc>
                          </m:e>
                          <m:sub>
                            <m:r>
                              <a:rPr lang="zh-CN" altLang="en-US" sz="1600" i="1" smtClean="0">
                                <a:latin typeface="Cambria Math" panose="02040503050406030204" pitchFamily="18" charset="0"/>
                              </a:rPr>
                              <m:t>𝑡</m:t>
                            </m:r>
                          </m:sub>
                        </m:sSub>
                      </m:e>
                    </m:d>
                    <m:r>
                      <a:rPr lang="zh-CN" altLang="en-US" sz="1600" i="1" smtClean="0">
                        <a:latin typeface="Cambria Math" panose="02040503050406030204" pitchFamily="18" charset="0"/>
                      </a:rPr>
                      <m:t>.</m:t>
                    </m:r>
                  </m:oMath>
                </a14:m>
                <a:endParaRPr lang="en-US" altLang="zh-CN" sz="1600" dirty="0"/>
              </a:p>
              <a:p>
                <a:r>
                  <a:rPr lang="zh-CN" altLang="en-US" sz="1600" dirty="0"/>
                  <a:t>估计结果 </a:t>
                </a:r>
                <a14:m>
                  <m:oMath xmlns:m="http://schemas.openxmlformats.org/officeDocument/2006/math">
                    <m:sSub>
                      <m:sSubPr>
                        <m:ctrlPr>
                          <a:rPr lang="zh-CN" altLang="en-US" sz="1600" i="1" dirty="0" smtClean="0">
                            <a:latin typeface="Cambria Math" panose="02040503050406030204" pitchFamily="18" charset="0"/>
                          </a:rPr>
                        </m:ctrlPr>
                      </m:sSubPr>
                      <m:e>
                        <m:acc>
                          <m:accPr>
                            <m:chr m:val="̂"/>
                            <m:ctrlPr>
                              <a:rPr lang="zh-CN" altLang="en-US" sz="1600" i="1" dirty="0" smtClean="0">
                                <a:latin typeface="Cambria Math" panose="02040503050406030204" pitchFamily="18" charset="0"/>
                              </a:rPr>
                            </m:ctrlPr>
                          </m:accPr>
                          <m:e>
                            <m:r>
                              <a:rPr lang="zh-CN" altLang="en-US" sz="1600" i="1" dirty="0" smtClean="0">
                                <a:latin typeface="Cambria Math" panose="02040503050406030204" pitchFamily="18" charset="0"/>
                              </a:rPr>
                              <m:t>𝜏</m:t>
                            </m:r>
                          </m:e>
                        </m:acc>
                      </m:e>
                      <m:sub>
                        <m:r>
                          <a:rPr lang="zh-CN" altLang="en-US" sz="1600" i="1" dirty="0" smtClean="0">
                            <a:latin typeface="Cambria Math" panose="02040503050406030204" pitchFamily="18" charset="0"/>
                          </a:rPr>
                          <m:t>𝑠𝑑𝑖𝑑</m:t>
                        </m:r>
                      </m:sub>
                    </m:sSub>
                    <m:r>
                      <a:rPr lang="zh-CN" altLang="en-US" sz="1600" i="1" dirty="0" smtClean="0">
                        <a:latin typeface="Cambria Math" panose="02040503050406030204" pitchFamily="18" charset="0"/>
                      </a:rPr>
                      <m:t> </m:t>
                    </m:r>
                  </m:oMath>
                </a14:m>
                <a:r>
                  <a:rPr lang="zh-CN" altLang="en-US" sz="1600" dirty="0"/>
                  <a:t>相当于下列表格中的双重差分估计量：</a:t>
                </a:r>
                <a:endParaRPr lang="en-US" altLang="zh-CN" sz="1600" dirty="0"/>
              </a:p>
              <a:p>
                <a:endParaRPr lang="en-US" altLang="zh-CN" sz="1600" dirty="0"/>
              </a:p>
              <a:p>
                <a:endParaRPr lang="en-US" altLang="zh-CN" sz="1600" dirty="0"/>
              </a:p>
              <a:p>
                <a:endParaRPr lang="en-US" altLang="zh-CN" sz="1600" dirty="0"/>
              </a:p>
              <a:p>
                <a:r>
                  <a:rPr lang="zh-CN" altLang="en-US" sz="1600" dirty="0"/>
                  <a:t>定义</a:t>
                </a:r>
                <a:endParaRPr lang="en-US" altLang="zh-CN" sz="1600" dirty="0"/>
              </a:p>
              <a:p>
                <a:pPr marL="0" indent="0">
                  <a:buNone/>
                </a:pPr>
                <a14:m>
                  <m:oMathPara xmlns:m="http://schemas.openxmlformats.org/officeDocument/2006/math">
                    <m:oMath>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𝛿</m:t>
                              </m:r>
                            </m:e>
                          </m:acc>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f>
                        <m:fPr>
                          <m:ctrlPr>
                            <a:rPr lang="zh-CN" altLang="en-US" sz="1600" i="1" smtClean="0">
                              <a:latin typeface="Cambria Math" panose="02040503050406030204" pitchFamily="18" charset="0"/>
                            </a:rPr>
                          </m:ctrlPr>
                        </m:fPr>
                        <m:num>
                          <m:r>
                            <a:rPr lang="zh-CN" altLang="en-US" sz="1600" i="1" smtClean="0">
                              <a:latin typeface="Cambria Math" panose="02040503050406030204" pitchFamily="18" charset="0"/>
                            </a:rPr>
                            <m:t>1</m:t>
                          </m:r>
                        </m:num>
                        <m:den>
                          <m:r>
                            <a:rPr lang="zh-CN" altLang="en-US" sz="1600" i="1" smtClean="0">
                              <a:latin typeface="Cambria Math" panose="02040503050406030204" pitchFamily="18" charset="0"/>
                            </a:rPr>
                            <m:t>𝑇</m:t>
                          </m:r>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0</m:t>
                              </m:r>
                            </m:sub>
                          </m:sSub>
                        </m:den>
                      </m:f>
                      <m:nary>
                        <m:naryPr>
                          <m:chr m:val="∑"/>
                          <m:limLoc m:val="undOvr"/>
                          <m:ctrlPr>
                            <a:rPr lang="zh-CN" altLang="en-US" sz="1600" i="1" smtClean="0">
                              <a:latin typeface="Cambria Math" panose="02040503050406030204" pitchFamily="18" charset="0"/>
                            </a:rPr>
                          </m:ctrlPr>
                        </m:naryPr>
                        <m: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+1</m:t>
                          </m:r>
                        </m:sub>
                        <m:sup>
                          <m:r>
                            <a:rPr lang="zh-CN" altLang="en-US" sz="1600" i="1" smtClean="0">
                              <a:latin typeface="Cambria Math" panose="02040503050406030204" pitchFamily="18" charset="0"/>
                            </a:rPr>
                            <m:t>𝑇</m:t>
                          </m:r>
                        </m:sup>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e>
                      </m:nary>
                      <m:r>
                        <a:rPr lang="zh-CN" altLang="en-US" sz="1600" i="1" smtClean="0">
                          <a:latin typeface="Cambria Math" panose="02040503050406030204" pitchFamily="18" charset="0"/>
                        </a:rPr>
                        <m:t>−</m:t>
                      </m:r>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𝑡</m:t>
                          </m:r>
                          <m:r>
                            <a:rPr lang="zh-CN" altLang="en-US" sz="1600" i="1" smtClean="0">
                              <a:latin typeface="Cambria Math" panose="02040503050406030204" pitchFamily="18" charset="0"/>
                            </a:rPr>
                            <m:t>=1</m:t>
                          </m:r>
                        </m:sub>
                        <m:sup>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0</m:t>
                              </m:r>
                            </m:sub>
                          </m:sSub>
                        </m:sup>
                        <m:e>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𝜆</m:t>
                                  </m:r>
                                </m:e>
                              </m:acc>
                            </m:e>
                            <m:sub>
                              <m:r>
                                <a:rPr lang="zh-CN" altLang="en-US" sz="1600" i="1" smtClean="0">
                                  <a:latin typeface="Cambria Math" panose="02040503050406030204" pitchFamily="18" charset="0"/>
                                </a:rPr>
                                <m:t>𝑡</m:t>
                              </m:r>
                            </m:sub>
                          </m:sSub>
                        </m:e>
                      </m:nary>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𝑖𝑡</m:t>
                          </m:r>
                        </m:sub>
                      </m:sSub>
                      <m:r>
                        <a:rPr lang="zh-CN" altLang="en-US" sz="1600" i="1" smtClean="0">
                          <a:latin typeface="Cambria Math" panose="02040503050406030204" pitchFamily="18" charset="0"/>
                        </a:rPr>
                        <m:t>,</m:t>
                      </m:r>
                    </m:oMath>
                  </m:oMathPara>
                </a14:m>
                <a:endParaRPr lang="en-US" altLang="zh-CN" sz="1600" dirty="0"/>
              </a:p>
              <a:p>
                <a:pPr marL="0" indent="0">
                  <a:buNone/>
                </a:pPr>
                <a14:m>
                  <m:oMathPara xmlns:m="http://schemas.openxmlformats.org/officeDocument/2006/math">
                    <m:oMath>
                      <m:sSup>
                        <m:sSupPr>
                          <m:ctrlPr>
                            <a:rPr lang="zh-CN" altLang="en-US" sz="1600" i="1" smtClean="0">
                              <a:latin typeface="Cambria Math" panose="02040503050406030204" pitchFamily="18" charset="0"/>
                            </a:rPr>
                          </m:ctrlPr>
                        </m:sSup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𝜏</m:t>
                              </m:r>
                            </m:e>
                          </m:acc>
                        </m:e>
                        <m:sup>
                          <m:r>
                            <a:rPr lang="zh-CN" altLang="en-US" sz="1600" i="1" smtClean="0">
                              <a:latin typeface="Cambria Math" panose="02040503050406030204" pitchFamily="18" charset="0"/>
                            </a:rPr>
                            <m:t>𝑠𝑑𝑖𝑑</m:t>
                          </m:r>
                        </m:sup>
                      </m:sSup>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𝛿</m:t>
                              </m:r>
                            </m:e>
                          </m:acc>
                        </m:e>
                        <m:sub>
                          <m:r>
                            <a:rPr lang="zh-CN" altLang="en-US" sz="1600" i="1" smtClean="0">
                              <a:latin typeface="Cambria Math" panose="02040503050406030204" pitchFamily="18" charset="0"/>
                            </a:rPr>
                            <m:t>𝑡𝑟</m:t>
                          </m:r>
                        </m:sub>
                      </m:sSub>
                      <m:r>
                        <a:rPr lang="zh-CN" altLang="en-US" sz="1600" i="1" smtClean="0">
                          <a:latin typeface="Cambria Math" panose="02040503050406030204" pitchFamily="18" charset="0"/>
                        </a:rPr>
                        <m:t>−</m:t>
                      </m:r>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=1</m:t>
                          </m:r>
                        </m:sub>
                        <m:sup>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𝑁</m:t>
                              </m:r>
                            </m:e>
                            <m:sub>
                              <m:r>
                                <a:rPr lang="zh-CN" altLang="en-US" sz="1600" i="1" smtClean="0">
                                  <a:latin typeface="Cambria Math" panose="02040503050406030204" pitchFamily="18" charset="0"/>
                                </a:rPr>
                                <m:t>𝑐</m:t>
                              </m:r>
                            </m:sub>
                          </m:sSub>
                        </m:sup>
                        <m:e>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𝑤</m:t>
                                  </m:r>
                                </m:e>
                              </m:acc>
                            </m:e>
                            <m:sub>
                              <m:r>
                                <a:rPr lang="zh-CN" altLang="en-US" sz="1600" i="1" smtClean="0">
                                  <a:latin typeface="Cambria Math" panose="02040503050406030204" pitchFamily="18" charset="0"/>
                                </a:rPr>
                                <m:t>𝑖</m:t>
                              </m:r>
                            </m:sub>
                          </m:sSub>
                        </m:e>
                      </m:nary>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𝛿</m:t>
                              </m:r>
                            </m:e>
                          </m:acc>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 </m:t>
                      </m:r>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𝛿</m:t>
                              </m:r>
                            </m:e>
                          </m:acc>
                        </m:e>
                        <m:sub>
                          <m:r>
                            <a:rPr lang="zh-CN" altLang="en-US" sz="1600" i="1" smtClean="0">
                              <a:latin typeface="Cambria Math" panose="02040503050406030204" pitchFamily="18" charset="0"/>
                            </a:rPr>
                            <m:t>𝑡𝑟</m:t>
                          </m:r>
                        </m:sub>
                      </m:sSub>
                      <m:r>
                        <a:rPr lang="zh-CN" altLang="en-US" sz="1600" i="1" smtClean="0">
                          <a:latin typeface="Cambria Math" panose="02040503050406030204" pitchFamily="18" charset="0"/>
                        </a:rPr>
                        <m:t>=</m:t>
                      </m:r>
                      <m:f>
                        <m:fPr>
                          <m:ctrlPr>
                            <a:rPr lang="zh-CN" altLang="en-US" sz="1600" i="1" smtClean="0">
                              <a:latin typeface="Cambria Math" panose="02040503050406030204" pitchFamily="18" charset="0"/>
                            </a:rPr>
                          </m:ctrlPr>
                        </m:fPr>
                        <m:num>
                          <m:r>
                            <a:rPr lang="zh-CN" altLang="en-US" sz="1600" i="1" smtClean="0">
                              <a:latin typeface="Cambria Math" panose="02040503050406030204" pitchFamily="18" charset="0"/>
                            </a:rPr>
                            <m:t>1</m:t>
                          </m:r>
                        </m:num>
                        <m:den>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𝑁</m:t>
                              </m:r>
                            </m:e>
                            <m:sub>
                              <m:r>
                                <a:rPr lang="zh-CN" altLang="en-US" sz="1600" i="1" smtClean="0">
                                  <a:latin typeface="Cambria Math" panose="02040503050406030204" pitchFamily="18" charset="0"/>
                                </a:rPr>
                                <m:t>𝑡</m:t>
                              </m:r>
                            </m:sub>
                          </m:sSub>
                        </m:den>
                      </m:f>
                      <m:nary>
                        <m:naryPr>
                          <m:chr m:val="∑"/>
                          <m:limLoc m:val="undOvr"/>
                          <m:ctrlPr>
                            <a:rPr lang="zh-CN" altLang="en-US" sz="1600" i="1" smtClean="0">
                              <a:latin typeface="Cambria Math" panose="02040503050406030204" pitchFamily="18" charset="0"/>
                            </a:rPr>
                          </m:ctrlPr>
                        </m:naryPr>
                        <m: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𝑁</m:t>
                              </m:r>
                            </m:e>
                            <m:sub>
                              <m:r>
                                <a:rPr lang="zh-CN" altLang="en-US" sz="1600" i="1" smtClean="0">
                                  <a:latin typeface="Cambria Math" panose="02040503050406030204" pitchFamily="18" charset="0"/>
                                </a:rPr>
                                <m:t>𝑐</m:t>
                              </m:r>
                            </m:sub>
                          </m:sSub>
                          <m:r>
                            <a:rPr lang="zh-CN" altLang="en-US" sz="1600" i="1" smtClean="0">
                              <a:latin typeface="Cambria Math" panose="02040503050406030204" pitchFamily="18" charset="0"/>
                            </a:rPr>
                            <m:t>+1</m:t>
                          </m:r>
                        </m:sub>
                        <m:sup>
                          <m:r>
                            <a:rPr lang="zh-CN" altLang="en-US" sz="1600" i="1" smtClean="0">
                              <a:latin typeface="Cambria Math" panose="02040503050406030204" pitchFamily="18" charset="0"/>
                            </a:rPr>
                            <m:t>𝑁</m:t>
                          </m:r>
                        </m:sup>
                        <m:e>
                          <m:sSub>
                            <m:sSubPr>
                              <m:ctrlPr>
                                <a:rPr lang="zh-CN" altLang="en-US" sz="1600" i="1" smtClean="0">
                                  <a:latin typeface="Cambria Math" panose="02040503050406030204" pitchFamily="18" charset="0"/>
                                </a:rPr>
                              </m:ctrlPr>
                            </m:sSubPr>
                            <m:e>
                              <m:acc>
                                <m:accPr>
                                  <m:chr m:val="ˆ"/>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𝛿</m:t>
                                  </m:r>
                                </m:e>
                              </m:acc>
                            </m:e>
                            <m:sub>
                              <m:r>
                                <a:rPr lang="zh-CN" altLang="en-US" sz="1600" i="1" smtClean="0">
                                  <a:latin typeface="Cambria Math" panose="02040503050406030204" pitchFamily="18" charset="0"/>
                                </a:rPr>
                                <m:t>𝑖</m:t>
                              </m:r>
                            </m:sub>
                          </m:sSub>
                        </m:e>
                      </m:nary>
                      <m:r>
                        <a:rPr lang="zh-CN" altLang="en-US" sz="1600" i="1" smtClean="0">
                          <a:latin typeface="Cambria Math" panose="02040503050406030204" pitchFamily="18" charset="0"/>
                        </a:rPr>
                        <m:t>.</m:t>
                      </m:r>
                    </m:oMath>
                  </m:oMathPara>
                </a14:m>
                <a:endParaRPr lang="en-US" altLang="zh-CN" sz="1600" dirty="0"/>
              </a:p>
              <a:p>
                <a:r>
                  <a:rPr lang="en-US" altLang="zh-CN" sz="1600" dirty="0"/>
                  <a:t>Stata/R: </a:t>
                </a:r>
                <a:r>
                  <a:rPr lang="en-US" altLang="zh-CN" sz="1600" dirty="0" err="1"/>
                  <a:t>sdid</a:t>
                </a:r>
                <a:endParaRPr lang="zh-CN" altLang="en-US" sz="1600" dirty="0"/>
              </a:p>
            </p:txBody>
          </p:sp>
        </mc:Choice>
        <mc:Fallback xmlns="">
          <p:sp>
            <p:nvSpPr>
              <p:cNvPr id="3" name="内容占位符 2">
                <a:extLst>
                  <a:ext uri="{FF2B5EF4-FFF2-40B4-BE49-F238E27FC236}">
                    <a16:creationId xmlns:a16="http://schemas.microsoft.com/office/drawing/2014/main" id="{46DDDD82-A2A8-DE9D-CBF8-CBEDA2165A3A}"/>
                  </a:ext>
                </a:extLst>
              </p:cNvPr>
              <p:cNvSpPr>
                <a:spLocks noGrp="1" noRot="1" noChangeAspect="1" noMove="1" noResize="1" noEditPoints="1" noAdjustHandles="1" noChangeArrowheads="1" noChangeShapeType="1" noTextEdit="1"/>
              </p:cNvSpPr>
              <p:nvPr>
                <p:ph idx="1"/>
              </p:nvPr>
            </p:nvSpPr>
            <p:spPr>
              <a:blipFill>
                <a:blip r:embed="rId2"/>
                <a:stretch>
                  <a:fillRect l="-309" t="-420" b="-602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8D00C729-DA3A-3DA9-0F11-3D4BF1FC141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C6CF940-36C9-AA72-5F1F-9F780B699E61}"/>
              </a:ext>
            </a:extLst>
          </p:cNvPr>
          <p:cNvSpPr>
            <a:spLocks noGrp="1"/>
          </p:cNvSpPr>
          <p:nvPr>
            <p:ph type="sldNum" sz="quarter" idx="12"/>
          </p:nvPr>
        </p:nvSpPr>
        <p:spPr/>
        <p:txBody>
          <a:bodyPr/>
          <a:lstStyle/>
          <a:p>
            <a:fld id="{D41FC515-8169-4A29-AA56-DBE520D5741B}" type="slidenum">
              <a:rPr lang="zh-CN" altLang="en-US" smtClean="0"/>
              <a:t>42</a:t>
            </a:fld>
            <a:endParaRPr lang="zh-CN" altLang="en-US"/>
          </a:p>
        </p:txBody>
      </p:sp>
      <p:pic>
        <p:nvPicPr>
          <p:cNvPr id="7" name="图片 6">
            <a:extLst>
              <a:ext uri="{FF2B5EF4-FFF2-40B4-BE49-F238E27FC236}">
                <a16:creationId xmlns:a16="http://schemas.microsoft.com/office/drawing/2014/main" id="{69831D45-22C6-C346-D99F-93BC0329F91E}"/>
              </a:ext>
            </a:extLst>
          </p:cNvPr>
          <p:cNvPicPr>
            <a:picLocks noChangeAspect="1"/>
          </p:cNvPicPr>
          <p:nvPr/>
        </p:nvPicPr>
        <p:blipFill>
          <a:blip r:embed="rId3"/>
          <a:stretch>
            <a:fillRect/>
          </a:stretch>
        </p:blipFill>
        <p:spPr>
          <a:xfrm>
            <a:off x="628650" y="3198253"/>
            <a:ext cx="7886700" cy="1046419"/>
          </a:xfrm>
          <a:prstGeom prst="rect">
            <a:avLst/>
          </a:prstGeom>
        </p:spPr>
      </p:pic>
    </p:spTree>
    <p:extLst>
      <p:ext uri="{BB962C8B-B14F-4D97-AF65-F5344CB8AC3E}">
        <p14:creationId xmlns:p14="http://schemas.microsoft.com/office/powerpoint/2010/main" val="19469250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A78B52-27F9-0CC2-1CA8-37335E608A29}"/>
              </a:ext>
            </a:extLst>
          </p:cNvPr>
          <p:cNvSpPr>
            <a:spLocks noGrp="1"/>
          </p:cNvSpPr>
          <p:nvPr>
            <p:ph type="title"/>
          </p:nvPr>
        </p:nvSpPr>
        <p:spPr/>
        <p:txBody>
          <a:bodyPr/>
          <a:lstStyle/>
          <a:p>
            <a:r>
              <a:rPr lang="zh-CN" altLang="en-US" dirty="0"/>
              <a:t>合成双重差分</a:t>
            </a:r>
          </a:p>
        </p:txBody>
      </p:sp>
      <p:pic>
        <p:nvPicPr>
          <p:cNvPr id="7" name="内容占位符 6">
            <a:extLst>
              <a:ext uri="{FF2B5EF4-FFF2-40B4-BE49-F238E27FC236}">
                <a16:creationId xmlns:a16="http://schemas.microsoft.com/office/drawing/2014/main" id="{423F9055-3D19-404D-EF54-2CDAB6370BEB}"/>
              </a:ext>
            </a:extLst>
          </p:cNvPr>
          <p:cNvPicPr>
            <a:picLocks noGrp="1" noChangeAspect="1"/>
          </p:cNvPicPr>
          <p:nvPr>
            <p:ph idx="1"/>
          </p:nvPr>
        </p:nvPicPr>
        <p:blipFill>
          <a:blip r:embed="rId2"/>
          <a:stretch>
            <a:fillRect/>
          </a:stretch>
        </p:blipFill>
        <p:spPr>
          <a:xfrm>
            <a:off x="2153334" y="1825625"/>
            <a:ext cx="4837332" cy="4351338"/>
          </a:xfrm>
          <a:prstGeom prst="rect">
            <a:avLst/>
          </a:prstGeom>
        </p:spPr>
      </p:pic>
      <p:sp>
        <p:nvSpPr>
          <p:cNvPr id="4" name="页脚占位符 3">
            <a:extLst>
              <a:ext uri="{FF2B5EF4-FFF2-40B4-BE49-F238E27FC236}">
                <a16:creationId xmlns:a16="http://schemas.microsoft.com/office/drawing/2014/main" id="{727E83B2-A1C8-789D-6201-4346F8CB9AF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B1B89A9-D780-2B79-2E86-EF100C987B20}"/>
              </a:ext>
            </a:extLst>
          </p:cNvPr>
          <p:cNvSpPr>
            <a:spLocks noGrp="1"/>
          </p:cNvSpPr>
          <p:nvPr>
            <p:ph type="sldNum" sz="quarter" idx="12"/>
          </p:nvPr>
        </p:nvSpPr>
        <p:spPr/>
        <p:txBody>
          <a:bodyPr/>
          <a:lstStyle/>
          <a:p>
            <a:fld id="{D41FC515-8169-4A29-AA56-DBE520D5741B}" type="slidenum">
              <a:rPr lang="zh-CN" altLang="en-US" smtClean="0"/>
              <a:t>43</a:t>
            </a:fld>
            <a:endParaRPr lang="zh-CN" altLang="en-US"/>
          </a:p>
        </p:txBody>
      </p:sp>
    </p:spTree>
    <p:extLst>
      <p:ext uri="{BB962C8B-B14F-4D97-AF65-F5344CB8AC3E}">
        <p14:creationId xmlns:p14="http://schemas.microsoft.com/office/powerpoint/2010/main" val="364662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07C8BC-3BEC-6F5A-37A7-6008A25AD99D}"/>
              </a:ext>
            </a:extLst>
          </p:cNvPr>
          <p:cNvSpPr>
            <a:spLocks noGrp="1"/>
          </p:cNvSpPr>
          <p:nvPr>
            <p:ph type="title"/>
          </p:nvPr>
        </p:nvSpPr>
        <p:spPr/>
        <p:txBody>
          <a:bodyPr/>
          <a:lstStyle/>
          <a:p>
            <a:r>
              <a:rPr lang="zh-CN" altLang="en-US" dirty="0"/>
              <a:t>合成双重差分</a:t>
            </a:r>
            <a:br>
              <a:rPr lang="zh-CN" altLang="en-US" dirty="0"/>
            </a:br>
            <a:r>
              <a:rPr lang="en-US" altLang="zh-CN" sz="2400" dirty="0"/>
              <a:t>RMSE in Simulations</a:t>
            </a:r>
            <a:endParaRPr lang="zh-CN" altLang="en-US" sz="2400" dirty="0"/>
          </a:p>
        </p:txBody>
      </p:sp>
      <p:pic>
        <p:nvPicPr>
          <p:cNvPr id="7" name="内容占位符 6">
            <a:extLst>
              <a:ext uri="{FF2B5EF4-FFF2-40B4-BE49-F238E27FC236}">
                <a16:creationId xmlns:a16="http://schemas.microsoft.com/office/drawing/2014/main" id="{FBB99D87-07C9-CC5D-1043-C7292562D7F5}"/>
              </a:ext>
            </a:extLst>
          </p:cNvPr>
          <p:cNvPicPr>
            <a:picLocks noGrp="1" noChangeAspect="1"/>
          </p:cNvPicPr>
          <p:nvPr>
            <p:ph idx="1"/>
          </p:nvPr>
        </p:nvPicPr>
        <p:blipFill>
          <a:blip r:embed="rId2"/>
          <a:stretch>
            <a:fillRect/>
          </a:stretch>
        </p:blipFill>
        <p:spPr>
          <a:xfrm>
            <a:off x="1197735" y="2900150"/>
            <a:ext cx="6748530" cy="2202287"/>
          </a:xfrm>
          <a:prstGeom prst="rect">
            <a:avLst/>
          </a:prstGeom>
        </p:spPr>
      </p:pic>
      <p:sp>
        <p:nvSpPr>
          <p:cNvPr id="4" name="页脚占位符 3">
            <a:extLst>
              <a:ext uri="{FF2B5EF4-FFF2-40B4-BE49-F238E27FC236}">
                <a16:creationId xmlns:a16="http://schemas.microsoft.com/office/drawing/2014/main" id="{AFF11C51-C8B6-AB23-7D38-C9F2EEC9971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E715841-0420-F8F8-92E1-C8A035180850}"/>
              </a:ext>
            </a:extLst>
          </p:cNvPr>
          <p:cNvSpPr>
            <a:spLocks noGrp="1"/>
          </p:cNvSpPr>
          <p:nvPr>
            <p:ph type="sldNum" sz="quarter" idx="12"/>
          </p:nvPr>
        </p:nvSpPr>
        <p:spPr/>
        <p:txBody>
          <a:bodyPr/>
          <a:lstStyle/>
          <a:p>
            <a:fld id="{D41FC515-8169-4A29-AA56-DBE520D5741B}" type="slidenum">
              <a:rPr lang="zh-CN" altLang="en-US" smtClean="0"/>
              <a:t>44</a:t>
            </a:fld>
            <a:endParaRPr lang="zh-CN" altLang="en-US"/>
          </a:p>
        </p:txBody>
      </p:sp>
    </p:spTree>
    <p:extLst>
      <p:ext uri="{BB962C8B-B14F-4D97-AF65-F5344CB8AC3E}">
        <p14:creationId xmlns:p14="http://schemas.microsoft.com/office/powerpoint/2010/main" val="38173954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6962D-8E7C-075A-7383-9C015F533476}"/>
              </a:ext>
            </a:extLst>
          </p:cNvPr>
          <p:cNvSpPr>
            <a:spLocks noGrp="1"/>
          </p:cNvSpPr>
          <p:nvPr>
            <p:ph type="title"/>
          </p:nvPr>
        </p:nvSpPr>
        <p:spPr/>
        <p:txBody>
          <a:bodyPr/>
          <a:lstStyle/>
          <a:p>
            <a:r>
              <a:rPr lang="zh-CN" altLang="en-US" dirty="0"/>
              <a:t>合成双重差分</a:t>
            </a:r>
          </a:p>
        </p:txBody>
      </p:sp>
      <p:pic>
        <p:nvPicPr>
          <p:cNvPr id="7" name="内容占位符 6">
            <a:extLst>
              <a:ext uri="{FF2B5EF4-FFF2-40B4-BE49-F238E27FC236}">
                <a16:creationId xmlns:a16="http://schemas.microsoft.com/office/drawing/2014/main" id="{7F4A8320-3A3E-6322-563F-632B5860FCD7}"/>
              </a:ext>
            </a:extLst>
          </p:cNvPr>
          <p:cNvPicPr>
            <a:picLocks noGrp="1" noChangeAspect="1"/>
          </p:cNvPicPr>
          <p:nvPr>
            <p:ph idx="1"/>
          </p:nvPr>
        </p:nvPicPr>
        <p:blipFill>
          <a:blip r:embed="rId2"/>
          <a:stretch>
            <a:fillRect/>
          </a:stretch>
        </p:blipFill>
        <p:spPr>
          <a:xfrm>
            <a:off x="323439" y="1690689"/>
            <a:ext cx="3993919" cy="3606868"/>
          </a:xfrm>
          <a:prstGeom prst="rect">
            <a:avLst/>
          </a:prstGeom>
        </p:spPr>
      </p:pic>
      <p:sp>
        <p:nvSpPr>
          <p:cNvPr id="4" name="页脚占位符 3">
            <a:extLst>
              <a:ext uri="{FF2B5EF4-FFF2-40B4-BE49-F238E27FC236}">
                <a16:creationId xmlns:a16="http://schemas.microsoft.com/office/drawing/2014/main" id="{AC29D39D-9401-D534-62A1-DB9EDAFFB80C}"/>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6A10FDC-C922-A7DB-994C-BAC90640E3FA}"/>
              </a:ext>
            </a:extLst>
          </p:cNvPr>
          <p:cNvSpPr>
            <a:spLocks noGrp="1"/>
          </p:cNvSpPr>
          <p:nvPr>
            <p:ph type="sldNum" sz="quarter" idx="12"/>
          </p:nvPr>
        </p:nvSpPr>
        <p:spPr/>
        <p:txBody>
          <a:bodyPr/>
          <a:lstStyle/>
          <a:p>
            <a:fld id="{D41FC515-8169-4A29-AA56-DBE520D5741B}" type="slidenum">
              <a:rPr lang="zh-CN" altLang="en-US" smtClean="0"/>
              <a:t>45</a:t>
            </a:fld>
            <a:endParaRPr lang="zh-CN" altLang="en-US"/>
          </a:p>
        </p:txBody>
      </p:sp>
      <p:pic>
        <p:nvPicPr>
          <p:cNvPr id="9" name="图片 8">
            <a:extLst>
              <a:ext uri="{FF2B5EF4-FFF2-40B4-BE49-F238E27FC236}">
                <a16:creationId xmlns:a16="http://schemas.microsoft.com/office/drawing/2014/main" id="{E1E14962-A9D8-8028-26AA-ECC8B79B32BC}"/>
              </a:ext>
            </a:extLst>
          </p:cNvPr>
          <p:cNvPicPr>
            <a:picLocks noChangeAspect="1"/>
          </p:cNvPicPr>
          <p:nvPr/>
        </p:nvPicPr>
        <p:blipFill>
          <a:blip r:embed="rId3"/>
          <a:stretch>
            <a:fillRect/>
          </a:stretch>
        </p:blipFill>
        <p:spPr>
          <a:xfrm>
            <a:off x="4572000" y="1690689"/>
            <a:ext cx="3993919" cy="3606868"/>
          </a:xfrm>
          <a:prstGeom prst="rect">
            <a:avLst/>
          </a:prstGeom>
        </p:spPr>
      </p:pic>
    </p:spTree>
    <p:extLst>
      <p:ext uri="{BB962C8B-B14F-4D97-AF65-F5344CB8AC3E}">
        <p14:creationId xmlns:p14="http://schemas.microsoft.com/office/powerpoint/2010/main" val="39942741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0B1A48-C9ED-32B7-8E9C-EE6A79D0A190}"/>
              </a:ext>
            </a:extLst>
          </p:cNvPr>
          <p:cNvSpPr>
            <a:spLocks noGrp="1"/>
          </p:cNvSpPr>
          <p:nvPr>
            <p:ph type="title"/>
          </p:nvPr>
        </p:nvSpPr>
        <p:spPr/>
        <p:txBody>
          <a:bodyPr/>
          <a:lstStyle/>
          <a:p>
            <a:r>
              <a:rPr lang="zh-CN" altLang="en-US" dirty="0"/>
              <a:t>总结</a:t>
            </a:r>
          </a:p>
        </p:txBody>
      </p:sp>
      <p:sp>
        <p:nvSpPr>
          <p:cNvPr id="3" name="内容占位符 2">
            <a:extLst>
              <a:ext uri="{FF2B5EF4-FFF2-40B4-BE49-F238E27FC236}">
                <a16:creationId xmlns:a16="http://schemas.microsoft.com/office/drawing/2014/main" id="{2BD941BE-9750-57D7-0179-9F196E47EF9B}"/>
              </a:ext>
            </a:extLst>
          </p:cNvPr>
          <p:cNvSpPr>
            <a:spLocks noGrp="1"/>
          </p:cNvSpPr>
          <p:nvPr>
            <p:ph idx="1"/>
          </p:nvPr>
        </p:nvSpPr>
        <p:spPr/>
        <p:txBody>
          <a:bodyPr>
            <a:normAutofit fontScale="77500" lnSpcReduction="20000"/>
          </a:bodyPr>
          <a:lstStyle/>
          <a:p>
            <a:pPr>
              <a:lnSpc>
                <a:spcPct val="120000"/>
              </a:lnSpc>
            </a:pPr>
            <a:r>
              <a:rPr lang="en-US" altLang="zh-CN" dirty="0" err="1"/>
              <a:t>Borusyak</a:t>
            </a:r>
            <a:r>
              <a:rPr lang="en-US" altLang="zh-CN" dirty="0"/>
              <a:t> et al. (2024)</a:t>
            </a:r>
            <a:r>
              <a:rPr lang="zh-CN" altLang="en-US" dirty="0"/>
              <a:t>、</a:t>
            </a:r>
            <a:r>
              <a:rPr lang="en-US" altLang="zh-CN" dirty="0"/>
              <a:t>Gardner (2021) </a:t>
            </a:r>
            <a:r>
              <a:rPr lang="zh-CN" altLang="en-US" dirty="0"/>
              <a:t>的</a:t>
            </a:r>
            <a:r>
              <a:rPr lang="en-US" altLang="zh-CN" dirty="0"/>
              <a:t>imputation </a:t>
            </a:r>
            <a:r>
              <a:rPr lang="zh-CN" altLang="en-US" dirty="0"/>
              <a:t>方法，对潜在结果𝑌𝑖𝑡</a:t>
            </a:r>
            <a:r>
              <a:rPr lang="en-US" altLang="zh-CN" dirty="0"/>
              <a:t>(0)</a:t>
            </a:r>
            <a:r>
              <a:rPr lang="zh-CN" altLang="en-US" dirty="0"/>
              <a:t>建立固定效应模型</a:t>
            </a:r>
            <a:r>
              <a:rPr lang="en-US" altLang="zh-CN" dirty="0"/>
              <a:t>(two way fixed effect model)</a:t>
            </a:r>
            <a:r>
              <a:rPr lang="zh-CN" altLang="en-US" dirty="0"/>
              <a:t>。</a:t>
            </a:r>
            <a:endParaRPr lang="en-US" altLang="zh-CN" dirty="0"/>
          </a:p>
          <a:p>
            <a:pPr>
              <a:lnSpc>
                <a:spcPct val="120000"/>
              </a:lnSpc>
            </a:pPr>
            <a:r>
              <a:rPr lang="en-US" altLang="zh-CN" dirty="0"/>
              <a:t>Xu (2017) </a:t>
            </a:r>
            <a:r>
              <a:rPr lang="zh-CN" altLang="en-US" dirty="0"/>
              <a:t>也是对𝑌𝑖𝑡</a:t>
            </a:r>
            <a:r>
              <a:rPr lang="en-US" altLang="zh-CN" dirty="0"/>
              <a:t>(0) </a:t>
            </a:r>
            <a:r>
              <a:rPr lang="zh-CN" altLang="en-US" dirty="0"/>
              <a:t>建模，他使用交互固定效应模型</a:t>
            </a:r>
            <a:r>
              <a:rPr lang="en-US" altLang="zh-CN" dirty="0"/>
              <a:t>(Interactive fixed effect model)</a:t>
            </a:r>
            <a:r>
              <a:rPr lang="zh-CN" altLang="en-US" dirty="0"/>
              <a:t>。</a:t>
            </a:r>
            <a:endParaRPr lang="en-US" altLang="zh-CN" dirty="0"/>
          </a:p>
          <a:p>
            <a:pPr>
              <a:lnSpc>
                <a:spcPct val="120000"/>
              </a:lnSpc>
            </a:pPr>
            <a:r>
              <a:rPr lang="en-US" altLang="zh-CN" dirty="0"/>
              <a:t>Abadie et al. (2010) </a:t>
            </a:r>
            <a:r>
              <a:rPr lang="zh-CN" altLang="en-US" dirty="0"/>
              <a:t>的合成控制法</a:t>
            </a:r>
            <a:r>
              <a:rPr lang="en-US" altLang="zh-CN" dirty="0"/>
              <a:t>(Synthetic Control, SC) </a:t>
            </a:r>
            <a:r>
              <a:rPr lang="zh-CN" altLang="en-US" dirty="0"/>
              <a:t>主要利用个体干预前之间的关系进行合成，没有考虑时期之间的相关性。</a:t>
            </a:r>
            <a:endParaRPr lang="en-US" altLang="zh-CN" dirty="0"/>
          </a:p>
          <a:p>
            <a:pPr>
              <a:lnSpc>
                <a:spcPct val="120000"/>
              </a:lnSpc>
            </a:pPr>
            <a:r>
              <a:rPr lang="en-US" altLang="zh-CN" dirty="0"/>
              <a:t>Arkhangelsky et al. (2021) </a:t>
            </a:r>
            <a:r>
              <a:rPr lang="zh-CN" altLang="en-US" dirty="0"/>
              <a:t>的合成双重差分</a:t>
            </a:r>
            <a:r>
              <a:rPr lang="en-US" altLang="zh-CN" dirty="0"/>
              <a:t>(Synthetic DID, SDID) </a:t>
            </a:r>
            <a:r>
              <a:rPr lang="zh-CN" altLang="en-US" dirty="0"/>
              <a:t>将</a:t>
            </a:r>
            <a:r>
              <a:rPr lang="en-US" altLang="zh-CN" dirty="0"/>
              <a:t>SC </a:t>
            </a:r>
            <a:r>
              <a:rPr lang="zh-CN" altLang="en-US" dirty="0"/>
              <a:t>和</a:t>
            </a:r>
            <a:r>
              <a:rPr lang="en-US" altLang="zh-CN" dirty="0"/>
              <a:t>DID </a:t>
            </a:r>
            <a:r>
              <a:rPr lang="zh-CN" altLang="en-US" dirty="0"/>
              <a:t>两种方法结合起来，利用个体和时期两个维度同时进行合成，具有更好的性质。</a:t>
            </a:r>
          </a:p>
        </p:txBody>
      </p:sp>
      <p:sp>
        <p:nvSpPr>
          <p:cNvPr id="4" name="页脚占位符 3">
            <a:extLst>
              <a:ext uri="{FF2B5EF4-FFF2-40B4-BE49-F238E27FC236}">
                <a16:creationId xmlns:a16="http://schemas.microsoft.com/office/drawing/2014/main" id="{51EA33FD-5CD9-A5A8-0AE4-6E30F6C27A1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DC6011AE-0B30-438D-3D88-197403F818D8}"/>
              </a:ext>
            </a:extLst>
          </p:cNvPr>
          <p:cNvSpPr>
            <a:spLocks noGrp="1"/>
          </p:cNvSpPr>
          <p:nvPr>
            <p:ph type="sldNum" sz="quarter" idx="12"/>
          </p:nvPr>
        </p:nvSpPr>
        <p:spPr/>
        <p:txBody>
          <a:bodyPr/>
          <a:lstStyle/>
          <a:p>
            <a:fld id="{D41FC515-8169-4A29-AA56-DBE520D5741B}" type="slidenum">
              <a:rPr lang="zh-CN" altLang="en-US" smtClean="0"/>
              <a:t>46</a:t>
            </a:fld>
            <a:endParaRPr lang="zh-CN" altLang="en-US"/>
          </a:p>
        </p:txBody>
      </p:sp>
    </p:spTree>
    <p:extLst>
      <p:ext uri="{BB962C8B-B14F-4D97-AF65-F5344CB8AC3E}">
        <p14:creationId xmlns:p14="http://schemas.microsoft.com/office/powerpoint/2010/main" val="26953447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40942B-1CF9-45BE-6FA7-03681F355BD0}"/>
              </a:ext>
            </a:extLst>
          </p:cNvPr>
          <p:cNvSpPr>
            <a:spLocks noGrp="1"/>
          </p:cNvSpPr>
          <p:nvPr>
            <p:ph type="title"/>
          </p:nvPr>
        </p:nvSpPr>
        <p:spPr/>
        <p:txBody>
          <a:bodyPr/>
          <a:lstStyle/>
          <a:p>
            <a:r>
              <a:rPr lang="zh-CN" altLang="en-US" dirty="0"/>
              <a:t>参考文献</a:t>
            </a:r>
          </a:p>
        </p:txBody>
      </p:sp>
      <p:sp>
        <p:nvSpPr>
          <p:cNvPr id="3" name="内容占位符 2">
            <a:extLst>
              <a:ext uri="{FF2B5EF4-FFF2-40B4-BE49-F238E27FC236}">
                <a16:creationId xmlns:a16="http://schemas.microsoft.com/office/drawing/2014/main" id="{329EF405-CF5B-2E5C-0C54-5C108C13EB03}"/>
              </a:ext>
            </a:extLst>
          </p:cNvPr>
          <p:cNvSpPr>
            <a:spLocks noGrp="1"/>
          </p:cNvSpPr>
          <p:nvPr>
            <p:ph idx="1"/>
          </p:nvPr>
        </p:nvSpPr>
        <p:spPr/>
        <p:txBody>
          <a:bodyPr>
            <a:normAutofit fontScale="62500" lnSpcReduction="20000"/>
          </a:bodyPr>
          <a:lstStyle/>
          <a:p>
            <a:r>
              <a:rPr lang="en-US" altLang="zh-CN" b="1" dirty="0"/>
              <a:t>Abadie, Alberto</a:t>
            </a:r>
            <a:r>
              <a:rPr lang="en-US" altLang="zh-CN" dirty="0"/>
              <a:t>, “Semiparametric instrumental variable estimation of treatment response models,” </a:t>
            </a:r>
            <a:r>
              <a:rPr lang="en-US" altLang="zh-CN" i="1" dirty="0"/>
              <a:t>Journal of Econometrics</a:t>
            </a:r>
            <a:r>
              <a:rPr lang="en-US" altLang="zh-CN" dirty="0"/>
              <a:t>, 2003, </a:t>
            </a:r>
            <a:r>
              <a:rPr lang="en-US" altLang="zh-CN" i="1" dirty="0"/>
              <a:t>113 </a:t>
            </a:r>
            <a:r>
              <a:rPr lang="en-US" altLang="zh-CN" dirty="0"/>
              <a:t>(2), 231 – 263.</a:t>
            </a:r>
          </a:p>
          <a:p>
            <a:r>
              <a:rPr lang="en-US" altLang="zh-CN" dirty="0"/>
              <a:t>, “Using synthetic controls: Feasibility, data requirements, and methodological aspects,” </a:t>
            </a:r>
            <a:r>
              <a:rPr lang="en-US" altLang="zh-CN" i="1" dirty="0"/>
              <a:t>Journal of Economic Literature</a:t>
            </a:r>
            <a:r>
              <a:rPr lang="en-US" altLang="zh-CN" dirty="0"/>
              <a:t>, 2021, </a:t>
            </a:r>
            <a:r>
              <a:rPr lang="en-US" altLang="zh-CN" i="1" dirty="0"/>
              <a:t>59 </a:t>
            </a:r>
            <a:r>
              <a:rPr lang="en-US" altLang="zh-CN" dirty="0"/>
              <a:t>(2), 391–425.</a:t>
            </a:r>
          </a:p>
          <a:p>
            <a:r>
              <a:rPr lang="en-US" altLang="zh-CN" b="1" dirty="0"/>
              <a:t>, Alexis Diamond, and Jens </a:t>
            </a:r>
            <a:r>
              <a:rPr lang="en-US" altLang="zh-CN" b="1" dirty="0" err="1"/>
              <a:t>Hainmueller</a:t>
            </a:r>
            <a:r>
              <a:rPr lang="en-US" altLang="zh-CN" dirty="0"/>
              <a:t>, “Synthetic Control Methods for Comparative Case Studies Estimating the Effect of California’s Tobacco Control Program,” </a:t>
            </a:r>
            <a:r>
              <a:rPr lang="en-US" altLang="zh-CN" i="1" dirty="0"/>
              <a:t>Journal of the American Statistical Association</a:t>
            </a:r>
            <a:r>
              <a:rPr lang="en-US" altLang="zh-CN" dirty="0"/>
              <a:t>, 2010, </a:t>
            </a:r>
            <a:r>
              <a:rPr lang="en-US" altLang="zh-CN" i="1" dirty="0"/>
              <a:t>105 </a:t>
            </a:r>
            <a:r>
              <a:rPr lang="en-US" altLang="zh-CN" dirty="0"/>
              <a:t>(490), 493–505.</a:t>
            </a:r>
          </a:p>
          <a:p>
            <a:r>
              <a:rPr lang="en-US" altLang="zh-CN" b="1" dirty="0"/>
              <a:t>Arkhangelsky, Dmitry, Susan Athey, David A Hirshberg, Guido W </a:t>
            </a:r>
            <a:r>
              <a:rPr lang="en-US" altLang="zh-CN" b="1" dirty="0" err="1"/>
              <a:t>Imbens</a:t>
            </a:r>
            <a:r>
              <a:rPr lang="en-US" altLang="zh-CN" b="1" dirty="0"/>
              <a:t>, and Stefan Wager</a:t>
            </a:r>
            <a:r>
              <a:rPr lang="en-US" altLang="zh-CN" dirty="0"/>
              <a:t>, “Synthetic difference-in-differences,” </a:t>
            </a:r>
            <a:r>
              <a:rPr lang="en-US" altLang="zh-CN" i="1" dirty="0"/>
              <a:t>American Economic Review</a:t>
            </a:r>
            <a:r>
              <a:rPr lang="en-US" altLang="zh-CN" dirty="0"/>
              <a:t>, 2021, </a:t>
            </a:r>
            <a:r>
              <a:rPr lang="en-US" altLang="zh-CN" i="1" dirty="0"/>
              <a:t>111 </a:t>
            </a:r>
            <a:r>
              <a:rPr lang="en-US" altLang="zh-CN" dirty="0"/>
              <a:t>(12), 4088–4118.</a:t>
            </a:r>
          </a:p>
          <a:p>
            <a:r>
              <a:rPr lang="en-US" altLang="zh-CN" b="1" dirty="0"/>
              <a:t>Athey, Susan and Guido W </a:t>
            </a:r>
            <a:r>
              <a:rPr lang="en-US" altLang="zh-CN" b="1" dirty="0" err="1"/>
              <a:t>Imbens</a:t>
            </a:r>
            <a:r>
              <a:rPr lang="en-US" altLang="zh-CN" dirty="0"/>
              <a:t>, “The state of applied econometrics: Causality and policy evaluation,” </a:t>
            </a:r>
            <a:r>
              <a:rPr lang="en-US" altLang="zh-CN" i="1" dirty="0"/>
              <a:t>Journal of Economic perspectives</a:t>
            </a:r>
            <a:r>
              <a:rPr lang="en-US" altLang="zh-CN" dirty="0"/>
              <a:t>, 2017, </a:t>
            </a:r>
            <a:r>
              <a:rPr lang="en-US" altLang="zh-CN" i="1" dirty="0"/>
              <a:t>31 </a:t>
            </a:r>
            <a:r>
              <a:rPr lang="en-US" altLang="zh-CN" dirty="0"/>
              <a:t>(2), 3–32.</a:t>
            </a:r>
          </a:p>
          <a:p>
            <a:r>
              <a:rPr lang="en-US" altLang="zh-CN" b="1" dirty="0"/>
              <a:t>Bai, </a:t>
            </a:r>
            <a:r>
              <a:rPr lang="en-US" altLang="zh-CN" b="1" dirty="0" err="1"/>
              <a:t>Jushan</a:t>
            </a:r>
            <a:r>
              <a:rPr lang="en-US" altLang="zh-CN" dirty="0"/>
              <a:t>, “Panel data models with interactive fixed effects,” </a:t>
            </a:r>
            <a:r>
              <a:rPr lang="en-US" altLang="zh-CN" i="1" dirty="0" err="1"/>
              <a:t>Econometrica</a:t>
            </a:r>
            <a:r>
              <a:rPr lang="en-US" altLang="zh-CN" dirty="0"/>
              <a:t>, 2009, </a:t>
            </a:r>
            <a:r>
              <a:rPr lang="en-US" altLang="zh-CN" i="1" dirty="0"/>
              <a:t>77 </a:t>
            </a:r>
            <a:r>
              <a:rPr lang="en-US" altLang="zh-CN" dirty="0"/>
              <a:t>(4), 1229–1279.</a:t>
            </a:r>
          </a:p>
        </p:txBody>
      </p:sp>
      <p:sp>
        <p:nvSpPr>
          <p:cNvPr id="4" name="页脚占位符 3">
            <a:extLst>
              <a:ext uri="{FF2B5EF4-FFF2-40B4-BE49-F238E27FC236}">
                <a16:creationId xmlns:a16="http://schemas.microsoft.com/office/drawing/2014/main" id="{8BB1ECC1-D8AE-C753-4457-68F3C961FD0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371A66E-424E-C22F-3B2E-3B023BFC0D03}"/>
              </a:ext>
            </a:extLst>
          </p:cNvPr>
          <p:cNvSpPr>
            <a:spLocks noGrp="1"/>
          </p:cNvSpPr>
          <p:nvPr>
            <p:ph type="sldNum" sz="quarter" idx="12"/>
          </p:nvPr>
        </p:nvSpPr>
        <p:spPr/>
        <p:txBody>
          <a:bodyPr/>
          <a:lstStyle/>
          <a:p>
            <a:fld id="{D41FC515-8169-4A29-AA56-DBE520D5741B}" type="slidenum">
              <a:rPr lang="zh-CN" altLang="en-US" smtClean="0"/>
              <a:t>47</a:t>
            </a:fld>
            <a:endParaRPr lang="zh-CN" altLang="en-US"/>
          </a:p>
        </p:txBody>
      </p:sp>
    </p:spTree>
    <p:extLst>
      <p:ext uri="{BB962C8B-B14F-4D97-AF65-F5344CB8AC3E}">
        <p14:creationId xmlns:p14="http://schemas.microsoft.com/office/powerpoint/2010/main" val="18015985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0049BD-C3CA-478D-54D5-3D8482AC803A}"/>
              </a:ext>
            </a:extLst>
          </p:cNvPr>
          <p:cNvSpPr>
            <a:spLocks noGrp="1"/>
          </p:cNvSpPr>
          <p:nvPr>
            <p:ph type="title"/>
          </p:nvPr>
        </p:nvSpPr>
        <p:spPr/>
        <p:txBody>
          <a:bodyPr/>
          <a:lstStyle/>
          <a:p>
            <a:r>
              <a:rPr lang="zh-CN" altLang="en-US" dirty="0"/>
              <a:t>参考文献</a:t>
            </a:r>
          </a:p>
        </p:txBody>
      </p:sp>
      <p:sp>
        <p:nvSpPr>
          <p:cNvPr id="3" name="内容占位符 2">
            <a:extLst>
              <a:ext uri="{FF2B5EF4-FFF2-40B4-BE49-F238E27FC236}">
                <a16:creationId xmlns:a16="http://schemas.microsoft.com/office/drawing/2014/main" id="{DF3E6351-F377-74B5-AEB0-314E72901A64}"/>
              </a:ext>
            </a:extLst>
          </p:cNvPr>
          <p:cNvSpPr>
            <a:spLocks noGrp="1"/>
          </p:cNvSpPr>
          <p:nvPr>
            <p:ph idx="1"/>
          </p:nvPr>
        </p:nvSpPr>
        <p:spPr/>
        <p:txBody>
          <a:bodyPr>
            <a:normAutofit fontScale="62500" lnSpcReduction="20000"/>
          </a:bodyPr>
          <a:lstStyle/>
          <a:p>
            <a:r>
              <a:rPr lang="en-US" altLang="zh-CN" b="1" dirty="0" err="1"/>
              <a:t>Borusyak</a:t>
            </a:r>
            <a:r>
              <a:rPr lang="en-US" altLang="zh-CN" b="1" dirty="0"/>
              <a:t>, Kirill, Xavier </a:t>
            </a:r>
            <a:r>
              <a:rPr lang="en-US" altLang="zh-CN" b="1" dirty="0" err="1"/>
              <a:t>Jaravel</a:t>
            </a:r>
            <a:r>
              <a:rPr lang="en-US" altLang="zh-CN" b="1" dirty="0"/>
              <a:t>, and Jann Spiess</a:t>
            </a:r>
            <a:r>
              <a:rPr lang="en-US" altLang="zh-CN" dirty="0"/>
              <a:t>, “Revisiting event-study designs: robust and efficient estimation,” </a:t>
            </a:r>
            <a:r>
              <a:rPr lang="en-US" altLang="zh-CN" i="1" dirty="0"/>
              <a:t>Review of Economic Studies</a:t>
            </a:r>
            <a:r>
              <a:rPr lang="en-US" altLang="zh-CN" dirty="0"/>
              <a:t>, 2024, p. rdae007.</a:t>
            </a:r>
          </a:p>
          <a:p>
            <a:r>
              <a:rPr lang="en-US" altLang="zh-CN" b="1" dirty="0"/>
              <a:t>Card, David</a:t>
            </a:r>
            <a:r>
              <a:rPr lang="en-US" altLang="zh-CN" dirty="0"/>
              <a:t>, “The impact of the Mariel boatlift on the Miami labor market,” </a:t>
            </a:r>
            <a:r>
              <a:rPr lang="en-US" altLang="zh-CN" i="1" dirty="0"/>
              <a:t>ILR Review</a:t>
            </a:r>
            <a:r>
              <a:rPr lang="en-US" altLang="zh-CN" dirty="0"/>
              <a:t>, 1990, </a:t>
            </a:r>
            <a:r>
              <a:rPr lang="en-US" altLang="zh-CN" i="1" dirty="0"/>
              <a:t>43 </a:t>
            </a:r>
            <a:r>
              <a:rPr lang="en-US" altLang="zh-CN" dirty="0"/>
              <a:t>(2), 245–257.</a:t>
            </a:r>
          </a:p>
          <a:p>
            <a:r>
              <a:rPr lang="en-US" altLang="zh-CN" b="1" dirty="0"/>
              <a:t>Gardner, John</a:t>
            </a:r>
            <a:r>
              <a:rPr lang="en-US" altLang="zh-CN" dirty="0"/>
              <a:t>, “Two-stage differences in differences,” </a:t>
            </a:r>
            <a:r>
              <a:rPr lang="en-US" altLang="zh-CN" i="1" dirty="0"/>
              <a:t>Working paper</a:t>
            </a:r>
            <a:r>
              <a:rPr lang="en-US" altLang="zh-CN" dirty="0"/>
              <a:t>, 2021.</a:t>
            </a:r>
            <a:endParaRPr lang="zh-CN" altLang="en-US" dirty="0"/>
          </a:p>
          <a:p>
            <a:r>
              <a:rPr lang="en-US" altLang="zh-CN" b="1" dirty="0"/>
              <a:t>Hsiao, Cheng, H. Steve Ching, and Shui Ki Wan</a:t>
            </a:r>
            <a:r>
              <a:rPr lang="en-US" altLang="zh-CN" dirty="0"/>
              <a:t>, “A panel data approach for program evaluation: Measuring the benefits of political and economic integration of </a:t>
            </a:r>
            <a:r>
              <a:rPr lang="en-US" altLang="zh-CN" dirty="0" err="1"/>
              <a:t>HongKong</a:t>
            </a:r>
            <a:r>
              <a:rPr lang="en-US" altLang="zh-CN" dirty="0"/>
              <a:t> with mainland China,” </a:t>
            </a:r>
            <a:r>
              <a:rPr lang="en-US" altLang="zh-CN" i="1" dirty="0"/>
              <a:t>Journal of Applied Econometrics</a:t>
            </a:r>
            <a:r>
              <a:rPr lang="en-US" altLang="zh-CN" dirty="0"/>
              <a:t>, 2012, </a:t>
            </a:r>
            <a:r>
              <a:rPr lang="en-US" altLang="zh-CN" i="1" dirty="0"/>
              <a:t>27 </a:t>
            </a:r>
            <a:r>
              <a:rPr lang="en-US" altLang="zh-CN" dirty="0"/>
              <a:t>(5), 705–740.</a:t>
            </a:r>
          </a:p>
          <a:p>
            <a:r>
              <a:rPr lang="en-US" altLang="zh-CN" b="1" dirty="0"/>
              <a:t>Liu, Licheng, Ye Wang, and Yiqing Xu</a:t>
            </a:r>
            <a:r>
              <a:rPr lang="en-US" altLang="zh-CN" dirty="0"/>
              <a:t>, “A practical guide to counterfactual estimators for causal inference with time-series cross-sectional data,” </a:t>
            </a:r>
            <a:r>
              <a:rPr lang="en-US" altLang="zh-CN" i="1" dirty="0" err="1"/>
              <a:t>arXiv</a:t>
            </a:r>
            <a:r>
              <a:rPr lang="en-US" altLang="zh-CN" i="1" dirty="0"/>
              <a:t> preprint arXiv:.00856</a:t>
            </a:r>
            <a:r>
              <a:rPr lang="en-US" altLang="zh-CN" dirty="0"/>
              <a:t>, 2022.</a:t>
            </a:r>
          </a:p>
          <a:p>
            <a:r>
              <a:rPr lang="en-US" altLang="zh-CN" b="1" dirty="0"/>
              <a:t>Xu, Yiqing</a:t>
            </a:r>
            <a:r>
              <a:rPr lang="en-US" altLang="zh-CN" dirty="0"/>
              <a:t>, “Generalized synthetic control method: Causal inference with interactive fixed effects models,” </a:t>
            </a:r>
            <a:r>
              <a:rPr lang="en-US" altLang="zh-CN" i="1" dirty="0"/>
              <a:t>Political Analysis</a:t>
            </a:r>
            <a:r>
              <a:rPr lang="en-US" altLang="zh-CN" dirty="0"/>
              <a:t>, 2017, </a:t>
            </a:r>
            <a:r>
              <a:rPr lang="en-US" altLang="zh-CN" i="1" dirty="0"/>
              <a:t>25 </a:t>
            </a:r>
            <a:r>
              <a:rPr lang="en-US" altLang="zh-CN" dirty="0"/>
              <a:t>(1), 57–76.</a:t>
            </a:r>
            <a:endParaRPr lang="zh-CN" altLang="en-US" dirty="0"/>
          </a:p>
        </p:txBody>
      </p:sp>
      <p:sp>
        <p:nvSpPr>
          <p:cNvPr id="4" name="页脚占位符 3">
            <a:extLst>
              <a:ext uri="{FF2B5EF4-FFF2-40B4-BE49-F238E27FC236}">
                <a16:creationId xmlns:a16="http://schemas.microsoft.com/office/drawing/2014/main" id="{D00073C1-7ECE-8E7D-0660-63907650AA93}"/>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78CB6FA-7282-03EC-3D6F-26ADF862D8EC}"/>
              </a:ext>
            </a:extLst>
          </p:cNvPr>
          <p:cNvSpPr>
            <a:spLocks noGrp="1"/>
          </p:cNvSpPr>
          <p:nvPr>
            <p:ph type="sldNum" sz="quarter" idx="12"/>
          </p:nvPr>
        </p:nvSpPr>
        <p:spPr/>
        <p:txBody>
          <a:bodyPr/>
          <a:lstStyle/>
          <a:p>
            <a:fld id="{D41FC515-8169-4A29-AA56-DBE520D5741B}" type="slidenum">
              <a:rPr lang="zh-CN" altLang="en-US" smtClean="0"/>
              <a:t>48</a:t>
            </a:fld>
            <a:endParaRPr lang="zh-CN" altLang="en-US"/>
          </a:p>
        </p:txBody>
      </p:sp>
    </p:spTree>
    <p:extLst>
      <p:ext uri="{BB962C8B-B14F-4D97-AF65-F5344CB8AC3E}">
        <p14:creationId xmlns:p14="http://schemas.microsoft.com/office/powerpoint/2010/main" val="2477339290"/>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Times New Roman"/>
        <a:ea typeface="思源宋体 Heavy"/>
        <a:cs typeface=""/>
      </a:majorFont>
      <a:minorFont>
        <a:latin typeface="Times New Roman"/>
        <a:ea typeface="思源宋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167</TotalTime>
  <Words>4662</Words>
  <Application>Microsoft Office PowerPoint</Application>
  <PresentationFormat>全屏显示(4:3)</PresentationFormat>
  <Paragraphs>314</Paragraphs>
  <Slides>48</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48</vt:i4>
      </vt:variant>
    </vt:vector>
  </HeadingPairs>
  <TitlesOfParts>
    <vt:vector size="53" baseType="lpstr">
      <vt:lpstr>等线</vt:lpstr>
      <vt:lpstr>Arial</vt:lpstr>
      <vt:lpstr>Cambria Math</vt:lpstr>
      <vt:lpstr>Times New Roman</vt:lpstr>
      <vt:lpstr>Office 主题​​</vt:lpstr>
      <vt:lpstr>缺失值填补方法</vt:lpstr>
      <vt:lpstr>目录</vt:lpstr>
      <vt:lpstr>缺失值填补 (imputation)</vt:lpstr>
      <vt:lpstr>缺失值填补 (imputation)</vt:lpstr>
      <vt:lpstr>缺失值填补(imputation) 估计方法：</vt:lpstr>
      <vt:lpstr>缺失值填补(imputation)</vt:lpstr>
      <vt:lpstr>缺失值填补(imputation)</vt:lpstr>
      <vt:lpstr>合成控制法</vt:lpstr>
      <vt:lpstr>合成控制法 基本设定</vt:lpstr>
      <vt:lpstr>双重差分法</vt:lpstr>
      <vt:lpstr>合成控制法</vt:lpstr>
      <vt:lpstr>合成控制法 基本设定</vt:lpstr>
      <vt:lpstr>合成控制法 理论基础</vt:lpstr>
      <vt:lpstr>合成控制法 理论基础</vt:lpstr>
      <vt:lpstr>合成控制法 实施方法和假设检验</vt:lpstr>
      <vt:lpstr>合成控制法 Abadie et al. (2015)</vt:lpstr>
      <vt:lpstr>合成控制法 Abadie et al. (2015)</vt:lpstr>
      <vt:lpstr>合成控制法 Abadie et al. (2015)</vt:lpstr>
      <vt:lpstr>合成控制法 实施方法和假设检验</vt:lpstr>
      <vt:lpstr>合成控制法 实施方法和假设检验</vt:lpstr>
      <vt:lpstr>合成控制法 实施方法和假设检验</vt:lpstr>
      <vt:lpstr>合成控制法 实施方法和假设检验</vt:lpstr>
      <vt:lpstr>合成控制法 案例：Abadie et al. (2010) Estimating the effect of California’s tobacco control program</vt:lpstr>
      <vt:lpstr>合成控制法 案例：Abadie et al. (2010) Estimating the effect of California’s tobacco control program</vt:lpstr>
      <vt:lpstr>合成控制法 案例：Abadie et al. (2010) Estimating the effect of California’s tobacco control program</vt:lpstr>
      <vt:lpstr>合成控制法 案例：Abadie et al. (2010) Estimating the effect of California’s tobacco control program</vt:lpstr>
      <vt:lpstr>合成控制法 案例：Abadie et al. (2010) Estimating the effect of California’s tobacco control program</vt:lpstr>
      <vt:lpstr>合成控制法 案例：Abadie et al. (2010) Estimating the effect of California’s tobacco control program</vt:lpstr>
      <vt:lpstr>合成控制法 案例：Abadie et al. (2010) Estimating the effect of California’s tobacco control program</vt:lpstr>
      <vt:lpstr>合成控制法 案例：Abadie et al. (2010) Estimating the effect of California’s tobacco control program</vt:lpstr>
      <vt:lpstr>合成控制法 案例：Abadie et al. (2010) Estimating the effect of California’s tobacco control program</vt:lpstr>
      <vt:lpstr>合成控制法 案例：Abadie et al. (2010) Estimating the effect of California’s tobacco control program</vt:lpstr>
      <vt:lpstr>合成控制法 限制</vt:lpstr>
      <vt:lpstr>广义合成控制法</vt:lpstr>
      <vt:lpstr>广义合成控制法 估计方法</vt:lpstr>
      <vt:lpstr>广义合成控制法 估计方法</vt:lpstr>
      <vt:lpstr>广义合成控制法</vt:lpstr>
      <vt:lpstr>合成双重差分</vt:lpstr>
      <vt:lpstr>合成双重差分</vt:lpstr>
      <vt:lpstr>合成双重差分</vt:lpstr>
      <vt:lpstr>合成双重差分 实施步骤</vt:lpstr>
      <vt:lpstr>合成双重差分 实施步骤</vt:lpstr>
      <vt:lpstr>合成双重差分</vt:lpstr>
      <vt:lpstr>合成双重差分 RMSE in Simulations</vt:lpstr>
      <vt:lpstr>合成双重差分</vt:lpstr>
      <vt:lpstr>总结</vt:lpstr>
      <vt:lpstr>参考文献</vt:lpstr>
      <vt:lpstr>参考文献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Xiliang ZHAO</dc:creator>
  <cp:lastModifiedBy>Xiliang ZHAO</cp:lastModifiedBy>
  <cp:revision>20</cp:revision>
  <dcterms:created xsi:type="dcterms:W3CDTF">2026-08-07T12:10:34Z</dcterms:created>
  <dcterms:modified xsi:type="dcterms:W3CDTF">2026-08-25T01:30:38Z</dcterms:modified>
</cp:coreProperties>
</file>
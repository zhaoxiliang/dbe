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3004A-1035-4AD2-BC4A-DB230EAABF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5C349-FD8F-4A61-B7BE-408729C94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46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515A7-CEAA-43FE-A0C6-C344D2E1C420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80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9CB9-29D0-4350-825D-C0AA5096F718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35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CF1F-4D82-4E39-A2A2-35E2A1D1799F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82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3615-B586-42F4-9872-6C720AA0F56E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5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A3562-2CF1-4137-BC7A-0E1D3AD82A62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09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C70-57B0-4FDE-A935-0B961BFE496D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6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AC03-C0A7-4889-9992-72A6D2628D14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72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54344-EBCE-46E1-8116-31474348F6BE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18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E525-4771-468B-A8FB-DAB2047A4270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65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8E2B5-2348-4A45-A5B7-02B2B64364E4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45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BAB9-886B-4640-A228-FB1A92425BDE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96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44183-C876-422B-881A-B6A8D40A16EE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49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gitee.com/zhaoxiliang/causalinference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imai.fas.harvard.edu/teaching/files/simple_regression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F58E5-B2B8-FEBB-8A41-24F534B6F7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随机化实验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A12E75-A8A7-EF47-8BB0-5705F1BDB0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赵西亮</a:t>
            </a:r>
            <a:endParaRPr lang="en-US" altLang="zh-CN" dirty="0"/>
          </a:p>
          <a:p>
            <a:r>
              <a:rPr lang="zh-CN" altLang="en-US" dirty="0"/>
              <a:t>厦门大学经济学院</a:t>
            </a:r>
            <a:endParaRPr lang="en-US" altLang="zh-CN" dirty="0"/>
          </a:p>
          <a:p>
            <a:r>
              <a:rPr lang="zh-CN" altLang="en-US" dirty="0"/>
              <a:t>王亚南经济研究院</a:t>
            </a:r>
          </a:p>
        </p:txBody>
      </p:sp>
    </p:spTree>
    <p:extLst>
      <p:ext uri="{BB962C8B-B14F-4D97-AF65-F5344CB8AC3E}">
        <p14:creationId xmlns:p14="http://schemas.microsoft.com/office/powerpoint/2010/main" val="4083691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E0263-3E9F-871C-6CBB-5FE9A142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4AC5FA-0F8B-7133-FC7C-04A961AE1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随机化实验的作用</a:t>
            </a:r>
            <a:endParaRPr lang="en-US" altLang="zh-CN" dirty="0"/>
          </a:p>
          <a:p>
            <a:r>
              <a:rPr lang="zh-CN" altLang="en-US" dirty="0"/>
              <a:t>完全随机化实验</a:t>
            </a:r>
            <a:endParaRPr lang="en-US" altLang="zh-CN" dirty="0"/>
          </a:p>
          <a:p>
            <a:pPr lvl="1"/>
            <a:r>
              <a:rPr lang="en-US" altLang="zh-CN" dirty="0"/>
              <a:t>Fisher Exact P Test</a:t>
            </a:r>
          </a:p>
          <a:p>
            <a:pPr lvl="1"/>
            <a:r>
              <a:rPr lang="en-US" altLang="zh-CN" dirty="0"/>
              <a:t>Neyman </a:t>
            </a:r>
            <a:r>
              <a:rPr lang="zh-CN" altLang="en-US" dirty="0"/>
              <a:t>方法 </a:t>
            </a:r>
            <a:endParaRPr lang="en-US" altLang="zh-CN" dirty="0"/>
          </a:p>
          <a:p>
            <a:pPr lvl="1"/>
            <a:r>
              <a:rPr lang="zh-CN" altLang="en-US" dirty="0"/>
              <a:t>回归分析</a:t>
            </a:r>
            <a:endParaRPr lang="en-US" altLang="zh-CN" dirty="0"/>
          </a:p>
          <a:p>
            <a:r>
              <a:rPr lang="zh-CN" altLang="en-US" dirty="0"/>
              <a:t>分层随机化实验</a:t>
            </a:r>
            <a:endParaRPr lang="en-US" altLang="zh-CN" dirty="0"/>
          </a:p>
          <a:p>
            <a:pPr lvl="1"/>
            <a:r>
              <a:rPr lang="en-US" altLang="zh-CN" dirty="0"/>
              <a:t>Fisher Exact P Test</a:t>
            </a:r>
          </a:p>
          <a:p>
            <a:pPr lvl="1"/>
            <a:r>
              <a:rPr lang="en-US" altLang="zh-CN" dirty="0"/>
              <a:t>Neyman </a:t>
            </a:r>
            <a:r>
              <a:rPr lang="zh-CN" altLang="en-US" dirty="0"/>
              <a:t>方法</a:t>
            </a:r>
            <a:endParaRPr lang="en-US" altLang="zh-CN" dirty="0"/>
          </a:p>
          <a:p>
            <a:pPr lvl="1"/>
            <a:r>
              <a:rPr lang="zh-CN" altLang="en-US" dirty="0"/>
              <a:t>回归分析</a:t>
            </a:r>
            <a:endParaRPr lang="en-US" altLang="zh-CN" dirty="0"/>
          </a:p>
          <a:p>
            <a:r>
              <a:rPr lang="zh-CN" altLang="en-US" dirty="0"/>
              <a:t>配对随机化实验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391952-40CE-EDEB-4F8D-80032F412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22D9F4-3CB9-BF29-8BB2-198B681A9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35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D81A2-358D-6CB1-545E-12B2A3A56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随机化实验的作用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E61F38-3F8B-BE50-2030-AE050B367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随机化实验是最基本的分配机制，可以由研究者控制</a:t>
            </a:r>
            <a:endParaRPr lang="en-US" altLang="zh-CN" spc="-1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随机化实验是观测研究中其他识别策略的基础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随机化实验是因果推断合理化的基础</a:t>
            </a:r>
            <a:r>
              <a:rPr lang="zh-CN" altLang="en-US" spc="-12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(reasoned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basis,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Fisher,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1935)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随机化实验是因果推断的黄金标准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(Rubin</a:t>
            </a:r>
            <a:r>
              <a:rPr lang="en-US" altLang="zh-CN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2008;</a:t>
            </a:r>
            <a:r>
              <a:rPr lang="en-US" altLang="zh-CN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Angrist</a:t>
            </a:r>
            <a:r>
              <a:rPr lang="en-US" altLang="zh-CN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lang="en-US" altLang="zh-CN" spc="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Pischke</a:t>
            </a:r>
            <a:r>
              <a:rPr lang="en-US" altLang="zh-CN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10" dirty="0">
                <a:latin typeface="Palatino Linotype" panose="02040502050505030304"/>
                <a:cs typeface="Palatino Linotype" panose="02040502050505030304"/>
              </a:rPr>
              <a:t>2009; </a:t>
            </a:r>
            <a:r>
              <a:rPr lang="en-US" altLang="zh-CN" dirty="0" err="1">
                <a:latin typeface="Palatino Linotype" panose="02040502050505030304"/>
                <a:cs typeface="Palatino Linotype" panose="02040502050505030304"/>
              </a:rPr>
              <a:t>Imbens</a:t>
            </a:r>
            <a:r>
              <a:rPr lang="en-US" altLang="zh-CN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lang="en-US" altLang="zh-CN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Wooldridge</a:t>
            </a:r>
            <a:r>
              <a:rPr lang="en-US" altLang="zh-CN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10" dirty="0">
                <a:latin typeface="Palatino Linotype" panose="02040502050505030304"/>
                <a:cs typeface="Palatino Linotype" panose="02040502050505030304"/>
              </a:rPr>
              <a:t>2009).</a:t>
            </a:r>
            <a:r>
              <a:rPr lang="en-US" altLang="zh-CN" spc="-10" baseline="30000" dirty="0">
                <a:latin typeface="Palatino Linotype" panose="02040502050505030304"/>
                <a:cs typeface="Palatino Linotype" panose="02040502050505030304"/>
              </a:rPr>
              <a:t>1</a:t>
            </a:r>
            <a:endParaRPr lang="en-US" altLang="zh-CN" baseline="30000" dirty="0">
              <a:latin typeface="Palatino Linotype" panose="02040502050505030304"/>
              <a:cs typeface="Palatino Linotype" panose="02040502050505030304"/>
            </a:endParaRP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4D69FA-16D8-B9E4-9704-48D16CF24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F0E822-7633-1022-915A-6F3241C1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C2391AF7-6AB2-CEE3-F5E5-2DB8B66245E5}"/>
              </a:ext>
            </a:extLst>
          </p:cNvPr>
          <p:cNvSpPr/>
          <p:nvPr/>
        </p:nvSpPr>
        <p:spPr>
          <a:xfrm>
            <a:off x="628650" y="5747411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>
                <a:moveTo>
                  <a:pt x="0" y="0"/>
                </a:moveTo>
                <a:lnTo>
                  <a:pt x="1752079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12B99B0-9424-5028-9727-23CCCE2D0195}"/>
              </a:ext>
            </a:extLst>
          </p:cNvPr>
          <p:cNvSpPr txBox="1"/>
          <p:nvPr/>
        </p:nvSpPr>
        <p:spPr>
          <a:xfrm>
            <a:off x="884872" y="5869727"/>
            <a:ext cx="741691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7955">
              <a:spcBef>
                <a:spcPts val="95"/>
              </a:spcBef>
            </a:pPr>
            <a:r>
              <a:rPr sz="1600" b="0" baseline="28000" dirty="0">
                <a:latin typeface="Bookman Old Style" panose="02050604050505020204"/>
                <a:cs typeface="Bookman Old Style" panose="02050604050505020204"/>
              </a:rPr>
              <a:t>1</a:t>
            </a:r>
            <a:r>
              <a:rPr sz="1600" b="0" spc="-112" baseline="28000" dirty="0">
                <a:latin typeface="Bookman Old Style" panose="02050604050505020204"/>
                <a:cs typeface="Bookman Old Style" panose="02050604050505020204"/>
              </a:rPr>
              <a:t> </a:t>
            </a:r>
            <a:r>
              <a:rPr sz="1600" dirty="0">
                <a:latin typeface="Palatino Linotype" panose="02040502050505030304"/>
                <a:cs typeface="Palatino Linotype" panose="02040502050505030304"/>
              </a:rPr>
              <a:t>Abhijit</a:t>
            </a:r>
            <a:r>
              <a:rPr sz="1600" spc="3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600" dirty="0">
                <a:latin typeface="Palatino Linotype" panose="02040502050505030304"/>
                <a:cs typeface="Palatino Linotype" panose="02040502050505030304"/>
              </a:rPr>
              <a:t>Banerjee,</a:t>
            </a:r>
            <a:r>
              <a:rPr sz="1600" spc="3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600" dirty="0">
                <a:latin typeface="Palatino Linotype" panose="02040502050505030304"/>
                <a:cs typeface="Palatino Linotype" panose="02040502050505030304"/>
              </a:rPr>
              <a:t>Esther</a:t>
            </a:r>
            <a:r>
              <a:rPr sz="1600" spc="3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600" dirty="0">
                <a:latin typeface="Palatino Linotype" panose="02040502050505030304"/>
                <a:cs typeface="Palatino Linotype" panose="02040502050505030304"/>
              </a:rPr>
              <a:t>Duflo,</a:t>
            </a:r>
            <a:r>
              <a:rPr sz="1600" spc="3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600" spc="70" dirty="0">
                <a:latin typeface="宋体" panose="02010600030101010101" pitchFamily="2" charset="-122"/>
                <a:cs typeface="宋体" panose="02010600030101010101" pitchFamily="2" charset="-122"/>
              </a:rPr>
              <a:t>和 </a:t>
            </a:r>
            <a:r>
              <a:rPr sz="1600" dirty="0">
                <a:latin typeface="Palatino Linotype" panose="02040502050505030304"/>
                <a:cs typeface="Palatino Linotype" panose="02040502050505030304"/>
              </a:rPr>
              <a:t>Michael</a:t>
            </a:r>
            <a:r>
              <a:rPr sz="1600" spc="3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600" dirty="0">
                <a:latin typeface="Palatino Linotype" panose="02040502050505030304"/>
                <a:cs typeface="Palatino Linotype" panose="02040502050505030304"/>
              </a:rPr>
              <a:t>Kremer</a:t>
            </a:r>
            <a:r>
              <a:rPr sz="1600" spc="3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600" spc="-10" dirty="0">
                <a:latin typeface="宋体" panose="02010600030101010101" pitchFamily="2" charset="-122"/>
                <a:cs typeface="宋体" panose="02010600030101010101" pitchFamily="2" charset="-122"/>
              </a:rPr>
              <a:t>因为利用随机化实验方法研究减贫问题而获</a:t>
            </a:r>
            <a:r>
              <a:rPr sz="1600" spc="-50" dirty="0">
                <a:latin typeface="宋体" panose="02010600030101010101" pitchFamily="2" charset="-122"/>
                <a:cs typeface="宋体" panose="02010600030101010101" pitchFamily="2" charset="-122"/>
              </a:rPr>
              <a:t>得</a:t>
            </a:r>
            <a:r>
              <a:rPr sz="1600" dirty="0">
                <a:latin typeface="Palatino Linotype" panose="02040502050505030304"/>
                <a:cs typeface="Palatino Linotype" panose="02040502050505030304"/>
              </a:rPr>
              <a:t>2019</a:t>
            </a:r>
            <a:r>
              <a:rPr sz="1600" spc="2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600" spc="-10" dirty="0">
                <a:latin typeface="宋体" panose="02010600030101010101" pitchFamily="2" charset="-122"/>
                <a:cs typeface="宋体" panose="02010600030101010101" pitchFamily="2" charset="-122"/>
              </a:rPr>
              <a:t>年诺贝尔经济学奖</a:t>
            </a:r>
            <a:r>
              <a:rPr sz="1600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6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256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9F4E9-C494-352E-BFD5-488878C1B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随机化实验的作用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D21C56-36D3-2A14-A1FD-221209FA6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随机化分配保证干预组和控制组个体的观测特征和非观测特征平衡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(balanced)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而是可比的，即平衡协变量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随机化实验保证数据的缺失是随机化的，从而观测到的</a:t>
            </a:r>
            <a:r>
              <a:rPr lang="zh-CN" altLang="en-US" spc="-7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en-US" altLang="zh-CN" baseline="-19000" dirty="0">
                <a:latin typeface="Cambria" panose="02040503050406030204"/>
                <a:cs typeface="Cambria" panose="02040503050406030204"/>
              </a:rPr>
              <a:t>1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,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en-US" altLang="zh-CN" baseline="-19000" dirty="0">
                <a:latin typeface="Cambria" panose="02040503050406030204"/>
                <a:cs typeface="Cambria" panose="02040503050406030204"/>
              </a:rPr>
              <a:t>0</a:t>
            </a:r>
            <a:r>
              <a:rPr lang="en-US" altLang="zh-CN" spc="50" dirty="0">
                <a:latin typeface="Cambria" panose="02040503050406030204"/>
                <a:cs typeface="Cambria" panose="02040503050406030204"/>
              </a:rPr>
              <a:t>)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可以看作总体潜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结果的随机样本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随机化实验保证独立性或条件独立性成立，因而，随机化实验（没有非依从情况下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可以避免选择偏差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由于随机化实验可以保证（条件）独立性或非混杂性条件成立，因而，随机化实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中不需要因果识别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因为不需要因果识别，因而，本章将集中于讨论如何进行参数估计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756D41-BB1E-AD34-0E36-E5958E9D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0290EE-A565-6B03-92CD-3193C199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408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21A21B-1E76-E56A-5D22-34B16E7B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随机化实验的作用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67E914EB-2FAC-9605-7BA2-DE99460F61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altLang="zh-CN" dirty="0"/>
          </a:p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内容占位符 8">
                <a:extLst>
                  <a:ext uri="{FF2B5EF4-FFF2-40B4-BE49-F238E27FC236}">
                    <a16:creationId xmlns:a16="http://schemas.microsoft.com/office/drawing/2014/main" id="{17E8E0FC-C3EA-3A3E-B2E4-E7B7722697E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平衡协变量、平衡偏差</a:t>
                </a:r>
                <a:r>
                  <a:rPr lang="zh-CN" altLang="en-US" spc="-1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(balance</a:t>
                </a:r>
                <a:r>
                  <a:rPr lang="en-US" altLang="zh-CN" spc="12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pc="-25" dirty="0">
                    <a:latin typeface="Palatino Linotype" panose="02040502050505030304"/>
                    <a:cs typeface="Palatino Linotype" panose="02040502050505030304"/>
                  </a:rPr>
                  <a:t>of</a:t>
                </a:r>
                <a:r>
                  <a:rPr lang="en-US" altLang="zh-CN" spc="-10" dirty="0">
                    <a:latin typeface="Palatino Linotype" panose="02040502050505030304"/>
                    <a:cs typeface="Palatino Linotype" panose="02040502050505030304"/>
                  </a:rPr>
                  <a:t> covariates)</a:t>
                </a:r>
                <a:endParaRPr lang="en-US" altLang="zh-CN" dirty="0">
                  <a:latin typeface="Palatino Linotype" panose="02040502050505030304"/>
                  <a:cs typeface="Palatino Linotype" panose="02040502050505030304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groupCh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dirty="0"/>
                  <a:t>同理，平衡潜在结果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dirty="0"/>
                  <a:t>分层随机化实验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9" name="内容占位符 8">
                <a:extLst>
                  <a:ext uri="{FF2B5EF4-FFF2-40B4-BE49-F238E27FC236}">
                    <a16:creationId xmlns:a16="http://schemas.microsoft.com/office/drawing/2014/main" id="{17E8E0FC-C3EA-3A3E-B2E4-E7B7722697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411" t="-1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11B894-7486-01EA-E1C2-761E2A8E4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1EB5F8-37CA-918C-A4D3-593670EC5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00A2091-D437-4440-9EFF-4DAD69E2D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57" y="2416424"/>
            <a:ext cx="4067393" cy="278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0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2ED34-3807-A627-5372-65A12EAB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随机化实验的作用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BF6832B-612C-8DC5-273D-171E970B4C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3242" y="1825625"/>
                <a:ext cx="4232108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/>
                  <a:t>结果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ba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groupChr>
                      <m:groupChrPr>
                        <m:chr m:val="→"/>
                        <m:pos m:val="bot"/>
                        <m:vertJc m:val="bot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ba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groupChr>
                      <m:groupChrPr>
                        <m:chr m:val="→"/>
                        <m:pos m:val="bot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因果效应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𝑑𝑖𝑓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ba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ba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groupChr>
                      <m:groupChrPr>
                        <m:chr m:val="→"/>
                        <m:pos m:val="bot"/>
                        <m:vertJc m:val="bot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𝐴𝑇𝐸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BF6832B-612C-8DC5-273D-171E970B4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3242" y="1825625"/>
                <a:ext cx="4232108" cy="4351338"/>
              </a:xfrm>
              <a:blipFill>
                <a:blip r:embed="rId2"/>
                <a:stretch>
                  <a:fillRect l="-2305" t="-3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9075AE-0528-5730-FB3A-5DF1199A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E2F0D1-23E6-38AF-99B3-F9A96A44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7967EE5-50E0-0A8A-115C-373FD9ACC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57" y="2416424"/>
            <a:ext cx="4067393" cy="278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2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5126F-6587-45A6-C27D-9EA92E80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随机化实验的作用：实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E48F01-B3A7-D528-E9DA-65DB43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823A02-2C00-24F6-1172-A1AC98909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E3700C3-1517-744F-1FEC-7B29DE454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1443" y="1476010"/>
            <a:ext cx="6069704" cy="47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0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9CDEF-7328-A459-C234-D43EBB365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随机化实验的作用：实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0FA07E-D992-CECE-3C76-30B6A96F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08418B-2FA1-ADFE-5B4F-DB186078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CD613863-21E5-B0D8-64A3-74DB83DF311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6016" y="1825625"/>
            <a:ext cx="73119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36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05EE8-0499-0EB9-F6FC-D00100869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随机化实验的分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类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5DC497-184B-8829-EA61-8985B95EC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28B300-DD9E-0407-F201-BAF40D2F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7FFE5C05-35C3-1D0E-015F-02DE560F57B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2170682"/>
            <a:ext cx="7886700" cy="366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689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00F4D-DC9E-6B84-0E34-3BE6EF52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随机化实验的作用：小</a:t>
            </a:r>
            <a:r>
              <a:rPr lang="zh-CN" altLang="en-US" spc="-50" dirty="0"/>
              <a:t>结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EEDAEC-E919-9037-B33A-0289BF1BD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完全随机化实验意味着</a:t>
                </a:r>
                <a:r>
                  <a:rPr lang="zh-CN" altLang="en-US" spc="-10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en-US" altLang="zh-CN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en-US" altLang="zh-CN" spc="-15" dirty="0">
                    <a:latin typeface="Cambria" panose="02040503050406030204"/>
                    <a:cs typeface="Cambria" panose="02040503050406030204"/>
                  </a:rPr>
                  <a:t>,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en-US" altLang="zh-CN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en-US" altLang="zh-CN" spc="-110" dirty="0">
                    <a:latin typeface="Cambria" panose="02040503050406030204"/>
                    <a:cs typeface="Cambria" panose="02040503050406030204"/>
                  </a:rPr>
                  <a:t>) ⟂ </a:t>
                </a:r>
                <a:r>
                  <a:rPr lang="zh-CN" altLang="en-US" spc="90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pc="9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90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en-US" altLang="zh-CN" spc="30" dirty="0">
                    <a:latin typeface="Cambria" panose="02040503050406030204"/>
                    <a:cs typeface="Cambria" panose="02040503050406030204"/>
                  </a:rPr>
                  <a:t>,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𝑈</a:t>
                </a:r>
                <a:r>
                  <a:rPr lang="zh-CN" altLang="en-US" spc="-95" dirty="0">
                    <a:latin typeface="Cambria" panose="02040503050406030204"/>
                    <a:cs typeface="Cambria" panose="02040503050406030204"/>
                  </a:rPr>
                  <a:t> ⟂ </a:t>
                </a:r>
                <a:r>
                  <a:rPr lang="zh-CN" altLang="en-US" spc="114" dirty="0">
                    <a:latin typeface="Cambria" panose="02040503050406030204"/>
                    <a:cs typeface="Cambria" panose="02040503050406030204"/>
                  </a:rPr>
                  <a:t>𝐷。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独立性条件意味着均值独立性成立，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即</a:t>
                </a:r>
                <a:endParaRPr lang="en-US" altLang="zh-CN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en-US" altLang="zh-CN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0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i="1" spc="10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1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1]</m:t>
                      </m:r>
                      <m:r>
                        <a:rPr lang="zh-CN" altLang="en-US" i="1" spc="11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1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en-US" altLang="zh-CN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0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i="1" spc="11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1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0</m:t>
                      </m:r>
                      <m:r>
                        <a:rPr lang="en-US" altLang="zh-CN" i="1" spc="-25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]</m:t>
                      </m:r>
                    </m:oMath>
                  </m:oMathPara>
                </a14:m>
                <a:endParaRPr lang="en-US" altLang="zh-CN" spc="-25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25" dirty="0">
                    <a:latin typeface="Cambria" panose="02040503050406030204"/>
                    <a:cs typeface="Cambria" panose="02040503050406030204"/>
                  </a:rPr>
                  <a:t>和</a:t>
                </a:r>
                <a:endParaRPr lang="en-US" altLang="zh-CN" spc="-25" dirty="0">
                  <a:latin typeface="Cambria" panose="02040503050406030204"/>
                  <a:cs typeface="Cambria" panose="02040503050406030204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en-US" altLang="zh-CN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1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i="1" spc="10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1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1]</m:t>
                      </m:r>
                      <m:r>
                        <a:rPr lang="zh-CN" altLang="en-US" i="1" spc="11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1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en-US" altLang="zh-CN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1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i="1" spc="11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1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0]</m:t>
                      </m:r>
                    </m:oMath>
                  </m:oMathPara>
                </a14:m>
                <a:endParaRPr lang="zh-CN" altLang="en-US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在随机化实验中，可以很容易获得反实事结果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！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en-US" altLang="zh-CN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0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zh-CN" altLang="en-US" i="1" spc="375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3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1]</m:t>
                      </m:r>
                      <m:r>
                        <a:rPr lang="zh-CN" altLang="en-US" i="1" spc="13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3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en-US" altLang="zh-CN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0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zh-CN" altLang="en-US" i="1" spc="382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3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0]</m:t>
                      </m:r>
                      <m:r>
                        <a:rPr lang="zh-CN" altLang="en-US" i="1" spc="13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3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zh-CN" altLang="en-US" i="1" spc="382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3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0],</m:t>
                      </m:r>
                    </m:oMath>
                  </m:oMathPara>
                </a14:m>
                <a:endParaRPr lang="zh-CN" altLang="en-US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和</a:t>
                </a:r>
                <a:endParaRPr lang="en-US" altLang="zh-CN" dirty="0">
                  <a:latin typeface="Cambria" panose="02040503050406030204"/>
                  <a:cs typeface="Cambria" panose="02040503050406030204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en-US" altLang="zh-CN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1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zh-CN" altLang="en-US" i="1" spc="375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3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0]</m:t>
                      </m:r>
                      <m:r>
                        <a:rPr lang="zh-CN" altLang="en-US" i="1" spc="13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3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en-US" altLang="zh-CN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1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zh-CN" altLang="en-US" i="1" spc="382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3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1]</m:t>
                      </m:r>
                      <m:r>
                        <a:rPr lang="zh-CN" altLang="en-US" i="1" spc="13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3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zh-CN" altLang="en-US" i="1" spc="382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13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1</m:t>
                      </m:r>
                      <m:r>
                        <a:rPr lang="en-US" altLang="zh-CN" i="1" spc="-25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].</m:t>
                      </m:r>
                    </m:oMath>
                  </m:oMathPara>
                </a14:m>
                <a:endParaRPr lang="en-US" altLang="zh-CN" spc="-25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因而，随机化实验中不存在选择偏差，相关关系反映因果效应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 spc="-30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𝜏</m:t>
                      </m:r>
                      <m:r>
                        <a:rPr lang="en-US" altLang="zh-CN" i="1" spc="-10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sz="4800" i="1" baseline="22000" dirty="0" err="1">
                          <a:latin typeface="Cambria Math" panose="02040503050406030204" pitchFamily="18" charset="0"/>
                          <a:cs typeface="Palatino Linotype" panose="02040502050505030304"/>
                        </a:rPr>
                        <m:t>𝑜𝑙𝑠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en-US" altLang="zh-CN" i="1" spc="-70" dirty="0">
                          <a:latin typeface="Cambria Math" panose="02040503050406030204" pitchFamily="18" charset="0"/>
                          <a:cs typeface="Cambria" panose="02040503050406030204"/>
                        </a:rPr>
                        <m:t>1]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−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𝐸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[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0]</m:t>
                      </m:r>
                      <m:r>
                        <a:rPr lang="en-US" altLang="zh-CN" i="1" spc="7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b="0" i="1" spc="70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𝜏</m:t>
                      </m:r>
                      <m:r>
                        <a:rPr lang="en-US" altLang="zh-CN" sz="4800" b="0" i="1" baseline="-22000" dirty="0" smtClean="0">
                          <a:latin typeface="Cambria Math" panose="02040503050406030204" pitchFamily="18" charset="0"/>
                          <a:cs typeface="Palatino Linotype" panose="02040502050505030304"/>
                        </a:rPr>
                        <m:t>𝐴𝑇𝑇</m:t>
                      </m:r>
                      <m:r>
                        <a:rPr lang="en-US" altLang="zh-CN" sz="4800" b="0" i="1" baseline="-22000" dirty="0" smtClean="0">
                          <a:latin typeface="Cambria Math" panose="02040503050406030204" pitchFamily="18" charset="0"/>
                          <a:cs typeface="Palatino Linotype" panose="02040502050505030304"/>
                        </a:rPr>
                        <m:t> =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𝜏</m:t>
                      </m:r>
                      <m:r>
                        <a:rPr lang="en-US" altLang="zh-CN" sz="4800" i="1" baseline="-22000" dirty="0">
                          <a:latin typeface="Cambria Math" panose="02040503050406030204" pitchFamily="18" charset="0"/>
                          <a:cs typeface="Palatino Linotype" panose="02040502050505030304"/>
                        </a:rPr>
                        <m:t>𝐴𝑇𝐶</m:t>
                      </m:r>
                      <m:r>
                        <a:rPr lang="en-US" altLang="zh-CN" sz="4800" i="1" spc="142" baseline="-22000" dirty="0">
                          <a:latin typeface="Cambria Math" panose="02040503050406030204" pitchFamily="18" charset="0"/>
                          <a:cs typeface="Palatino Linotype" panose="020405020505050303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-2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𝜏</m:t>
                      </m:r>
                      <m:r>
                        <a:rPr lang="en-US" altLang="zh-CN" sz="4800" i="1" spc="-30" baseline="-22000" dirty="0" smtClean="0">
                          <a:latin typeface="Cambria Math" panose="02040503050406030204" pitchFamily="18" charset="0"/>
                          <a:cs typeface="Palatino Linotype" panose="02040502050505030304"/>
                        </a:rPr>
                        <m:t>𝐴𝑇𝐸</m:t>
                      </m:r>
                    </m:oMath>
                  </m:oMathPara>
                </a14:m>
                <a:endParaRPr lang="zh-CN" altLang="en-US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EEDAEC-E919-9037-B33A-0289BF1BD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B78772-CE98-758B-8D3B-3D4BEBC0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6CFEB5-C6C8-F630-E142-74AE411B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991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FDC94-89F3-A8A6-7B59-8D7A1640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完全随机化实</a:t>
            </a:r>
            <a:r>
              <a:rPr lang="zh-CN" altLang="en-US" spc="-50" dirty="0"/>
              <a:t>验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C8962B-1DD2-4E90-0FE9-579D345B3D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/>
                  <a:t>定义</a:t>
                </a:r>
                <a:r>
                  <a:rPr lang="en-US" altLang="zh-CN" b="1" dirty="0"/>
                  <a:t>1</a:t>
                </a:r>
                <a:r>
                  <a:rPr lang="zh-CN" altLang="en-US" b="1" dirty="0"/>
                  <a:t>：</a:t>
                </a:r>
                <a:r>
                  <a:rPr lang="zh-CN" altLang="en-US" spc="-10" dirty="0">
                    <a:latin typeface="楷体" panose="02010609060101010101" charset="-122"/>
                    <a:cs typeface="楷体" panose="02010609060101010101" charset="-122"/>
                  </a:rPr>
                  <a:t>一个完全随机化实验</a:t>
                </a:r>
                <a:r>
                  <a:rPr lang="zh-CN" altLang="en-US" spc="-120" dirty="0">
                    <a:latin typeface="楷体" panose="02010609060101010101" charset="-122"/>
                    <a:cs typeface="楷体" panose="02010609060101010101" charset="-122"/>
                  </a:rPr>
                  <a:t> </a:t>
                </a:r>
                <a:r>
                  <a:rPr lang="en-US" altLang="zh-CN" i="1" spc="70" dirty="0">
                    <a:latin typeface="Palatino Linotype" panose="02040502050505030304"/>
                    <a:cs typeface="Palatino Linotype" panose="02040502050505030304"/>
                  </a:rPr>
                  <a:t>(CRE)</a:t>
                </a:r>
                <a:r>
                  <a:rPr lang="zh-CN" altLang="en-US" i="1" spc="11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楷体" panose="02010609060101010101" charset="-122"/>
                    <a:cs typeface="楷体" panose="02010609060101010101" charset="-122"/>
                  </a:rPr>
                  <a:t>具有下列分配机制</a:t>
                </a:r>
                <a:r>
                  <a:rPr lang="zh-CN" altLang="en-US" spc="-50" dirty="0">
                    <a:latin typeface="楷体" panose="02010609060101010101" charset="-122"/>
                    <a:cs typeface="楷体" panose="02010609060101010101" charset="-122"/>
                  </a:rPr>
                  <a:t>：</a:t>
                </a:r>
                <a:endParaRPr lang="en-US" altLang="zh-CN" dirty="0">
                  <a:latin typeface="楷体" panose="02010609060101010101" charset="-122"/>
                  <a:cs typeface="楷体" panose="02010609060101010101" charset="-122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  <a:cs typeface="Palatino Linotype" panose="02040502050505030304"/>
                      </a:rPr>
                      <m:t>Pr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Palatino Linotype" panose="02040502050505030304"/>
                      </a:rPr>
                      <m:t>⁡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Cambria" panose="02040503050406030204"/>
                      </a:rPr>
                      <m:t>[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cs typeface="Palatino Linotype" panose="02040502050505030304"/>
                      </a:rPr>
                      <m:t>𝑫</m:t>
                    </m:r>
                    <m:r>
                      <a:rPr lang="en-US" altLang="zh-CN" b="1" i="1" spc="25" dirty="0">
                        <a:latin typeface="Cambria Math" panose="02040503050406030204" pitchFamily="18" charset="0"/>
                        <a:cs typeface="Palatino Linotype" panose="02040502050505030304"/>
                      </a:rPr>
                      <m:t> </m:t>
                    </m:r>
                    <m:r>
                      <a:rPr lang="en-US" altLang="zh-CN" i="1" spc="190" dirty="0">
                        <a:latin typeface="Cambria Math" panose="02040503050406030204" pitchFamily="18" charset="0"/>
                        <a:cs typeface="Cambria" panose="02040503050406030204"/>
                      </a:rPr>
                      <m:t>=</m:t>
                    </m:r>
                    <m:r>
                      <a:rPr lang="en-US" altLang="zh-CN" i="1" spc="60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  <a:cs typeface="Cambria" panose="02040503050406030204"/>
                      </a:rPr>
                      <m:t>𝑑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Cambria" panose="02040503050406030204"/>
                      </a:rPr>
                      <m:t>]</m:t>
                    </m:r>
                    <m:r>
                      <a:rPr lang="en-US" altLang="zh-CN" i="1" spc="55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  <m:r>
                      <a:rPr lang="en-US" altLang="zh-CN" i="1" spc="190" dirty="0">
                        <a:latin typeface="Cambria Math" panose="02040503050406030204" pitchFamily="18" charset="0"/>
                        <a:cs typeface="Cambria" panose="02040503050406030204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" panose="02040503050406030204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</m:ctrlPr>
                          </m:sSubSup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𝑛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cs typeface="Cambria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cs typeface="Cambria" panose="02040503050406030204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cs typeface="Cambria" panose="02040503050406030204"/>
                                  </a:rPr>
                                  <m:t>1</m:t>
                                </m:r>
                              </m:sub>
                            </m:sSub>
                          </m:sup>
                        </m:sSubSup>
                      </m:den>
                    </m:f>
                    <m:r>
                      <a:rPr lang="en-US" altLang="zh-CN" i="1" spc="270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</m:oMath>
                </a14:m>
                <a:r>
                  <a:rPr lang="en-US" altLang="zh-CN" spc="10" dirty="0">
                    <a:latin typeface="Cambria" panose="02040503050406030204"/>
                    <a:cs typeface="Cambria" panose="02040503050406030204"/>
                  </a:rPr>
                  <a:t>,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pc="-10" dirty="0">
                    <a:latin typeface="楷体" panose="02010609060101010101" charset="-122"/>
                    <a:cs typeface="楷体" panose="02010609060101010101" charset="-122"/>
                  </a:rPr>
                  <a:t>其中</a:t>
                </a:r>
                <a:r>
                  <a:rPr lang="zh-CN" altLang="en-US" spc="-130" dirty="0">
                    <a:latin typeface="楷体" panose="02010609060101010101" charset="-122"/>
                    <a:cs typeface="楷体" panose="02010609060101010101" charset="-122"/>
                  </a:rPr>
                  <a:t> </a:t>
                </a:r>
                <a:r>
                  <a:rPr lang="en-US" altLang="zh-CN" b="1" spc="55" dirty="0">
                    <a:latin typeface="Palatino Linotype" panose="02040502050505030304"/>
                    <a:cs typeface="Palatino Linotype" panose="02040502050505030304"/>
                  </a:rPr>
                  <a:t>D</a:t>
                </a:r>
                <a:r>
                  <a:rPr lang="zh-CN" altLang="en-US" b="1" spc="-1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=</a:t>
                </a:r>
                <a:r>
                  <a:rPr lang="zh-CN" altLang="en-US" spc="4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𝑑</a:t>
                </a:r>
                <a:r>
                  <a:rPr lang="zh-CN" altLang="en-US" spc="19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60" dirty="0">
                    <a:latin typeface="Cambria" panose="02040503050406030204"/>
                    <a:cs typeface="Cambria" panose="02040503050406030204"/>
                  </a:rPr>
                  <a:t>,</a:t>
                </a:r>
                <a:r>
                  <a:rPr lang="zh-CN" altLang="en-US" spc="-5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65" dirty="0">
                    <a:latin typeface="Cambria" panose="02040503050406030204"/>
                    <a:cs typeface="Cambria" panose="02040503050406030204"/>
                  </a:rPr>
                  <a:t>…</a:t>
                </a:r>
                <a:r>
                  <a:rPr lang="zh-CN" altLang="en-US" spc="-5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60" dirty="0">
                    <a:latin typeface="Cambria" panose="02040503050406030204"/>
                    <a:cs typeface="Cambria" panose="02040503050406030204"/>
                  </a:rPr>
                  <a:t>,</a:t>
                </a:r>
                <a:r>
                  <a:rPr lang="zh-CN" altLang="en-US" spc="-5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𝑑</a:t>
                </a:r>
                <a:r>
                  <a:rPr lang="zh-CN" altLang="en-US" spc="27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)</a:t>
                </a:r>
                <a:r>
                  <a:rPr lang="zh-CN" altLang="en-US" spc="114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楷体" panose="02010609060101010101" charset="-122"/>
                    <a:cs typeface="楷体" panose="02010609060101010101" charset="-122"/>
                  </a:rPr>
                  <a:t>是分配向量</a:t>
                </a:r>
                <a:r>
                  <a:rPr lang="zh-CN" altLang="en-US" spc="-45" dirty="0">
                    <a:latin typeface="楷体" panose="02010609060101010101" charset="-122"/>
                    <a:cs typeface="楷体" panose="02010609060101010101" charset="-122"/>
                  </a:rPr>
                  <a:t>，</a:t>
                </a:r>
                <a:r>
                  <a:rPr lang="zh-CN" altLang="en-US" spc="-10" dirty="0">
                    <a:latin typeface="楷体" panose="02010609060101010101" charset="-122"/>
                    <a:cs typeface="楷体" panose="02010609060101010101" charset="-122"/>
                  </a:rPr>
                  <a:t>满足</a:t>
                </a:r>
                <a:r>
                  <a:rPr lang="zh-CN" altLang="en-US" spc="-130" dirty="0">
                    <a:latin typeface="楷体" panose="02010609060101010101" charset="-122"/>
                    <a:cs typeface="楷体" panose="02010609060101010101" charset="-122"/>
                  </a:rPr>
                  <a:t> </a:t>
                </a:r>
                <a:r>
                  <a:rPr lang="zh-CN" altLang="en-US" spc="254" dirty="0">
                    <a:latin typeface="Cambria" panose="02040503050406030204"/>
                    <a:cs typeface="Cambria" panose="02040503050406030204"/>
                  </a:rPr>
                  <a:t>∑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	𝑑</a:t>
                </a:r>
                <a:r>
                  <a:rPr lang="zh-CN" altLang="en-US" spc="33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=</a:t>
                </a:r>
                <a:r>
                  <a:rPr lang="zh-CN" altLang="en-US" spc="4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zh-CN" altLang="en-US" spc="155" dirty="0">
                    <a:latin typeface="Cambria" panose="02040503050406030204"/>
                    <a:cs typeface="Cambria" panose="02040503050406030204"/>
                  </a:rPr>
                  <a:t>  </a:t>
                </a:r>
                <a:r>
                  <a:rPr lang="zh-CN" altLang="en-US" spc="-10" dirty="0">
                    <a:latin typeface="楷体" panose="02010609060101010101" charset="-122"/>
                    <a:cs typeface="楷体" panose="02010609060101010101" charset="-122"/>
                  </a:rPr>
                  <a:t>和</a:t>
                </a:r>
                <a:r>
                  <a:rPr lang="zh-CN" altLang="en-US" spc="-125" dirty="0">
                    <a:latin typeface="楷体" panose="02010609060101010101" charset="-122"/>
                    <a:cs typeface="楷体" panose="02010609060101010101" charset="-122"/>
                  </a:rPr>
                  <a:t> </a:t>
                </a:r>
                <a:r>
                  <a:rPr lang="zh-CN" altLang="en-US" spc="200" dirty="0">
                    <a:latin typeface="Cambria" panose="02040503050406030204"/>
                    <a:cs typeface="Cambria" panose="02040503050406030204"/>
                  </a:rPr>
                  <a:t>∑</a:t>
                </a:r>
                <a:r>
                  <a:rPr lang="zh-CN" altLang="en-US" spc="300" baseline="46000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zh-CN" altLang="en-US" spc="315" baseline="46000" dirty="0">
                    <a:latin typeface="Cambria" panose="02040503050406030204"/>
                    <a:cs typeface="Cambria" panose="02040503050406030204"/>
                  </a:rPr>
                  <a:t>  </a:t>
                </a:r>
                <a:r>
                  <a:rPr lang="en-US" altLang="zh-CN" spc="-20" dirty="0">
                    <a:latin typeface="Cambria" panose="02040503050406030204"/>
                    <a:cs typeface="Cambria" panose="02040503050406030204"/>
                  </a:rPr>
                  <a:t>(1</a:t>
                </a:r>
                <a:r>
                  <a:rPr lang="zh-CN" altLang="en-US" spc="-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190" dirty="0">
                    <a:latin typeface="Cambria" panose="02040503050406030204"/>
                    <a:cs typeface="Cambria" panose="02040503050406030204"/>
                  </a:rPr>
                  <a:t>−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𝑑</a:t>
                </a:r>
                <a:r>
                  <a:rPr lang="zh-CN" altLang="en-US" spc="9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)</a:t>
                </a:r>
                <a:r>
                  <a:rPr lang="zh-CN" altLang="en-US" spc="4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=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en-US" altLang="zh-CN" baseline="-25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pc="2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dirty="0">
                    <a:latin typeface="楷体" panose="02010609060101010101" charset="-122"/>
                    <a:cs typeface="楷体" panose="02010609060101010101" charset="-122"/>
                  </a:rPr>
                  <a:t>，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zh-CN" altLang="en-US" spc="1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楷体" panose="02010609060101010101" charset="-122"/>
                    <a:cs typeface="楷体" panose="02010609060101010101" charset="-122"/>
                  </a:rPr>
                  <a:t>表示</a:t>
                </a:r>
                <a:r>
                  <a:rPr lang="zh-CN" altLang="en-US" spc="-50" dirty="0">
                    <a:latin typeface="楷体" panose="02010609060101010101" charset="-122"/>
                    <a:cs typeface="楷体" panose="02010609060101010101" charset="-122"/>
                  </a:rPr>
                  <a:t>是</a:t>
                </a:r>
                <a:r>
                  <a:rPr lang="zh-CN" altLang="en-US" spc="-10" dirty="0">
                    <a:latin typeface="楷体" panose="02010609060101010101" charset="-122"/>
                    <a:cs typeface="楷体" panose="02010609060101010101" charset="-122"/>
                  </a:rPr>
                  <a:t>实验总体数</a:t>
                </a:r>
                <a:r>
                  <a:rPr lang="zh-CN" altLang="en-US" spc="-50" dirty="0">
                    <a:latin typeface="楷体" panose="02010609060101010101" charset="-122"/>
                    <a:cs typeface="楷体" panose="02010609060101010101" charset="-122"/>
                  </a:rPr>
                  <a:t>。</a:t>
                </a:r>
                <a:endParaRPr lang="en-US" altLang="zh-CN" spc="-50" dirty="0">
                  <a:latin typeface="楷体" panose="02010609060101010101" charset="-122"/>
                  <a:cs typeface="楷体" panose="02010609060101010101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dirty="0">
                  <a:latin typeface="楷体" panose="02010609060101010101" charset="-122"/>
                  <a:cs typeface="楷体" panose="02010609060101010101" charset="-122"/>
                </a:endParaRPr>
              </a:p>
              <a:p>
                <a:pPr marL="38100">
                  <a:lnSpc>
                    <a:spcPct val="120000"/>
                  </a:lnSpc>
                  <a:spcBef>
                    <a:spcPts val="95"/>
                  </a:spcBef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在定义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  <a:hlinkClick r:id="rId2" action="ppaction://hlinksldjump"/>
                  </a:rPr>
                  <a:t>1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中，我们将潜在结果向量</a:t>
                </a:r>
                <a:r>
                  <a:rPr lang="zh-CN" altLang="en-US" spc="-8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b="1" dirty="0">
                    <a:latin typeface="Palatino Linotype" panose="02040502050505030304"/>
                    <a:cs typeface="Palatino Linotype" panose="02040502050505030304"/>
                  </a:rPr>
                  <a:t>Y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(1)</a:t>
                </a:r>
                <a:r>
                  <a:rPr lang="en-US" altLang="zh-CN" spc="130" dirty="0">
                    <a:latin typeface="Cambria" panose="02040503050406030204"/>
                    <a:cs typeface="Cambria" panose="02040503050406030204"/>
                  </a:rPr>
                  <a:t> = 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en-US" altLang="zh-CN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(1),</a:t>
                </a:r>
                <a:r>
                  <a:rPr lang="en-US" altLang="zh-CN" spc="5" dirty="0">
                    <a:latin typeface="Cambria" panose="02040503050406030204"/>
                    <a:cs typeface="Cambria" panose="02040503050406030204"/>
                  </a:rPr>
                  <a:t> … ,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baseline="-19000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(1))</a:t>
                </a:r>
                <a:r>
                  <a:rPr lang="en-US" altLang="zh-CN" spc="16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和</a:t>
                </a:r>
                <a:r>
                  <a:rPr lang="en-US" altLang="zh-CN" b="1" dirty="0">
                    <a:latin typeface="Palatino Linotype" panose="02040502050505030304"/>
                    <a:cs typeface="Palatino Linotype" panose="02040502050505030304"/>
                  </a:rPr>
                  <a:t>Y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(0)</a:t>
                </a:r>
                <a:r>
                  <a:rPr lang="en-US" altLang="zh-CN" spc="125" dirty="0">
                    <a:latin typeface="Cambria" panose="02040503050406030204"/>
                    <a:cs typeface="Cambria" panose="02040503050406030204"/>
                  </a:rPr>
                  <a:t> = 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en-US" altLang="zh-CN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(0),</a:t>
                </a:r>
                <a:r>
                  <a:rPr lang="en-US" altLang="zh-CN" spc="5" dirty="0">
                    <a:latin typeface="Cambria" panose="02040503050406030204"/>
                    <a:cs typeface="Cambria" panose="02040503050406030204"/>
                  </a:rPr>
                  <a:t> … ,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baseline="-19000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(0))</a:t>
                </a:r>
                <a:r>
                  <a:rPr lang="en-US" altLang="zh-CN" spc="15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看作是固定值。只有</a:t>
                </a:r>
                <a:r>
                  <a:rPr lang="zh-CN" altLang="en-US" spc="-9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b="1" spc="55" dirty="0">
                    <a:latin typeface="Palatino Linotype" panose="02040502050505030304"/>
                    <a:cs typeface="Palatino Linotype" panose="02040502050505030304"/>
                  </a:rPr>
                  <a:t>D</a:t>
                </a:r>
                <a:r>
                  <a:rPr lang="en-US" altLang="zh-CN" b="1" spc="13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是随机化的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en-US" altLang="zh-CN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38100">
                  <a:lnSpc>
                    <a:spcPct val="120000"/>
                  </a:lnSpc>
                  <a:spcBef>
                    <a:spcPts val="95"/>
                  </a:spcBef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</a:t>
                </a:r>
                <a:r>
                  <a:rPr lang="en-US" altLang="zh-CN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《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实验设计</a:t>
                </a:r>
                <a:r>
                  <a:rPr lang="en-US" altLang="zh-CN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》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一书中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Fisher(1935)</a:t>
                </a:r>
                <a:r>
                  <a:rPr lang="en-US" altLang="zh-CN" spc="29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指出随机化的好处有两个方面：一是使干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预</a:t>
                </a:r>
                <a:r>
                  <a:rPr lang="zh-CN" altLang="en-US" spc="5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组和控制组可比</a:t>
                </a:r>
                <a:r>
                  <a:rPr lang="zh-CN" altLang="en-US" spc="-2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二是作为统计推断</a:t>
                </a:r>
                <a:r>
                  <a:rPr lang="zh-CN" altLang="en-US" spc="-2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的“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理性基础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”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(reasoned</a:t>
                </a:r>
                <a:r>
                  <a:rPr lang="en-US" altLang="zh-CN" spc="4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basis)</a:t>
                </a:r>
                <a:r>
                  <a:rPr lang="zh-CN" altLang="en-US" spc="-2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对于第二点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Fisher</a:t>
                </a:r>
                <a:r>
                  <a:rPr lang="en-US" altLang="zh-CN" spc="14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的意思是随机化可以保证一个统计检验的合理性，称为</a:t>
                </a:r>
                <a:r>
                  <a:rPr lang="zh-CN" altLang="en-US" spc="-8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Fisher</a:t>
                </a:r>
                <a:r>
                  <a:rPr lang="en-US" altLang="zh-CN" spc="14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Exact</a:t>
                </a:r>
                <a:r>
                  <a:rPr lang="en-US" altLang="zh-CN" spc="14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pc="30" dirty="0">
                    <a:latin typeface="Palatino Linotype" panose="02040502050505030304"/>
                    <a:cs typeface="Palatino Linotype" panose="02040502050505030304"/>
                  </a:rPr>
                  <a:t>P </a:t>
                </a:r>
                <a:r>
                  <a:rPr lang="en-US" altLang="zh-CN" spc="50" dirty="0">
                    <a:latin typeface="Palatino Linotype" panose="02040502050505030304"/>
                    <a:cs typeface="Palatino Linotype" panose="02040502050505030304"/>
                  </a:rPr>
                  <a:t>test(FEP)</a:t>
                </a:r>
                <a:r>
                  <a:rPr lang="en-US" altLang="zh-CN" spc="8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或称为</a:t>
                </a:r>
                <a:r>
                  <a:rPr lang="zh-CN" altLang="en-US" spc="-13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Fisher</a:t>
                </a:r>
                <a:r>
                  <a:rPr lang="en-US" altLang="zh-CN" spc="9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Randomization</a:t>
                </a:r>
                <a:r>
                  <a:rPr lang="en-US" altLang="zh-CN" spc="9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Test</a:t>
                </a:r>
                <a:r>
                  <a:rPr lang="en-US" altLang="zh-CN" spc="9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pc="60" dirty="0">
                    <a:latin typeface="Palatino Linotype" panose="02040502050505030304"/>
                    <a:cs typeface="Palatino Linotype" panose="02040502050505030304"/>
                  </a:rPr>
                  <a:t>(FRT)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>
                  <a:latin typeface="楷体" panose="02010609060101010101" charset="-122"/>
                  <a:cs typeface="楷体" panose="02010609060101010101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b="1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C8962B-1DD2-4E90-0FE9-579D345B3D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 t="-1120" r="-1700" b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521627-83F0-BACD-AC81-2BD5E8D6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2963AC-D52C-3849-8694-B46D6814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8298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D1B30-75F8-8244-8779-0BA432FF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9C7393-F6CE-B4AF-473B-1D0DE90DCE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Fisher(1935)</a:t>
                </a:r>
                <a:r>
                  <a:rPr lang="en-US" altLang="zh-CN" spc="2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提出下列原假设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 spc="65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𝐻</m:t>
                      </m:r>
                      <m:r>
                        <a:rPr lang="en-US" altLang="zh-CN" i="1" spc="97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0</m:t>
                      </m:r>
                      <m:r>
                        <a:rPr lang="zh-CN" altLang="en-US" i="1" spc="97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𝐹</m:t>
                      </m:r>
                      <m:r>
                        <a:rPr lang="zh-CN" altLang="en-US" i="1" spc="397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:</m:t>
                      </m:r>
                      <m:r>
                        <a:rPr lang="zh-CN" altLang="en-US" i="1" spc="7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(1)</m:t>
                      </m:r>
                      <m:r>
                        <a:rPr lang="zh-CN" altLang="en-US" i="1" spc="7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6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(0),</m:t>
                      </m:r>
                      <m:r>
                        <a:rPr lang="zh-CN" altLang="en-US" i="1" spc="-4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zh-CN" altLang="en-US" i="1" spc="7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i="1" spc="7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1,</m:t>
                      </m:r>
                      <m:r>
                        <a:rPr lang="zh-CN" altLang="en-US" i="1" spc="-4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65" dirty="0">
                          <a:latin typeface="Cambria Math" panose="02040503050406030204" pitchFamily="18" charset="0"/>
                          <a:cs typeface="Cambria" panose="02040503050406030204"/>
                        </a:rPr>
                        <m:t>…</m:t>
                      </m:r>
                      <m:r>
                        <a:rPr lang="zh-CN" altLang="en-US" i="1" spc="-4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i="1" spc="60" dirty="0">
                          <a:latin typeface="Cambria Math" panose="02040503050406030204" pitchFamily="18" charset="0"/>
                          <a:cs typeface="Cambria" panose="02040503050406030204"/>
                        </a:rPr>
                        <m:t>,</m:t>
                      </m:r>
                      <m:r>
                        <a:rPr lang="zh-CN" altLang="en-US" i="1" spc="-3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𝑛</m:t>
                      </m:r>
                      <m:r>
                        <a:rPr lang="en-US" altLang="zh-CN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Rubin(1980)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称之为精确原假设</a:t>
                </a:r>
                <a:r>
                  <a:rPr lang="zh-CN" altLang="en-US" spc="-1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(Sharp null </a:t>
                </a:r>
                <a:r>
                  <a:rPr lang="en-US" altLang="zh-CN" spc="-10" dirty="0">
                    <a:latin typeface="Palatino Linotype" panose="02040502050505030304"/>
                    <a:cs typeface="Palatino Linotype" panose="02040502050505030304"/>
                  </a:rPr>
                  <a:t>hypothesis)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，因为在此假设下，所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有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潜在结果可以由观测结果决定，即</a:t>
                </a:r>
                <a:r>
                  <a:rPr lang="zh-CN" altLang="en-US" spc="-10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(1)</a:t>
                </a:r>
                <a:r>
                  <a:rPr lang="zh-CN" altLang="en-US" spc="12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20" dirty="0">
                    <a:latin typeface="Cambria" panose="02040503050406030204"/>
                    <a:cs typeface="Cambria" panose="02040503050406030204"/>
                  </a:rPr>
                  <a:t>=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(0)</a:t>
                </a:r>
                <a:r>
                  <a:rPr lang="zh-CN" altLang="en-US" spc="114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14" dirty="0">
                    <a:latin typeface="Cambria" panose="02040503050406030204"/>
                    <a:cs typeface="Cambria" panose="02040503050406030204"/>
                  </a:rPr>
                  <a:t>=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8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 </a:t>
                </a:r>
                <a:r>
                  <a:rPr lang="zh-CN" altLang="en-US" spc="65" dirty="0">
                    <a:latin typeface="Cambria" panose="02040503050406030204"/>
                    <a:cs typeface="Cambria" panose="02040503050406030204"/>
                  </a:rPr>
                  <a:t>𝐻</a:t>
                </a:r>
                <a:r>
                  <a:rPr lang="en-US" altLang="zh-CN" spc="97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pc="97" baseline="-19000" dirty="0">
                    <a:latin typeface="Cambria" panose="02040503050406030204"/>
                    <a:cs typeface="Cambria" panose="02040503050406030204"/>
                  </a:rPr>
                  <a:t>𝐹</a:t>
                </a:r>
                <a:r>
                  <a:rPr lang="zh-CN" altLang="en-US" spc="457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下，任何统计量都是用于</a:t>
                </a:r>
                <a:r>
                  <a:rPr lang="zh-CN" altLang="en-US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pc="85" dirty="0">
                    <a:latin typeface="Palatino Linotype" panose="02040502050505030304"/>
                    <a:cs typeface="Palatino Linotype" panose="02040502050505030304"/>
                  </a:rPr>
                  <a:t>FEP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检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验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s-ES" i="1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𝑇</m:t>
                      </m:r>
                      <m:r>
                        <a:rPr lang="es-ES" altLang="zh-CN" i="1" spc="22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s-ES" altLang="zh-CN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es-ES" altLang="zh-CN" i="1" spc="8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s-ES" i="1" spc="-25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𝑇</m:t>
                      </m:r>
                      <m:r>
                        <a:rPr lang="es-ES" altLang="zh-CN" i="1" spc="-5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d>
                        <m:dPr>
                          <m:ctrlPr>
                            <a:rPr lang="es-ES" altLang="zh-CN" b="1" i="1" dirty="0">
                              <a:latin typeface="Cambria Math" panose="02040503050406030204" pitchFamily="18" charset="0"/>
                              <a:cs typeface="Palatino Linotype" panose="02040502050505030304"/>
                            </a:rPr>
                          </m:ctrlPr>
                        </m:dPr>
                        <m:e>
                          <m:r>
                            <a:rPr lang="es-ES" altLang="zh-CN" b="1" i="1" dirty="0">
                              <a:latin typeface="Cambria Math" panose="02040503050406030204" pitchFamily="18" charset="0"/>
                              <a:cs typeface="Palatino Linotype" panose="02040502050505030304"/>
                            </a:rPr>
                            <m:t>𝑫</m:t>
                          </m:r>
                          <m:r>
                            <a:rPr lang="es-ES" altLang="zh-CN" i="1" dirty="0">
                              <a:latin typeface="Cambria Math" panose="02040503050406030204" pitchFamily="18" charset="0"/>
                              <a:cs typeface="Cambria" panose="02040503050406030204"/>
                            </a:rPr>
                            <m:t>,</m:t>
                          </m:r>
                          <m:r>
                            <a:rPr lang="es-ES" altLang="zh-CN" i="1" spc="-30" dirty="0">
                              <a:latin typeface="Cambria Math" panose="02040503050406030204" pitchFamily="18" charset="0"/>
                              <a:cs typeface="Cambria" panose="02040503050406030204"/>
                            </a:rPr>
                            <m:t> </m:t>
                          </m:r>
                          <m:r>
                            <a:rPr lang="es-ES" altLang="zh-CN" b="1" i="1" spc="75" dirty="0">
                              <a:latin typeface="Cambria Math" panose="02040503050406030204" pitchFamily="18" charset="0"/>
                              <a:cs typeface="Palatino Linotype" panose="02040502050505030304"/>
                            </a:rPr>
                            <m:t>𝒀</m:t>
                          </m:r>
                        </m:e>
                      </m:d>
                      <m:r>
                        <a:rPr lang="es-ES" altLang="zh-CN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	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                                                         </m:t>
                      </m:r>
                      <m:r>
                        <a:rPr lang="es-ES" altLang="zh-CN" i="1" spc="-25" dirty="0">
                          <a:latin typeface="Cambria Math" panose="02040503050406030204" pitchFamily="18" charset="0"/>
                          <a:cs typeface="Palatino Linotype" panose="02040502050505030304"/>
                        </a:rPr>
                        <m:t>(1)</m:t>
                      </m:r>
                    </m:oMath>
                  </m:oMathPara>
                </a14:m>
                <a:endParaRPr lang="es-ES" altLang="zh-CN" dirty="0">
                  <a:latin typeface="Palatino Linotype" panose="02040502050505030304"/>
                  <a:cs typeface="Palatino Linotype" panose="02040502050505030304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在精确原假设下</a:t>
                </a:r>
                <a:r>
                  <a:rPr lang="zh-CN" altLang="en-US" spc="9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en-US" altLang="zh-CN" b="1" spc="90" dirty="0">
                    <a:latin typeface="Palatino Linotype" panose="02040502050505030304"/>
                    <a:cs typeface="Palatino Linotype" panose="02040502050505030304"/>
                  </a:rPr>
                  <a:t>Y</a:t>
                </a:r>
                <a:r>
                  <a:rPr lang="zh-CN" altLang="en-US" b="1" spc="8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是固定的，统计量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𝑇</a:t>
                </a:r>
                <a:r>
                  <a:rPr lang="zh-CN" altLang="en-US" spc="23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的随机性来自于干预分配</a:t>
                </a:r>
                <a:r>
                  <a:rPr lang="zh-CN" altLang="en-US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b="1" spc="55" dirty="0">
                    <a:latin typeface="Palatino Linotype" panose="02040502050505030304"/>
                    <a:cs typeface="Palatino Linotype" panose="02040502050505030304"/>
                  </a:rPr>
                  <a:t>D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的随机性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从而决定了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𝑇</a:t>
                </a:r>
                <a:r>
                  <a:rPr lang="zh-CN" altLang="en-US" spc="2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的分布，这是计算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p</a:t>
                </a:r>
                <a:r>
                  <a:rPr lang="zh-CN" altLang="en-US" spc="7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值的基础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38100">
                  <a:lnSpc>
                    <a:spcPct val="120000"/>
                  </a:lnSpc>
                  <a:spcBef>
                    <a:spcPts val="95"/>
                  </a:spcBef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分配向量共有</a:t>
                </a:r>
                <a:r>
                  <a:rPr lang="zh-CN" altLang="en-US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pc="95" dirty="0" smtClean="0">
                        <a:latin typeface="Cambria Math" panose="02040503050406030204" pitchFamily="18" charset="0"/>
                        <a:cs typeface="Cambria" panose="02040503050406030204"/>
                      </a:rPr>
                      <m:t>𝑀</m:t>
                    </m:r>
                    <m:r>
                      <a:rPr lang="zh-CN" altLang="en-US" i="1" spc="140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  <m:r>
                      <a:rPr lang="en-US" altLang="zh-CN" i="1" spc="190" dirty="0">
                        <a:latin typeface="Cambria Math" panose="02040503050406030204" pitchFamily="18" charset="0"/>
                        <a:cs typeface="Cambria" panose="02040503050406030204"/>
                      </a:rPr>
                      <m:t>=</m:t>
                    </m:r>
                    <m:r>
                      <a:rPr lang="zh-CN" altLang="en-US" i="1" spc="50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  <m:sSubSup>
                      <m:sSubSupPr>
                        <m:ctrlPr>
                          <a:rPr lang="zh-CN" altLang="en-US" i="1" spc="50" dirty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sSubSupPr>
                      <m:e>
                        <m:r>
                          <a:rPr lang="zh-CN" altLang="en-US" i="1" spc="50" dirty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𝐶</m:t>
                        </m:r>
                      </m:e>
                      <m:sub>
                        <m:r>
                          <a:rPr lang="en-US" altLang="zh-CN" b="0" i="1" spc="5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𝑛</m:t>
                        </m:r>
                      </m:sub>
                      <m:sup>
                        <m:sSub>
                          <m:sSubPr>
                            <m:ctrlPr>
                              <a:rPr lang="en-US" altLang="zh-CN" b="0" i="1" spc="5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b="0" i="1" spc="5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pc="5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1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个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en-US" altLang="zh-CN" b="1" dirty="0">
                    <a:latin typeface="Palatino Linotype" panose="02040502050505030304"/>
                    <a:cs typeface="Palatino Linotype" panose="02040502050505030304"/>
                  </a:rPr>
                  <a:t>D</a:t>
                </a:r>
                <a:r>
                  <a:rPr lang="zh-CN" altLang="en-US" b="1" spc="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</a:t>
                </a:r>
                <a:r>
                  <a:rPr lang="zh-CN" altLang="en-US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Cambria" panose="02040503050406030204"/>
                      </a:rPr>
                      <m:t>{</m:t>
                    </m:r>
                    <m:sSup>
                      <m:sSupPr>
                        <m:ctrlPr>
                          <a:rPr lang="zh-CN" altLang="en-US" i="1" dirty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sSup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𝑑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1</m:t>
                        </m:r>
                      </m:sup>
                    </m:sSup>
                    <m:r>
                      <a:rPr lang="zh-CN" altLang="en-US" i="1" spc="229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  <m:r>
                      <a:rPr lang="en-US" altLang="zh-CN" i="1" spc="60" dirty="0">
                        <a:latin typeface="Cambria Math" panose="02040503050406030204" pitchFamily="18" charset="0"/>
                        <a:cs typeface="Cambria" panose="02040503050406030204"/>
                      </a:rPr>
                      <m:t>,</m:t>
                    </m:r>
                    <m:r>
                      <a:rPr lang="zh-CN" altLang="en-US" i="1" spc="-45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  <m:r>
                      <a:rPr lang="en-US" altLang="zh-CN" i="1" spc="65" dirty="0">
                        <a:latin typeface="Cambria Math" panose="02040503050406030204" pitchFamily="18" charset="0"/>
                        <a:cs typeface="Cambria" panose="02040503050406030204"/>
                      </a:rPr>
                      <m:t>…</m:t>
                    </m:r>
                    <m:r>
                      <a:rPr lang="zh-CN" altLang="en-US" i="1" spc="-50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  <m:r>
                      <a:rPr lang="en-US" altLang="zh-CN" i="1" spc="60" dirty="0">
                        <a:latin typeface="Cambria Math" panose="02040503050406030204" pitchFamily="18" charset="0"/>
                        <a:cs typeface="Cambria" panose="02040503050406030204"/>
                      </a:rPr>
                      <m:t>,</m:t>
                    </m:r>
                    <m:r>
                      <a:rPr lang="zh-CN" altLang="en-US" i="1" spc="-45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  <m:sSup>
                      <m:sSupPr>
                        <m:ctrlPr>
                          <a:rPr lang="zh-CN" altLang="en-US" i="1" dirty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sSup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𝑑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𝑀</m:t>
                        </m:r>
                      </m:sup>
                    </m:sSup>
                    <m:r>
                      <a:rPr lang="en-US" altLang="zh-CN" i="1" spc="95" dirty="0">
                        <a:latin typeface="Cambria Math" panose="02040503050406030204" pitchFamily="18" charset="0"/>
                        <a:cs typeface="Cambria" panose="02040503050406030204"/>
                      </a:rPr>
                      <m:t>}</m:t>
                    </m:r>
                    <m:r>
                      <a:rPr lang="zh-CN" altLang="en-US" i="1" spc="110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</m:oMath>
                </a14:m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集合上均匀分布，从而</a:t>
                </a:r>
                <a:r>
                  <a:rPr lang="zh-CN" altLang="en-US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𝑇</a:t>
                </a:r>
                <a:r>
                  <a:rPr lang="zh-CN" altLang="en-US" spc="24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{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𝑇</a:t>
                </a:r>
                <a:r>
                  <a:rPr lang="en-US" altLang="zh-CN" spc="-25" dirty="0">
                    <a:latin typeface="Cambria" panose="02040503050406030204"/>
                    <a:cs typeface="Cambria" panose="02040503050406030204"/>
                  </a:rPr>
                  <a:t> (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𝑑</a:t>
                </a:r>
                <a:r>
                  <a:rPr lang="en-US" altLang="zh-CN" baseline="32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en-US" altLang="zh-CN" spc="-15" dirty="0">
                    <a:latin typeface="Cambria" panose="02040503050406030204"/>
                    <a:cs typeface="Cambria" panose="02040503050406030204"/>
                  </a:rPr>
                  <a:t>, </a:t>
                </a:r>
                <a:r>
                  <a:rPr lang="en-US" altLang="zh-CN" b="1" spc="85" dirty="0">
                    <a:latin typeface="Palatino Linotype" panose="02040502050505030304"/>
                    <a:cs typeface="Palatino Linotype" panose="02040502050505030304"/>
                  </a:rPr>
                  <a:t>Y</a:t>
                </a:r>
                <a:r>
                  <a:rPr lang="en-US" altLang="zh-CN" spc="25" dirty="0">
                    <a:latin typeface="Cambria" panose="02040503050406030204"/>
                    <a:cs typeface="Cambria" panose="02040503050406030204"/>
                  </a:rPr>
                  <a:t>), … , </a:t>
                </a:r>
                <a:r>
                  <a:rPr lang="zh-CN" altLang="en-US" spc="-25" dirty="0">
                    <a:latin typeface="Cambria" panose="02040503050406030204"/>
                    <a:cs typeface="Cambria" panose="02040503050406030204"/>
                  </a:rPr>
                  <a:t>𝑇 </a:t>
                </a:r>
                <a:r>
                  <a:rPr lang="en-US" altLang="zh-CN" spc="-25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𝑑</a:t>
                </a:r>
                <a:r>
                  <a:rPr lang="zh-CN" altLang="en-US" baseline="32000" dirty="0">
                    <a:latin typeface="Cambria" panose="02040503050406030204"/>
                    <a:cs typeface="Cambria" panose="02040503050406030204"/>
                  </a:rPr>
                  <a:t>𝑀</a:t>
                </a:r>
                <a:r>
                  <a:rPr lang="en-US" altLang="zh-CN" spc="-30" baseline="32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5" dirty="0">
                    <a:latin typeface="Cambria" panose="02040503050406030204"/>
                    <a:cs typeface="Cambria" panose="02040503050406030204"/>
                  </a:rPr>
                  <a:t>, </a:t>
                </a:r>
                <a:r>
                  <a:rPr lang="en-US" altLang="zh-CN" b="1" spc="100" dirty="0">
                    <a:latin typeface="Palatino Linotype" panose="02040502050505030304"/>
                    <a:cs typeface="Palatino Linotype" panose="02040502050505030304"/>
                  </a:rPr>
                  <a:t>Y</a:t>
                </a:r>
                <a:r>
                  <a:rPr lang="en-US" altLang="zh-CN" spc="114" dirty="0">
                    <a:latin typeface="Cambria" panose="02040503050406030204"/>
                    <a:cs typeface="Cambria" panose="02040503050406030204"/>
                  </a:rPr>
                  <a:t>)}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上是均匀分布，我们称</a:t>
                </a:r>
                <a:r>
                  <a:rPr lang="zh-CN" altLang="en-US" spc="-9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𝑇</a:t>
                </a:r>
                <a:r>
                  <a:rPr lang="zh-CN" altLang="en-US" spc="3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的分布为随机分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布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(randomization</a:t>
                </a:r>
                <a:r>
                  <a:rPr lang="en-US" altLang="zh-CN" spc="6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distribution)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en-US" altLang="zh-CN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b="0" i="1" spc="-10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𝑝</m:t>
                    </m:r>
                    <m:r>
                      <a:rPr lang="en-US" altLang="zh-CN" b="0" i="1" spc="-10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b="0" i="1" spc="-1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b="0" i="1" spc="-1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pc="-1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0" i="1" spc="-1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naryPr>
                      <m:sub>
                        <m:r>
                          <a:rPr lang="en-US" altLang="zh-CN" b="0" i="1" spc="-1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𝑚</m:t>
                        </m:r>
                      </m:sub>
                      <m:sup>
                        <m:r>
                          <a:rPr lang="en-US" altLang="zh-CN" b="0" i="1" spc="-1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𝑀</m:t>
                        </m:r>
                      </m:sup>
                      <m:e>
                        <m:r>
                          <a:rPr lang="en-US" altLang="zh-CN" b="1" i="1" spc="-1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pc="-10" smtClean="0">
                                <a:latin typeface="Cambria Math" panose="02040503050406030204" pitchFamily="18" charset="0"/>
                                <a:cs typeface="宋体" panose="0201060003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b="0" i="1" spc="-10" smtClean="0">
                                <a:latin typeface="Cambria Math" panose="02040503050406030204" pitchFamily="18" charset="0"/>
                                <a:cs typeface="宋体" panose="02010600030101010101" pitchFamily="2" charset="-122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altLang="zh-CN" b="0" i="1" spc="-10" smtClean="0">
                                    <a:latin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b="0" i="1" spc="-10" smtClean="0"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pc="-10" smtClean="0"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zh-CN" b="0" i="1" spc="-10" smtClean="0"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</a:rPr>
                                      <m:t>𝑚</m:t>
                                    </m:r>
                                  </m:sup>
                                </m:sSup>
                                <m:r>
                                  <a:rPr lang="en-US" altLang="zh-CN" b="0" i="1" spc="-10" smtClean="0">
                                    <a:latin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  <m:t>,</m:t>
                                </m:r>
                                <m:r>
                                  <a:rPr lang="en-US" altLang="zh-CN" b="1" i="0" spc="-10" smtClean="0">
                                    <a:latin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  <m:t>𝐘</m:t>
                                </m:r>
                              </m:e>
                            </m:d>
                            <m:r>
                              <a:rPr lang="en-US" altLang="zh-CN" b="0" i="1" spc="-10" smtClean="0">
                                <a:latin typeface="Cambria Math" panose="02040503050406030204" pitchFamily="18" charset="0"/>
                                <a:cs typeface="宋体" panose="02010600030101010101" pitchFamily="2" charset="-122"/>
                              </a:rPr>
                              <m:t>≥</m:t>
                            </m:r>
                            <m:r>
                              <a:rPr lang="en-US" altLang="zh-CN" b="0" i="1" spc="-10" smtClean="0">
                                <a:latin typeface="Cambria Math" panose="02040503050406030204" pitchFamily="18" charset="0"/>
                                <a:cs typeface="宋体" panose="02010600030101010101" pitchFamily="2" charset="-122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altLang="zh-CN" b="1" i="0" spc="-10" smtClean="0">
                                    <a:latin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0" spc="-10" smtClean="0">
                                    <a:latin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  <m:t>𝐃</m:t>
                                </m:r>
                                <m:r>
                                  <a:rPr lang="en-US" altLang="zh-CN" b="1" i="0" spc="-10" smtClean="0">
                                    <a:latin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  <m:t>,</m:t>
                                </m:r>
                                <m:r>
                                  <a:rPr lang="en-US" altLang="zh-CN" b="1" i="0" spc="-10" smtClean="0">
                                    <a:latin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  <m:t>𝐘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US" altLang="zh-CN" b="0" i="1" spc="-10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                         (2)</m:t>
                    </m:r>
                  </m:oMath>
                </a14:m>
                <a:r>
                  <a:rPr lang="en-US" altLang="zh-CN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称为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𝑝</a:t>
                </a:r>
                <a:r>
                  <a:rPr lang="zh-CN" altLang="en-US" spc="12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值。</a:t>
                </a:r>
                <a:r>
                  <a:rPr lang="en-US" altLang="zh-CN" spc="85" dirty="0">
                    <a:latin typeface="Palatino Linotype" panose="02040502050505030304"/>
                    <a:cs typeface="Palatino Linotype" panose="02040502050505030304"/>
                  </a:rPr>
                  <a:t>FEP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有时也称为随机置换检验</a:t>
                </a:r>
                <a:r>
                  <a:rPr lang="zh-CN" altLang="en-US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pc="-10" dirty="0">
                    <a:latin typeface="Palatino Linotype" panose="02040502050505030304"/>
                    <a:cs typeface="Palatino Linotype" panose="02040502050505030304"/>
                  </a:rPr>
                  <a:t>(randomized</a:t>
                </a:r>
                <a:r>
                  <a:rPr lang="en-US" altLang="zh-CN" spc="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permutation</a:t>
                </a:r>
                <a:r>
                  <a:rPr lang="en-US" altLang="zh-CN" spc="8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test)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9C7393-F6CE-B4AF-473B-1D0DE90DCE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t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909BC4-AD28-D83D-256E-539403208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87A45C-8FA5-9A39-D034-BCD1E268F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694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39C0B-AE93-F492-2737-915ECA69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br>
              <a:rPr lang="en-US" altLang="zh-CN" spc="-20" dirty="0">
                <a:latin typeface="Palatino Linotype" panose="02040502050505030304"/>
                <a:cs typeface="Palatino Linotype" panose="02040502050505030304"/>
              </a:rPr>
            </a:br>
            <a:r>
              <a:rPr lang="zh-CN" altLang="en-US" sz="2400" spc="-20" dirty="0">
                <a:latin typeface="Palatino Linotype" panose="02040502050505030304"/>
                <a:cs typeface="Palatino Linotype" panose="02040502050505030304"/>
              </a:rPr>
              <a:t>常用统计量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DA5406A-9861-20B7-14ED-08E774504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zh-CN" altLang="en-US" dirty="0"/>
                  <a:t>两组结果之差</a:t>
                </a:r>
                <a:r>
                  <a:rPr lang="en-US" altLang="zh-CN" dirty="0"/>
                  <a:t>(difference-in-means)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acc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ba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ba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dirty="0"/>
                  <a:t>下，均值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方差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其中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ba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DA5406A-9861-20B7-14ED-08E774504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24BA39-B843-F149-D2E0-3A8542966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71CD59-D6ED-A37F-2F05-BC053B543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411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85829-6ED3-4D57-CF50-081591377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br>
              <a:rPr lang="en-US" altLang="zh-CN" spc="-20" dirty="0">
                <a:latin typeface="Palatino Linotype" panose="02040502050505030304"/>
                <a:cs typeface="Palatino Linotype" panose="02040502050505030304"/>
              </a:rPr>
            </a:br>
            <a:r>
              <a:rPr lang="zh-CN" altLang="en-US" sz="2400" spc="-20" dirty="0">
                <a:latin typeface="Palatino Linotype" panose="02040502050505030304"/>
                <a:cs typeface="Palatino Linotype" panose="02040502050505030304"/>
              </a:rPr>
              <a:t>常用统计量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3D9AC68-A2A2-30F5-5980-0EC18D1E60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altLang="zh-CN" spc="110" dirty="0">
                    <a:latin typeface="Palatino Linotype" panose="02040502050505030304"/>
                    <a:cs typeface="Palatino Linotype" panose="02040502050505030304"/>
                  </a:rPr>
                  <a:t>T</a:t>
                </a:r>
                <a:r>
                  <a:rPr lang="en-US" altLang="zh-CN" spc="3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统计量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(studentized</a:t>
                </a:r>
                <a:r>
                  <a:rPr lang="en-US" altLang="zh-CN" spc="5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pc="-10" dirty="0">
                    <a:latin typeface="Palatino Linotype" panose="02040502050505030304"/>
                    <a:cs typeface="Palatino Linotype" panose="02040502050505030304"/>
                  </a:rPr>
                  <a:t>statistic)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en-US" altLang="zh-CN" spc="-1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endParaRPr lang="en-US" altLang="zh-CN" spc="-1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endParaRPr lang="en-US" altLang="zh-CN" spc="-1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endParaRPr lang="en-US" altLang="zh-CN" spc="-1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buNone/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其中</a:t>
                </a:r>
                <a:endParaRPr lang="en-US" altLang="zh-CN" spc="-1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pos m:val="top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宋体" panose="02010600030101010101" pitchFamily="2" charset="-122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宋体" panose="02010600030101010101" pitchFamily="2" charset="-122"/>
                                            </a:rPr>
                                            <m:t>𝑌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,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pos m:val="top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宋体" panose="02010600030101010101" pitchFamily="2" charset="-122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宋体" panose="02010600030101010101" pitchFamily="2" charset="-122"/>
                                            </a:rPr>
                                            <m:t>𝑌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buNone/>
                </a:pPr>
                <a:r>
                  <a:rPr lang="zh-CN" altLang="en-US" spc="-5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 </a:t>
                </a:r>
                <a:r>
                  <a:rPr lang="zh-CN" altLang="en-US" spc="65" dirty="0">
                    <a:latin typeface="Cambria" panose="02040503050406030204"/>
                    <a:cs typeface="Cambria" panose="02040503050406030204"/>
                  </a:rPr>
                  <a:t>𝐻</a:t>
                </a:r>
                <a:r>
                  <a:rPr lang="en-US" altLang="zh-CN" spc="97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pc="97" baseline="-19000" dirty="0">
                    <a:latin typeface="Cambria" panose="02040503050406030204"/>
                    <a:cs typeface="Cambria" panose="02040503050406030204"/>
                  </a:rPr>
                  <a:t>𝐹</a:t>
                </a:r>
                <a:r>
                  <a:rPr lang="zh-CN" altLang="en-US" spc="547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下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𝑡</a:t>
                </a:r>
                <a:r>
                  <a:rPr lang="zh-CN" altLang="en-US" spc="100" dirty="0">
                    <a:latin typeface="Cambria" panose="02040503050406030204"/>
                    <a:cs typeface="Cambria" panose="02040503050406030204"/>
                  </a:rPr>
                  <a:t> →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𝑁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(0,</a:t>
                </a:r>
                <a:r>
                  <a:rPr lang="zh-CN" altLang="en-US" spc="-3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-35" dirty="0">
                    <a:latin typeface="Cambria" panose="02040503050406030204"/>
                    <a:cs typeface="Cambria" panose="02040503050406030204"/>
                  </a:rPr>
                  <a:t>1)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。据</a:t>
                </a:r>
                <a:r>
                  <a:rPr lang="zh-CN" altLang="en-US" spc="-9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Ding(2024)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t</a:t>
                </a:r>
                <a:r>
                  <a:rPr lang="zh-CN" altLang="en-US" spc="12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统计量在异方差情形下更稳健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其他统计量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Wilcoxon</a:t>
                </a:r>
                <a:r>
                  <a:rPr lang="en-US" altLang="zh-CN" spc="10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rank</a:t>
                </a:r>
                <a:r>
                  <a:rPr lang="en-US" altLang="zh-CN" spc="10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pc="-35" dirty="0">
                    <a:latin typeface="Palatino Linotype" panose="02040502050505030304"/>
                    <a:cs typeface="Palatino Linotype" panose="02040502050505030304"/>
                  </a:rPr>
                  <a:t>sum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、</a:t>
                </a:r>
                <a:r>
                  <a:rPr lang="en-US" altLang="zh-CN" spc="-25" dirty="0">
                    <a:latin typeface="Palatino Linotype" panose="02040502050505030304"/>
                    <a:cs typeface="Palatino Linotype" panose="02040502050505030304"/>
                  </a:rPr>
                  <a:t>Kolmogorov-</a:t>
                </a:r>
                <a:r>
                  <a:rPr lang="en-US" altLang="zh-CN" spc="-10" dirty="0" err="1">
                    <a:latin typeface="Palatino Linotype" panose="02040502050505030304"/>
                    <a:cs typeface="Palatino Linotype" panose="02040502050505030304"/>
                  </a:rPr>
                  <a:t>smirnov</a:t>
                </a:r>
                <a:r>
                  <a:rPr lang="en-US" altLang="zh-CN" spc="11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statistic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、回归统计量等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3D9AC68-A2A2-30F5-5980-0EC18D1E6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801" r="-386" b="-1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890E14-562D-BDA4-DDBF-B18BE73D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27D82D-31B5-1B55-828C-0491E249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14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ABCB01F-AEC0-2FC4-1DB8-7256731FA712}"/>
                  </a:ext>
                </a:extLst>
              </p:cNvPr>
              <p:cNvSpPr txBox="1"/>
              <p:nvPr/>
            </p:nvSpPr>
            <p:spPr>
              <a:xfrm>
                <a:off x="1869444" y="2339976"/>
                <a:ext cx="3773366" cy="12426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ABCB01F-AEC0-2FC4-1DB8-7256731FA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444" y="2339976"/>
                <a:ext cx="3773366" cy="1242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040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D613FD-4072-1D39-5378-2DFE5E00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br>
              <a:rPr lang="en-US" altLang="zh-CN" spc="-20" dirty="0">
                <a:latin typeface="Palatino Linotype" panose="02040502050505030304"/>
                <a:cs typeface="Palatino Linotype" panose="02040502050505030304"/>
              </a:rPr>
            </a:br>
            <a:r>
              <a:rPr lang="zh-CN" altLang="en-US" sz="2400" spc="-20" dirty="0">
                <a:latin typeface="Palatino Linotype" panose="02040502050505030304"/>
                <a:cs typeface="Palatino Linotype" panose="02040502050505030304"/>
              </a:rPr>
              <a:t>例子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560F45-CEBA-E12E-394E-767B6E37D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Paul</a:t>
            </a:r>
            <a:r>
              <a:rPr lang="zh-CN" altLang="en-US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et</a:t>
            </a:r>
            <a:r>
              <a:rPr lang="zh-CN" altLang="en-US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al.</a:t>
            </a:r>
            <a:r>
              <a:rPr lang="zh-CN" altLang="en-US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(2007)</a:t>
            </a:r>
            <a:r>
              <a:rPr lang="zh-CN" altLang="en-US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考察蜂蜜对孩子咳嗽的治疗效果。一个简化例子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6</a:t>
            </a:r>
            <a:r>
              <a:rPr lang="zh-CN" altLang="en-US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个孩子，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随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机分成两组，一组蜂蜜治疗，一组没有，结果如左图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在精确原假设</a:t>
            </a:r>
            <a:r>
              <a:rPr lang="zh-CN" altLang="en-US" spc="-12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50" dirty="0">
                <a:latin typeface="Cambria" panose="02040503050406030204"/>
                <a:cs typeface="Cambria" panose="02040503050406030204"/>
              </a:rPr>
              <a:t>𝐻</a:t>
            </a:r>
            <a:r>
              <a:rPr lang="en-US" altLang="zh-CN" spc="75" baseline="-19000" dirty="0">
                <a:latin typeface="Cambria" panose="02040503050406030204"/>
                <a:cs typeface="Cambria" panose="02040503050406030204"/>
              </a:rPr>
              <a:t>0</a:t>
            </a:r>
            <a:r>
              <a:rPr lang="zh-CN" altLang="en-US" spc="277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35" dirty="0">
                <a:latin typeface="Cambria" panose="02040503050406030204"/>
                <a:cs typeface="Cambria" panose="02040503050406030204"/>
              </a:rPr>
              <a:t>∶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(1)</a:t>
            </a:r>
            <a:r>
              <a:rPr lang="zh-CN" altLang="en-US" spc="10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05" dirty="0">
                <a:latin typeface="Cambria" panose="02040503050406030204"/>
                <a:cs typeface="Cambria" panose="02040503050406030204"/>
              </a:rPr>
              <a:t>=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(0),</a:t>
            </a:r>
            <a:r>
              <a:rPr lang="zh-CN" altLang="en-US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𝑖</a:t>
            </a:r>
            <a:r>
              <a:rPr lang="zh-CN" altLang="en-US" spc="11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10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1, … , 6.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确实值可以用观测值填充，见右图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根据观测结果构建统计量</a:t>
            </a:r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pc="-20" dirty="0">
                <a:latin typeface="Cambria" panose="02040503050406030204"/>
                <a:cs typeface="Cambria" panose="02040503050406030204"/>
              </a:rPr>
              <a:t>𝑇</a:t>
            </a:r>
            <a:r>
              <a:rPr lang="zh-CN" altLang="en-US" spc="-7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baseline="32000" dirty="0">
                <a:latin typeface="Cambria" panose="02040503050406030204"/>
                <a:cs typeface="Cambria" panose="02040503050406030204"/>
              </a:rPr>
              <a:t>𝑜𝑏𝑠</a:t>
            </a:r>
            <a:r>
              <a:rPr lang="zh-CN" altLang="en-US" spc="240" baseline="32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20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(3</a:t>
            </a:r>
            <a:r>
              <a:rPr lang="zh-CN" altLang="en-US" spc="6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65" dirty="0">
                <a:latin typeface="Cambria" panose="02040503050406030204"/>
                <a:cs typeface="Cambria" panose="02040503050406030204"/>
              </a:rPr>
              <a:t>+ </a:t>
            </a:r>
            <a:r>
              <a:rPr lang="en-US" altLang="zh-CN" spc="-60" dirty="0">
                <a:latin typeface="Cambria" panose="02040503050406030204"/>
                <a:cs typeface="Cambria" panose="02040503050406030204"/>
              </a:rPr>
              <a:t>5</a:t>
            </a:r>
            <a:r>
              <a:rPr lang="zh-CN" altLang="en-US" spc="6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60" dirty="0">
                <a:latin typeface="Cambria" panose="02040503050406030204"/>
                <a:cs typeface="Cambria" panose="02040503050406030204"/>
              </a:rPr>
              <a:t>+ </a:t>
            </a:r>
            <a:r>
              <a:rPr lang="en-US" altLang="zh-CN" spc="-20" dirty="0">
                <a:latin typeface="Cambria" panose="02040503050406030204"/>
                <a:cs typeface="Cambria" panose="02040503050406030204"/>
              </a:rPr>
              <a:t>0)/3</a:t>
            </a:r>
            <a:r>
              <a:rPr lang="zh-CN" altLang="en-US" spc="60" dirty="0">
                <a:latin typeface="Cambria" panose="02040503050406030204"/>
                <a:cs typeface="Cambria" panose="02040503050406030204"/>
              </a:rPr>
              <a:t> − 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(4</a:t>
            </a:r>
            <a:r>
              <a:rPr lang="zh-CN" altLang="en-US" spc="6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65" dirty="0">
                <a:latin typeface="Cambria" panose="02040503050406030204"/>
                <a:cs typeface="Cambria" panose="02040503050406030204"/>
              </a:rPr>
              <a:t>+ </a:t>
            </a:r>
            <a:r>
              <a:rPr lang="en-US" altLang="zh-CN" spc="-60" dirty="0">
                <a:latin typeface="Cambria" panose="02040503050406030204"/>
                <a:cs typeface="Cambria" panose="02040503050406030204"/>
              </a:rPr>
              <a:t>0</a:t>
            </a:r>
            <a:r>
              <a:rPr lang="zh-CN" altLang="en-US" spc="6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65" dirty="0">
                <a:latin typeface="Cambria" panose="02040503050406030204"/>
                <a:cs typeface="Cambria" panose="02040503050406030204"/>
              </a:rPr>
              <a:t>+ 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1)/3</a:t>
            </a:r>
            <a:r>
              <a:rPr lang="zh-CN" altLang="en-US" spc="9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95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1.00</a:t>
            </a:r>
            <a:r>
              <a:rPr lang="en-US" altLang="zh-CN" spc="-10" dirty="0">
                <a:latin typeface="Palatino Linotype" panose="02040502050505030304"/>
                <a:cs typeface="Palatino Linotype" panose="02040502050505030304"/>
              </a:rPr>
              <a:t>.</a:t>
            </a:r>
            <a:endParaRPr lang="zh-CN" altLang="en-US" dirty="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B101F0-F4FE-BEE4-4DF9-509CC69F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AB987D-FF09-AEC1-BE9D-9EC2418A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222E05F-C12B-1A8D-FF44-52E52CCD4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3130799"/>
            <a:ext cx="7886699" cy="250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6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9121D-9524-BD05-0D1C-3F427AD8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br>
              <a:rPr lang="en-US" altLang="zh-CN" spc="-20" dirty="0">
                <a:latin typeface="Palatino Linotype" panose="02040502050505030304"/>
                <a:cs typeface="Palatino Linotype" panose="02040502050505030304"/>
              </a:rPr>
            </a:br>
            <a:r>
              <a:rPr lang="zh-CN" altLang="en-US" sz="2400" spc="-20" dirty="0">
                <a:latin typeface="Palatino Linotype" panose="02040502050505030304"/>
                <a:cs typeface="Palatino Linotype" panose="02040502050505030304"/>
              </a:rPr>
              <a:t>例子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0526EB-A815-5DF5-9B8B-B48D79CF8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完全随机化实验</a:t>
            </a:r>
            <a:r>
              <a:rPr lang="zh-CN" altLang="en-US" spc="-8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共有分配向量</a:t>
            </a:r>
            <a:r>
              <a:rPr lang="zh-CN" altLang="en-US" spc="-1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75" dirty="0">
                <a:latin typeface="Cambria" panose="02040503050406030204"/>
                <a:cs typeface="Cambria" panose="02040503050406030204"/>
              </a:rPr>
              <a:t>𝐶</a:t>
            </a:r>
            <a:r>
              <a:rPr lang="en-US" altLang="zh-CN" sz="3200" spc="112" baseline="28000" dirty="0">
                <a:latin typeface="Cambria" panose="02040503050406030204"/>
                <a:cs typeface="Cambria" panose="02040503050406030204"/>
              </a:rPr>
              <a:t>3</a:t>
            </a:r>
            <a:r>
              <a:rPr lang="zh-CN" altLang="en-US" sz="3200" spc="209" baseline="28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05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20</a:t>
            </a:r>
            <a:r>
              <a:rPr lang="zh-CN" altLang="en-US" spc="9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个，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我们可以计算出在精确原假设下</a:t>
            </a:r>
            <a:r>
              <a:rPr lang="zh-CN" altLang="en-US" spc="-8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每个分配向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量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对应的均值之差统计量值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AD105D-05B3-C6B0-9B1F-7821173E6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CFFA84-A66A-C057-A6D8-A15EFA07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CBB4E5-8E05-7461-801F-5CD3DE33D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50" y="3125411"/>
            <a:ext cx="7969666" cy="293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12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4836A-0E76-B023-4B03-AD111D44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br>
              <a:rPr lang="en-US" altLang="zh-CN" spc="-20" dirty="0">
                <a:latin typeface="Palatino Linotype" panose="02040502050505030304"/>
                <a:cs typeface="Palatino Linotype" panose="02040502050505030304"/>
              </a:rPr>
            </a:br>
            <a:r>
              <a:rPr lang="zh-CN" altLang="en-US" sz="2400" spc="-20" dirty="0">
                <a:latin typeface="Palatino Linotype" panose="02040502050505030304"/>
                <a:cs typeface="Palatino Linotype" panose="02040502050505030304"/>
              </a:rPr>
              <a:t>例子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D2F24A-AE5F-5739-9730-2EBF95DE8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pc="8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值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pc="-25" dirty="0">
                <a:latin typeface="Cambria" panose="02040503050406030204"/>
                <a:cs typeface="Cambria" panose="02040503050406030204"/>
              </a:rPr>
              <a:t>16/20</a:t>
            </a:r>
            <a:r>
              <a:rPr lang="zh-CN" altLang="en-US" spc="8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85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-25" dirty="0">
                <a:latin typeface="Cambria" panose="02040503050406030204"/>
                <a:cs typeface="Cambria" panose="02040503050406030204"/>
              </a:rPr>
              <a:t>0.8</a:t>
            </a:r>
            <a:endParaRPr lang="zh-CN" altLang="en-US" dirty="0">
              <a:latin typeface="Cambria" panose="02040503050406030204"/>
              <a:cs typeface="Cambria" panose="02040503050406030204"/>
            </a:endParaRP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63822E-0C26-3129-D9F3-42D5583D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61AF8B-FD19-A063-9B21-2457A6C0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5F6BAF71-64D5-D2B5-C612-644D4EBF5D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563" y="2511525"/>
            <a:ext cx="6631107" cy="366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364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35383-07AC-B564-EE04-CC66BD0E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br>
              <a:rPr lang="en-US" altLang="zh-CN" spc="-20" dirty="0">
                <a:latin typeface="Palatino Linotype" panose="02040502050505030304"/>
                <a:cs typeface="Palatino Linotype" panose="02040502050505030304"/>
              </a:rPr>
            </a:br>
            <a:r>
              <a:rPr lang="zh-CN" altLang="en-US" sz="2400" spc="-20" dirty="0">
                <a:latin typeface="Palatino Linotype" panose="02040502050505030304"/>
                <a:cs typeface="Palatino Linotype" panose="02040502050505030304"/>
              </a:rPr>
              <a:t>例子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C400C2-070F-F50D-BB60-D4C9CD3EC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完全随机化实验</a:t>
            </a:r>
            <a:r>
              <a:rPr lang="zh-CN" altLang="en-US" sz="2400" spc="-8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共有分配向量</a:t>
            </a:r>
            <a:r>
              <a:rPr lang="zh-CN" altLang="en-US" sz="2400" spc="-1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spc="75" dirty="0">
                <a:latin typeface="Cambria" panose="02040503050406030204"/>
                <a:cs typeface="Cambria" panose="02040503050406030204"/>
              </a:rPr>
              <a:t>𝐶</a:t>
            </a:r>
            <a:r>
              <a:rPr lang="en-US" altLang="zh-CN" sz="2400" spc="112" baseline="28000" dirty="0">
                <a:latin typeface="Cambria" panose="02040503050406030204"/>
                <a:cs typeface="Cambria" panose="02040503050406030204"/>
              </a:rPr>
              <a:t>3</a:t>
            </a:r>
            <a:r>
              <a:rPr lang="zh-CN" altLang="en-US" sz="2400" spc="209" baseline="28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z="2400" spc="105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z="2400" spc="-10" dirty="0">
                <a:latin typeface="Cambria" panose="02040503050406030204"/>
                <a:cs typeface="Cambria" panose="02040503050406030204"/>
              </a:rPr>
              <a:t>20</a:t>
            </a:r>
            <a:r>
              <a:rPr lang="zh-CN" altLang="en-US" sz="2400" spc="9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z="2400" spc="-50" dirty="0">
                <a:latin typeface="宋体" panose="02010600030101010101" pitchFamily="2" charset="-122"/>
                <a:cs typeface="宋体" panose="02010600030101010101" pitchFamily="2" charset="-122"/>
              </a:rPr>
              <a:t>个，</a:t>
            </a:r>
            <a:r>
              <a:rPr lang="zh-CN" altLang="en-US"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我们可以计算出在精确原假设下</a:t>
            </a:r>
            <a:r>
              <a:rPr lang="zh-CN" altLang="en-US" sz="2400" spc="-8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每个分配向</a:t>
            </a:r>
            <a:r>
              <a:rPr lang="zh-CN" altLang="en-US" sz="2400" spc="-50" dirty="0">
                <a:latin typeface="宋体" panose="02010600030101010101" pitchFamily="2" charset="-122"/>
                <a:cs typeface="宋体" panose="02010600030101010101" pitchFamily="2" charset="-122"/>
              </a:rPr>
              <a:t>量</a:t>
            </a:r>
            <a:r>
              <a:rPr lang="zh-CN" altLang="en-US"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对应的</a:t>
            </a:r>
            <a:r>
              <a:rPr lang="zh-CN" altLang="en-US" sz="2400" spc="-114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spc="65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lang="zh-CN" altLang="en-US" sz="2400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统计量值</a:t>
            </a:r>
            <a:r>
              <a:rPr lang="zh-CN" altLang="en-US" sz="2400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400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同样，利用</a:t>
            </a:r>
            <a:r>
              <a:rPr lang="zh-CN" altLang="en-US" sz="2400" spc="-12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spc="65" dirty="0">
                <a:latin typeface="Palatino Linotype" panose="02040502050505030304"/>
                <a:cs typeface="Palatino Linotype" panose="02040502050505030304"/>
              </a:rPr>
              <a:t>t</a:t>
            </a:r>
            <a:r>
              <a:rPr lang="zh-CN" altLang="en-US" sz="24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统计量</a:t>
            </a: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400" dirty="0">
                <a:latin typeface="Cambria" panose="02040503050406030204"/>
                <a:cs typeface="Cambria" panose="02040503050406030204"/>
              </a:rPr>
              <a:t>𝑝</a:t>
            </a:r>
            <a:r>
              <a:rPr lang="zh-CN" altLang="en-US" sz="2400" spc="8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z="2400" spc="85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z="2400" spc="-25" dirty="0">
                <a:latin typeface="Cambria" panose="02040503050406030204"/>
                <a:cs typeface="Cambria" panose="02040503050406030204"/>
              </a:rPr>
              <a:t>16/20</a:t>
            </a:r>
            <a:r>
              <a:rPr lang="zh-CN" altLang="en-US" sz="2400" spc="8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z="2400" spc="80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z="2400" spc="-20" dirty="0">
                <a:latin typeface="Cambria" panose="02040503050406030204"/>
                <a:cs typeface="Cambria" panose="02040503050406030204"/>
              </a:rPr>
              <a:t>0.8</a:t>
            </a:r>
            <a:r>
              <a:rPr lang="zh-CN" altLang="en-US" sz="2400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CA302C-F726-9F93-F486-67796AA4E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17E5A3-BF46-7B86-5A90-0B2E4D4A1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0B97116-F53E-98F4-192E-9205654DB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56" y="2869387"/>
            <a:ext cx="7563774" cy="280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000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7AA74-A20E-9091-1A01-71A7ED3CD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br>
              <a:rPr lang="en-US" altLang="zh-CN" spc="-20" dirty="0">
                <a:latin typeface="Palatino Linotype" panose="02040502050505030304"/>
                <a:cs typeface="Palatino Linotype" panose="02040502050505030304"/>
              </a:rPr>
            </a:br>
            <a:r>
              <a:rPr lang="zh-CN" altLang="en-US" sz="2400" spc="-20" dirty="0">
                <a:latin typeface="Palatino Linotype" panose="02040502050505030304"/>
                <a:cs typeface="Palatino Linotype" panose="02040502050505030304"/>
              </a:rPr>
              <a:t>例子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E47972-BDFA-C988-BDF0-695C5B62D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常数效应原假设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𝐻</a:t>
            </a:r>
            <a:r>
              <a:rPr lang="en-US" altLang="zh-CN" sz="3200" baseline="-19000" dirty="0">
                <a:latin typeface="Cambria" panose="02040503050406030204"/>
                <a:cs typeface="Cambria" panose="02040503050406030204"/>
              </a:rPr>
              <a:t>0</a:t>
            </a:r>
            <a:r>
              <a:rPr lang="zh-CN" altLang="en-US" sz="3200" spc="232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25" dirty="0">
                <a:latin typeface="Cambria" panose="02040503050406030204"/>
                <a:cs typeface="Cambria" panose="02040503050406030204"/>
              </a:rPr>
              <a:t>∶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z="3200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(1)</a:t>
            </a:r>
            <a:r>
              <a:rPr lang="zh-CN" altLang="en-US" spc="9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90" dirty="0">
                <a:latin typeface="Cambria" panose="02040503050406030204"/>
                <a:cs typeface="Cambria" panose="02040503050406030204"/>
              </a:rPr>
              <a:t>=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z="3200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(0)</a:t>
            </a:r>
            <a:r>
              <a:rPr lang="zh-CN" altLang="en-US" spc="6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65" dirty="0">
                <a:latin typeface="Cambria" panose="02040503050406030204"/>
                <a:cs typeface="Cambria" panose="02040503050406030204"/>
              </a:rPr>
              <a:t>+ </a:t>
            </a:r>
            <a:r>
              <a:rPr lang="zh-CN" altLang="en-US" spc="65" dirty="0">
                <a:latin typeface="Cambria" panose="02040503050406030204"/>
                <a:cs typeface="Cambria" panose="02040503050406030204"/>
              </a:rPr>
              <a:t>𝐶</a:t>
            </a:r>
            <a:r>
              <a:rPr lang="zh-CN" altLang="en-US" spc="6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比如</a:t>
            </a:r>
            <a:r>
              <a:rPr lang="zh-CN" altLang="en-US" spc="-1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90" dirty="0">
                <a:latin typeface="Cambria" panose="02040503050406030204"/>
                <a:cs typeface="Cambria" panose="02040503050406030204"/>
              </a:rPr>
              <a:t>𝐶</a:t>
            </a:r>
            <a:r>
              <a:rPr lang="zh-CN" altLang="en-US" spc="114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14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-25" dirty="0">
                <a:latin typeface="Cambria" panose="02040503050406030204"/>
                <a:cs typeface="Cambria" panose="02040503050406030204"/>
              </a:rPr>
              <a:t>0.5</a:t>
            </a:r>
            <a:endParaRPr lang="zh-CN" altLang="en-US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统计量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𝑇</a:t>
            </a:r>
            <a:r>
              <a:rPr lang="zh-CN" altLang="en-US" spc="12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25" dirty="0">
                <a:latin typeface="Cambria" panose="02040503050406030204"/>
                <a:cs typeface="Cambria" panose="02040503050406030204"/>
              </a:rPr>
              <a:t>=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z="3200" baseline="-19000" dirty="0">
                <a:latin typeface="Cambria" panose="02040503050406030204"/>
                <a:cs typeface="Cambria" panose="02040503050406030204"/>
              </a:rPr>
              <a:t>𝑡</a:t>
            </a:r>
            <a:r>
              <a:rPr lang="zh-CN" altLang="en-US" sz="3200" spc="135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85" dirty="0">
                <a:latin typeface="Cambria" panose="02040503050406030204"/>
                <a:cs typeface="Cambria" panose="02040503050406030204"/>
              </a:rPr>
              <a:t>−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z="3200" baseline="-19000" dirty="0">
                <a:latin typeface="Cambria" panose="02040503050406030204"/>
                <a:cs typeface="Cambria" panose="02040503050406030204"/>
              </a:rPr>
              <a:t>𝑐</a:t>
            </a:r>
            <a:r>
              <a:rPr lang="zh-CN" altLang="en-US" sz="3200" spc="142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85" dirty="0">
                <a:latin typeface="Cambria" panose="02040503050406030204"/>
                <a:cs typeface="Cambria" panose="02040503050406030204"/>
              </a:rPr>
              <a:t>− </a:t>
            </a:r>
            <a:r>
              <a:rPr lang="en-US" altLang="zh-CN" spc="-25" dirty="0">
                <a:latin typeface="Cambria" panose="02040503050406030204"/>
                <a:cs typeface="Cambria" panose="02040503050406030204"/>
              </a:rPr>
              <a:t>0.5</a:t>
            </a:r>
          </a:p>
          <a:p>
            <a:pPr>
              <a:lnSpc>
                <a:spcPct val="120000"/>
              </a:lnSpc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20000"/>
              </a:lnSpc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20000"/>
              </a:lnSpc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20000"/>
              </a:lnSpc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20000"/>
              </a:lnSpc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20000"/>
              </a:lnSpc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20000"/>
              </a:lnSpc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20000"/>
              </a:lnSpc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20000"/>
              </a:lnSpc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根据观测结果构建统计量</a:t>
            </a:r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pc="-20" dirty="0">
                <a:latin typeface="Cambria" panose="02040503050406030204"/>
                <a:cs typeface="Cambria" panose="02040503050406030204"/>
              </a:rPr>
              <a:t>𝑇</a:t>
            </a:r>
            <a:r>
              <a:rPr lang="zh-CN" altLang="en-US" spc="-6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z="3200" baseline="28000" dirty="0">
                <a:latin typeface="Cambria" panose="02040503050406030204"/>
                <a:cs typeface="Cambria" panose="02040503050406030204"/>
              </a:rPr>
              <a:t>𝑜𝑏𝑠</a:t>
            </a:r>
            <a:r>
              <a:rPr lang="zh-CN" altLang="en-US" sz="3200" spc="202" baseline="28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05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(3</a:t>
            </a:r>
            <a:r>
              <a:rPr lang="zh-CN" altLang="en-US" spc="5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55" dirty="0">
                <a:latin typeface="Cambria" panose="02040503050406030204"/>
                <a:cs typeface="Cambria" panose="02040503050406030204"/>
              </a:rPr>
              <a:t>+ </a:t>
            </a:r>
            <a:r>
              <a:rPr lang="en-US" altLang="zh-CN" spc="-50" dirty="0">
                <a:latin typeface="Cambria" panose="02040503050406030204"/>
                <a:cs typeface="Cambria" panose="02040503050406030204"/>
              </a:rPr>
              <a:t>5</a:t>
            </a:r>
            <a:r>
              <a:rPr lang="zh-CN" altLang="en-US" spc="5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55" dirty="0">
                <a:latin typeface="Cambria" panose="02040503050406030204"/>
                <a:cs typeface="Cambria" panose="02040503050406030204"/>
              </a:rPr>
              <a:t>+ </a:t>
            </a:r>
            <a:r>
              <a:rPr lang="en-US" altLang="zh-CN" spc="-20" dirty="0">
                <a:latin typeface="Cambria" panose="02040503050406030204"/>
                <a:cs typeface="Cambria" panose="02040503050406030204"/>
              </a:rPr>
              <a:t>0)/3</a:t>
            </a:r>
            <a:r>
              <a:rPr lang="zh-CN" altLang="en-US" spc="55" dirty="0">
                <a:latin typeface="Cambria" panose="02040503050406030204"/>
                <a:cs typeface="Cambria" panose="02040503050406030204"/>
              </a:rPr>
              <a:t> − 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(4</a:t>
            </a:r>
            <a:r>
              <a:rPr lang="zh-CN" altLang="en-US" spc="5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55" dirty="0">
                <a:latin typeface="Cambria" panose="02040503050406030204"/>
                <a:cs typeface="Cambria" panose="02040503050406030204"/>
              </a:rPr>
              <a:t>+ </a:t>
            </a:r>
            <a:r>
              <a:rPr lang="en-US" altLang="zh-CN" spc="-50" dirty="0">
                <a:latin typeface="Cambria" panose="02040503050406030204"/>
                <a:cs typeface="Cambria" panose="02040503050406030204"/>
              </a:rPr>
              <a:t>0</a:t>
            </a:r>
            <a:r>
              <a:rPr lang="zh-CN" altLang="en-US" spc="5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55" dirty="0">
                <a:latin typeface="Cambria" panose="02040503050406030204"/>
                <a:cs typeface="Cambria" panose="02040503050406030204"/>
              </a:rPr>
              <a:t>+ </a:t>
            </a:r>
            <a:r>
              <a:rPr lang="en-US" altLang="zh-CN" spc="-20" dirty="0">
                <a:latin typeface="Cambria" panose="02040503050406030204"/>
                <a:cs typeface="Cambria" panose="02040503050406030204"/>
              </a:rPr>
              <a:t>1)/3</a:t>
            </a:r>
            <a:r>
              <a:rPr lang="zh-CN" altLang="en-US" spc="55" dirty="0">
                <a:latin typeface="Cambria" panose="02040503050406030204"/>
                <a:cs typeface="Cambria" panose="02040503050406030204"/>
              </a:rPr>
              <a:t> −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0.5</a:t>
            </a:r>
            <a:r>
              <a:rPr lang="zh-CN" altLang="en-US" spc="8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85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-20" dirty="0">
                <a:latin typeface="Cambria" panose="02040503050406030204"/>
                <a:cs typeface="Cambria" panose="02040503050406030204"/>
              </a:rPr>
              <a:t>0.50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.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203B05-08BB-CC48-2B4B-7B1BA8DA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D91E00-5E85-9FD2-4EAB-B0F107DC2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287B686-B2F5-4564-EB59-31D891826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876526"/>
            <a:ext cx="7938149" cy="224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96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609A8C-83CC-6E68-6A7B-924A1738C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br>
              <a:rPr lang="en-US" altLang="zh-CN" spc="-20" dirty="0">
                <a:latin typeface="Palatino Linotype" panose="02040502050505030304"/>
                <a:cs typeface="Palatino Linotype" panose="02040502050505030304"/>
              </a:rPr>
            </a:br>
            <a:r>
              <a:rPr lang="zh-CN" altLang="en-US" sz="2400" spc="-20" dirty="0">
                <a:latin typeface="Palatino Linotype" panose="02040502050505030304"/>
                <a:cs typeface="Palatino Linotype" panose="02040502050505030304"/>
              </a:rPr>
              <a:t>例子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0654A9-A495-248A-54F6-7FDCDBC2F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0800">
              <a:lnSpc>
                <a:spcPct val="100000"/>
              </a:lnSpc>
              <a:spcBef>
                <a:spcPts val="550"/>
              </a:spcBef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常数效应原假设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𝐻</a:t>
            </a:r>
            <a:r>
              <a:rPr lang="en-US" altLang="zh-CN" sz="3200" baseline="-19000" dirty="0">
                <a:latin typeface="Cambria" panose="02040503050406030204"/>
                <a:cs typeface="Cambria" panose="02040503050406030204"/>
              </a:rPr>
              <a:t>0</a:t>
            </a:r>
            <a:r>
              <a:rPr lang="zh-CN" altLang="en-US" sz="3200" spc="232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25" dirty="0">
                <a:latin typeface="Cambria" panose="02040503050406030204"/>
                <a:cs typeface="Cambria" panose="02040503050406030204"/>
              </a:rPr>
              <a:t>∶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z="3200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(1)</a:t>
            </a:r>
            <a:r>
              <a:rPr lang="zh-CN" altLang="en-US" spc="9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90" dirty="0">
                <a:latin typeface="Cambria" panose="02040503050406030204"/>
                <a:cs typeface="Cambria" panose="02040503050406030204"/>
              </a:rPr>
              <a:t>=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z="3200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(0)</a:t>
            </a:r>
            <a:r>
              <a:rPr lang="zh-CN" altLang="en-US" spc="6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65" dirty="0">
                <a:latin typeface="Cambria" panose="02040503050406030204"/>
                <a:cs typeface="Cambria" panose="02040503050406030204"/>
              </a:rPr>
              <a:t>+ </a:t>
            </a:r>
            <a:r>
              <a:rPr lang="zh-CN" altLang="en-US" spc="65" dirty="0">
                <a:latin typeface="Cambria" panose="02040503050406030204"/>
                <a:cs typeface="Cambria" panose="02040503050406030204"/>
              </a:rPr>
              <a:t>𝐶</a:t>
            </a:r>
            <a:r>
              <a:rPr lang="zh-CN" altLang="en-US" spc="6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比如</a:t>
            </a:r>
            <a:r>
              <a:rPr lang="zh-CN" altLang="en-US" spc="-1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90" dirty="0">
                <a:latin typeface="Cambria" panose="02040503050406030204"/>
                <a:cs typeface="Cambria" panose="02040503050406030204"/>
              </a:rPr>
              <a:t>𝐶</a:t>
            </a:r>
            <a:r>
              <a:rPr lang="zh-CN" altLang="en-US" spc="114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14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-25" dirty="0">
                <a:latin typeface="Cambria" panose="02040503050406030204"/>
                <a:cs typeface="Cambria" panose="02040503050406030204"/>
              </a:rPr>
              <a:t>0.5</a:t>
            </a:r>
            <a:endParaRPr lang="zh-CN" altLang="en-US" dirty="0">
              <a:latin typeface="Cambria" panose="02040503050406030204"/>
              <a:cs typeface="Cambria" panose="02040503050406030204"/>
            </a:endParaRPr>
          </a:p>
          <a:p>
            <a:pPr marL="50800">
              <a:lnSpc>
                <a:spcPct val="100000"/>
              </a:lnSpc>
              <a:spcBef>
                <a:spcPts val="450"/>
              </a:spcBef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统计量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𝑇</a:t>
            </a:r>
            <a:r>
              <a:rPr lang="zh-CN" altLang="en-US" spc="12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25" dirty="0">
                <a:latin typeface="Cambria" panose="02040503050406030204"/>
                <a:cs typeface="Cambria" panose="02040503050406030204"/>
              </a:rPr>
              <a:t>=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z="3200" baseline="-19000" dirty="0">
                <a:latin typeface="Cambria" panose="02040503050406030204"/>
                <a:cs typeface="Cambria" panose="02040503050406030204"/>
              </a:rPr>
              <a:t>𝑡</a:t>
            </a:r>
            <a:r>
              <a:rPr lang="zh-CN" altLang="en-US" sz="3200" spc="135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85" dirty="0">
                <a:latin typeface="Cambria" panose="02040503050406030204"/>
                <a:cs typeface="Cambria" panose="02040503050406030204"/>
              </a:rPr>
              <a:t>−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z="3200" baseline="-19000" dirty="0">
                <a:latin typeface="Cambria" panose="02040503050406030204"/>
                <a:cs typeface="Cambria" panose="02040503050406030204"/>
              </a:rPr>
              <a:t>𝑐</a:t>
            </a:r>
            <a:r>
              <a:rPr lang="zh-CN" altLang="en-US" sz="3200" spc="142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85" dirty="0">
                <a:latin typeface="Cambria" panose="02040503050406030204"/>
                <a:cs typeface="Cambria" panose="02040503050406030204"/>
              </a:rPr>
              <a:t>− </a:t>
            </a:r>
            <a:r>
              <a:rPr lang="en-US" altLang="zh-CN" spc="-25" dirty="0">
                <a:latin typeface="Cambria" panose="02040503050406030204"/>
                <a:cs typeface="Cambria" panose="02040503050406030204"/>
              </a:rPr>
              <a:t>0.5</a:t>
            </a:r>
          </a:p>
          <a:p>
            <a:pPr marL="50800">
              <a:lnSpc>
                <a:spcPct val="100000"/>
              </a:lnSpc>
              <a:spcBef>
                <a:spcPts val="450"/>
              </a:spcBef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 marL="50800">
              <a:lnSpc>
                <a:spcPct val="100000"/>
              </a:lnSpc>
              <a:spcBef>
                <a:spcPts val="450"/>
              </a:spcBef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 marL="50800">
              <a:lnSpc>
                <a:spcPct val="100000"/>
              </a:lnSpc>
              <a:spcBef>
                <a:spcPts val="450"/>
              </a:spcBef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 marL="50800">
              <a:lnSpc>
                <a:spcPct val="100000"/>
              </a:lnSpc>
              <a:spcBef>
                <a:spcPts val="450"/>
              </a:spcBef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 marL="50800">
              <a:lnSpc>
                <a:spcPct val="100000"/>
              </a:lnSpc>
              <a:spcBef>
                <a:spcPts val="450"/>
              </a:spcBef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 marL="50800">
              <a:lnSpc>
                <a:spcPct val="100000"/>
              </a:lnSpc>
              <a:spcBef>
                <a:spcPts val="450"/>
              </a:spcBef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 marL="50800">
              <a:lnSpc>
                <a:spcPct val="100000"/>
              </a:lnSpc>
              <a:spcBef>
                <a:spcPts val="450"/>
              </a:spcBef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 marL="50800">
              <a:lnSpc>
                <a:spcPct val="100000"/>
              </a:lnSpc>
              <a:spcBef>
                <a:spcPts val="450"/>
              </a:spcBef>
            </a:pPr>
            <a:endParaRPr lang="en-US" altLang="zh-CN" spc="-25" dirty="0">
              <a:latin typeface="Cambria" panose="02040503050406030204"/>
              <a:cs typeface="Cambria" panose="02040503050406030204"/>
            </a:endParaRPr>
          </a:p>
          <a:p>
            <a:pPr marL="50800">
              <a:lnSpc>
                <a:spcPct val="100000"/>
              </a:lnSpc>
              <a:spcBef>
                <a:spcPts val="450"/>
              </a:spcBef>
            </a:pPr>
            <a:r>
              <a:rPr lang="zh-CN" altLang="en-US" dirty="0">
                <a:latin typeface="Cambria" panose="02040503050406030204"/>
                <a:cs typeface="Cambria" panose="02040503050406030204"/>
              </a:rPr>
              <a:t>𝑃</a:t>
            </a:r>
            <a:r>
              <a:rPr lang="en-US" altLang="zh-CN" spc="120" dirty="0">
                <a:latin typeface="Cambria" panose="02040503050406030204"/>
                <a:cs typeface="Cambria" panose="02040503050406030204"/>
              </a:rPr>
              <a:t> = </a:t>
            </a:r>
            <a:r>
              <a:rPr lang="en-US" altLang="zh-CN" dirty="0" err="1">
                <a:latin typeface="Palatino Linotype" panose="02040502050505030304"/>
                <a:cs typeface="Palatino Linotype" panose="02040502050505030304"/>
              </a:rPr>
              <a:t>Pr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[|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𝑇</a:t>
            </a:r>
            <a:r>
              <a:rPr lang="en-US" altLang="zh-CN" spc="-6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|</a:t>
            </a:r>
            <a:r>
              <a:rPr lang="en-US" altLang="zh-CN" spc="85" dirty="0">
                <a:latin typeface="Cambria" panose="02040503050406030204"/>
                <a:cs typeface="Cambria" panose="02040503050406030204"/>
              </a:rPr>
              <a:t> &gt; </a:t>
            </a:r>
            <a:r>
              <a:rPr lang="zh-CN" altLang="en-US" spc="-20" dirty="0">
                <a:latin typeface="Cambria" panose="02040503050406030204"/>
                <a:cs typeface="Cambria" panose="02040503050406030204"/>
              </a:rPr>
              <a:t>𝑇</a:t>
            </a:r>
            <a:r>
              <a:rPr lang="en-US" altLang="zh-CN" spc="-6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z="3200" baseline="28000" dirty="0">
                <a:latin typeface="Cambria" panose="02040503050406030204"/>
                <a:cs typeface="Cambria" panose="02040503050406030204"/>
              </a:rPr>
              <a:t>𝑜𝑏𝑠</a:t>
            </a:r>
            <a:r>
              <a:rPr lang="en-US" altLang="zh-CN" spc="60" dirty="0">
                <a:latin typeface="Cambria" panose="02040503050406030204"/>
                <a:cs typeface="Cambria" panose="02040503050406030204"/>
              </a:rPr>
              <a:t>] = </a:t>
            </a:r>
            <a:r>
              <a:rPr lang="en-US" altLang="zh-CN" spc="-25" dirty="0">
                <a:latin typeface="Cambria" panose="02040503050406030204"/>
                <a:cs typeface="Cambria" panose="02040503050406030204"/>
              </a:rPr>
              <a:t>18/20</a:t>
            </a:r>
            <a:r>
              <a:rPr lang="en-US" altLang="zh-CN" spc="85" dirty="0">
                <a:latin typeface="Cambria" panose="02040503050406030204"/>
                <a:cs typeface="Cambria" panose="02040503050406030204"/>
              </a:rPr>
              <a:t> = </a:t>
            </a:r>
            <a:r>
              <a:rPr lang="en-US" altLang="zh-CN" spc="-20" dirty="0">
                <a:latin typeface="Cambria" panose="02040503050406030204"/>
                <a:cs typeface="Cambria" panose="02040503050406030204"/>
              </a:rPr>
              <a:t>0.9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0800">
              <a:lnSpc>
                <a:spcPct val="100000"/>
              </a:lnSpc>
              <a:spcBef>
                <a:spcPts val="450"/>
              </a:spcBef>
            </a:pPr>
            <a:endParaRPr lang="zh-CN" altLang="en-US" dirty="0">
              <a:latin typeface="Cambria" panose="02040503050406030204"/>
              <a:cs typeface="Cambria" panose="02040503050406030204"/>
            </a:endParaRP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F3ED73-41B3-1038-9CCC-1E7499D3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7B78B4-C5C1-0789-9136-3AB12E72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9893AC-A778-C111-4C6A-8BD89875C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32" y="2688288"/>
            <a:ext cx="7402441" cy="280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41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FE411-F09B-15A6-4D82-3D0A5FCC1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br>
              <a:rPr lang="en-US" altLang="zh-CN" spc="-20" dirty="0">
                <a:latin typeface="Palatino Linotype" panose="02040502050505030304"/>
                <a:cs typeface="Palatino Linotype" panose="02040502050505030304"/>
              </a:rPr>
            </a:br>
            <a:r>
              <a:rPr lang="zh-CN" altLang="en-US" sz="2400" spc="-20" dirty="0">
                <a:latin typeface="Palatino Linotype" panose="02040502050505030304"/>
                <a:cs typeface="Palatino Linotype" panose="02040502050505030304"/>
              </a:rPr>
              <a:t>例子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D58A73-2BE7-D94C-0777-76F44E8C7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可以选择不同的常数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75" dirty="0">
                <a:latin typeface="Cambria" panose="02040503050406030204"/>
                <a:cs typeface="Cambria" panose="02040503050406030204"/>
              </a:rPr>
              <a:t>𝐶</a:t>
            </a:r>
            <a:r>
              <a:rPr lang="zh-CN" altLang="en-US" spc="7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从而可以在不同的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Sharp</a:t>
            </a:r>
            <a:r>
              <a:rPr lang="zh-CN" altLang="en-US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10" dirty="0">
                <a:latin typeface="Palatino Linotype" panose="02040502050505030304"/>
                <a:cs typeface="Palatino Linotype" panose="02040502050505030304"/>
              </a:rPr>
              <a:t>Null</a:t>
            </a:r>
            <a:r>
              <a:rPr lang="zh-CN" altLang="en-US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下计算相应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8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zh-CN" altLang="en-US" spc="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值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用完整数据，计算不同常数下对应</a:t>
            </a:r>
            <a:r>
              <a:rPr lang="zh-CN" altLang="en-US" spc="-1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8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zh-CN" altLang="en-US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值，如下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表</a:t>
            </a: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20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区间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[−1.44,</a:t>
            </a:r>
            <a:r>
              <a:rPr lang="zh-CN" altLang="en-US" spc="1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0.06]</a:t>
            </a:r>
            <a:r>
              <a:rPr lang="en-US" altLang="zh-CN" spc="-10" dirty="0">
                <a:latin typeface="Palatino Linotype" panose="02040502050505030304"/>
                <a:cs typeface="Palatino Linotype" panose="02040502050505030304"/>
              </a:rPr>
              <a:t>(90%)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4F9FCC-452F-54A1-BE3D-30F86166B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16D9BA-773C-CCD3-DF57-EB5A88A2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F551A19-CBE3-6D37-D437-9F8A19A6A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639" y="2381349"/>
            <a:ext cx="3635094" cy="323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11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48C7A-B212-C81E-1347-2BE81F8A4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br>
              <a:rPr lang="en-US" altLang="zh-CN" spc="-20" dirty="0">
                <a:latin typeface="Palatino Linotype" panose="02040502050505030304"/>
                <a:cs typeface="Palatino Linotype" panose="02040502050505030304"/>
              </a:rPr>
            </a:br>
            <a:r>
              <a:rPr lang="zh-CN" altLang="en-US" sz="2400" spc="-20" dirty="0">
                <a:latin typeface="Palatino Linotype" panose="02040502050505030304"/>
                <a:cs typeface="Palatino Linotype" panose="02040502050505030304"/>
              </a:rPr>
              <a:t>例子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5F2626-AF89-43CB-115D-7DB734479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213940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统计量精确不一定总是可行的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spc="50" dirty="0">
                <a:latin typeface="Cambria" panose="02040503050406030204"/>
                <a:cs typeface="Cambria" panose="02040503050406030204"/>
              </a:rPr>
              <a:t>𝑁</a:t>
            </a:r>
            <a:r>
              <a:rPr lang="zh-CN" altLang="en-US" spc="114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14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6</a:t>
            </a:r>
            <a:r>
              <a:rPr lang="en-US" altLang="zh-CN" spc="45" dirty="0">
                <a:latin typeface="Palatino Linotype" panose="02040502050505030304"/>
                <a:cs typeface="Palatino Linotype" panose="02040502050505030304"/>
              </a:rPr>
              <a:t>,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𝑁</a:t>
            </a:r>
            <a:r>
              <a:rPr lang="zh-CN" altLang="en-US" sz="2800" baseline="-19000" dirty="0">
                <a:latin typeface="Cambria" panose="02040503050406030204"/>
                <a:cs typeface="Cambria" panose="02040503050406030204"/>
              </a:rPr>
              <a:t>𝑡</a:t>
            </a:r>
            <a:r>
              <a:rPr lang="zh-CN" altLang="en-US" sz="2800" spc="217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10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3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20</a:t>
            </a:r>
            <a:r>
              <a:rPr lang="zh-CN" altLang="en-US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个分配向量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spc="50" dirty="0">
                <a:latin typeface="Cambria" panose="02040503050406030204"/>
                <a:cs typeface="Cambria" panose="02040503050406030204"/>
              </a:rPr>
              <a:t>𝑁</a:t>
            </a:r>
            <a:r>
              <a:rPr lang="zh-CN" altLang="en-US" spc="12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25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-20" dirty="0">
                <a:latin typeface="Cambria" panose="02040503050406030204"/>
                <a:cs typeface="Cambria" panose="02040503050406030204"/>
              </a:rPr>
              <a:t>10,</a:t>
            </a:r>
            <a:r>
              <a:rPr lang="zh-CN" altLang="en-US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𝑁</a:t>
            </a:r>
            <a:r>
              <a:rPr lang="zh-CN" altLang="en-US" sz="2800" baseline="-19000" dirty="0">
                <a:latin typeface="Cambria" panose="02040503050406030204"/>
                <a:cs typeface="Cambria" panose="02040503050406030204"/>
              </a:rPr>
              <a:t>𝑡</a:t>
            </a:r>
            <a:r>
              <a:rPr lang="zh-CN" altLang="en-US" sz="2800" spc="232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14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5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252</a:t>
            </a:r>
            <a:r>
              <a:rPr lang="zh-CN" altLang="en-US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个向量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spc="50" dirty="0">
                <a:latin typeface="Cambria" panose="02040503050406030204"/>
                <a:cs typeface="Cambria" panose="02040503050406030204"/>
              </a:rPr>
              <a:t>𝑁</a:t>
            </a:r>
            <a:r>
              <a:rPr lang="zh-CN" altLang="en-US" spc="114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14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-30" dirty="0">
                <a:latin typeface="Cambria" panose="02040503050406030204"/>
                <a:cs typeface="Cambria" panose="02040503050406030204"/>
              </a:rPr>
              <a:t>100,</a:t>
            </a:r>
            <a:r>
              <a:rPr lang="zh-CN" altLang="en-US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𝑁</a:t>
            </a:r>
            <a:r>
              <a:rPr lang="zh-CN" altLang="en-US" sz="2800" baseline="-19000" dirty="0">
                <a:latin typeface="Cambria" panose="02040503050406030204"/>
                <a:cs typeface="Cambria" panose="02040503050406030204"/>
              </a:rPr>
              <a:t>𝑡</a:t>
            </a:r>
            <a:r>
              <a:rPr lang="zh-CN" altLang="en-US" sz="2800" spc="225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10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-35" dirty="0">
                <a:latin typeface="Cambria" panose="02040503050406030204"/>
                <a:cs typeface="Cambria" panose="02040503050406030204"/>
              </a:rPr>
              <a:t>50</a:t>
            </a:r>
            <a:r>
              <a:rPr lang="zh-CN" altLang="en-US" spc="-35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pc="-35" dirty="0">
                <a:latin typeface="Cambria" panose="02040503050406030204"/>
                <a:cs typeface="Cambria" panose="02040503050406030204"/>
              </a:rPr>
              <a:t>1.0089</a:t>
            </a:r>
            <a:r>
              <a:rPr lang="zh-CN" altLang="en-US" spc="6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60" dirty="0">
                <a:latin typeface="Cambria" panose="02040503050406030204"/>
                <a:cs typeface="Cambria" panose="02040503050406030204"/>
              </a:rPr>
              <a:t>×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10</a:t>
            </a:r>
            <a:r>
              <a:rPr lang="en-US" altLang="zh-CN" sz="2800" baseline="28000" dirty="0">
                <a:latin typeface="Cambria" panose="02040503050406030204"/>
                <a:cs typeface="Cambria" panose="02040503050406030204"/>
              </a:rPr>
              <a:t>29</a:t>
            </a:r>
            <a:r>
              <a:rPr lang="zh-CN" altLang="en-US" sz="2800" spc="315" baseline="280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个向量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dirty="0"/>
              <a:t>模拟法</a:t>
            </a:r>
            <a:endParaRPr lang="en-US" altLang="zh-CN" dirty="0"/>
          </a:p>
          <a:p>
            <a:pPr lvl="1"/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从分配向量空间中随机抽取</a:t>
            </a:r>
            <a:r>
              <a:rPr lang="zh-CN" altLang="en-US" spc="-12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114" dirty="0">
                <a:latin typeface="Cambria" panose="02040503050406030204"/>
                <a:cs typeface="Cambria" panose="02040503050406030204"/>
              </a:rPr>
              <a:t>𝐾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个向</a:t>
            </a:r>
            <a:endParaRPr lang="en-US" altLang="zh-CN" spc="-1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个向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量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计算</a:t>
            </a:r>
            <a:r>
              <a:rPr lang="zh-CN" altLang="en-US" spc="-114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114" dirty="0">
                <a:latin typeface="Cambria" panose="02040503050406030204"/>
                <a:cs typeface="Cambria" panose="02040503050406030204"/>
              </a:rPr>
              <a:t>𝐾</a:t>
            </a:r>
            <a:r>
              <a:rPr lang="zh-CN" altLang="en-US" spc="17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个向量的统计量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值</a:t>
            </a: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计算</a:t>
            </a:r>
            <a:r>
              <a:rPr lang="zh-CN" altLang="en-US" spc="-1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9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zh-CN" altLang="en-US" spc="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值，不再是精确值，但你可以控制偏差大小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437E13-293E-FEAD-7710-C1541FB24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41F735-0D58-24B2-7BE0-D825E60A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22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D7B641B-ECC6-E5B0-1E6F-45D74F193BD4}"/>
                  </a:ext>
                </a:extLst>
              </p:cNvPr>
              <p:cNvSpPr txBox="1"/>
              <p:nvPr/>
            </p:nvSpPr>
            <p:spPr>
              <a:xfrm>
                <a:off x="1036599" y="4516930"/>
                <a:ext cx="2282933" cy="7356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7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zh-CN" sz="17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7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𝟏</m:t>
                          </m:r>
                          <m:d>
                            <m:dPr>
                              <m:ctrlPr>
                                <a:rPr lang="en-US" altLang="zh-CN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altLang="zh-CN" sz="170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p>
                                <m:sSupPr>
                                  <m:ctrlPr>
                                    <a:rPr lang="en-US" altLang="zh-CN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</a:rPr>
                                    <m:t>𝑜𝑏𝑠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7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D7B641B-ECC6-E5B0-1E6F-45D74F193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599" y="4516930"/>
                <a:ext cx="2282933" cy="7356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9AA10B1F-9D19-E75D-BFBB-42F849BF1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640" y="3896029"/>
            <a:ext cx="3574010" cy="249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85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59CD6-EE08-96A0-3F96-F3584729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8A6A08-EA47-CEAE-6B7E-B82A1DF6C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851399"/>
            <a:ext cx="7886700" cy="164147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作者利用美国加州</a:t>
            </a:r>
            <a:r>
              <a:rPr lang="zh-CN" altLang="en-US" spc="-16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5" dirty="0">
                <a:latin typeface="Palatino Linotype" panose="02040502050505030304"/>
                <a:cs typeface="Palatino Linotype" panose="02040502050505030304"/>
              </a:rPr>
              <a:t>2003</a:t>
            </a:r>
            <a:r>
              <a:rPr lang="zh-CN" altLang="en-US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年州长选举中</a:t>
            </a:r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135</a:t>
            </a:r>
            <a:r>
              <a:rPr lang="zh-CN" altLang="en-US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个候选人姓名以随机方式出现在各选区的选票上，作者主要使用了选票造成一页的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5" dirty="0">
                <a:latin typeface="Palatino Linotype" panose="02040502050505030304"/>
                <a:cs typeface="Palatino Linotype" panose="02040502050505030304"/>
              </a:rPr>
              <a:t>121</a:t>
            </a:r>
            <a:r>
              <a:rPr lang="zh-CN" altLang="en-US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个选区，利用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zh-CN" altLang="en-US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30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zh-CN" altLang="en-US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80" dirty="0">
                <a:latin typeface="Palatino Linotype" panose="02040502050505030304"/>
                <a:cs typeface="Palatino Linotype" panose="02040502050505030304"/>
              </a:rPr>
              <a:t>P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方法，考察了候选人姓名出现在第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5" dirty="0">
                <a:latin typeface="Palatino Linotype" panose="02040502050505030304"/>
                <a:cs typeface="Palatino Linotype" panose="02040502050505030304"/>
              </a:rPr>
              <a:t>1</a:t>
            </a:r>
            <a:r>
              <a:rPr lang="zh-CN" altLang="en-US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页上是否影响其选票份额。作者发现超过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10" dirty="0">
                <a:latin typeface="Palatino Linotype" panose="02040502050505030304"/>
                <a:cs typeface="Palatino Linotype" panose="02040502050505030304"/>
              </a:rPr>
              <a:t>40%</a:t>
            </a:r>
            <a:r>
              <a:rPr lang="zh-CN" altLang="en-US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-15" dirty="0">
                <a:latin typeface="Palatino Linotype" panose="02040502050505030304"/>
                <a:cs typeface="Palatino Linotype" panose="02040502050505030304"/>
              </a:rPr>
              <a:t>minor</a:t>
            </a:r>
            <a:r>
              <a:rPr lang="zh-CN" altLang="en-US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10" dirty="0">
                <a:latin typeface="Palatino Linotype" panose="02040502050505030304"/>
                <a:cs typeface="Palatino Linotype" panose="02040502050505030304"/>
              </a:rPr>
              <a:t>candidates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，名字出现在首页显著提高了其选票份额，而对于最高的两名主要候选人而言，是否出现在选票第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5" dirty="0">
                <a:latin typeface="Palatino Linotype" panose="02040502050505030304"/>
                <a:cs typeface="Palatino Linotype" panose="02040502050505030304"/>
              </a:rPr>
              <a:t>1</a:t>
            </a:r>
            <a:r>
              <a:rPr lang="zh-CN" altLang="en-US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页并不会产生显著影响。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Stata</a:t>
            </a:r>
            <a:r>
              <a:rPr lang="en-US" altLang="zh-CN" spc="1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命令：</a:t>
            </a:r>
            <a:r>
              <a:rPr lang="en-US" altLang="zh-CN" i="1" kern="0" noProof="1">
                <a:latin typeface="Palatino Linotype" panose="02040502050505030304"/>
                <a:ea typeface="Arial" panose="020B0604020202020204" pitchFamily="34" charset="0"/>
                <a:cs typeface="Palatino Linotype" panose="02040502050505030304"/>
              </a:rPr>
              <a:t>permute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，用户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lang="zh-CN" altLang="en-US" i="1" spc="15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i="1" kern="0" noProof="1">
                <a:latin typeface="Palatino Linotype" panose="02040502050505030304"/>
                <a:ea typeface="Arial" panose="020B0604020202020204" pitchFamily="34" charset="0"/>
                <a:cs typeface="Palatino Linotype" panose="02040502050505030304"/>
              </a:rPr>
              <a:t>ritest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dirty="0" err="1">
                <a:latin typeface="Palatino Linotype" panose="02040502050505030304"/>
                <a:cs typeface="Palatino Linotype" panose="02040502050505030304"/>
              </a:rPr>
              <a:t>ri</a:t>
            </a:r>
            <a:r>
              <a:rPr lang="en-US" altLang="zh-CN" spc="1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包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9EF46D-DED0-B5AF-AA2B-3FACBEF87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05C774-F104-D8CB-B828-0F81AC046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B541D122-E4FB-5B71-C0FB-AB6CC6081B5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94" y="136524"/>
            <a:ext cx="8818010" cy="462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05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11CEC-1D80-684B-CE2E-AD03E0DE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pc="-35" dirty="0">
                <a:latin typeface="Palatino Linotype" panose="02040502050505030304"/>
                <a:cs typeface="Palatino Linotype" panose="02040502050505030304"/>
              </a:rPr>
              <a:t>Neyman</a:t>
            </a:r>
            <a:r>
              <a:rPr lang="en-US" altLang="zh-CN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20" dirty="0"/>
              <a:t>重复抽样方</a:t>
            </a:r>
            <a:r>
              <a:rPr lang="zh-CN" altLang="en-US" spc="-50" dirty="0"/>
              <a:t>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37A2A53-2927-3D25-65E2-1E95BD174A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>
                    <a:latin typeface="Palatino Linotype" panose="02040502050505030304"/>
                    <a:cs typeface="Palatino Linotype" panose="02040502050505030304"/>
                  </a:rPr>
                  <a:t>Neyman(1923,</a:t>
                </a:r>
                <a:r>
                  <a:rPr lang="zh-CN" altLang="en-US" sz="1200" spc="12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200" dirty="0">
                    <a:latin typeface="Palatino Linotype" panose="02040502050505030304"/>
                    <a:cs typeface="Palatino Linotype" panose="02040502050505030304"/>
                  </a:rPr>
                  <a:t>1990)</a:t>
                </a:r>
                <a:r>
                  <a:rPr lang="zh-CN" altLang="en-US" sz="1200" spc="7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关注平均因果效应</a:t>
                </a:r>
                <a:r>
                  <a:rPr lang="zh-CN" altLang="en-US" sz="1200" spc="-1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200" dirty="0">
                    <a:latin typeface="Palatino Linotype" panose="02040502050505030304"/>
                    <a:cs typeface="Palatino Linotype" panose="02040502050505030304"/>
                  </a:rPr>
                  <a:t>(ATE)</a:t>
                </a:r>
                <a:r>
                  <a:rPr lang="zh-CN" altLang="en-US" sz="1200" spc="6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的估计</a:t>
                </a:r>
                <a:r>
                  <a:rPr lang="zh-CN" altLang="en-US" sz="1200" spc="-6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，与 </a:t>
                </a:r>
                <a:r>
                  <a:rPr lang="en-US" altLang="zh-CN" sz="1200" dirty="0">
                    <a:latin typeface="Palatino Linotype" panose="02040502050505030304"/>
                    <a:cs typeface="Palatino Linotype" panose="02040502050505030304"/>
                  </a:rPr>
                  <a:t>Fisher</a:t>
                </a:r>
                <a:r>
                  <a:rPr lang="zh-CN" altLang="en-US" sz="1200" spc="7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一样</a:t>
                </a:r>
                <a:r>
                  <a:rPr lang="zh-CN" altLang="en-US" sz="1200" spc="-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他也把</a:t>
                </a:r>
                <a:r>
                  <a:rPr lang="zh-CN" altLang="en-US" sz="12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潜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在结果看作固定值，</a:t>
                </a:r>
                <a:r>
                  <a:rPr lang="zh-CN" altLang="en-US" sz="1200" spc="-10" dirty="0">
                    <a:latin typeface="黑体" panose="02010609060101010101" charset="-122"/>
                    <a:cs typeface="黑体" panose="02010609060101010101" charset="-122"/>
                  </a:rPr>
                  <a:t>观测变量的随机性来自于干预分配的随机</a:t>
                </a:r>
                <a:r>
                  <a:rPr lang="zh-CN" altLang="en-US" sz="1200" spc="-20" dirty="0">
                    <a:latin typeface="黑体" panose="02010609060101010101" charset="-122"/>
                    <a:cs typeface="黑体" panose="02010609060101010101" charset="-122"/>
                  </a:rPr>
                  <a:t>性</a:t>
                </a:r>
                <a:r>
                  <a:rPr lang="zh-CN" altLang="en-US" sz="12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12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将实验的</a:t>
                </a:r>
                <a:r>
                  <a:rPr lang="zh-CN" altLang="en-US" sz="1200" spc="-12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zh-CN" altLang="en-US" sz="1200" spc="13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个个体看作一个有限总体</a:t>
                </a:r>
                <a:r>
                  <a:rPr lang="zh-CN" altLang="en-US" sz="12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干预分配随机化</a:t>
                </a:r>
                <a:r>
                  <a:rPr lang="zh-CN" altLang="en-US" sz="12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关注的总体因果效应参数</a:t>
                </a:r>
                <a:r>
                  <a:rPr lang="zh-CN" altLang="en-US" sz="12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en-US" altLang="zh-CN" sz="12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2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2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2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其中</a:t>
                </a:r>
                <a:endParaRPr lang="en-US" altLang="zh-CN" sz="12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2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2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2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估计量</a:t>
                </a:r>
                <a:endParaRPr lang="en-US" altLang="zh-CN" sz="12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𝜏</m:t>
                          </m:r>
                        </m:e>
                      </m:acc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barPr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𝑌</m:t>
                              </m:r>
                            </m:e>
                          </m:bar>
                        </m:e>
                        <m:sub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barPr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𝑌</m:t>
                              </m:r>
                            </m:e>
                          </m:bar>
                        </m:e>
                        <m:sub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𝑐</m:t>
                          </m:r>
                        </m:sub>
                      </m:sSub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                               (4)</m:t>
                      </m:r>
                    </m:oMath>
                  </m:oMathPara>
                </a14:m>
                <a:endParaRPr lang="en-US" altLang="zh-CN" sz="12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其中</a:t>
                </a:r>
                <a:endParaRPr lang="en-US" altLang="zh-CN" sz="12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2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即分别是干预组和控制组观测结果的平均值</a:t>
                </a:r>
                <a:r>
                  <a:rPr lang="zh-CN" altLang="en-US" sz="12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12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2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定理</a:t>
                </a:r>
                <a:r>
                  <a:rPr lang="en-US" altLang="zh-CN" sz="12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en-US" sz="1200" spc="-10" dirty="0">
                    <a:latin typeface="楷体" panose="02010609060101010101" charset="-122"/>
                    <a:cs typeface="楷体" panose="02010609060101010101" charset="-122"/>
                  </a:rPr>
                  <a:t>估计量</a:t>
                </a:r>
                <a:r>
                  <a:rPr lang="zh-CN" altLang="en-US" sz="1200" spc="-120" dirty="0">
                    <a:latin typeface="楷体" panose="02010609060101010101" charset="-122"/>
                    <a:cs typeface="楷体" panose="02010609060101010101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ar-AE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2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ar-AE" altLang="zh-CN" sz="1200" spc="-70" dirty="0">
                    <a:latin typeface="楷体" panose="02010609060101010101" charset="-122"/>
                    <a:cs typeface="楷体" panose="02010609060101010101" charset="-122"/>
                  </a:rPr>
                  <a:t> </a:t>
                </a:r>
                <a:r>
                  <a:rPr lang="zh-CN" altLang="en-US" sz="1200" spc="-70" dirty="0">
                    <a:latin typeface="楷体" panose="02010609060101010101" charset="-122"/>
                    <a:cs typeface="楷体" panose="02010609060101010101" charset="-122"/>
                  </a:rPr>
                  <a:t>是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zh-CN" altLang="en-US" sz="1200" spc="204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spc="-10" dirty="0">
                    <a:latin typeface="楷体" panose="02010609060101010101" charset="-122"/>
                    <a:cs typeface="楷体" panose="02010609060101010101" charset="-122"/>
                  </a:rPr>
                  <a:t>的无偏估计量，即</a:t>
                </a:r>
                <a:r>
                  <a:rPr lang="zh-CN" altLang="en-US" sz="1200" spc="-125" dirty="0">
                    <a:latin typeface="楷体" panose="02010609060101010101" charset="-122"/>
                    <a:cs typeface="楷体" panose="02010609060101010101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200" i="1" spc="55" dirty="0" smtClean="0">
                        <a:latin typeface="Cambria Math" panose="02040503050406030204" pitchFamily="18" charset="0"/>
                        <a:cs typeface="Cambria" panose="02040503050406030204"/>
                      </a:rPr>
                      <m:t>𝐸</m:t>
                    </m:r>
                    <m:r>
                      <a:rPr lang="zh-CN" altLang="en-US" sz="1200" i="1" spc="82" baseline="-19000" dirty="0">
                        <a:latin typeface="Cambria Math" panose="02040503050406030204" pitchFamily="18" charset="0"/>
                        <a:cs typeface="Cambria" panose="02040503050406030204"/>
                      </a:rPr>
                      <m:t>𝐷</m:t>
                    </m:r>
                    <m:r>
                      <a:rPr lang="en-US" altLang="zh-CN" sz="1200" i="1" spc="55" dirty="0">
                        <a:latin typeface="Cambria Math" panose="02040503050406030204" pitchFamily="18" charset="0"/>
                        <a:cs typeface="Cambria" panose="02040503050406030204"/>
                      </a:rPr>
                      <m:t>[</m:t>
                    </m:r>
                    <m:acc>
                      <m:accPr>
                        <m:chr m:val="̂"/>
                        <m:ctrlPr>
                          <a:rPr lang="zh-CN" altLang="ar-AE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2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ar-AE" altLang="zh-CN" sz="1200" i="1" spc="65" dirty="0" smtClean="0">
                        <a:latin typeface="Cambria Math" panose="02040503050406030204" pitchFamily="18" charset="0"/>
                        <a:cs typeface="Cambria" panose="02040503050406030204"/>
                      </a:rPr>
                      <m:t>] =</m:t>
                    </m:r>
                    <m:r>
                      <a:rPr lang="en-US" altLang="zh-CN" sz="1200" b="0" i="1" spc="65" dirty="0" smtClean="0">
                        <a:latin typeface="Cambria Math" panose="02040503050406030204" pitchFamily="18" charset="0"/>
                        <a:cs typeface="Cambria" panose="02040503050406030204"/>
                      </a:rPr>
                      <m:t>𝜏</m:t>
                    </m:r>
                  </m:oMath>
                </a14:m>
                <a:r>
                  <a:rPr lang="zh-CN" altLang="en-US" sz="12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。</a:t>
                </a:r>
                <a:endParaRPr lang="zh-CN" altLang="en-US" sz="12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37A2A53-2927-3D25-65E2-1E95BD174A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6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89D54C-700F-C217-4951-67520F2C1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2D1A2A-7636-5435-1D6A-40B4782D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24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D5E5C74-B75E-1D71-012E-ABD2C2CA6B63}"/>
                  </a:ext>
                </a:extLst>
              </p:cNvPr>
              <p:cNvSpPr txBox="1"/>
              <p:nvPr/>
            </p:nvSpPr>
            <p:spPr>
              <a:xfrm>
                <a:off x="2072021" y="2817862"/>
                <a:ext cx="3278013" cy="504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−</m:t>
                      </m:r>
                      <m:bar>
                        <m:barPr>
                          <m:pos m:val="top"/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     (3)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D5E5C74-B75E-1D71-012E-ABD2C2CA6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21" y="2817862"/>
                <a:ext cx="3278013" cy="504112"/>
              </a:xfrm>
              <a:prstGeom prst="rect">
                <a:avLst/>
              </a:prstGeom>
              <a:blipFill>
                <a:blip r:embed="rId3"/>
                <a:stretch>
                  <a:fillRect l="-5204" t="-121687" r="-1115" b="-184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0AEF12C-84EE-1027-9105-C44BD4814D13}"/>
                  </a:ext>
                </a:extLst>
              </p:cNvPr>
              <p:cNvSpPr txBox="1"/>
              <p:nvPr/>
            </p:nvSpPr>
            <p:spPr>
              <a:xfrm>
                <a:off x="2072021" y="3641498"/>
                <a:ext cx="2554033" cy="504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nary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bar>
                        <m:barPr>
                          <m:pos m:val="top"/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nary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0AEF12C-84EE-1027-9105-C44BD4814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21" y="3641498"/>
                <a:ext cx="2554033" cy="504112"/>
              </a:xfrm>
              <a:prstGeom prst="rect">
                <a:avLst/>
              </a:prstGeom>
              <a:blipFill>
                <a:blip r:embed="rId4"/>
                <a:stretch>
                  <a:fillRect l="-955" t="-121687" r="-27208" b="-184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853E45C-099B-3413-B91E-5831274F0289}"/>
                  </a:ext>
                </a:extLst>
              </p:cNvPr>
              <p:cNvSpPr txBox="1"/>
              <p:nvPr/>
            </p:nvSpPr>
            <p:spPr>
              <a:xfrm>
                <a:off x="2072021" y="5037068"/>
                <a:ext cx="4359655" cy="543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853E45C-099B-3413-B91E-5831274F0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21" y="5037068"/>
                <a:ext cx="4359655" cy="5434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634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95280-4E40-CCAD-2C0F-7CE2F320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pc="-35" dirty="0">
                <a:latin typeface="Palatino Linotype" panose="02040502050505030304"/>
                <a:cs typeface="Palatino Linotype" panose="02040502050505030304"/>
              </a:rPr>
              <a:t>Neyman</a:t>
            </a:r>
            <a:r>
              <a:rPr lang="en-US" altLang="zh-CN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20" dirty="0"/>
              <a:t>重复抽样方</a:t>
            </a:r>
            <a:r>
              <a:rPr lang="zh-CN" altLang="en-US" spc="-50" dirty="0"/>
              <a:t>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64E7229-5A5F-FDAF-42A9-CF68CFF2B7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</p:spPr>
            <p:txBody>
              <a:bodyPr>
                <a:normAutofit fontScale="4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抽样方差：需要导出</a:t>
                </a:r>
                <a:r>
                  <a:rPr lang="zh-CN" altLang="en-US" spc="-13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pc="-3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zh-CN" altLang="en-US" spc="-114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̂</a:t>
                </a:r>
                <a:r>
                  <a:rPr lang="zh-CN" altLang="en-US" spc="1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的抽样方差，并找出方差的估计量。先考虑只有</a:t>
                </a:r>
                <a:r>
                  <a:rPr lang="zh-CN" altLang="en-US" spc="-13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2</a:t>
                </a:r>
                <a:r>
                  <a:rPr lang="zh-CN" altLang="en-US" spc="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个个体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随机化实验，随机分配</a:t>
                </a:r>
                <a:r>
                  <a:rPr lang="zh-CN" altLang="en-US" spc="-13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1</a:t>
                </a:r>
                <a:r>
                  <a:rPr lang="zh-CN" altLang="en-US" spc="9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个个体到干预组，另</a:t>
                </a:r>
                <a:r>
                  <a:rPr lang="zh-CN" altLang="en-US" spc="-13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1</a:t>
                </a:r>
                <a:r>
                  <a:rPr lang="zh-CN" altLang="en-US" spc="9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个到控制组。总体平均因果效应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为</a:t>
                </a:r>
                <a:endParaRPr lang="en-US" altLang="zh-CN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估计量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为</a:t>
                </a:r>
                <a:endParaRPr lang="en-US" altLang="zh-CN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pc="-5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b="0" i="1" spc="-5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𝜏</m:t>
                          </m:r>
                        </m:e>
                      </m:acc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𝐷</m:t>
                          </m:r>
                        </m:e>
                        <m:sub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+(1−</m:t>
                      </m:r>
                      <m:sSub>
                        <m:sSub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𝐷</m:t>
                          </m:r>
                        </m:e>
                        <m:sub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)(</m:t>
                      </m:r>
                      <m:sSub>
                        <m:sSub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6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令 </a:t>
                </a:r>
                <a:r>
                  <a:rPr lang="zh-CN" altLang="en-US" spc="114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pc="1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10" dirty="0">
                    <a:latin typeface="Cambria" panose="02040503050406030204"/>
                    <a:cs typeface="Cambria" panose="02040503050406030204"/>
                  </a:rPr>
                  <a:t>= 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2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en-US" altLang="zh-CN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zh-CN" altLang="en-US" spc="202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100" dirty="0">
                    <a:latin typeface="Cambria" panose="02040503050406030204"/>
                    <a:cs typeface="Cambria" panose="02040503050406030204"/>
                  </a:rPr>
                  <a:t>− </a:t>
                </a:r>
                <a:r>
                  <a:rPr lang="en-US" altLang="zh-CN" spc="-4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zh-CN" altLang="en-US" spc="-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则</a:t>
                </a:r>
                <a:endParaRPr lang="en-US" altLang="zh-CN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𝜏</m:t>
                          </m:r>
                        </m:e>
                      </m:acc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𝜏</m:t>
                      </m:r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𝐷</m:t>
                          </m:r>
                        </m:num>
                        <m:den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2</m:t>
                          </m:r>
                        </m:den>
                      </m:f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[</m:t>
                      </m:r>
                      <m:d>
                        <m:dPr>
                          <m:ctrlPr>
                            <a:rPr lang="en-US" altLang="zh-CN" b="0" i="0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b="0" i="0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altLang="zh-CN" b="0" i="0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−</m:t>
                      </m:r>
                      <m:d>
                        <m:dPr>
                          <m:ctrlPr>
                            <a:rPr lang="en-US" altLang="zh-CN" b="0" i="0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b="0" i="0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0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altLang="zh-CN" b="0" i="0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]</m:t>
                      </m:r>
                    </m:oMath>
                  </m:oMathPara>
                </a14:m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从而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endParaRPr lang="en-US" altLang="zh-CN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𝜏</m:t>
                            </m:r>
                          </m:e>
                        </m:acc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Cambria" panose="02040503050406030204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4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cs typeface="Cambria" panose="02040503050406030204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𝐷</m:t>
                        </m:r>
                      </m:e>
                    </m:d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Cambria" panose="02040503050406030204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Cambria" panose="02040503050406030204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Cambria" panose="02040503050406030204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Cambria" panose="02040503050406030204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Cambria" panose="02040503050406030204"/>
                  <a:cs typeface="Cambria" panose="02040503050406030204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      𝒱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en-US" altLang="zh-CN" spc="65" dirty="0">
                    <a:latin typeface="Cambria" panose="02040503050406030204"/>
                    <a:cs typeface="Cambria" panose="02040503050406030204"/>
                  </a:rPr>
                  <a:t>) = </a:t>
                </a:r>
                <a:r>
                  <a:rPr lang="en-US" altLang="zh-CN" spc="-55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zh-CN" altLang="en-US" spc="-5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可以看出</a:t>
                </a:r>
                <a:r>
                  <a:rPr lang="zh-CN" altLang="en-US" spc="-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估计量</a:t>
                </a:r>
                <a:r>
                  <a:rPr lang="zh-CN" altLang="en-US" spc="-114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pc="-3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zh-CN" altLang="en-US" spc="-1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̂</a:t>
                </a:r>
                <a:r>
                  <a:rPr lang="zh-CN" altLang="en-US" spc="1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的方差是无法估计出来的</a:t>
                </a:r>
                <a:r>
                  <a:rPr lang="zh-CN" altLang="en-US" spc="-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因为它依赖于</a:t>
                </a:r>
                <a:r>
                  <a:rPr lang="zh-CN" altLang="en-US" spc="-114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4</a:t>
                </a:r>
                <a:r>
                  <a:rPr lang="zh-CN" altLang="en-US" spc="7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个潜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结果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比如考虑两个个体潜在结果分别是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(10,10),(-10,-10)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个体因果效应均为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0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但方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差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为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400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。若潜在结果分别为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(-10,10),(10,-10)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个体因果效应分别是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20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-20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则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方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差为</a:t>
                </a:r>
                <a:r>
                  <a:rPr lang="zh-CN" altLang="en-US" spc="-10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0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。两个个体的潜在结果完全正相关时，由于分配的随机性，反而使估计量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方差很大，当个体潜在结果负相关时，估计量方差较小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64E7229-5A5F-FDAF-42A9-CF68CFF2B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  <a:blipFill>
                <a:blip r:embed="rId2"/>
                <a:stretch>
                  <a:fillRect l="-77" t="-261" r="-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98A6DA-47F7-AAA5-726B-AFF6DFECC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FD3F7B-7DF7-F66A-7183-BC418CD3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751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A3968-0CEF-5752-BE49-4446D272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pc="-35" dirty="0">
                <a:latin typeface="Palatino Linotype" panose="02040502050505030304"/>
                <a:cs typeface="Palatino Linotype" panose="02040502050505030304"/>
              </a:rPr>
              <a:t>Neyman</a:t>
            </a:r>
            <a:r>
              <a:rPr lang="en-US" altLang="zh-CN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20" dirty="0"/>
              <a:t>重复抽样方</a:t>
            </a:r>
            <a:r>
              <a:rPr lang="zh-CN" altLang="en-US" spc="-50" dirty="0"/>
              <a:t>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D3D6B4-7254-92E3-8F21-646D43DB67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800" dirty="0"/>
                  <a:t>一般情况下的抽样方差</a:t>
                </a:r>
                <a:endParaRPr lang="en-US" altLang="zh-CN" sz="1800" dirty="0"/>
              </a:p>
              <a:p>
                <a:pPr>
                  <a:lnSpc>
                    <a:spcPct val="120000"/>
                  </a:lnSpc>
                </a:pPr>
                <a:endParaRPr lang="en-US" altLang="zh-CN" sz="180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800" dirty="0"/>
                  <a:t>定理</a:t>
                </a:r>
                <a:r>
                  <a:rPr lang="en-US" altLang="zh-CN" sz="1800" dirty="0"/>
                  <a:t>2 </a:t>
                </a:r>
                <a:r>
                  <a:rPr lang="zh-CN" altLang="en-US" sz="1800" spc="-10" dirty="0">
                    <a:latin typeface="楷体" panose="02010609060101010101" charset="-122"/>
                    <a:cs typeface="楷体" panose="02010609060101010101" charset="-122"/>
                  </a:rPr>
                  <a:t>估计量</a:t>
                </a:r>
                <a:r>
                  <a:rPr lang="zh-CN" altLang="en-US" sz="1800" spc="-114" dirty="0">
                    <a:latin typeface="楷体" panose="02010609060101010101" charset="-122"/>
                    <a:cs typeface="楷体" panose="02010609060101010101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ar-AE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  <m:r>
                      <a:rPr lang="ar-AE" altLang="zh-CN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ar-AE" sz="1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ar-AE" sz="1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bar>
                      </m:e>
                      <m:sub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zh-CN" sz="1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ar-AE" sz="1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ar-AE" sz="1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bar>
                      </m:e>
                      <m:sub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altLang="zh-CN" sz="1800" spc="-114" dirty="0">
                    <a:latin typeface="楷体" panose="02010609060101010101" charset="-122"/>
                    <a:cs typeface="楷体" panose="02010609060101010101" charset="-122"/>
                  </a:rPr>
                  <a:t> </a:t>
                </a:r>
                <a:r>
                  <a:rPr lang="zh-CN" altLang="en-US" sz="1800" spc="-10" dirty="0">
                    <a:latin typeface="楷体" panose="02010609060101010101" charset="-122"/>
                    <a:cs typeface="楷体" panose="02010609060101010101" charset="-122"/>
                  </a:rPr>
                  <a:t>的抽样方差</a:t>
                </a:r>
                <a:r>
                  <a:rPr lang="zh-CN" altLang="en-US" sz="1800" spc="-50" dirty="0">
                    <a:latin typeface="楷体" panose="02010609060101010101" charset="-122"/>
                    <a:cs typeface="楷体" panose="02010609060101010101" charset="-122"/>
                  </a:rPr>
                  <a:t>：</a:t>
                </a:r>
                <a:endParaRPr lang="en-US" altLang="zh-CN" sz="1800" spc="-50" dirty="0">
                  <a:latin typeface="楷体" panose="02010609060101010101" charset="-122"/>
                  <a:cs typeface="楷体" panose="02010609060101010101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800" spc="-50" dirty="0">
                  <a:latin typeface="楷体" panose="02010609060101010101" charset="-122"/>
                  <a:cs typeface="楷体" panose="02010609060101010101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800" spc="-50" dirty="0">
                  <a:latin typeface="楷体" panose="02010609060101010101" charset="-122"/>
                  <a:cs typeface="楷体" panose="02010609060101010101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800" spc="-50" dirty="0">
                    <a:latin typeface="楷体" panose="02010609060101010101" charset="-122"/>
                    <a:cs typeface="楷体" panose="02010609060101010101" charset="-122"/>
                  </a:rPr>
                  <a:t>其中</a:t>
                </a:r>
                <a:endParaRPr lang="en-US" altLang="zh-CN" sz="1800" spc="-50" dirty="0">
                  <a:latin typeface="楷体" panose="02010609060101010101" charset="-122"/>
                  <a:cs typeface="楷体" panose="02010609060101010101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800" spc="-50" dirty="0">
                  <a:latin typeface="楷体" panose="02010609060101010101" charset="-122"/>
                  <a:cs typeface="楷体" panose="02010609060101010101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800" spc="-50" dirty="0">
                  <a:latin typeface="楷体" panose="02010609060101010101" charset="-122"/>
                  <a:cs typeface="楷体" panose="02010609060101010101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800" spc="-50" dirty="0">
                  <a:latin typeface="楷体" panose="02010609060101010101" charset="-122"/>
                  <a:cs typeface="楷体" panose="02010609060101010101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800" spc="-10" dirty="0">
                    <a:latin typeface="楷体" panose="02010609060101010101" charset="-122"/>
                    <a:cs typeface="楷体" panose="02010609060101010101" charset="-122"/>
                  </a:rPr>
                  <a:t>分别是</a:t>
                </a:r>
                <a:r>
                  <a:rPr lang="zh-CN" altLang="en-US" sz="1800" spc="-120" dirty="0">
                    <a:latin typeface="楷体" panose="02010609060101010101" charset="-122"/>
                    <a:cs typeface="楷体" panose="02010609060101010101" charset="-122"/>
                  </a:rPr>
                  <a:t>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sz="1800" spc="-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800" spc="-25" dirty="0">
                    <a:latin typeface="Cambria" panose="02040503050406030204"/>
                    <a:cs typeface="Cambria" panose="02040503050406030204"/>
                  </a:rPr>
                  <a:t>(0)</a:t>
                </a:r>
                <a:r>
                  <a:rPr lang="zh-CN" altLang="en-US" sz="1800" spc="-10" dirty="0">
                    <a:latin typeface="楷体" panose="02010609060101010101" charset="-122"/>
                    <a:cs typeface="楷体" panose="02010609060101010101" charset="-122"/>
                  </a:rPr>
                  <a:t>、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sz="1800" spc="-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800" dirty="0">
                    <a:latin typeface="Cambria" panose="02040503050406030204"/>
                    <a:cs typeface="Cambria" panose="02040503050406030204"/>
                  </a:rPr>
                  <a:t>(1)</a:t>
                </a:r>
                <a:r>
                  <a:rPr lang="zh-CN" altLang="en-US" sz="1800" spc="13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spc="-65" dirty="0">
                    <a:latin typeface="楷体" panose="02010609060101010101" charset="-122"/>
                    <a:cs typeface="楷体" panose="02010609060101010101" charset="-122"/>
                  </a:rPr>
                  <a:t>和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zh-CN" altLang="en-US" sz="1800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z="1800" spc="254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800" spc="120" dirty="0">
                    <a:latin typeface="Cambria" panose="02040503050406030204"/>
                    <a:cs typeface="Cambria" panose="02040503050406030204"/>
                  </a:rPr>
                  <a:t>=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sz="1800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z="1800" dirty="0">
                    <a:latin typeface="Cambria" panose="02040503050406030204"/>
                    <a:cs typeface="Cambria" panose="02040503050406030204"/>
                  </a:rPr>
                  <a:t>(1)</a:t>
                </a:r>
                <a:r>
                  <a:rPr lang="zh-CN" altLang="en-US" sz="1800" spc="65" dirty="0">
                    <a:latin typeface="Cambria" panose="02040503050406030204"/>
                    <a:cs typeface="Cambria" panose="02040503050406030204"/>
                  </a:rPr>
                  <a:t> −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sz="1800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z="1800" dirty="0">
                    <a:latin typeface="Cambria" panose="02040503050406030204"/>
                    <a:cs typeface="Cambria" panose="02040503050406030204"/>
                  </a:rPr>
                  <a:t>(0)</a:t>
                </a:r>
                <a:r>
                  <a:rPr lang="zh-CN" altLang="en-US" sz="1800" spc="13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spc="-10" dirty="0">
                    <a:latin typeface="楷体" panose="02010609060101010101" charset="-122"/>
                    <a:cs typeface="楷体" panose="02010609060101010101" charset="-122"/>
                  </a:rPr>
                  <a:t>的（有限）总体方差</a:t>
                </a:r>
                <a:r>
                  <a:rPr lang="zh-CN" altLang="en-US" sz="1800" spc="-50" dirty="0">
                    <a:latin typeface="楷体" panose="02010609060101010101" charset="-122"/>
                    <a:cs typeface="楷体" panose="02010609060101010101" charset="-122"/>
                  </a:rPr>
                  <a:t>。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证明参见</a:t>
                </a:r>
                <a:r>
                  <a:rPr lang="zh-CN" altLang="en-US" sz="1800" spc="-12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800" dirty="0" err="1">
                    <a:latin typeface="Palatino Linotype" panose="02040502050505030304"/>
                    <a:cs typeface="Palatino Linotype" panose="02040502050505030304"/>
                  </a:rPr>
                  <a:t>Imbens</a:t>
                </a:r>
                <a:r>
                  <a:rPr lang="en-US" altLang="zh-CN" sz="1800" spc="10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800" dirty="0">
                    <a:latin typeface="Palatino Linotype" panose="02040502050505030304"/>
                    <a:cs typeface="Palatino Linotype" panose="02040502050505030304"/>
                  </a:rPr>
                  <a:t>and</a:t>
                </a:r>
                <a:r>
                  <a:rPr lang="en-US" altLang="zh-CN" sz="1800" spc="10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800" dirty="0">
                    <a:latin typeface="Palatino Linotype" panose="02040502050505030304"/>
                    <a:cs typeface="Palatino Linotype" panose="02040502050505030304"/>
                  </a:rPr>
                  <a:t>Rubin(2015)</a:t>
                </a:r>
                <a:r>
                  <a:rPr lang="zh-CN" altLang="en-US" sz="18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D3D6B4-7254-92E3-8F21-646D43DB67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b="-14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6F0CBA-721E-4C35-B8AF-55D623F2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8ECB49-2D15-4E14-D810-F3B31F2E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26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395C7D1-1965-18D3-95AF-80B87BE6D753}"/>
                  </a:ext>
                </a:extLst>
              </p:cNvPr>
              <p:cNvSpPr txBox="1"/>
              <p:nvPr/>
            </p:nvSpPr>
            <p:spPr>
              <a:xfrm>
                <a:off x="1434369" y="2176529"/>
                <a:ext cx="5540106" cy="526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395C7D1-1965-18D3-95AF-80B87BE6D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369" y="2176529"/>
                <a:ext cx="5540106" cy="5262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2F5889-953F-BAE5-31D0-F4BD6E600FE0}"/>
                  </a:ext>
                </a:extLst>
              </p:cNvPr>
              <p:cNvSpPr txBox="1"/>
              <p:nvPr/>
            </p:nvSpPr>
            <p:spPr>
              <a:xfrm>
                <a:off x="1275942" y="3280386"/>
                <a:ext cx="6342506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ba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ba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12F5889-953F-BAE5-31D0-F4BD6E600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942" y="3280386"/>
                <a:ext cx="6342506" cy="7562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E0E2A0A-3C7E-2EF0-C769-CEAC684BEBFE}"/>
                  </a:ext>
                </a:extLst>
              </p:cNvPr>
              <p:cNvSpPr txBox="1"/>
              <p:nvPr/>
            </p:nvSpPr>
            <p:spPr>
              <a:xfrm>
                <a:off x="904256" y="4327448"/>
                <a:ext cx="7085878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ba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ba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E0E2A0A-3C7E-2EF0-C769-CEAC684BE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56" y="4327448"/>
                <a:ext cx="7085878" cy="7562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B187D31-87F4-F47E-37B7-35A77C995103}"/>
                  </a:ext>
                </a:extLst>
              </p:cNvPr>
              <p:cNvSpPr txBox="1"/>
              <p:nvPr/>
            </p:nvSpPr>
            <p:spPr>
              <a:xfrm>
                <a:off x="1275942" y="5188028"/>
                <a:ext cx="2421817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B187D31-87F4-F47E-37B7-35A77C995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942" y="5188028"/>
                <a:ext cx="2421817" cy="7562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5697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2650E-E406-25FD-B8C8-3E2FD6EF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pc="-35" dirty="0">
                <a:latin typeface="Palatino Linotype" panose="02040502050505030304"/>
                <a:cs typeface="Palatino Linotype" panose="02040502050505030304"/>
              </a:rPr>
              <a:t>Neyman</a:t>
            </a:r>
            <a:r>
              <a:rPr lang="en-US" altLang="zh-CN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20" dirty="0"/>
              <a:t>重复抽样方</a:t>
            </a:r>
            <a:r>
              <a:rPr lang="zh-CN" altLang="en-US" spc="-50" dirty="0"/>
              <a:t>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09D4F79-17E5-A854-ABF4-8AAF36D2CD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方差估计量：</a:t>
                </a:r>
                <a:endParaRPr lang="en-US" altLang="zh-CN" sz="16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</m:acc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𝑛𝑒𝑦𝑚𝑎𝑛</m:t>
                          </m:r>
                        </m:sup>
                      </m:s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60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其中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1600" b="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上述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600" dirty="0">
                    <a:latin typeface="Palatino Linotype" panose="02040502050505030304"/>
                    <a:cs typeface="Palatino Linotype" panose="02040502050505030304"/>
                  </a:rPr>
                  <a:t>Neyman</a:t>
                </a:r>
                <a:r>
                  <a:rPr lang="zh-CN" altLang="en-US" sz="1600" spc="1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方差估计量在常数效应假设下是估计量方差的无偏估计量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若异质性效应下，还要减去取正值的第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600" dirty="0">
                    <a:latin typeface="Palatino Linotype" panose="02040502050505030304"/>
                    <a:cs typeface="Palatino Linotype" panose="02040502050505030304"/>
                  </a:rPr>
                  <a:t>3</a:t>
                </a:r>
                <a:r>
                  <a:rPr lang="zh-CN" altLang="en-US" sz="1600" spc="3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项，说明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600" dirty="0">
                    <a:latin typeface="Palatino Linotype" panose="02040502050505030304"/>
                    <a:cs typeface="Palatino Linotype" panose="02040502050505030304"/>
                  </a:rPr>
                  <a:t>Neyman</a:t>
                </a:r>
                <a:r>
                  <a:rPr lang="zh-CN" altLang="en-US" sz="1600" spc="6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方差估计量至少给出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了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一个上界，比较保守的估计，也说明利用该估计量得到的置信区间会比真实的更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宽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一些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使用该估计量的另一个理由是在大样本情况下，该估计量将是无偏的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latin typeface="Palatino Linotype" panose="02040502050505030304"/>
                    <a:cs typeface="Palatino Linotype" panose="02040502050505030304"/>
                  </a:rPr>
                  <a:t>Li</a:t>
                </a:r>
                <a:r>
                  <a:rPr lang="en-US" altLang="zh-CN" sz="1600" spc="9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600" dirty="0">
                    <a:latin typeface="Palatino Linotype" panose="02040502050505030304"/>
                    <a:cs typeface="Palatino Linotype" panose="02040502050505030304"/>
                  </a:rPr>
                  <a:t>and</a:t>
                </a:r>
                <a:r>
                  <a:rPr lang="en-US" altLang="zh-CN" sz="1600" spc="9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600" dirty="0">
                    <a:latin typeface="Palatino Linotype" panose="02040502050505030304"/>
                    <a:cs typeface="Palatino Linotype" panose="02040502050505030304"/>
                  </a:rPr>
                  <a:t>Ding</a:t>
                </a:r>
                <a:r>
                  <a:rPr lang="en-US" altLang="zh-CN" sz="1600" spc="9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600" dirty="0">
                    <a:latin typeface="Palatino Linotype" panose="02040502050505030304"/>
                    <a:cs typeface="Palatino Linotype" panose="02040502050505030304"/>
                  </a:rPr>
                  <a:t>(2017)</a:t>
                </a:r>
                <a:r>
                  <a:rPr lang="en-US" altLang="zh-CN" sz="1600" spc="9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6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证明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ar-AE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ar-AE" altLang="zh-CN" sz="1600" spc="-13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是服从渐近正态分布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en-US" altLang="zh-CN" sz="16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 spc="-10" dirty="0">
                    <a:latin typeface="Palatino Linotype" panose="02040502050505030304"/>
                    <a:cs typeface="Palatino Linotype" panose="02040502050505030304"/>
                  </a:rPr>
                  <a:t>Neyman</a:t>
                </a:r>
                <a:r>
                  <a:rPr lang="en-US" altLang="zh-CN" sz="1600" spc="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置信区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间</a:t>
                </a:r>
                <a:endParaRPr lang="en-US" altLang="zh-CN" sz="16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6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 spc="-10" dirty="0">
                    <a:latin typeface="Palatino Linotype" panose="02040502050505030304"/>
                    <a:cs typeface="Palatino Linotype" panose="02040502050505030304"/>
                  </a:rPr>
                  <a:t>Neyman</a:t>
                </a:r>
                <a:r>
                  <a:rPr lang="en-US" altLang="zh-CN" sz="1600" spc="5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600" dirty="0">
                    <a:latin typeface="Palatino Linotype" panose="02040502050505030304"/>
                    <a:cs typeface="Palatino Linotype" panose="02040502050505030304"/>
                  </a:rPr>
                  <a:t>null:</a:t>
                </a:r>
                <a:r>
                  <a:rPr lang="en-US" altLang="zh-CN" sz="1600" spc="14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600" spc="75" dirty="0">
                    <a:latin typeface="Cambria" panose="02040503050406030204"/>
                    <a:cs typeface="Cambria" panose="02040503050406030204"/>
                  </a:rPr>
                  <a:t>𝐻</a:t>
                </a:r>
                <a:r>
                  <a:rPr lang="en-US" altLang="zh-CN" sz="1600" spc="112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z="1600" spc="112" baseline="-19000" dirty="0">
                    <a:latin typeface="Cambria" panose="02040503050406030204"/>
                    <a:cs typeface="Cambria" panose="02040503050406030204"/>
                  </a:rPr>
                  <a:t>𝑁</a:t>
                </a:r>
                <a:r>
                  <a:rPr lang="en-US" altLang="zh-CN" sz="1600" spc="262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600" spc="15" dirty="0">
                    <a:latin typeface="Cambria" panose="02040503050406030204"/>
                    <a:cs typeface="Cambria" panose="02040503050406030204"/>
                  </a:rPr>
                  <a:t>∶ </a:t>
                </a: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en-US" altLang="zh-CN" sz="1600" spc="105" dirty="0">
                    <a:latin typeface="Cambria" panose="02040503050406030204"/>
                    <a:cs typeface="Cambria" panose="02040503050406030204"/>
                  </a:rPr>
                  <a:t> = </a:t>
                </a:r>
                <a:r>
                  <a:rPr lang="en-US" altLang="zh-CN" sz="1600" spc="-6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16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09D4F79-17E5-A854-ABF4-8AAF36D2CD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b="-10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E11C19-691D-A36C-9639-9039E504D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55DB3A-4BE3-D0F2-61FE-30F803B8C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27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23E4547-346C-9182-8000-0029056D1E00}"/>
                  </a:ext>
                </a:extLst>
              </p:cNvPr>
              <p:cNvSpPr txBox="1"/>
              <p:nvPr/>
            </p:nvSpPr>
            <p:spPr>
              <a:xfrm>
                <a:off x="3641617" y="5748727"/>
                <a:ext cx="1860766" cy="3452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m:rPr>
                              <m:lit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𝑛𝑒𝑦𝑚𝑎𝑛</m:t>
                                  </m:r>
                                </m:sup>
                              </m:sSup>
                            </m:e>
                          </m:acc>
                        </m:e>
                      </m:rad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23E4547-346C-9182-8000-0029056D1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617" y="5748727"/>
                <a:ext cx="1860766" cy="345287"/>
              </a:xfrm>
              <a:prstGeom prst="rect">
                <a:avLst/>
              </a:prstGeom>
              <a:blipFill>
                <a:blip r:embed="rId3"/>
                <a:stretch>
                  <a:fillRect l="-654" r="-50000" b="-19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5368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E8D89-DF7E-850F-EB5C-05787EA0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pc="-35" dirty="0">
                <a:latin typeface="Palatino Linotype" panose="02040502050505030304"/>
                <a:cs typeface="Palatino Linotype" panose="02040502050505030304"/>
              </a:rPr>
              <a:t>Neyman</a:t>
            </a:r>
            <a:r>
              <a:rPr lang="en-US" altLang="zh-CN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20" dirty="0"/>
              <a:t>重复抽样方</a:t>
            </a:r>
            <a:r>
              <a:rPr lang="zh-CN" altLang="en-US" spc="-50" dirty="0"/>
              <a:t>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166758-14F4-4114-82EA-D2916F264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825625"/>
            <a:ext cx="394335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模拟</a:t>
            </a:r>
            <a:r>
              <a:rPr lang="zh-CN" altLang="en-US" spc="-35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三种情况的</a:t>
            </a:r>
            <a:r>
              <a:rPr lang="zh-CN" altLang="en-US" spc="-15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-25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(0),</a:t>
            </a:r>
            <a:r>
              <a:rPr lang="zh-CN" altLang="en-US" spc="-5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25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-20" dirty="0">
                <a:latin typeface="Cambria" panose="02040503050406030204"/>
                <a:cs typeface="Cambria" panose="02040503050406030204"/>
              </a:rPr>
              <a:t>(1)</a:t>
            </a:r>
            <a:r>
              <a:rPr lang="zh-CN" altLang="en-US" spc="1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的边际分布相同，三种情况下，估计量的方差是相同的，均为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-35" dirty="0">
                <a:latin typeface="Cambria" panose="02040503050406030204"/>
                <a:cs typeface="Cambria" panose="02040503050406030204"/>
              </a:rPr>
              <a:t>0.036</a:t>
            </a:r>
            <a:endParaRPr lang="zh-CN" altLang="en-US" dirty="0">
              <a:latin typeface="Cambria" panose="02040503050406030204"/>
              <a:cs typeface="Cambria" panose="02040503050406030204"/>
            </a:endParaRPr>
          </a:p>
          <a:p>
            <a:pPr lvl="1">
              <a:lnSpc>
                <a:spcPct val="11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常数效应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(1)</a:t>
            </a:r>
            <a:r>
              <a:rPr lang="zh-CN" altLang="en-US" spc="6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65" dirty="0">
                <a:latin typeface="Cambria" panose="02040503050406030204"/>
                <a:cs typeface="Cambria" panose="02040503050406030204"/>
              </a:rPr>
              <a:t>=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(0)</a:t>
            </a:r>
            <a:r>
              <a:rPr lang="zh-CN" altLang="en-US" spc="4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45" dirty="0">
                <a:latin typeface="Cambria" panose="02040503050406030204"/>
                <a:cs typeface="Cambria" panose="02040503050406030204"/>
              </a:rPr>
              <a:t>+ </a:t>
            </a:r>
            <a:r>
              <a:rPr lang="en-US" altLang="zh-CN" spc="-40" dirty="0">
                <a:latin typeface="Cambria" panose="02040503050406030204"/>
                <a:cs typeface="Cambria" panose="02040503050406030204"/>
              </a:rPr>
              <a:t>1</a:t>
            </a:r>
            <a:r>
              <a:rPr lang="zh-CN" altLang="en-US" spc="-4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完全正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相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关。估计的方差等于真实方差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负相关，真实方差变小，为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-35" dirty="0">
                <a:latin typeface="Cambria" panose="02040503050406030204"/>
                <a:cs typeface="Cambria" panose="02040503050406030204"/>
              </a:rPr>
              <a:t>0.007</a:t>
            </a:r>
            <a:r>
              <a:rPr lang="zh-CN" altLang="en-US" spc="-35" dirty="0">
                <a:latin typeface="Cambria" panose="02040503050406030204"/>
                <a:cs typeface="Cambria" panose="02040503050406030204"/>
              </a:rPr>
              <a:t>。</a:t>
            </a:r>
            <a:endParaRPr lang="en-US" altLang="zh-CN" spc="-35" dirty="0">
              <a:latin typeface="Cambria" panose="02040503050406030204"/>
              <a:cs typeface="Cambria" panose="02040503050406030204"/>
            </a:endParaRPr>
          </a:p>
          <a:p>
            <a:pPr lvl="1">
              <a:lnSpc>
                <a:spcPct val="11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弱正相关，真实方差</a:t>
            </a:r>
            <a:r>
              <a:rPr lang="zh-CN" altLang="en-US" spc="-9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-40" dirty="0">
                <a:latin typeface="Cambria" panose="02040503050406030204"/>
                <a:cs typeface="Cambria" panose="02040503050406030204"/>
              </a:rPr>
              <a:t>0.020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82F15D-5101-D153-6B62-DF74CDB0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729966-C017-098F-4502-0831ACFC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810A903D-98E7-6E6D-1EB6-AEA54CF4FD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537" y="1870077"/>
            <a:ext cx="3454716" cy="43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2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C20CA4-3914-2150-1B7C-57CE192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pc="-35" dirty="0">
                <a:latin typeface="Palatino Linotype" panose="02040502050505030304"/>
                <a:cs typeface="Palatino Linotype" panose="02040502050505030304"/>
              </a:rPr>
              <a:t>Neyman</a:t>
            </a:r>
            <a:r>
              <a:rPr lang="en-US" altLang="zh-CN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20" dirty="0"/>
              <a:t>重复抽样方</a:t>
            </a:r>
            <a:r>
              <a:rPr lang="zh-CN" altLang="en-US" spc="-50" dirty="0"/>
              <a:t>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3AB666-38CC-F4F0-AAAC-A515C01CEE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marL="25400">
                  <a:lnSpc>
                    <a:spcPct val="120000"/>
                  </a:lnSpc>
                  <a:spcBef>
                    <a:spcPts val="95"/>
                  </a:spcBef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有限总体中，因果效应估计量的随机性来自于干预分配的随机性。扩展到无限总体视角，有限总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体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zh-CN" altLang="en-US" spc="1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可以看作来自超总体的随机样本，这时，估计量会有两个方面的随机性，抽样的随机性和干预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分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配的随机性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en-US" altLang="zh-CN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95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.   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n-US" altLang="zh-CN" b="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25400">
                  <a:lnSpc>
                    <a:spcPct val="120000"/>
                  </a:lnSpc>
                  <a:spcBef>
                    <a:spcPts val="95"/>
                  </a:spcBef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由于有限总体来自于无限总体的一个随机样本，从而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有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95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𝜏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𝑉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𝜏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𝑛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.</m:t>
                      </m:r>
                    </m:oMath>
                  </m:oMathPara>
                </a14:m>
                <a:endParaRPr lang="en-US" altLang="zh-CN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25400">
                  <a:lnSpc>
                    <a:spcPct val="120000"/>
                  </a:lnSpc>
                  <a:spcBef>
                    <a:spcPts val="95"/>
                  </a:spcBef>
                </a:pP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定义总体方差为</a:t>
                </a:r>
                <a:endParaRPr lang="en-US" altLang="zh-CN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95"/>
                  </a:spcBef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𝑌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𝑠𝑝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𝑌</m:t>
                                      </m:r>
                                      <m:d>
                                        <m:d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宋体" panose="0201060003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宋体" panose="02010600030101010101" pitchFamily="2" charset="-122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,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𝑌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𝑠𝑝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𝑌</m:t>
                                      </m:r>
                                      <m:d>
                                        <m:d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宋体" panose="0201060003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宋体" panose="02010600030101010101" pitchFamily="2" charset="-122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, 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𝑠𝑝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.</m:t>
                      </m:r>
                    </m:oMath>
                  </m:oMathPara>
                </a14:m>
                <a:endParaRPr lang="en-US" altLang="zh-CN" b="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25400">
                  <a:lnSpc>
                    <a:spcPct val="120000"/>
                  </a:lnSpc>
                  <a:spcBef>
                    <a:spcPts val="95"/>
                  </a:spcBef>
                </a:pP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可以证明 </a:t>
                </a:r>
                <a:endParaRPr lang="en-US" altLang="zh-CN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95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𝑉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𝜏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𝜏</m:t>
                                      </m:r>
                                    </m:e>
                                  </m:acc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𝜏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𝑠𝑝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10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𝑛</m:t>
                          </m:r>
                        </m:den>
                      </m:f>
                    </m:oMath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.</m:t>
                      </m:r>
                    </m:oMath>
                  </m:oMathPara>
                </a14:m>
                <a:endParaRPr lang="en-US" altLang="zh-CN" b="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3AB666-38CC-F4F0-AAAC-A515C01CEE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1259F45-07E7-0EE4-2332-834D9C33E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12F2E7-9BC4-AFC3-BC87-B0A60B333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3317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7F21D-7431-424A-513C-2001E704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pc="-35" dirty="0">
                <a:latin typeface="Palatino Linotype" panose="02040502050505030304"/>
                <a:cs typeface="Palatino Linotype" panose="02040502050505030304"/>
              </a:rPr>
              <a:t>Neyman</a:t>
            </a:r>
            <a:r>
              <a:rPr lang="en-US" altLang="zh-CN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20" dirty="0"/>
              <a:t>重复抽样方</a:t>
            </a:r>
            <a:r>
              <a:rPr lang="zh-CN" altLang="en-US" spc="-50" dirty="0"/>
              <a:t>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8BA3CB-A7C4-5200-FD68-9D3D192BE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79621"/>
          </a:xfrm>
        </p:spPr>
        <p:txBody>
          <a:bodyPr>
            <a:normAutofit fontScale="62500" lnSpcReduction="20000"/>
          </a:bodyPr>
          <a:lstStyle/>
          <a:p>
            <a:pPr marL="38100" marR="30480">
              <a:lnSpc>
                <a:spcPct val="101000"/>
              </a:lnSpc>
              <a:spcBef>
                <a:spcPts val="85"/>
              </a:spcBef>
            </a:pPr>
            <a:r>
              <a:rPr lang="en-US" altLang="zh-CN" spc="50" dirty="0">
                <a:latin typeface="Palatino Linotype" panose="02040502050505030304"/>
                <a:cs typeface="Palatino Linotype" panose="02040502050505030304"/>
              </a:rPr>
              <a:t>Job</a:t>
            </a:r>
            <a:r>
              <a:rPr lang="en-US" altLang="zh-CN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training</a:t>
            </a:r>
            <a:r>
              <a:rPr lang="en-US" altLang="zh-CN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data</a:t>
            </a:r>
            <a:r>
              <a:rPr lang="en-US" altLang="zh-CN" spc="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(Dehejia</a:t>
            </a:r>
            <a:r>
              <a:rPr lang="en-US" altLang="zh-CN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lang="en-US" altLang="zh-CN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Wahba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(1999))(</a:t>
            </a:r>
            <a:r>
              <a:rPr lang="en-US" altLang="zh-CN" dirty="0">
                <a:latin typeface="MathJax_Typewriter"/>
                <a:cs typeface="MathJax_Typewriter"/>
                <a:hlinkClick r:id="rId2"/>
              </a:rPr>
              <a:t>https://gitee.com/zhaoxiliang/causalinference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):</a:t>
            </a:r>
            <a:r>
              <a:rPr lang="en-US" altLang="zh-CN" spc="3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10" dirty="0" err="1">
                <a:latin typeface="Palatino Linotype" panose="02040502050505030304"/>
                <a:cs typeface="Palatino Linotype" panose="02040502050505030304"/>
              </a:rPr>
              <a:t>nsw_dw.dta</a:t>
            </a:r>
            <a:endParaRPr lang="en-US" altLang="zh-CN" dirty="0">
              <a:latin typeface="Palatino Linotype" panose="02040502050505030304"/>
              <a:cs typeface="Palatino Linotype" panose="02040502050505030304"/>
            </a:endParaRPr>
          </a:p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Estimates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lang="en-US" altLang="zh-CN" spc="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10" dirty="0">
                <a:latin typeface="Palatino Linotype" panose="02040502050505030304"/>
                <a:cs typeface="Palatino Linotype" panose="02040502050505030304"/>
              </a:rPr>
              <a:t>variances</a:t>
            </a:r>
            <a:r>
              <a:rPr lang="en-US" altLang="zh-CN" spc="11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𝑛</a:t>
            </a:r>
            <a:r>
              <a:rPr lang="en-US" altLang="zh-CN" spc="8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90" dirty="0">
                <a:latin typeface="Cambria" panose="02040503050406030204"/>
                <a:cs typeface="Cambria" panose="02040503050406030204"/>
              </a:rPr>
              <a:t>=</a:t>
            </a:r>
            <a:r>
              <a:rPr lang="en-US" altLang="zh-CN" spc="8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-35" dirty="0">
                <a:latin typeface="Cambria" panose="02040503050406030204"/>
                <a:cs typeface="Cambria" panose="02040503050406030204"/>
              </a:rPr>
              <a:t>445,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𝑛</a:t>
            </a:r>
            <a:r>
              <a:rPr lang="en-US" altLang="zh-CN" baseline="-19000" dirty="0">
                <a:latin typeface="Cambria" panose="02040503050406030204"/>
                <a:cs typeface="Cambria" panose="02040503050406030204"/>
              </a:rPr>
              <a:t>1</a:t>
            </a:r>
            <a:r>
              <a:rPr lang="en-US" altLang="zh-CN" spc="292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90" dirty="0">
                <a:latin typeface="Cambria" panose="02040503050406030204"/>
                <a:cs typeface="Cambria" panose="02040503050406030204"/>
              </a:rPr>
              <a:t>=</a:t>
            </a:r>
            <a:r>
              <a:rPr lang="en-US" altLang="zh-CN" spc="7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-35" dirty="0">
                <a:latin typeface="Cambria" panose="02040503050406030204"/>
                <a:cs typeface="Cambria" panose="02040503050406030204"/>
              </a:rPr>
              <a:t>185,</a:t>
            </a:r>
            <a:r>
              <a:rPr lang="en-US" altLang="zh-CN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𝑛</a:t>
            </a:r>
            <a:r>
              <a:rPr lang="en-US" altLang="zh-CN" baseline="-19000" dirty="0">
                <a:latin typeface="Cambria" panose="02040503050406030204"/>
                <a:cs typeface="Cambria" panose="02040503050406030204"/>
              </a:rPr>
              <a:t>0</a:t>
            </a:r>
            <a:r>
              <a:rPr lang="en-US" altLang="zh-CN" spc="284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90" dirty="0">
                <a:latin typeface="Cambria" panose="02040503050406030204"/>
                <a:cs typeface="Cambria" panose="02040503050406030204"/>
              </a:rPr>
              <a:t>=</a:t>
            </a:r>
            <a:r>
              <a:rPr lang="en-US" altLang="zh-CN" spc="8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-25" dirty="0">
                <a:latin typeface="Cambria" panose="02040503050406030204"/>
                <a:cs typeface="Cambria" panose="02040503050406030204"/>
              </a:rPr>
              <a:t>260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498CA9-6270-BC26-63E2-A586BCC7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194F9A-00A6-2079-CB21-3C50B6089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3802CB-3AB3-EFAB-D857-6F6D38D8A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00" y="3040182"/>
            <a:ext cx="6935168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13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6503A-AA96-9500-F9C2-73AF402C0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完全随机化实验的回归分析：简单回</a:t>
            </a:r>
            <a:r>
              <a:rPr lang="zh-CN" altLang="en-US" spc="-50" dirty="0"/>
              <a:t>归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C3C49C-2708-F70D-B479-E7C0E771F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回归分析能不能使用？回归是以抽样为基础的，和实验中的随机性是不同的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en-US" altLang="zh-CN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标准线性回归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可以证明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altLang="zh-CN" b="0" i="1" spc="-10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CN" b="0" i="1" spc="-1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b="0" i="1" spc="-1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但是，通常的方差估计量不同于</a:t>
                </a:r>
                <a:r>
                  <a:rPr lang="zh-CN" altLang="en-US" spc="-13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pc="-55" dirty="0">
                    <a:latin typeface="Cambria" panose="02040503050406030204"/>
                    <a:cs typeface="Cambria" panose="02040503050406030204"/>
                  </a:rPr>
                  <a:t>𝑉</a:t>
                </a:r>
                <a:r>
                  <a:rPr lang="zh-CN" altLang="en-US" spc="-1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4800" spc="89" baseline="12000" dirty="0">
                    <a:latin typeface="Cambria" panose="02040503050406030204"/>
                    <a:cs typeface="Cambria" panose="02040503050406030204"/>
                  </a:rPr>
                  <a:t>̂</a:t>
                </a:r>
                <a:r>
                  <a:rPr lang="zh-CN" altLang="en-US" spc="89" baseline="32000" dirty="0">
                    <a:latin typeface="Cambria" panose="02040503050406030204"/>
                    <a:cs typeface="Cambria" panose="02040503050406030204"/>
                  </a:rPr>
                  <a:t>𝑛𝑒𝑦𝑚𝑎𝑛</a:t>
                </a:r>
                <a:r>
                  <a:rPr lang="zh-CN" altLang="en-US" spc="6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en-US" altLang="zh-CN" spc="6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6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6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幸运地，怀特稳健方差</a:t>
                </a:r>
                <a:r>
                  <a:rPr lang="en-US" altLang="zh-CN" spc="6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(EHW)</a:t>
                </a:r>
                <a:r>
                  <a:rPr lang="zh-CN" altLang="en-US" spc="6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近似于</a:t>
                </a:r>
                <a:r>
                  <a:rPr lang="zh-CN" altLang="en-US" spc="-55" dirty="0">
                    <a:latin typeface="Cambria" panose="02040503050406030204"/>
                    <a:cs typeface="Cambria" panose="02040503050406030204"/>
                  </a:rPr>
                  <a:t>𝑉</a:t>
                </a:r>
                <a:r>
                  <a:rPr lang="zh-CN" altLang="en-US" spc="-9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4800" spc="97" baseline="12000" dirty="0">
                    <a:latin typeface="Cambria" panose="02040503050406030204"/>
                    <a:cs typeface="Cambria" panose="02040503050406030204"/>
                  </a:rPr>
                  <a:t>̂</a:t>
                </a:r>
                <a:r>
                  <a:rPr lang="zh-CN" altLang="en-US" spc="97" baseline="32000" dirty="0">
                    <a:latin typeface="Cambria" panose="02040503050406030204"/>
                    <a:cs typeface="Cambria" panose="02040503050406030204"/>
                  </a:rPr>
                  <a:t>𝑛𝑒𝑦𝑚𝑎𝑛</a:t>
                </a:r>
                <a:r>
                  <a:rPr lang="en-US" altLang="zh-CN" spc="97" dirty="0">
                    <a:latin typeface="Cambria" panose="02040503050406030204"/>
                    <a:cs typeface="Cambria" panose="02040503050406030204"/>
                  </a:rPr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𝐸𝐻𝑊</m:t>
                          </m:r>
                        </m:sub>
                      </m:sSub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⋅</m:t>
                      </m:r>
                      <m:f>
                        <m:f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spc="-10" dirty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⋅</m:t>
                      </m:r>
                      <m:f>
                        <m:f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≈</m:t>
                      </m:r>
                      <m:f>
                        <m:f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.</m:t>
                      </m:r>
                    </m:oMath>
                  </m:oMathPara>
                </a14:m>
                <a:endParaRPr lang="en-US" altLang="zh-CN" b="0" spc="-1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95"/>
                  </a:spcBef>
                  <a:buNone/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并且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HC2</a:t>
                </a:r>
                <a:r>
                  <a:rPr lang="en-US" altLang="zh-CN" spc="5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方差和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pc="-55" dirty="0">
                    <a:latin typeface="Cambria" panose="02040503050406030204"/>
                    <a:cs typeface="Cambria" panose="02040503050406030204"/>
                  </a:rPr>
                  <a:t>𝑉</a:t>
                </a:r>
                <a:r>
                  <a:rPr lang="zh-CN" altLang="en-US" spc="-114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4800" spc="120" baseline="12000" dirty="0">
                    <a:latin typeface="Cambria" panose="02040503050406030204"/>
                    <a:cs typeface="Cambria" panose="02040503050406030204"/>
                  </a:rPr>
                  <a:t>̂</a:t>
                </a:r>
                <a:r>
                  <a:rPr lang="zh-CN" altLang="en-US" spc="120" baseline="32000" dirty="0">
                    <a:latin typeface="Cambria" panose="02040503050406030204"/>
                    <a:cs typeface="Cambria" panose="02040503050406030204"/>
                  </a:rPr>
                  <a:t>𝑛𝑒𝑦𝑚𝑎𝑛</a:t>
                </a:r>
                <a:r>
                  <a:rPr lang="zh-CN" altLang="en-US" spc="322" baseline="32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完全一致（参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见</a:t>
                </a:r>
                <a:r>
                  <a:rPr lang="en-US" altLang="zh-CN" spc="-20" dirty="0">
                    <a:latin typeface="MathJax_Typewriter"/>
                    <a:cs typeface="MathJax_Typewriter"/>
                    <a:hlinkClick r:id="rId2"/>
                  </a:rPr>
                  <a:t>https://imai.fas.harvard.edu/teaching/files/simple_regression.pdf</a:t>
                </a:r>
                <a:r>
                  <a:rPr lang="zh-CN" altLang="en-US" spc="-2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）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C3C49C-2708-F70D-B479-E7C0E771F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09" t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4FBB2C-6B5A-1767-CAEA-606989E3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434131-A121-A77C-E93B-91A74304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31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16475D6-F594-D9D8-078F-8DD457EA99B3}"/>
                  </a:ext>
                </a:extLst>
              </p:cNvPr>
              <p:cNvSpPr txBox="1"/>
              <p:nvPr/>
            </p:nvSpPr>
            <p:spPr>
              <a:xfrm>
                <a:off x="2065162" y="3905032"/>
                <a:ext cx="4500719" cy="5397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𝑜𝑙𝑠</m:t>
                              </m:r>
                            </m:sub>
                          </m:sSub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16475D6-F594-D9D8-078F-8DD457EA9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162" y="3905032"/>
                <a:ext cx="4500719" cy="5397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562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9E31F-F94B-0ECB-2694-EAC0023F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完全随机化实验的回归分析：引入协变</a:t>
            </a:r>
            <a:r>
              <a:rPr lang="zh-CN" altLang="en-US" spc="-50" dirty="0"/>
              <a:t>量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743266-3E19-795A-5C12-372D7BCE35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101600">
                  <a:lnSpc>
                    <a:spcPct val="120000"/>
                  </a:lnSpc>
                  <a:spcBef>
                    <a:spcPts val="95"/>
                  </a:spcBef>
                </a:pPr>
                <a:r>
                  <a:rPr lang="en-US" altLang="zh-CN" sz="1800" dirty="0">
                    <a:latin typeface="楷体" panose="02010609060101010101" charset="-122"/>
                    <a:cs typeface="楷体" panose="02010609060101010101" charset="-122"/>
                  </a:rPr>
                  <a:t>“</a:t>
                </a:r>
                <a:r>
                  <a:rPr lang="en-US" altLang="zh-CN" sz="1800" i="1" dirty="0">
                    <a:latin typeface="Palatino Linotype" panose="02040502050505030304"/>
                    <a:cs typeface="Palatino Linotype" panose="02040502050505030304"/>
                  </a:rPr>
                  <a:t>Experiments</a:t>
                </a:r>
                <a:r>
                  <a:rPr lang="en-US" altLang="zh-CN" sz="1800" i="1" spc="1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800" i="1" dirty="0">
                    <a:latin typeface="Palatino Linotype" panose="02040502050505030304"/>
                    <a:cs typeface="Palatino Linotype" panose="02040502050505030304"/>
                  </a:rPr>
                  <a:t>should</a:t>
                </a:r>
                <a:r>
                  <a:rPr lang="en-US" altLang="zh-CN" sz="1800" i="1" spc="18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800" i="1" dirty="0">
                    <a:latin typeface="Palatino Linotype" panose="02040502050505030304"/>
                    <a:cs typeface="Palatino Linotype" panose="02040502050505030304"/>
                  </a:rPr>
                  <a:t>be</a:t>
                </a:r>
                <a:r>
                  <a:rPr lang="en-US" altLang="zh-CN" sz="1800" i="1" spc="1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800" i="1" dirty="0">
                    <a:latin typeface="Palatino Linotype" panose="02040502050505030304"/>
                    <a:cs typeface="Palatino Linotype" panose="02040502050505030304"/>
                  </a:rPr>
                  <a:t>analyzed</a:t>
                </a:r>
                <a:r>
                  <a:rPr lang="en-US" altLang="zh-CN" sz="1800" i="1" spc="18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800" i="1" dirty="0">
                    <a:latin typeface="Palatino Linotype" panose="02040502050505030304"/>
                    <a:cs typeface="Palatino Linotype" panose="02040502050505030304"/>
                  </a:rPr>
                  <a:t>as</a:t>
                </a:r>
                <a:r>
                  <a:rPr lang="en-US" altLang="zh-CN" sz="1800" i="1" spc="18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800" i="1" dirty="0">
                    <a:latin typeface="Palatino Linotype" panose="02040502050505030304"/>
                    <a:cs typeface="Palatino Linotype" panose="02040502050505030304"/>
                  </a:rPr>
                  <a:t>experiments,</a:t>
                </a:r>
                <a:r>
                  <a:rPr lang="en-US" altLang="zh-CN" sz="1800" i="1" spc="21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800" i="1" dirty="0">
                    <a:latin typeface="Palatino Linotype" panose="02040502050505030304"/>
                    <a:cs typeface="Palatino Linotype" panose="02040502050505030304"/>
                  </a:rPr>
                  <a:t>not</a:t>
                </a:r>
                <a:r>
                  <a:rPr lang="en-US" altLang="zh-CN" sz="1800" i="1" spc="18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800" i="1" dirty="0">
                    <a:latin typeface="Palatino Linotype" panose="02040502050505030304"/>
                    <a:cs typeface="Palatino Linotype" panose="02040502050505030304"/>
                  </a:rPr>
                  <a:t>as</a:t>
                </a:r>
                <a:r>
                  <a:rPr lang="en-US" altLang="zh-CN" sz="1800" i="1" spc="18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800" i="1" dirty="0">
                    <a:latin typeface="Palatino Linotype" panose="02040502050505030304"/>
                    <a:cs typeface="Palatino Linotype" panose="02040502050505030304"/>
                  </a:rPr>
                  <a:t>observational</a:t>
                </a:r>
                <a:r>
                  <a:rPr lang="en-US" altLang="zh-CN" sz="1800" i="1" spc="1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800" i="1" spc="-10" dirty="0">
                    <a:latin typeface="Palatino Linotype" panose="02040502050505030304"/>
                    <a:cs typeface="Palatino Linotype" panose="02040502050505030304"/>
                  </a:rPr>
                  <a:t>studies.</a:t>
                </a:r>
                <a:r>
                  <a:rPr lang="en-US" altLang="zh-CN" sz="1800" spc="-10" dirty="0">
                    <a:latin typeface="楷体" panose="02010609060101010101" charset="-122"/>
                    <a:cs typeface="楷体" panose="02010609060101010101" charset="-122"/>
                  </a:rPr>
                  <a:t>”</a:t>
                </a:r>
                <a:endParaRPr lang="en-US" altLang="zh-CN" sz="1800" dirty="0">
                  <a:latin typeface="楷体" panose="02010609060101010101" charset="-122"/>
                  <a:cs typeface="楷体" panose="02010609060101010101" charset="-122"/>
                </a:endParaRPr>
              </a:p>
              <a:p>
                <a:pPr marL="0" indent="0" algn="r">
                  <a:lnSpc>
                    <a:spcPct val="120000"/>
                  </a:lnSpc>
                  <a:spcBef>
                    <a:spcPts val="10"/>
                  </a:spcBef>
                  <a:buNone/>
                </a:pPr>
                <a:r>
                  <a:rPr lang="en-US" altLang="zh-CN" sz="1800" i="1" dirty="0">
                    <a:latin typeface="Palatino Linotype" panose="02040502050505030304"/>
                    <a:cs typeface="Palatino Linotype" panose="02040502050505030304"/>
                  </a:rPr>
                  <a:t>—</a:t>
                </a:r>
                <a:r>
                  <a:rPr lang="en-US" altLang="zh-CN" sz="1800" i="1" spc="13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sz="1800" i="1" spc="-10" dirty="0">
                    <a:latin typeface="Palatino Linotype" panose="02040502050505030304"/>
                    <a:cs typeface="Palatino Linotype" panose="02040502050505030304"/>
                  </a:rPr>
                  <a:t>Freedman(2006)</a:t>
                </a:r>
                <a:endParaRPr lang="en-US" altLang="zh-CN" sz="1800" dirty="0">
                  <a:latin typeface="Palatino Linotype" panose="02040502050505030304"/>
                  <a:cs typeface="Palatino Linotype" panose="02040502050505030304"/>
                </a:endParaRPr>
              </a:p>
              <a:p>
                <a:pPr marL="153670">
                  <a:lnSpc>
                    <a:spcPct val="120000"/>
                  </a:lnSpc>
                  <a:spcBef>
                    <a:spcPts val="835"/>
                  </a:spcBef>
                </a:pPr>
                <a:r>
                  <a:rPr lang="en-US" altLang="zh-CN" sz="1800" dirty="0">
                    <a:latin typeface="Palatino Linotype" panose="02040502050505030304"/>
                    <a:cs typeface="Palatino Linotype" panose="02040502050505030304"/>
                  </a:rPr>
                  <a:t>Fisher(1925)</a:t>
                </a:r>
                <a:r>
                  <a:rPr lang="zh-CN" altLang="en-US" sz="1800" spc="10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建立利用方差分析</a:t>
                </a:r>
                <a:r>
                  <a:rPr lang="zh-CN" altLang="en-US" sz="1800" spc="-12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800" dirty="0">
                    <a:latin typeface="Palatino Linotype" panose="02040502050505030304"/>
                    <a:cs typeface="Palatino Linotype" panose="02040502050505030304"/>
                  </a:rPr>
                  <a:t>(ANCOVA)</a:t>
                </a:r>
                <a:r>
                  <a:rPr lang="zh-CN" altLang="en-US" sz="1800" spc="10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改进估计精度，他建议用</a:t>
                </a:r>
                <a:r>
                  <a:rPr lang="zh-CN" altLang="en-US" sz="1800" spc="-12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sz="1800" spc="32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spc="-7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对 </a:t>
                </a:r>
                <a:r>
                  <a:rPr lang="zh-CN" altLang="en-US" sz="1800" spc="90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en-US" altLang="zh-CN" sz="1800" spc="25" dirty="0">
                    <a:latin typeface="Cambria" panose="02040503050406030204"/>
                    <a:cs typeface="Cambria" panose="02040503050406030204"/>
                  </a:rPr>
                  <a:t>, </a:t>
                </a:r>
                <a:r>
                  <a:rPr lang="zh-CN" altLang="en-US" sz="1800" spc="105" dirty="0">
                    <a:latin typeface="Cambria" panose="02040503050406030204"/>
                    <a:cs typeface="Cambria" panose="02040503050406030204"/>
                  </a:rPr>
                  <a:t>𝑋 </a:t>
                </a:r>
                <a:r>
                  <a:rPr lang="zh-CN" altLang="en-US" sz="1800" spc="-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作 </a:t>
                </a:r>
                <a:r>
                  <a:rPr lang="en-US" altLang="zh-CN" sz="1800" dirty="0">
                    <a:latin typeface="Palatino Linotype" panose="02040502050505030304"/>
                    <a:cs typeface="Palatino Linotype" panose="02040502050505030304"/>
                  </a:rPr>
                  <a:t>OLS</a:t>
                </a:r>
                <a:r>
                  <a:rPr lang="zh-CN" altLang="en-US" sz="1800" spc="2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回归</a:t>
                </a:r>
                <a:r>
                  <a:rPr lang="zh-CN" altLang="en-US" sz="1800" spc="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800" spc="50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z="1800" spc="9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的系数作为</a:t>
                </a:r>
                <a:r>
                  <a:rPr lang="zh-CN" altLang="en-US" sz="18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zh-CN" altLang="en-US" sz="1800" spc="18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的估计量，记为</a:t>
                </a:r>
                <a:r>
                  <a:rPr lang="zh-CN" altLang="en-US" sz="18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8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18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1800" dirty="0">
                    <a:latin typeface="Palatino Linotype" panose="02040502050505030304"/>
                    <a:cs typeface="Palatino Linotype" panose="02040502050505030304"/>
                  </a:rPr>
                  <a:t>Freedman(2008)</a:t>
                </a:r>
                <a:r>
                  <a:rPr lang="en-US" altLang="zh-CN" sz="1800" spc="-3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证明</a:t>
                </a:r>
                <a:r>
                  <a:rPr lang="zh-CN" altLang="en-US" sz="1800" spc="-4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r>
                  <a:rPr lang="zh-CN" altLang="en-US" sz="1800" spc="2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lang="en-US" altLang="zh-CN" sz="1800" spc="30" dirty="0">
                    <a:latin typeface="Palatino Linotype" panose="02040502050505030304"/>
                    <a:cs typeface="Palatino Linotype" panose="02040502050505030304"/>
                  </a:rPr>
                  <a:t>1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）</a:t>
                </a:r>
                <a:r>
                  <a:rPr lang="zh-CN" alt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sz="18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18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是有为偏差的</a:t>
                </a:r>
                <a:r>
                  <a:rPr lang="zh-CN" altLang="en-US" sz="1800" spc="-6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8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但均值之差</a:t>
                </a:r>
                <a:r>
                  <a:rPr lang="zh-CN" altLang="en-US" sz="1800" spc="-15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ar-AE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zh-CN" altLang="en-US" sz="18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是无偏的</a:t>
                </a:r>
                <a:r>
                  <a:rPr lang="zh-CN" altLang="en-US" sz="1800" spc="-5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r>
                  <a:rPr lang="zh-CN" altLang="en-US" sz="1800" spc="-2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lang="en-US" altLang="zh-CN" sz="1800" spc="-20" dirty="0">
                    <a:latin typeface="Palatino Linotype" panose="02040502050505030304"/>
                    <a:cs typeface="Palatino Linotype" panose="02040502050505030304"/>
                  </a:rPr>
                  <a:t>2</a:t>
                </a:r>
                <a:r>
                  <a:rPr lang="zh-CN" altLang="en-US" sz="1800" spc="-2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sz="18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1800" spc="-5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en-US" sz="18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渐近方差可能会大于</a:t>
                </a:r>
                <a:r>
                  <a:rPr lang="zh-CN" altLang="en-US" sz="18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ar-AE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  <m:r>
                      <a:rPr lang="ar-AE" altLang="zh-CN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ar-AE" sz="1800" spc="-459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r>
                  <a:rPr lang="zh-CN" altLang="ar-AE" sz="18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lang="ar-AE" altLang="zh-CN" sz="1800" dirty="0">
                    <a:latin typeface="Palatino Linotype" panose="02040502050505030304"/>
                    <a:cs typeface="Palatino Linotype" panose="02040502050505030304"/>
                  </a:rPr>
                  <a:t>3</a:t>
                </a:r>
                <a:r>
                  <a:rPr lang="zh-CN" altLang="ar-AE" sz="18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）</a:t>
                </a:r>
                <a:r>
                  <a:rPr lang="en-US" altLang="zh-CN" sz="1800" dirty="0">
                    <a:latin typeface="Palatino Linotype" panose="02040502050505030304"/>
                    <a:cs typeface="Palatino Linotype" panose="02040502050505030304"/>
                  </a:rPr>
                  <a:t>OLS</a:t>
                </a:r>
                <a:r>
                  <a:rPr lang="en-US" altLang="zh-CN" sz="1800" spc="-2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8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标准误差不是</a:t>
                </a:r>
                <a:r>
                  <a:rPr lang="zh-CN" altLang="en-US" sz="18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sz="18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18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的一致估计</a:t>
                </a:r>
                <a:r>
                  <a:rPr lang="zh-CN" altLang="en-US" sz="18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18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1800" spc="15" dirty="0">
                    <a:latin typeface="Palatino Linotype" panose="02040502050505030304"/>
                    <a:cs typeface="Palatino Linotype" panose="02040502050505030304"/>
                  </a:rPr>
                  <a:t>Lin(2013)</a:t>
                </a:r>
                <a:r>
                  <a:rPr lang="en-US" altLang="zh-CN" sz="1800" spc="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证明</a:t>
                </a:r>
                <a:r>
                  <a:rPr lang="zh-CN" altLang="en-US" sz="1800" spc="-114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：（</a:t>
                </a:r>
                <a:r>
                  <a:rPr lang="en-US" altLang="zh-CN" sz="1800" spc="-114" dirty="0">
                    <a:latin typeface="Palatino Linotype" panose="02040502050505030304"/>
                    <a:cs typeface="Palatino Linotype" panose="02040502050505030304"/>
                  </a:rPr>
                  <a:t>1</a:t>
                </a:r>
                <a:r>
                  <a:rPr lang="zh-CN" altLang="en-US" sz="1800" spc="-114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）</a:t>
                </a:r>
                <a:r>
                  <a:rPr lang="zh-CN" alt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sz="18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的偏差在大样本中很小，趋于</a:t>
                </a:r>
                <a:r>
                  <a:rPr lang="zh-CN" altLang="en-US" sz="18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800" dirty="0">
                    <a:latin typeface="Palatino Linotype" panose="02040502050505030304"/>
                    <a:cs typeface="Palatino Linotype" panose="02040502050505030304"/>
                  </a:rPr>
                  <a:t>0</a:t>
                </a:r>
                <a:r>
                  <a:rPr lang="zh-CN" altLang="en-US" sz="1800" spc="-459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r>
                  <a:rPr lang="zh-CN" altLang="en-US" sz="1800" spc="-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lang="en-US" altLang="zh-CN" sz="1800" spc="-5" dirty="0">
                    <a:latin typeface="Palatino Linotype" panose="02040502050505030304"/>
                    <a:cs typeface="Palatino Linotype" panose="02040502050505030304"/>
                  </a:rPr>
                  <a:t>2</a:t>
                </a:r>
                <a:r>
                  <a:rPr lang="zh-CN" altLang="en-US" sz="1800" spc="-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）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通过引入</a:t>
                </a:r>
                <a:r>
                  <a:rPr lang="zh-CN" altLang="en-US" sz="18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800" spc="114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z="1800" spc="1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spc="-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和 </a:t>
                </a:r>
                <a:r>
                  <a:rPr lang="zh-CN" altLang="en-US" sz="1800" spc="155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zh-CN" altLang="en-US" sz="18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的交互项，可以改进</a:t>
                </a:r>
                <a:r>
                  <a:rPr lang="zh-CN" altLang="en-US" sz="18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ar-AE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ar-AE" altLang="zh-CN" sz="1800" spc="1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spc="-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sz="18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18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的渐近效率，记引入交互项的回归估计量为</a:t>
                </a:r>
                <a:r>
                  <a:rPr lang="zh-CN" altLang="en-US" sz="18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sz="18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ar-AE" altLang="zh-CN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ar-AE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并且</a:t>
                </a:r>
                <a:r>
                  <a:rPr lang="zh-CN" altLang="en-US" sz="1800" spc="-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800" spc="20" dirty="0">
                    <a:latin typeface="Palatino Linotype" panose="02040502050505030304"/>
                    <a:cs typeface="Palatino Linotype" panose="02040502050505030304"/>
                  </a:rPr>
                  <a:t>EHW</a:t>
                </a:r>
                <a:r>
                  <a:rPr lang="en-US" altLang="zh-CN" sz="1800" spc="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8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估计量是</a:t>
                </a:r>
                <a:r>
                  <a:rPr lang="zh-CN" altLang="en-US" sz="18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sz="18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zh-CN" altLang="en-US" sz="18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方差的保守估计量</a:t>
                </a:r>
                <a:r>
                  <a:rPr lang="zh-CN" altLang="en-US" sz="1800" spc="-459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r>
                  <a:rPr lang="zh-CN" altLang="en-US" sz="1800" spc="-5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lang="en-US" altLang="zh-CN" sz="1800" spc="-55" dirty="0">
                    <a:latin typeface="Palatino Linotype" panose="02040502050505030304"/>
                    <a:cs typeface="Palatino Linotype" panose="02040502050505030304"/>
                  </a:rPr>
                  <a:t>3</a:t>
                </a:r>
                <a:r>
                  <a:rPr lang="zh-CN" altLang="en-US" sz="1800" spc="-5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）</a:t>
                </a:r>
                <a:r>
                  <a:rPr lang="zh-CN" alt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sz="18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ar-AE" sz="18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1800" spc="-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 </a:t>
                </a:r>
                <a:r>
                  <a:rPr lang="en-US" altLang="zh-CN" sz="1800" spc="20" dirty="0">
                    <a:latin typeface="Palatino Linotype" panose="02040502050505030304"/>
                    <a:cs typeface="Palatino Linotype" panose="02040502050505030304"/>
                  </a:rPr>
                  <a:t>EHW</a:t>
                </a:r>
                <a:r>
                  <a:rPr lang="en-US" altLang="zh-CN" sz="1800" spc="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估计量是其真实方差的保守估计量。</a:t>
                </a:r>
                <a:endParaRPr lang="zh-CN" altLang="en-US" sz="18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2743266-3E19-795A-5C12-372D7BCE35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420" r="-696" b="-2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8CC15E-EB23-B6EC-EB9B-3D23031D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24925B-BB20-68D8-12FB-4F13E1A4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84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331BC-180C-14E9-3D8D-4467200F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完全随机化实验的回归分析：引入协变</a:t>
            </a:r>
            <a:r>
              <a:rPr lang="zh-CN" altLang="en-US" spc="-50" dirty="0"/>
              <a:t>量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CBB623-2194-EB0A-DDF2-045D3F31A0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所以，可以直接引入</a:t>
                </a:r>
                <a:r>
                  <a:rPr lang="zh-CN" altLang="en-US" spc="-13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pc="114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zh-CN" altLang="en-US" spc="114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lang="zh-CN" altLang="en-US" spc="114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zh-CN" altLang="en-US" spc="16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已经去均值或是中心化的，即</a:t>
                </a:r>
                <a:r>
                  <a:rPr lang="zh-CN" altLang="en-US" spc="-13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 spc="-135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pc="-135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i="1" spc="114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14" dirty="0">
                    <a:latin typeface="Cambria" panose="02040503050406030204"/>
                    <a:cs typeface="Cambria" panose="02040503050406030204"/>
                  </a:rPr>
                  <a:t>= </a:t>
                </a:r>
                <a:r>
                  <a:rPr lang="en-US" altLang="zh-CN" spc="-4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pc="-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）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进行回归调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整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pc="247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=</a:t>
                </a:r>
                <a:r>
                  <a:rPr lang="zh-CN" altLang="en-US" spc="6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𝛼</a:t>
                </a:r>
                <a:r>
                  <a:rPr lang="zh-CN" altLang="en-US" spc="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+</a:t>
                </a:r>
                <a:r>
                  <a:rPr lang="zh-CN" altLang="en-US" spc="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3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zh-CN" altLang="en-US" spc="-1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90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pc="135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pc="187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+</a:t>
                </a:r>
                <a:r>
                  <a:rPr lang="zh-CN" altLang="en-US" spc="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100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en-US" altLang="zh-CN" spc="150" baseline="32000" dirty="0">
                    <a:latin typeface="Cambria" panose="02040503050406030204"/>
                    <a:cs typeface="Cambria" panose="02040503050406030204"/>
                  </a:rPr>
                  <a:t>′</a:t>
                </a:r>
                <a:r>
                  <a:rPr lang="zh-CN" altLang="en-US" spc="150" baseline="32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100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zh-CN" altLang="en-US" spc="4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+</a:t>
                </a:r>
                <a:r>
                  <a:rPr lang="zh-CN" altLang="en-US" spc="1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35" dirty="0">
                    <a:latin typeface="Cambria" panose="02040503050406030204"/>
                    <a:cs typeface="Cambria" panose="02040503050406030204"/>
                  </a:rPr>
                  <a:t>𝜀</a:t>
                </a:r>
                <a:r>
                  <a:rPr lang="zh-CN" altLang="en-US" spc="52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pc="35" dirty="0">
                    <a:latin typeface="Cambria" panose="02040503050406030204"/>
                    <a:cs typeface="Cambria" panose="02040503050406030204"/>
                  </a:rPr>
                  <a:t>,</a:t>
                </a:r>
                <a:endParaRPr lang="zh-CN" altLang="en-US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Freedman(2006)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、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Lin(2013)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、</a:t>
                </a:r>
                <a:r>
                  <a:rPr lang="en-US" altLang="zh-CN" dirty="0" err="1">
                    <a:latin typeface="Palatino Linotype" panose="02040502050505030304"/>
                    <a:cs typeface="Palatino Linotype" panose="02040502050505030304"/>
                  </a:rPr>
                  <a:t>Imbens</a:t>
                </a:r>
                <a:r>
                  <a:rPr lang="en-US" altLang="zh-CN" spc="12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and</a:t>
                </a:r>
                <a:r>
                  <a:rPr lang="en-US" altLang="zh-CN" spc="12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Rubin(2015)</a:t>
                </a:r>
                <a:r>
                  <a:rPr lang="en-US" altLang="zh-CN" spc="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证明上述估计模型</a:t>
                </a:r>
                <a:r>
                  <a:rPr lang="zh-CN" altLang="en-US" spc="-1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pc="90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pc="135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pc="330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系数估计量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pc="-2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zh-CN" altLang="en-US" spc="-30" baseline="-19000" dirty="0">
                    <a:latin typeface="Cambria" panose="02040503050406030204"/>
                    <a:cs typeface="Cambria" panose="02040503050406030204"/>
                  </a:rPr>
                  <a:t>𝐹</a:t>
                </a:r>
                <a:r>
                  <a:rPr lang="zh-CN" altLang="en-US" spc="-20" dirty="0">
                    <a:latin typeface="Cambria" panose="02040503050406030204"/>
                    <a:cs typeface="Cambria" panose="02040503050406030204"/>
                  </a:rPr>
                  <a:t>̂</a:t>
                </a:r>
                <a:r>
                  <a:rPr lang="zh-CN" altLang="en-US" spc="45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是一致估计量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EHW</a:t>
                </a:r>
                <a:r>
                  <a:rPr lang="en-US" altLang="zh-CN" spc="4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估计量是方差的保守估计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进一步提高估计精度的方法是引入交互项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pc="254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=</a:t>
                </a:r>
                <a:r>
                  <a:rPr lang="zh-CN" altLang="en-US" spc="6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𝛼</a:t>
                </a:r>
                <a:r>
                  <a:rPr lang="zh-CN" altLang="en-US" spc="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+</a:t>
                </a:r>
                <a:r>
                  <a:rPr lang="zh-CN" altLang="en-US" spc="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3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zh-CN" altLang="en-US" spc="-1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90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pc="135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pc="179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+</a:t>
                </a:r>
                <a:r>
                  <a:rPr lang="zh-CN" altLang="en-US" spc="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75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zh-CN" altLang="en-US" spc="112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pc="75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zh-CN" altLang="en-US" spc="4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+</a:t>
                </a:r>
                <a:r>
                  <a:rPr lang="zh-CN" altLang="en-US" spc="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110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pc="165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pc="110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en-US" altLang="zh-CN" spc="165" baseline="32000" dirty="0">
                    <a:latin typeface="Cambria" panose="02040503050406030204"/>
                    <a:cs typeface="Cambria" panose="02040503050406030204"/>
                  </a:rPr>
                  <a:t>′</a:t>
                </a:r>
                <a:r>
                  <a:rPr lang="zh-CN" altLang="en-US" spc="165" baseline="32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110" dirty="0">
                    <a:latin typeface="Cambria" panose="02040503050406030204"/>
                    <a:cs typeface="Cambria" panose="02040503050406030204"/>
                  </a:rPr>
                  <a:t>𝛾</a:t>
                </a:r>
                <a:r>
                  <a:rPr lang="zh-CN" altLang="en-US" spc="6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+</a:t>
                </a:r>
                <a:r>
                  <a:rPr lang="zh-CN" altLang="en-US" spc="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35" dirty="0">
                    <a:latin typeface="Cambria" panose="02040503050406030204"/>
                    <a:cs typeface="Cambria" panose="02040503050406030204"/>
                  </a:rPr>
                  <a:t>𝜀</a:t>
                </a:r>
                <a:r>
                  <a:rPr lang="zh-CN" altLang="en-US" spc="52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pc="35" dirty="0">
                    <a:latin typeface="Cambria" panose="02040503050406030204"/>
                    <a:cs typeface="Cambria" panose="02040503050406030204"/>
                  </a:rPr>
                  <a:t>,</a:t>
                </a:r>
                <a:endParaRPr lang="zh-CN" altLang="en-US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Lin(2013)</a:t>
                </a:r>
                <a:r>
                  <a:rPr lang="en-US" altLang="zh-CN" spc="3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证明上述模型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pc="90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pc="135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pc="307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系数估计量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zh-CN" altLang="en-US" spc="-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比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ar-AE" altLang="zh-CN" spc="-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pc="-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m:rPr>
                        <m:nor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zh-CN" altLang="en-US" spc="-10" dirty="0">
                        <a:latin typeface="宋体" panose="02010600030101010101" pitchFamily="2" charset="-122"/>
                        <a:cs typeface="宋体" panose="02010600030101010101" pitchFamily="2" charset="-122"/>
                      </a:rPr>
                      <m:t>更有效率（至少一样好</m:t>
                    </m:r>
                    <m:r>
                      <m:rPr>
                        <m:nor/>
                      </m:rPr>
                      <a:rPr lang="zh-CN" altLang="en-US" spc="-459" dirty="0">
                        <a:latin typeface="宋体" panose="02010600030101010101" pitchFamily="2" charset="-122"/>
                        <a:cs typeface="宋体" panose="02010600030101010101" pitchFamily="2" charset="-122"/>
                      </a:rPr>
                      <m:t>）</m:t>
                    </m:r>
                    <m:r>
                      <m:rPr>
                        <m:nor/>
                      </m:rPr>
                      <a:rPr lang="zh-CN" altLang="en-US" spc="-50" dirty="0">
                        <a:latin typeface="宋体" panose="02010600030101010101" pitchFamily="2" charset="-122"/>
                        <a:cs typeface="宋体" panose="02010600030101010101" pitchFamily="2" charset="-122"/>
                      </a:rPr>
                      <m:t>。</m:t>
                    </m:r>
                  </m:oMath>
                </a14:m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EHW</a:t>
                </a:r>
                <a:r>
                  <a:rPr lang="en-US" altLang="zh-CN" spc="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方差接近于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zh-CN" altLang="en-US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的真实方差，但更大一些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CBB623-2194-EB0A-DDF2-045D3F31A0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A781C7-2248-FAE0-FE5E-7ABD30B8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5C31A2-15B0-55FA-A0D9-259FDCEE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2060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6CA36-70F8-A06C-AEA7-C5E4FEAD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完全随机化实验的回归分析</a:t>
            </a:r>
            <a:r>
              <a:rPr lang="zh-CN" altLang="en-US" dirty="0"/>
              <a:t>：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Lin(2013)</a:t>
            </a:r>
            <a:r>
              <a:rPr lang="zh-CN" altLang="en-US" spc="2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20" dirty="0"/>
              <a:t>结果的直觉解</a:t>
            </a:r>
            <a:r>
              <a:rPr lang="zh-CN" altLang="en-US" spc="-50" dirty="0"/>
              <a:t>释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7178F7-D444-DD52-4E28-DBAC5214BA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>
                    <a:latin typeface="Palatino Linotype" panose="02040502050505030304"/>
                    <a:cs typeface="Palatino Linotype" panose="02040502050505030304"/>
                  </a:rPr>
                  <a:t>Lin(2013)</a:t>
                </a:r>
                <a:r>
                  <a:rPr lang="zh-CN" altLang="en-US" sz="1200" spc="25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结果的直觉解释：考虑下列简单的线性调整估计量</a:t>
                </a:r>
                <a:r>
                  <a:rPr lang="zh-CN" altLang="en-US" sz="12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en-US" altLang="zh-CN" sz="12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2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200" spc="-8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200" spc="-8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200" spc="-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由 </a:t>
                </a:r>
                <a:r>
                  <a:rPr lang="en-US" altLang="zh-CN" sz="1200" spc="-10" dirty="0">
                    <a:latin typeface="Palatino Linotype" panose="02040502050505030304"/>
                    <a:cs typeface="Palatino Linotype" panose="02040502050505030304"/>
                  </a:rPr>
                  <a:t>Neyman</a:t>
                </a:r>
                <a:r>
                  <a:rPr lang="zh-CN" altLang="en-US" sz="1200" spc="1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方差，一个保守的方差估计量</a:t>
                </a:r>
                <a:r>
                  <a:rPr lang="zh-CN" altLang="en-US" sz="12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为</a:t>
                </a:r>
                <a:endParaRPr lang="zh-CN" altLang="en-US" sz="12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1;</m:t>
                              </m:r>
                              <m:sSub>
                                <m:sSubPr>
                                  <m:ctrlP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0;</m:t>
                              </m:r>
                              <m:sSub>
                                <m:sSubPr>
                                  <m:ctrlP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,</m:t>
                      </m:r>
                    </m:oMath>
                  </m:oMathPara>
                </a14:m>
                <a:endParaRPr lang="en-US" altLang="zh-CN" sz="12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其中</a:t>
                </a:r>
                <a:endParaRPr lang="en-US" altLang="zh-CN" sz="12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1;</m:t>
                          </m:r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,</m:t>
                      </m:r>
                    </m:oMath>
                  </m:oMathPara>
                </a14:m>
                <a:endParaRPr lang="en-US" altLang="zh-CN" sz="1200" b="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1;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(1−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宋体" panose="02010600030101010101" pitchFamily="2" charset="-122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宋体" panose="02010600030101010101" pitchFamily="2" charset="-122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  <a:cs typeface="宋体" panose="02010600030101010101" pitchFamily="2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宋体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1200" i="1">
                          <a:latin typeface="Cambria Math" panose="02040503050406030204" pitchFamily="18" charset="0"/>
                          <a:cs typeface="宋体" panose="02010600030101010101" pitchFamily="2" charset="-122"/>
                        </a:rPr>
                        <m:t>,</m:t>
                      </m:r>
                    </m:oMath>
                  </m:oMathPara>
                </a14:m>
                <a:endParaRPr lang="en-US" altLang="zh-CN" sz="12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  其中</a:t>
                </a:r>
                <a:r>
                  <a:rPr lang="zh-CN" altLang="en-US" sz="1200" spc="-114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𝛾</a:t>
                </a:r>
                <a:r>
                  <a:rPr lang="en-US" altLang="zh-CN" sz="1200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en-US" altLang="zh-CN" sz="1200" spc="-15" dirty="0">
                    <a:latin typeface="Cambria" panose="02040503050406030204"/>
                    <a:cs typeface="Cambria" panose="02040503050406030204"/>
                  </a:rPr>
                  <a:t>,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𝛾</a:t>
                </a:r>
                <a:r>
                  <a:rPr lang="en-US" altLang="zh-CN" sz="1200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z="1200" spc="390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分别是</a:t>
                </a:r>
                <a:r>
                  <a:rPr lang="zh-CN" altLang="en-US" sz="1200" spc="-1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sz="1200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z="1200" spc="202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spc="105" dirty="0">
                    <a:latin typeface="Cambria" panose="02040503050406030204"/>
                    <a:cs typeface="Cambria" panose="02040503050406030204"/>
                  </a:rPr>
                  <a:t>− </a:t>
                </a:r>
                <a:r>
                  <a:rPr lang="zh-CN" altLang="en-US" sz="1200" spc="90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en-US" altLang="zh-CN" sz="1200" spc="135" baseline="32000" dirty="0">
                    <a:latin typeface="Cambria" panose="02040503050406030204"/>
                    <a:cs typeface="Cambria" panose="02040503050406030204"/>
                  </a:rPr>
                  <a:t>′</a:t>
                </a:r>
                <a:r>
                  <a:rPr lang="zh-CN" altLang="en-US" sz="1200" spc="90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en-US" altLang="zh-CN" sz="1200" spc="135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、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sz="1200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z="1200" spc="202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spc="105" dirty="0">
                    <a:latin typeface="Cambria" panose="02040503050406030204"/>
                    <a:cs typeface="Cambria" panose="02040503050406030204"/>
                  </a:rPr>
                  <a:t>− </a:t>
                </a:r>
                <a:r>
                  <a:rPr lang="zh-CN" altLang="en-US" sz="1200" spc="80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en-US" altLang="zh-CN" sz="1200" spc="120" baseline="32000" dirty="0">
                    <a:latin typeface="Cambria" panose="02040503050406030204"/>
                    <a:cs typeface="Cambria" panose="02040503050406030204"/>
                  </a:rPr>
                  <a:t>′</a:t>
                </a:r>
                <a:r>
                  <a:rPr lang="zh-CN" altLang="en-US" sz="1200" spc="80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en-US" altLang="zh-CN" sz="1200" spc="120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z="1200" spc="390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的样本均值。</a:t>
                </a:r>
                <a:endParaRPr lang="en-US" altLang="zh-CN" sz="1200" spc="-1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所以，要使估计量方差</a:t>
                </a:r>
                <a:r>
                  <a:rPr lang="zh-CN" altLang="en-US" sz="1200" spc="-5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200" spc="-55" dirty="0">
                    <a:latin typeface="Cambria" panose="02040503050406030204"/>
                    <a:cs typeface="Cambria" panose="02040503050406030204"/>
                  </a:rPr>
                  <a:t>𝑉</a:t>
                </a:r>
                <a:r>
                  <a:rPr lang="zh-CN" altLang="en-US" sz="1200" spc="-9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baseline="12000" dirty="0">
                    <a:latin typeface="Cambria" panose="02040503050406030204"/>
                    <a:cs typeface="Cambria" panose="02040503050406030204"/>
                  </a:rPr>
                  <a:t>̂</a:t>
                </a:r>
                <a:r>
                  <a:rPr lang="en-US" altLang="zh-CN" sz="1200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en-US" altLang="zh-CN" sz="1200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en-US" altLang="zh-CN" sz="1200" spc="-5" dirty="0">
                    <a:latin typeface="Cambria" panose="02040503050406030204"/>
                    <a:cs typeface="Cambria" panose="02040503050406030204"/>
                  </a:rPr>
                  <a:t>,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en-US" altLang="zh-CN" sz="1200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en-US" altLang="zh-CN" sz="1200" spc="50" dirty="0">
                    <a:latin typeface="Cambria" panose="02040503050406030204"/>
                    <a:cs typeface="Cambria" panose="02040503050406030204"/>
                  </a:rPr>
                  <a:t>)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最小，就是要使</a:t>
                </a:r>
                <a:r>
                  <a:rPr lang="zh-CN" altLang="en-US" sz="1200" spc="-5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𝑠</a:t>
                </a:r>
                <a:r>
                  <a:rPr lang="en-US" altLang="zh-CN" sz="1200" baseline="32000" dirty="0">
                    <a:latin typeface="Cambria" panose="02040503050406030204"/>
                    <a:cs typeface="Cambria" panose="02040503050406030204"/>
                  </a:rPr>
                  <a:t>2</a:t>
                </a:r>
                <a:r>
                  <a:rPr lang="en-US" altLang="zh-CN" sz="1200" dirty="0">
                    <a:latin typeface="Cambria" panose="02040503050406030204"/>
                    <a:cs typeface="Cambria" panose="02040503050406030204"/>
                  </a:rPr>
                  <a:t>(1,</a:t>
                </a:r>
                <a:r>
                  <a:rPr lang="zh-CN" altLang="en-US" sz="1200" spc="-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en-US" altLang="zh-CN" sz="1200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en-US" altLang="zh-CN" sz="1200" spc="-5" dirty="0">
                    <a:latin typeface="Cambria" panose="02040503050406030204"/>
                    <a:cs typeface="Cambria" panose="02040503050406030204"/>
                  </a:rPr>
                  <a:t>),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𝑠</a:t>
                </a:r>
                <a:r>
                  <a:rPr lang="en-US" altLang="zh-CN" sz="1200" baseline="32000" dirty="0">
                    <a:latin typeface="Cambria" panose="02040503050406030204"/>
                    <a:cs typeface="Cambria" panose="02040503050406030204"/>
                  </a:rPr>
                  <a:t>2</a:t>
                </a:r>
                <a:r>
                  <a:rPr lang="en-US" altLang="zh-CN" sz="1200" dirty="0">
                    <a:latin typeface="Cambria" panose="02040503050406030204"/>
                    <a:cs typeface="Cambria" panose="02040503050406030204"/>
                  </a:rPr>
                  <a:t>(0,</a:t>
                </a:r>
                <a:r>
                  <a:rPr lang="zh-CN" altLang="en-US" sz="1200" spc="-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en-US" altLang="zh-CN" sz="1200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en-US" altLang="zh-CN" sz="1200" spc="50" dirty="0">
                    <a:latin typeface="Cambria" panose="02040503050406030204"/>
                    <a:cs typeface="Cambria" panose="02040503050406030204"/>
                  </a:rPr>
                  <a:t>)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最小，相关</a:t>
                </a:r>
                <a:r>
                  <a:rPr lang="zh-CN" altLang="en-US" sz="12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于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分别用干预组样本和控制组样本</a:t>
                </a:r>
                <a:r>
                  <a:rPr lang="zh-CN" altLang="en-US" sz="12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sz="1200" spc="28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spc="-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对 </a:t>
                </a:r>
                <a:r>
                  <a:rPr lang="zh-CN" altLang="en-US" sz="1200" spc="155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zh-CN" altLang="en-US" sz="1200" spc="14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做线性回归，也时相当于直接用</a:t>
                </a:r>
                <a:r>
                  <a:rPr lang="zh-CN" altLang="en-US" sz="12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sz="1200" spc="28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spc="-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对 </a:t>
                </a:r>
                <a:r>
                  <a:rPr lang="zh-CN" altLang="en-US" sz="1200" spc="65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z="1200" spc="-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和 </a:t>
                </a:r>
                <a:r>
                  <a:rPr lang="zh-CN" altLang="en-US" sz="1200" spc="125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en-US" altLang="zh-CN" sz="1200" spc="125" dirty="0">
                    <a:latin typeface="Palatino Linotype" panose="02040502050505030304"/>
                    <a:cs typeface="Palatino Linotype" panose="02040502050505030304"/>
                  </a:rPr>
                  <a:t>,</a:t>
                </a:r>
                <a:r>
                  <a:rPr lang="zh-CN" altLang="en-US" sz="1200" spc="125" dirty="0">
                    <a:latin typeface="Cambria" panose="02040503050406030204"/>
                    <a:cs typeface="Cambria" panose="02040503050406030204"/>
                  </a:rPr>
                  <a:t>𝐷𝑋</a:t>
                </a:r>
                <a:r>
                  <a:rPr lang="zh-CN" altLang="en-US" sz="1200" spc="229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做回归</a:t>
                </a:r>
                <a:r>
                  <a:rPr lang="zh-CN" altLang="en-US" sz="1200" spc="-2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r>
                  <a:rPr lang="en-US" altLang="zh-CN" sz="1200" dirty="0">
                    <a:latin typeface="Palatino Linotype" panose="02040502050505030304"/>
                    <a:cs typeface="Palatino Linotype" panose="02040502050505030304"/>
                  </a:rPr>
                  <a:t>Lin(2013)</a:t>
                </a:r>
                <a:r>
                  <a:rPr lang="zh-CN" altLang="en-US" sz="1200" spc="15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证明</a:t>
                </a:r>
                <a:r>
                  <a:rPr lang="zh-CN" altLang="en-US" sz="1200" spc="-7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200" dirty="0">
                    <a:latin typeface="Palatino Linotype" panose="02040502050505030304"/>
                    <a:cs typeface="Palatino Linotype" panose="02040502050505030304"/>
                  </a:rPr>
                  <a:t>EWH</a:t>
                </a:r>
                <a:r>
                  <a:rPr lang="zh-CN" altLang="en-US" sz="1200" spc="15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2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方差近似于</a:t>
                </a:r>
                <a:r>
                  <a:rPr lang="zh-CN" altLang="en-US" sz="1200" spc="-7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200" spc="-55" dirty="0">
                    <a:latin typeface="Cambria" panose="02040503050406030204"/>
                    <a:cs typeface="Cambria" panose="02040503050406030204"/>
                  </a:rPr>
                  <a:t>𝑉</a:t>
                </a:r>
                <a:r>
                  <a:rPr lang="zh-CN" altLang="en-US" sz="1200" spc="-9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200" baseline="12000" dirty="0">
                    <a:latin typeface="Cambria" panose="02040503050406030204"/>
                    <a:cs typeface="Cambria" panose="02040503050406030204"/>
                  </a:rPr>
                  <a:t>̂</a:t>
                </a:r>
                <a:r>
                  <a:rPr lang="en-US" altLang="zh-CN" sz="1200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en-US" altLang="zh-CN" sz="1200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en-US" altLang="zh-CN" sz="1200" spc="-10" dirty="0">
                    <a:latin typeface="Cambria" panose="02040503050406030204"/>
                    <a:cs typeface="Cambria" panose="02040503050406030204"/>
                  </a:rPr>
                  <a:t>, </a:t>
                </a:r>
                <a:r>
                  <a:rPr lang="zh-CN" altLang="en-US" sz="1200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en-US" altLang="zh-CN" sz="1200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en-US" altLang="zh-CN" sz="1200" dirty="0">
                    <a:latin typeface="Cambria" panose="02040503050406030204"/>
                    <a:cs typeface="Cambria" panose="02040503050406030204"/>
                  </a:rPr>
                  <a:t>)</a:t>
                </a:r>
                <a:r>
                  <a:rPr lang="zh-CN" altLang="en-US" sz="12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en-US" altLang="zh-CN" sz="12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sz="12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sz="12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7178F7-D444-DD52-4E28-DBAC5214BA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12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DFC82C-1DF7-4832-C707-9E03B0D43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32F8A0-AD74-A63C-6DEB-5D8B67E46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34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760E83A-18B5-E82B-6C10-E72AC713175C}"/>
                  </a:ext>
                </a:extLst>
              </p:cNvPr>
              <p:cNvSpPr txBox="1"/>
              <p:nvPr/>
            </p:nvSpPr>
            <p:spPr>
              <a:xfrm>
                <a:off x="2269543" y="2129027"/>
                <a:ext cx="4604914" cy="588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acc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760E83A-18B5-E82B-6C10-E72AC7131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543" y="2129027"/>
                <a:ext cx="4604914" cy="5881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237FB23-E668-5C9D-237F-2ACBB20D5855}"/>
                  </a:ext>
                </a:extLst>
              </p:cNvPr>
              <p:cNvSpPr txBox="1"/>
              <p:nvPr/>
            </p:nvSpPr>
            <p:spPr>
              <a:xfrm>
                <a:off x="2934182" y="2784669"/>
                <a:ext cx="2271326" cy="322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bar>
                                <m:barPr>
                                  <m:pos m:val="top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bar>
                                <m:barPr>
                                  <m:pos m:val="top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237FB23-E668-5C9D-237F-2ACBB20D5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182" y="2784669"/>
                <a:ext cx="2271326" cy="322845"/>
              </a:xfrm>
              <a:prstGeom prst="rect">
                <a:avLst/>
              </a:prstGeom>
              <a:blipFill>
                <a:blip r:embed="rId4"/>
                <a:stretch>
                  <a:fillRect l="-268" b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11897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0665C-701E-FF82-541F-4BC06DE3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完全随机化实验的回归分析</a:t>
            </a:r>
            <a:r>
              <a:rPr lang="zh-CN" altLang="en-US" dirty="0"/>
              <a:t>：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Lin(2013)</a:t>
            </a:r>
            <a:r>
              <a:rPr lang="zh-CN" altLang="en-US" spc="2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20" dirty="0"/>
              <a:t>结果的直觉解</a:t>
            </a:r>
            <a:r>
              <a:rPr lang="zh-CN" altLang="en-US" spc="-50" dirty="0"/>
              <a:t>释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5FF125B-59ED-99A7-8F40-70AC55AC18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容易得到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𝜏̂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en-US" altLang="zh-CN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en-US" altLang="zh-CN" spc="-10" dirty="0">
                    <a:latin typeface="Cambria" panose="02040503050406030204"/>
                    <a:cs typeface="Cambria" panose="02040503050406030204"/>
                  </a:rPr>
                  <a:t>,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en-US" altLang="zh-CN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en-US" altLang="zh-CN" spc="100" dirty="0">
                    <a:latin typeface="Cambria" panose="02040503050406030204"/>
                    <a:cs typeface="Cambria" panose="02040503050406030204"/>
                  </a:rPr>
                  <a:t>) =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𝛾̂</a:t>
                </a:r>
                <a:r>
                  <a:rPr lang="en-US" altLang="zh-CN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zh-CN" altLang="en-US" spc="254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114" dirty="0">
                    <a:latin typeface="Cambria" panose="02040503050406030204"/>
                    <a:cs typeface="Cambria" panose="02040503050406030204"/>
                  </a:rPr>
                  <a:t>−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𝛾̂</a:t>
                </a:r>
                <a:r>
                  <a:rPr lang="en-US" altLang="zh-CN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它可以写成下列等价形式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acc>
                      <m:d>
                        <m:d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b="0" i="1" spc="-1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acc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b="0" i="1" spc="-1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pc="-10" dirty="0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b="0" i="1" spc="-1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</a:rPr>
                        <m:t>,     </m:t>
                      </m:r>
                      <m:d>
                        <m:d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d>
                    </m:oMath>
                  </m:oMathPara>
                </a14:m>
                <a:endParaRPr lang="en-US" altLang="zh-CN" b="0" spc="-1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Lin(2013)</a:t>
                </a:r>
                <a:r>
                  <a:rPr lang="zh-CN" altLang="en-US" spc="24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估计量也可写以下列等价形式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acc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acc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b="0" i="1" spc="-10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b="0" i="1" spc="-1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pc="-10" dirty="0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b="0" i="1" spc="-1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en-US" altLang="zh-CN" b="0" i="1" spc="-10" dirty="0" smtClean="0">
                          <a:latin typeface="Cambria Math" panose="02040503050406030204" pitchFamily="18" charset="0"/>
                        </a:rPr>
                        <m:t>,     </m:t>
                      </m:r>
                      <m:d>
                        <m:dPr>
                          <m:ctrlP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pc="-10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</m:oMath>
                  </m:oMathPara>
                </a14:m>
                <a:endParaRPr lang="en-US" altLang="zh-CN" b="0" spc="-1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   其中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en-US" altLang="zh-CN" b="0" i="1" spc="-1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pc="-1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acc>
                      <m:accPr>
                        <m:chr m:val="̂"/>
                        <m:ctrlPr>
                          <a:rPr lang="en-US" altLang="zh-CN" b="0" i="1" spc="-1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b="0" i="1" spc="-10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0" i="1" spc="-1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acc>
                      <m:accPr>
                        <m:chr m:val="̂"/>
                        <m:ctrlPr>
                          <a:rPr lang="en-US" altLang="zh-CN" b="0" i="1" spc="-1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b="0" i="1" spc="-1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所以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Lin(2013)</a:t>
                </a:r>
                <a:r>
                  <a:rPr lang="en-US" altLang="zh-CN" spc="8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估计量相当于调整协变量的不平衡性</a:t>
                </a:r>
                <a:r>
                  <a:rPr lang="zh-CN" altLang="en-US" spc="-8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r>
                  <a:rPr lang="zh-CN" altLang="en-US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因为</a:t>
                </a:r>
                <a:r>
                  <a:rPr lang="zh-CN" altLang="en-US" spc="-13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ar-AE" altLang="zh-CN" spc="114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7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pc="-10" dirty="0">
                    <a:latin typeface="Cambria" panose="02040503050406030204"/>
                    <a:cs typeface="宋体" panose="02010600030101010101" pitchFamily="2" charset="-122"/>
                  </a:rPr>
                  <a:t> </a:t>
                </a:r>
                <a:r>
                  <a:rPr lang="zh-CN" altLang="en-US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是相关的</a:t>
                </a:r>
                <a:r>
                  <a:rPr lang="zh-CN" altLang="en-US" spc="-7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，合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适的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𝛾̂</a:t>
                </a:r>
                <a:r>
                  <a:rPr lang="zh-CN" altLang="en-US" spc="14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可以降低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ar-AE" altLang="zh-CN" spc="1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的方差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endParaRPr lang="ar-AE" altLang="zh-CN" baseline="-19000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5FF125B-59ED-99A7-8F40-70AC55AC18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261" r="-696" b="-7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4AC0B1-C1B0-9ABE-1044-1AD77BD3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0631AE-5055-C43B-AB65-074ECF7D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808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AF4BE-089B-0A77-38A2-029FCD56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完全随机化实验的回归分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析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FFF027A-B7C8-B467-1D33-A0AA8DE7B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5497" y="2175547"/>
            <a:ext cx="4938226" cy="2506906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BA2C99-85BC-58ED-4A97-78B7F84F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E6CED4-34D3-88F0-3863-B1670A8A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160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18F61-2CD7-5765-3E0B-E326CF1E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种族歧视：虚拟简历实</a:t>
            </a:r>
            <a:r>
              <a:rPr lang="zh-CN" altLang="en-US" spc="-50" dirty="0"/>
              <a:t>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061FE5-AB4F-877E-308A-F505350B4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185457"/>
            <a:ext cx="7886700" cy="99150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Boston</a:t>
            </a:r>
            <a:r>
              <a:rPr lang="zh-CN" altLang="en-US" spc="2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和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Chicago</a:t>
            </a:r>
            <a:r>
              <a:rPr lang="zh-CN" altLang="en-US" spc="2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报纸上的招聘广告上发送虚拟简历，为了考察是否存在种族歧视，通过为简历随机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化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的分配非裔美国人或白种人的名字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实验结果发现白种人获得面视通知的回馈会比非裔名字高 </a:t>
            </a:r>
            <a:r>
              <a:rPr lang="en-US" altLang="zh-CN" spc="50" dirty="0">
                <a:latin typeface="Palatino Linotype" panose="02040502050505030304"/>
                <a:cs typeface="Palatino Linotype" panose="02040502050505030304"/>
              </a:rPr>
              <a:t>50%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B6AE10-6929-CA62-0C99-869F5518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FDBA29-0B80-3614-0CC3-D93A9AA2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0AED2640-7584-3224-82A0-E143E94BC5F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335" y="1690689"/>
            <a:ext cx="6868232" cy="349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62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042F8-5166-9A51-FFDC-4740E483B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性别歧视：虚拟简历实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验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EFF727-A913-2FDE-7A0D-918FC172A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BA52D6-9504-79B1-7BCA-9824D726B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7D46A0E6-089C-D610-6AE9-82A02B2A723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77212" y="1825625"/>
            <a:ext cx="53895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4298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CDF5D-C776-5A21-0DA8-E4990A5D9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分层随机化实</a:t>
            </a:r>
            <a:r>
              <a:rPr lang="zh-CN" altLang="en-US" spc="-50" dirty="0"/>
              <a:t>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FF5EAA-5454-9613-550A-275C437D3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i="1" dirty="0">
                <a:latin typeface="Palatino Linotype" panose="02040502050505030304"/>
                <a:cs typeface="Palatino Linotype" panose="02040502050505030304"/>
              </a:rPr>
              <a:t>Block</a:t>
            </a:r>
            <a:r>
              <a:rPr lang="en-US" altLang="zh-CN" i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i="1" dirty="0">
                <a:latin typeface="Palatino Linotype" panose="02040502050505030304"/>
                <a:cs typeface="Palatino Linotype" panose="02040502050505030304"/>
              </a:rPr>
              <a:t>what</a:t>
            </a:r>
            <a:r>
              <a:rPr lang="en-US" altLang="zh-CN" i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i="1" dirty="0">
                <a:latin typeface="Palatino Linotype" panose="02040502050505030304"/>
                <a:cs typeface="Palatino Linotype" panose="02040502050505030304"/>
              </a:rPr>
              <a:t>you</a:t>
            </a:r>
            <a:r>
              <a:rPr lang="en-US" altLang="zh-CN" i="1" spc="2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i="1" dirty="0">
                <a:latin typeface="Palatino Linotype" panose="02040502050505030304"/>
                <a:cs typeface="Palatino Linotype" panose="02040502050505030304"/>
              </a:rPr>
              <a:t>can</a:t>
            </a:r>
            <a:r>
              <a:rPr lang="en-US" altLang="zh-CN" i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i="1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lang="en-US" altLang="zh-CN" i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i="1" dirty="0">
                <a:latin typeface="Palatino Linotype" panose="02040502050505030304"/>
                <a:cs typeface="Palatino Linotype" panose="02040502050505030304"/>
              </a:rPr>
              <a:t>randomize</a:t>
            </a:r>
            <a:r>
              <a:rPr lang="en-US" altLang="zh-CN" i="1" spc="2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i="1" dirty="0">
                <a:latin typeface="Palatino Linotype" panose="02040502050505030304"/>
                <a:cs typeface="Palatino Linotype" panose="02040502050505030304"/>
              </a:rPr>
              <a:t>what</a:t>
            </a:r>
            <a:r>
              <a:rPr lang="en-US" altLang="zh-CN" i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i="1" dirty="0">
                <a:latin typeface="Palatino Linotype" panose="02040502050505030304"/>
                <a:cs typeface="Palatino Linotype" panose="02040502050505030304"/>
              </a:rPr>
              <a:t>you</a:t>
            </a:r>
            <a:r>
              <a:rPr lang="en-US" altLang="zh-CN" i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i="1" dirty="0">
                <a:latin typeface="Palatino Linotype" panose="02040502050505030304"/>
                <a:cs typeface="Palatino Linotype" panose="02040502050505030304"/>
              </a:rPr>
              <a:t>cannot.</a:t>
            </a:r>
            <a:r>
              <a:rPr lang="en-US" altLang="zh-CN" i="1" spc="3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i="1" dirty="0">
                <a:latin typeface="Palatino Linotype" panose="02040502050505030304"/>
                <a:cs typeface="Palatino Linotype" panose="02040502050505030304"/>
              </a:rPr>
              <a:t>—</a:t>
            </a:r>
            <a:r>
              <a:rPr lang="en-US" altLang="zh-CN" i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i="1" dirty="0">
                <a:latin typeface="Palatino Linotype" panose="02040502050505030304"/>
                <a:cs typeface="Palatino Linotype" panose="02040502050505030304"/>
              </a:rPr>
              <a:t>George</a:t>
            </a:r>
            <a:r>
              <a:rPr lang="en-US" altLang="zh-CN" i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i="1" spc="-25" dirty="0">
                <a:latin typeface="Palatino Linotype" panose="02040502050505030304"/>
                <a:cs typeface="Palatino Linotype" panose="02040502050505030304"/>
              </a:rPr>
              <a:t>Box</a:t>
            </a:r>
            <a:endParaRPr lang="en-US" altLang="zh-CN" dirty="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如果</a:t>
            </a:r>
            <a:r>
              <a:rPr lang="zh-CN" altLang="en-US" spc="-1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155" dirty="0">
                <a:latin typeface="Cambria" panose="02040503050406030204"/>
                <a:cs typeface="Cambria" panose="02040503050406030204"/>
              </a:rPr>
              <a:t>𝑋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对结果具有重要影响，完全随机化实验</a:t>
            </a:r>
            <a:r>
              <a:rPr lang="zh-CN" altLang="en-US" spc="-1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55" dirty="0">
                <a:latin typeface="Palatino Linotype" panose="02040502050505030304"/>
                <a:cs typeface="Palatino Linotype" panose="02040502050505030304"/>
              </a:rPr>
              <a:t>(CRE)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不能保证协变量平衡，考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虑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根据</a:t>
            </a:r>
            <a:r>
              <a:rPr lang="zh-CN" altLang="en-US" spc="-14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155" dirty="0">
                <a:latin typeface="Cambria" panose="02040503050406030204"/>
                <a:cs typeface="Cambria" panose="02040503050406030204"/>
              </a:rPr>
              <a:t>𝑋</a:t>
            </a:r>
            <a:r>
              <a:rPr lang="zh-CN" altLang="en-US" spc="16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进行分层，在层内进行</a:t>
            </a:r>
            <a:r>
              <a:rPr lang="zh-CN" altLang="en-US" spc="-1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55" dirty="0">
                <a:latin typeface="Palatino Linotype" panose="02040502050505030304"/>
                <a:cs typeface="Palatino Linotype" panose="02040502050505030304"/>
              </a:rPr>
              <a:t>CRE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3500">
              <a:lnSpc>
                <a:spcPct val="120000"/>
              </a:lnSpc>
              <a:spcBef>
                <a:spcPts val="225"/>
              </a:spcBef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假设协变量</a:t>
            </a:r>
            <a:r>
              <a:rPr lang="zh-CN" altLang="en-US" spc="-12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155" dirty="0">
                <a:latin typeface="Cambria" panose="02040503050406030204"/>
                <a:cs typeface="Cambria" panose="02040503050406030204"/>
              </a:rPr>
              <a:t>𝑋</a:t>
            </a:r>
            <a:r>
              <a:rPr lang="zh-CN" altLang="en-US" spc="55" dirty="0">
                <a:latin typeface="Cambria" panose="02040503050406030204"/>
                <a:cs typeface="Cambria" panose="02040503050406030204"/>
              </a:rPr>
              <a:t> ∈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{1,</a:t>
            </a:r>
            <a:r>
              <a:rPr lang="zh-CN" altLang="en-US" spc="-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-5" dirty="0">
                <a:latin typeface="Cambria" panose="02040503050406030204"/>
                <a:cs typeface="Cambria" panose="02040503050406030204"/>
              </a:rPr>
              <a:t>… , </a:t>
            </a:r>
            <a:r>
              <a:rPr lang="zh-CN" altLang="en-US" spc="140" dirty="0">
                <a:latin typeface="Cambria" panose="02040503050406030204"/>
                <a:cs typeface="Cambria" panose="02040503050406030204"/>
              </a:rPr>
              <a:t>𝐾</a:t>
            </a:r>
            <a:r>
              <a:rPr lang="en-US" altLang="zh-CN" spc="130" dirty="0">
                <a:latin typeface="Cambria" panose="02040503050406030204"/>
                <a:cs typeface="Cambria" panose="02040503050406030204"/>
              </a:rPr>
              <a:t>}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是离散变量，用</a:t>
            </a:r>
            <a:r>
              <a:rPr lang="zh-CN" altLang="en-US" spc="-12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𝑛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𝑘</a:t>
            </a:r>
            <a:r>
              <a:rPr lang="zh-CN" altLang="en-US" spc="270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25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100" dirty="0">
                <a:latin typeface="Cambria" panose="02040503050406030204"/>
                <a:cs typeface="Cambria" panose="02040503050406030204"/>
              </a:rPr>
              <a:t>#{</a:t>
            </a:r>
            <a:r>
              <a:rPr lang="zh-CN" altLang="en-US" spc="1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zh-CN" altLang="en-US" spc="40" dirty="0">
                <a:latin typeface="Cambria" panose="02040503050406030204"/>
                <a:cs typeface="Cambria" panose="02040503050406030204"/>
              </a:rPr>
              <a:t> ∶ </a:t>
            </a:r>
            <a:r>
              <a:rPr lang="zh-CN" altLang="en-US" spc="105" dirty="0">
                <a:latin typeface="Cambria" panose="02040503050406030204"/>
                <a:cs typeface="Cambria" panose="02040503050406030204"/>
              </a:rPr>
              <a:t>𝑋</a:t>
            </a:r>
            <a:r>
              <a:rPr lang="zh-CN" altLang="en-US" spc="157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zh-CN" altLang="en-US" spc="270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25" dirty="0">
                <a:latin typeface="Cambria" panose="02040503050406030204"/>
                <a:cs typeface="Cambria" panose="02040503050406030204"/>
              </a:rPr>
              <a:t>=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𝑘</a:t>
            </a:r>
            <a:r>
              <a:rPr lang="en-US" altLang="zh-CN" spc="60" dirty="0">
                <a:latin typeface="Cambria" panose="02040503050406030204"/>
                <a:cs typeface="Cambria" panose="02040503050406030204"/>
              </a:rPr>
              <a:t>}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  <a:r>
              <a:rPr lang="zh-CN" altLang="en-US" spc="-12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𝑘</a:t>
            </a:r>
            <a:r>
              <a:rPr lang="zh-CN" altLang="en-US" spc="135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层样本量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𝜋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𝑘</a:t>
            </a:r>
            <a:r>
              <a:rPr lang="zh-CN" altLang="en-US" spc="277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30" dirty="0">
                <a:latin typeface="Cambria" panose="02040503050406030204"/>
                <a:cs typeface="Cambria" panose="02040503050406030204"/>
              </a:rPr>
              <a:t>=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𝑛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𝑘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/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𝑛</a:t>
            </a:r>
            <a:r>
              <a:rPr lang="zh-CN" altLang="en-US" spc="14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  <a:r>
              <a:rPr lang="zh-CN" altLang="en-US" spc="-114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𝑘</a:t>
            </a:r>
            <a:r>
              <a:rPr lang="zh-CN" altLang="en-US" spc="145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层样本占比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每层内进行</a:t>
            </a:r>
            <a:r>
              <a:rPr lang="zh-CN" altLang="en-US" spc="-11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CRE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假设</a:t>
            </a:r>
            <a:r>
              <a:rPr lang="zh-CN" altLang="en-US" spc="-11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𝑛</a:t>
            </a:r>
            <a:r>
              <a:rPr lang="en-US" altLang="zh-CN" baseline="-19000" dirty="0">
                <a:latin typeface="Cambria" panose="02040503050406030204"/>
                <a:cs typeface="Cambria" panose="02040503050406030204"/>
              </a:rPr>
              <a:t>1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𝑘</a:t>
            </a:r>
            <a:r>
              <a:rPr lang="zh-CN" altLang="en-US" spc="315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的个体分配到干预组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𝑒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𝑘</a:t>
            </a:r>
            <a:r>
              <a:rPr lang="zh-CN" altLang="en-US" spc="284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40" dirty="0">
                <a:latin typeface="Cambria" panose="02040503050406030204"/>
                <a:cs typeface="Cambria" panose="02040503050406030204"/>
              </a:rPr>
              <a:t>=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𝑛</a:t>
            </a:r>
            <a:r>
              <a:rPr lang="en-US" altLang="zh-CN" baseline="-19000" dirty="0">
                <a:latin typeface="Cambria" panose="02040503050406030204"/>
                <a:cs typeface="Cambria" panose="02040503050406030204"/>
              </a:rPr>
              <a:t>1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𝑘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/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𝑛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𝑘</a:t>
            </a:r>
            <a:r>
              <a:rPr lang="zh-CN" altLang="en-US" spc="315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  <a:r>
              <a:rPr lang="zh-CN" altLang="en-US" spc="-11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𝑘</a:t>
            </a:r>
            <a:r>
              <a:rPr lang="zh-CN" altLang="en-US" spc="11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层的分配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干预组的概率，称为倾向得分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(propensity</a:t>
            </a:r>
            <a:r>
              <a:rPr lang="zh-CN" altLang="en-US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score)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因果效应参数：个体因果效应</a:t>
            </a:r>
            <a:r>
              <a:rPr lang="zh-CN" altLang="en-US" spc="-114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𝜏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zh-CN" altLang="en-US" spc="284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35" dirty="0">
                <a:latin typeface="Cambria" panose="02040503050406030204"/>
                <a:cs typeface="Cambria" panose="02040503050406030204"/>
              </a:rPr>
              <a:t>=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(1)</a:t>
            </a:r>
            <a:r>
              <a:rPr lang="zh-CN" altLang="en-US" spc="75" dirty="0">
                <a:latin typeface="Cambria" panose="02040503050406030204"/>
                <a:cs typeface="Cambria" panose="02040503050406030204"/>
              </a:rPr>
              <a:t> −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(0)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层内因果效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应</a:t>
            </a: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pc="-5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平均因果效应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(Average</a:t>
            </a:r>
            <a:r>
              <a:rPr lang="en-US" altLang="zh-CN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Treatment</a:t>
            </a:r>
            <a:r>
              <a:rPr lang="en-US" altLang="zh-CN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effect,</a:t>
            </a:r>
            <a:r>
              <a:rPr lang="en-US" altLang="zh-CN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10" dirty="0">
                <a:latin typeface="Palatino Linotype" panose="02040502050505030304"/>
                <a:cs typeface="Palatino Linotype" panose="02040502050505030304"/>
              </a:rPr>
              <a:t>ATE):</a:t>
            </a:r>
          </a:p>
          <a:p>
            <a:pPr>
              <a:lnSpc>
                <a:spcPct val="120000"/>
              </a:lnSpc>
            </a:pPr>
            <a:endParaRPr lang="en-US" altLang="zh-CN" spc="-10" dirty="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20000"/>
              </a:lnSpc>
            </a:pPr>
            <a:r>
              <a:rPr lang="en-US" altLang="zh-CN" spc="-25" dirty="0">
                <a:latin typeface="Palatino Linotype" panose="02040502050505030304"/>
                <a:cs typeface="Palatino Linotype" panose="02040502050505030304"/>
              </a:rPr>
              <a:t>ATT</a:t>
            </a:r>
            <a:endParaRPr lang="en-US" altLang="zh-CN" dirty="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20000"/>
              </a:lnSpc>
            </a:pPr>
            <a:endParaRPr lang="en-US" altLang="zh-CN" spc="-10" dirty="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20000"/>
              </a:lnSpc>
            </a:pP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A1B17E-B6DC-98AF-C127-38995FF1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15568E-7C0F-FA84-7DA5-5B99466BE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39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4BBA2CD-6172-3197-6C2E-F0262F14FACD}"/>
                  </a:ext>
                </a:extLst>
              </p:cNvPr>
              <p:cNvSpPr txBox="1"/>
              <p:nvPr/>
            </p:nvSpPr>
            <p:spPr>
              <a:xfrm>
                <a:off x="1935354" y="4195078"/>
                <a:ext cx="3082062" cy="550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4BBA2CD-6172-3197-6C2E-F0262F14F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354" y="4195078"/>
                <a:ext cx="3082062" cy="550920"/>
              </a:xfrm>
              <a:prstGeom prst="rect">
                <a:avLst/>
              </a:prstGeom>
              <a:blipFill>
                <a:blip r:embed="rId2"/>
                <a:stretch>
                  <a:fillRect l="-198" t="-136264" r="-25889" b="-1879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DA88AEC-21CF-E956-550F-5BD4489AF8ED}"/>
                  </a:ext>
                </a:extLst>
              </p:cNvPr>
              <p:cNvSpPr txBox="1"/>
              <p:nvPr/>
            </p:nvSpPr>
            <p:spPr>
              <a:xfrm>
                <a:off x="1937149" y="5245356"/>
                <a:ext cx="3080267" cy="633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DA88AEC-21CF-E956-550F-5BD4489AF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149" y="5245356"/>
                <a:ext cx="3080267" cy="6338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B1C6F88-BA0C-7B2B-C411-4C705CE3D9AB}"/>
                  </a:ext>
                </a:extLst>
              </p:cNvPr>
              <p:cNvSpPr txBox="1"/>
              <p:nvPr/>
            </p:nvSpPr>
            <p:spPr>
              <a:xfrm>
                <a:off x="1943251" y="6070514"/>
                <a:ext cx="2330638" cy="6058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𝐴𝑇𝑇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B1C6F88-BA0C-7B2B-C411-4C705CE3D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251" y="6070514"/>
                <a:ext cx="2330638" cy="605807"/>
              </a:xfrm>
              <a:prstGeom prst="rect">
                <a:avLst/>
              </a:prstGeom>
              <a:blipFill>
                <a:blip r:embed="rId4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71431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E712B-F8B8-589A-14CC-1D80BCD2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140926-608C-C79F-DE95-596AF735A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Sharp</a:t>
                </a:r>
                <a:r>
                  <a:rPr lang="en-US" altLang="zh-CN" spc="7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null</a:t>
                </a:r>
                <a:r>
                  <a:rPr lang="en-US" altLang="zh-CN" spc="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hypothesis:</a:t>
                </a:r>
                <a:r>
                  <a:rPr lang="en-US" altLang="zh-CN" spc="1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65" dirty="0">
                    <a:latin typeface="Cambria" panose="02040503050406030204"/>
                    <a:cs typeface="Cambria" panose="02040503050406030204"/>
                  </a:rPr>
                  <a:t>𝐻</a:t>
                </a:r>
                <a:r>
                  <a:rPr lang="en-US" altLang="zh-CN" spc="97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pc="97" baseline="-19000" dirty="0">
                    <a:latin typeface="Cambria" panose="02040503050406030204"/>
                    <a:cs typeface="Cambria" panose="02040503050406030204"/>
                  </a:rPr>
                  <a:t>𝐹</a:t>
                </a:r>
                <a:r>
                  <a:rPr lang="en-US" altLang="zh-CN" spc="352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∶</a:t>
                </a:r>
                <a:r>
                  <a:rPr lang="en-US" altLang="zh-CN" spc="5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(1)</a:t>
                </a:r>
                <a:r>
                  <a:rPr lang="en-US" altLang="zh-CN" spc="5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=</a:t>
                </a:r>
                <a:r>
                  <a:rPr lang="en-US" altLang="zh-CN" spc="4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(0),</a:t>
                </a:r>
                <a:r>
                  <a:rPr lang="en-US" altLang="zh-CN" spc="-5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pc="5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190" dirty="0">
                    <a:latin typeface="Cambria" panose="02040503050406030204"/>
                    <a:cs typeface="Cambria" panose="02040503050406030204"/>
                  </a:rPr>
                  <a:t>=</a:t>
                </a:r>
                <a:r>
                  <a:rPr lang="en-US" altLang="zh-CN" spc="4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1,</a:t>
                </a:r>
                <a:r>
                  <a:rPr lang="en-US" altLang="zh-CN" spc="-5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65" dirty="0">
                    <a:latin typeface="Cambria" panose="02040503050406030204"/>
                    <a:cs typeface="Cambria" panose="02040503050406030204"/>
                  </a:rPr>
                  <a:t>…</a:t>
                </a:r>
                <a:r>
                  <a:rPr lang="en-US" altLang="zh-CN" spc="-5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pc="60" dirty="0">
                    <a:latin typeface="Cambria" panose="02040503050406030204"/>
                    <a:cs typeface="Cambria" panose="02040503050406030204"/>
                  </a:rPr>
                  <a:t>,</a:t>
                </a:r>
                <a:r>
                  <a:rPr lang="en-US" altLang="zh-CN" spc="-5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25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en-US" altLang="zh-CN" spc="-25" dirty="0">
                    <a:latin typeface="Cambria" panose="02040503050406030204"/>
                    <a:cs typeface="Cambria" panose="02040503050406030204"/>
                  </a:rPr>
                  <a:t>.</a:t>
                </a:r>
                <a:endParaRPr lang="en-US" altLang="zh-CN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估计量：分层估计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量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acc>
                      </m:e>
                    </m:nary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b="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其中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en-US" altLang="zh-CN" spc="60" dirty="0">
                    <a:latin typeface="Palatino Linotype" panose="02040502050505030304"/>
                    <a:cs typeface="Palatino Linotype" panose="02040502050505030304"/>
                  </a:rPr>
                  <a:t>t</a:t>
                </a:r>
                <a:r>
                  <a:rPr lang="en-US" altLang="zh-CN" spc="8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统计量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其中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其他估计量：次序估计量</a:t>
                </a:r>
                <a:r>
                  <a:rPr lang="zh-CN" altLang="en-US" spc="-2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en-US" altLang="zh-CN" spc="-25" dirty="0">
                    <a:latin typeface="Palatino Linotype" panose="02040502050505030304"/>
                    <a:cs typeface="Palatino Linotype" panose="02040502050505030304"/>
                  </a:rPr>
                  <a:t>Kolmogorov-</a:t>
                </a:r>
                <a:r>
                  <a:rPr lang="en-US" altLang="zh-CN" spc="-10" dirty="0">
                    <a:latin typeface="Palatino Linotype" panose="02040502050505030304"/>
                    <a:cs typeface="Palatino Linotype" panose="02040502050505030304"/>
                  </a:rPr>
                  <a:t>Smirnov</a:t>
                </a:r>
                <a:r>
                  <a:rPr lang="en-US" altLang="zh-CN" spc="12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统计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量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12700">
                  <a:lnSpc>
                    <a:spcPct val="120000"/>
                  </a:lnSpc>
                  <a:spcBef>
                    <a:spcPts val="95"/>
                  </a:spcBef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在模拟分配向量时，要在层内进行</a:t>
                </a:r>
                <a:r>
                  <a:rPr lang="zh-CN" altLang="en-US" spc="-12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pc="-20" dirty="0">
                    <a:latin typeface="Palatino Linotype" panose="02040502050505030304"/>
                    <a:cs typeface="Palatino Linotype" panose="02040502050505030304"/>
                  </a:rPr>
                  <a:t>permute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。比如只有</a:t>
                </a:r>
                <a:r>
                  <a:rPr lang="zh-CN" altLang="en-US" spc="-12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2</a:t>
                </a:r>
                <a:r>
                  <a:rPr lang="zh-CN" altLang="en-US" spc="10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层，每层内</a:t>
                </a:r>
                <a:r>
                  <a:rPr lang="zh-CN" altLang="en-US" spc="-12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4</a:t>
                </a:r>
                <a:r>
                  <a:rPr lang="zh-CN" altLang="en-US" spc="10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个个体，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随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机分配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dirty="0">
                    <a:latin typeface="Palatino Linotype" panose="02040502050505030304"/>
                    <a:cs typeface="Palatino Linotype" panose="02040502050505030304"/>
                  </a:rPr>
                  <a:t>2</a:t>
                </a:r>
                <a:r>
                  <a:rPr lang="zh-CN" altLang="en-US" spc="6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个进入干预组，则共有</a:t>
                </a:r>
                <a:r>
                  <a:rPr lang="zh-CN" altLang="en-US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spc="10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sSubSupPr>
                      <m:e>
                        <m:r>
                          <a:rPr lang="zh-CN" altLang="en-US" i="1" spc="10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𝐶</m:t>
                        </m:r>
                      </m:e>
                      <m:sub>
                        <m:r>
                          <a:rPr lang="en-US" altLang="zh-CN" b="0" i="1" spc="10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4</m:t>
                        </m:r>
                      </m:sub>
                      <m:sup>
                        <m:r>
                          <a:rPr lang="en-US" altLang="zh-CN" b="0" i="1" spc="10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2</m:t>
                        </m:r>
                      </m:sup>
                    </m:sSubSup>
                    <m:r>
                      <a:rPr lang="zh-CN" altLang="en-US" i="1" spc="150" dirty="0">
                        <a:latin typeface="Cambria Math" panose="02040503050406030204" pitchFamily="18" charset="0"/>
                        <a:cs typeface="Cambria" panose="02040503050406030204"/>
                      </a:rPr>
                      <m:t>  ⋅ </m:t>
                    </m:r>
                    <m:sSubSup>
                      <m:sSubSupPr>
                        <m:ctrlPr>
                          <a:rPr lang="zh-CN" altLang="en-US" i="1" spc="100" dirty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sSubSupPr>
                      <m:e>
                        <m:r>
                          <a:rPr lang="zh-CN" altLang="en-US" i="1" spc="100" dirty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𝐶</m:t>
                        </m:r>
                      </m:e>
                      <m:sub>
                        <m:r>
                          <a:rPr lang="en-US" altLang="zh-CN" b="0" i="1" spc="10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4</m:t>
                        </m:r>
                      </m:sub>
                      <m:sup>
                        <m:r>
                          <a:rPr lang="en-US" altLang="zh-CN" b="0" i="1" spc="10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2</m:t>
                        </m:r>
                      </m:sup>
                    </m:sSubSup>
                    <m:r>
                      <a:rPr lang="zh-CN" altLang="en-US" i="1" spc="130" dirty="0">
                        <a:latin typeface="Cambria Math" panose="02040503050406030204" pitchFamily="18" charset="0"/>
                        <a:cs typeface="Cambria" panose="02040503050406030204"/>
                      </a:rPr>
                      <m:t>  </m:t>
                    </m:r>
                    <m:r>
                      <a:rPr lang="en-US" altLang="zh-CN" i="1" spc="130" dirty="0">
                        <a:latin typeface="Cambria Math" panose="02040503050406030204" pitchFamily="18" charset="0"/>
                        <a:cs typeface="Cambria" panose="02040503050406030204"/>
                      </a:rPr>
                      <m:t>= 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Cambria" panose="02040503050406030204"/>
                      </a:rPr>
                      <m:t>36</m:t>
                    </m:r>
                  </m:oMath>
                </a14:m>
                <a:r>
                  <a:rPr lang="zh-CN" altLang="en-US" spc="1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个分配向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140926-608C-C79F-DE95-596AF735A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t="-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A1834E-A6E8-1FCE-94E4-C6C136C8E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A1DF26-7260-E8E9-F7F9-3BCF026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40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C311E56-F67A-9441-885F-10C4CDFDD9D9}"/>
                  </a:ext>
                </a:extLst>
              </p:cNvPr>
              <p:cNvSpPr txBox="1"/>
              <p:nvPr/>
            </p:nvSpPr>
            <p:spPr>
              <a:xfrm>
                <a:off x="1761232" y="3131788"/>
                <a:ext cx="3231782" cy="5509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C311E56-F67A-9441-885F-10C4CDFDD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232" y="3131788"/>
                <a:ext cx="3231782" cy="550920"/>
              </a:xfrm>
              <a:prstGeom prst="rect">
                <a:avLst/>
              </a:prstGeom>
              <a:blipFill>
                <a:blip r:embed="rId3"/>
                <a:stretch>
                  <a:fillRect l="-1132" t="-138889" r="-11321" b="-19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330319C-42EC-5C0F-C029-B9D2544A9402}"/>
                  </a:ext>
                </a:extLst>
              </p:cNvPr>
              <p:cNvSpPr txBox="1"/>
              <p:nvPr/>
            </p:nvSpPr>
            <p:spPr>
              <a:xfrm>
                <a:off x="1761232" y="3957477"/>
                <a:ext cx="971228" cy="438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acc>
                      <m:r>
                        <m:rPr>
                          <m:lit/>
                        </m:rPr>
                        <a:rPr lang="en-US" altLang="zh-CN" sz="1400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̂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e>
                          </m:acc>
                        </m:e>
                      </m:rad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330319C-42EC-5C0F-C029-B9D2544A9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232" y="3957477"/>
                <a:ext cx="971228" cy="4383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CB991C6-B56F-13CE-6053-7AE624D605BB}"/>
                  </a:ext>
                </a:extLst>
              </p:cNvPr>
              <p:cNvSpPr txBox="1"/>
              <p:nvPr/>
            </p:nvSpPr>
            <p:spPr>
              <a:xfrm>
                <a:off x="1761232" y="4530803"/>
                <a:ext cx="1974002" cy="6058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acc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CB991C6-B56F-13CE-6053-7AE624D60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232" y="4530803"/>
                <a:ext cx="1974002" cy="6058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6261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69BA7-FEDC-1D31-CA4F-CBCB35D72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pc="-35" dirty="0">
                <a:latin typeface="Palatino Linotype" panose="02040502050505030304"/>
                <a:cs typeface="Palatino Linotype" panose="02040502050505030304"/>
              </a:rPr>
              <a:t>Neyman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30" dirty="0">
                <a:latin typeface="Palatino Linotype" panose="02040502050505030304"/>
                <a:cs typeface="Palatino Linotype" panose="02040502050505030304"/>
              </a:rPr>
              <a:t>approach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E077DB-080D-161B-A147-D5D885EB2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层内估计量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en-US" sz="800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其方差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分层估计量的方差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其保守估计量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可以用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𝑡</a:t>
            </a:r>
            <a:r>
              <a:rPr lang="zh-CN" altLang="en-US" spc="8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统计量，利用大样本近似，检验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75" dirty="0">
                <a:latin typeface="Cambria" panose="02040503050406030204"/>
                <a:cs typeface="Cambria" panose="02040503050406030204"/>
              </a:rPr>
              <a:t>𝐻</a:t>
            </a:r>
            <a:r>
              <a:rPr lang="en-US" altLang="zh-CN" spc="112" baseline="-19000" dirty="0">
                <a:latin typeface="Cambria" panose="02040503050406030204"/>
                <a:cs typeface="Cambria" panose="02040503050406030204"/>
              </a:rPr>
              <a:t>0</a:t>
            </a:r>
            <a:r>
              <a:rPr lang="zh-CN" altLang="en-US" spc="112" baseline="-19000" dirty="0">
                <a:latin typeface="Cambria" panose="02040503050406030204"/>
                <a:cs typeface="Cambria" panose="02040503050406030204"/>
              </a:rPr>
              <a:t>𝑁</a:t>
            </a:r>
            <a:r>
              <a:rPr lang="zh-CN" altLang="en-US" spc="300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20" dirty="0">
                <a:latin typeface="Cambria" panose="02040503050406030204"/>
                <a:cs typeface="Cambria" panose="02040503050406030204"/>
              </a:rPr>
              <a:t>∶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𝜏</a:t>
            </a:r>
            <a:r>
              <a:rPr lang="zh-CN" altLang="en-US" spc="12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20" dirty="0">
                <a:latin typeface="Cambria" panose="02040503050406030204"/>
                <a:cs typeface="Cambria" panose="02040503050406030204"/>
              </a:rPr>
              <a:t>= </a:t>
            </a:r>
            <a:r>
              <a:rPr lang="en-US" altLang="zh-CN" spc="-60" dirty="0">
                <a:latin typeface="Cambria" panose="02040503050406030204"/>
                <a:cs typeface="Cambria" panose="02040503050406030204"/>
              </a:rPr>
              <a:t>0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FD00A2-069E-CF57-7869-4882F863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E7B182-20BF-0EDB-2817-68181ACB4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41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B3BB687-420E-D56C-FF28-257F014DDBC1}"/>
                  </a:ext>
                </a:extLst>
              </p:cNvPr>
              <p:cNvSpPr txBox="1"/>
              <p:nvPr/>
            </p:nvSpPr>
            <p:spPr>
              <a:xfrm>
                <a:off x="2664147" y="2282106"/>
                <a:ext cx="3704989" cy="629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B3BB687-420E-D56C-FF28-257F014DD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147" y="2282106"/>
                <a:ext cx="3704989" cy="62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6AA6D6E-C7DA-FD73-1F6D-FCC54F2B234E}"/>
                  </a:ext>
                </a:extLst>
              </p:cNvPr>
              <p:cNvSpPr txBox="1"/>
              <p:nvPr/>
            </p:nvSpPr>
            <p:spPr>
              <a:xfrm>
                <a:off x="2664147" y="3091632"/>
                <a:ext cx="2490297" cy="542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6AA6D6E-C7DA-FD73-1F6D-FCC54F2B2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147" y="3091632"/>
                <a:ext cx="2490297" cy="542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1B9BA10-9B61-FC0D-676A-7453E8FAE90A}"/>
                  </a:ext>
                </a:extLst>
              </p:cNvPr>
              <p:cNvSpPr txBox="1"/>
              <p:nvPr/>
            </p:nvSpPr>
            <p:spPr>
              <a:xfrm>
                <a:off x="2709127" y="4016591"/>
                <a:ext cx="2328458" cy="6923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𝑣𝑎𝑟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1B9BA10-9B61-FC0D-676A-7453E8FAE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127" y="4016591"/>
                <a:ext cx="2328458" cy="692305"/>
              </a:xfrm>
              <a:prstGeom prst="rect">
                <a:avLst/>
              </a:prstGeom>
              <a:blipFill>
                <a:blip r:embed="rId4"/>
                <a:stretch>
                  <a:fillRect b="-8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877ED73-AF3B-2687-EDDA-6CF6D7B58E17}"/>
                  </a:ext>
                </a:extLst>
              </p:cNvPr>
              <p:cNvSpPr txBox="1"/>
              <p:nvPr/>
            </p:nvSpPr>
            <p:spPr>
              <a:xfrm>
                <a:off x="2709127" y="4797532"/>
                <a:ext cx="2264466" cy="6923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877ED73-AF3B-2687-EDDA-6CF6D7B58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127" y="4797532"/>
                <a:ext cx="2264466" cy="6923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20282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5144E-E674-0A5B-959B-36E7BEC8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回归方</a:t>
            </a:r>
            <a:r>
              <a:rPr lang="zh-CN" altLang="en-US" spc="-50" dirty="0"/>
              <a:t>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D76562-5E77-CD4D-6D38-DE11FDF1BE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503237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根据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600" spc="55" dirty="0">
                    <a:latin typeface="Palatino Linotype" panose="02040502050505030304"/>
                    <a:cs typeface="Palatino Linotype" panose="02040502050505030304"/>
                  </a:rPr>
                  <a:t>CRE</a:t>
                </a:r>
                <a:r>
                  <a:rPr lang="zh-CN" altLang="en-US" sz="1600" spc="-1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的分析方法</a:t>
                </a:r>
                <a:r>
                  <a:rPr lang="zh-CN" altLang="en-US" sz="1600" spc="-2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在每层内利用回归调整</a:t>
                </a:r>
                <a:r>
                  <a:rPr lang="zh-CN" altLang="en-US" sz="1600" spc="-2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得到每层回归估计量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i="1" spc="-3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accPr>
                      <m:e>
                        <m:r>
                          <a:rPr lang="zh-CN" altLang="en-US" sz="1600" i="1" spc="-3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𝜏</m:t>
                        </m:r>
                      </m:e>
                    </m:acc>
                    <m:r>
                      <a:rPr lang="zh-CN" altLang="en-US" sz="1600" i="1" spc="-44" baseline="-19000" dirty="0">
                        <a:latin typeface="Cambria Math" panose="02040503050406030204" pitchFamily="18" charset="0"/>
                        <a:cs typeface="Cambria" panose="02040503050406030204"/>
                      </a:rPr>
                      <m:t>𝑘</m:t>
                    </m:r>
                    <m:r>
                      <a:rPr lang="zh-CN" altLang="en-US" sz="1600" i="1" spc="385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</m:oMath>
                </a14:m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和其保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守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方差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1600" b="0" i="1" spc="-1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1600" b="0" i="1" spc="-1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𝑉</m:t>
                        </m:r>
                      </m:e>
                    </m:acc>
                  </m:oMath>
                </a14:m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，然后根据分层估计量和层内估计量的关系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pc="19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1600" b="0" i="1" spc="19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</m:ctrlPr>
                          </m:accPr>
                          <m:e>
                            <m:r>
                              <a:rPr lang="en-US" altLang="zh-CN" sz="1600" b="0" i="1" spc="19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en-US" altLang="zh-CN" sz="1600" b="0" i="1" spc="-1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𝑠</m:t>
                        </m:r>
                      </m:sub>
                    </m:sSub>
                    <m:r>
                      <a:rPr lang="en-US" altLang="zh-CN" sz="1600" i="1" spc="190" dirty="0">
                        <a:latin typeface="Cambria Math" panose="02040503050406030204" pitchFamily="18" charset="0"/>
                        <a:cs typeface="Cambria" panose="02040503050406030204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b="0" i="1" spc="24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naryPr>
                      <m:sub>
                        <m:r>
                          <a:rPr lang="en-US" altLang="zh-CN" sz="1600" b="0" i="1" spc="24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𝑘</m:t>
                        </m:r>
                      </m:sub>
                      <m:sup>
                        <m:r>
                          <a:rPr lang="en-US" altLang="zh-CN" sz="1600" b="0" i="1" spc="24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0" i="1" spc="24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00" b="0" i="1" spc="24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sz="1600" b="0" i="1" spc="24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b="0" i="1" spc="24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600" b="0" i="1" spc="240" dirty="0" smtClean="0">
                                    <a:latin typeface="Cambria Math" panose="02040503050406030204" pitchFamily="18" charset="0"/>
                                    <a:cs typeface="Cambria" panose="02040503050406030204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0" i="1" spc="240" dirty="0" smtClean="0">
                                    <a:latin typeface="Cambria Math" panose="02040503050406030204" pitchFamily="18" charset="0"/>
                                    <a:cs typeface="Cambria" panose="02040503050406030204"/>
                                  </a:rPr>
                                  <m:t>𝜏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b="0" i="1" spc="-1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，得到保守方差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en-US" altLang="zh-CN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经济学者的回归方法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sz="1600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z="1600" spc="270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600" spc="190" dirty="0">
                    <a:latin typeface="Cambria" panose="02040503050406030204"/>
                    <a:cs typeface="Cambria" panose="02040503050406030204"/>
                  </a:rPr>
                  <a:t>=</a:t>
                </a:r>
                <a:r>
                  <a:rPr lang="zh-CN" altLang="en-US" sz="1600" spc="6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𝛼</a:t>
                </a:r>
                <a:r>
                  <a:rPr lang="zh-CN" altLang="en-US" sz="1600" spc="1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600" spc="190" dirty="0">
                    <a:latin typeface="Cambria" panose="02040503050406030204"/>
                    <a:cs typeface="Cambria" panose="02040503050406030204"/>
                  </a:rPr>
                  <a:t>+</a:t>
                </a:r>
                <a:r>
                  <a:rPr lang="zh-CN" altLang="en-US" sz="1600" spc="1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-3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zh-CN" altLang="en-US" sz="1600" spc="-1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90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z="1600" spc="135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z="1600" spc="195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600" spc="190" dirty="0">
                    <a:latin typeface="Cambria" panose="02040503050406030204"/>
                    <a:cs typeface="Cambria" panose="02040503050406030204"/>
                  </a:rPr>
                  <a:t>+</a:t>
                </a:r>
                <a:r>
                  <a:rPr lang="zh-CN" altLang="en-US" sz="1600" spc="1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655" dirty="0">
                    <a:latin typeface="Cambria" panose="02040503050406030204"/>
                    <a:cs typeface="Cambria" panose="02040503050406030204"/>
                  </a:rPr>
                  <a:t>∑</a:t>
                </a: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𝛽</a:t>
                </a:r>
                <a:r>
                  <a:rPr lang="zh-CN" altLang="en-US" sz="1600" baseline="-19000" dirty="0">
                    <a:latin typeface="Cambria" panose="02040503050406030204"/>
                    <a:cs typeface="Cambria" panose="02040503050406030204"/>
                  </a:rPr>
                  <a:t>𝑘</a:t>
                </a: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𝑑</a:t>
                </a:r>
                <a:r>
                  <a:rPr lang="zh-CN" altLang="en-US" sz="1600" baseline="-19000" dirty="0">
                    <a:latin typeface="Cambria" panose="02040503050406030204"/>
                    <a:cs typeface="Cambria" panose="02040503050406030204"/>
                  </a:rPr>
                  <a:t>𝑘</a:t>
                </a:r>
                <a:r>
                  <a:rPr lang="zh-CN" altLang="en-US" sz="1600" spc="187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600" spc="190" dirty="0">
                    <a:latin typeface="Cambria" panose="02040503050406030204"/>
                    <a:cs typeface="Cambria" panose="02040503050406030204"/>
                  </a:rPr>
                  <a:t>+</a:t>
                </a:r>
                <a:r>
                  <a:rPr lang="zh-CN" altLang="en-US" sz="1600" spc="1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35" dirty="0">
                    <a:latin typeface="Cambria" panose="02040503050406030204"/>
                    <a:cs typeface="Cambria" panose="02040503050406030204"/>
                  </a:rPr>
                  <a:t>𝜀</a:t>
                </a:r>
                <a:r>
                  <a:rPr lang="zh-CN" altLang="en-US" sz="1600" spc="52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z="1600" spc="35" dirty="0">
                    <a:latin typeface="Cambria" panose="02040503050406030204"/>
                    <a:cs typeface="Cambria" panose="02040503050406030204"/>
                  </a:rPr>
                  <a:t>,</a:t>
                </a:r>
                <a:endParaRPr lang="zh-CN" altLang="en-US" sz="1600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其中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𝑑</a:t>
                </a:r>
                <a:r>
                  <a:rPr lang="zh-CN" altLang="en-US" sz="1600" baseline="-19000" dirty="0">
                    <a:latin typeface="Cambria" panose="02040503050406030204"/>
                    <a:cs typeface="Cambria" panose="02040503050406030204"/>
                  </a:rPr>
                  <a:t>𝑘</a:t>
                </a:r>
                <a:r>
                  <a:rPr lang="zh-CN" altLang="en-US" sz="1600" spc="209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600" spc="114" dirty="0">
                    <a:latin typeface="Cambria" panose="02040503050406030204"/>
                    <a:cs typeface="Cambria" panose="02040503050406030204"/>
                  </a:rPr>
                  <a:t>= </a:t>
                </a:r>
                <a:r>
                  <a:rPr lang="zh-CN" altLang="en-US" sz="1600" spc="55" dirty="0">
                    <a:latin typeface="Cambria" panose="02040503050406030204"/>
                    <a:cs typeface="Cambria" panose="02040503050406030204"/>
                  </a:rPr>
                  <a:t>𝟙</a:t>
                </a:r>
                <a:r>
                  <a:rPr lang="en-US" altLang="zh-CN" sz="1600" spc="55" dirty="0">
                    <a:latin typeface="Cambria" panose="02040503050406030204"/>
                    <a:cs typeface="Cambria" panose="02040503050406030204"/>
                  </a:rPr>
                  <a:t>[</a:t>
                </a:r>
                <a:r>
                  <a:rPr lang="zh-CN" altLang="en-US" sz="1600" spc="55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zh-CN" altLang="en-US" sz="1600" spc="82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z="1600" spc="232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600" spc="114" dirty="0">
                    <a:latin typeface="Cambria" panose="02040503050406030204"/>
                    <a:cs typeface="Cambria" panose="02040503050406030204"/>
                  </a:rPr>
                  <a:t>= </a:t>
                </a: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𝑘</a:t>
                </a:r>
                <a:r>
                  <a:rPr lang="en-US" altLang="zh-CN" sz="1600" spc="50" dirty="0">
                    <a:latin typeface="Cambria" panose="02040503050406030204"/>
                    <a:cs typeface="Cambria" panose="02040503050406030204"/>
                  </a:rPr>
                  <a:t>]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为个体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z="1600" spc="1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是否是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𝑘</a:t>
                </a:r>
                <a:r>
                  <a:rPr lang="zh-CN" altLang="en-US" sz="1600" spc="1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层个体的虚拟变量。可以证明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600" spc="114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z="1600" spc="1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的回归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系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数为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en-US" altLang="zh-CN" sz="16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6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6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6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6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不是</a:t>
                </a:r>
                <a:r>
                  <a:rPr lang="zh-CN" altLang="en-US" sz="1600" spc="-9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600" dirty="0">
                    <a:latin typeface="Palatino Linotype" panose="02040502050505030304"/>
                    <a:cs typeface="Palatino Linotype" panose="02040502050505030304"/>
                  </a:rPr>
                  <a:t>ATE</a:t>
                </a:r>
                <a:r>
                  <a:rPr lang="zh-CN" altLang="en-US" sz="1600" spc="13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的一致估计，但权重为正，经济学者一般用它作为</a:t>
                </a:r>
                <a:r>
                  <a:rPr lang="zh-CN" altLang="en-US" sz="1600" spc="-9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600" dirty="0">
                    <a:latin typeface="Palatino Linotype" panose="02040502050505030304"/>
                    <a:cs typeface="Palatino Linotype" panose="02040502050505030304"/>
                  </a:rPr>
                  <a:t>ATE</a:t>
                </a:r>
                <a:r>
                  <a:rPr lang="zh-CN" altLang="en-US" sz="1600" spc="13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的近似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16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D76562-5E77-CD4D-6D38-DE11FDF1BE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5032376"/>
              </a:xfrm>
              <a:blipFill>
                <a:blip r:embed="rId2"/>
                <a:stretch>
                  <a:fillRect l="-309" t="-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5AA2FE-48FE-B307-1DA4-F51528492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1C056F-B387-CC11-8385-CD5C4027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42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42DA8F7-F6E0-541B-C29E-7937DD0FFED0}"/>
                  </a:ext>
                </a:extLst>
              </p:cNvPr>
              <p:cNvSpPr txBox="1"/>
              <p:nvPr/>
            </p:nvSpPr>
            <p:spPr>
              <a:xfrm>
                <a:off x="2264976" y="4639479"/>
                <a:ext cx="4204549" cy="5479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𝑜𝑙𝑠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𝑣𝑎𝑟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42DA8F7-F6E0-541B-C29E-7937DD0FF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976" y="4639479"/>
                <a:ext cx="4204549" cy="5479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72E5C73-12F9-75D1-E70A-012109FA596E}"/>
                  </a:ext>
                </a:extLst>
              </p:cNvPr>
              <p:cNvSpPr txBox="1"/>
              <p:nvPr/>
            </p:nvSpPr>
            <p:spPr>
              <a:xfrm>
                <a:off x="3525977" y="2584692"/>
                <a:ext cx="1581074" cy="6923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𝐸𝐻𝑊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72E5C73-12F9-75D1-E70A-012109FA5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977" y="2584692"/>
                <a:ext cx="1581074" cy="6923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A3D6305-D82A-1E12-8BC5-1750FBB47FC6}"/>
                  </a:ext>
                </a:extLst>
              </p:cNvPr>
              <p:cNvSpPr txBox="1"/>
              <p:nvPr/>
            </p:nvSpPr>
            <p:spPr>
              <a:xfrm>
                <a:off x="2306973" y="5438526"/>
                <a:ext cx="2777107" cy="6923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𝑜𝑙𝑠</m:t>
                              </m:r>
                            </m:sub>
                          </m:sSub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m:rPr>
                                      <m:lit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</m:e>
                              </m:nary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A3D6305-D82A-1E12-8BC5-1750FBB47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973" y="5438526"/>
                <a:ext cx="2777107" cy="6923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2538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E7F68-0704-715B-D57D-2503F163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配对随机化实</a:t>
            </a:r>
            <a:r>
              <a:rPr lang="zh-CN" altLang="en-US" spc="-50" dirty="0"/>
              <a:t>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D117FE-5424-E4CE-C3C7-5A685B0D4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配对随机化实验是一种特殊的分层随机化实验。现在假设有</a:t>
            </a:r>
            <a:r>
              <a:rPr lang="zh-CN" altLang="en-US" spc="-14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2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𝑛</a:t>
            </a:r>
            <a:r>
              <a:rPr lang="zh-CN" altLang="en-US" spc="105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个个体，分成</a:t>
            </a:r>
            <a:r>
              <a:rPr lang="zh-CN" altLang="en-US" spc="-14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𝑛</a:t>
            </a:r>
            <a:r>
              <a:rPr lang="zh-CN" altLang="en-US" spc="105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层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每层</a:t>
            </a:r>
            <a:r>
              <a:rPr lang="zh-CN" altLang="en-US" spc="-14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2</a:t>
            </a:r>
            <a:r>
              <a:rPr lang="zh-CN" altLang="en-US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个个体匹配在一起，用</a:t>
            </a:r>
            <a:r>
              <a:rPr lang="zh-CN" altLang="en-US" spc="-14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pc="90" dirty="0">
                <a:latin typeface="Cambria" panose="02040503050406030204"/>
                <a:cs typeface="Cambria" panose="02040503050406030204"/>
              </a:rPr>
              <a:t>𝐷</a:t>
            </a:r>
            <a:r>
              <a:rPr lang="zh-CN" altLang="en-US" spc="135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zh-CN" altLang="en-US" spc="345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  <a:r>
              <a:rPr lang="zh-CN" altLang="en-US" spc="-1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𝑖</a:t>
            </a:r>
            <a:r>
              <a:rPr lang="zh-CN" altLang="en-US" spc="11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层第</a:t>
            </a:r>
            <a:r>
              <a:rPr lang="zh-CN" altLang="en-US" spc="-1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1</a:t>
            </a:r>
            <a:r>
              <a:rPr lang="zh-CN" altLang="en-US" spc="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个个体的干预状态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Cambria" panose="02040503050406030204"/>
                <a:cs typeface="Cambria" panose="02040503050406030204"/>
              </a:rPr>
              <a:t>𝑖</a:t>
            </a:r>
            <a:r>
              <a:rPr lang="zh-CN" altLang="en-US" spc="14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层两个个体的观测结果可以表示为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baseline="-19000" dirty="0">
                <a:latin typeface="Cambria" panose="02040503050406030204"/>
                <a:cs typeface="Cambria" panose="02040503050406030204"/>
              </a:rPr>
              <a:t>1</a:t>
            </a:r>
            <a:r>
              <a:rPr lang="zh-CN" altLang="en-US" spc="345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90" dirty="0">
                <a:latin typeface="Cambria" panose="02040503050406030204"/>
                <a:cs typeface="Cambria" panose="02040503050406030204"/>
              </a:rPr>
              <a:t>=</a:t>
            </a:r>
            <a:r>
              <a:rPr lang="zh-CN" altLang="en-US" spc="11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𝐷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baseline="-19000" dirty="0">
                <a:latin typeface="Cambria" panose="02040503050406030204"/>
                <a:cs typeface="Cambria" panose="02040503050406030204"/>
              </a:rPr>
              <a:t>1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(1)</a:t>
            </a:r>
            <a:r>
              <a:rPr lang="zh-CN" altLang="en-US" spc="5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90" dirty="0">
                <a:latin typeface="Cambria" panose="02040503050406030204"/>
                <a:cs typeface="Cambria" panose="02040503050406030204"/>
              </a:rPr>
              <a:t>+</a:t>
            </a:r>
            <a:r>
              <a:rPr lang="zh-CN" altLang="en-US" spc="5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(1</a:t>
            </a:r>
            <a:r>
              <a:rPr lang="zh-CN" altLang="en-US" spc="5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190" dirty="0">
                <a:latin typeface="Cambria" panose="02040503050406030204"/>
                <a:cs typeface="Cambria" panose="02040503050406030204"/>
              </a:rPr>
              <a:t>−</a:t>
            </a:r>
            <a:r>
              <a:rPr lang="zh-CN" altLang="en-US" spc="5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Cambria" panose="02040503050406030204"/>
                <a:cs typeface="Cambria" panose="02040503050406030204"/>
              </a:rPr>
              <a:t>𝐷</a:t>
            </a:r>
            <a:r>
              <a:rPr lang="zh-CN" altLang="en-US" spc="-15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)</a:t>
            </a:r>
            <a:r>
              <a:rPr lang="zh-CN" altLang="en-US" spc="-10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pc="-15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spc="-15" baseline="-19000" dirty="0">
                <a:latin typeface="Cambria" panose="02040503050406030204"/>
                <a:cs typeface="Cambria" panose="02040503050406030204"/>
              </a:rPr>
              <a:t>1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(0),</a:t>
            </a:r>
            <a:endParaRPr lang="zh-CN" altLang="en-US" dirty="0">
              <a:latin typeface="Cambria" panose="02040503050406030204"/>
              <a:cs typeface="Cambria" panose="02040503050406030204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baseline="-19000" dirty="0">
                <a:latin typeface="Cambria" panose="02040503050406030204"/>
                <a:cs typeface="Cambria" panose="02040503050406030204"/>
              </a:rPr>
              <a:t>2</a:t>
            </a:r>
            <a:r>
              <a:rPr lang="zh-CN" altLang="en-US" spc="345" baseline="-1900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90" dirty="0">
                <a:latin typeface="Cambria" panose="02040503050406030204"/>
                <a:cs typeface="Cambria" panose="02040503050406030204"/>
              </a:rPr>
              <a:t>=</a:t>
            </a:r>
            <a:r>
              <a:rPr lang="zh-CN" altLang="en-US" spc="114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(1</a:t>
            </a:r>
            <a:r>
              <a:rPr lang="zh-CN" altLang="en-US" spc="5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190" dirty="0">
                <a:latin typeface="Cambria" panose="02040503050406030204"/>
                <a:cs typeface="Cambria" panose="02040503050406030204"/>
              </a:rPr>
              <a:t>−</a:t>
            </a:r>
            <a:r>
              <a:rPr lang="zh-CN" altLang="en-US" spc="45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𝐷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)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baseline="-19000" dirty="0">
                <a:latin typeface="Cambria" panose="02040503050406030204"/>
                <a:cs typeface="Cambria" panose="02040503050406030204"/>
              </a:rPr>
              <a:t>2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(1)</a:t>
            </a:r>
            <a:r>
              <a:rPr lang="zh-CN" altLang="en-US" spc="5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altLang="zh-CN" spc="190" dirty="0">
                <a:latin typeface="Cambria" panose="02040503050406030204"/>
                <a:cs typeface="Cambria" panose="02040503050406030204"/>
              </a:rPr>
              <a:t>+</a:t>
            </a:r>
            <a:r>
              <a:rPr lang="zh-CN" altLang="en-US" spc="50" dirty="0">
                <a:latin typeface="Cambria" panose="02040503050406030204"/>
                <a:cs typeface="Cambria" panose="02040503050406030204"/>
              </a:rPr>
              <a:t> </a:t>
            </a:r>
            <a:r>
              <a:rPr lang="zh-CN" altLang="en-US" spc="-10" dirty="0">
                <a:latin typeface="Cambria" panose="02040503050406030204"/>
                <a:cs typeface="Cambria" panose="02040503050406030204"/>
              </a:rPr>
              <a:t>𝐷</a:t>
            </a:r>
            <a:r>
              <a:rPr lang="zh-CN" altLang="en-US" spc="-15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zh-CN" altLang="en-US" spc="-10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spc="-15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spc="-15" baseline="-19000" dirty="0">
                <a:latin typeface="Cambria" panose="02040503050406030204"/>
                <a:cs typeface="Cambria" panose="02040503050406030204"/>
              </a:rPr>
              <a:t>2</a:t>
            </a:r>
            <a:r>
              <a:rPr lang="en-US" altLang="zh-CN" spc="-10" dirty="0">
                <a:latin typeface="Cambria" panose="02040503050406030204"/>
                <a:cs typeface="Cambria" panose="02040503050406030204"/>
              </a:rPr>
              <a:t>(0)</a:t>
            </a:r>
            <a:endParaRPr lang="zh-CN" altLang="en-US" dirty="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观测数据为</a:t>
            </a:r>
            <a:r>
              <a:rPr lang="zh-CN" altLang="en-US" spc="-5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70" dirty="0">
                <a:latin typeface="Cambria" panose="02040503050406030204"/>
                <a:cs typeface="Cambria" panose="02040503050406030204"/>
              </a:rPr>
              <a:t>(</a:t>
            </a:r>
            <a:r>
              <a:rPr lang="zh-CN" altLang="en-US" spc="70" dirty="0">
                <a:latin typeface="Cambria" panose="02040503050406030204"/>
                <a:cs typeface="Cambria" panose="02040503050406030204"/>
              </a:rPr>
              <a:t>𝐷</a:t>
            </a:r>
            <a:r>
              <a:rPr lang="zh-CN" altLang="en-US" spc="104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spc="30" dirty="0">
                <a:latin typeface="Cambria" panose="02040503050406030204"/>
                <a:cs typeface="Cambria" panose="02040503050406030204"/>
              </a:rPr>
              <a:t>,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baseline="-19000" dirty="0">
                <a:latin typeface="Cambria" panose="02040503050406030204"/>
                <a:cs typeface="Cambria" panose="02040503050406030204"/>
              </a:rPr>
              <a:t>1</a:t>
            </a:r>
            <a:r>
              <a:rPr lang="en-US" altLang="zh-CN" spc="-5" dirty="0">
                <a:latin typeface="Cambria" panose="02040503050406030204"/>
                <a:cs typeface="Cambria" panose="02040503050406030204"/>
              </a:rPr>
              <a:t>, </a:t>
            </a:r>
            <a:r>
              <a:rPr lang="zh-CN" altLang="en-US" dirty="0">
                <a:latin typeface="Cambria" panose="02040503050406030204"/>
                <a:cs typeface="Cambria" panose="02040503050406030204"/>
              </a:rPr>
              <a:t>𝑌</a:t>
            </a:r>
            <a:r>
              <a:rPr lang="zh-CN" altLang="en-US" baseline="-19000" dirty="0">
                <a:latin typeface="Cambria" panose="02040503050406030204"/>
                <a:cs typeface="Cambria" panose="02040503050406030204"/>
              </a:rPr>
              <a:t>𝑖</a:t>
            </a:r>
            <a:r>
              <a:rPr lang="en-US" altLang="zh-CN" baseline="-19000" dirty="0">
                <a:latin typeface="Cambria" panose="02040503050406030204"/>
                <a:cs typeface="Cambria" panose="02040503050406030204"/>
              </a:rPr>
              <a:t>2</a:t>
            </a:r>
            <a:r>
              <a:rPr lang="en-US" altLang="zh-CN" dirty="0">
                <a:latin typeface="Cambria" panose="02040503050406030204"/>
                <a:cs typeface="Cambria" panose="02040503050406030204"/>
              </a:rPr>
              <a:t>)</a:t>
            </a:r>
            <a:r>
              <a:rPr lang="zh-CN" altLang="en-US" baseline="32000" dirty="0">
                <a:latin typeface="Cambria" panose="02040503050406030204"/>
                <a:cs typeface="Cambria" panose="02040503050406030204"/>
              </a:rPr>
              <a:t>𝑛</a:t>
            </a:r>
            <a:r>
              <a:rPr lang="zh-CN" altLang="en-US" spc="480" baseline="32000" dirty="0">
                <a:latin typeface="Cambria" panose="02040503050406030204"/>
                <a:cs typeface="Cambria" panose="02040503050406030204"/>
              </a:rPr>
              <a:t>  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2B5CCB-61EE-D07C-A034-54E97E73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E530EE-509D-86BD-F94E-743F3078D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43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B909D4-E96B-2F8A-955E-BA6E05EDA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629" y="2495419"/>
            <a:ext cx="3886742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147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8BA41-3332-8F09-D087-BA969C40E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Exact</a:t>
            </a:r>
            <a:r>
              <a:rPr lang="en-US" altLang="zh-CN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70" dirty="0">
                <a:latin typeface="Palatino Linotype" panose="02040502050505030304"/>
                <a:cs typeface="Palatino Linotype" panose="02040502050505030304"/>
              </a:rPr>
              <a:t>P</a:t>
            </a:r>
            <a:r>
              <a:rPr lang="en-US" altLang="zh-CN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test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65FC35D-259B-8EAA-C0A9-133AC8624D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CN" altLang="en-US" sz="1800" spc="65" dirty="0">
                    <a:latin typeface="Cambria" panose="02040503050406030204"/>
                    <a:cs typeface="Cambria" panose="02040503050406030204"/>
                  </a:rPr>
                  <a:t>𝐻</a:t>
                </a:r>
                <a:r>
                  <a:rPr lang="en-US" altLang="zh-CN" sz="1800" spc="97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z="1800" spc="97" baseline="-19000" dirty="0">
                    <a:latin typeface="Cambria" panose="02040503050406030204"/>
                    <a:cs typeface="Cambria" panose="02040503050406030204"/>
                  </a:rPr>
                  <a:t>𝐹</a:t>
                </a:r>
                <a:r>
                  <a:rPr lang="zh-CN" altLang="en-US" sz="1800" spc="442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∶</a:t>
                </a:r>
                <a:r>
                  <a:rPr lang="zh-CN" altLang="en-US" sz="1800" spc="9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sz="1800" baseline="-19000" dirty="0">
                    <a:latin typeface="Cambria" panose="02040503050406030204"/>
                    <a:cs typeface="Cambria" panose="02040503050406030204"/>
                  </a:rPr>
                  <a:t>𝑖𝑗</a:t>
                </a:r>
                <a:r>
                  <a:rPr lang="en-US" altLang="zh-CN" sz="1800" dirty="0">
                    <a:latin typeface="Cambria" panose="02040503050406030204"/>
                    <a:cs typeface="Cambria" panose="02040503050406030204"/>
                  </a:rPr>
                  <a:t>(1)</a:t>
                </a:r>
                <a:r>
                  <a:rPr lang="zh-CN" altLang="en-US" sz="1800" spc="9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800" spc="190" dirty="0">
                    <a:latin typeface="Cambria" panose="02040503050406030204"/>
                    <a:cs typeface="Cambria" panose="02040503050406030204"/>
                  </a:rPr>
                  <a:t>=</a:t>
                </a:r>
                <a:r>
                  <a:rPr lang="zh-CN" altLang="en-US" sz="1800" spc="8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𝑌</a:t>
                </a:r>
                <a:r>
                  <a:rPr lang="zh-CN" altLang="en-US" sz="1800" baseline="-19000" dirty="0">
                    <a:latin typeface="Cambria" panose="02040503050406030204"/>
                    <a:cs typeface="Cambria" panose="02040503050406030204"/>
                  </a:rPr>
                  <a:t>𝑖𝑗</a:t>
                </a:r>
                <a:r>
                  <a:rPr lang="en-US" altLang="zh-CN" sz="1800" dirty="0">
                    <a:latin typeface="Cambria" panose="02040503050406030204"/>
                    <a:cs typeface="Cambria" panose="02040503050406030204"/>
                  </a:rPr>
                  <a:t>(0),</a:t>
                </a:r>
                <a:r>
                  <a:rPr lang="zh-CN" altLang="en-US" sz="1800" spc="-2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z="1800" spc="9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800" spc="190" dirty="0">
                    <a:latin typeface="Cambria" panose="02040503050406030204"/>
                    <a:cs typeface="Cambria" panose="02040503050406030204"/>
                  </a:rPr>
                  <a:t>=</a:t>
                </a:r>
                <a:r>
                  <a:rPr lang="zh-CN" altLang="en-US" sz="1800" spc="9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800" dirty="0">
                    <a:latin typeface="Cambria" panose="02040503050406030204"/>
                    <a:cs typeface="Cambria" panose="02040503050406030204"/>
                  </a:rPr>
                  <a:t>1,</a:t>
                </a:r>
                <a:r>
                  <a:rPr lang="zh-CN" altLang="en-US" sz="1800" spc="-3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800" spc="65" dirty="0">
                    <a:latin typeface="Cambria" panose="02040503050406030204"/>
                    <a:cs typeface="Cambria" panose="02040503050406030204"/>
                  </a:rPr>
                  <a:t>…</a:t>
                </a:r>
                <a:r>
                  <a:rPr lang="zh-CN" altLang="en-US" sz="1800" spc="-2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800" spc="60" dirty="0">
                    <a:latin typeface="Cambria" panose="02040503050406030204"/>
                    <a:cs typeface="Cambria" panose="02040503050406030204"/>
                  </a:rPr>
                  <a:t>,</a:t>
                </a:r>
                <a:r>
                  <a:rPr lang="zh-CN" altLang="en-US" sz="1800" spc="-2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en-US" altLang="zh-CN" sz="1800" dirty="0">
                    <a:latin typeface="Cambria" panose="02040503050406030204"/>
                    <a:cs typeface="Cambria" panose="02040503050406030204"/>
                  </a:rPr>
                  <a:t>,</a:t>
                </a:r>
                <a:r>
                  <a:rPr lang="zh-CN" altLang="en-US" sz="1800" spc="-3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𝑗</a:t>
                </a:r>
                <a:r>
                  <a:rPr lang="zh-CN" altLang="en-US" sz="1800" spc="1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800" spc="190" dirty="0">
                    <a:latin typeface="Cambria" panose="02040503050406030204"/>
                    <a:cs typeface="Cambria" panose="02040503050406030204"/>
                  </a:rPr>
                  <a:t>=</a:t>
                </a:r>
                <a:r>
                  <a:rPr lang="zh-CN" altLang="en-US" sz="1800" spc="9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800" dirty="0">
                    <a:latin typeface="Cambria" panose="02040503050406030204"/>
                    <a:cs typeface="Cambria" panose="02040503050406030204"/>
                  </a:rPr>
                  <a:t>1,</a:t>
                </a:r>
                <a:r>
                  <a:rPr lang="zh-CN" altLang="en-US" sz="1800" spc="-2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800" spc="-25" dirty="0">
                    <a:latin typeface="Cambria" panose="02040503050406030204"/>
                    <a:cs typeface="Cambria" panose="02040503050406030204"/>
                  </a:rPr>
                  <a:t>2.</a:t>
                </a:r>
                <a:endParaRPr lang="zh-CN" altLang="en-US" sz="1800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估计量：组内均值之</a:t>
                </a:r>
                <a:r>
                  <a:rPr lang="zh-CN" altLang="en-US" sz="18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差</a:t>
                </a:r>
                <a:endParaRPr lang="zh-CN" altLang="en-US" sz="18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1800" i="1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zh-CN" altLang="en-US" sz="1800" i="1" dirty="0" smtClean="0">
                              <a:latin typeface="Cambria Math" panose="02040503050406030204" pitchFamily="18" charset="0"/>
                              <a:cs typeface="Cambria" panose="02040503050406030204"/>
                            </a:rPr>
                          </m:ctrlPr>
                        </m:acc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  <a:cs typeface="Cambria" panose="02040503050406030204"/>
                            </a:rPr>
                            <m:t>𝜏</m:t>
                          </m:r>
                        </m:e>
                      </m:acc>
                      <m:r>
                        <a:rPr lang="zh-CN" altLang="en-US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sz="1800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sz="1800" i="1" spc="10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(</m:t>
                      </m:r>
                      <m:r>
                        <a:rPr lang="zh-CN" altLang="en-US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1</m:t>
                      </m:r>
                      <m:r>
                        <a:rPr lang="zh-CN" altLang="en-US" sz="1800" i="1" spc="247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sz="1800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−</m:t>
                      </m:r>
                      <m:r>
                        <a:rPr lang="zh-CN" altLang="en-US" sz="1800" i="1" spc="4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2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)</m:t>
                      </m:r>
                      <m:r>
                        <a:rPr lang="zh-CN" altLang="en-US" sz="1800" i="1" spc="4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sz="1800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+</m:t>
                      </m:r>
                      <m:r>
                        <a:rPr lang="zh-CN" altLang="en-US" sz="1800" i="1" spc="4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sz="1800" i="1" spc="-10" dirty="0">
                          <a:latin typeface="Cambria Math" panose="02040503050406030204" pitchFamily="18" charset="0"/>
                          <a:cs typeface="Cambria" panose="02040503050406030204"/>
                        </a:rPr>
                        <m:t>(1</m:t>
                      </m:r>
                      <m:r>
                        <a:rPr lang="zh-CN" altLang="en-US" sz="1800" i="1" spc="4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sz="1800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−</m:t>
                      </m:r>
                      <m:r>
                        <a:rPr lang="zh-CN" altLang="en-US" sz="1800" i="1" spc="4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)(</m:t>
                      </m:r>
                      <m:r>
                        <a:rPr lang="zh-CN" altLang="en-US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2</m:t>
                      </m:r>
                      <m:r>
                        <a:rPr lang="zh-CN" altLang="en-US" sz="1800" i="1" spc="240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sz="1800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−</m:t>
                      </m:r>
                      <m:r>
                        <a:rPr lang="zh-CN" altLang="en-US" sz="1800" i="1" spc="4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1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)</m:t>
                      </m:r>
                      <m:r>
                        <a:rPr lang="zh-CN" altLang="en-US" sz="1800" i="1" spc="10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sz="1800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sz="1800" i="1" spc="10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(2</m:t>
                      </m:r>
                      <m:r>
                        <a:rPr lang="zh-CN" altLang="en-US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𝐷</m:t>
                      </m:r>
                      <m:r>
                        <a:rPr lang="zh-CN" altLang="en-US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zh-CN" altLang="en-US" sz="1800" i="1" spc="247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sz="1800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−</m:t>
                      </m:r>
                      <m:r>
                        <a:rPr lang="zh-CN" altLang="en-US" sz="1800" i="1" spc="4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1)(</m:t>
                      </m:r>
                      <m:r>
                        <a:rPr lang="zh-CN" altLang="en-US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1</m:t>
                      </m:r>
                      <m:r>
                        <a:rPr lang="zh-CN" altLang="en-US" sz="1800" i="1" spc="240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sz="1800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−</m:t>
                      </m:r>
                      <m:r>
                        <a:rPr lang="zh-CN" altLang="en-US" sz="1800" i="1" spc="4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sz="1800" i="1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2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cs typeface="Cambria" panose="02040503050406030204"/>
                        </a:rPr>
                        <m:t>)</m:t>
                      </m:r>
                      <m:r>
                        <a:rPr lang="zh-CN" altLang="en-US" sz="1800" i="1" spc="10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en-US" altLang="zh-CN" sz="1800" i="1" spc="190" dirty="0">
                          <a:latin typeface="Cambria Math" panose="02040503050406030204" pitchFamily="18" charset="0"/>
                          <a:cs typeface="Cambria" panose="02040503050406030204"/>
                        </a:rPr>
                        <m:t>=</m:t>
                      </m:r>
                      <m:r>
                        <a:rPr lang="zh-CN" altLang="en-US" sz="1800" i="1" spc="105" dirty="0">
                          <a:latin typeface="Cambria Math" panose="02040503050406030204" pitchFamily="18" charset="0"/>
                          <a:cs typeface="Cambria" panose="02040503050406030204"/>
                        </a:rPr>
                        <m:t> </m:t>
                      </m:r>
                      <m:r>
                        <a:rPr lang="zh-CN" altLang="en-US" sz="1800" i="1" spc="4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𝑊</m:t>
                      </m:r>
                      <m:r>
                        <a:rPr lang="zh-CN" altLang="en-US" sz="1800" i="1" spc="60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sz="1800" i="1" spc="40" dirty="0">
                          <a:latin typeface="Cambria Math" panose="02040503050406030204" pitchFamily="18" charset="0"/>
                          <a:cs typeface="Cambria" panose="02040503050406030204"/>
                        </a:rPr>
                        <m:t>(</m:t>
                      </m:r>
                      <m:r>
                        <a:rPr lang="zh-CN" altLang="en-US" sz="1800" i="1" spc="4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𝑌</m:t>
                      </m:r>
                      <m:r>
                        <a:rPr lang="zh-CN" altLang="en-US" sz="1800" i="1" spc="60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sz="1800" i="1" spc="60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1</m:t>
                      </m:r>
                      <m:r>
                        <a:rPr lang="zh-CN" altLang="en-US" sz="1800" i="1" spc="40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1800" i="1" spc="40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Y</m:t>
                      </m:r>
                      <m:r>
                        <a:rPr lang="zh-CN" altLang="en-US" sz="1800" i="1" spc="60" baseline="-19000" dirty="0" smtClean="0">
                          <a:latin typeface="Cambria Math" panose="02040503050406030204" pitchFamily="18" charset="0"/>
                          <a:cs typeface="Cambria" panose="02040503050406030204"/>
                        </a:rPr>
                        <m:t>𝑖</m:t>
                      </m:r>
                      <m:r>
                        <a:rPr lang="en-US" altLang="zh-CN" sz="1800" i="1" spc="60" baseline="-19000" dirty="0">
                          <a:latin typeface="Cambria Math" panose="02040503050406030204" pitchFamily="18" charset="0"/>
                          <a:cs typeface="Cambria" panose="02040503050406030204"/>
                        </a:rPr>
                        <m:t>2</m:t>
                      </m:r>
                      <m:r>
                        <a:rPr lang="en-US" altLang="zh-CN" sz="1800" i="1" spc="40" dirty="0">
                          <a:latin typeface="Cambria Math" panose="02040503050406030204" pitchFamily="18" charset="0"/>
                          <a:cs typeface="Cambria" panose="02040503050406030204"/>
                        </a:rPr>
                        <m:t>),</m:t>
                      </m:r>
                    </m:oMath>
                  </m:oMathPara>
                </a14:m>
                <a:endParaRPr lang="zh-CN" altLang="en-US" sz="1800" dirty="0">
                  <a:latin typeface="Cambria" panose="02040503050406030204"/>
                  <a:cs typeface="Cambria" panose="02040503050406030204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其中</a:t>
                </a:r>
                <a:r>
                  <a:rPr lang="zh-CN" altLang="en-US" sz="1800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𝑊</a:t>
                </a:r>
                <a:r>
                  <a:rPr lang="zh-CN" altLang="en-US" sz="1800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z="1800" spc="330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为均值为</a:t>
                </a:r>
                <a:r>
                  <a:rPr lang="zh-CN" altLang="en-US" sz="1800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800" dirty="0">
                    <a:latin typeface="Palatino Linotype" panose="02040502050505030304"/>
                    <a:cs typeface="Palatino Linotype" panose="02040502050505030304"/>
                  </a:rPr>
                  <a:t>0</a:t>
                </a:r>
                <a:r>
                  <a:rPr lang="zh-CN" altLang="en-US" sz="1800" spc="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方差为</a:t>
                </a:r>
                <a:r>
                  <a:rPr lang="zh-CN" altLang="en-US" sz="1800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800" dirty="0">
                    <a:latin typeface="Palatino Linotype" panose="02040502050505030304"/>
                    <a:cs typeface="Palatino Linotype" panose="02040502050505030304"/>
                  </a:rPr>
                  <a:t>1</a:t>
                </a:r>
                <a:r>
                  <a:rPr lang="zh-CN" altLang="en-US" sz="1800" spc="85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800" spc="-7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 </a:t>
                </a:r>
                <a:r>
                  <a:rPr lang="en-US" altLang="zh-CN" sz="1800" dirty="0" err="1">
                    <a:latin typeface="Palatino Linotype" panose="02040502050505030304"/>
                    <a:cs typeface="Palatino Linotype" panose="02040502050505030304"/>
                  </a:rPr>
                  <a:t>i.i.d</a:t>
                </a:r>
                <a:r>
                  <a:rPr lang="zh-CN" altLang="en-US" sz="1800" spc="8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随机变量。</a:t>
                </a:r>
                <a:endParaRPr lang="en-US" altLang="zh-CN" sz="1800" spc="-1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配对</a:t>
                </a:r>
                <a:r>
                  <a:rPr lang="zh-CN" altLang="en-US" sz="18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𝑡</a:t>
                </a:r>
                <a:r>
                  <a:rPr lang="zh-CN" altLang="en-US" sz="1800" spc="8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统计量：组内估计量的平均</a:t>
                </a:r>
                <a:r>
                  <a:rPr lang="zh-CN" altLang="en-US" sz="18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值</a:t>
                </a:r>
                <a:endParaRPr lang="en-US" altLang="zh-CN" sz="1800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CN" sz="1800" spc="-50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CN" altLang="en-US" sz="1800" spc="-6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在 </a:t>
                </a:r>
                <a:r>
                  <a:rPr lang="zh-CN" altLang="en-US" sz="1800" spc="65" dirty="0">
                    <a:latin typeface="Cambria" panose="02040503050406030204"/>
                    <a:cs typeface="Cambria" panose="02040503050406030204"/>
                  </a:rPr>
                  <a:t>𝐻</a:t>
                </a:r>
                <a:r>
                  <a:rPr lang="en-US" altLang="zh-CN" sz="1800" spc="97" baseline="-1900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z="1800" spc="97" baseline="-19000" dirty="0">
                    <a:latin typeface="Cambria" panose="02040503050406030204"/>
                    <a:cs typeface="Cambria" panose="02040503050406030204"/>
                  </a:rPr>
                  <a:t>𝐹</a:t>
                </a:r>
                <a:r>
                  <a:rPr lang="zh-CN" altLang="en-US" sz="1800" spc="525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下</a:t>
                </a:r>
                <a:r>
                  <a:rPr lang="zh-CN" altLang="en-US" sz="18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𝐸</a:t>
                </a:r>
                <a:r>
                  <a:rPr lang="en-US" altLang="zh-CN" sz="1800" dirty="0">
                    <a:latin typeface="Cambria" panose="02040503050406030204"/>
                    <a:cs typeface="Cambria" panose="02040503050406030204"/>
                  </a:rPr>
                  <a:t>[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𝜏̂</a:t>
                </a:r>
                <a:r>
                  <a:rPr lang="en-US" altLang="zh-CN" sz="1800" spc="85" dirty="0">
                    <a:latin typeface="Cambria" panose="02040503050406030204"/>
                    <a:cs typeface="Cambria" panose="02040503050406030204"/>
                  </a:rPr>
                  <a:t>] = </a:t>
                </a:r>
                <a:r>
                  <a:rPr lang="en-US" altLang="zh-CN" sz="1800" spc="-4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z="1800" spc="-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因为</a:t>
                </a:r>
                <a:r>
                  <a:rPr lang="zh-CN" altLang="en-US" sz="1800" spc="-1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𝐸</a:t>
                </a:r>
                <a:r>
                  <a:rPr lang="en-US" altLang="zh-CN" sz="1800" dirty="0">
                    <a:latin typeface="Cambria" panose="02040503050406030204"/>
                    <a:cs typeface="Cambria" panose="02040503050406030204"/>
                  </a:rPr>
                  <a:t>[</a:t>
                </a:r>
                <a:r>
                  <a:rPr lang="zh-CN" altLang="en-US" sz="1800" dirty="0">
                    <a:latin typeface="Cambria" panose="02040503050406030204"/>
                    <a:cs typeface="Cambria" panose="02040503050406030204"/>
                  </a:rPr>
                  <a:t>𝑊</a:t>
                </a:r>
                <a:r>
                  <a:rPr lang="zh-CN" altLang="en-US" sz="1800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z="1800" spc="80" dirty="0">
                    <a:latin typeface="Cambria" panose="02040503050406030204"/>
                    <a:cs typeface="Cambria" panose="02040503050406030204"/>
                  </a:rPr>
                  <a:t>] = </a:t>
                </a:r>
                <a:r>
                  <a:rPr lang="en-US" altLang="zh-CN" sz="1800" spc="-180" dirty="0">
                    <a:latin typeface="Cambria" panose="02040503050406030204"/>
                    <a:cs typeface="Cambria" panose="02040503050406030204"/>
                  </a:rPr>
                  <a:t>0</a:t>
                </a:r>
                <a:r>
                  <a:rPr lang="zh-CN" altLang="en-US" sz="1800" spc="-18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），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方差</a:t>
                </a:r>
                <a:r>
                  <a:rPr lang="zh-CN" altLang="en-US" sz="18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为</a:t>
                </a:r>
                <a:endParaRPr lang="zh-CN" altLang="en-US" sz="18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很多文献建议用下列配对</a:t>
                </a:r>
                <a:r>
                  <a:rPr lang="zh-CN" altLang="en-US" sz="1800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800" spc="60" dirty="0">
                    <a:latin typeface="Palatino Linotype" panose="02040502050505030304"/>
                    <a:cs typeface="Palatino Linotype" panose="02040502050505030304"/>
                  </a:rPr>
                  <a:t>t</a:t>
                </a:r>
                <a:r>
                  <a:rPr lang="zh-CN" altLang="en-US" sz="1800" spc="90" dirty="0">
                    <a:latin typeface="Palatino Linotype" panose="02040502050505030304"/>
                    <a:cs typeface="Palatino Linotype" panose="02040502050505030304"/>
                  </a:rPr>
                  <a:t> </a:t>
                </a:r>
                <a:r>
                  <a:rPr lang="zh-CN" altLang="en-US" sz="18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统计量</a:t>
                </a:r>
                <a:r>
                  <a:rPr lang="zh-CN" altLang="en-US" sz="18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zh-CN" altLang="en-US" sz="18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endParaRPr lang="en-US" altLang="zh-CN" sz="1800" dirty="0"/>
              </a:p>
              <a:p>
                <a:pPr>
                  <a:lnSpc>
                    <a:spcPct val="110000"/>
                  </a:lnSpc>
                </a:pPr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65FC35D-259B-8EAA-C0A9-133AC8624D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1D2BCE-09DE-A44D-0066-5EF15833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9E69AA-BEF5-6D7D-3C10-912220E0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44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8B07E85-50E5-1EBC-8992-0988351D0ECD}"/>
                  </a:ext>
                </a:extLst>
              </p:cNvPr>
              <p:cNvSpPr txBox="1"/>
              <p:nvPr/>
            </p:nvSpPr>
            <p:spPr>
              <a:xfrm>
                <a:off x="5557012" y="3578263"/>
                <a:ext cx="1116075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8B07E85-50E5-1EBC-8992-0988351D0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012" y="3578263"/>
                <a:ext cx="1116075" cy="672172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BE81A4-47D3-149D-6EBE-7C03A22CEAF7}"/>
                  </a:ext>
                </a:extLst>
              </p:cNvPr>
              <p:cNvSpPr txBox="1"/>
              <p:nvPr/>
            </p:nvSpPr>
            <p:spPr>
              <a:xfrm>
                <a:off x="2456207" y="4877613"/>
                <a:ext cx="5776646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𝑣𝑎𝑟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𝑣𝑎𝑟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acc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BE81A4-47D3-149D-6EBE-7C03A22CE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207" y="4877613"/>
                <a:ext cx="5776646" cy="672172"/>
              </a:xfrm>
              <a:prstGeom prst="rect">
                <a:avLst/>
              </a:prstGeom>
              <a:blipFill>
                <a:blip r:embed="rId4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D91C515-669A-2033-EAC2-65FC1D8B8651}"/>
                  </a:ext>
                </a:extLst>
              </p:cNvPr>
              <p:cNvSpPr txBox="1"/>
              <p:nvPr/>
            </p:nvSpPr>
            <p:spPr>
              <a:xfrm>
                <a:off x="4988660" y="5729173"/>
                <a:ext cx="3219471" cy="7749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𝑝𝑎𝑖𝑟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lit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</m:e>
                              </m:nary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D91C515-669A-2033-EAC2-65FC1D8B8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660" y="5729173"/>
                <a:ext cx="3219471" cy="7749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2899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BCA3D-6CE2-7FCA-003C-015909C73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pc="-35" dirty="0">
                <a:latin typeface="Palatino Linotype" panose="02040502050505030304"/>
                <a:cs typeface="Palatino Linotype" panose="02040502050505030304"/>
              </a:rPr>
              <a:t>Neyman</a:t>
            </a:r>
            <a:r>
              <a:rPr lang="en-US" altLang="zh-CN" spc="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20" dirty="0"/>
              <a:t>方</a:t>
            </a:r>
            <a:r>
              <a:rPr lang="zh-CN" altLang="en-US" spc="-50" dirty="0"/>
              <a:t>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FBDD24-15A0-8D3A-F4AB-7F79D1F6A4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目标参数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pc="13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层内平均因果效应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假设</a:t>
                </a:r>
                <a:r>
                  <a:rPr lang="zh-CN" altLang="en-US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pc="-3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spc="-3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</m:ctrlPr>
                          </m:accPr>
                          <m:e>
                            <m:r>
                              <a:rPr lang="zh-CN" altLang="en-US" i="1" spc="-3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en-US" altLang="zh-CN" b="0" i="1" spc="-1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𝑖</m:t>
                        </m:r>
                      </m:sub>
                    </m:sSub>
                    <m:r>
                      <a:rPr lang="en-US" altLang="zh-CN" b="0" i="1" spc="-10" dirty="0" smtClean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</m:oMath>
                </a14:m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是服从均值为</a:t>
                </a:r>
                <a:r>
                  <a:rPr lang="zh-CN" altLang="en-US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𝜇</a:t>
                </a:r>
                <a:r>
                  <a:rPr lang="zh-CN" altLang="en-US" spc="114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方差为</a:t>
                </a:r>
                <a:r>
                  <a:rPr lang="zh-CN" altLang="en-US" spc="-13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𝜎</a:t>
                </a:r>
                <a:r>
                  <a:rPr lang="zh-CN" altLang="en-US" spc="175" dirty="0">
                    <a:latin typeface="Cambria" panose="02040503050406030204"/>
                    <a:cs typeface="Cambria" panose="02040503050406030204"/>
                  </a:rPr>
                  <a:t> 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</a:t>
                </a:r>
                <a:r>
                  <a:rPr lang="zh-CN" altLang="en-US" spc="-13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pc="-10" dirty="0" err="1">
                    <a:latin typeface="Palatino Linotype" panose="02040502050505030304"/>
                    <a:cs typeface="Palatino Linotype" panose="02040502050505030304"/>
                  </a:rPr>
                  <a:t>i.i.d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spc="-10" dirty="0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则</m:t>
                    </m:r>
                    <m:r>
                      <a:rPr lang="zh-CN" altLang="en-US" i="1" spc="-135" dirty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altLang="zh-CN" b="0" i="1" spc="-3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accPr>
                      <m:e>
                        <m:r>
                          <a:rPr lang="en-US" altLang="zh-CN" b="0" i="1" spc="-3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𝜏</m:t>
                        </m:r>
                      </m:e>
                    </m:acc>
                    <m:r>
                      <a:rPr lang="en-US" altLang="zh-CN" i="1" spc="190" dirty="0">
                        <a:latin typeface="Cambria Math" panose="02040503050406030204" pitchFamily="18" charset="0"/>
                        <a:cs typeface="Cambria" panose="02040503050406030204"/>
                      </a:rPr>
                      <m:t>=</m:t>
                    </m:r>
                    <m:r>
                      <a:rPr lang="zh-CN" altLang="en-US" i="1" spc="55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altLang="zh-CN" b="0" i="1" spc="254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naryPr>
                      <m:sub>
                        <m:r>
                          <a:rPr lang="en-US" altLang="zh-CN" b="0" i="1" spc="254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𝑖</m:t>
                        </m:r>
                        <m:r>
                          <a:rPr lang="en-US" altLang="zh-CN" b="0" i="1" spc="254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=1</m:t>
                        </m:r>
                      </m:sub>
                      <m:sup>
                        <m:r>
                          <a:rPr lang="en-US" altLang="zh-CN" b="0" i="1" spc="254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b="0" i="1" spc="254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US" altLang="zh-CN" b="0" i="1" spc="254" dirty="0" smtClean="0">
                                    <a:latin typeface="Cambria Math" panose="02040503050406030204" pitchFamily="18" charset="0"/>
                                    <a:cs typeface="Cambria" panose="02040503050406030204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b="0" i="1" spc="254" dirty="0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pc="254" dirty="0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zh-CN" b="0" i="1" spc="254" dirty="0" smtClean="0">
                                        <a:latin typeface="Cambria Math" panose="02040503050406030204" pitchFamily="18" charset="0"/>
                                        <a:cs typeface="Cambria" panose="02040503050406030204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num>
                          <m:den>
                            <m:r>
                              <a:rPr lang="en-US" altLang="zh-CN" b="0" i="1" spc="-10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𝑛</m:t>
                            </m:r>
                          </m:den>
                        </m:f>
                      </m:e>
                    </m:nary>
                    <m:r>
                      <a:rPr lang="zh-CN" altLang="en-US" i="1" spc="150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</m:oMath>
                </a14:m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的方差为</a:t>
                </a:r>
                <a:r>
                  <a:rPr lang="zh-CN" altLang="en-US" spc="-1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𝜎</a:t>
                </a:r>
                <a:r>
                  <a:rPr lang="en-US" altLang="zh-CN" baseline="32000" dirty="0">
                    <a:latin typeface="Cambria" panose="02040503050406030204"/>
                    <a:cs typeface="Cambria" panose="02040503050406030204"/>
                  </a:rPr>
                  <a:t>2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/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对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𝜎</a:t>
                </a:r>
                <a:r>
                  <a:rPr lang="en-US" altLang="zh-CN" baseline="32000" dirty="0">
                    <a:latin typeface="Cambria" panose="02040503050406030204"/>
                    <a:cs typeface="Cambria" panose="02040503050406030204"/>
                  </a:rPr>
                  <a:t>2</a:t>
                </a:r>
                <a:r>
                  <a:rPr lang="zh-CN" altLang="en-US" spc="352" baseline="32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的一个无偏估计量是其样本方</a:t>
                </a:r>
                <a:r>
                  <a:rPr lang="zh-CN" altLang="en-US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差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pc="195" dirty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spc="195" dirty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b="0" i="0" spc="195" dirty="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n</m:t>
                        </m:r>
                        <m:r>
                          <a:rPr lang="en-US" altLang="zh-CN" b="0" i="0" spc="195" dirty="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0" i="1" spc="195" dirty="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</m:ctrlPr>
                      </m:naryPr>
                      <m:sub>
                        <m:r>
                          <a:rPr lang="en-US" altLang="zh-CN" b="0" i="1" spc="195" dirty="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b="0" i="1" spc="195" dirty="0" smtClean="0">
                            <a:latin typeface="Cambria Math" panose="02040503050406030204" pitchFamily="18" charset="0"/>
                            <a:cs typeface="宋体" panose="02010600030101010101" pitchFamily="2" charset="-122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pc="195" dirty="0" smtClean="0">
                                <a:latin typeface="Cambria Math" panose="02040503050406030204" pitchFamily="18" charset="0"/>
                                <a:cs typeface="宋体" panose="02010600030101010101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pc="195" dirty="0" smtClean="0">
                                    <a:latin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pc="195" dirty="0" smtClean="0"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b="0" i="1" spc="195" dirty="0" smtClean="0">
                                            <a:latin typeface="Cambria Math" panose="02040503050406030204" pitchFamily="18" charset="0"/>
                                            <a:cs typeface="宋体" panose="02010600030101010101" pitchFamily="2" charset="-122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spc="195" dirty="0" smtClean="0">
                                            <a:latin typeface="Cambria Math" panose="02040503050406030204" pitchFamily="18" charset="0"/>
                                            <a:cs typeface="宋体" panose="02010600030101010101" pitchFamily="2" charset="-122"/>
                                          </a:rPr>
                                          <m:t>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spc="195" dirty="0" smtClean="0"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b="0" i="1" spc="195" dirty="0" smtClean="0">
                                    <a:latin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zh-CN" b="0" i="1" spc="195" dirty="0" smtClean="0"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pc="195" dirty="0" smtClean="0">
                                        <a:latin typeface="Cambria Math" panose="02040503050406030204" pitchFamily="18" charset="0"/>
                                        <a:cs typeface="宋体" panose="02010600030101010101" pitchFamily="2" charset="-122"/>
                                      </a:rPr>
                                      <m:t>𝜏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zh-CN" b="0" i="1" spc="195" dirty="0" smtClean="0">
                                <a:latin typeface="Cambria Math" panose="02040503050406030204" pitchFamily="18" charset="0"/>
                                <a:cs typeface="宋体" panose="0201060003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14:m>
                  <m:oMath xmlns:m="http://schemas.openxmlformats.org/officeDocument/2006/math">
                    <m:r>
                      <a:rPr lang="zh-CN" altLang="en-US" i="1" spc="-30" dirty="0" smtClean="0">
                        <a:latin typeface="Cambria Math" panose="02040503050406030204" pitchFamily="18" charset="0"/>
                        <a:cs typeface="Cambria" panose="02040503050406030204"/>
                      </a:rPr>
                      <m:t>𝑣𝑎𝑟</m:t>
                    </m:r>
                    <m:r>
                      <a:rPr lang="en-US" altLang="zh-CN" i="1" spc="-30" dirty="0">
                        <a:latin typeface="Cambria Math" panose="02040503050406030204" pitchFamily="18" charset="0"/>
                        <a:cs typeface="Cambria" panose="02040503050406030204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zh-CN" b="0" i="1" spc="-3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accPr>
                      <m:e>
                        <m:r>
                          <a:rPr lang="en-US" altLang="zh-CN" b="0" i="1" spc="-30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𝜏</m:t>
                        </m:r>
                      </m:e>
                    </m:acc>
                    <m:r>
                      <a:rPr lang="en-US" altLang="zh-CN" i="1" spc="60" dirty="0">
                        <a:latin typeface="Cambria Math" panose="02040503050406030204" pitchFamily="18" charset="0"/>
                        <a:cs typeface="Cambria" panose="02040503050406030204"/>
                      </a:rPr>
                      <m:t>)</m:t>
                    </m:r>
                  </m:oMath>
                </a14:m>
                <a:r>
                  <a:rPr lang="en-US" altLang="zh-CN" spc="6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的一个无偏估计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量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为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en-US" altLang="zh-CN" spc="-5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CN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CN" altLang="en-US" spc="-55" dirty="0">
                    <a:latin typeface="Cambria" panose="02040503050406030204"/>
                    <a:cs typeface="Cambria" panose="02040503050406030204"/>
                  </a:rPr>
                  <a:t>𝑉</a:t>
                </a:r>
                <a:r>
                  <a:rPr lang="zh-CN" altLang="en-US" spc="-1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4800" baseline="12000" dirty="0">
                    <a:latin typeface="Cambria" panose="02040503050406030204"/>
                    <a:cs typeface="Cambria" panose="02040503050406030204"/>
                  </a:rPr>
                  <a:t>̂</a:t>
                </a:r>
                <a:r>
                  <a:rPr lang="zh-CN" altLang="en-US" sz="4800" spc="367" baseline="12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6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是 </a:t>
                </a:r>
                <a:r>
                  <a:rPr lang="zh-CN" altLang="en-US" spc="-30" dirty="0">
                    <a:latin typeface="Cambria" panose="02040503050406030204"/>
                    <a:cs typeface="Cambria" panose="02040503050406030204"/>
                  </a:rPr>
                  <a:t>𝑣𝑎𝑟</a:t>
                </a:r>
                <a:r>
                  <a:rPr lang="en-US" altLang="zh-CN" spc="-30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spc="-3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zh-CN" altLang="en-US" spc="-1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̂</a:t>
                </a:r>
                <a:r>
                  <a:rPr lang="en-US" altLang="zh-CN" spc="65" dirty="0">
                    <a:latin typeface="Cambria" panose="02040503050406030204"/>
                    <a:cs typeface="Cambria" panose="02040503050406030204"/>
                  </a:rPr>
                  <a:t>) 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的一个保守估计量，因为</a:t>
                </a:r>
                <a:r>
                  <a:rPr lang="zh-CN" altLang="en-US" spc="-114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𝐸</a:t>
                </a:r>
                <a:r>
                  <a:rPr lang="en-US" altLang="zh-CN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dirty="0">
                    <a:latin typeface="Cambria" panose="02040503050406030204"/>
                    <a:cs typeface="Cambria" panose="02040503050406030204"/>
                  </a:rPr>
                  <a:t>𝑉</a:t>
                </a:r>
                <a:r>
                  <a:rPr lang="zh-CN" altLang="en-US" spc="-11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4800" spc="75" baseline="12000" dirty="0">
                    <a:latin typeface="Cambria" panose="02040503050406030204"/>
                    <a:cs typeface="Cambria" panose="02040503050406030204"/>
                  </a:rPr>
                  <a:t>̂</a:t>
                </a:r>
                <a:r>
                  <a:rPr lang="en-US" altLang="zh-CN" spc="90" dirty="0">
                    <a:latin typeface="Cambria" panose="02040503050406030204"/>
                    <a:cs typeface="Cambria" panose="02040503050406030204"/>
                  </a:rPr>
                  <a:t>) ≥ </a:t>
                </a:r>
                <a:r>
                  <a:rPr lang="zh-CN" altLang="en-US" spc="-30" dirty="0">
                    <a:latin typeface="Cambria" panose="02040503050406030204"/>
                    <a:cs typeface="Cambria" panose="02040503050406030204"/>
                  </a:rPr>
                  <a:t>𝑣𝑎𝑟</a:t>
                </a:r>
                <a:r>
                  <a:rPr lang="en-US" altLang="zh-CN" spc="-30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spc="-3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zh-CN" altLang="en-US" spc="-1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pc="-10" dirty="0">
                    <a:latin typeface="Cambria" panose="02040503050406030204"/>
                    <a:cs typeface="Cambria" panose="02040503050406030204"/>
                  </a:rPr>
                  <a:t>̂</a:t>
                </a:r>
                <a:r>
                  <a:rPr lang="en-US" altLang="zh-CN" spc="-10" dirty="0">
                    <a:latin typeface="Cambria" panose="02040503050406030204"/>
                    <a:cs typeface="Cambria" panose="02040503050406030204"/>
                  </a:rPr>
                  <a:t>)</a:t>
                </a:r>
                <a:r>
                  <a:rPr lang="zh-CN" altLang="en-US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（证明参见</a:t>
                </a:r>
                <a:r>
                  <a:rPr lang="zh-CN" altLang="en-US" spc="-12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pc="-10" dirty="0">
                    <a:latin typeface="Palatino Linotype" panose="02040502050505030304"/>
                    <a:cs typeface="Palatino Linotype" panose="02040502050505030304"/>
                  </a:rPr>
                  <a:t>Ding(2024, </a:t>
                </a:r>
                <a:r>
                  <a:rPr lang="en-US" altLang="zh-CN" spc="-65" dirty="0">
                    <a:latin typeface="Palatino Linotype" panose="02040502050505030304"/>
                    <a:cs typeface="Palatino Linotype" panose="02040502050505030304"/>
                  </a:rPr>
                  <a:t>p.100)</a:t>
                </a:r>
                <a:r>
                  <a:rPr lang="zh-CN" altLang="en-US" spc="-6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）</a:t>
                </a:r>
                <a:r>
                  <a:rPr lang="zh-CN" altLang="en-US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endParaRPr lang="zh-CN" altLang="en-US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1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FBDD24-15A0-8D3A-F4AB-7F79D1F6A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401" r="-618" b="-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3A1236-0C2D-E78A-9B3E-7DA1B3A5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6D0EB5-3799-5071-FFA1-24BBB7F9E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45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17BAC88-AE17-DD85-AFFB-D7B1EDD783D4}"/>
                  </a:ext>
                </a:extLst>
              </p:cNvPr>
              <p:cNvSpPr txBox="1"/>
              <p:nvPr/>
            </p:nvSpPr>
            <p:spPr>
              <a:xfrm>
                <a:off x="2437953" y="2199632"/>
                <a:ext cx="3677097" cy="461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17BAC88-AE17-DD85-AFFB-D7B1EDD78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953" y="2199632"/>
                <a:ext cx="3677097" cy="4610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4E55A90-EACD-FF05-6A30-59C4A6C6119A}"/>
                  </a:ext>
                </a:extLst>
              </p:cNvPr>
              <p:cNvSpPr txBox="1"/>
              <p:nvPr/>
            </p:nvSpPr>
            <p:spPr>
              <a:xfrm>
                <a:off x="2437953" y="2728773"/>
                <a:ext cx="3733073" cy="7200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4E55A90-EACD-FF05-6A30-59C4A6C61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953" y="2728773"/>
                <a:ext cx="3733073" cy="7200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E4CEEF3-66F8-02A9-30F6-F1AB405FF895}"/>
                  </a:ext>
                </a:extLst>
              </p:cNvPr>
              <p:cNvSpPr txBox="1"/>
              <p:nvPr/>
            </p:nvSpPr>
            <p:spPr>
              <a:xfrm>
                <a:off x="2437953" y="4679690"/>
                <a:ext cx="2240742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E4CEEF3-66F8-02A9-30F6-F1AB405FF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953" y="4679690"/>
                <a:ext cx="2240742" cy="6721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40291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305D3-51C4-8BBF-D837-AD9DFE0CE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回归方</a:t>
            </a:r>
            <a:r>
              <a:rPr lang="zh-CN" altLang="en-US" spc="-50" dirty="0"/>
              <a:t>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F6E3246-4CCE-85A7-B688-ECA996326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回归方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法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60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其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中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sz="1600" spc="80" dirty="0">
                    <a:latin typeface="Cambria" panose="02040503050406030204"/>
                    <a:cs typeface="Cambria" panose="02040503050406030204"/>
                  </a:rPr>
                  <a:t>𝜏</a:t>
                </a:r>
                <a:r>
                  <a:rPr lang="zh-CN" altLang="en-US" sz="1600" spc="120" baseline="-19000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en-US" altLang="zh-CN" sz="1600" spc="120" baseline="-19000" dirty="0">
                    <a:latin typeface="Cambria" panose="02040503050406030204"/>
                    <a:cs typeface="Cambria" panose="02040503050406030204"/>
                  </a:rPr>
                  <a:t>,</a:t>
                </a:r>
                <a:r>
                  <a:rPr lang="zh-CN" altLang="en-US" sz="1600" spc="120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z="1600" spc="254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600" spc="190" dirty="0">
                    <a:latin typeface="Cambria" panose="02040503050406030204"/>
                    <a:cs typeface="Cambria" panose="02040503050406030204"/>
                  </a:rPr>
                  <a:t>=</a:t>
                </a:r>
                <a:r>
                  <a:rPr lang="zh-CN" altLang="en-US" sz="1600" spc="5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75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z="1600" spc="112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z="1600" spc="75" dirty="0">
                    <a:latin typeface="Cambria" panose="02040503050406030204"/>
                    <a:cs typeface="Cambria" panose="02040503050406030204"/>
                  </a:rPr>
                  <a:t>(</a:t>
                </a:r>
                <a:r>
                  <a:rPr lang="zh-CN" altLang="en-US" sz="1600" spc="75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zh-CN" altLang="en-US" sz="1600" spc="112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z="1600" spc="112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zh-CN" altLang="en-US" sz="1600" spc="179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190" dirty="0">
                    <a:latin typeface="Cambria" panose="02040503050406030204"/>
                    <a:cs typeface="Cambria" panose="02040503050406030204"/>
                  </a:rPr>
                  <a:t>−</a:t>
                </a:r>
                <a:r>
                  <a:rPr lang="zh-CN" altLang="en-US" sz="1600" spc="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70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zh-CN" altLang="en-US" sz="1600" spc="104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z="1600" spc="104" baseline="-19000" dirty="0">
                    <a:latin typeface="Cambria" panose="02040503050406030204"/>
                    <a:cs typeface="Cambria" panose="02040503050406030204"/>
                  </a:rPr>
                  <a:t>2</a:t>
                </a:r>
                <a:r>
                  <a:rPr lang="en-US" altLang="zh-CN" sz="1600" spc="70" dirty="0">
                    <a:latin typeface="Cambria" panose="02040503050406030204"/>
                    <a:cs typeface="Cambria" panose="02040503050406030204"/>
                  </a:rPr>
                  <a:t>)</a:t>
                </a:r>
                <a:r>
                  <a:rPr lang="zh-CN" altLang="en-US" sz="1600" spc="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600" spc="190" dirty="0">
                    <a:latin typeface="Cambria" panose="02040503050406030204"/>
                    <a:cs typeface="Cambria" panose="02040503050406030204"/>
                  </a:rPr>
                  <a:t>+</a:t>
                </a:r>
                <a:r>
                  <a:rPr lang="zh-CN" altLang="en-US" sz="1600" spc="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en-US" altLang="zh-CN" sz="1600" spc="-10" dirty="0">
                    <a:latin typeface="Cambria" panose="02040503050406030204"/>
                    <a:cs typeface="Cambria" panose="02040503050406030204"/>
                  </a:rPr>
                  <a:t>(1</a:t>
                </a:r>
                <a:r>
                  <a:rPr lang="zh-CN" altLang="en-US" sz="1600" spc="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190" dirty="0">
                    <a:latin typeface="Cambria" panose="02040503050406030204"/>
                    <a:cs typeface="Cambria" panose="02040503050406030204"/>
                  </a:rPr>
                  <a:t>−</a:t>
                </a:r>
                <a:r>
                  <a:rPr lang="zh-CN" altLang="en-US" sz="1600" spc="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65" dirty="0">
                    <a:latin typeface="Cambria" panose="02040503050406030204"/>
                    <a:cs typeface="Cambria" panose="02040503050406030204"/>
                  </a:rPr>
                  <a:t>𝐷</a:t>
                </a:r>
                <a:r>
                  <a:rPr lang="zh-CN" altLang="en-US" sz="1600" spc="97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z="1600" spc="65" dirty="0">
                    <a:latin typeface="Cambria" panose="02040503050406030204"/>
                    <a:cs typeface="Cambria" panose="02040503050406030204"/>
                  </a:rPr>
                  <a:t>)(</a:t>
                </a:r>
                <a:r>
                  <a:rPr lang="zh-CN" altLang="en-US" sz="1600" spc="65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zh-CN" altLang="en-US" sz="1600" spc="97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z="1600" spc="97" baseline="-19000" dirty="0">
                    <a:latin typeface="Cambria" panose="02040503050406030204"/>
                    <a:cs typeface="Cambria" panose="02040503050406030204"/>
                  </a:rPr>
                  <a:t>2</a:t>
                </a:r>
                <a:r>
                  <a:rPr lang="zh-CN" altLang="en-US" sz="1600" spc="172" baseline="-1900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190" dirty="0">
                    <a:latin typeface="Cambria" panose="02040503050406030204"/>
                    <a:cs typeface="Cambria" panose="02040503050406030204"/>
                  </a:rPr>
                  <a:t>−</a:t>
                </a:r>
                <a:r>
                  <a:rPr lang="zh-CN" altLang="en-US" sz="1600" spc="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60" dirty="0">
                    <a:latin typeface="Cambria" panose="02040503050406030204"/>
                    <a:cs typeface="Cambria" panose="02040503050406030204"/>
                  </a:rPr>
                  <a:t>𝑋</a:t>
                </a:r>
                <a:r>
                  <a:rPr lang="zh-CN" altLang="en-US" sz="1600" spc="89" baseline="-190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en-US" altLang="zh-CN" sz="1600" spc="89" baseline="-190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en-US" altLang="zh-CN" sz="1600" spc="60" dirty="0">
                    <a:latin typeface="Cambria" panose="02040503050406030204"/>
                    <a:cs typeface="Cambria" panose="02040503050406030204"/>
                  </a:rPr>
                  <a:t>).</a:t>
                </a:r>
                <a:endParaRPr lang="zh-CN" altLang="en-US" sz="1600" dirty="0">
                  <a:latin typeface="Cambria" panose="02040503050406030204"/>
                  <a:cs typeface="Cambria" panose="02040503050406030204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理论证明参见</a:t>
                </a:r>
                <a:r>
                  <a:rPr lang="zh-CN" altLang="en-US" sz="1600" spc="-6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600" dirty="0">
                    <a:latin typeface="Palatino Linotype" panose="02040502050505030304"/>
                    <a:cs typeface="Palatino Linotype" panose="02040502050505030304"/>
                  </a:rPr>
                  <a:t>Ding(2024)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一般化的配对实验</a:t>
                </a:r>
                <a:r>
                  <a:rPr lang="zh-CN" altLang="en-US" sz="16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zh-CN" altLang="en-US" sz="1600" spc="1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层</a:t>
                </a:r>
                <a:r>
                  <a:rPr lang="zh-CN" altLang="en-US" sz="16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z="1600" spc="1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层内是</a:t>
                </a:r>
                <a14:m>
                  <m:oMath xmlns:m="http://schemas.openxmlformats.org/officeDocument/2006/math">
                    <m:r>
                      <a:rPr lang="zh-CN" altLang="en-US" sz="1600" i="1" spc="-145" dirty="0" smtClean="0">
                        <a:latin typeface="Cambria Math" panose="02040503050406030204" pitchFamily="18" charset="0"/>
                        <a:cs typeface="宋体" panose="02010600030101010101" pitchFamily="2" charset="-122"/>
                      </a:rPr>
                      <m:t>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cs typeface="Cambria" panose="02040503050406030204"/>
                      </a:rPr>
                      <m:t>1</m:t>
                    </m:r>
                    <m:r>
                      <a:rPr lang="zh-CN" altLang="en-US" sz="1600" i="1" spc="30" dirty="0">
                        <a:latin typeface="Cambria Math" panose="02040503050406030204" pitchFamily="18" charset="0"/>
                        <a:cs typeface="Cambria" panose="02040503050406030204"/>
                      </a:rPr>
                      <m:t> : </m:t>
                    </m:r>
                    <m:sSub>
                      <m:sSubPr>
                        <m:ctrlPr>
                          <a:rPr lang="zh-CN" altLang="en-US" sz="1600" i="1" spc="95" dirty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sSubPr>
                      <m:e>
                        <m:r>
                          <a:rPr lang="zh-CN" altLang="en-US" sz="1600" i="1" spc="95" dirty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spc="95" dirty="0" err="1">
                            <a:latin typeface="Cambria Math" panose="02040503050406030204" pitchFamily="18" charset="0"/>
                            <a:cs typeface="Cambria" panose="02040503050406030204"/>
                          </a:rPr>
                          <m:t>i</m:t>
                        </m:r>
                      </m:sub>
                    </m:sSub>
                    <m:r>
                      <a:rPr lang="zh-CN" altLang="en-US" sz="1600" i="1" spc="409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</m:oMath>
                </a14:m>
                <a:r>
                  <a:rPr lang="zh-CN" altLang="en-US" sz="1600" spc="-10" dirty="0" err="1">
                    <a:latin typeface="宋体" panose="02010600030101010101" pitchFamily="2" charset="-122"/>
                    <a:cs typeface="宋体" panose="02010600030101010101" pitchFamily="2" charset="-122"/>
                  </a:rPr>
                  <a:t>匹配，总实验个体数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1600" spc="-14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如果关心的目标参数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为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60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上文针对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600" dirty="0">
                    <a:latin typeface="Cambria" panose="02040503050406030204"/>
                    <a:cs typeface="Cambria" panose="02040503050406030204"/>
                  </a:rPr>
                  <a:t>1 ∶ 1</a:t>
                </a:r>
                <a:r>
                  <a:rPr lang="zh-CN" altLang="en-US" sz="1600" spc="70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配对实验的估计方法均适用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zh-CN" altLang="en-US" sz="16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F6E3246-4CCE-85A7-B688-ECA996326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r="-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8B0088-09FD-49EF-2291-ACC5ECD9B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BDC647-4B96-8EF4-0B84-789E0FE3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46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BCBEFB5-4DC2-8850-BEC1-EEBE9DD5AC00}"/>
                  </a:ext>
                </a:extLst>
              </p:cNvPr>
              <p:cNvSpPr txBox="1"/>
              <p:nvPr/>
            </p:nvSpPr>
            <p:spPr>
              <a:xfrm>
                <a:off x="2456891" y="2077065"/>
                <a:ext cx="98033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BCBEFB5-4DC2-8850-BEC1-EEBE9DD5A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891" y="2077065"/>
                <a:ext cx="980333" cy="246221"/>
              </a:xfrm>
              <a:prstGeom prst="rect">
                <a:avLst/>
              </a:prstGeom>
              <a:blipFill>
                <a:blip r:embed="rId3"/>
                <a:stretch>
                  <a:fillRect l="-1863" t="-17500" r="-621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0AAE770-AA49-9E3B-6B5F-39CC25247D64}"/>
                  </a:ext>
                </a:extLst>
              </p:cNvPr>
              <p:cNvSpPr txBox="1"/>
              <p:nvPr/>
            </p:nvSpPr>
            <p:spPr>
              <a:xfrm>
                <a:off x="2456891" y="2574726"/>
                <a:ext cx="1650452" cy="256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0AAE770-AA49-9E3B-6B5F-39CC25247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891" y="2574726"/>
                <a:ext cx="1650452" cy="256993"/>
              </a:xfrm>
              <a:prstGeom prst="rect">
                <a:avLst/>
              </a:prstGeom>
              <a:blipFill>
                <a:blip r:embed="rId4"/>
                <a:stretch>
                  <a:fillRect l="-1107" t="-13953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C2674ED-D99C-9F69-CEB2-108D6D8016D7}"/>
                  </a:ext>
                </a:extLst>
              </p:cNvPr>
              <p:cNvSpPr txBox="1"/>
              <p:nvPr/>
            </p:nvSpPr>
            <p:spPr>
              <a:xfrm>
                <a:off x="3110627" y="4459033"/>
                <a:ext cx="1116075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C2674ED-D99C-9F69-CEB2-108D6D801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627" y="4459033"/>
                <a:ext cx="1116075" cy="6721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48309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03EC0-6C84-0A4D-D86C-E2D53D3C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配对随机化实</a:t>
            </a:r>
            <a:r>
              <a:rPr lang="zh-CN" altLang="en-US" spc="-50" dirty="0"/>
              <a:t>验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D20A7EF-4C1D-989A-0E89-FBFC0358A5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一般化的</a:t>
                </a:r>
                <a:r>
                  <a:rPr lang="zh-CN" altLang="en-US" sz="16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𝑛</a:t>
                </a:r>
                <a:r>
                  <a:rPr lang="zh-CN" altLang="en-US" sz="1600" spc="1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层</a:t>
                </a:r>
                <a:r>
                  <a:rPr lang="zh-CN" altLang="en-US" sz="160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</a:t>
                </a:r>
                <a:r>
                  <a:rPr lang="zh-CN" altLang="en-US" sz="1600" dirty="0">
                    <a:latin typeface="Cambria" panose="02040503050406030204"/>
                    <a:cs typeface="Cambria" panose="02040503050406030204"/>
                  </a:rPr>
                  <a:t>𝑖</a:t>
                </a:r>
                <a:r>
                  <a:rPr lang="zh-CN" altLang="en-US" sz="1600" spc="105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层内是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600" dirty="0">
                    <a:latin typeface="Cambria" panose="02040503050406030204"/>
                    <a:cs typeface="Cambria" panose="02040503050406030204"/>
                  </a:rPr>
                  <a:t>1</a:t>
                </a:r>
                <a:r>
                  <a:rPr lang="zh-CN" altLang="en-US" sz="1600" spc="30" dirty="0">
                    <a:latin typeface="Cambria" panose="02040503050406030204"/>
                    <a:cs typeface="Cambria" panose="02040503050406030204"/>
                  </a:rPr>
                  <a:t> ∶ </a:t>
                </a:r>
                <a:r>
                  <a:rPr lang="zh-CN" altLang="en-US" sz="1600" spc="95" dirty="0">
                    <a:latin typeface="Cambria" panose="02040503050406030204"/>
                    <a:cs typeface="Cambria" panose="02040503050406030204"/>
                  </a:rPr>
                  <a:t>𝑀</a:t>
                </a:r>
                <a:r>
                  <a:rPr lang="zh-CN" altLang="en-US" sz="1600" spc="409" dirty="0">
                    <a:latin typeface="Cambria" panose="02040503050406030204"/>
                    <a:cs typeface="Cambria" panose="02040503050406030204"/>
                  </a:rPr>
                  <a:t> 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匹配，总实验个体数</a:t>
                </a:r>
                <a:r>
                  <a:rPr lang="zh-CN" altLang="en-US" sz="1600" spc="-145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600" i="1" spc="55" dirty="0" smtClean="0">
                        <a:latin typeface="Cambria Math" panose="02040503050406030204" pitchFamily="18" charset="0"/>
                        <a:cs typeface="Cambria" panose="02040503050406030204"/>
                      </a:rPr>
                      <m:t>𝑁</m:t>
                    </m:r>
                    <m:r>
                      <a:rPr lang="zh-CN" altLang="en-US" sz="1600" i="1" spc="125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  <m:r>
                      <a:rPr lang="en-US" altLang="zh-CN" sz="1600" i="1" spc="125" dirty="0">
                        <a:latin typeface="Cambria Math" panose="02040503050406030204" pitchFamily="18" charset="0"/>
                        <a:cs typeface="Cambria" panose="02040503050406030204"/>
                      </a:rPr>
                      <m:t>= </m:t>
                    </m:r>
                    <m:r>
                      <a:rPr lang="zh-CN" altLang="en-US" sz="1600" i="1" dirty="0">
                        <a:latin typeface="Cambria Math" panose="02040503050406030204" pitchFamily="18" charset="0"/>
                        <a:cs typeface="Cambria" panose="02040503050406030204"/>
                      </a:rPr>
                      <m:t>𝑛</m:t>
                    </m:r>
                    <m:r>
                      <a:rPr lang="zh-CN" altLang="en-US" sz="1600" i="1" spc="95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  <m:r>
                      <a:rPr lang="en-US" altLang="zh-CN" sz="1600" i="1" spc="95" dirty="0">
                        <a:latin typeface="Cambria Math" panose="02040503050406030204" pitchFamily="18" charset="0"/>
                        <a:cs typeface="Cambria" panose="02040503050406030204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1600" b="0" i="1" spc="95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</m:ctrlPr>
                      </m:naryPr>
                      <m:sub>
                        <m:r>
                          <a:rPr lang="en-US" altLang="zh-CN" sz="1600" b="0" i="1" spc="95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𝑖</m:t>
                        </m:r>
                        <m:r>
                          <a:rPr lang="en-US" altLang="zh-CN" sz="1600" b="0" i="1" spc="95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pc="95" dirty="0" smtClean="0">
                            <a:latin typeface="Cambria Math" panose="02040503050406030204" pitchFamily="18" charset="0"/>
                            <a:cs typeface="Cambria" panose="02040503050406030204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0" i="1" spc="95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00" b="0" i="1" spc="95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600" b="0" i="1" spc="95" dirty="0" smtClean="0">
                                <a:latin typeface="Cambria Math" panose="02040503050406030204" pitchFamily="18" charset="0"/>
                                <a:cs typeface="Cambria" panose="02040503050406030204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zh-CN" altLang="en-US" sz="1600" i="1" spc="100" dirty="0">
                        <a:latin typeface="Cambria Math" panose="02040503050406030204" pitchFamily="18" charset="0"/>
                        <a:cs typeface="Cambria" panose="02040503050406030204"/>
                      </a:rPr>
                      <m:t> </m:t>
                    </m:r>
                  </m:oMath>
                </a14:m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，定义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每</a:t>
                </a: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层个体数权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重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</a:pP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目标参数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zh-CN" sz="16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估计量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zh-CN" sz="16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方差估计量</a:t>
                </a:r>
                <a:endParaRPr lang="en-US" altLang="zh-CN" sz="1600" spc="-1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zh-CN" sz="1600" spc="-10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其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中</a:t>
                </a:r>
                <a:endParaRPr lang="zh-CN" altLang="en-US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zh-CN" sz="1600" dirty="0"/>
              </a:p>
              <a:p>
                <a:pPr>
                  <a:lnSpc>
                    <a:spcPct val="100000"/>
                  </a:lnSpc>
                </a:pPr>
                <a:endParaRPr lang="en-US" altLang="zh-CN" sz="16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1600" spc="-1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参见</a:t>
                </a:r>
                <a:r>
                  <a:rPr lang="zh-CN" altLang="en-US" sz="1600" spc="-6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en-US" altLang="zh-CN" sz="1600" dirty="0">
                    <a:latin typeface="Palatino Linotype" panose="02040502050505030304"/>
                    <a:cs typeface="Palatino Linotype" panose="02040502050505030304"/>
                  </a:rPr>
                  <a:t>Ding(2024)</a:t>
                </a:r>
                <a:r>
                  <a:rPr lang="zh-CN" altLang="en-US" sz="1600" spc="-50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。</a:t>
                </a:r>
                <a:endParaRPr lang="en-US" altLang="zh-CN" sz="16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</a:pPr>
                <a:endParaRPr lang="zh-CN" altLang="en-US" sz="16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D20A7EF-4C1D-989A-0E89-FBFC0358A5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8964" b="-1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2174D1-42F7-A11C-0AC4-DCA80563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C7BDC7-96A6-5BA4-85E3-6A37BD6F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47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420758E-B23E-22D4-2A4D-5C83A7F65794}"/>
                  </a:ext>
                </a:extLst>
              </p:cNvPr>
              <p:cNvSpPr txBox="1"/>
              <p:nvPr/>
            </p:nvSpPr>
            <p:spPr>
              <a:xfrm>
                <a:off x="1933696" y="2329528"/>
                <a:ext cx="1195264" cy="461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altLang="zh-CN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pl-PL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420758E-B23E-22D4-2A4D-5C83A7F65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696" y="2329528"/>
                <a:ext cx="1195264" cy="4610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37E6EFE-79E9-207B-EEA7-48FCDDBD1B76}"/>
                  </a:ext>
                </a:extLst>
              </p:cNvPr>
              <p:cNvSpPr txBox="1"/>
              <p:nvPr/>
            </p:nvSpPr>
            <p:spPr>
              <a:xfrm>
                <a:off x="1991569" y="2866758"/>
                <a:ext cx="4195572" cy="7201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  <m:e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37E6EFE-79E9-207B-EEA7-48FCDDBD1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69" y="2866758"/>
                <a:ext cx="4195572" cy="7201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020E398-BC3A-B1F2-BAB0-F1EF493302FC}"/>
                  </a:ext>
                </a:extLst>
              </p:cNvPr>
              <p:cNvSpPr txBox="1"/>
              <p:nvPr/>
            </p:nvSpPr>
            <p:spPr>
              <a:xfrm>
                <a:off x="2954041" y="3586955"/>
                <a:ext cx="1303114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020E398-BC3A-B1F2-BAB0-F1EF49330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041" y="3586955"/>
                <a:ext cx="1303114" cy="6721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45855DE-E4D9-538C-1636-A12A752278EC}"/>
                  </a:ext>
                </a:extLst>
              </p:cNvPr>
              <p:cNvSpPr txBox="1"/>
              <p:nvPr/>
            </p:nvSpPr>
            <p:spPr>
              <a:xfrm>
                <a:off x="2531328" y="4351252"/>
                <a:ext cx="1916935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45855DE-E4D9-538C-1636-A12A75227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328" y="4351252"/>
                <a:ext cx="1916935" cy="6721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71B3757-F9A0-59E6-99DE-009F48165BE6}"/>
                  </a:ext>
                </a:extLst>
              </p:cNvPr>
              <p:cNvSpPr txBox="1"/>
              <p:nvPr/>
            </p:nvSpPr>
            <p:spPr>
              <a:xfrm>
                <a:off x="2531328" y="5158360"/>
                <a:ext cx="2538324" cy="567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l-PL" altLang="zh-CN" sz="16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l-PL" altLang="zh-CN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lit/>
                            </m:rPr>
                            <a:rPr lang="pl-PL" altLang="zh-CN" sz="1600" i="1">
                              <a:latin typeface="Cambria Math" panose="02040503050406030204" pitchFamily="18" charset="0"/>
                            </a:rPr>
                            <m:t>/</m:t>
                          </m:r>
                          <m:d>
                            <m:dPr>
                              <m:ctrlP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sSub>
                                <m:sSubPr>
                                  <m:ctrlPr>
                                    <a:rPr lang="pl-PL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altLang="zh-CN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l-PL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l-PL" altLang="zh-CN" sz="1600" i="1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ctrlP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pl-PL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l-PL" altLang="zh-CN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l-PL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l-PL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lit/>
                                </m:rP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</m:e>
                          </m:nary>
                          <m:d>
                            <m:dPr>
                              <m:ctrlP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altLang="zh-CN" sz="1600" i="1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sSub>
                                <m:sSubPr>
                                  <m:ctrlPr>
                                    <a:rPr lang="pl-PL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altLang="zh-CN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l-PL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pl-PL" altLang="zh-CN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71B3757-F9A0-59E6-99DE-009F48165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328" y="5158360"/>
                <a:ext cx="2538324" cy="567656"/>
              </a:xfrm>
              <a:prstGeom prst="rect">
                <a:avLst/>
              </a:prstGeom>
              <a:blipFill>
                <a:blip r:embed="rId7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2320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273BC9-DE5C-1CD7-34E9-5FB17CF43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总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结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00B85-BA7E-7D67-CDAF-9A55BAE4A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zh-CN" altLang="en-US" spc="-10" dirty="0"/>
              <a:t>随机化实验满足独立性条件或非混杂性条件，无需因果识别，相关性即反映因果</a:t>
            </a:r>
            <a:r>
              <a:rPr lang="zh-CN" altLang="en-US" spc="-50" dirty="0"/>
              <a:t>关</a:t>
            </a:r>
            <a:r>
              <a:rPr lang="zh-CN" altLang="en-US" spc="-10" dirty="0"/>
              <a:t>系</a:t>
            </a:r>
            <a:r>
              <a:rPr lang="zh-CN" altLang="en-US" spc="-50" dirty="0"/>
              <a:t>。</a:t>
            </a:r>
            <a:endParaRPr lang="en-US" altLang="zh-CN" spc="-50" dirty="0"/>
          </a:p>
          <a:p>
            <a:pPr>
              <a:lnSpc>
                <a:spcPct val="100000"/>
              </a:lnSpc>
            </a:pP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各随机化实验的三种估计方法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FEP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Neyman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回归方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法。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Design-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based</a:t>
            </a:r>
            <a:r>
              <a:rPr lang="en-US" altLang="zh-CN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vs.</a:t>
            </a:r>
            <a:r>
              <a:rPr lang="en-US" altLang="zh-CN" spc="1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10" dirty="0">
                <a:latin typeface="Palatino Linotype" panose="02040502050505030304"/>
                <a:cs typeface="Palatino Linotype" panose="02040502050505030304"/>
              </a:rPr>
              <a:t>sampling</a:t>
            </a:r>
            <a:r>
              <a:rPr lang="en-US" altLang="zh-CN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based</a:t>
            </a:r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pc="-20" dirty="0">
                <a:latin typeface="Palatino Linotype" panose="02040502050505030304"/>
                <a:cs typeface="Palatino Linotype" panose="02040502050505030304"/>
              </a:rPr>
              <a:t>Design-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based</a:t>
            </a:r>
            <a:r>
              <a:rPr lang="en-US" altLang="zh-CN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随机性来自于干预分配的随机性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lang="en-US" altLang="zh-CN" spc="-10" dirty="0">
                <a:latin typeface="Palatino Linotype" panose="02040502050505030304"/>
                <a:cs typeface="Palatino Linotype" panose="02040502050505030304"/>
              </a:rPr>
              <a:t>sampling</a:t>
            </a:r>
            <a:r>
              <a:rPr lang="en-US" altLang="zh-CN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based</a:t>
            </a:r>
            <a:r>
              <a:rPr lang="en-US" altLang="zh-CN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来自于抽样的随机性。不过，实验利用回归方法，使用</a:t>
            </a:r>
            <a:r>
              <a:rPr lang="zh-CN" altLang="en-US" spc="-14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EHW</a:t>
            </a:r>
            <a:r>
              <a:rPr lang="en-US" altLang="zh-CN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稳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健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方差和</a:t>
            </a:r>
            <a:r>
              <a:rPr lang="zh-CN" altLang="en-US" spc="-13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pc="-25" dirty="0">
                <a:latin typeface="Palatino Linotype" panose="02040502050505030304"/>
                <a:cs typeface="Palatino Linotype" panose="02040502050505030304"/>
              </a:rPr>
              <a:t>design-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based</a:t>
            </a:r>
            <a:r>
              <a:rPr lang="en-US" altLang="zh-CN" spc="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的方法非常接近，因而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dirty="0">
                <a:latin typeface="Palatino Linotype" panose="02040502050505030304"/>
                <a:cs typeface="Palatino Linotype" panose="02040502050505030304"/>
              </a:rPr>
              <a:t>OLS</a:t>
            </a:r>
            <a:r>
              <a:rPr lang="en-US" altLang="zh-CN" spc="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zh-CN" altLang="en-US" spc="-10" dirty="0">
                <a:latin typeface="宋体" panose="02010600030101010101" pitchFamily="2" charset="-122"/>
                <a:cs typeface="宋体" panose="02010600030101010101" pitchFamily="2" charset="-122"/>
              </a:rPr>
              <a:t>在实验估计中也可以使用</a:t>
            </a:r>
            <a:r>
              <a:rPr lang="zh-CN" altLang="en-US" spc="-5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1E2AD6-45AC-0132-CC39-520633C7D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15EFEA-8E6E-FE80-7050-41D6B805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3093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457D2-71E1-358F-F82A-A2768A9C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0" dirty="0"/>
              <a:t>参考文</a:t>
            </a:r>
            <a:r>
              <a:rPr lang="zh-CN" altLang="en-US" spc="-50" dirty="0"/>
              <a:t>献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0D07FF-9E59-AED0-4345-4040338CF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95851"/>
          </a:xfrm>
        </p:spPr>
        <p:txBody>
          <a:bodyPr>
            <a:normAutofit fontScale="85000" lnSpcReduction="20000"/>
          </a:bodyPr>
          <a:lstStyle/>
          <a:p>
            <a:pPr marL="12700" marR="1377950">
              <a:lnSpc>
                <a:spcPct val="100000"/>
              </a:lnSpc>
              <a:spcBef>
                <a:spcPts val="155"/>
              </a:spcBef>
            </a:pP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Ding,</a:t>
            </a:r>
            <a:r>
              <a:rPr lang="en-US" altLang="zh-CN" sz="1600" spc="1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P.</a:t>
            </a:r>
            <a:r>
              <a:rPr lang="en-US" altLang="zh-CN" sz="1600" spc="1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5" dirty="0">
                <a:latin typeface="Palatino Linotype" panose="02040502050505030304"/>
                <a:cs typeface="Palatino Linotype" panose="02040502050505030304"/>
              </a:rPr>
              <a:t>(2024).</a:t>
            </a:r>
            <a:r>
              <a:rPr lang="en-US" altLang="zh-CN" sz="1600" spc="3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lang="en-US" altLang="zh-CN" sz="1600" spc="1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first</a:t>
            </a:r>
            <a:r>
              <a:rPr lang="en-US" altLang="zh-CN" sz="1600" spc="1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course</a:t>
            </a:r>
            <a:r>
              <a:rPr lang="en-US" altLang="zh-CN" sz="1600" spc="1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lang="en-US" altLang="zh-CN" sz="1600" spc="1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causal</a:t>
            </a:r>
            <a:r>
              <a:rPr lang="en-US" altLang="zh-CN" sz="1600" spc="1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inference.</a:t>
            </a:r>
            <a:r>
              <a:rPr lang="en-US" altLang="zh-CN" sz="1600" spc="3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75" dirty="0">
                <a:latin typeface="Palatino Linotype" panose="02040502050505030304"/>
                <a:cs typeface="Palatino Linotype" panose="02040502050505030304"/>
              </a:rPr>
              <a:t>CRC</a:t>
            </a:r>
            <a:r>
              <a:rPr lang="en-US" altLang="zh-CN" sz="1600" spc="1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10" dirty="0">
                <a:latin typeface="Palatino Linotype" panose="02040502050505030304"/>
                <a:cs typeface="Palatino Linotype" panose="02040502050505030304"/>
              </a:rPr>
              <a:t>Press.</a:t>
            </a:r>
            <a:r>
              <a:rPr lang="en-US" altLang="zh-CN" sz="1600" spc="40" dirty="0">
                <a:latin typeface="Palatino Linotype" panose="02040502050505030304"/>
                <a:cs typeface="Palatino Linotype" panose="02040502050505030304"/>
              </a:rPr>
              <a:t> https://arxiv.org/pdf/2305.18793</a:t>
            </a:r>
            <a:endParaRPr lang="en-US" altLang="zh-CN" sz="1600" dirty="0">
              <a:latin typeface="Palatino Linotype" panose="02040502050505030304"/>
              <a:cs typeface="Palatino Linotype" panose="02040502050505030304"/>
            </a:endParaRPr>
          </a:p>
          <a:p>
            <a:pPr marL="12700" marR="179705">
              <a:lnSpc>
                <a:spcPct val="100000"/>
              </a:lnSpc>
              <a:spcBef>
                <a:spcPts val="395"/>
              </a:spcBef>
            </a:pP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Fisher,</a:t>
            </a:r>
            <a:r>
              <a:rPr lang="en-US" altLang="zh-CN" sz="1600" spc="2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80" dirty="0">
                <a:latin typeface="Palatino Linotype" panose="02040502050505030304"/>
                <a:cs typeface="Palatino Linotype" panose="02040502050505030304"/>
              </a:rPr>
              <a:t>R.</a:t>
            </a:r>
            <a:r>
              <a:rPr lang="en-US" altLang="zh-CN" sz="1600" spc="2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A.</a:t>
            </a:r>
            <a:r>
              <a:rPr lang="en-US" altLang="zh-CN" sz="1600" spc="2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5" dirty="0">
                <a:latin typeface="Palatino Linotype" panose="02040502050505030304"/>
                <a:cs typeface="Palatino Linotype" panose="02040502050505030304"/>
              </a:rPr>
              <a:t>(1925).</a:t>
            </a:r>
            <a:r>
              <a:rPr lang="en-US" altLang="zh-CN" sz="1600" spc="4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Statistical</a:t>
            </a:r>
            <a:r>
              <a:rPr lang="en-US" altLang="zh-CN" sz="1600" spc="2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Methods</a:t>
            </a:r>
            <a:r>
              <a:rPr lang="en-US" altLang="zh-CN" sz="1600" spc="2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lang="en-US" altLang="zh-CN" sz="1600" spc="2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Research</a:t>
            </a:r>
            <a:r>
              <a:rPr lang="en-US" altLang="zh-CN" sz="1600" spc="2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Workers.</a:t>
            </a:r>
            <a:r>
              <a:rPr lang="en-US" altLang="zh-CN" sz="1600" spc="4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Edinburgh</a:t>
            </a:r>
            <a:r>
              <a:rPr lang="en-US" altLang="zh-CN" sz="1600" spc="2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lang="en-US" altLang="zh-CN" sz="1600" spc="2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Oliver</a:t>
            </a:r>
            <a:r>
              <a:rPr lang="en-US" altLang="zh-CN" sz="1600" spc="2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25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lang="en-US" altLang="zh-CN" sz="16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10" dirty="0">
                <a:latin typeface="Palatino Linotype" panose="02040502050505030304"/>
                <a:cs typeface="Palatino Linotype" panose="02040502050505030304"/>
              </a:rPr>
              <a:t>Boyd.</a:t>
            </a:r>
            <a:endParaRPr lang="en-US" altLang="zh-CN" sz="1600" dirty="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Fisher,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80" dirty="0">
                <a:latin typeface="Palatino Linotype" panose="02040502050505030304"/>
                <a:cs typeface="Palatino Linotype" panose="02040502050505030304"/>
              </a:rPr>
              <a:t>R.</a:t>
            </a:r>
            <a:r>
              <a:rPr lang="en-US" altLang="zh-CN" sz="16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A.</a:t>
            </a:r>
            <a:r>
              <a:rPr lang="en-US" altLang="zh-CN" sz="16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5" dirty="0">
                <a:latin typeface="Palatino Linotype" panose="02040502050505030304"/>
                <a:cs typeface="Palatino Linotype" panose="02040502050505030304"/>
              </a:rPr>
              <a:t>(1935).</a:t>
            </a:r>
            <a:r>
              <a:rPr lang="en-US" altLang="zh-CN" sz="1600" spc="3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6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lang="en-US" altLang="zh-CN" sz="16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Design</a:t>
            </a:r>
            <a:r>
              <a:rPr lang="en-US" altLang="zh-CN" sz="16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Experiments.</a:t>
            </a:r>
            <a:r>
              <a:rPr lang="en-US" altLang="zh-CN" sz="1600" spc="3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Edinburgh,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London:</a:t>
            </a:r>
            <a:r>
              <a:rPr lang="en-US" altLang="zh-CN" sz="1600" spc="37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Oliver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lang="en-US" altLang="zh-CN" sz="16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10" dirty="0">
                <a:latin typeface="Palatino Linotype" panose="02040502050505030304"/>
                <a:cs typeface="Palatino Linotype" panose="02040502050505030304"/>
              </a:rPr>
              <a:t>Boyd.</a:t>
            </a:r>
            <a:endParaRPr lang="en-US" altLang="zh-CN" sz="1600" dirty="0">
              <a:latin typeface="Palatino Linotype" panose="02040502050505030304"/>
              <a:cs typeface="Palatino Linotype" panose="02040502050505030304"/>
            </a:endParaRPr>
          </a:p>
          <a:p>
            <a:pPr marL="12700" marR="111760">
              <a:lnSpc>
                <a:spcPct val="100000"/>
              </a:lnSpc>
              <a:spcBef>
                <a:spcPts val="415"/>
              </a:spcBef>
            </a:pP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Freedman,</a:t>
            </a:r>
            <a:r>
              <a:rPr lang="en-US" altLang="zh-CN" sz="16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0" dirty="0">
                <a:latin typeface="Palatino Linotype" panose="02040502050505030304"/>
                <a:cs typeface="Palatino Linotype" panose="02040502050505030304"/>
              </a:rPr>
              <a:t>D.</a:t>
            </a:r>
            <a:r>
              <a:rPr lang="en-US" altLang="zh-CN" sz="16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A.</a:t>
            </a:r>
            <a:r>
              <a:rPr lang="en-US" altLang="zh-CN" sz="1600" spc="2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5" dirty="0">
                <a:latin typeface="Palatino Linotype" panose="02040502050505030304"/>
                <a:cs typeface="Palatino Linotype" panose="02040502050505030304"/>
              </a:rPr>
              <a:t>(2006).</a:t>
            </a:r>
            <a:r>
              <a:rPr lang="en-US" altLang="zh-CN" sz="1600" spc="4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Statistical</a:t>
            </a:r>
            <a:r>
              <a:rPr lang="en-US" altLang="zh-CN" sz="1600" spc="2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models</a:t>
            </a:r>
            <a:r>
              <a:rPr lang="en-US" altLang="zh-CN" sz="16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lang="en-US" altLang="zh-CN" sz="16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causation:</a:t>
            </a:r>
            <a:r>
              <a:rPr lang="en-US" altLang="zh-CN" sz="1600" spc="4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what</a:t>
            </a:r>
            <a:r>
              <a:rPr lang="en-US" altLang="zh-CN" sz="16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inferential</a:t>
            </a:r>
            <a:r>
              <a:rPr lang="en-US" altLang="zh-CN" sz="1600" spc="2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leverage</a:t>
            </a:r>
            <a:r>
              <a:rPr lang="en-US" altLang="zh-CN" sz="16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do</a:t>
            </a:r>
            <a:r>
              <a:rPr lang="en-US" altLang="zh-CN" sz="16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20" dirty="0">
                <a:latin typeface="Palatino Linotype" panose="02040502050505030304"/>
                <a:cs typeface="Palatino Linotype" panose="02040502050505030304"/>
              </a:rPr>
              <a:t>they</a:t>
            </a:r>
            <a:r>
              <a:rPr lang="en-US" altLang="zh-CN" sz="16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provide?.</a:t>
            </a:r>
            <a:r>
              <a:rPr lang="en-US" altLang="zh-CN" sz="1600" spc="45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Evaluation</a:t>
            </a:r>
            <a:r>
              <a:rPr lang="en-US" altLang="zh-CN" sz="1600" spc="3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review,</a:t>
            </a:r>
            <a:r>
              <a:rPr lang="en-US" altLang="zh-CN" sz="1600" spc="2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5" dirty="0">
                <a:latin typeface="Palatino Linotype" panose="02040502050505030304"/>
                <a:cs typeface="Palatino Linotype" panose="02040502050505030304"/>
              </a:rPr>
              <a:t>30(6),</a:t>
            </a:r>
            <a:r>
              <a:rPr lang="en-US" altLang="zh-CN" sz="1600" spc="3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691-</a:t>
            </a:r>
            <a:r>
              <a:rPr lang="en-US" altLang="zh-CN" sz="1600" spc="-20" dirty="0">
                <a:latin typeface="Palatino Linotype" panose="02040502050505030304"/>
                <a:cs typeface="Palatino Linotype" panose="02040502050505030304"/>
              </a:rPr>
              <a:t>713.</a:t>
            </a:r>
            <a:endParaRPr lang="en-US" altLang="zh-CN" sz="1600" dirty="0">
              <a:latin typeface="Palatino Linotype" panose="02040502050505030304"/>
              <a:cs typeface="Palatino Linotype" panose="02040502050505030304"/>
            </a:endParaRPr>
          </a:p>
          <a:p>
            <a:pPr marL="12700" marR="161925">
              <a:lnSpc>
                <a:spcPct val="100000"/>
              </a:lnSpc>
              <a:spcBef>
                <a:spcPts val="395"/>
              </a:spcBef>
            </a:pP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Freedman,</a:t>
            </a:r>
            <a:r>
              <a:rPr lang="en-US" altLang="zh-CN" sz="16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0" dirty="0">
                <a:latin typeface="Palatino Linotype" panose="02040502050505030304"/>
                <a:cs typeface="Palatino Linotype" panose="02040502050505030304"/>
              </a:rPr>
              <a:t>D.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A.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0" dirty="0">
                <a:latin typeface="Palatino Linotype" panose="02040502050505030304"/>
                <a:cs typeface="Palatino Linotype" panose="02040502050505030304"/>
              </a:rPr>
              <a:t>(2008a).</a:t>
            </a:r>
            <a:r>
              <a:rPr lang="en-US" altLang="zh-CN" sz="1600" spc="3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regression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adjustments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lang="en-US" altLang="zh-CN" sz="16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experimental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data.</a:t>
            </a:r>
            <a:r>
              <a:rPr lang="en-US" altLang="zh-CN" sz="1600" spc="3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Adv.</a:t>
            </a:r>
            <a:r>
              <a:rPr lang="en-US" altLang="zh-CN" sz="1600" spc="3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10" dirty="0">
                <a:latin typeface="Palatino Linotype" panose="02040502050505030304"/>
                <a:cs typeface="Palatino Linotype" panose="02040502050505030304"/>
              </a:rPr>
              <a:t>Appl.</a:t>
            </a:r>
            <a:r>
              <a:rPr lang="en-US" altLang="zh-CN" sz="1600" spc="50" dirty="0">
                <a:latin typeface="Palatino Linotype" panose="02040502050505030304"/>
                <a:cs typeface="Palatino Linotype" panose="02040502050505030304"/>
              </a:rPr>
              <a:t> Math.</a:t>
            </a:r>
            <a:r>
              <a:rPr lang="en-US" altLang="zh-CN" sz="1600" spc="2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40,</a:t>
            </a:r>
            <a:r>
              <a:rPr lang="en-US" altLang="zh-CN" sz="1600" spc="1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10" dirty="0">
                <a:latin typeface="Palatino Linotype" panose="02040502050505030304"/>
                <a:cs typeface="Palatino Linotype" panose="02040502050505030304"/>
              </a:rPr>
              <a:t>180</a:t>
            </a:r>
            <a:r>
              <a:rPr lang="en-US" altLang="zh-CN" sz="1600" spc="-10" dirty="0">
                <a:latin typeface="宋体" panose="02010600030101010101" pitchFamily="2" charset="-122"/>
                <a:cs typeface="宋体" panose="02010600030101010101" pitchFamily="2" charset="-122"/>
              </a:rPr>
              <a:t>–</a:t>
            </a:r>
            <a:r>
              <a:rPr lang="en-US" altLang="zh-CN" sz="1600" spc="-10" dirty="0">
                <a:latin typeface="Palatino Linotype" panose="02040502050505030304"/>
                <a:cs typeface="Palatino Linotype" panose="02040502050505030304"/>
              </a:rPr>
              <a:t>193.</a:t>
            </a:r>
            <a:endParaRPr lang="en-US" altLang="zh-CN" sz="1600" dirty="0">
              <a:latin typeface="Palatino Linotype" panose="02040502050505030304"/>
              <a:cs typeface="Palatino Linotype" panose="02040502050505030304"/>
            </a:endParaRPr>
          </a:p>
          <a:p>
            <a:pPr marL="12700" marR="103505">
              <a:lnSpc>
                <a:spcPct val="100000"/>
              </a:lnSpc>
              <a:spcBef>
                <a:spcPts val="390"/>
              </a:spcBef>
            </a:pP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Ho,</a:t>
            </a:r>
            <a:r>
              <a:rPr lang="en-US" altLang="zh-CN" sz="16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Daniel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105" dirty="0">
                <a:latin typeface="Palatino Linotype" panose="02040502050505030304"/>
                <a:cs typeface="Palatino Linotype" panose="02040502050505030304"/>
              </a:rPr>
              <a:t>E</a:t>
            </a:r>
            <a:r>
              <a:rPr lang="en-US" altLang="zh-CN" sz="16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Kosuke</a:t>
            </a:r>
            <a:r>
              <a:rPr lang="en-US" altLang="zh-CN" sz="16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Imai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5" dirty="0">
                <a:latin typeface="Palatino Linotype" panose="02040502050505030304"/>
                <a:cs typeface="Palatino Linotype" panose="02040502050505030304"/>
              </a:rPr>
              <a:t>(2006)</a:t>
            </a:r>
            <a:r>
              <a:rPr lang="en-US" altLang="zh-CN" sz="16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Randomization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Inference</a:t>
            </a:r>
            <a:r>
              <a:rPr lang="en-US" altLang="zh-CN" sz="16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5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Natural</a:t>
            </a:r>
            <a:r>
              <a:rPr lang="en-US" altLang="zh-CN" sz="16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10" dirty="0">
                <a:latin typeface="Palatino Linotype" panose="02040502050505030304"/>
                <a:cs typeface="Palatino Linotype" panose="02040502050505030304"/>
              </a:rPr>
              <a:t>Experiments,</a:t>
            </a:r>
            <a:r>
              <a:rPr lang="en-US" altLang="zh-CN" sz="16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Journal</a:t>
            </a:r>
            <a:r>
              <a:rPr lang="en-US" altLang="zh-CN" sz="1600" spc="3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lang="en-US" altLang="zh-CN" sz="1600" spc="3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lang="en-US" altLang="zh-CN" sz="1600" spc="3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American</a:t>
            </a:r>
            <a:r>
              <a:rPr lang="en-US" altLang="zh-CN" sz="1600" spc="3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Statistical</a:t>
            </a:r>
            <a:r>
              <a:rPr lang="en-US" altLang="zh-CN" sz="1600" spc="3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Association,</a:t>
            </a:r>
            <a:r>
              <a:rPr lang="en-US" altLang="zh-CN" sz="1600" spc="3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101:475,</a:t>
            </a:r>
            <a:r>
              <a:rPr lang="en-US" altLang="zh-CN" sz="1600" spc="3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888-900,</a:t>
            </a:r>
            <a:r>
              <a:rPr lang="en-US" altLang="zh-CN" sz="1600" spc="3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30" dirty="0">
                <a:latin typeface="Palatino Linotype" panose="02040502050505030304"/>
                <a:cs typeface="Palatino Linotype" panose="02040502050505030304"/>
              </a:rPr>
              <a:t>DOI: </a:t>
            </a:r>
            <a:r>
              <a:rPr lang="en-US" altLang="zh-CN" sz="1600" spc="40" dirty="0">
                <a:latin typeface="Palatino Linotype" panose="02040502050505030304"/>
                <a:cs typeface="Palatino Linotype" panose="02040502050505030304"/>
              </a:rPr>
              <a:t>10.1198/016214505000001258</a:t>
            </a:r>
            <a:endParaRPr lang="en-US" altLang="zh-CN" sz="1600" dirty="0">
              <a:latin typeface="Palatino Linotype" panose="02040502050505030304"/>
              <a:cs typeface="Palatino Linotype" panose="02040502050505030304"/>
            </a:endParaRPr>
          </a:p>
          <a:p>
            <a:pPr marL="12700" marR="156210">
              <a:lnSpc>
                <a:spcPct val="100000"/>
              </a:lnSpc>
              <a:spcBef>
                <a:spcPts val="390"/>
              </a:spcBef>
            </a:pPr>
            <a:r>
              <a:rPr lang="en-US" altLang="zh-CN" sz="1600" dirty="0" err="1">
                <a:latin typeface="Palatino Linotype" panose="02040502050505030304"/>
                <a:cs typeface="Palatino Linotype" panose="02040502050505030304"/>
              </a:rPr>
              <a:t>Imbens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lang="en-US" altLang="zh-CN" sz="1600" spc="2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70" dirty="0">
                <a:latin typeface="Palatino Linotype" panose="02040502050505030304"/>
                <a:cs typeface="Palatino Linotype" panose="02040502050505030304"/>
              </a:rPr>
              <a:t>G.W.</a:t>
            </a:r>
            <a:r>
              <a:rPr lang="en-US" altLang="zh-CN" sz="16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lang="en-US" altLang="zh-CN" sz="16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80" dirty="0">
                <a:latin typeface="Palatino Linotype" panose="02040502050505030304"/>
                <a:cs typeface="Palatino Linotype" panose="02040502050505030304"/>
              </a:rPr>
              <a:t>J.M.</a:t>
            </a:r>
            <a:r>
              <a:rPr lang="en-US" altLang="zh-CN" sz="16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Wooldridge</a:t>
            </a:r>
            <a:r>
              <a:rPr lang="en-US" altLang="zh-CN" sz="1600" spc="2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5" dirty="0">
                <a:latin typeface="Palatino Linotype" panose="02040502050505030304"/>
                <a:cs typeface="Palatino Linotype" panose="02040502050505030304"/>
              </a:rPr>
              <a:t>(2009)</a:t>
            </a:r>
            <a:r>
              <a:rPr lang="en-US" altLang="zh-CN" sz="16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Recent</a:t>
            </a:r>
            <a:r>
              <a:rPr lang="en-US" altLang="zh-CN" sz="16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Developments</a:t>
            </a:r>
            <a:r>
              <a:rPr lang="en-US" altLang="zh-CN" sz="16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lang="en-US" altLang="zh-CN" sz="1600" spc="2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lang="en-US" altLang="zh-CN" sz="16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Econometrics</a:t>
            </a:r>
            <a:r>
              <a:rPr lang="en-US" altLang="zh-CN" sz="16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25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lang="en-US" altLang="zh-CN" sz="16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Program</a:t>
            </a:r>
            <a:r>
              <a:rPr lang="en-US" altLang="zh-CN" sz="1600" spc="3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Evaluation,”</a:t>
            </a:r>
            <a:r>
              <a:rPr lang="en-US" altLang="zh-CN" sz="1600" spc="3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Journal</a:t>
            </a:r>
            <a:r>
              <a:rPr lang="en-US" altLang="zh-CN" sz="1600" spc="3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lang="en-US" altLang="zh-CN" sz="1600" spc="3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Economic</a:t>
            </a:r>
            <a:r>
              <a:rPr lang="en-US" altLang="zh-CN" sz="1600" spc="3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Literature,</a:t>
            </a:r>
            <a:r>
              <a:rPr lang="en-US" altLang="zh-CN" sz="1600" spc="3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vol.</a:t>
            </a:r>
            <a:r>
              <a:rPr lang="en-US" altLang="zh-CN" sz="16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5" dirty="0">
                <a:latin typeface="Palatino Linotype" panose="02040502050505030304"/>
                <a:cs typeface="Palatino Linotype" panose="02040502050505030304"/>
              </a:rPr>
              <a:t>47(1),</a:t>
            </a:r>
            <a:r>
              <a:rPr lang="en-US" altLang="zh-CN" sz="1600" spc="3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5-</a:t>
            </a:r>
            <a:r>
              <a:rPr lang="en-US" altLang="zh-CN" sz="1600" spc="-25" dirty="0">
                <a:latin typeface="Palatino Linotype" panose="02040502050505030304"/>
                <a:cs typeface="Palatino Linotype" panose="02040502050505030304"/>
              </a:rPr>
              <a:t>86.</a:t>
            </a:r>
            <a:endParaRPr lang="en-US" altLang="zh-CN" sz="1600" dirty="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0000"/>
              </a:lnSpc>
              <a:spcBef>
                <a:spcPts val="395"/>
              </a:spcBef>
            </a:pP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Lin,</a:t>
            </a:r>
            <a:r>
              <a:rPr lang="en-US" altLang="zh-CN" sz="16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70" dirty="0">
                <a:latin typeface="Palatino Linotype" panose="02040502050505030304"/>
                <a:cs typeface="Palatino Linotype" panose="02040502050505030304"/>
              </a:rPr>
              <a:t>W.</a:t>
            </a:r>
            <a:r>
              <a:rPr lang="en-US" altLang="zh-CN" sz="1600" spc="2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5" dirty="0">
                <a:latin typeface="Palatino Linotype" panose="02040502050505030304"/>
                <a:cs typeface="Palatino Linotype" panose="02040502050505030304"/>
              </a:rPr>
              <a:t>(2013).</a:t>
            </a:r>
            <a:r>
              <a:rPr lang="en-US" altLang="zh-CN" sz="1600" spc="4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Agnostic</a:t>
            </a:r>
            <a:r>
              <a:rPr lang="en-US" altLang="zh-CN" sz="1600" spc="2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notes</a:t>
            </a:r>
            <a:r>
              <a:rPr lang="en-US" altLang="zh-CN" sz="16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lang="en-US" altLang="zh-CN" sz="1600" spc="254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regression</a:t>
            </a:r>
            <a:r>
              <a:rPr lang="en-US" altLang="zh-CN" sz="1600" spc="2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adjustments</a:t>
            </a:r>
            <a:r>
              <a:rPr lang="en-US" altLang="zh-CN" sz="1600" spc="2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lang="en-US" altLang="zh-CN" sz="1600" spc="2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experimental</a:t>
            </a:r>
            <a:r>
              <a:rPr lang="en-US" altLang="zh-CN" sz="1600" spc="2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data:</a:t>
            </a:r>
            <a:r>
              <a:rPr lang="en-US" altLang="zh-CN" sz="1600" spc="4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10" dirty="0">
                <a:latin typeface="Palatino Linotype" panose="02040502050505030304"/>
                <a:cs typeface="Palatino Linotype" panose="02040502050505030304"/>
              </a:rPr>
              <a:t>Reexamining</a:t>
            </a:r>
            <a:r>
              <a:rPr lang="en-US" altLang="zh-CN" sz="16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Freedman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</a:rPr>
              <a:t>’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s</a:t>
            </a:r>
            <a:r>
              <a:rPr lang="en-US" altLang="zh-CN" sz="1600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critique.</a:t>
            </a:r>
            <a:r>
              <a:rPr lang="en-US" altLang="zh-CN" sz="1600" spc="3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6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Annals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Applied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Statistics,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Vol.</a:t>
            </a:r>
            <a:r>
              <a:rPr lang="en-US" altLang="zh-CN" sz="1600" spc="3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7,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No.</a:t>
            </a:r>
            <a:r>
              <a:rPr lang="en-US" altLang="zh-CN" sz="1600" spc="3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1,</a:t>
            </a:r>
            <a:r>
              <a:rPr lang="en-US" altLang="zh-CN" sz="1600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10" dirty="0">
                <a:latin typeface="Palatino Linotype" panose="02040502050505030304"/>
                <a:cs typeface="Palatino Linotype" panose="02040502050505030304"/>
              </a:rPr>
              <a:t>295</a:t>
            </a:r>
            <a:r>
              <a:rPr lang="en-US" altLang="zh-CN" sz="1600" spc="-10" dirty="0">
                <a:latin typeface="宋体" panose="02010600030101010101" pitchFamily="2" charset="-122"/>
                <a:cs typeface="宋体" panose="02010600030101010101" pitchFamily="2" charset="-122"/>
              </a:rPr>
              <a:t>–</a:t>
            </a:r>
            <a:r>
              <a:rPr lang="en-US" altLang="zh-CN" sz="1600" spc="-10" dirty="0">
                <a:latin typeface="Palatino Linotype" panose="02040502050505030304"/>
                <a:cs typeface="Palatino Linotype" panose="02040502050505030304"/>
              </a:rPr>
              <a:t>318</a:t>
            </a:r>
            <a:endParaRPr lang="en-US" altLang="zh-CN" sz="1600" dirty="0">
              <a:latin typeface="Palatino Linotype" panose="02040502050505030304"/>
              <a:cs typeface="Palatino Linotype" panose="02040502050505030304"/>
            </a:endParaRPr>
          </a:p>
          <a:p>
            <a:pPr marL="12700" marR="88900">
              <a:lnSpc>
                <a:spcPct val="100000"/>
              </a:lnSpc>
              <a:spcBef>
                <a:spcPts val="390"/>
              </a:spcBef>
            </a:pP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Neyman,</a:t>
            </a:r>
            <a:r>
              <a:rPr lang="en-US" altLang="zh-CN" sz="1600" spc="3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 err="1">
                <a:latin typeface="Palatino Linotype" panose="02040502050505030304"/>
                <a:cs typeface="Palatino Linotype" panose="02040502050505030304"/>
              </a:rPr>
              <a:t>Jerzy,”On</a:t>
            </a:r>
            <a:r>
              <a:rPr lang="en-US" altLang="zh-CN" sz="1600" spc="3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lang="en-US" altLang="zh-CN" sz="1600" spc="3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application</a:t>
            </a:r>
            <a:r>
              <a:rPr lang="en-US" altLang="zh-CN" sz="1600" spc="3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lang="en-US" altLang="zh-CN" sz="1600" spc="3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probability</a:t>
            </a:r>
            <a:r>
              <a:rPr lang="en-US" altLang="zh-CN" sz="1600" spc="3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theory</a:t>
            </a:r>
            <a:r>
              <a:rPr lang="en-US" altLang="zh-CN" sz="1600" spc="3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lang="en-US" altLang="zh-CN" sz="1600" spc="3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agricultural</a:t>
            </a:r>
            <a:r>
              <a:rPr lang="en-US" altLang="zh-CN" sz="1600" spc="3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experiments.</a:t>
            </a:r>
            <a:r>
              <a:rPr lang="en-US" altLang="zh-CN" sz="1600" spc="4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10" dirty="0">
                <a:latin typeface="Palatino Linotype" panose="02040502050505030304"/>
                <a:cs typeface="Palatino Linotype" panose="02040502050505030304"/>
              </a:rPr>
              <a:t>Essay</a:t>
            </a:r>
            <a:r>
              <a:rPr lang="en-US" altLang="zh-CN" sz="16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lang="en-US" altLang="zh-CN" sz="1600" spc="2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principles.</a:t>
            </a:r>
            <a:r>
              <a:rPr lang="en-US" altLang="zh-CN" sz="1600" spc="4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Section</a:t>
            </a:r>
            <a:r>
              <a:rPr lang="en-US" altLang="zh-CN" sz="1600" spc="2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9.”</a:t>
            </a:r>
            <a:r>
              <a:rPr lang="en-US" altLang="zh-CN" sz="1600" spc="2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Statistical</a:t>
            </a:r>
            <a:r>
              <a:rPr lang="en-US" altLang="zh-CN" sz="1600" spc="2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Science</a:t>
            </a:r>
            <a:r>
              <a:rPr lang="en-US" altLang="zh-CN" sz="1600" spc="29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5" dirty="0">
                <a:latin typeface="Palatino Linotype" panose="02040502050505030304"/>
                <a:cs typeface="Palatino Linotype" panose="02040502050505030304"/>
              </a:rPr>
              <a:t>(1990):</a:t>
            </a:r>
            <a:r>
              <a:rPr lang="en-US" altLang="zh-CN" sz="1600" spc="4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465-</a:t>
            </a:r>
            <a:r>
              <a:rPr lang="en-US" altLang="zh-CN" sz="1600" spc="-20" dirty="0">
                <a:latin typeface="Palatino Linotype" panose="02040502050505030304"/>
                <a:cs typeface="Palatino Linotype" panose="02040502050505030304"/>
              </a:rPr>
              <a:t>472.</a:t>
            </a:r>
            <a:endParaRPr lang="en-US" altLang="zh-CN" sz="1600" dirty="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0000"/>
              </a:lnSpc>
              <a:spcBef>
                <a:spcPts val="395"/>
              </a:spcBef>
            </a:pP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Rubin,</a:t>
            </a:r>
            <a:r>
              <a:rPr lang="en-US" altLang="zh-CN" sz="16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0" dirty="0">
                <a:latin typeface="Palatino Linotype" panose="02040502050505030304"/>
                <a:cs typeface="Palatino Linotype" panose="02040502050505030304"/>
              </a:rPr>
              <a:t>D.</a:t>
            </a:r>
            <a:r>
              <a:rPr lang="en-US" altLang="zh-CN" sz="16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85" dirty="0">
                <a:latin typeface="Palatino Linotype" panose="02040502050505030304"/>
                <a:cs typeface="Palatino Linotype" panose="02040502050505030304"/>
              </a:rPr>
              <a:t>B.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5" dirty="0">
                <a:latin typeface="Palatino Linotype" panose="02040502050505030304"/>
                <a:cs typeface="Palatino Linotype" panose="02040502050505030304"/>
              </a:rPr>
              <a:t>(1980).</a:t>
            </a:r>
            <a:r>
              <a:rPr lang="en-US" altLang="zh-CN" sz="1600" spc="4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Randomization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analysis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lang="en-US" altLang="zh-CN" sz="16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experimental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data:</a:t>
            </a:r>
            <a:r>
              <a:rPr lang="en-US" altLang="zh-CN" sz="1600" spc="39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6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Fisher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-10" dirty="0">
                <a:latin typeface="Palatino Linotype" panose="02040502050505030304"/>
                <a:cs typeface="Palatino Linotype" panose="02040502050505030304"/>
              </a:rPr>
              <a:t>randomization</a:t>
            </a:r>
            <a:r>
              <a:rPr lang="en-US" altLang="zh-CN" sz="16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test</a:t>
            </a:r>
            <a:r>
              <a:rPr lang="en-US" altLang="zh-CN" sz="1600" spc="3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comment.</a:t>
            </a:r>
            <a:r>
              <a:rPr lang="en-US" altLang="zh-CN" sz="1600" spc="165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Journal</a:t>
            </a:r>
            <a:r>
              <a:rPr lang="en-US" altLang="zh-CN" sz="1600" spc="3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lang="en-US" altLang="zh-CN" sz="1600" spc="3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lang="en-US" altLang="zh-CN" sz="1600" spc="3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American</a:t>
            </a:r>
            <a:r>
              <a:rPr lang="en-US" altLang="zh-CN" sz="1600" spc="3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statistical</a:t>
            </a:r>
            <a:r>
              <a:rPr lang="en-US" altLang="zh-CN" sz="1600" spc="3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association,</a:t>
            </a:r>
            <a:r>
              <a:rPr lang="en-US" altLang="zh-CN" sz="1600" spc="3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0" dirty="0">
                <a:latin typeface="Palatino Linotype" panose="02040502050505030304"/>
                <a:cs typeface="Palatino Linotype" panose="02040502050505030304"/>
              </a:rPr>
              <a:t>75(371),</a:t>
            </a:r>
            <a:r>
              <a:rPr lang="en-US" altLang="zh-CN" sz="1600" spc="3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591-</a:t>
            </a:r>
            <a:r>
              <a:rPr lang="en-US" altLang="zh-CN" sz="1600" spc="-20" dirty="0">
                <a:latin typeface="Palatino Linotype" panose="02040502050505030304"/>
                <a:cs typeface="Palatino Linotype" panose="02040502050505030304"/>
              </a:rPr>
              <a:t>593.</a:t>
            </a:r>
            <a:endParaRPr lang="en-US" altLang="zh-CN" sz="1600" dirty="0">
              <a:latin typeface="Palatino Linotype" panose="02040502050505030304"/>
              <a:cs typeface="Palatino Linotype" panose="02040502050505030304"/>
            </a:endParaRPr>
          </a:p>
          <a:p>
            <a:pPr marL="12700" marR="15240">
              <a:lnSpc>
                <a:spcPct val="100000"/>
              </a:lnSpc>
              <a:spcBef>
                <a:spcPts val="390"/>
              </a:spcBef>
            </a:pP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Rubin,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0" dirty="0">
                <a:latin typeface="Palatino Linotype" panose="02040502050505030304"/>
                <a:cs typeface="Palatino Linotype" panose="02040502050505030304"/>
              </a:rPr>
              <a:t>D.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85" dirty="0">
                <a:latin typeface="Palatino Linotype" panose="02040502050505030304"/>
                <a:cs typeface="Palatino Linotype" panose="02040502050505030304"/>
              </a:rPr>
              <a:t>B.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”For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objective</a:t>
            </a:r>
            <a:r>
              <a:rPr lang="en-US" altLang="zh-CN" sz="1600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causal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inference,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design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trumps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analysis.”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Ann.</a:t>
            </a:r>
            <a:r>
              <a:rPr lang="en-US" altLang="zh-CN" sz="1600" spc="3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Appl.</a:t>
            </a:r>
            <a:r>
              <a:rPr lang="en-US" altLang="zh-CN" sz="1600" spc="3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60" dirty="0">
                <a:latin typeface="Palatino Linotype" panose="02040502050505030304"/>
                <a:cs typeface="Palatino Linotype" panose="02040502050505030304"/>
              </a:rPr>
              <a:t>Stat.</a:t>
            </a:r>
            <a:r>
              <a:rPr lang="en-US" altLang="zh-CN" sz="1600" spc="3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2</a:t>
            </a:r>
            <a:r>
              <a:rPr lang="en-US" altLang="zh-CN" sz="1600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40" dirty="0">
                <a:latin typeface="Palatino Linotype" panose="02040502050505030304"/>
                <a:cs typeface="Palatino Linotype" panose="02040502050505030304"/>
              </a:rPr>
              <a:t>(3)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808</a:t>
            </a:r>
            <a:r>
              <a:rPr lang="en-US" altLang="zh-CN" sz="1600" spc="2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-</a:t>
            </a:r>
            <a:r>
              <a:rPr lang="en-US" altLang="zh-CN" sz="1600" spc="2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840,</a:t>
            </a:r>
            <a:r>
              <a:rPr lang="en-US" altLang="zh-CN" sz="1600" spc="2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September</a:t>
            </a:r>
            <a:r>
              <a:rPr lang="en-US" altLang="zh-CN" sz="1600" spc="2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dirty="0">
                <a:latin typeface="Palatino Linotype" panose="02040502050505030304"/>
                <a:cs typeface="Palatino Linotype" panose="02040502050505030304"/>
              </a:rPr>
              <a:t>2008.</a:t>
            </a:r>
            <a:r>
              <a:rPr lang="en-US" altLang="zh-CN" sz="1600" spc="4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lang="en-US" altLang="zh-CN" sz="1600" spc="50" dirty="0">
                <a:latin typeface="Palatino Linotype" panose="02040502050505030304"/>
                <a:cs typeface="Palatino Linotype" panose="02040502050505030304"/>
              </a:rPr>
              <a:t>https://doi.org/10.1214/08-</a:t>
            </a:r>
            <a:r>
              <a:rPr lang="en-US" altLang="zh-CN" sz="1600" spc="40" dirty="0">
                <a:latin typeface="Palatino Linotype" panose="02040502050505030304"/>
                <a:cs typeface="Palatino Linotype" panose="02040502050505030304"/>
              </a:rPr>
              <a:t>AOAS187</a:t>
            </a:r>
            <a:endParaRPr lang="en-US" altLang="zh-CN" sz="1600" dirty="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</a:pPr>
            <a:endParaRPr lang="zh-CN" altLang="en-US" sz="16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EA1F8B-4538-4A64-AF91-C7A07BE1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5C0040-A185-9ECD-033F-74ED9883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202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思源宋体 Heavy"/>
        <a:cs typeface=""/>
      </a:majorFont>
      <a:minorFont>
        <a:latin typeface="Times New Roman"/>
        <a:ea typeface="思源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1331</TotalTime>
  <Words>6845</Words>
  <Application>Microsoft Office PowerPoint</Application>
  <PresentationFormat>全屏显示(4:3)</PresentationFormat>
  <Paragraphs>537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1" baseType="lpstr">
      <vt:lpstr>等线</vt:lpstr>
      <vt:lpstr>黑体</vt:lpstr>
      <vt:lpstr>楷体</vt:lpstr>
      <vt:lpstr>宋体</vt:lpstr>
      <vt:lpstr>Arial</vt:lpstr>
      <vt:lpstr>Bookman Old Style</vt:lpstr>
      <vt:lpstr>Cambria</vt:lpstr>
      <vt:lpstr>Cambria Math</vt:lpstr>
      <vt:lpstr>MathJax_Typewriter</vt:lpstr>
      <vt:lpstr>Palatino Linotype</vt:lpstr>
      <vt:lpstr>Times New Roman</vt:lpstr>
      <vt:lpstr>Office 主题​​</vt:lpstr>
      <vt:lpstr>随机化实验</vt:lpstr>
      <vt:lpstr>目录</vt:lpstr>
      <vt:lpstr>随机化实验的作用</vt:lpstr>
      <vt:lpstr>随机化实验的作用</vt:lpstr>
      <vt:lpstr>随机化实验的作用</vt:lpstr>
      <vt:lpstr>随机化实验的作用</vt:lpstr>
      <vt:lpstr>随机化实验的作用：实例</vt:lpstr>
      <vt:lpstr>随机化实验的作用：实例</vt:lpstr>
      <vt:lpstr>随机化实验的分类</vt:lpstr>
      <vt:lpstr>随机化实验的作用：小结</vt:lpstr>
      <vt:lpstr>完全随机化实验</vt:lpstr>
      <vt:lpstr>Fisher Exact P Test</vt:lpstr>
      <vt:lpstr>Fisher Exact P Test 常用统计量</vt:lpstr>
      <vt:lpstr>Fisher Exact P Test 常用统计量</vt:lpstr>
      <vt:lpstr>Fisher Exact P Test 例子</vt:lpstr>
      <vt:lpstr>Fisher Exact P Test 例子</vt:lpstr>
      <vt:lpstr>Fisher Exact P Test 例子</vt:lpstr>
      <vt:lpstr>Fisher Exact P Test 例子</vt:lpstr>
      <vt:lpstr>Fisher Exact P Test 例子</vt:lpstr>
      <vt:lpstr>Fisher Exact P Test 例子</vt:lpstr>
      <vt:lpstr>Fisher Exact P Test 例子</vt:lpstr>
      <vt:lpstr>Fisher Exact P Test 例子</vt:lpstr>
      <vt:lpstr>PowerPoint 演示文稿</vt:lpstr>
      <vt:lpstr>Neyman 重复抽样方法</vt:lpstr>
      <vt:lpstr>Neyman 重复抽样方法</vt:lpstr>
      <vt:lpstr>Neyman 重复抽样方法</vt:lpstr>
      <vt:lpstr>Neyman 重复抽样方法</vt:lpstr>
      <vt:lpstr>Neyman 重复抽样方法</vt:lpstr>
      <vt:lpstr>Neyman 重复抽样方法</vt:lpstr>
      <vt:lpstr>Neyman 重复抽样方法</vt:lpstr>
      <vt:lpstr>完全随机化实验的回归分析：简单回归</vt:lpstr>
      <vt:lpstr>完全随机化实验的回归分析：引入协变量</vt:lpstr>
      <vt:lpstr>完全随机化实验的回归分析：引入协变量</vt:lpstr>
      <vt:lpstr>完全随机化实验的回归分析：Lin(2013) 结果的直觉解释</vt:lpstr>
      <vt:lpstr>完全随机化实验的回归分析：Lin(2013) 结果的直觉解释</vt:lpstr>
      <vt:lpstr>完全随机化实验的回归分析</vt:lpstr>
      <vt:lpstr>种族歧视：虚拟简历实验</vt:lpstr>
      <vt:lpstr>性别歧视：虚拟简历实验</vt:lpstr>
      <vt:lpstr>分层随机化实验</vt:lpstr>
      <vt:lpstr>Fisher Exact P Test</vt:lpstr>
      <vt:lpstr>Neyman approach</vt:lpstr>
      <vt:lpstr>回归方法</vt:lpstr>
      <vt:lpstr>配对随机化实验</vt:lpstr>
      <vt:lpstr>Fisher Exact P test</vt:lpstr>
      <vt:lpstr>Neyman 方法</vt:lpstr>
      <vt:lpstr>回归方法</vt:lpstr>
      <vt:lpstr>配对随机化实验</vt:lpstr>
      <vt:lpstr>总结</vt:lpstr>
      <vt:lpstr>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Xiliang ZHAO</dc:creator>
  <cp:lastModifiedBy>Xiliang ZHAO</cp:lastModifiedBy>
  <cp:revision>37</cp:revision>
  <dcterms:created xsi:type="dcterms:W3CDTF">2026-08-07T12:10:34Z</dcterms:created>
  <dcterms:modified xsi:type="dcterms:W3CDTF">2026-08-10T03:54:15Z</dcterms:modified>
</cp:coreProperties>
</file>
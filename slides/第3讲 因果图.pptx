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3004A-1035-4AD2-BC4A-DB230EAABF41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5C349-FD8F-4A61-B7BE-408729C94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4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15A7-CEAA-43FE-A0C6-C344D2E1C420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0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9CB9-29D0-4350-825D-C0AA5096F718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358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CF1F-4D82-4E39-A2A2-35E2A1D1799F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82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3615-B586-42F4-9872-6C720AA0F56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3562-2CF1-4137-BC7A-0E1D3AD82A62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09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6C70-57B0-4FDE-A935-0B961BFE496D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AC03-C0A7-4889-9992-72A6D2628D14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72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4344-EBCE-46E1-8116-31474348F6B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18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E525-4771-468B-A8FB-DAB2047A4270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65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E2B5-2348-4A45-A5B7-02B2B64364E4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45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5BAB9-886B-4640-A228-FB1A92425BD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96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4183-C876-422B-881A-B6A8D40A16EE}" type="datetime1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ⓒ 赵西亮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FC515-8169-4A29-AA56-DBE520D574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9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F58E5-B2B8-FEBB-8A41-24F534B6F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因果图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A12E75-A8A7-EF47-8BB0-5705F1BDB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赵西亮</a:t>
            </a:r>
            <a:endParaRPr lang="en-US" altLang="zh-CN" dirty="0"/>
          </a:p>
          <a:p>
            <a:r>
              <a:rPr lang="zh-CN" altLang="en-US" dirty="0"/>
              <a:t>厦门大学经济学院</a:t>
            </a:r>
            <a:endParaRPr lang="en-US" altLang="zh-CN" dirty="0"/>
          </a:p>
          <a:p>
            <a:r>
              <a:rPr lang="zh-CN" altLang="en-US" dirty="0"/>
              <a:t>王亚南经济研究院</a:t>
            </a:r>
          </a:p>
        </p:txBody>
      </p:sp>
    </p:spTree>
    <p:extLst>
      <p:ext uri="{BB962C8B-B14F-4D97-AF65-F5344CB8AC3E}">
        <p14:creationId xmlns:p14="http://schemas.microsoft.com/office/powerpoint/2010/main" val="40836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E0263-3E9F-871C-6CBB-5FE9A142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/>
                <a:cs typeface="宋体"/>
              </a:rPr>
              <a:t>辛普森悖论</a:t>
            </a:r>
            <a:r>
              <a:rPr lang="zh-CN" altLang="en-US" spc="-22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(Simpson’s</a:t>
            </a:r>
            <a:r>
              <a:rPr lang="en-US" altLang="zh-CN" spc="13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paradox)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4AC5FA-0F8B-7133-FC7C-04A961AE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pc="-25" dirty="0">
                <a:latin typeface="Palatino Linotype"/>
                <a:cs typeface="Palatino Linotype"/>
              </a:rPr>
              <a:t>Edward</a:t>
            </a:r>
            <a:r>
              <a:rPr lang="zh-CN" altLang="en-US" spc="75" dirty="0">
                <a:latin typeface="Palatino Linotype"/>
                <a:cs typeface="Palatino Linotype"/>
              </a:rPr>
              <a:t> </a:t>
            </a:r>
            <a:r>
              <a:rPr lang="en-US" altLang="zh-CN" spc="-35" dirty="0">
                <a:latin typeface="Palatino Linotype"/>
                <a:cs typeface="Palatino Linotype"/>
              </a:rPr>
              <a:t>Simpson</a:t>
            </a:r>
            <a:r>
              <a:rPr lang="zh-CN" altLang="en-US" spc="-35" dirty="0">
                <a:latin typeface="宋体"/>
                <a:cs typeface="宋体"/>
              </a:rPr>
              <a:t>：</a:t>
            </a:r>
            <a:r>
              <a:rPr lang="zh-CN" altLang="en-US" spc="-10" dirty="0">
                <a:latin typeface="宋体"/>
                <a:cs typeface="宋体"/>
              </a:rPr>
              <a:t>一个总体中的统计相关性在子总体中完全反了过来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391952-40CE-EDEB-4F8D-80032F41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22D9F4-3CB9-BF29-8BB2-198B681A9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32CD07FC-9CD5-2426-FC8D-B7B637F571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613" y="2898326"/>
            <a:ext cx="7591738" cy="192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35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D81A2-358D-6CB1-545E-12B2A3A5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辛普森悖论</a:t>
            </a:r>
            <a:r>
              <a:rPr lang="zh-CN" altLang="en-US" spc="-22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(Simpson’s</a:t>
            </a:r>
            <a:r>
              <a:rPr lang="en-US" altLang="zh-CN" spc="13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paradox)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61F38-3F8B-BE50-2030-AE050B36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7343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pc="-5" dirty="0">
                <a:latin typeface="Palatino Linotype"/>
                <a:cs typeface="Palatino Linotype"/>
              </a:rPr>
              <a:t>1973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年秋季，美国加州大学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20" dirty="0">
                <a:latin typeface="Palatino Linotype"/>
                <a:cs typeface="Palatino Linotype"/>
              </a:rPr>
              <a:t>Berkeley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分校研究生招生录取工作中，共有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12,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en-US" altLang="zh-CN" spc="-5" dirty="0">
                <a:latin typeface="Palatino Linotype"/>
                <a:cs typeface="Palatino Linotype"/>
              </a:rPr>
              <a:t>763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申请，男生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5" dirty="0">
                <a:latin typeface="Palatino Linotype"/>
                <a:cs typeface="Palatino Linotype"/>
              </a:rPr>
              <a:t>8442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人，女生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5" dirty="0">
                <a:latin typeface="Palatino Linotype"/>
                <a:cs typeface="Palatino Linotype"/>
              </a:rPr>
              <a:t>4321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人。最终录取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5" dirty="0">
                <a:latin typeface="Palatino Linotype"/>
                <a:cs typeface="Palatino Linotype"/>
              </a:rPr>
              <a:t>5232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人，男生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5" dirty="0">
                <a:latin typeface="Palatino Linotype"/>
                <a:cs typeface="Palatino Linotype"/>
              </a:rPr>
              <a:t>3738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人，女生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5" dirty="0">
                <a:latin typeface="Palatino Linotype"/>
                <a:cs typeface="Palatino Linotype"/>
              </a:rPr>
              <a:t>1494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人。男生录取率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44%</a:t>
            </a:r>
            <a:r>
              <a:rPr lang="zh-CN" altLang="en-US" spc="-10" dirty="0">
                <a:latin typeface="宋体"/>
                <a:cs typeface="宋体"/>
              </a:rPr>
              <a:t>，女生录取率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35%</a:t>
            </a:r>
            <a:r>
              <a:rPr lang="zh-CN" altLang="en-US" spc="-1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录取中是否有性别歧视</a:t>
            </a:r>
            <a:r>
              <a:rPr lang="zh-CN" altLang="en-US" spc="-50" dirty="0">
                <a:latin typeface="宋体"/>
                <a:cs typeface="宋体"/>
              </a:rPr>
              <a:t>？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/>
                <a:cs typeface="Palatino Linotype"/>
              </a:rPr>
              <a:t>Bickel et al.</a:t>
            </a:r>
            <a:r>
              <a:rPr lang="zh-CN" altLang="en-US" spc="195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(1975) </a:t>
            </a:r>
            <a:r>
              <a:rPr lang="zh-CN" altLang="en-US" spc="-10" dirty="0">
                <a:latin typeface="宋体"/>
                <a:cs typeface="宋体"/>
              </a:rPr>
              <a:t>研究发现，按专业划分后，每个专业中女生的录取</a:t>
            </a:r>
            <a:r>
              <a:rPr lang="zh-CN" altLang="en-US" spc="-50" dirty="0">
                <a:latin typeface="宋体"/>
                <a:cs typeface="宋体"/>
              </a:rPr>
              <a:t>率</a:t>
            </a:r>
            <a:r>
              <a:rPr lang="zh-CN" altLang="en-US" spc="-10" dirty="0">
                <a:latin typeface="宋体"/>
                <a:cs typeface="宋体"/>
              </a:rPr>
              <a:t>都更高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4D69FA-16D8-B9E4-9704-48D16CF2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0E822-7633-1022-915A-6F3241C1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</a:t>
            </a:fld>
            <a:endParaRPr lang="zh-CN" altLang="en-US"/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B7264B9F-EEB7-AECA-A7C9-4BAA81684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30272"/>
              </p:ext>
            </p:extLst>
          </p:nvPr>
        </p:nvGraphicFramePr>
        <p:xfrm>
          <a:off x="1173129" y="4665337"/>
          <a:ext cx="6797741" cy="15856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8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66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6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0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男生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申</a:t>
                      </a:r>
                      <a:endParaRPr sz="1800" dirty="0">
                        <a:latin typeface="宋体"/>
                        <a:cs typeface="宋体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请人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数</a:t>
                      </a:r>
                      <a:endParaRPr sz="1800" dirty="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录取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录取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女生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申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请人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录取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数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录取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率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57785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91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专业</a:t>
                      </a:r>
                      <a:r>
                        <a:rPr sz="1800" spc="-1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800" spc="-50" dirty="0">
                          <a:latin typeface="Palatino Linotype"/>
                          <a:cs typeface="Palatino Linotype"/>
                        </a:rPr>
                        <a:t>1</a:t>
                      </a:r>
                      <a:endParaRPr sz="1800" dirty="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200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40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20%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400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120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30%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82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专业</a:t>
                      </a:r>
                      <a:r>
                        <a:rPr sz="1800" spc="-17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800" spc="-50" dirty="0">
                          <a:latin typeface="Palatino Linotype"/>
                          <a:cs typeface="Palatino Linotype"/>
                        </a:rPr>
                        <a:t>2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800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400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50%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100</a:t>
                      </a:r>
                      <a:endParaRPr sz="1800" dirty="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70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70%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1905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373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宋体"/>
                          <a:cs typeface="宋体"/>
                        </a:rPr>
                        <a:t>合</a:t>
                      </a:r>
                      <a:r>
                        <a:rPr sz="1800" spc="-50" dirty="0">
                          <a:latin typeface="宋体"/>
                          <a:cs typeface="宋体"/>
                        </a:rPr>
                        <a:t>计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Palatino Linotype"/>
                          <a:cs typeface="Palatino Linotype"/>
                        </a:rPr>
                        <a:t>1000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440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44%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500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190</a:t>
                      </a:r>
                      <a:endParaRPr sz="180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Palatino Linotype"/>
                          <a:cs typeface="Palatino Linotype"/>
                        </a:rPr>
                        <a:t>38%</a:t>
                      </a:r>
                      <a:endParaRPr sz="1800" dirty="0">
                        <a:latin typeface="Palatino Linotype"/>
                        <a:cs typeface="Palatino Linotype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256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9F4E9-C494-352E-BFD5-488878C1B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辛普森悖论</a:t>
            </a:r>
            <a:r>
              <a:rPr lang="zh-CN" altLang="en-US" spc="-22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(Simpson’s</a:t>
            </a:r>
            <a:r>
              <a:rPr lang="en-US" altLang="zh-CN" spc="13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paradox)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756D41-BB1E-AD34-0E36-E5958E9D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40290EE-A565-6B03-92CD-3193C199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24C240DB-D79B-2820-E1CA-DFA33C20C7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5391" y="1825625"/>
            <a:ext cx="71932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08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1A21B-1E76-E56A-5D22-34B16E7B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辛普森悖论</a:t>
            </a:r>
            <a:r>
              <a:rPr lang="zh-CN" altLang="en-US" spc="-22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(Simpson’s</a:t>
            </a:r>
            <a:r>
              <a:rPr lang="en-US" altLang="zh-CN" spc="13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paradox)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1DA79F-D0CE-8F8E-C529-CC9F37998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pc="-25" dirty="0">
                <a:latin typeface="Palatino Linotype"/>
                <a:cs typeface="Palatino Linotype"/>
              </a:rPr>
              <a:t>Edward</a:t>
            </a:r>
            <a:r>
              <a:rPr lang="en-US" altLang="zh-CN" spc="45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Simpson: </a:t>
            </a:r>
            <a:r>
              <a:rPr lang="zh-CN" altLang="en-US" spc="-10" dirty="0">
                <a:latin typeface="Palatino Linotype"/>
                <a:cs typeface="Palatino Linotype"/>
              </a:rPr>
              <a:t>总体上的统计相关性在子总体上发生逆转。</a:t>
            </a:r>
            <a:endParaRPr lang="en-US" altLang="zh-CN" spc="-10" dirty="0">
              <a:latin typeface="Palatino Linotype"/>
              <a:cs typeface="Palatino Linotype"/>
            </a:endParaRPr>
          </a:p>
          <a:p>
            <a:r>
              <a:rPr lang="zh-CN" altLang="en-US" dirty="0"/>
              <a:t>这里药物通过影响血压 </a:t>
            </a:r>
            <a:r>
              <a:rPr lang="en-US" altLang="zh-CN" dirty="0"/>
              <a:t>(BP) </a:t>
            </a:r>
            <a:r>
              <a:rPr lang="zh-CN" altLang="en-US" dirty="0"/>
              <a:t>而影响到恢复率。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11B894-7486-01EA-E1C2-761E2A8E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1EB5F8-37CA-918C-A4D3-593670EC5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35B403B1-5510-4F6D-ACA5-D2053882C5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055" y="3428999"/>
            <a:ext cx="7322671" cy="18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0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2ED34-3807-A627-5372-65A12EAB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/>
                <a:cs typeface="宋体"/>
              </a:rPr>
              <a:t>辛普森悖论</a:t>
            </a:r>
            <a:r>
              <a:rPr lang="zh-CN" altLang="en-US" spc="-22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(Simpson’s</a:t>
            </a:r>
            <a:r>
              <a:rPr lang="en-US" altLang="zh-CN" spc="13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paradox)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6832B-612C-8DC5-273D-171E970B4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数据不会自己讲话，相关性不是因果性，不存在只从数据中决定因果故事的统计方法。</a:t>
            </a:r>
            <a:endParaRPr lang="en-US" altLang="zh-CN" dirty="0"/>
          </a:p>
          <a:p>
            <a:r>
              <a:rPr lang="zh-CN" altLang="en-US" dirty="0"/>
              <a:t>我们需要理解数据背后的故事</a:t>
            </a:r>
            <a:r>
              <a:rPr lang="en-US" altLang="zh-CN" dirty="0"/>
              <a:t>——</a:t>
            </a:r>
            <a:r>
              <a:rPr lang="zh-CN" altLang="en-US" dirty="0"/>
              <a:t>产生我们看到的结果的因果机制。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9075AE-0528-5730-FB3A-5DF1199A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E2F0D1-23E6-38AF-99B3-F9A96A44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5126F-6587-45A6-C27D-9EA92E80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C4500E-0FB0-1A51-D1A6-E7D709EF4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96156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Sewall Wright (1920) </a:t>
            </a:r>
            <a:r>
              <a:rPr lang="zh-CN" altLang="en-US" dirty="0"/>
              <a:t>路径分析，因果图</a:t>
            </a:r>
            <a:r>
              <a:rPr lang="en-US" altLang="zh-CN" dirty="0"/>
              <a:t> (Peral, 1995), The Book of Why (Pearl and Mackenzie, 2018)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图是一系列结点</a:t>
            </a:r>
            <a:r>
              <a:rPr lang="en-US" altLang="zh-CN" dirty="0"/>
              <a:t> (nodes) </a:t>
            </a:r>
            <a:r>
              <a:rPr lang="zh-CN" altLang="en-US" dirty="0"/>
              <a:t>和边 </a:t>
            </a:r>
            <a:r>
              <a:rPr lang="en-US" altLang="zh-CN" dirty="0"/>
              <a:t>(edges)</a:t>
            </a:r>
            <a:r>
              <a:rPr lang="zh-CN" altLang="en-US" dirty="0"/>
              <a:t> 的集合。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边可以是有向的 </a:t>
            </a:r>
            <a:r>
              <a:rPr lang="en-US" altLang="zh-CN" dirty="0"/>
              <a:t>(directed) </a:t>
            </a:r>
            <a:r>
              <a:rPr lang="zh-CN" altLang="en-US" dirty="0"/>
              <a:t>或无向的 </a:t>
            </a:r>
            <a:r>
              <a:rPr lang="en-US" altLang="zh-CN" dirty="0"/>
              <a:t>(undirected)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连接两个点 </a:t>
            </a:r>
            <a:r>
              <a:rPr lang="en-US" altLang="zh-CN" dirty="0"/>
              <a:t>X  </a:t>
            </a:r>
            <a:r>
              <a:rPr lang="zh-CN" altLang="en-US" dirty="0"/>
              <a:t>和 </a:t>
            </a:r>
            <a:r>
              <a:rPr lang="en-US" altLang="zh-CN" dirty="0"/>
              <a:t>Y </a:t>
            </a:r>
            <a:r>
              <a:rPr lang="zh-CN" altLang="en-US" dirty="0"/>
              <a:t>的路径 </a:t>
            </a:r>
            <a:r>
              <a:rPr lang="en-US" altLang="zh-CN" dirty="0"/>
              <a:t>(path)</a:t>
            </a:r>
            <a:r>
              <a:rPr lang="zh-CN" altLang="en-US" dirty="0"/>
              <a:t> 是由</a:t>
            </a:r>
            <a:r>
              <a:rPr lang="en-US" altLang="zh-CN" dirty="0"/>
              <a:t>X</a:t>
            </a:r>
            <a:r>
              <a:rPr lang="zh-CN" altLang="en-US" dirty="0"/>
              <a:t>开始到</a:t>
            </a:r>
            <a:r>
              <a:rPr lang="en-US" altLang="zh-CN" dirty="0"/>
              <a:t>Y</a:t>
            </a:r>
            <a:r>
              <a:rPr lang="zh-CN" altLang="en-US" dirty="0"/>
              <a:t>的一系列结点的集合，由边相互联接起来。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父结点：有向边的起点称为后面结点的父结点</a:t>
            </a:r>
            <a:r>
              <a:rPr lang="en-US" altLang="zh-CN" dirty="0"/>
              <a:t>(parent)</a:t>
            </a:r>
            <a:r>
              <a:rPr lang="zh-CN" altLang="en-US" dirty="0"/>
              <a:t>，而后面结点称为起点的子结点</a:t>
            </a:r>
            <a:r>
              <a:rPr lang="en-US" altLang="zh-CN" dirty="0"/>
              <a:t>(child)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如果两个结点有一条有向路径连接，起点变量称为后续变量的祖结点</a:t>
            </a:r>
            <a:r>
              <a:rPr lang="en-US" altLang="zh-CN" dirty="0"/>
              <a:t>(ancestor)</a:t>
            </a:r>
            <a:r>
              <a:rPr lang="zh-CN" altLang="en-US" dirty="0"/>
              <a:t>，而后面的每个结点称为起点变量的孙结点</a:t>
            </a:r>
            <a:r>
              <a:rPr lang="en-US" altLang="zh-CN" dirty="0"/>
              <a:t>(descendant)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当路径是由一个结点出发，最终又回到自己，称为循环路径</a:t>
            </a:r>
            <a:r>
              <a:rPr lang="en-US" altLang="zh-CN" dirty="0"/>
              <a:t>(cyclic)</a:t>
            </a:r>
            <a:r>
              <a:rPr lang="zh-CN" altLang="en-US" dirty="0"/>
              <a:t>，没有循环路径称为</a:t>
            </a:r>
            <a:r>
              <a:rPr lang="en-US" altLang="zh-CN" dirty="0"/>
              <a:t>acyclic</a:t>
            </a:r>
            <a:r>
              <a:rPr lang="zh-CN" altLang="en-US" dirty="0"/>
              <a:t>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48F01-B3A7-D528-E9DA-65DB439D4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823A02-2C00-24F6-1172-A1AC9890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object 11">
            <a:extLst>
              <a:ext uri="{FF2B5EF4-FFF2-40B4-BE49-F238E27FC236}">
                <a16:creationId xmlns:a16="http://schemas.microsoft.com/office/drawing/2014/main" id="{0DB957C0-3DFE-AFAF-64D2-54E0480A03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0338" y="5353509"/>
            <a:ext cx="2057400" cy="103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0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9CDEF-7328-A459-C234-D43EBB36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基本概念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6F4FFE-8BED-7783-EB5D-2E268FC44C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spc="-10" dirty="0"/>
                  <a:t>如果一个变量不是图中变量的共同原因</a:t>
                </a:r>
                <a:r>
                  <a:rPr lang="zh-CN" altLang="en-US" spc="-175" dirty="0"/>
                  <a:t> </a:t>
                </a:r>
                <a:r>
                  <a:rPr lang="en-US" altLang="zh-CN" spc="-20" dirty="0">
                    <a:latin typeface="Palatino Linotype"/>
                    <a:cs typeface="Palatino Linotype"/>
                  </a:rPr>
                  <a:t>(common</a:t>
                </a:r>
                <a:r>
                  <a:rPr lang="en-US" altLang="zh-CN" spc="6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25" dirty="0">
                    <a:latin typeface="Palatino Linotype"/>
                    <a:cs typeface="Palatino Linotype"/>
                  </a:rPr>
                  <a:t>cause)</a:t>
                </a:r>
                <a:r>
                  <a:rPr lang="zh-CN" altLang="en-US" spc="-25" dirty="0"/>
                  <a:t>，</a:t>
                </a:r>
                <a:r>
                  <a:rPr lang="zh-CN" altLang="en-US" spc="-10" dirty="0"/>
                  <a:t>可以不包括在</a:t>
                </a:r>
                <a:r>
                  <a:rPr lang="zh-CN" altLang="en-US" spc="-50" dirty="0"/>
                  <a:t>因</a:t>
                </a:r>
                <a:r>
                  <a:rPr lang="zh-CN" altLang="en-US" spc="-10" dirty="0"/>
                  <a:t>果图中</a:t>
                </a:r>
                <a:r>
                  <a:rPr lang="zh-CN" altLang="en-US" spc="-50" dirty="0"/>
                  <a:t>。</a:t>
                </a:r>
                <a:endParaRPr lang="en-US" altLang="zh-CN" spc="-5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i="1" spc="-50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i="1" spc="-50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 spc="-50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spc="-50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相反，凡是图中变量共同原因的变量，都应显示在图中</a:t>
                </a:r>
                <a:endParaRPr lang="en-US" altLang="zh-CN" spc="-50" dirty="0"/>
              </a:p>
              <a:p>
                <a:pPr>
                  <a:lnSpc>
                    <a:spcPct val="10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36F4FFE-8BED-7783-EB5D-2E268FC44C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401" r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0FA07E-D992-CECE-3C76-30B6A96F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08418B-2FA1-ADFE-5B4F-DB186078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object 11">
            <a:extLst>
              <a:ext uri="{FF2B5EF4-FFF2-40B4-BE49-F238E27FC236}">
                <a16:creationId xmlns:a16="http://schemas.microsoft.com/office/drawing/2014/main" id="{7E0D0A7A-2131-EB83-7813-A6F9C89A2B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7917" y="4001294"/>
            <a:ext cx="2337134" cy="231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33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05EE8-0499-0EB9-F6FC-D0010086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</a:t>
            </a:r>
            <a:r>
              <a:rPr lang="zh-CN" altLang="en-US" spc="-50" dirty="0"/>
              <a:t>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08E30-2A24-41C5-B95A-4AD4805D8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spc="-10" dirty="0">
                <a:latin typeface="宋体"/>
                <a:cs typeface="宋体"/>
              </a:rPr>
              <a:t>结构因果模型</a:t>
            </a:r>
            <a:r>
              <a:rPr lang="zh-CN" altLang="en-US" spc="-114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(SCM)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是描述变量间因果关系的模型，特别是描述了变</a:t>
            </a:r>
            <a:r>
              <a:rPr lang="zh-CN" altLang="en-US" spc="-50" dirty="0">
                <a:latin typeface="宋体"/>
                <a:cs typeface="宋体"/>
              </a:rPr>
              <a:t>量</a:t>
            </a:r>
            <a:r>
              <a:rPr lang="zh-CN" altLang="en-US" spc="-10" dirty="0">
                <a:latin typeface="宋体"/>
                <a:cs typeface="宋体"/>
              </a:rPr>
              <a:t>是如何取值，反映了研究者的因果假设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结构因果模型包括两类变量</a:t>
            </a:r>
            <a:r>
              <a:rPr lang="zh-CN" altLang="en-US" spc="-80" dirty="0">
                <a:latin typeface="宋体"/>
                <a:cs typeface="宋体"/>
              </a:rPr>
              <a:t>：</a:t>
            </a:r>
            <a:r>
              <a:rPr lang="zh-CN" altLang="en-US" spc="-10" dirty="0">
                <a:latin typeface="宋体"/>
                <a:cs typeface="宋体"/>
              </a:rPr>
              <a:t>外生变量</a:t>
            </a:r>
            <a:r>
              <a:rPr lang="zh-CN" altLang="en-US" spc="-185" dirty="0">
                <a:latin typeface="宋体"/>
                <a:cs typeface="宋体"/>
              </a:rPr>
              <a:t> </a:t>
            </a:r>
            <a:r>
              <a:rPr lang="zh-CN" altLang="en-US" dirty="0">
                <a:latin typeface="Cambria"/>
                <a:cs typeface="Cambria"/>
              </a:rPr>
              <a:t>𝑈</a:t>
            </a:r>
            <a:r>
              <a:rPr lang="zh-CN" altLang="en-US" spc="19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和内生变量</a:t>
            </a:r>
            <a:r>
              <a:rPr lang="zh-CN" altLang="en-US" spc="-185" dirty="0">
                <a:latin typeface="宋体"/>
                <a:cs typeface="宋体"/>
              </a:rPr>
              <a:t> </a:t>
            </a:r>
            <a:r>
              <a:rPr lang="zh-CN" altLang="en-US" spc="-60" dirty="0">
                <a:latin typeface="Cambria"/>
                <a:cs typeface="Cambria"/>
              </a:rPr>
              <a:t>𝑉</a:t>
            </a:r>
            <a:r>
              <a:rPr lang="zh-CN" altLang="en-US" spc="-10" dirty="0">
                <a:latin typeface="Cambria"/>
                <a:cs typeface="Cambria"/>
              </a:rPr>
              <a:t> </a:t>
            </a:r>
            <a:r>
              <a:rPr lang="zh-CN" altLang="en-US" spc="-70" dirty="0">
                <a:latin typeface="宋体"/>
                <a:cs typeface="宋体"/>
              </a:rPr>
              <a:t>。</a:t>
            </a:r>
            <a:r>
              <a:rPr lang="zh-CN" altLang="en-US" spc="-10" dirty="0">
                <a:latin typeface="宋体"/>
                <a:cs typeface="宋体"/>
              </a:rPr>
              <a:t>内生变量至少</a:t>
            </a:r>
            <a:r>
              <a:rPr lang="zh-CN" altLang="en-US" spc="-50" dirty="0">
                <a:latin typeface="宋体"/>
                <a:cs typeface="宋体"/>
              </a:rPr>
              <a:t>是</a:t>
            </a:r>
            <a:r>
              <a:rPr lang="zh-CN" altLang="en-US" spc="-10" dirty="0">
                <a:latin typeface="宋体"/>
                <a:cs typeface="宋体"/>
              </a:rPr>
              <a:t>一个外生变量的子孙，外生变量不能是其他变量的子孙，特别不能是内</a:t>
            </a:r>
            <a:r>
              <a:rPr lang="zh-CN" altLang="en-US" spc="-50" dirty="0">
                <a:latin typeface="宋体"/>
                <a:cs typeface="宋体"/>
              </a:rPr>
              <a:t>生</a:t>
            </a:r>
            <a:r>
              <a:rPr lang="zh-CN" altLang="en-US" spc="-10" dirty="0">
                <a:latin typeface="宋体"/>
                <a:cs typeface="宋体"/>
              </a:rPr>
              <a:t>变量的子孙。外生变量没有祖先。如果知道所有外生变量的值，利用赋</a:t>
            </a:r>
            <a:r>
              <a:rPr lang="zh-CN" altLang="en-US" spc="-50" dirty="0">
                <a:latin typeface="宋体"/>
                <a:cs typeface="宋体"/>
              </a:rPr>
              <a:t>值</a:t>
            </a:r>
            <a:r>
              <a:rPr lang="zh-CN" altLang="en-US" spc="-10" dirty="0">
                <a:latin typeface="宋体"/>
                <a:cs typeface="宋体"/>
              </a:rPr>
              <a:t>函数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zh-CN" altLang="en-US" dirty="0">
                <a:latin typeface="Cambria"/>
                <a:cs typeface="Cambria"/>
              </a:rPr>
              <a:t>𝑓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可以得到所有内生变量的值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如果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3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出现在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的赋值函数里，那么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55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是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的</a:t>
            </a:r>
            <a:r>
              <a:rPr lang="zh-CN" altLang="en-US" spc="-10" dirty="0">
                <a:latin typeface="黑体"/>
                <a:cs typeface="黑体"/>
              </a:rPr>
              <a:t>直接原因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每个结构因果模型</a:t>
            </a:r>
            <a:r>
              <a:rPr lang="zh-CN" altLang="en-US" spc="-75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(SCM)</a:t>
            </a:r>
            <a:r>
              <a:rPr lang="en-US" altLang="zh-CN" spc="1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都有一个相关的图因果模型</a:t>
            </a:r>
            <a:r>
              <a:rPr lang="zh-CN" altLang="en-US" spc="-15" dirty="0">
                <a:latin typeface="宋体"/>
                <a:cs typeface="宋体"/>
              </a:rPr>
              <a:t> </a:t>
            </a:r>
            <a:r>
              <a:rPr lang="en-US" altLang="zh-CN" b="1" dirty="0">
                <a:latin typeface="Palatino Linotype"/>
                <a:cs typeface="Palatino Linotype"/>
              </a:rPr>
              <a:t>(graphical</a:t>
            </a:r>
            <a:r>
              <a:rPr lang="en-US" altLang="zh-CN" b="1" spc="240" dirty="0">
                <a:latin typeface="Palatino Linotype"/>
                <a:cs typeface="Palatino Linotype"/>
              </a:rPr>
              <a:t> </a:t>
            </a:r>
            <a:r>
              <a:rPr lang="en-US" altLang="zh-CN" b="1" spc="-10" dirty="0">
                <a:latin typeface="Palatino Linotype"/>
                <a:cs typeface="Palatino Linotype"/>
              </a:rPr>
              <a:t>causal </a:t>
            </a:r>
            <a:r>
              <a:rPr lang="en-US" altLang="zh-CN" b="1" dirty="0">
                <a:latin typeface="Palatino Linotype"/>
                <a:cs typeface="Palatino Linotype"/>
              </a:rPr>
              <a:t>model)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或简称为图模型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不同的结构因果模型可能对应于同一个图模型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5DC497-184B-8829-EA61-8985B95EC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28B300-DD9E-0407-F201-BAF40D2F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689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00F4D-DC9E-6B84-0E34-3BE6EF5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</a:t>
            </a:r>
            <a:r>
              <a:rPr lang="zh-CN" altLang="en-US" spc="-50" dirty="0"/>
              <a:t>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EEDAEC-E919-9037-B33A-0289BF1BD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2251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zh-CN" altLang="en-US" spc="-10" dirty="0">
                    <a:latin typeface="宋体"/>
                    <a:cs typeface="宋体"/>
                  </a:rPr>
                  <a:t>图模型比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SCM</a:t>
                </a:r>
                <a:r>
                  <a:rPr lang="zh-CN" altLang="en-US" spc="8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具有更少的信息，为什么用图模型</a:t>
                </a:r>
                <a:r>
                  <a:rPr lang="zh-CN" altLang="en-US" spc="-50" dirty="0">
                    <a:latin typeface="宋体"/>
                    <a:cs typeface="宋体"/>
                  </a:rPr>
                  <a:t>？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图模型提供定性信息，可以比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SCM</a:t>
                </a:r>
                <a:r>
                  <a:rPr lang="zh-CN" altLang="en-US" spc="7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提供更直观的因果信息</a:t>
                </a:r>
                <a:endParaRPr lang="en-US" altLang="zh-CN" spc="-10" dirty="0">
                  <a:latin typeface="宋体"/>
                  <a:cs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图模型可以更有效率地表示变量联合分布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endParaRPr lang="en-US" altLang="zh-CN" spc="-50" dirty="0">
                  <a:latin typeface="宋体"/>
                  <a:cs typeface="宋体"/>
                </a:endParaRPr>
              </a:p>
              <a:p>
                <a:pPr lvl="1"/>
                <a:endParaRPr lang="en-US" altLang="zh-CN" spc="-50" dirty="0">
                  <a:latin typeface="宋体"/>
                  <a:cs typeface="宋体"/>
                </a:endParaRPr>
              </a:p>
              <a:p>
                <a:pPr marL="303530">
                  <a:lnSpc>
                    <a:spcPct val="100000"/>
                  </a:lnSpc>
                  <a:spcBef>
                    <a:spcPts val="590"/>
                  </a:spcBef>
                </a:pPr>
                <a:endParaRPr lang="en-US" altLang="zh-CN" sz="1000" spc="-10" dirty="0">
                  <a:latin typeface="宋体"/>
                  <a:cs typeface="宋体"/>
                </a:endParaRPr>
              </a:p>
              <a:p>
                <a:pPr marL="303530">
                  <a:lnSpc>
                    <a:spcPct val="100000"/>
                  </a:lnSpc>
                  <a:spcBef>
                    <a:spcPts val="590"/>
                  </a:spcBef>
                </a:pPr>
                <a:endParaRPr lang="en-US" altLang="zh-CN" sz="1000" spc="-10" dirty="0">
                  <a:latin typeface="宋体"/>
                  <a:cs typeface="宋体"/>
                </a:endParaRPr>
              </a:p>
              <a:p>
                <a:pPr marL="303530">
                  <a:lnSpc>
                    <a:spcPct val="100000"/>
                  </a:lnSpc>
                  <a:spcBef>
                    <a:spcPts val="590"/>
                  </a:spcBef>
                </a:pPr>
                <a:endParaRPr lang="en-US" altLang="zh-CN" sz="1000" spc="-10" dirty="0">
                  <a:latin typeface="宋体"/>
                  <a:cs typeface="宋体"/>
                </a:endParaRPr>
              </a:p>
              <a:p>
                <a:pPr marL="303530">
                  <a:lnSpc>
                    <a:spcPct val="100000"/>
                  </a:lnSpc>
                  <a:spcBef>
                    <a:spcPts val="590"/>
                  </a:spcBef>
                </a:pPr>
                <a:endParaRPr lang="en-US" altLang="zh-CN" sz="1000" spc="-10" dirty="0">
                  <a:latin typeface="宋体"/>
                  <a:cs typeface="宋体"/>
                </a:endParaRPr>
              </a:p>
              <a:p>
                <a:pPr marL="303530">
                  <a:lnSpc>
                    <a:spcPct val="100000"/>
                  </a:lnSpc>
                  <a:spcBef>
                    <a:spcPts val="590"/>
                  </a:spcBef>
                </a:pPr>
                <a:r>
                  <a:rPr lang="zh-CN" altLang="en-US" spc="-10" dirty="0">
                    <a:latin typeface="宋体"/>
                  </a:rPr>
                  <a:t>比如一个简单的链式图：𝑋 → 𝑌 → 𝑍</a:t>
                </a:r>
                <a:r>
                  <a:rPr lang="en-US" altLang="zh-CN" spc="-10" dirty="0">
                    <a:latin typeface="宋体"/>
                  </a:rPr>
                  <a:t>,</a:t>
                </a:r>
                <a:endParaRPr lang="zh-CN" altLang="en-US" spc="-10" dirty="0">
                  <a:latin typeface="宋体"/>
                </a:endParaRPr>
              </a:p>
              <a:p>
                <a:pPr marL="389890" algn="ctr">
                  <a:lnSpc>
                    <a:spcPct val="100000"/>
                  </a:lnSpc>
                  <a:spcBef>
                    <a:spcPts val="995"/>
                  </a:spcBef>
                </a:pPr>
                <a14:m>
                  <m:oMath xmlns:m="http://schemas.openxmlformats.org/officeDocument/2006/math"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pc="-10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zh-CN" altLang="en-US" i="1" spc="-10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 spc="-10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spc="-1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pc="-10" dirty="0">
                  <a:latin typeface="宋体"/>
                </a:endParaRPr>
              </a:p>
              <a:p>
                <a:pPr lvl="1"/>
                <a:r>
                  <a:rPr lang="zh-CN" altLang="en-US" spc="-10" dirty="0">
                    <a:latin typeface="宋体"/>
                    <a:cs typeface="宋体"/>
                  </a:rPr>
                  <a:t>因果模型是关于“数据”的因果故事，或代表产生数据的机制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(DGP)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EEDAEC-E919-9037-B33A-0289BF1BD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22513"/>
              </a:xfrm>
              <a:blipFill>
                <a:blip r:embed="rId2"/>
                <a:stretch>
                  <a:fillRect l="-696" t="-2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B78772-CE98-758B-8D3B-3D4BEBC0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6CFEB5-C6C8-F630-E142-74AE411B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10</a:t>
            </a:fld>
            <a:endParaRPr lang="zh-CN" altLang="en-US" dirty="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40867E08-0F64-F522-75C3-77C449A781C0}"/>
              </a:ext>
            </a:extLst>
          </p:cNvPr>
          <p:cNvGrpSpPr/>
          <p:nvPr/>
        </p:nvGrpSpPr>
        <p:grpSpPr>
          <a:xfrm>
            <a:off x="1396686" y="2645475"/>
            <a:ext cx="6923591" cy="1953761"/>
            <a:chOff x="379577" y="1190405"/>
            <a:chExt cx="4102100" cy="109220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402E9A1B-35FC-C6A8-BE1D-9A3D76C2BF17}"/>
                </a:ext>
              </a:extLst>
            </p:cNvPr>
            <p:cNvSpPr/>
            <p:nvPr/>
          </p:nvSpPr>
          <p:spPr>
            <a:xfrm>
              <a:off x="379577" y="1190405"/>
              <a:ext cx="4102100" cy="1092200"/>
            </a:xfrm>
            <a:custGeom>
              <a:avLst/>
              <a:gdLst/>
              <a:ahLst/>
              <a:cxnLst/>
              <a:rect l="l" t="t" r="r" b="b"/>
              <a:pathLst>
                <a:path w="4102100" h="1092200">
                  <a:moveTo>
                    <a:pt x="4047951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1037657"/>
                  </a:lnTo>
                  <a:lnTo>
                    <a:pt x="4243" y="1058676"/>
                  </a:lnTo>
                  <a:lnTo>
                    <a:pt x="15816" y="1075841"/>
                  </a:lnTo>
                  <a:lnTo>
                    <a:pt x="32980" y="1087414"/>
                  </a:lnTo>
                  <a:lnTo>
                    <a:pt x="54000" y="1091657"/>
                  </a:lnTo>
                  <a:lnTo>
                    <a:pt x="4047951" y="1091657"/>
                  </a:lnTo>
                  <a:lnTo>
                    <a:pt x="4068970" y="1087414"/>
                  </a:lnTo>
                  <a:lnTo>
                    <a:pt x="4086135" y="1075841"/>
                  </a:lnTo>
                  <a:lnTo>
                    <a:pt x="4097708" y="1058676"/>
                  </a:lnTo>
                  <a:lnTo>
                    <a:pt x="4101951" y="1037657"/>
                  </a:lnTo>
                  <a:lnTo>
                    <a:pt x="4101951" y="54000"/>
                  </a:lnTo>
                  <a:lnTo>
                    <a:pt x="4097708" y="32980"/>
                  </a:lnTo>
                  <a:lnTo>
                    <a:pt x="4086135" y="15816"/>
                  </a:lnTo>
                  <a:lnTo>
                    <a:pt x="4068970" y="4243"/>
                  </a:lnTo>
                  <a:lnTo>
                    <a:pt x="404795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9265ECB-12E3-0F41-1C3E-B13A9DA6C73A}"/>
                </a:ext>
              </a:extLst>
            </p:cNvPr>
            <p:cNvSpPr/>
            <p:nvPr/>
          </p:nvSpPr>
          <p:spPr>
            <a:xfrm>
              <a:off x="397577" y="1208405"/>
              <a:ext cx="4066540" cy="1056005"/>
            </a:xfrm>
            <a:custGeom>
              <a:avLst/>
              <a:gdLst/>
              <a:ahLst/>
              <a:cxnLst/>
              <a:rect l="l" t="t" r="r" b="b"/>
              <a:pathLst>
                <a:path w="4066540" h="1056005">
                  <a:moveTo>
                    <a:pt x="402995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9657"/>
                  </a:lnTo>
                  <a:lnTo>
                    <a:pt x="2829" y="1033670"/>
                  </a:lnTo>
                  <a:lnTo>
                    <a:pt x="10544" y="1045113"/>
                  </a:lnTo>
                  <a:lnTo>
                    <a:pt x="21987" y="1052828"/>
                  </a:lnTo>
                  <a:lnTo>
                    <a:pt x="36000" y="1055657"/>
                  </a:lnTo>
                  <a:lnTo>
                    <a:pt x="4029951" y="1055657"/>
                  </a:lnTo>
                  <a:lnTo>
                    <a:pt x="4043964" y="1052828"/>
                  </a:lnTo>
                  <a:lnTo>
                    <a:pt x="4055407" y="1045113"/>
                  </a:lnTo>
                  <a:lnTo>
                    <a:pt x="4063122" y="1033670"/>
                  </a:lnTo>
                  <a:lnTo>
                    <a:pt x="4065951" y="1019657"/>
                  </a:lnTo>
                  <a:lnTo>
                    <a:pt x="4065951" y="36000"/>
                  </a:lnTo>
                  <a:lnTo>
                    <a:pt x="4063122" y="21987"/>
                  </a:lnTo>
                  <a:lnTo>
                    <a:pt x="4055407" y="10544"/>
                  </a:lnTo>
                  <a:lnTo>
                    <a:pt x="4043964" y="2829"/>
                  </a:lnTo>
                  <a:lnTo>
                    <a:pt x="402995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10">
            <a:extLst>
              <a:ext uri="{FF2B5EF4-FFF2-40B4-BE49-F238E27FC236}">
                <a16:creationId xmlns:a16="http://schemas.microsoft.com/office/drawing/2014/main" id="{13C77603-FA9F-3CBA-A2D1-24AC93F5DC84}"/>
              </a:ext>
            </a:extLst>
          </p:cNvPr>
          <p:cNvSpPr txBox="1"/>
          <p:nvPr/>
        </p:nvSpPr>
        <p:spPr>
          <a:xfrm>
            <a:off x="974998" y="2476209"/>
            <a:ext cx="7345279" cy="229229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dirty="0">
              <a:latin typeface="宋体"/>
              <a:cs typeface="宋体"/>
            </a:endParaRPr>
          </a:p>
          <a:p>
            <a:pPr marL="501650" marR="104139" algn="just">
              <a:lnSpc>
                <a:spcPct val="100000"/>
              </a:lnSpc>
            </a:pPr>
            <a:r>
              <a:rPr spc="-5" dirty="0">
                <a:latin typeface="黑体"/>
                <a:cs typeface="黑体"/>
              </a:rPr>
              <a:t>乘积分解规</a:t>
            </a:r>
            <a:r>
              <a:rPr spc="-75" dirty="0">
                <a:latin typeface="黑体"/>
                <a:cs typeface="黑体"/>
              </a:rPr>
              <a:t>则 </a:t>
            </a:r>
            <a:r>
              <a:rPr spc="-5" dirty="0">
                <a:latin typeface="Palatino Linotype"/>
                <a:cs typeface="Palatino Linotype"/>
              </a:rPr>
              <a:t>(Rue</a:t>
            </a:r>
            <a:r>
              <a:rPr spc="105" dirty="0">
                <a:latin typeface="Palatino Linotype"/>
                <a:cs typeface="Palatino Linotype"/>
              </a:rPr>
              <a:t> </a:t>
            </a:r>
            <a:r>
              <a:rPr spc="-40" dirty="0">
                <a:latin typeface="Palatino Linotype"/>
                <a:cs typeface="Palatino Linotype"/>
              </a:rPr>
              <a:t>of</a:t>
            </a:r>
            <a:r>
              <a:rPr spc="110" dirty="0">
                <a:latin typeface="Palatino Linotype"/>
                <a:cs typeface="Palatino Linotype"/>
              </a:rPr>
              <a:t> </a:t>
            </a:r>
            <a:r>
              <a:rPr spc="-25" dirty="0">
                <a:latin typeface="Palatino Linotype"/>
                <a:cs typeface="Palatino Linotype"/>
              </a:rPr>
              <a:t>product</a:t>
            </a:r>
            <a:r>
              <a:rPr spc="110" dirty="0">
                <a:latin typeface="Palatino Linotype"/>
                <a:cs typeface="Palatino Linotype"/>
              </a:rPr>
              <a:t> </a:t>
            </a:r>
            <a:r>
              <a:rPr spc="-20" dirty="0">
                <a:latin typeface="Palatino Linotype"/>
                <a:cs typeface="Palatino Linotype"/>
              </a:rPr>
              <a:t>decomposition):</a:t>
            </a:r>
            <a:r>
              <a:rPr dirty="0">
                <a:latin typeface="Palatino Linotype"/>
                <a:cs typeface="Palatino Linotype"/>
              </a:rPr>
              <a:t>  </a:t>
            </a:r>
            <a:r>
              <a:rPr spc="-5" dirty="0">
                <a:latin typeface="宋体"/>
                <a:cs typeface="宋体"/>
              </a:rPr>
              <a:t>对于任意有向无</a:t>
            </a:r>
            <a:r>
              <a:rPr spc="-10" dirty="0">
                <a:latin typeface="宋体"/>
                <a:cs typeface="宋体"/>
              </a:rPr>
              <a:t>环图</a:t>
            </a:r>
            <a:r>
              <a:rPr dirty="0">
                <a:latin typeface="宋体"/>
                <a:cs typeface="宋体"/>
              </a:rPr>
              <a:t>，模型变量之间的联合分布是图中条件分</a:t>
            </a:r>
            <a:r>
              <a:rPr spc="-65" dirty="0">
                <a:latin typeface="宋体"/>
                <a:cs typeface="宋体"/>
              </a:rPr>
              <a:t>布 </a:t>
            </a:r>
            <a:r>
              <a:rPr spc="15" dirty="0">
                <a:latin typeface="Cambria"/>
                <a:cs typeface="Cambria"/>
              </a:rPr>
              <a:t>𝑃</a:t>
            </a:r>
            <a:r>
              <a:rPr spc="-85" dirty="0">
                <a:latin typeface="Cambria"/>
                <a:cs typeface="Cambria"/>
              </a:rPr>
              <a:t> </a:t>
            </a:r>
            <a:r>
              <a:rPr spc="50" dirty="0">
                <a:latin typeface="Palatino Linotype"/>
                <a:cs typeface="Palatino Linotype"/>
              </a:rPr>
              <a:t>(</a:t>
            </a:r>
            <a:r>
              <a:rPr dirty="0">
                <a:latin typeface="宋体"/>
                <a:cs typeface="宋体"/>
              </a:rPr>
              <a:t>子变</a:t>
            </a:r>
            <a:r>
              <a:rPr spc="-65" dirty="0">
                <a:latin typeface="宋体"/>
                <a:cs typeface="宋体"/>
              </a:rPr>
              <a:t>量 </a:t>
            </a:r>
            <a:r>
              <a:rPr spc="-225" dirty="0">
                <a:latin typeface="Palatino Linotype"/>
                <a:cs typeface="Palatino Linotype"/>
              </a:rPr>
              <a:t>|</a:t>
            </a:r>
            <a:r>
              <a:rPr spc="130" dirty="0">
                <a:latin typeface="Palatino Linotype"/>
                <a:cs typeface="Palatino Linotype"/>
              </a:rPr>
              <a:t> </a:t>
            </a:r>
            <a:r>
              <a:rPr dirty="0" err="1">
                <a:latin typeface="宋体"/>
                <a:cs typeface="宋体"/>
              </a:rPr>
              <a:t>父变</a:t>
            </a:r>
            <a:r>
              <a:rPr spc="-10" dirty="0" err="1">
                <a:latin typeface="宋体"/>
                <a:cs typeface="宋体"/>
              </a:rPr>
              <a:t>量</a:t>
            </a:r>
            <a:r>
              <a:rPr spc="50" dirty="0">
                <a:latin typeface="Palatino Linotype"/>
                <a:cs typeface="Palatino Linotype"/>
              </a:rPr>
              <a:t>)</a:t>
            </a:r>
            <a:r>
              <a:rPr spc="-10" dirty="0" err="1">
                <a:latin typeface="宋体"/>
                <a:cs typeface="宋体"/>
              </a:rPr>
              <a:t>的乘积。可以写为</a:t>
            </a:r>
            <a:endParaRPr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宋体"/>
              <a:cs typeface="宋体"/>
            </a:endParaRPr>
          </a:p>
          <a:p>
            <a:pPr marL="389890" algn="ctr">
              <a:lnSpc>
                <a:spcPct val="100000"/>
              </a:lnSpc>
            </a:pPr>
            <a:r>
              <a:rPr dirty="0">
                <a:latin typeface="Cambria"/>
                <a:cs typeface="Cambria"/>
              </a:rPr>
              <a:t>𝑃</a:t>
            </a:r>
            <a:r>
              <a:rPr spc="-7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(𝑥</a:t>
            </a:r>
            <a:r>
              <a:rPr baseline="-19841" dirty="0">
                <a:latin typeface="Cambria"/>
                <a:cs typeface="Cambria"/>
              </a:rPr>
              <a:t>1</a:t>
            </a:r>
            <a:r>
              <a:rPr dirty="0">
                <a:latin typeface="Cambria"/>
                <a:cs typeface="Cambria"/>
              </a:rPr>
              <a:t>,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spc="50" dirty="0">
                <a:latin typeface="Cambria"/>
                <a:cs typeface="Cambria"/>
              </a:rPr>
              <a:t>𝑥</a:t>
            </a:r>
            <a:r>
              <a:rPr spc="75" baseline="-19841" dirty="0">
                <a:latin typeface="Cambria"/>
                <a:cs typeface="Cambria"/>
              </a:rPr>
              <a:t>2</a:t>
            </a:r>
            <a:r>
              <a:rPr spc="50" dirty="0">
                <a:latin typeface="Cambria"/>
                <a:cs typeface="Cambria"/>
              </a:rPr>
              <a:t>,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75" dirty="0">
                <a:latin typeface="Cambria"/>
                <a:cs typeface="Cambria"/>
              </a:rPr>
              <a:t>…</a:t>
            </a:r>
            <a:r>
              <a:rPr spc="-30" dirty="0">
                <a:latin typeface="Cambria"/>
                <a:cs typeface="Cambria"/>
              </a:rPr>
              <a:t> </a:t>
            </a:r>
            <a:r>
              <a:rPr spc="70" dirty="0">
                <a:latin typeface="Cambria"/>
                <a:cs typeface="Cambria"/>
              </a:rPr>
              <a:t>,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spc="55" dirty="0">
                <a:latin typeface="Cambria"/>
                <a:cs typeface="Cambria"/>
              </a:rPr>
              <a:t>𝑥</a:t>
            </a:r>
            <a:r>
              <a:rPr spc="82" baseline="-19841" dirty="0">
                <a:latin typeface="Cambria"/>
                <a:cs typeface="Cambria"/>
              </a:rPr>
              <a:t>𝑛</a:t>
            </a:r>
            <a:r>
              <a:rPr spc="55" dirty="0">
                <a:latin typeface="Cambria"/>
                <a:cs typeface="Cambria"/>
              </a:rPr>
              <a:t>)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spc="215" dirty="0">
                <a:latin typeface="Cambria"/>
                <a:cs typeface="Cambria"/>
              </a:rPr>
              <a:t>=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spc="450" dirty="0">
                <a:latin typeface="Cambria"/>
                <a:cs typeface="Cambria"/>
              </a:rPr>
              <a:t>∏</a:t>
            </a:r>
            <a:r>
              <a:rPr spc="-3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𝑃</a:t>
            </a:r>
            <a:r>
              <a:rPr spc="-6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(𝑥</a:t>
            </a:r>
            <a:r>
              <a:rPr spc="-15" baseline="-19841" dirty="0">
                <a:latin typeface="Cambria"/>
                <a:cs typeface="Cambria"/>
              </a:rPr>
              <a:t>𝑖</a:t>
            </a:r>
            <a:r>
              <a:rPr spc="-10" dirty="0">
                <a:latin typeface="Cambria"/>
                <a:cs typeface="Cambria"/>
              </a:rPr>
              <a:t>|𝑝𝑎</a:t>
            </a:r>
            <a:r>
              <a:rPr spc="-15" baseline="-19841" dirty="0">
                <a:latin typeface="Cambria"/>
                <a:cs typeface="Cambria"/>
              </a:rPr>
              <a:t>𝑖</a:t>
            </a:r>
            <a:r>
              <a:rPr spc="-10" dirty="0">
                <a:latin typeface="Cambria"/>
                <a:cs typeface="Cambria"/>
              </a:rPr>
              <a:t>)</a:t>
            </a:r>
            <a:endParaRPr dirty="0">
              <a:latin typeface="Cambria"/>
              <a:cs typeface="Cambria"/>
            </a:endParaRPr>
          </a:p>
          <a:p>
            <a:pPr marL="908050" algn="ctr">
              <a:lnSpc>
                <a:spcPct val="100000"/>
              </a:lnSpc>
              <a:spcBef>
                <a:spcPts val="180"/>
              </a:spcBef>
            </a:pPr>
            <a:r>
              <a:rPr spc="5" dirty="0">
                <a:latin typeface="Cambria"/>
                <a:cs typeface="Cambria"/>
              </a:rPr>
              <a:t>𝑖</a:t>
            </a:r>
            <a:endParaRPr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299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FDC94-89F3-A8A6-7B59-8D7A1640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图和结构因果模型：因果</a:t>
            </a:r>
            <a:r>
              <a:rPr lang="zh-CN" altLang="en-US" spc="-50" dirty="0"/>
              <a:t>链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50E9799-B3B0-2F4B-A463-93DED9E2BB5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28650" y="1825625"/>
                <a:ext cx="3886200" cy="2794501"/>
              </a:xfrm>
            </p:spPr>
            <p:txBody>
              <a:bodyPr>
                <a:normAutofit fontScale="55000" lnSpcReduction="20000"/>
              </a:bodyPr>
              <a:lstStyle/>
              <a:p>
                <a:pPr marL="38100" marR="30480">
                  <a:lnSpc>
                    <a:spcPct val="120000"/>
                  </a:lnSpc>
                  <a:spcBef>
                    <a:spcPts val="135"/>
                  </a:spcBef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SCM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1</a:t>
                </a:r>
                <a:r>
                  <a:rPr lang="en-US" altLang="zh-CN" spc="13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(Schooling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funding,</a:t>
                </a:r>
                <a:r>
                  <a:rPr lang="en-US" altLang="zh-CN" spc="13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SAT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scores,</a:t>
                </a:r>
                <a:r>
                  <a:rPr lang="en-US" altLang="zh-CN" spc="50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and</a:t>
                </a:r>
                <a:r>
                  <a:rPr lang="en-US" altLang="zh-CN" spc="6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college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acceptance)</a:t>
                </a:r>
                <a:endParaRPr lang="en-US" altLang="zh-CN" dirty="0">
                  <a:latin typeface="Palatino Linotype"/>
                  <a:cs typeface="Palatino Linotype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56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600" i="1" dirty="0" smtClean="0">
                          <a:latin typeface="Cambria Math" panose="02040503050406030204" pitchFamily="18" charset="0"/>
                          <a:cs typeface="Cambria"/>
                        </a:rPr>
                        <m:t>𝑉</m:t>
                      </m:r>
                      <m:r>
                        <a:rPr lang="en-US" altLang="zh-CN" sz="2600" i="1" spc="22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70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sz="2600" i="1" spc="5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40" dirty="0">
                          <a:latin typeface="Cambria Math" panose="02040503050406030204" pitchFamily="18" charset="0"/>
                          <a:cs typeface="Cambria"/>
                        </a:rPr>
                        <m:t>{</m:t>
                      </m:r>
                      <m:r>
                        <a:rPr lang="zh-CN" altLang="en-US" sz="2600" i="1" spc="140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sz="2600" i="1" spc="140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sz="2600" i="1" spc="-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2600" i="1" spc="50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sz="2600" i="1" spc="-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05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sz="2600" i="1" spc="-4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2600" i="1" spc="120" dirty="0">
                          <a:latin typeface="Cambria Math" panose="02040503050406030204" pitchFamily="18" charset="0"/>
                          <a:cs typeface="Cambria"/>
                        </a:rPr>
                        <m:t>𝑍</m:t>
                      </m:r>
                      <m:r>
                        <a:rPr lang="en-US" altLang="zh-CN" sz="2600" i="1" spc="120" dirty="0">
                          <a:latin typeface="Cambria Math" panose="02040503050406030204" pitchFamily="18" charset="0"/>
                          <a:cs typeface="Cambria"/>
                        </a:rPr>
                        <m:t>},</m:t>
                      </m:r>
                      <m:r>
                        <a:rPr lang="en-US" altLang="zh-CN" sz="2600" i="1" spc="-4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2600" i="1" spc="65" dirty="0">
                          <a:latin typeface="Cambria Math" panose="02040503050406030204" pitchFamily="18" charset="0"/>
                          <a:cs typeface="Cambria"/>
                        </a:rPr>
                        <m:t>𝑈</m:t>
                      </m:r>
                      <m:r>
                        <a:rPr lang="en-US" altLang="zh-CN" sz="2600" i="1" spc="12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70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sz="2600" i="1" spc="5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20" dirty="0">
                          <a:latin typeface="Cambria Math" panose="02040503050406030204" pitchFamily="18" charset="0"/>
                          <a:cs typeface="Cambria"/>
                        </a:rPr>
                        <m:t>{</m:t>
                      </m:r>
                      <m:r>
                        <a:rPr lang="zh-CN" altLang="en-US" sz="2600" i="1" spc="120" dirty="0">
                          <a:latin typeface="Cambria Math" panose="02040503050406030204" pitchFamily="18" charset="0"/>
                          <a:cs typeface="Cambria"/>
                        </a:rPr>
                        <m:t>𝑈</m:t>
                      </m:r>
                      <m:r>
                        <a:rPr lang="zh-CN" altLang="en-US" sz="2600" i="1" spc="179" baseline="-18518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sz="2600" i="1" spc="120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sz="2600" i="1" spc="-4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2600" i="1" spc="50" dirty="0">
                          <a:latin typeface="Cambria Math" panose="02040503050406030204" pitchFamily="18" charset="0"/>
                          <a:cs typeface="Cambria"/>
                        </a:rPr>
                        <m:t>𝑈</m:t>
                      </m:r>
                      <m:r>
                        <a:rPr lang="zh-CN" altLang="en-US" sz="2600" i="1" spc="75" baseline="-18518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zh-CN" altLang="en-US" sz="2600" i="1" spc="75" baseline="-18518" dirty="0">
                          <a:latin typeface="Cambria Math" panose="02040503050406030204" pitchFamily="18" charset="0"/>
                          <a:cs typeface="Cambria"/>
                        </a:rPr>
                        <m:t> , </m:t>
                      </m:r>
                      <m:r>
                        <a:rPr lang="zh-CN" altLang="en-US" sz="2600" i="1" spc="90" dirty="0">
                          <a:latin typeface="Cambria Math" panose="02040503050406030204" pitchFamily="18" charset="0"/>
                          <a:cs typeface="Cambria"/>
                        </a:rPr>
                        <m:t>𝑈</m:t>
                      </m:r>
                      <m:r>
                        <a:rPr lang="zh-CN" altLang="en-US" sz="2600" i="1" spc="135" baseline="-18518" dirty="0">
                          <a:latin typeface="Cambria Math" panose="02040503050406030204" pitchFamily="18" charset="0"/>
                          <a:cs typeface="Cambria"/>
                        </a:rPr>
                        <m:t>𝑍</m:t>
                      </m:r>
                      <m:r>
                        <a:rPr lang="en-US" altLang="zh-CN" sz="2600" i="1" spc="90" dirty="0">
                          <a:latin typeface="Cambria Math" panose="02040503050406030204" pitchFamily="18" charset="0"/>
                          <a:cs typeface="Cambria"/>
                        </a:rPr>
                        <m:t>},</m:t>
                      </m:r>
                    </m:oMath>
                  </m:oMathPara>
                </a14:m>
                <a:endParaRPr lang="en-US" altLang="zh-CN" sz="2600" dirty="0">
                  <a:latin typeface="Cambria"/>
                  <a:cs typeface="Cambria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285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zh-CN" altLang="en-US" sz="2600" i="1" spc="85" dirty="0" smtClean="0">
                          <a:latin typeface="Cambria Math" panose="02040503050406030204" pitchFamily="18" charset="0"/>
                          <a:cs typeface="Cambria"/>
                        </a:rPr>
                        <m:t>𝐹</m:t>
                      </m:r>
                      <m:r>
                        <a:rPr lang="en-US" altLang="zh-CN" sz="2600" i="1" spc="160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70" dirty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r>
                        <a:rPr lang="en-US" altLang="zh-CN" sz="2600" i="1" spc="5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05" dirty="0">
                          <a:latin typeface="Cambria Math" panose="02040503050406030204" pitchFamily="18" charset="0"/>
                          <a:cs typeface="Cambria"/>
                        </a:rPr>
                        <m:t>{</m:t>
                      </m:r>
                      <m:r>
                        <a:rPr lang="zh-CN" altLang="en-US" sz="2600" i="1" spc="105" dirty="0">
                          <a:latin typeface="Cambria Math" panose="02040503050406030204" pitchFamily="18" charset="0"/>
                          <a:cs typeface="Cambria"/>
                        </a:rPr>
                        <m:t>𝑓</m:t>
                      </m:r>
                      <m:r>
                        <a:rPr lang="zh-CN" altLang="en-US" sz="2600" i="1" spc="157" baseline="-18518" dirty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sz="2600" i="1" spc="105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sz="2600" i="1" spc="-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2600" i="1" dirty="0">
                          <a:latin typeface="Cambria Math" panose="02040503050406030204" pitchFamily="18" charset="0"/>
                          <a:cs typeface="Cambria"/>
                        </a:rPr>
                        <m:t>𝑓</m:t>
                      </m:r>
                      <m:r>
                        <a:rPr lang="zh-CN" altLang="en-US" sz="2600" i="1" baseline="-18518" dirty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sz="2600" i="1" spc="67" baseline="-18518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en-US" altLang="zh-CN" sz="2600" i="1" spc="105" dirty="0">
                          <a:latin typeface="Cambria Math" panose="02040503050406030204" pitchFamily="18" charset="0"/>
                          <a:cs typeface="Cambria"/>
                        </a:rPr>
                        <m:t>,</m:t>
                      </m:r>
                      <m:r>
                        <a:rPr lang="en-US" altLang="zh-CN" sz="2600" i="1" spc="-35" dirty="0">
                          <a:latin typeface="Cambria Math" panose="02040503050406030204" pitchFamily="18" charset="0"/>
                          <a:cs typeface="Cambria"/>
                        </a:rPr>
                        <m:t> </m:t>
                      </m:r>
                      <m:r>
                        <a:rPr lang="zh-CN" altLang="en-US" sz="2600" i="1" spc="60" dirty="0">
                          <a:latin typeface="Cambria Math" panose="02040503050406030204" pitchFamily="18" charset="0"/>
                          <a:cs typeface="Cambria"/>
                        </a:rPr>
                        <m:t>𝑓</m:t>
                      </m:r>
                      <m:r>
                        <a:rPr lang="zh-CN" altLang="en-US" sz="2600" i="1" spc="89" baseline="-18518" dirty="0">
                          <a:latin typeface="Cambria Math" panose="02040503050406030204" pitchFamily="18" charset="0"/>
                          <a:cs typeface="Cambria"/>
                        </a:rPr>
                        <m:t>𝑍</m:t>
                      </m:r>
                      <m:r>
                        <a:rPr lang="en-US" altLang="zh-CN" sz="2600" i="1" spc="60" dirty="0">
                          <a:latin typeface="Cambria Math" panose="02040503050406030204" pitchFamily="18" charset="0"/>
                          <a:cs typeface="Cambria"/>
                        </a:rPr>
                        <m:t>}</m:t>
                      </m:r>
                    </m:oMath>
                  </m:oMathPara>
                </a14:m>
                <a:endParaRPr lang="en-US" altLang="zh-CN" sz="2600" dirty="0">
                  <a:latin typeface="Cambria"/>
                  <a:cs typeface="Cambri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600" b="0" i="1" spc="8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sSubPr>
                        <m:e>
                          <m:r>
                            <a:rPr lang="en-US" altLang="zh-CN" sz="2600" b="0" i="1" spc="85" smtClean="0">
                              <a:latin typeface="Cambria Math" panose="02040503050406030204" pitchFamily="18" charset="0"/>
                              <a:cs typeface="Cambria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600" b="0" i="1" spc="85" smtClean="0">
                              <a:latin typeface="Cambria Math" panose="02040503050406030204" pitchFamily="18" charset="0"/>
                              <a:cs typeface="Cambria"/>
                            </a:rPr>
                            <m:t>𝑋</m:t>
                          </m:r>
                        </m:sub>
                      </m:sSub>
                      <m:r>
                        <a:rPr lang="en-US" altLang="zh-CN" sz="2600" b="0" i="1" spc="85" smtClean="0">
                          <a:latin typeface="Cambria Math" panose="02040503050406030204" pitchFamily="18" charset="0"/>
                          <a:cs typeface="Cambria"/>
                        </a:rPr>
                        <m:t>:</m:t>
                      </m:r>
                      <m:r>
                        <a:rPr lang="en-US" altLang="zh-CN" sz="2600" b="0" i="1" spc="85" smtClean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sz="2600" b="0" i="1" spc="85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sSub>
                        <m:sSubPr>
                          <m:ctrlPr>
                            <a:rPr lang="en-US" altLang="zh-CN" sz="2600" b="0" i="1" spc="8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sSubPr>
                        <m:e>
                          <m:r>
                            <a:rPr lang="en-US" altLang="zh-CN" sz="2600" b="0" i="1" spc="85" smtClean="0">
                              <a:latin typeface="Cambria Math" panose="02040503050406030204" pitchFamily="18" charset="0"/>
                              <a:cs typeface="Cambria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600" b="0" i="1" spc="85" smtClean="0">
                              <a:latin typeface="Cambria Math" panose="02040503050406030204" pitchFamily="18" charset="0"/>
                              <a:cs typeface="Cambria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altLang="zh-CN" sz="2600" spc="85" dirty="0">
                  <a:latin typeface="Cambria"/>
                  <a:cs typeface="Cambri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sSubPr>
                        <m:e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𝑌</m:t>
                          </m:r>
                        </m:sub>
                      </m:sSub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:</m:t>
                      </m:r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f>
                        <m:fPr>
                          <m:ctrlP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fPr>
                        <m:num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𝑋</m:t>
                          </m:r>
                        </m:num>
                        <m:den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3</m:t>
                          </m:r>
                        </m:den>
                      </m:f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+</m:t>
                      </m:r>
                      <m:sSub>
                        <m:sSubPr>
                          <m:ctrlP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sSubPr>
                        <m:e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altLang="zh-CN" sz="2600" spc="135" dirty="0">
                  <a:latin typeface="Cambria"/>
                  <a:cs typeface="Cambri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sSubPr>
                        <m:e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𝑍</m:t>
                          </m:r>
                        </m:sub>
                      </m:sSub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:</m:t>
                      </m:r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𝑍</m:t>
                      </m:r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=</m:t>
                      </m:r>
                      <m:f>
                        <m:fPr>
                          <m:ctrlP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fPr>
                        <m:num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𝑌</m:t>
                          </m:r>
                        </m:num>
                        <m:den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16</m:t>
                          </m:r>
                        </m:den>
                      </m:f>
                      <m:r>
                        <a:rPr lang="en-US" altLang="zh-CN" sz="2600" b="0" i="1" spc="135" smtClean="0">
                          <a:latin typeface="Cambria Math" panose="02040503050406030204" pitchFamily="18" charset="0"/>
                          <a:cs typeface="Cambria"/>
                        </a:rPr>
                        <m:t>+</m:t>
                      </m:r>
                      <m:sSub>
                        <m:sSubPr>
                          <m:ctrlP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</m:ctrlPr>
                        </m:sSubPr>
                        <m:e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2600" b="0" i="1" spc="135" smtClean="0">
                              <a:latin typeface="Cambria Math" panose="02040503050406030204" pitchFamily="18" charset="0"/>
                              <a:cs typeface="Cambria"/>
                            </a:rPr>
                            <m:t>𝑍</m:t>
                          </m:r>
                        </m:sub>
                      </m:sSub>
                    </m:oMath>
                  </m:oMathPara>
                </a14:m>
                <a:endParaRPr lang="en-US" altLang="zh-CN" sz="2600" spc="135" dirty="0">
                  <a:latin typeface="Cambria"/>
                  <a:cs typeface="Cambri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600" spc="135" dirty="0">
                    <a:latin typeface="Cambria"/>
                    <a:cs typeface="Cambria"/>
                  </a:rPr>
                  <a:t>因果图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650E9799-B3B0-2F4B-A463-93DED9E2BB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28650" y="1825625"/>
                <a:ext cx="3886200" cy="2794501"/>
              </a:xfrm>
              <a:blipFill>
                <a:blip r:embed="rId2"/>
                <a:stretch>
                  <a:fillRect l="-470" t="-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002F0E9B-DD94-C989-4827-3523C8A6695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SCM</a:t>
                </a:r>
                <a:r>
                  <a:rPr lang="en-US" altLang="zh-CN" spc="12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2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(Work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hours,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Training,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and</a:t>
                </a:r>
                <a:r>
                  <a:rPr lang="en-US" altLang="zh-CN" spc="13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20" dirty="0">
                    <a:latin typeface="Palatino Linotype"/>
                    <a:cs typeface="Palatino Linotype"/>
                  </a:rPr>
                  <a:t>Race</a:t>
                </a:r>
                <a:r>
                  <a:rPr lang="en-US" altLang="zh-CN" spc="50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Time)</a:t>
                </a:r>
                <a:endParaRPr lang="en-US" altLang="zh-CN" dirty="0">
                  <a:latin typeface="Palatino Linotype"/>
                  <a:cs typeface="Palatino Linotype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=84−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规则</a:t>
                </a:r>
                <a:r>
                  <a:rPr lang="en-US" altLang="zh-CN" dirty="0"/>
                  <a:t>A1</a:t>
                </a:r>
                <a:r>
                  <a:rPr lang="zh-CN" altLang="en-US" dirty="0"/>
                  <a:t>：因果意味着相关性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变量间关系：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/>
                  <a:t>Z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相关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/>
                  <a:t>Y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相关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/>
                  <a:t>Z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可能相关</a:t>
                </a: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以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为条件，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是相互独立的。</a:t>
                </a:r>
                <a:endParaRPr lang="en-US" altLang="zh-CN" dirty="0"/>
              </a:p>
            </p:txBody>
          </p:sp>
        </mc:Choice>
        <mc:Fallback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002F0E9B-DD94-C989-4827-3523C8A669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470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521627-83F0-BACD-AC81-2BD5E8D6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2963AC-D52C-3849-8694-B46D6814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9" name="object 17">
            <a:extLst>
              <a:ext uri="{FF2B5EF4-FFF2-40B4-BE49-F238E27FC236}">
                <a16:creationId xmlns:a16="http://schemas.microsoft.com/office/drawing/2014/main" id="{8A50548A-A078-5808-9451-C29E565642C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99366" y="4620126"/>
            <a:ext cx="873223" cy="187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9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3D1B30-75F8-8244-8779-0BA432FF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图和结构因果模型：因果</a:t>
            </a:r>
            <a:r>
              <a:rPr lang="zh-CN" altLang="en-US" spc="-50" dirty="0"/>
              <a:t>链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576159F-1E59-5D9A-2247-B524D29234F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关于第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点，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可以不相关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 如果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 且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如果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=2 且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如果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如果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或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 如果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576159F-1E59-5D9A-2247-B524D2923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411" t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0604FCBF-1D50-D123-F497-4E9A0F4CD85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因为</a:t>
                </a:r>
                <a:r>
                  <a:rPr lang="en-US" altLang="zh-CN" dirty="0"/>
                  <a:t> Z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仅通过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产生相关性，</a:t>
                </a:r>
                <a:r>
                  <a:rPr lang="en-US" altLang="zh-CN" dirty="0"/>
                  <a:t>Z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是不相关的。</a:t>
                </a:r>
                <a:endParaRPr lang="en-US" altLang="zh-CN" dirty="0"/>
              </a:p>
            </p:txBody>
          </p:sp>
        </mc:Choice>
        <mc:Fallback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0604FCBF-1D50-D123-F497-4E9A0F4CD8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909BC4-AD28-D83D-256E-53940320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87A45C-8FA5-9A39-D034-BCD1E268F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9" name="object 7">
            <a:extLst>
              <a:ext uri="{FF2B5EF4-FFF2-40B4-BE49-F238E27FC236}">
                <a16:creationId xmlns:a16="http://schemas.microsoft.com/office/drawing/2014/main" id="{52F9AFF0-4FB3-55E9-8FD7-CB9729A756A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5566" y="1936503"/>
            <a:ext cx="981508" cy="182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9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39C0B-AE93-F492-2737-915ECA69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图和结构因果模型：因果</a:t>
            </a:r>
            <a:r>
              <a:rPr lang="zh-CN" altLang="en-US" spc="-50" dirty="0"/>
              <a:t>链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A5406A-9861-20B7-14ED-08E774504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规则</a:t>
                </a:r>
                <a:r>
                  <a:rPr lang="en-US" altLang="zh-CN" dirty="0"/>
                  <a:t>I1</a:t>
                </a:r>
                <a:r>
                  <a:rPr lang="zh-CN" altLang="en-US" dirty="0"/>
                  <a:t>（因果縺中的条件独立性）：如果 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 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之间只有一条路径，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是这条路径上的中间变量，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在给定 </a:t>
                </a:r>
                <a:r>
                  <a:rPr lang="en-US" altLang="zh-CN" dirty="0"/>
                  <a:t>M </a:t>
                </a:r>
                <a:r>
                  <a:rPr lang="zh-CN" altLang="en-US" dirty="0"/>
                  <a:t>后是条件独立的，即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00000"/>
                  </a:lnSpc>
                </a:pPr>
                <a:r>
                  <a:rPr lang="zh-CN" altLang="en-US" dirty="0"/>
                  <a:t>随机化实验：培训与收入</a:t>
                </a:r>
                <a:endParaRPr lang="en-US" altLang="zh-CN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b="0" dirty="0"/>
              </a:p>
              <a:p>
                <a:pPr lvl="1">
                  <a:lnSpc>
                    <a:spcPct val="100000"/>
                  </a:lnSpc>
                </a:pPr>
                <a:r>
                  <a:rPr lang="en-US" altLang="zh-CN" dirty="0"/>
                  <a:t>D </a:t>
                </a:r>
                <a:r>
                  <a:rPr lang="zh-CN" altLang="en-US" dirty="0"/>
                  <a:t>干预随机分配变量：是否参与培训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r>
                  <a:rPr lang="en-US" altLang="zh-CN" dirty="0"/>
                  <a:t>H </a:t>
                </a:r>
                <a:r>
                  <a:rPr lang="zh-CN" altLang="en-US" dirty="0"/>
                  <a:t>人力资本积累</a:t>
                </a:r>
                <a:endParaRPr lang="en-US" altLang="zh-CN" dirty="0"/>
              </a:p>
              <a:p>
                <a:pPr lvl="1">
                  <a:lnSpc>
                    <a:spcPct val="100000"/>
                  </a:lnSpc>
                </a:pPr>
                <a:r>
                  <a:rPr lang="en-US" altLang="zh-CN" dirty="0"/>
                  <a:t>Y </a:t>
                </a:r>
                <a:r>
                  <a:rPr lang="zh-CN" altLang="en-US" dirty="0"/>
                  <a:t>收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DA5406A-9861-20B7-14ED-08E774504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1401" r="-24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24BA39-B843-F149-D2E0-3A854296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71CD59-D6ED-A37F-2F05-BC053B54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41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85829-6ED3-4D57-CF50-08159137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</a:t>
            </a:r>
            <a:r>
              <a:rPr lang="zh-CN" altLang="en-US" spc="-25" dirty="0"/>
              <a:t>型</a:t>
            </a:r>
            <a:r>
              <a:rPr lang="en-US" altLang="zh-CN" spc="-25" dirty="0"/>
              <a:t>——</a:t>
            </a:r>
            <a:r>
              <a:rPr lang="zh-CN" altLang="en-US" dirty="0"/>
              <a:t>叉（共同原因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D9AC68-A2A2-30F5-5980-0EC18D1E60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CN" dirty="0">
                    <a:latin typeface="Palatino Linotype"/>
                    <a:cs typeface="Palatino Linotype"/>
                  </a:rPr>
                  <a:t>SCM:</a:t>
                </a:r>
                <a:r>
                  <a:rPr lang="zh-CN" altLang="en-US" spc="9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温度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spc="110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spc="110" dirty="0">
                    <a:latin typeface="Cambria"/>
                    <a:cs typeface="Cambria"/>
                  </a:rPr>
                  <a:t>𝑋</a:t>
                </a:r>
                <a:r>
                  <a:rPr lang="en-US" altLang="zh-CN" spc="110" dirty="0">
                    <a:latin typeface="Palatino Linotype"/>
                    <a:cs typeface="Palatino Linotype"/>
                  </a:rPr>
                  <a:t>)</a:t>
                </a:r>
                <a:r>
                  <a:rPr lang="zh-CN" altLang="en-US" spc="-10" dirty="0">
                    <a:latin typeface="宋体"/>
                    <a:cs typeface="宋体"/>
                  </a:rPr>
                  <a:t>、冰淇淋销量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0" dirty="0">
                    <a:latin typeface="Cambria"/>
                    <a:cs typeface="Cambria"/>
                  </a:rPr>
                  <a:t> 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) </a:t>
                </a:r>
                <a:r>
                  <a:rPr lang="zh-CN" altLang="en-US" spc="-10" dirty="0">
                    <a:latin typeface="宋体"/>
                    <a:cs typeface="宋体"/>
                  </a:rPr>
                  <a:t>和犯罪数量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spc="55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spc="55" dirty="0">
                    <a:latin typeface="Cambria"/>
                    <a:cs typeface="Cambria"/>
                  </a:rPr>
                  <a:t>𝑍</a:t>
                </a:r>
                <a:r>
                  <a:rPr lang="en-US" altLang="zh-CN" spc="55" dirty="0">
                    <a:latin typeface="Palatino Linotype"/>
                    <a:cs typeface="Palatino Linotype"/>
                  </a:rPr>
                  <a:t>)</a:t>
                </a:r>
              </a:p>
              <a:p>
                <a:r>
                  <a:rPr lang="en-US" altLang="zh-CN" dirty="0">
                    <a:latin typeface="Palatino Linotype"/>
                    <a:cs typeface="Palatino Linotype"/>
                  </a:rPr>
                  <a:t>SCM:</a:t>
                </a:r>
                <a:r>
                  <a:rPr lang="zh-CN" altLang="en-US" spc="9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吸烟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spc="110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spc="110" dirty="0">
                    <a:latin typeface="Cambria"/>
                    <a:cs typeface="Cambria"/>
                  </a:rPr>
                  <a:t>𝑋</a:t>
                </a:r>
                <a:r>
                  <a:rPr lang="en-US" altLang="zh-CN" spc="110" dirty="0">
                    <a:latin typeface="Palatino Linotype"/>
                    <a:cs typeface="Palatino Linotype"/>
                  </a:rPr>
                  <a:t>)</a:t>
                </a:r>
                <a:r>
                  <a:rPr lang="zh-CN" altLang="en-US" spc="-10" dirty="0">
                    <a:latin typeface="宋体"/>
                    <a:cs typeface="宋体"/>
                  </a:rPr>
                  <a:t>、携带打火机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0" dirty="0">
                    <a:latin typeface="Cambria"/>
                    <a:cs typeface="Cambria"/>
                  </a:rPr>
                  <a:t> 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) </a:t>
                </a:r>
                <a:r>
                  <a:rPr lang="zh-CN" altLang="en-US" spc="-10" dirty="0">
                    <a:latin typeface="宋体"/>
                    <a:cs typeface="宋体"/>
                  </a:rPr>
                  <a:t>和肺癌风险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spc="55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spc="55" dirty="0">
                    <a:latin typeface="Cambria"/>
                    <a:cs typeface="Cambria"/>
                  </a:rPr>
                  <a:t>𝑍</a:t>
                </a:r>
                <a:r>
                  <a:rPr lang="en-US" altLang="zh-CN" spc="55" dirty="0">
                    <a:latin typeface="Palatino Linotype"/>
                    <a:cs typeface="Palatino Linotype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X</a:t>
                </a:r>
                <a:r>
                  <a:rPr lang="zh-CN" altLang="en-US" dirty="0"/>
                  <a:t> 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相关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X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Z </a:t>
                </a:r>
                <a:r>
                  <a:rPr lang="zh-CN" altLang="en-US" dirty="0"/>
                  <a:t>相关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Z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可能相关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以 </a:t>
                </a:r>
                <a:r>
                  <a:rPr lang="en-US" altLang="zh-CN" dirty="0"/>
                  <a:t>X </a:t>
                </a:r>
                <a:r>
                  <a:rPr lang="zh-CN" altLang="en-US" dirty="0"/>
                  <a:t>为条件， </a:t>
                </a:r>
                <a:r>
                  <a:rPr lang="en-US" altLang="zh-CN" dirty="0"/>
                  <a:t>Y </a:t>
                </a:r>
                <a:r>
                  <a:rPr lang="zh-CN" altLang="en-US" dirty="0"/>
                  <a:t>和 </a:t>
                </a:r>
                <a:r>
                  <a:rPr lang="en-US" altLang="zh-CN" dirty="0"/>
                  <a:t>Z </a:t>
                </a:r>
                <a:r>
                  <a:rPr lang="zh-CN" altLang="en-US" dirty="0"/>
                  <a:t>可能是独立的。</a:t>
                </a:r>
                <a:endParaRPr lang="en-US" altLang="zh-CN" dirty="0"/>
              </a:p>
              <a:p>
                <a:r>
                  <a:rPr lang="zh-CN" altLang="en-US" dirty="0"/>
                  <a:t>规则</a:t>
                </a:r>
                <a:r>
                  <a:rPr lang="en-US" altLang="zh-CN" dirty="0"/>
                  <a:t>A2</a:t>
                </a:r>
                <a:r>
                  <a:rPr lang="zh-CN" altLang="en-US" dirty="0"/>
                  <a:t>：共同原因意味着可能的相关性。</a:t>
                </a:r>
                <a:endParaRPr lang="en-US" altLang="zh-CN" dirty="0"/>
              </a:p>
              <a:p>
                <a:r>
                  <a:rPr lang="zh-CN" altLang="en-US" dirty="0"/>
                  <a:t>规则</a:t>
                </a:r>
                <a:r>
                  <a:rPr lang="en-US" altLang="zh-CN" dirty="0"/>
                  <a:t>I2</a:t>
                </a:r>
                <a:r>
                  <a:rPr lang="zh-CN" altLang="en-US" dirty="0"/>
                  <a:t>：以共同原因为条件则变量相互独立。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3D9AC68-A2A2-30F5-5980-0EC18D1E60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3501" b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890E14-562D-BDA4-DDBF-B18BE73D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27D82D-31B5-1B55-828C-0491E249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040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D613FD-4072-1D39-5378-2DFE5E00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</a:t>
            </a:r>
            <a:r>
              <a:rPr lang="zh-CN" altLang="en-US" spc="-25" dirty="0"/>
              <a:t>型</a:t>
            </a:r>
            <a:r>
              <a:rPr lang="en-US" altLang="zh-CN" spc="-25" dirty="0"/>
              <a:t>——</a:t>
            </a:r>
            <a:r>
              <a:rPr lang="zh-CN" altLang="en-US" dirty="0"/>
              <a:t>叉（共同原因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560F45-CEBA-E12E-394E-767B6E37DB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pc="-90" dirty="0">
                    <a:latin typeface="宋体"/>
                    <a:cs typeface="宋体"/>
                  </a:rPr>
                  <a:t>叉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(Fork)</a:t>
                </a:r>
                <a:r>
                  <a:rPr lang="zh-CN" altLang="en-US" dirty="0">
                    <a:latin typeface="宋体"/>
                    <a:cs typeface="宋体"/>
                  </a:rPr>
                  <a:t>：</a:t>
                </a:r>
                <a:r>
                  <a:rPr lang="zh-CN" altLang="en-US" spc="-10" dirty="0">
                    <a:latin typeface="宋体"/>
                    <a:cs typeface="宋体"/>
                  </a:rPr>
                  <a:t>三个变量，两个箭头由中间变量指向另外两个变量，称为叉</a:t>
                </a:r>
                <a:r>
                  <a:rPr lang="zh-CN" altLang="en-US" spc="-50" dirty="0">
                    <a:latin typeface="宋体"/>
                    <a:cs typeface="宋体"/>
                  </a:rPr>
                  <a:t>型</a:t>
                </a:r>
                <a:r>
                  <a:rPr lang="zh-CN" altLang="en-US" spc="-10" dirty="0">
                    <a:latin typeface="宋体"/>
                    <a:cs typeface="宋体"/>
                  </a:rPr>
                  <a:t>结构</a:t>
                </a:r>
                <a:r>
                  <a:rPr lang="zh-CN" altLang="en-US" spc="-135" dirty="0">
                    <a:latin typeface="宋体"/>
                    <a:cs typeface="宋体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(fork)</a:t>
                </a:r>
                <a:r>
                  <a:rPr lang="zh-CN" altLang="en-US" spc="-10" dirty="0">
                    <a:latin typeface="宋体"/>
                    <a:cs typeface="宋体"/>
                  </a:rPr>
                  <a:t>。中间变量是另两个变量的共同原因，通常称为</a:t>
                </a:r>
                <a:r>
                  <a:rPr lang="zh-CN" altLang="en-US" spc="-10" dirty="0">
                    <a:latin typeface="黑体"/>
                    <a:cs typeface="黑体"/>
                  </a:rPr>
                  <a:t>混杂因</a:t>
                </a:r>
                <a:r>
                  <a:rPr lang="zh-CN" altLang="en-US" spc="-50" dirty="0">
                    <a:latin typeface="黑体"/>
                    <a:cs typeface="黑体"/>
                  </a:rPr>
                  <a:t>素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</a:t>
                </a:r>
                <a:r>
                  <a:rPr lang="en-US" altLang="zh-CN" b="1" dirty="0">
                    <a:latin typeface="Palatino Linotype"/>
                    <a:cs typeface="Palatino Linotype"/>
                  </a:rPr>
                  <a:t>confounders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)</a:t>
                </a:r>
                <a:r>
                  <a:rPr lang="zh-CN" altLang="en-US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混杂因素会造成伪相关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r>
                  <a:rPr lang="zh-CN" altLang="en-US" spc="-10" dirty="0">
                    <a:latin typeface="宋体"/>
                    <a:cs typeface="宋体"/>
                  </a:rPr>
                  <a:t>上页两例中</a:t>
                </a:r>
                <a:r>
                  <a:rPr lang="zh-CN" altLang="en-US" spc="-9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冰淇淋销量</a:t>
                </a:r>
                <a:r>
                  <a:rPr lang="zh-CN" altLang="en-US" spc="-18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15" dirty="0">
                    <a:latin typeface="Cambria"/>
                    <a:cs typeface="Cambria"/>
                  </a:rPr>
                  <a:t> </a:t>
                </a:r>
                <a:r>
                  <a:rPr lang="en-US" altLang="zh-CN" spc="50" dirty="0">
                    <a:latin typeface="Palatino Linotype"/>
                    <a:cs typeface="Palatino Linotype"/>
                  </a:rPr>
                  <a:t>) </a:t>
                </a:r>
                <a:r>
                  <a:rPr lang="zh-CN" altLang="en-US" spc="-10" dirty="0">
                    <a:latin typeface="宋体"/>
                    <a:cs typeface="宋体"/>
                  </a:rPr>
                  <a:t>不是犯罪数量</a:t>
                </a:r>
                <a:r>
                  <a:rPr lang="zh-CN" altLang="en-US" spc="-180" dirty="0">
                    <a:latin typeface="宋体"/>
                    <a:cs typeface="宋体"/>
                  </a:rPr>
                  <a:t>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6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的原因</a:t>
                </a:r>
                <a:r>
                  <a:rPr lang="zh-CN" altLang="en-US" spc="-9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携带打火机也不</a:t>
                </a:r>
                <a:r>
                  <a:rPr lang="zh-CN" altLang="en-US" spc="-50" dirty="0">
                    <a:latin typeface="宋体"/>
                    <a:cs typeface="宋体"/>
                  </a:rPr>
                  <a:t>会</a:t>
                </a:r>
                <a:r>
                  <a:rPr lang="zh-CN" altLang="en-US" spc="-10" dirty="0">
                    <a:latin typeface="宋体"/>
                    <a:cs typeface="宋体"/>
                  </a:rPr>
                  <a:t>导致肺癌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r>
                  <a:rPr lang="en-US" altLang="zh-CN" b="1" spc="30" dirty="0">
                    <a:latin typeface="Palatino Linotype"/>
                    <a:cs typeface="Palatino Linotype"/>
                  </a:rPr>
                  <a:t>Rule</a:t>
                </a:r>
                <a:r>
                  <a:rPr lang="en-US" altLang="zh-CN" b="1" spc="14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55" dirty="0">
                    <a:latin typeface="Palatino Linotype"/>
                    <a:cs typeface="Palatino Linotype"/>
                  </a:rPr>
                  <a:t>I2</a:t>
                </a:r>
                <a:r>
                  <a:rPr lang="en-US" altLang="zh-CN" b="1" spc="14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30" dirty="0">
                    <a:latin typeface="Palatino Linotype"/>
                    <a:cs typeface="Palatino Linotype"/>
                  </a:rPr>
                  <a:t>(Conditional</a:t>
                </a:r>
                <a:r>
                  <a:rPr lang="en-US" altLang="zh-CN" b="1" spc="14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25" dirty="0">
                    <a:latin typeface="Palatino Linotype"/>
                    <a:cs typeface="Palatino Linotype"/>
                  </a:rPr>
                  <a:t>Independence</a:t>
                </a:r>
                <a:r>
                  <a:rPr lang="en-US" altLang="zh-CN" b="1" spc="14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dirty="0">
                    <a:latin typeface="Palatino Linotype"/>
                    <a:cs typeface="Palatino Linotype"/>
                  </a:rPr>
                  <a:t>in</a:t>
                </a:r>
                <a:r>
                  <a:rPr lang="en-US" altLang="zh-CN" b="1" spc="14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35" dirty="0">
                    <a:latin typeface="Palatino Linotype"/>
                    <a:cs typeface="Palatino Linotype"/>
                  </a:rPr>
                  <a:t>Forks)</a:t>
                </a:r>
                <a:r>
                  <a:rPr lang="zh-CN" altLang="en-US" spc="35" dirty="0">
                    <a:latin typeface="黑体"/>
                    <a:cs typeface="黑体"/>
                  </a:rPr>
                  <a:t>：</a:t>
                </a:r>
                <a:r>
                  <a:rPr lang="zh-CN" altLang="en-US" spc="-10" dirty="0">
                    <a:latin typeface="宋体"/>
                    <a:cs typeface="宋体"/>
                  </a:rPr>
                  <a:t>如果变量</a:t>
                </a:r>
                <a:r>
                  <a:rPr lang="zh-CN" altLang="en-US" spc="-155" dirty="0">
                    <a:latin typeface="宋体"/>
                    <a:cs typeface="宋体"/>
                  </a:rPr>
                  <a:t>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17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是变量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-25" dirty="0">
                    <a:latin typeface="Cambria"/>
                    <a:cs typeface="Cambria"/>
                  </a:rPr>
                  <a:t>𝑌</a:t>
                </a:r>
                <a:r>
                  <a:rPr lang="zh-CN" altLang="en-US" spc="315" dirty="0">
                    <a:latin typeface="Cambria"/>
                    <a:cs typeface="Cambria"/>
                  </a:rPr>
                  <a:t> </a:t>
                </a:r>
                <a:r>
                  <a:rPr lang="zh-CN" altLang="en-US" spc="-90" dirty="0">
                    <a:latin typeface="宋体"/>
                    <a:cs typeface="宋体"/>
                  </a:rPr>
                  <a:t>和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7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的共同原因，并且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-25" dirty="0">
                    <a:latin typeface="Cambria"/>
                    <a:cs typeface="Cambria"/>
                  </a:rPr>
                  <a:t>𝑌</a:t>
                </a:r>
                <a:r>
                  <a:rPr lang="zh-CN" altLang="en-US" spc="315" dirty="0">
                    <a:latin typeface="Cambria"/>
                    <a:cs typeface="Cambria"/>
                  </a:rPr>
                  <a:t> </a:t>
                </a:r>
                <a:r>
                  <a:rPr lang="zh-CN" altLang="en-US" spc="-90" dirty="0">
                    <a:latin typeface="宋体"/>
                    <a:cs typeface="宋体"/>
                  </a:rPr>
                  <a:t>和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7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之间只有一条路径，则以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16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</a:t>
                </a:r>
                <a:r>
                  <a:rPr lang="zh-CN" altLang="en-US" spc="-20" dirty="0">
                    <a:latin typeface="宋体"/>
                    <a:cs typeface="宋体"/>
                  </a:rPr>
                  <a:t>，</a:t>
                </a:r>
                <a:r>
                  <a:rPr lang="zh-CN" altLang="en-US" spc="-20" dirty="0">
                    <a:latin typeface="Cambria"/>
                    <a:cs typeface="Cambria"/>
                  </a:rPr>
                  <a:t>𝑌</a:t>
                </a:r>
                <a:r>
                  <a:rPr lang="zh-CN" altLang="en-US" spc="315" dirty="0">
                    <a:latin typeface="Cambria"/>
                    <a:cs typeface="Cambria"/>
                  </a:rPr>
                  <a:t> </a:t>
                </a:r>
                <a:r>
                  <a:rPr lang="zh-CN" altLang="en-US" spc="-90" dirty="0">
                    <a:latin typeface="宋体"/>
                    <a:cs typeface="宋体"/>
                  </a:rPr>
                  <a:t>和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7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是独立的，即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i="1" spc="-25" dirty="0" smtClean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i="1" spc="-95" dirty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spc="-95" dirty="0" smtClean="0">
                        <a:latin typeface="Cambria Math" panose="02040503050406030204" pitchFamily="18" charset="0"/>
                        <a:cs typeface="Cambria"/>
                      </a:rPr>
                      <m:t>⟂</m:t>
                    </m:r>
                    <m:r>
                      <a:rPr lang="en-US" altLang="zh-CN" b="0" i="1" spc="-95" dirty="0" smtClean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  <m:r>
                      <a:rPr lang="zh-CN" altLang="en-US" i="1" spc="110" dirty="0" smtClean="0">
                        <a:latin typeface="Cambria Math" panose="02040503050406030204" pitchFamily="18" charset="0"/>
                        <a:cs typeface="Cambria"/>
                      </a:rPr>
                      <m:t>𝑍</m:t>
                    </m:r>
                    <m:r>
                      <a:rPr lang="en-US" altLang="zh-CN" i="1" spc="110" dirty="0">
                        <a:latin typeface="Cambria Math" panose="02040503050406030204" pitchFamily="18" charset="0"/>
                        <a:cs typeface="Cambria"/>
                      </a:rPr>
                      <m:t>|</m:t>
                    </m:r>
                    <m:r>
                      <a:rPr lang="zh-CN" altLang="en-US" i="1" spc="110" dirty="0">
                        <a:latin typeface="Cambria Math" panose="02040503050406030204" pitchFamily="18" charset="0"/>
                        <a:cs typeface="Cambria"/>
                      </a:rPr>
                      <m:t>𝑋</m:t>
                    </m:r>
                  </m:oMath>
                </a14:m>
                <a:r>
                  <a:rPr lang="zh-CN" altLang="en-US" spc="-1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560F45-CEBA-E12E-394E-767B6E37D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927" b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B101F0-F4FE-BEE4-4DF9-509CC69F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AB987D-FF09-AEC1-BE9D-9EC2418A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226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9121D-9524-BD05-0D1C-3F427AD8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图和结构因果模型：交汇变量（共同结果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0526EB-A815-5DF5-9B8B-B48D79CF8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spc="-10" dirty="0">
                <a:latin typeface="宋体"/>
                <a:cs typeface="宋体"/>
              </a:rPr>
              <a:t>一个变量是</a:t>
            </a:r>
            <a:r>
              <a:rPr lang="zh-CN" altLang="en-US" spc="-10" dirty="0">
                <a:latin typeface="黑体"/>
                <a:cs typeface="黑体"/>
              </a:rPr>
              <a:t>交汇变量</a:t>
            </a:r>
            <a:r>
              <a:rPr lang="zh-CN" altLang="en-US" spc="-85" dirty="0">
                <a:latin typeface="黑体"/>
                <a:cs typeface="黑体"/>
              </a:rPr>
              <a:t> </a:t>
            </a:r>
            <a:r>
              <a:rPr lang="en-US" altLang="zh-CN" spc="-20" dirty="0">
                <a:latin typeface="Palatino Linotype"/>
                <a:cs typeface="Palatino Linotype"/>
              </a:rPr>
              <a:t>(collider)</a:t>
            </a:r>
            <a:r>
              <a:rPr lang="zh-CN" altLang="en-US" spc="-20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如果有两条路径指向它。交汇变量是其</a:t>
            </a:r>
            <a:r>
              <a:rPr lang="zh-CN" altLang="en-US" spc="-50" dirty="0">
                <a:latin typeface="宋体"/>
                <a:cs typeface="宋体"/>
              </a:rPr>
              <a:t>他</a:t>
            </a:r>
            <a:r>
              <a:rPr lang="zh-CN" altLang="en-US" spc="-10" dirty="0">
                <a:latin typeface="宋体"/>
                <a:cs typeface="宋体"/>
              </a:rPr>
              <a:t>两个变量的共同结果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1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1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10000"/>
              </a:lnSpc>
            </a:pPr>
            <a:endParaRPr lang="en-US" altLang="zh-CN" spc="-50" dirty="0">
              <a:latin typeface="宋体"/>
              <a:cs typeface="宋体"/>
            </a:endParaRPr>
          </a:p>
          <a:p>
            <a:pPr lvl="1">
              <a:lnSpc>
                <a:spcPct val="110000"/>
              </a:lnSpc>
            </a:pPr>
            <a:r>
              <a:rPr lang="en-US" altLang="zh-CN" spc="-50" dirty="0">
                <a:latin typeface="宋体"/>
                <a:cs typeface="宋体"/>
              </a:rPr>
              <a:t>X </a:t>
            </a:r>
            <a:r>
              <a:rPr lang="zh-CN" altLang="en-US" spc="-50" dirty="0">
                <a:latin typeface="宋体"/>
                <a:cs typeface="宋体"/>
              </a:rPr>
              <a:t>和 </a:t>
            </a:r>
            <a:r>
              <a:rPr lang="en-US" altLang="zh-CN" spc="-50" dirty="0">
                <a:latin typeface="宋体"/>
                <a:cs typeface="宋体"/>
              </a:rPr>
              <a:t>Z </a:t>
            </a:r>
            <a:r>
              <a:rPr lang="zh-CN" altLang="en-US" spc="-50" dirty="0">
                <a:latin typeface="宋体"/>
                <a:cs typeface="宋体"/>
              </a:rPr>
              <a:t>相关</a:t>
            </a:r>
            <a:endParaRPr lang="en-US" altLang="zh-CN" spc="-50" dirty="0">
              <a:latin typeface="宋体"/>
              <a:cs typeface="宋体"/>
            </a:endParaRPr>
          </a:p>
          <a:p>
            <a:pPr lvl="1">
              <a:lnSpc>
                <a:spcPct val="110000"/>
              </a:lnSpc>
            </a:pPr>
            <a:r>
              <a:rPr lang="en-US" altLang="zh-CN" spc="-50" dirty="0">
                <a:latin typeface="宋体"/>
                <a:cs typeface="宋体"/>
              </a:rPr>
              <a:t>Y </a:t>
            </a:r>
            <a:r>
              <a:rPr lang="zh-CN" altLang="en-US" spc="-50" dirty="0">
                <a:latin typeface="宋体"/>
                <a:cs typeface="宋体"/>
              </a:rPr>
              <a:t>和 </a:t>
            </a:r>
            <a:r>
              <a:rPr lang="en-US" altLang="zh-CN" spc="-50" dirty="0">
                <a:latin typeface="宋体"/>
                <a:cs typeface="宋体"/>
              </a:rPr>
              <a:t>Z </a:t>
            </a:r>
            <a:r>
              <a:rPr lang="zh-CN" altLang="en-US" spc="-50" dirty="0">
                <a:latin typeface="宋体"/>
                <a:cs typeface="宋体"/>
              </a:rPr>
              <a:t>相关</a:t>
            </a:r>
            <a:endParaRPr lang="en-US" altLang="zh-CN" spc="-50" dirty="0">
              <a:latin typeface="宋体"/>
              <a:cs typeface="宋体"/>
            </a:endParaRPr>
          </a:p>
          <a:p>
            <a:pPr lvl="1">
              <a:lnSpc>
                <a:spcPct val="110000"/>
              </a:lnSpc>
            </a:pPr>
            <a:r>
              <a:rPr lang="en-US" altLang="zh-CN" spc="-50" dirty="0">
                <a:latin typeface="宋体"/>
                <a:cs typeface="宋体"/>
              </a:rPr>
              <a:t>X </a:t>
            </a:r>
            <a:r>
              <a:rPr lang="zh-CN" altLang="en-US" spc="-50" dirty="0">
                <a:latin typeface="宋体"/>
                <a:cs typeface="宋体"/>
              </a:rPr>
              <a:t>和 </a:t>
            </a:r>
            <a:r>
              <a:rPr lang="en-US" altLang="zh-CN" spc="-50" dirty="0">
                <a:latin typeface="宋体"/>
                <a:cs typeface="宋体"/>
              </a:rPr>
              <a:t>Y </a:t>
            </a:r>
            <a:r>
              <a:rPr lang="zh-CN" altLang="en-US" spc="-50" dirty="0">
                <a:latin typeface="宋体"/>
                <a:cs typeface="宋体"/>
              </a:rPr>
              <a:t>独立</a:t>
            </a:r>
            <a:endParaRPr lang="en-US" altLang="zh-CN" spc="-50" dirty="0">
              <a:latin typeface="宋体"/>
              <a:cs typeface="宋体"/>
            </a:endParaRPr>
          </a:p>
          <a:p>
            <a:pPr lvl="1">
              <a:lnSpc>
                <a:spcPct val="110000"/>
              </a:lnSpc>
            </a:pPr>
            <a:r>
              <a:rPr lang="zh-CN" altLang="en-US" spc="-50" dirty="0">
                <a:latin typeface="宋体"/>
                <a:cs typeface="宋体"/>
              </a:rPr>
              <a:t>以 </a:t>
            </a:r>
            <a:r>
              <a:rPr lang="en-US" altLang="zh-CN" spc="-50" dirty="0">
                <a:latin typeface="宋体"/>
                <a:cs typeface="宋体"/>
              </a:rPr>
              <a:t>Z </a:t>
            </a:r>
            <a:r>
              <a:rPr lang="zh-CN" altLang="en-US" spc="-50" dirty="0">
                <a:latin typeface="宋体"/>
                <a:cs typeface="宋体"/>
              </a:rPr>
              <a:t>为条件， </a:t>
            </a:r>
            <a:r>
              <a:rPr lang="en-US" altLang="zh-CN" spc="-50" dirty="0">
                <a:latin typeface="宋体"/>
                <a:cs typeface="宋体"/>
              </a:rPr>
              <a:t>X </a:t>
            </a:r>
            <a:r>
              <a:rPr lang="zh-CN" altLang="en-US" spc="-50" dirty="0">
                <a:latin typeface="宋体"/>
                <a:cs typeface="宋体"/>
              </a:rPr>
              <a:t>和 </a:t>
            </a:r>
            <a:r>
              <a:rPr lang="en-US" altLang="zh-CN" spc="-50" dirty="0">
                <a:latin typeface="宋体"/>
                <a:cs typeface="宋体"/>
              </a:rPr>
              <a:t>Y </a:t>
            </a:r>
            <a:r>
              <a:rPr lang="zh-CN" altLang="en-US" spc="-50" dirty="0">
                <a:latin typeface="宋体"/>
                <a:cs typeface="宋体"/>
              </a:rPr>
              <a:t>相关</a:t>
            </a: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10000"/>
              </a:lnSpc>
            </a:pPr>
            <a:r>
              <a:rPr lang="zh-CN" altLang="en-US" spc="-50" dirty="0">
                <a:latin typeface="宋体"/>
                <a:cs typeface="宋体"/>
              </a:rPr>
              <a:t>规则</a:t>
            </a:r>
            <a:r>
              <a:rPr lang="en-US" altLang="zh-CN" spc="-50" dirty="0">
                <a:latin typeface="宋体"/>
                <a:cs typeface="宋体"/>
              </a:rPr>
              <a:t>I3</a:t>
            </a:r>
            <a:r>
              <a:rPr lang="zh-CN" altLang="en-US" spc="-50" dirty="0">
                <a:latin typeface="宋体"/>
                <a:cs typeface="宋体"/>
              </a:rPr>
              <a:t>：不以交汇变量为条件</a:t>
            </a:r>
            <a:r>
              <a:rPr lang="en-US" altLang="zh-CN" spc="-50" dirty="0">
                <a:latin typeface="宋体"/>
                <a:cs typeface="宋体"/>
              </a:rPr>
              <a:t>, X </a:t>
            </a:r>
            <a:r>
              <a:rPr lang="zh-CN" altLang="en-US" spc="-50" dirty="0">
                <a:latin typeface="宋体"/>
                <a:cs typeface="宋体"/>
              </a:rPr>
              <a:t>和 </a:t>
            </a:r>
            <a:r>
              <a:rPr lang="en-US" altLang="zh-CN" spc="-50" dirty="0">
                <a:latin typeface="宋体"/>
                <a:cs typeface="宋体"/>
              </a:rPr>
              <a:t>Y </a:t>
            </a:r>
            <a:r>
              <a:rPr lang="zh-CN" altLang="en-US" spc="-50" dirty="0">
                <a:latin typeface="宋体"/>
                <a:cs typeface="宋体"/>
              </a:rPr>
              <a:t>是相互独立的。</a:t>
            </a:r>
            <a:endParaRPr lang="en-US" altLang="zh-CN" spc="-50" dirty="0">
              <a:latin typeface="宋体"/>
              <a:cs typeface="宋体"/>
            </a:endParaRPr>
          </a:p>
          <a:p>
            <a:pPr>
              <a:lnSpc>
                <a:spcPct val="110000"/>
              </a:lnSpc>
            </a:pPr>
            <a:r>
              <a:rPr lang="zh-CN" altLang="en-US" spc="-50" dirty="0">
                <a:latin typeface="宋体"/>
                <a:cs typeface="宋体"/>
              </a:rPr>
              <a:t>规则</a:t>
            </a:r>
            <a:r>
              <a:rPr lang="en-US" altLang="zh-CN" spc="-50" dirty="0">
                <a:latin typeface="宋体"/>
                <a:cs typeface="宋体"/>
              </a:rPr>
              <a:t>A3</a:t>
            </a:r>
            <a:r>
              <a:rPr lang="zh-CN" altLang="en-US" spc="-50" dirty="0">
                <a:latin typeface="宋体"/>
                <a:cs typeface="宋体"/>
              </a:rPr>
              <a:t>：当以交汇变量或其子孙变量为条件时，</a:t>
            </a:r>
            <a:r>
              <a:rPr lang="en-US" altLang="zh-CN" spc="-50" dirty="0">
                <a:latin typeface="宋体"/>
                <a:cs typeface="宋体"/>
              </a:rPr>
              <a:t>X </a:t>
            </a:r>
            <a:r>
              <a:rPr lang="zh-CN" altLang="en-US" spc="-50" dirty="0">
                <a:latin typeface="宋体"/>
                <a:cs typeface="宋体"/>
              </a:rPr>
              <a:t>和 </a:t>
            </a:r>
            <a:r>
              <a:rPr lang="en-US" altLang="zh-CN" spc="-50" dirty="0">
                <a:latin typeface="宋体"/>
                <a:cs typeface="宋体"/>
              </a:rPr>
              <a:t>Y </a:t>
            </a:r>
            <a:r>
              <a:rPr lang="zh-CN" altLang="en-US" spc="-50" dirty="0">
                <a:latin typeface="宋体"/>
                <a:cs typeface="宋体"/>
              </a:rPr>
              <a:t>相关。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1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AD105D-05B3-C6B0-9B1F-7821173E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CFFA84-A66A-C057-A6D8-A15EFA07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D07DE9CD-DF44-FD80-3235-1AFDEDBB6D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8157" y="2801836"/>
            <a:ext cx="1813254" cy="154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1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4836A-0E76-B023-4B03-AD111D44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图和结构因果模型：交汇变量（共同结果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D2F24A-AE5F-5739-9730-2EBF95DE8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投掷两枚硬币，至少一枚为正面时，钟会敲响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没有以交汇变量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7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为条件时，两变量独</a:t>
                </a:r>
                <a:r>
                  <a:rPr lang="zh-CN" altLang="en-US" spc="-50" dirty="0">
                    <a:latin typeface="宋体"/>
                    <a:cs typeface="宋体"/>
                  </a:rPr>
                  <a:t>立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254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𝑃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(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𝑋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"|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𝑌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b="0" i="0" spc="-10" smtClean="0">
                          <a:latin typeface="Cambria Math" panose="02040503050406030204" pitchFamily="18" charset="0"/>
                          <a:cs typeface="宋体"/>
                        </a:rPr>
                        <m:t>Heads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)=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𝑃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(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𝑋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pc="-10" smtClean="0">
                          <a:latin typeface="Cambria Math" panose="02040503050406030204" pitchFamily="18" charset="0"/>
                          <a:cs typeface="宋体"/>
                        </a:rPr>
                        <m:t>")=1/2</m:t>
                      </m:r>
                    </m:oMath>
                  </m:oMathPara>
                </a14:m>
                <a:endParaRPr lang="en-US" altLang="zh-CN" spc="-10" dirty="0">
                  <a:latin typeface="宋体"/>
                  <a:cs typeface="宋体"/>
                </a:endParaRPr>
              </a:p>
              <a:p>
                <a:pPr marL="12700">
                  <a:lnSpc>
                    <a:spcPct val="120000"/>
                  </a:lnSpc>
                  <a:spcBef>
                    <a:spcPts val="254"/>
                  </a:spcBef>
                </a:pPr>
                <a:r>
                  <a:rPr lang="zh-CN" altLang="en-US" spc="-10" dirty="0">
                    <a:latin typeface="宋体"/>
                    <a:cs typeface="宋体"/>
                  </a:rPr>
                  <a:t>以交汇变量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7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为条件时，两变量相</a:t>
                </a:r>
                <a:r>
                  <a:rPr lang="zh-CN" altLang="en-US" spc="-50" dirty="0">
                    <a:latin typeface="宋体"/>
                    <a:cs typeface="宋体"/>
                  </a:rPr>
                  <a:t>关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254"/>
                  </a:spcBef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"|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=1)=2/3 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"|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",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𝑍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Cambria"/>
                        </a:rPr>
                        <m:t>=1)=1/2</m:t>
                      </m:r>
                    </m:oMath>
                  </m:oMathPara>
                </a14:m>
                <a:endParaRPr lang="zh-CN" altLang="en-US" dirty="0">
                  <a:latin typeface="Cambria"/>
                  <a:cs typeface="Cambria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D2F24A-AE5F-5739-9730-2EBF95DE8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464" t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63822E-0C26-3129-D9F3-42D5583D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61AF8B-FD19-A063-9B21-2457A6C0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12565929-06F6-8D71-2D9C-F3D18E7681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8381" y="2722149"/>
            <a:ext cx="1408533" cy="1332494"/>
          </a:xfrm>
          <a:prstGeom prst="rect">
            <a:avLst/>
          </a:prstGeom>
        </p:spPr>
      </p:pic>
      <p:pic>
        <p:nvPicPr>
          <p:cNvPr id="9" name="object 6">
            <a:extLst>
              <a:ext uri="{FF2B5EF4-FFF2-40B4-BE49-F238E27FC236}">
                <a16:creationId xmlns:a16="http://schemas.microsoft.com/office/drawing/2014/main" id="{B68C7393-673F-85FE-A309-D2EC5467E7C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52419" y="2492539"/>
            <a:ext cx="4244834" cy="176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64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35383-07AC-B564-EE04-CC66BD0E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图和结构因果模型：交汇变量（共同结果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C400C2-070F-F50D-BB60-D4C9CD3EC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spc="-10" dirty="0">
                <a:latin typeface="宋体"/>
                <a:cs typeface="宋体"/>
              </a:rPr>
              <a:t>民族</a:t>
            </a:r>
            <a:r>
              <a:rPr lang="zh-CN" altLang="en-US" sz="2000" spc="-155" dirty="0">
                <a:latin typeface="宋体"/>
                <a:cs typeface="宋体"/>
              </a:rPr>
              <a:t> </a:t>
            </a:r>
            <a:r>
              <a:rPr lang="en-US" altLang="zh-CN" sz="2000" spc="110" dirty="0">
                <a:latin typeface="Palatino Linotype"/>
                <a:cs typeface="Palatino Linotype"/>
              </a:rPr>
              <a:t>(</a:t>
            </a:r>
            <a:r>
              <a:rPr lang="zh-CN" altLang="en-US" sz="2000" spc="110" dirty="0">
                <a:latin typeface="Cambria"/>
                <a:cs typeface="Cambria"/>
              </a:rPr>
              <a:t>𝑋</a:t>
            </a:r>
            <a:r>
              <a:rPr lang="en-US" altLang="zh-CN" sz="2000" spc="100" dirty="0">
                <a:latin typeface="Palatino Linotype"/>
                <a:cs typeface="Palatino Linotype"/>
              </a:rPr>
              <a:t>) </a:t>
            </a:r>
            <a:r>
              <a:rPr lang="zh-CN" altLang="en-US" sz="2000" spc="-10" dirty="0">
                <a:latin typeface="宋体"/>
                <a:cs typeface="宋体"/>
              </a:rPr>
              <a:t>和学习能力</a:t>
            </a:r>
            <a:r>
              <a:rPr lang="zh-CN" altLang="en-US" sz="2000" spc="-155" dirty="0">
                <a:latin typeface="宋体"/>
                <a:cs typeface="宋体"/>
              </a:rPr>
              <a:t> </a:t>
            </a:r>
            <a:r>
              <a:rPr lang="en-US" altLang="zh-CN" sz="2000" dirty="0">
                <a:latin typeface="Palatino Linotype"/>
                <a:cs typeface="Palatino Linotype"/>
              </a:rPr>
              <a:t>(</a:t>
            </a:r>
            <a:r>
              <a:rPr lang="zh-CN" altLang="en-US" sz="2000" dirty="0">
                <a:latin typeface="Cambria"/>
                <a:cs typeface="Cambria"/>
              </a:rPr>
              <a:t>𝑌</a:t>
            </a:r>
            <a:r>
              <a:rPr lang="zh-CN" altLang="en-US" sz="2000" spc="-5" dirty="0">
                <a:latin typeface="Cambria"/>
                <a:cs typeface="Cambria"/>
              </a:rPr>
              <a:t> </a:t>
            </a:r>
            <a:r>
              <a:rPr lang="en-US" altLang="zh-CN" sz="2000" dirty="0">
                <a:latin typeface="Palatino Linotype"/>
                <a:cs typeface="Palatino Linotype"/>
              </a:rPr>
              <a:t>)</a:t>
            </a:r>
            <a:r>
              <a:rPr lang="zh-CN" altLang="en-US" sz="2000" dirty="0">
                <a:latin typeface="宋体"/>
                <a:cs typeface="宋体"/>
              </a:rPr>
              <a:t>，</a:t>
            </a:r>
            <a:r>
              <a:rPr lang="zh-CN" altLang="en-US" sz="2000" spc="-10" dirty="0">
                <a:latin typeface="宋体"/>
                <a:cs typeface="宋体"/>
              </a:rPr>
              <a:t>以及是否上大学</a:t>
            </a:r>
            <a:r>
              <a:rPr lang="zh-CN" altLang="en-US" sz="2000" spc="-155" dirty="0">
                <a:latin typeface="宋体"/>
                <a:cs typeface="宋体"/>
              </a:rPr>
              <a:t> </a:t>
            </a:r>
            <a:r>
              <a:rPr lang="en-US" altLang="zh-CN" sz="2000" spc="55" dirty="0">
                <a:latin typeface="Palatino Linotype"/>
                <a:cs typeface="Palatino Linotype"/>
              </a:rPr>
              <a:t>(</a:t>
            </a:r>
            <a:r>
              <a:rPr lang="zh-CN" altLang="en-US" sz="2000" spc="55" dirty="0">
                <a:latin typeface="Cambria"/>
                <a:cs typeface="Cambria"/>
              </a:rPr>
              <a:t>𝑍</a:t>
            </a:r>
            <a:r>
              <a:rPr lang="en-US" altLang="zh-CN" sz="2000" spc="55" dirty="0">
                <a:latin typeface="Palatino Linotype"/>
                <a:cs typeface="Palatino Linotype"/>
              </a:rPr>
              <a:t>)</a:t>
            </a:r>
            <a:endParaRPr lang="zh-CN" altLang="en-US" sz="2000" dirty="0">
              <a:latin typeface="Palatino Linotype"/>
              <a:cs typeface="Palatino Linotype"/>
            </a:endParaRPr>
          </a:p>
          <a:p>
            <a:r>
              <a:rPr lang="zh-CN" altLang="en-US" sz="2000" spc="-10" dirty="0">
                <a:latin typeface="宋体"/>
                <a:cs typeface="宋体"/>
              </a:rPr>
              <a:t>简单模拟</a:t>
            </a:r>
            <a:r>
              <a:rPr lang="zh-CN" altLang="en-US" sz="2000" dirty="0">
                <a:latin typeface="宋体"/>
                <a:cs typeface="宋体"/>
              </a:rPr>
              <a:t>：</a:t>
            </a:r>
            <a:r>
              <a:rPr lang="en-US" altLang="zh-CN" sz="2000" dirty="0">
                <a:latin typeface="Palatino Linotype"/>
                <a:cs typeface="Palatino Linotype"/>
              </a:rPr>
              <a:t>N&lt;-100;</a:t>
            </a:r>
            <a:r>
              <a:rPr lang="en-US" altLang="zh-CN" sz="2000" spc="484" dirty="0">
                <a:latin typeface="Palatino Linotype"/>
                <a:cs typeface="Palatino Linotype"/>
              </a:rPr>
              <a:t>  </a:t>
            </a:r>
            <a:r>
              <a:rPr lang="en-US" altLang="zh-CN" sz="2000" dirty="0">
                <a:latin typeface="Palatino Linotype"/>
                <a:cs typeface="Palatino Linotype"/>
              </a:rPr>
              <a:t>X&lt;-</a:t>
            </a:r>
            <a:r>
              <a:rPr lang="en-US" altLang="zh-CN" sz="2000" dirty="0" err="1">
                <a:latin typeface="Palatino Linotype"/>
                <a:cs typeface="Palatino Linotype"/>
              </a:rPr>
              <a:t>rnorm</a:t>
            </a:r>
            <a:r>
              <a:rPr lang="en-US" altLang="zh-CN" sz="2000" dirty="0">
                <a:latin typeface="Palatino Linotype"/>
                <a:cs typeface="Palatino Linotype"/>
              </a:rPr>
              <a:t>(N);Y&lt;-</a:t>
            </a:r>
            <a:r>
              <a:rPr lang="en-US" altLang="zh-CN" sz="2000" dirty="0" err="1">
                <a:latin typeface="Palatino Linotype"/>
                <a:cs typeface="Palatino Linotype"/>
              </a:rPr>
              <a:t>rnorm</a:t>
            </a:r>
            <a:r>
              <a:rPr lang="en-US" altLang="zh-CN" sz="2000" dirty="0">
                <a:latin typeface="Palatino Linotype"/>
                <a:cs typeface="Palatino Linotype"/>
              </a:rPr>
              <a:t>(N);Z&lt;-</a:t>
            </a:r>
            <a:r>
              <a:rPr lang="en-US" altLang="zh-CN" sz="2000" spc="-25" dirty="0">
                <a:latin typeface="Palatino Linotype"/>
                <a:cs typeface="Palatino Linotype"/>
              </a:rPr>
              <a:t>X+Y</a:t>
            </a:r>
            <a:endParaRPr lang="en-US" altLang="zh-CN" sz="2000" dirty="0">
              <a:latin typeface="Palatino Linotype"/>
              <a:cs typeface="Palatino Linotype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CA302C-F726-9F93-F486-67796AA4E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17E5A3-BF46-7B86-5A90-0B2E4D4A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A6D48017-DA1B-A108-99BC-A69A8267A8F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371" y="2821854"/>
            <a:ext cx="6945777" cy="34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00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7AA74-A20E-9091-1A01-71A7ED3CD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图和结构因果模型：交汇变量（共同结果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7E47972-BDFA-C988-BDF0-695C5B62DF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假设现在我们依赖于一个不可靠的观测者</a:t>
                </a:r>
                <a:r>
                  <a:rPr lang="zh-CN" altLang="en-US" spc="-4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他会在钟没响时</a:t>
                </a:r>
                <a:r>
                  <a:rPr lang="zh-CN" altLang="en-US" spc="-80" dirty="0">
                    <a:latin typeface="宋体"/>
                    <a:cs typeface="宋体"/>
                  </a:rPr>
                  <a:t>，以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50%</a:t>
                </a:r>
                <a:r>
                  <a:rPr lang="zh-CN" altLang="en-US" spc="5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报</a:t>
                </a:r>
                <a:r>
                  <a:rPr lang="zh-CN" altLang="en-US" spc="-50" dirty="0">
                    <a:latin typeface="宋体"/>
                    <a:cs typeface="宋体"/>
                  </a:rPr>
                  <a:t>告</a:t>
                </a:r>
                <a:r>
                  <a:rPr lang="zh-CN" altLang="en-US" spc="-10" dirty="0">
                    <a:latin typeface="宋体"/>
                    <a:cs typeface="宋体"/>
                  </a:rPr>
                  <a:t>钟响了，他的报告记为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-10" dirty="0">
                    <a:latin typeface="Cambria"/>
                    <a:cs typeface="Cambria"/>
                  </a:rPr>
                  <a:t>𝑊</a:t>
                </a:r>
                <a:r>
                  <a:rPr lang="zh-CN" altLang="en-US" spc="-90" dirty="0">
                    <a:latin typeface="Cambria"/>
                    <a:cs typeface="Cambria"/>
                  </a:rPr>
                  <a:t> 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pc="-5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不以交汇变量的子变量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𝑊</a:t>
                </a:r>
                <a:r>
                  <a:rPr lang="zh-CN" altLang="en-US" spc="229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为条件，两变量独</a:t>
                </a:r>
                <a:r>
                  <a:rPr lang="zh-CN" altLang="en-US" spc="-50" dirty="0">
                    <a:latin typeface="宋体"/>
                    <a:cs typeface="宋体"/>
                  </a:rPr>
                  <a:t>立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"|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  <a:cs typeface="宋体"/>
                        </a:rPr>
                        <m:t>Heads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)=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")=1/2</m:t>
                      </m:r>
                    </m:oMath>
                  </m:oMathPara>
                </a14:m>
                <a:endParaRPr lang="en-US" altLang="zh-CN" b="0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以交汇变量的子变量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𝑊</a:t>
                </a:r>
                <a:r>
                  <a:rPr lang="zh-CN" altLang="en-US" spc="229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为条件，两变量相</a:t>
                </a:r>
                <a:r>
                  <a:rPr lang="zh-CN" altLang="en-US" spc="-50" dirty="0">
                    <a:latin typeface="宋体"/>
                    <a:cs typeface="宋体"/>
                  </a:rPr>
                  <a:t>关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"|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𝑊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=1)=.5/0.875≠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"|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="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𝐻𝑒𝑎𝑑𝑠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",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𝑊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宋体"/>
                        </a:rPr>
                        <m:t>=1)=1/2</m:t>
                      </m:r>
                    </m:oMath>
                  </m:oMathPara>
                </a14:m>
                <a:endParaRPr lang="en-US" altLang="zh-CN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7E47972-BDFA-C988-BDF0-695C5B62D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280" r="-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203B05-08BB-CC48-2B4B-7B1BA8DAD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D91E00-5E85-9FD2-4EAB-B0F107DC2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3A4780BB-CF5B-7C1D-BF74-5CA9919082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3143" y="2759965"/>
            <a:ext cx="1406001" cy="1567124"/>
          </a:xfrm>
          <a:prstGeom prst="rect">
            <a:avLst/>
          </a:prstGeom>
        </p:spPr>
      </p:pic>
      <p:pic>
        <p:nvPicPr>
          <p:cNvPr id="9" name="object 6">
            <a:extLst>
              <a:ext uri="{FF2B5EF4-FFF2-40B4-BE49-F238E27FC236}">
                <a16:creationId xmlns:a16="http://schemas.microsoft.com/office/drawing/2014/main" id="{6047A2E9-A9BA-9B91-38BD-CCB05C1838D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26782" y="2614631"/>
            <a:ext cx="3684671" cy="186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96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09A8C-83CC-6E68-6A7B-924A1738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图和结构因果模型：交汇变量（共同结果</a:t>
            </a:r>
            <a:r>
              <a:rPr lang="zh-CN" altLang="en-US" spc="-50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0654A9-A495-248A-54F6-7FDCDBC2F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spc="-10" dirty="0">
                <a:latin typeface="宋体"/>
                <a:cs typeface="宋体"/>
              </a:rPr>
              <a:t>简单模拟</a:t>
            </a:r>
            <a:r>
              <a:rPr lang="zh-CN" altLang="en-US" sz="2000" dirty="0">
                <a:latin typeface="宋体"/>
                <a:cs typeface="宋体"/>
              </a:rPr>
              <a:t>：</a:t>
            </a:r>
            <a:r>
              <a:rPr lang="en-US" altLang="zh-CN" sz="2000" dirty="0" err="1">
                <a:latin typeface="Palatino Linotype"/>
                <a:cs typeface="Palatino Linotype"/>
              </a:rPr>
              <a:t>set.seed</a:t>
            </a:r>
            <a:r>
              <a:rPr lang="en-US" altLang="zh-CN" sz="2000" dirty="0">
                <a:latin typeface="Palatino Linotype"/>
                <a:cs typeface="Palatino Linotype"/>
              </a:rPr>
              <a:t>(2000);N&lt;-</a:t>
            </a:r>
            <a:r>
              <a:rPr lang="en-US" altLang="zh-CN" sz="2000" spc="-20" dirty="0">
                <a:latin typeface="Palatino Linotype"/>
                <a:cs typeface="Palatino Linotype"/>
              </a:rPr>
              <a:t>100;</a:t>
            </a:r>
            <a:endParaRPr lang="en-US" altLang="zh-CN" sz="20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</a:pPr>
            <a:r>
              <a:rPr lang="en-US" altLang="zh-CN" sz="2000" dirty="0">
                <a:latin typeface="Palatino Linotype"/>
                <a:cs typeface="Palatino Linotype"/>
              </a:rPr>
              <a:t>X&lt;-</a:t>
            </a:r>
            <a:r>
              <a:rPr lang="en-US" altLang="zh-CN" sz="2000" dirty="0" err="1">
                <a:latin typeface="Palatino Linotype"/>
                <a:cs typeface="Palatino Linotype"/>
              </a:rPr>
              <a:t>rnorm</a:t>
            </a:r>
            <a:r>
              <a:rPr lang="en-US" altLang="zh-CN" sz="2000" dirty="0">
                <a:latin typeface="Palatino Linotype"/>
                <a:cs typeface="Palatino Linotype"/>
              </a:rPr>
              <a:t>(N);Y&lt;-</a:t>
            </a:r>
            <a:r>
              <a:rPr lang="en-US" altLang="zh-CN" sz="2000" dirty="0" err="1">
                <a:latin typeface="Palatino Linotype"/>
                <a:cs typeface="Palatino Linotype"/>
              </a:rPr>
              <a:t>rnorm</a:t>
            </a:r>
            <a:r>
              <a:rPr lang="en-US" altLang="zh-CN" sz="2000" dirty="0">
                <a:latin typeface="Palatino Linotype"/>
                <a:cs typeface="Palatino Linotype"/>
              </a:rPr>
              <a:t>(N);Z&lt;-X+Y+.1*</a:t>
            </a:r>
            <a:r>
              <a:rPr lang="en-US" altLang="zh-CN" sz="2000" dirty="0" err="1">
                <a:latin typeface="Palatino Linotype"/>
                <a:cs typeface="Palatino Linotype"/>
              </a:rPr>
              <a:t>rnorm</a:t>
            </a:r>
            <a:r>
              <a:rPr lang="en-US" altLang="zh-CN" sz="2000" dirty="0">
                <a:latin typeface="Palatino Linotype"/>
                <a:cs typeface="Palatino Linotype"/>
              </a:rPr>
              <a:t>(N);</a:t>
            </a:r>
            <a:r>
              <a:rPr lang="en-US" altLang="zh-CN" sz="2000" spc="325" dirty="0">
                <a:latin typeface="Palatino Linotype"/>
                <a:cs typeface="Palatino Linotype"/>
              </a:rPr>
              <a:t>   </a:t>
            </a:r>
            <a:r>
              <a:rPr lang="en-US" altLang="zh-CN" sz="2000" dirty="0">
                <a:latin typeface="Palatino Linotype"/>
                <a:cs typeface="Palatino Linotype"/>
              </a:rPr>
              <a:t>W&lt;-</a:t>
            </a:r>
            <a:r>
              <a:rPr lang="en-US" altLang="zh-CN" sz="2000" spc="-10" dirty="0">
                <a:latin typeface="Palatino Linotype"/>
                <a:cs typeface="Palatino Linotype"/>
              </a:rPr>
              <a:t>sin(Z)</a:t>
            </a:r>
            <a:endParaRPr lang="en-US" altLang="zh-CN" sz="200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lang="zh-CN" altLang="en-US" sz="20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F3ED73-41B3-1038-9CCC-1E7499D3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7B78B4-C5C1-0789-9136-3AB12E72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B6DE915D-5859-2A7F-DBAB-31D328A09C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497" y="2760399"/>
            <a:ext cx="7186408" cy="341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41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FE411-F09B-15A6-4D82-3D0A5FCC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zh-CN" altLang="en-US" dirty="0"/>
              <a:t>图和结构因果模</a:t>
            </a:r>
            <a:r>
              <a:rPr lang="zh-CN" altLang="en-US" spc="-50" dirty="0"/>
              <a:t>型</a:t>
            </a:r>
            <a:br>
              <a:rPr lang="zh-CN" altLang="en-US" dirty="0"/>
            </a:br>
            <a:r>
              <a:rPr lang="zh-CN" altLang="en-US" sz="2000" spc="-10" dirty="0"/>
              <a:t>逆叉：共同结</a:t>
            </a:r>
            <a:r>
              <a:rPr lang="zh-CN" altLang="en-US" sz="2000" spc="-50" dirty="0"/>
              <a:t>果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D58A73-2BE7-D94C-0777-76F44E8C7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spc="30" dirty="0">
                <a:latin typeface="Palatino Linotype"/>
                <a:cs typeface="Palatino Linotype"/>
              </a:rPr>
              <a:t>规则</a:t>
            </a:r>
            <a:r>
              <a:rPr lang="en-US" altLang="zh-CN" b="1" spc="65" dirty="0">
                <a:latin typeface="Palatino Linotype"/>
                <a:cs typeface="Palatino Linotype"/>
              </a:rPr>
              <a:t>AI3</a:t>
            </a:r>
            <a:r>
              <a:rPr lang="en-US" altLang="zh-CN" b="1" spc="100" dirty="0">
                <a:latin typeface="Palatino Linotype"/>
                <a:cs typeface="Palatino Linotype"/>
              </a:rPr>
              <a:t> </a:t>
            </a:r>
            <a:r>
              <a:rPr lang="en-US" altLang="zh-CN" b="1" spc="30" dirty="0">
                <a:latin typeface="Palatino Linotype"/>
                <a:cs typeface="Palatino Linotype"/>
              </a:rPr>
              <a:t>(Conditional</a:t>
            </a:r>
            <a:r>
              <a:rPr lang="en-US" altLang="zh-CN" b="1" spc="100" dirty="0">
                <a:latin typeface="Palatino Linotype"/>
                <a:cs typeface="Palatino Linotype"/>
              </a:rPr>
              <a:t> </a:t>
            </a:r>
            <a:r>
              <a:rPr lang="en-US" altLang="zh-CN" b="1" spc="25" dirty="0">
                <a:latin typeface="Palatino Linotype"/>
                <a:cs typeface="Palatino Linotype"/>
              </a:rPr>
              <a:t>Independence</a:t>
            </a:r>
            <a:r>
              <a:rPr lang="en-US" altLang="zh-CN" b="1" spc="100" dirty="0">
                <a:latin typeface="Palatino Linotype"/>
                <a:cs typeface="Palatino Linotype"/>
              </a:rPr>
              <a:t> </a:t>
            </a:r>
            <a:r>
              <a:rPr lang="en-US" altLang="zh-CN" b="1" dirty="0">
                <a:latin typeface="Palatino Linotype"/>
                <a:cs typeface="Palatino Linotype"/>
              </a:rPr>
              <a:t>in</a:t>
            </a:r>
            <a:r>
              <a:rPr lang="en-US" altLang="zh-CN" b="1" spc="100" dirty="0">
                <a:latin typeface="Palatino Linotype"/>
                <a:cs typeface="Palatino Linotype"/>
              </a:rPr>
              <a:t> </a:t>
            </a:r>
            <a:r>
              <a:rPr lang="en-US" altLang="zh-CN" b="1" spc="15" dirty="0">
                <a:latin typeface="Palatino Linotype"/>
                <a:cs typeface="Palatino Linotype"/>
              </a:rPr>
              <a:t>Colliders)</a:t>
            </a:r>
            <a:r>
              <a:rPr lang="zh-CN" altLang="en-US" spc="15" dirty="0">
                <a:latin typeface="黑体"/>
                <a:cs typeface="黑体"/>
              </a:rPr>
              <a:t>：</a:t>
            </a:r>
            <a:r>
              <a:rPr lang="zh-CN" altLang="en-US" spc="-10" dirty="0">
                <a:latin typeface="宋体"/>
                <a:cs typeface="宋体"/>
              </a:rPr>
              <a:t>如果</a:t>
            </a:r>
            <a:r>
              <a:rPr lang="zh-CN" altLang="en-US" spc="-195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5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是变量</a:t>
            </a:r>
            <a:r>
              <a:rPr lang="zh-CN" altLang="en-US" spc="-20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30" dirty="0">
                <a:latin typeface="Cambria"/>
                <a:cs typeface="Cambria"/>
              </a:rPr>
              <a:t> </a:t>
            </a:r>
            <a:r>
              <a:rPr lang="zh-CN" altLang="en-US" spc="-105" dirty="0">
                <a:latin typeface="宋体"/>
                <a:cs typeface="宋体"/>
              </a:rPr>
              <a:t>和 </a:t>
            </a:r>
            <a:r>
              <a:rPr lang="zh-CN" altLang="en-US" spc="-25" dirty="0">
                <a:latin typeface="Cambria"/>
                <a:cs typeface="Cambria"/>
              </a:rPr>
              <a:t>𝑌</a:t>
            </a:r>
            <a:r>
              <a:rPr lang="zh-CN" altLang="en-US" spc="28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的交汇变量</a:t>
            </a:r>
            <a:r>
              <a:rPr lang="zh-CN" altLang="en-US" spc="-135" dirty="0">
                <a:latin typeface="宋体"/>
                <a:cs typeface="宋体"/>
              </a:rPr>
              <a:t>，且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30" dirty="0">
                <a:latin typeface="Cambria"/>
                <a:cs typeface="Cambria"/>
              </a:rPr>
              <a:t> </a:t>
            </a:r>
            <a:r>
              <a:rPr lang="zh-CN" altLang="en-US" spc="-105" dirty="0">
                <a:latin typeface="宋体"/>
                <a:cs typeface="宋体"/>
              </a:rPr>
              <a:t>和 </a:t>
            </a:r>
            <a:r>
              <a:rPr lang="zh-CN" altLang="en-US" spc="-25" dirty="0">
                <a:latin typeface="Cambria"/>
                <a:cs typeface="Cambria"/>
              </a:rPr>
              <a:t>𝑌</a:t>
            </a:r>
            <a:r>
              <a:rPr lang="zh-CN" altLang="en-US" spc="28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之间只存在一条路径</a:t>
            </a:r>
            <a:r>
              <a:rPr lang="zh-CN" altLang="en-US" spc="-130" dirty="0">
                <a:latin typeface="宋体"/>
                <a:cs typeface="宋体"/>
              </a:rPr>
              <a:t>，则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30" dirty="0">
                <a:latin typeface="Cambria"/>
                <a:cs typeface="Cambria"/>
              </a:rPr>
              <a:t> </a:t>
            </a:r>
            <a:r>
              <a:rPr lang="zh-CN" altLang="en-US" spc="-105" dirty="0">
                <a:latin typeface="宋体"/>
                <a:cs typeface="宋体"/>
              </a:rPr>
              <a:t>和 </a:t>
            </a:r>
            <a:r>
              <a:rPr lang="zh-CN" altLang="en-US" spc="-25" dirty="0">
                <a:latin typeface="Cambria"/>
                <a:cs typeface="Cambria"/>
              </a:rPr>
              <a:t>𝑌</a:t>
            </a:r>
            <a:r>
              <a:rPr lang="zh-CN" altLang="en-US" spc="28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是独立的；但若以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7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或其子孙变量为条件，则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60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和 </a:t>
            </a:r>
            <a:r>
              <a:rPr lang="zh-CN" altLang="en-US" spc="-25" dirty="0">
                <a:latin typeface="Cambria"/>
                <a:cs typeface="Cambria"/>
              </a:rPr>
              <a:t>𝑌</a:t>
            </a:r>
            <a:r>
              <a:rPr lang="zh-CN" altLang="en-US" spc="31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将相关。</a:t>
            </a:r>
            <a:endParaRPr lang="zh-CN" altLang="en-US" dirty="0">
              <a:latin typeface="宋体"/>
              <a:cs typeface="宋体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4F9FCC-452F-54A1-BE3D-30F86166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16D9BA-773C-CCD3-DF57-EB5A88A2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211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48C7A-B212-C81E-1347-2BE81F8A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</a:t>
            </a:r>
            <a:r>
              <a:rPr lang="zh-CN" altLang="en-US" spc="-10" dirty="0"/>
              <a:t>：</a:t>
            </a:r>
            <a:r>
              <a:rPr lang="zh-CN" altLang="en-US" spc="-10" dirty="0">
                <a:latin typeface="Cambria"/>
                <a:cs typeface="Cambria"/>
              </a:rPr>
              <a:t>𝑑</a:t>
            </a:r>
            <a:r>
              <a:rPr lang="en-US" altLang="zh-CN" spc="-10" dirty="0">
                <a:latin typeface="Palatino Linotype"/>
                <a:cs typeface="Palatino Linotype"/>
              </a:rPr>
              <a:t>-</a:t>
            </a:r>
            <a:r>
              <a:rPr lang="zh-CN" altLang="en-US" dirty="0"/>
              <a:t>分</a:t>
            </a:r>
            <a:r>
              <a:rPr lang="zh-CN" altLang="en-US" spc="-50" dirty="0"/>
              <a:t>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5F2626-AF89-43CB-115D-7DB73447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35" dirty="0">
                <a:latin typeface="Cambria"/>
                <a:cs typeface="Cambria"/>
              </a:rPr>
              <a:t>𝑑</a:t>
            </a:r>
            <a:r>
              <a:rPr lang="en-US" altLang="zh-CN" spc="-35" dirty="0">
                <a:latin typeface="Palatino Linotype"/>
                <a:cs typeface="Palatino Linotype"/>
              </a:rPr>
              <a:t>-</a:t>
            </a:r>
            <a:r>
              <a:rPr lang="zh-CN" altLang="en-US" spc="-10" dirty="0">
                <a:latin typeface="宋体"/>
                <a:cs typeface="宋体"/>
              </a:rPr>
              <a:t>连接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</a:t>
            </a:r>
            <a:r>
              <a:rPr lang="zh-CN" altLang="en-US" spc="-10" dirty="0">
                <a:latin typeface="Cambria"/>
                <a:cs typeface="Cambria"/>
              </a:rPr>
              <a:t>𝑑</a:t>
            </a:r>
            <a:r>
              <a:rPr lang="en-US" altLang="zh-CN" spc="-10" dirty="0">
                <a:latin typeface="Palatino Linotype"/>
                <a:cs typeface="Palatino Linotype"/>
              </a:rPr>
              <a:t>-connected)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指两变量之间存在着（通）路径连接</a:t>
            </a:r>
            <a:r>
              <a:rPr lang="zh-CN" altLang="en-US" spc="-6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35" dirty="0">
                <a:latin typeface="Cambria"/>
                <a:cs typeface="Cambria"/>
              </a:rPr>
              <a:t>𝑑</a:t>
            </a:r>
            <a:r>
              <a:rPr lang="en-US" altLang="zh-CN" spc="-35" dirty="0">
                <a:latin typeface="Palatino Linotype"/>
                <a:cs typeface="Palatino Linotype"/>
              </a:rPr>
              <a:t>-</a:t>
            </a:r>
            <a:r>
              <a:rPr lang="zh-CN" altLang="en-US" spc="-10" dirty="0">
                <a:latin typeface="宋体"/>
                <a:cs typeface="宋体"/>
              </a:rPr>
              <a:t>分离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</a:t>
            </a:r>
            <a:r>
              <a:rPr lang="zh-CN" altLang="en-US" spc="-10" dirty="0">
                <a:latin typeface="Cambria"/>
                <a:cs typeface="Cambria"/>
              </a:rPr>
              <a:t>𝑑</a:t>
            </a:r>
            <a:r>
              <a:rPr lang="en-US" altLang="zh-CN" spc="-10" dirty="0">
                <a:latin typeface="Palatino Linotype"/>
                <a:cs typeface="Palatino Linotype"/>
              </a:rPr>
              <a:t>-separated)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表示两变量之间不存在（通）路径连接，表示两变</a:t>
            </a:r>
            <a:r>
              <a:rPr lang="zh-CN" altLang="en-US" spc="-50" dirty="0">
                <a:latin typeface="宋体"/>
                <a:cs typeface="宋体"/>
              </a:rPr>
              <a:t>量</a:t>
            </a:r>
            <a:r>
              <a:rPr lang="zh-CN" altLang="en-US" spc="-10" dirty="0">
                <a:latin typeface="宋体"/>
                <a:cs typeface="宋体"/>
              </a:rPr>
              <a:t>是独立的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 marL="67310">
              <a:lnSpc>
                <a:spcPct val="120000"/>
              </a:lnSpc>
              <a:spcBef>
                <a:spcPts val="290"/>
              </a:spcBef>
            </a:pPr>
            <a:r>
              <a:rPr lang="zh-CN" altLang="en-US" spc="-10" dirty="0">
                <a:latin typeface="宋体"/>
                <a:cs typeface="宋体"/>
              </a:rPr>
              <a:t>两变量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50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和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5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是 </a:t>
            </a:r>
            <a:r>
              <a:rPr lang="zh-CN" altLang="en-US" spc="-30" dirty="0">
                <a:latin typeface="Cambria"/>
                <a:cs typeface="Cambria"/>
              </a:rPr>
              <a:t>𝑑</a:t>
            </a:r>
            <a:r>
              <a:rPr lang="en-US" altLang="zh-CN" spc="-30" dirty="0">
                <a:latin typeface="Palatino Linotype"/>
                <a:cs typeface="Palatino Linotype"/>
              </a:rPr>
              <a:t>-</a:t>
            </a:r>
            <a:r>
              <a:rPr lang="zh-CN" altLang="en-US" spc="-10" dirty="0">
                <a:latin typeface="宋体"/>
                <a:cs typeface="宋体"/>
              </a:rPr>
              <a:t>分离的，如果连接两者之间的路径全部被阻断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</a:t>
            </a:r>
            <a:r>
              <a:rPr lang="en-US" altLang="zh-CN" b="1" dirty="0">
                <a:latin typeface="Palatino Linotype"/>
                <a:cs typeface="Palatino Linotype"/>
              </a:rPr>
              <a:t>blocked</a:t>
            </a:r>
            <a:r>
              <a:rPr lang="en-US" altLang="zh-CN" dirty="0">
                <a:latin typeface="Palatino Linotype"/>
                <a:cs typeface="Palatino Linotype"/>
              </a:rPr>
              <a:t>)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en-US" altLang="zh-CN" spc="-50" dirty="0">
              <a:latin typeface="宋体"/>
              <a:cs typeface="宋体"/>
            </a:endParaRPr>
          </a:p>
          <a:p>
            <a:pPr marL="67310">
              <a:lnSpc>
                <a:spcPct val="120000"/>
              </a:lnSpc>
              <a:spcBef>
                <a:spcPts val="290"/>
              </a:spcBef>
            </a:pPr>
            <a:r>
              <a:rPr lang="en-US" altLang="zh-CN" b="1" dirty="0">
                <a:latin typeface="Palatino Linotype"/>
                <a:cs typeface="Palatino Linotype"/>
              </a:rPr>
              <a:t>Definition</a:t>
            </a:r>
            <a:r>
              <a:rPr lang="en-US" altLang="zh-CN" b="1" spc="120" dirty="0">
                <a:latin typeface="Palatino Linotype"/>
                <a:cs typeface="Palatino Linotype"/>
              </a:rPr>
              <a:t> (</a:t>
            </a:r>
            <a:r>
              <a:rPr lang="zh-CN" altLang="en-US" dirty="0">
                <a:latin typeface="Cambria"/>
                <a:cs typeface="Cambria"/>
              </a:rPr>
              <a:t>𝑑</a:t>
            </a:r>
            <a:r>
              <a:rPr lang="en-US" altLang="zh-CN" b="1" dirty="0">
                <a:latin typeface="Palatino Linotype"/>
                <a:cs typeface="Palatino Linotype"/>
              </a:rPr>
              <a:t>-separation)</a:t>
            </a:r>
            <a:r>
              <a:rPr lang="en-US" altLang="zh-CN" b="1" spc="1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路径</a:t>
            </a:r>
            <a:r>
              <a:rPr lang="zh-CN" altLang="en-US" spc="-70" dirty="0">
                <a:latin typeface="宋体"/>
                <a:cs typeface="宋体"/>
              </a:rPr>
              <a:t> </a:t>
            </a:r>
            <a:r>
              <a:rPr lang="zh-CN" altLang="en-US" dirty="0">
                <a:latin typeface="Cambria"/>
                <a:cs typeface="Cambria"/>
              </a:rPr>
              <a:t>𝑝</a:t>
            </a:r>
            <a:r>
              <a:rPr lang="zh-CN" altLang="en-US" spc="23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被变量集合</a:t>
            </a:r>
            <a:r>
              <a:rPr lang="zh-CN" altLang="en-US" spc="-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29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阻断，当且仅</a:t>
            </a:r>
            <a:r>
              <a:rPr lang="zh-CN" altLang="en-US" spc="-50" dirty="0">
                <a:latin typeface="宋体"/>
                <a:cs typeface="宋体"/>
              </a:rPr>
              <a:t>当</a:t>
            </a:r>
            <a:endParaRPr lang="zh-CN" altLang="en-US" dirty="0">
              <a:latin typeface="宋体"/>
              <a:cs typeface="宋体"/>
            </a:endParaRPr>
          </a:p>
          <a:p>
            <a:pPr marL="524510" lvl="1">
              <a:lnSpc>
                <a:spcPct val="120000"/>
              </a:lnSpc>
              <a:spcBef>
                <a:spcPts val="290"/>
              </a:spcBef>
            </a:pPr>
            <a:r>
              <a:rPr lang="en-US" altLang="zh-CN" dirty="0">
                <a:solidFill>
                  <a:srgbClr val="3333B2"/>
                </a:solidFill>
                <a:latin typeface="Palatino Linotype"/>
                <a:cs typeface="Palatino Linotype"/>
              </a:rPr>
              <a:t>(1)</a:t>
            </a:r>
            <a:r>
              <a:rPr lang="zh-CN" altLang="en-US" spc="250" dirty="0">
                <a:solidFill>
                  <a:srgbClr val="3333B2"/>
                </a:solidFill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p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包含一个因果链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zh-CN" altLang="en-US" spc="105" dirty="0">
                <a:latin typeface="Cambria"/>
                <a:cs typeface="Cambria"/>
              </a:rPr>
              <a:t>𝐴</a:t>
            </a:r>
            <a:r>
              <a:rPr lang="zh-CN" altLang="en-US" spc="90" dirty="0">
                <a:latin typeface="Cambria"/>
                <a:cs typeface="Cambria"/>
              </a:rPr>
              <a:t> → </a:t>
            </a:r>
            <a:r>
              <a:rPr lang="zh-CN" altLang="en-US" spc="95" dirty="0">
                <a:latin typeface="Cambria"/>
                <a:cs typeface="Cambria"/>
              </a:rPr>
              <a:t>𝐵 → </a:t>
            </a:r>
            <a:r>
              <a:rPr lang="zh-CN" altLang="en-US" spc="110" dirty="0">
                <a:latin typeface="Cambria"/>
                <a:cs typeface="Cambria"/>
              </a:rPr>
              <a:t>𝐶</a:t>
            </a:r>
            <a:r>
              <a:rPr lang="zh-CN" altLang="en-US" spc="18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或叉形结构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zh-CN" altLang="en-US" spc="105" dirty="0">
                <a:latin typeface="Cambria"/>
                <a:cs typeface="Cambria"/>
              </a:rPr>
              <a:t>𝐴</a:t>
            </a:r>
            <a:r>
              <a:rPr lang="zh-CN" altLang="en-US" spc="90" dirty="0">
                <a:latin typeface="Cambria"/>
                <a:cs typeface="Cambria"/>
              </a:rPr>
              <a:t> ← </a:t>
            </a:r>
            <a:r>
              <a:rPr lang="zh-CN" altLang="en-US" spc="95" dirty="0">
                <a:latin typeface="Cambria"/>
                <a:cs typeface="Cambria"/>
              </a:rPr>
              <a:t>𝐵 → </a:t>
            </a:r>
            <a:r>
              <a:rPr lang="zh-CN" altLang="en-US" spc="85" dirty="0">
                <a:latin typeface="Cambria"/>
                <a:cs typeface="Cambria"/>
              </a:rPr>
              <a:t>𝐶</a:t>
            </a:r>
            <a:r>
              <a:rPr lang="zh-CN" altLang="en-US" spc="8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中间</a:t>
            </a:r>
            <a:r>
              <a:rPr lang="zh-CN" altLang="en-US" spc="-50" dirty="0">
                <a:latin typeface="宋体"/>
                <a:cs typeface="宋体"/>
              </a:rPr>
              <a:t>结</a:t>
            </a:r>
            <a:r>
              <a:rPr lang="zh-CN" altLang="en-US" spc="-10" dirty="0">
                <a:latin typeface="宋体"/>
                <a:cs typeface="宋体"/>
              </a:rPr>
              <a:t>点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(node)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95" dirty="0">
                <a:latin typeface="Cambria"/>
                <a:cs typeface="Cambria"/>
              </a:rPr>
              <a:t>𝐵</a:t>
            </a:r>
            <a:r>
              <a:rPr lang="zh-CN" altLang="en-US" spc="13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在集合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80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中 </a:t>
            </a:r>
            <a:r>
              <a:rPr lang="en-US" altLang="zh-CN" spc="50" dirty="0">
                <a:latin typeface="Palatino Linotype"/>
                <a:cs typeface="Palatino Linotype"/>
              </a:rPr>
              <a:t>(</a:t>
            </a:r>
            <a:r>
              <a:rPr lang="zh-CN" altLang="en-US" spc="-90" dirty="0">
                <a:latin typeface="宋体"/>
                <a:cs typeface="宋体"/>
              </a:rPr>
              <a:t>即 </a:t>
            </a:r>
            <a:r>
              <a:rPr lang="zh-CN" altLang="en-US" spc="95" dirty="0">
                <a:latin typeface="Cambria"/>
                <a:cs typeface="Cambria"/>
              </a:rPr>
              <a:t>𝐵</a:t>
            </a:r>
            <a:r>
              <a:rPr lang="zh-CN" altLang="en-US" spc="13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是作为条件</a:t>
            </a:r>
            <a:r>
              <a:rPr lang="en-US" altLang="zh-CN" dirty="0">
                <a:latin typeface="Palatino Linotype"/>
                <a:cs typeface="Palatino Linotype"/>
              </a:rPr>
              <a:t>)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spc="-50" dirty="0">
                <a:latin typeface="宋体"/>
                <a:cs typeface="宋体"/>
              </a:rPr>
              <a:t>或</a:t>
            </a:r>
            <a:endParaRPr lang="zh-CN" altLang="en-US" dirty="0">
              <a:latin typeface="宋体"/>
              <a:cs typeface="宋体"/>
            </a:endParaRPr>
          </a:p>
          <a:p>
            <a:pPr marL="524510" lvl="1">
              <a:lnSpc>
                <a:spcPct val="120000"/>
              </a:lnSpc>
              <a:spcBef>
                <a:spcPts val="290"/>
              </a:spcBef>
            </a:pPr>
            <a:r>
              <a:rPr lang="en-US" altLang="zh-CN" dirty="0">
                <a:solidFill>
                  <a:srgbClr val="3333B2"/>
                </a:solidFill>
                <a:latin typeface="Palatino Linotype"/>
                <a:cs typeface="Palatino Linotype"/>
              </a:rPr>
              <a:t>(2)</a:t>
            </a:r>
            <a:r>
              <a:rPr lang="zh-CN" altLang="en-US" spc="250" dirty="0">
                <a:solidFill>
                  <a:srgbClr val="3333B2"/>
                </a:solidFill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p</a:t>
            </a:r>
            <a:r>
              <a:rPr lang="zh-CN" altLang="en-US" spc="9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包含交汇结构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zh-CN" altLang="en-US" spc="105" dirty="0">
                <a:latin typeface="Cambria"/>
                <a:cs typeface="Cambria"/>
              </a:rPr>
              <a:t>𝐴</a:t>
            </a:r>
            <a:r>
              <a:rPr lang="zh-CN" altLang="en-US" spc="90" dirty="0">
                <a:latin typeface="Cambria"/>
                <a:cs typeface="Cambria"/>
              </a:rPr>
              <a:t> → </a:t>
            </a:r>
            <a:r>
              <a:rPr lang="zh-CN" altLang="en-US" spc="95" dirty="0">
                <a:latin typeface="Cambria"/>
                <a:cs typeface="Cambria"/>
              </a:rPr>
              <a:t>𝐵 ← </a:t>
            </a:r>
            <a:r>
              <a:rPr lang="zh-CN" altLang="en-US" spc="85" dirty="0">
                <a:latin typeface="Cambria"/>
                <a:cs typeface="Cambria"/>
              </a:rPr>
              <a:t>𝐶</a:t>
            </a:r>
            <a:r>
              <a:rPr lang="zh-CN" altLang="en-US" spc="8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使得交汇变量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zh-CN" altLang="en-US" spc="95" dirty="0">
                <a:latin typeface="Cambria"/>
                <a:cs typeface="Cambria"/>
              </a:rPr>
              <a:t>𝐵</a:t>
            </a:r>
            <a:r>
              <a:rPr lang="zh-CN" altLang="en-US" spc="14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不在</a:t>
            </a:r>
            <a:r>
              <a:rPr lang="zh-CN" altLang="en-US" spc="-16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8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中，且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zh-CN" altLang="en-US" spc="45" dirty="0">
                <a:latin typeface="Cambria"/>
                <a:cs typeface="Cambria"/>
              </a:rPr>
              <a:t>𝐵 </a:t>
            </a:r>
            <a:r>
              <a:rPr lang="zh-CN" altLang="en-US" spc="-10" dirty="0">
                <a:latin typeface="宋体"/>
                <a:cs typeface="宋体"/>
              </a:rPr>
              <a:t>的所有子孙变量也不在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7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中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en-US" altLang="zh-CN" spc="-50" dirty="0">
              <a:latin typeface="宋体"/>
              <a:cs typeface="宋体"/>
            </a:endParaRPr>
          </a:p>
          <a:p>
            <a:pPr marL="524510" lvl="1">
              <a:lnSpc>
                <a:spcPct val="120000"/>
              </a:lnSpc>
              <a:spcBef>
                <a:spcPts val="290"/>
              </a:spcBef>
            </a:pPr>
            <a:r>
              <a:rPr lang="zh-CN" altLang="en-US" spc="-10" dirty="0">
                <a:latin typeface="宋体"/>
                <a:cs typeface="宋体"/>
              </a:rPr>
              <a:t>如果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5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阻断了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55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和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之间的所有路径，则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55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和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7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为</a:t>
            </a:r>
            <a:r>
              <a:rPr lang="zh-CN" altLang="en-US" spc="-50" dirty="0">
                <a:latin typeface="宋体"/>
                <a:cs typeface="宋体"/>
              </a:rPr>
              <a:t>条</a:t>
            </a:r>
            <a:r>
              <a:rPr lang="zh-CN" altLang="en-US" spc="-10" dirty="0">
                <a:latin typeface="宋体"/>
                <a:cs typeface="宋体"/>
              </a:rPr>
              <a:t>件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-35" dirty="0">
                <a:latin typeface="Cambria"/>
                <a:cs typeface="Cambria"/>
              </a:rPr>
              <a:t>𝑑</a:t>
            </a:r>
            <a:r>
              <a:rPr lang="en-US" altLang="zh-CN" spc="-35" dirty="0">
                <a:latin typeface="Palatino Linotype"/>
                <a:cs typeface="Palatino Linotype"/>
              </a:rPr>
              <a:t>-</a:t>
            </a:r>
            <a:r>
              <a:rPr lang="zh-CN" altLang="en-US" spc="-10" dirty="0">
                <a:latin typeface="宋体"/>
                <a:cs typeface="宋体"/>
              </a:rPr>
              <a:t>分离的，并且以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80" dirty="0">
                <a:latin typeface="Cambria"/>
                <a:cs typeface="Cambria"/>
              </a:rPr>
              <a:t>𝑍</a:t>
            </a:r>
            <a:r>
              <a:rPr lang="zh-CN" altLang="en-US" spc="17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为条件两者独立，即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-135" dirty="0">
                <a:latin typeface="Cambria"/>
                <a:cs typeface="Cambria"/>
              </a:rPr>
              <a:t> ⟂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pc="55" dirty="0">
                <a:latin typeface="Cambria"/>
                <a:cs typeface="Cambria"/>
              </a:rPr>
              <a:t>|</a:t>
            </a:r>
            <a:r>
              <a:rPr lang="zh-CN" altLang="en-US" spc="55" dirty="0">
                <a:latin typeface="Cambria"/>
                <a:cs typeface="Cambria"/>
              </a:rPr>
              <a:t>𝑍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437E13-293E-FEAD-7710-C1541FB24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41F735-0D58-24B2-7BE0-D825E60AA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285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559E4-D5F3-0654-7D2B-58A8F3AB6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</a:t>
            </a:r>
            <a:r>
              <a:rPr lang="zh-CN" altLang="en-US" spc="-10" dirty="0"/>
              <a:t>：</a:t>
            </a:r>
            <a:r>
              <a:rPr lang="zh-CN" altLang="en-US" spc="-10" dirty="0">
                <a:latin typeface="Cambria"/>
                <a:cs typeface="Cambria"/>
              </a:rPr>
              <a:t>𝑑</a:t>
            </a:r>
            <a:r>
              <a:rPr lang="en-US" altLang="zh-CN" spc="-10" dirty="0">
                <a:latin typeface="Palatino Linotype"/>
                <a:cs typeface="Palatino Linotype"/>
              </a:rPr>
              <a:t>-</a:t>
            </a:r>
            <a:r>
              <a:rPr lang="zh-CN" altLang="en-US" dirty="0"/>
              <a:t>分</a:t>
            </a:r>
            <a:r>
              <a:rPr lang="zh-CN" altLang="en-US" spc="-50" dirty="0"/>
              <a:t>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3EC2F5-FB01-E18D-BFBC-CEA975A79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找出能够阻断 </a:t>
            </a:r>
            <a:r>
              <a:rPr lang="en-US" altLang="zh-CN" dirty="0"/>
              <a:t>Z (</a:t>
            </a:r>
            <a:r>
              <a:rPr lang="zh-CN" altLang="en-US" dirty="0"/>
              <a:t>或 </a:t>
            </a:r>
            <a:r>
              <a:rPr lang="en-US" altLang="zh-CN" dirty="0"/>
              <a:t>D)</a:t>
            </a:r>
            <a:r>
              <a:rPr lang="zh-CN" altLang="en-US" dirty="0"/>
              <a:t> 和 </a:t>
            </a:r>
            <a:r>
              <a:rPr lang="en-US" altLang="zh-CN" dirty="0"/>
              <a:t>Y </a:t>
            </a:r>
            <a:r>
              <a:rPr lang="zh-CN" altLang="en-US" dirty="0"/>
              <a:t>之间路径的变量</a:t>
            </a:r>
            <a:endParaRPr lang="en-US" altLang="zh-CN" dirty="0"/>
          </a:p>
          <a:p>
            <a:r>
              <a:rPr lang="zh-CN" altLang="en-US" dirty="0"/>
              <a:t>是否能够阻断所有的后门路径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3329FD-0BFC-DB5A-6330-E0D1C900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7A54A2-3E81-4B74-276B-4B08D7FE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C6B7A40F-44B1-6F15-45C3-1AB78BB826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5596" y="3063930"/>
            <a:ext cx="2261372" cy="2157775"/>
          </a:xfrm>
          <a:prstGeom prst="rect">
            <a:avLst/>
          </a:prstGeom>
        </p:spPr>
      </p:pic>
      <p:pic>
        <p:nvPicPr>
          <p:cNvPr id="9" name="object 7">
            <a:extLst>
              <a:ext uri="{FF2B5EF4-FFF2-40B4-BE49-F238E27FC236}">
                <a16:creationId xmlns:a16="http://schemas.microsoft.com/office/drawing/2014/main" id="{F71FD003-E51B-77CF-B24A-25594A6960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3914" y="2990597"/>
            <a:ext cx="4428753" cy="309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49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85733-2365-655C-134F-EEDA92CD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图和结构因果模型：后门规</a:t>
            </a:r>
            <a:r>
              <a:rPr lang="zh-CN" altLang="en-US" spc="-50" dirty="0"/>
              <a:t>则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C08DFB-5502-FCD8-2DC9-7B6ABE2FBE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210185" marR="202565" algn="just">
                  <a:lnSpc>
                    <a:spcPct val="110000"/>
                  </a:lnSpc>
                  <a:spcBef>
                    <a:spcPts val="95"/>
                  </a:spcBef>
                </a:pPr>
                <a:r>
                  <a:rPr lang="zh-CN" altLang="en-US" spc="-10" dirty="0">
                    <a:latin typeface="黑体"/>
                    <a:cs typeface="黑体"/>
                  </a:rPr>
                  <a:t>后门标准</a:t>
                </a:r>
                <a:r>
                  <a:rPr lang="zh-CN" altLang="en-US" spc="-145" dirty="0">
                    <a:latin typeface="黑体"/>
                    <a:cs typeface="黑体"/>
                  </a:rPr>
                  <a:t> </a:t>
                </a:r>
                <a:r>
                  <a:rPr lang="en-US" altLang="zh-CN" b="1" spc="65" dirty="0">
                    <a:latin typeface="Palatino Linotype"/>
                    <a:cs typeface="Palatino Linotype"/>
                  </a:rPr>
                  <a:t>(The</a:t>
                </a:r>
                <a:r>
                  <a:rPr lang="zh-CN" altLang="en-US" b="1" spc="10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45" dirty="0">
                    <a:latin typeface="Palatino Linotype"/>
                    <a:cs typeface="Palatino Linotype"/>
                  </a:rPr>
                  <a:t>Backdoor</a:t>
                </a:r>
                <a:r>
                  <a:rPr lang="zh-CN" altLang="en-US" b="1" spc="10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30" dirty="0">
                    <a:latin typeface="Palatino Linotype"/>
                    <a:cs typeface="Palatino Linotype"/>
                  </a:rPr>
                  <a:t>Criterion)</a:t>
                </a:r>
                <a:r>
                  <a:rPr lang="zh-CN" altLang="en-US" spc="30" dirty="0">
                    <a:latin typeface="宋体"/>
                    <a:cs typeface="宋体"/>
                  </a:rPr>
                  <a:t>：</a:t>
                </a:r>
                <a:r>
                  <a:rPr lang="zh-CN" altLang="en-US" spc="-10" dirty="0">
                    <a:latin typeface="宋体"/>
                    <a:cs typeface="宋体"/>
                  </a:rPr>
                  <a:t>给定一个有向无环图</a:t>
                </a:r>
                <a:r>
                  <a:rPr lang="zh-CN" altLang="en-US" spc="-195" dirty="0">
                    <a:latin typeface="宋体"/>
                    <a:cs typeface="宋体"/>
                  </a:rPr>
                  <a:t> </a:t>
                </a:r>
                <a:r>
                  <a:rPr lang="en-US" altLang="zh-CN" spc="25" dirty="0">
                    <a:latin typeface="Palatino Linotype"/>
                    <a:cs typeface="Palatino Linotype"/>
                  </a:rPr>
                  <a:t>(DAG) </a:t>
                </a:r>
                <a:r>
                  <a:rPr lang="zh-CN" altLang="en-US" spc="25" dirty="0">
                    <a:latin typeface="Cambria"/>
                    <a:cs typeface="Cambria"/>
                  </a:rPr>
                  <a:t>𝐺</a:t>
                </a:r>
                <a:r>
                  <a:rPr lang="zh-CN" altLang="en-US" spc="-10" dirty="0">
                    <a:latin typeface="宋体"/>
                    <a:cs typeface="宋体"/>
                  </a:rPr>
                  <a:t>中的两上变量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(</a:t>
                </a:r>
                <a:r>
                  <a:rPr lang="zh-CN" altLang="en-US" spc="100" dirty="0">
                    <a:latin typeface="Cambria"/>
                    <a:cs typeface="Cambria"/>
                  </a:rPr>
                  <a:t>𝑋</a:t>
                </a:r>
                <a:r>
                  <a:rPr lang="en-US" altLang="zh-CN" spc="20" dirty="0">
                    <a:latin typeface="Cambria"/>
                    <a:cs typeface="Cambria"/>
                  </a:rPr>
                  <a:t>, </a:t>
                </a:r>
                <a:r>
                  <a:rPr lang="zh-CN" altLang="en-US" spc="-25" dirty="0">
                    <a:latin typeface="Cambria"/>
                    <a:cs typeface="Cambria"/>
                  </a:rPr>
                  <a:t>𝑌</a:t>
                </a:r>
                <a:r>
                  <a:rPr lang="zh-CN" altLang="en-US" spc="-10" dirty="0">
                    <a:latin typeface="Cambria"/>
                    <a:cs typeface="Cambria"/>
                  </a:rPr>
                  <a:t> </a:t>
                </a:r>
                <a:r>
                  <a:rPr lang="en-US" altLang="zh-CN" spc="-10" dirty="0">
                    <a:latin typeface="Cambria"/>
                    <a:cs typeface="Cambria"/>
                  </a:rPr>
                  <a:t>)</a:t>
                </a:r>
                <a:r>
                  <a:rPr lang="zh-CN" altLang="en-US" spc="-5" dirty="0">
                    <a:latin typeface="宋体"/>
                    <a:cs typeface="宋体"/>
                  </a:rPr>
                  <a:t>，</a:t>
                </a:r>
                <a:r>
                  <a:rPr lang="zh-CN" altLang="en-US" spc="-10" dirty="0">
                    <a:latin typeface="宋体"/>
                    <a:cs typeface="宋体"/>
                  </a:rPr>
                  <a:t>一个集合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8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满足相对于</a:t>
                </a:r>
                <a:r>
                  <a:rPr lang="zh-CN" altLang="en-US" spc="-160" dirty="0">
                    <a:latin typeface="宋体"/>
                    <a:cs typeface="宋体"/>
                  </a:rPr>
                  <a:t> </a:t>
                </a:r>
                <a:r>
                  <a:rPr lang="en-US" altLang="zh-CN" spc="100" dirty="0">
                    <a:latin typeface="Cambria"/>
                    <a:cs typeface="Cambria"/>
                  </a:rPr>
                  <a:t>(</a:t>
                </a:r>
                <a:r>
                  <a:rPr lang="zh-CN" altLang="en-US" spc="100" dirty="0">
                    <a:latin typeface="Cambria"/>
                    <a:cs typeface="Cambria"/>
                  </a:rPr>
                  <a:t>𝑋</a:t>
                </a:r>
                <a:r>
                  <a:rPr lang="en-US" altLang="zh-CN" spc="20" dirty="0">
                    <a:latin typeface="Cambria"/>
                    <a:cs typeface="Cambria"/>
                  </a:rPr>
                  <a:t>, </a:t>
                </a:r>
                <a:r>
                  <a:rPr lang="zh-CN" altLang="en-US" spc="-25" dirty="0">
                    <a:latin typeface="Cambria"/>
                    <a:cs typeface="Cambria"/>
                  </a:rPr>
                  <a:t>𝑌</a:t>
                </a:r>
                <a:r>
                  <a:rPr lang="zh-CN" altLang="en-US" spc="30" dirty="0">
                    <a:latin typeface="Cambria"/>
                    <a:cs typeface="Cambria"/>
                  </a:rPr>
                  <a:t> </a:t>
                </a:r>
                <a:r>
                  <a:rPr lang="en-US" altLang="zh-CN" spc="30" dirty="0">
                    <a:latin typeface="Cambria"/>
                    <a:cs typeface="Cambria"/>
                  </a:rPr>
                  <a:t>) </a:t>
                </a:r>
                <a:r>
                  <a:rPr lang="zh-CN" altLang="en-US" spc="-10" dirty="0">
                    <a:latin typeface="宋体"/>
                    <a:cs typeface="宋体"/>
                  </a:rPr>
                  <a:t>的后门规则，如果</a:t>
                </a:r>
                <a:r>
                  <a:rPr lang="zh-CN" altLang="en-US" spc="-125" dirty="0">
                    <a:latin typeface="宋体"/>
                    <a:cs typeface="宋体"/>
                  </a:rPr>
                  <a:t>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dirty="0">
                    <a:latin typeface="Cambria"/>
                    <a:cs typeface="Cambria"/>
                  </a:rPr>
                  <a:t>  </a:t>
                </a:r>
                <a:r>
                  <a:rPr lang="zh-CN" altLang="en-US" dirty="0">
                    <a:latin typeface="宋体"/>
                    <a:cs typeface="宋体"/>
                  </a:rPr>
                  <a:t>中没</a:t>
                </a:r>
                <a:r>
                  <a:rPr lang="zh-CN" altLang="en-US" spc="-70" dirty="0">
                    <a:latin typeface="宋体"/>
                    <a:cs typeface="宋体"/>
                  </a:rPr>
                  <a:t>有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204" dirty="0">
                    <a:latin typeface="Cambria"/>
                    <a:cs typeface="Cambria"/>
                  </a:rPr>
                  <a:t> </a:t>
                </a:r>
                <a:r>
                  <a:rPr lang="zh-CN" altLang="en-US" dirty="0">
                    <a:latin typeface="宋体"/>
                    <a:cs typeface="宋体"/>
                  </a:rPr>
                  <a:t>的子孙变</a:t>
                </a:r>
                <a:r>
                  <a:rPr lang="zh-CN" altLang="en-US" spc="-40" dirty="0">
                    <a:latin typeface="宋体"/>
                    <a:cs typeface="宋体"/>
                  </a:rPr>
                  <a:t>量，且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dirty="0">
                    <a:latin typeface="Cambria"/>
                    <a:cs typeface="Cambria"/>
                  </a:rPr>
                  <a:t>  </a:t>
                </a:r>
                <a:r>
                  <a:rPr lang="zh-CN" altLang="en-US" dirty="0">
                    <a:latin typeface="宋体"/>
                    <a:cs typeface="宋体"/>
                  </a:rPr>
                  <a:t>阻断了所有连</a:t>
                </a:r>
                <a:r>
                  <a:rPr lang="zh-CN" altLang="en-US" spc="-70" dirty="0">
                    <a:latin typeface="宋体"/>
                    <a:cs typeface="宋体"/>
                  </a:rPr>
                  <a:t>续 </a:t>
                </a:r>
                <a:r>
                  <a:rPr lang="zh-CN" altLang="en-US" spc="220" dirty="0">
                    <a:latin typeface="Cambria"/>
                    <a:cs typeface="Cambria"/>
                  </a:rPr>
                  <a:t>𝑋</a:t>
                </a:r>
                <a:r>
                  <a:rPr lang="zh-CN" altLang="en-US" spc="-15" dirty="0">
                    <a:latin typeface="宋体"/>
                    <a:cs typeface="宋体"/>
                  </a:rPr>
                  <a:t>、</a:t>
                </a:r>
                <a:r>
                  <a:rPr lang="zh-CN" altLang="en-US" spc="-25" dirty="0">
                    <a:latin typeface="Cambria"/>
                    <a:cs typeface="Cambria"/>
                  </a:rPr>
                  <a:t>𝑌</a:t>
                </a:r>
                <a:r>
                  <a:rPr lang="zh-CN" altLang="en-US" spc="365" dirty="0">
                    <a:latin typeface="Cambria"/>
                    <a:cs typeface="Cambria"/>
                  </a:rPr>
                  <a:t> </a:t>
                </a:r>
                <a:r>
                  <a:rPr lang="zh-CN" altLang="en-US" dirty="0">
                    <a:latin typeface="宋体"/>
                    <a:cs typeface="宋体"/>
                  </a:rPr>
                  <a:t>的后门路</a:t>
                </a:r>
                <a:r>
                  <a:rPr lang="zh-CN" altLang="en-US" spc="-10" dirty="0">
                    <a:latin typeface="宋体"/>
                    <a:cs typeface="宋体"/>
                  </a:rPr>
                  <a:t>径（即有指向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16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的箭头</a:t>
                </a:r>
                <a:r>
                  <a:rPr lang="zh-CN" altLang="en-US" spc="-509" dirty="0">
                    <a:latin typeface="宋体"/>
                    <a:cs typeface="宋体"/>
                  </a:rPr>
                  <a:t>）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如果变量集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5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满足相对于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155" dirty="0">
                    <a:latin typeface="Cambria"/>
                    <a:cs typeface="Cambria"/>
                  </a:rPr>
                  <a:t> </a:t>
                </a:r>
                <a:r>
                  <a:rPr lang="zh-CN" altLang="en-US" spc="-90" dirty="0">
                    <a:latin typeface="宋体"/>
                    <a:cs typeface="宋体"/>
                  </a:rPr>
                  <a:t>和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30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的后门标准，则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155" dirty="0">
                    <a:latin typeface="Cambria"/>
                    <a:cs typeface="Cambria"/>
                  </a:rPr>
                  <a:t> </a:t>
                </a:r>
                <a:r>
                  <a:rPr lang="zh-CN" altLang="en-US" spc="-90" dirty="0">
                    <a:latin typeface="宋体"/>
                    <a:cs typeface="宋体"/>
                  </a:rPr>
                  <a:t>对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305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的因果效应可以</a:t>
                </a:r>
                <a:r>
                  <a:rPr lang="zh-CN" altLang="en-US" spc="-50" dirty="0">
                    <a:latin typeface="宋体"/>
                    <a:cs typeface="宋体"/>
                  </a:rPr>
                  <a:t>由</a:t>
                </a:r>
                <a:r>
                  <a:rPr lang="zh-CN" altLang="en-US" spc="-10" dirty="0">
                    <a:latin typeface="宋体"/>
                    <a:cs typeface="宋体"/>
                  </a:rPr>
                  <a:t>下列公式给</a:t>
                </a:r>
                <a:r>
                  <a:rPr lang="zh-CN" altLang="en-US" spc="-50" dirty="0">
                    <a:latin typeface="宋体"/>
                    <a:cs typeface="宋体"/>
                  </a:rPr>
                  <a:t>出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𝑑𝑜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C08DFB-5502-FCD8-2DC9-7B6ABE2FBE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980" r="-2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BD05A5-110F-730A-B207-4F03C421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D36FDC-75C7-EE51-6B73-AA55599D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3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DBE86-420D-418D-3DFA-04B68C423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图和结构因果模型：后门规</a:t>
            </a:r>
            <a:r>
              <a:rPr lang="zh-CN" altLang="en-US" spc="-50" dirty="0"/>
              <a:t>则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A20041-CD81-BFF7-B522-B64A4CD47A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pc="-10" dirty="0">
                    <a:latin typeface="宋体"/>
                    <a:cs typeface="宋体"/>
                  </a:rPr>
                  <a:t>当共同原因不可观测时，有时我们可以利用同一路径上的其他变量作为</a:t>
                </a:r>
                <a:r>
                  <a:rPr lang="zh-CN" altLang="en-US" spc="-50" dirty="0">
                    <a:latin typeface="宋体"/>
                    <a:cs typeface="宋体"/>
                  </a:rPr>
                  <a:t>条</a:t>
                </a:r>
                <a:r>
                  <a:rPr lang="zh-CN" altLang="en-US" spc="-10" dirty="0">
                    <a:latin typeface="宋体"/>
                    <a:cs typeface="宋体"/>
                  </a:rPr>
                  <a:t>件进行调整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endParaRPr lang="en-US" altLang="zh-CN" spc="-50" dirty="0">
                  <a:latin typeface="宋体"/>
                  <a:cs typeface="宋体"/>
                </a:endParaRPr>
              </a:p>
              <a:p>
                <a:endParaRPr lang="en-US" altLang="zh-CN" spc="-50" dirty="0">
                  <a:latin typeface="宋体"/>
                  <a:cs typeface="宋体"/>
                </a:endParaRPr>
              </a:p>
              <a:p>
                <a:endParaRPr lang="en-US" altLang="zh-CN" spc="-50" dirty="0">
                  <a:latin typeface="宋体"/>
                  <a:cs typeface="宋体"/>
                </a:endParaRPr>
              </a:p>
              <a:p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16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不可观测</a:t>
                </a:r>
                <a:r>
                  <a:rPr lang="zh-CN" altLang="en-US" dirty="0">
                    <a:latin typeface="宋体"/>
                    <a:cs typeface="宋体"/>
                  </a:rPr>
                  <a:t>，</a:t>
                </a:r>
                <a:r>
                  <a:rPr lang="zh-CN" altLang="en-US" dirty="0">
                    <a:latin typeface="Cambria"/>
                    <a:cs typeface="Cambria"/>
                  </a:rPr>
                  <a:t>𝑊</a:t>
                </a:r>
                <a:r>
                  <a:rPr lang="zh-CN" altLang="en-US" spc="229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可观测</a:t>
                </a:r>
                <a:r>
                  <a:rPr lang="zh-CN" altLang="en-US" dirty="0">
                    <a:latin typeface="宋体"/>
                    <a:cs typeface="宋体"/>
                  </a:rPr>
                  <a:t>，</a:t>
                </a:r>
                <a:r>
                  <a:rPr lang="zh-CN" altLang="en-US" dirty="0">
                    <a:latin typeface="Cambria"/>
                    <a:cs typeface="Cambria"/>
                  </a:rPr>
                  <a:t>𝑊</a:t>
                </a:r>
                <a:r>
                  <a:rPr lang="zh-CN" altLang="en-US" spc="229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可以阻断后门路径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spc="170" dirty="0">
                    <a:latin typeface="Cambria"/>
                    <a:cs typeface="Cambria"/>
                  </a:rPr>
                  <a:t>𝑋</a:t>
                </a:r>
                <a:r>
                  <a:rPr lang="zh-CN" altLang="en-US" spc="95" dirty="0">
                    <a:latin typeface="Cambria"/>
                    <a:cs typeface="Cambria"/>
                  </a:rPr>
                  <a:t> ← </a:t>
                </a:r>
                <a:r>
                  <a:rPr lang="zh-CN" altLang="en-US" spc="80" dirty="0">
                    <a:latin typeface="Cambria"/>
                    <a:cs typeface="Cambria"/>
                  </a:rPr>
                  <a:t>𝑍</a:t>
                </a:r>
                <a:r>
                  <a:rPr lang="zh-CN" altLang="en-US" spc="90" dirty="0">
                    <a:latin typeface="Cambria"/>
                    <a:cs typeface="Cambria"/>
                  </a:rPr>
                  <a:t> → </a:t>
                </a:r>
                <a:r>
                  <a:rPr lang="zh-CN" altLang="en-US" dirty="0">
                    <a:latin typeface="Cambria"/>
                    <a:cs typeface="Cambria"/>
                  </a:rPr>
                  <a:t>𝑊</a:t>
                </a:r>
                <a:r>
                  <a:rPr lang="zh-CN" altLang="en-US" spc="114" dirty="0">
                    <a:latin typeface="Cambria"/>
                    <a:cs typeface="Cambria"/>
                  </a:rPr>
                  <a:t> →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2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，从</a:t>
                </a:r>
                <a:r>
                  <a:rPr lang="zh-CN" altLang="en-US" spc="-50" dirty="0">
                    <a:latin typeface="宋体"/>
                    <a:cs typeface="宋体"/>
                  </a:rPr>
                  <a:t>而有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cs typeface="宋体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宋体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宋体"/>
                      </a:rPr>
                      <m:t>𝑌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宋体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宋体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宋体"/>
                      </a:rPr>
                      <m:t>|</m:t>
                    </m:r>
                    <m:r>
                      <a:rPr lang="zh-CN" altLang="en-US" i="1">
                        <a:latin typeface="Cambria Math" panose="02040503050406030204" pitchFamily="18" charset="0"/>
                        <a:cs typeface="宋体"/>
                      </a:rPr>
                      <m:t>𝑑𝑜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  <a:cs typeface="宋体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宋体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宋体"/>
                          </a:rPr>
                          <m:t>=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cs typeface="宋体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宋体"/>
                      </a:rPr>
                      <m:t>)</m:t>
                    </m:r>
                  </m:oMath>
                </a14:m>
                <a:endParaRPr lang="zh-CN" altLang="en-US" dirty="0">
                  <a:latin typeface="宋体"/>
                  <a:cs typeface="宋体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A20041-CD81-BFF7-B522-B64A4CD47A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C0F154-50AB-392C-F15B-EE635ED1A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C31DD7-B7B0-6286-AD56-EB202E0F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3A25176C-5A36-3C45-943C-C77F3CA0D2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5438" y="2667240"/>
            <a:ext cx="2104710" cy="152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567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60E14-9927-973D-74F2-CEC4FD4E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图和结构因果模型：后门规</a:t>
            </a:r>
            <a:r>
              <a:rPr lang="zh-CN" altLang="en-US" spc="-50" dirty="0"/>
              <a:t>则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FA3B79-E977-E7A8-0941-EEFC477F57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4916" y="1825625"/>
                <a:ext cx="5880434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没有后门，因</a:t>
                </a:r>
                <a:r>
                  <a:rPr lang="zh-CN" altLang="en-US" spc="-50" dirty="0">
                    <a:latin typeface="宋体"/>
                    <a:cs typeface="宋体"/>
                  </a:rPr>
                  <a:t>而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𝑑𝑜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如果以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zh-CN" altLang="en-US" dirty="0">
                    <a:latin typeface="Cambria"/>
                    <a:cs typeface="Cambria"/>
                  </a:rPr>
                  <a:t>𝑊</a:t>
                </a:r>
                <a:r>
                  <a:rPr lang="zh-CN" altLang="en-US" spc="210" dirty="0">
                    <a:latin typeface="Cambria"/>
                    <a:cs typeface="Cambria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为条件了，则仍然可以使用后门规则</a:t>
                </a:r>
                <a:r>
                  <a:rPr lang="zh-CN" altLang="en-US" spc="-50" dirty="0">
                    <a:latin typeface="宋体"/>
                    <a:cs typeface="宋体"/>
                  </a:rPr>
                  <a:t>进</a:t>
                </a:r>
                <a:r>
                  <a:rPr lang="zh-CN" altLang="en-US" spc="-10" dirty="0">
                    <a:latin typeface="宋体"/>
                    <a:cs typeface="宋体"/>
                  </a:rPr>
                  <a:t>行调</a:t>
                </a:r>
                <a:r>
                  <a:rPr lang="zh-CN" altLang="en-US" spc="-50" dirty="0">
                    <a:latin typeface="宋体"/>
                    <a:cs typeface="宋体"/>
                  </a:rPr>
                  <a:t>整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𝑑𝑜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调节效应</a:t>
                </a:r>
                <a:r>
                  <a:rPr lang="zh-CN" altLang="en-US" spc="-170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(effect</a:t>
                </a:r>
                <a:r>
                  <a:rPr lang="en-US" altLang="zh-CN" spc="2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-10" dirty="0">
                    <a:latin typeface="Palatino Linotype"/>
                    <a:cs typeface="Palatino Linotype"/>
                  </a:rPr>
                  <a:t>modification/moderation)</a:t>
                </a:r>
                <a:endParaRPr lang="en-US" altLang="zh-CN" dirty="0">
                  <a:latin typeface="Palatino Linotype"/>
                  <a:cs typeface="Palatino Linotype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FA3B79-E977-E7A8-0941-EEFC477F57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4916" y="1825625"/>
                <a:ext cx="5880434" cy="4351338"/>
              </a:xfrm>
              <a:blipFill>
                <a:blip r:embed="rId2"/>
                <a:stretch>
                  <a:fillRect l="-933" t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DE65ED-6FC6-8A60-E433-F693F15C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459490-C10B-EAC7-6006-2FBC94F0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A39DB0D-800F-A69A-AA7C-077942F140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582" y="2679140"/>
            <a:ext cx="2037859" cy="184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43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7E346-B1F7-8E16-7C2D-FA8B9492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图和结构因果模型：因果效应识</a:t>
            </a:r>
            <a:r>
              <a:rPr lang="zh-CN" altLang="en-US" spc="-25" dirty="0"/>
              <a:t>别</a:t>
            </a:r>
            <a:r>
              <a:rPr lang="en-US" altLang="zh-CN" spc="-25" dirty="0"/>
              <a:t>——</a:t>
            </a:r>
            <a:r>
              <a:rPr lang="zh-CN" altLang="en-US" dirty="0"/>
              <a:t>后门规则总</a:t>
            </a:r>
            <a:r>
              <a:rPr lang="zh-CN" altLang="en-US" spc="-50" dirty="0"/>
              <a:t>结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EAB235-52A3-9EB2-444C-BF056AF11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两个变量相关的情况包括</a:t>
                </a:r>
                <a:r>
                  <a:rPr lang="zh-CN" altLang="en-US" dirty="0">
                    <a:latin typeface="宋体"/>
                    <a:cs typeface="宋体"/>
                  </a:rPr>
                  <a:t> </a:t>
                </a:r>
                <a:r>
                  <a:rPr lang="en-US" altLang="zh-CN" b="1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b="1" dirty="0">
                    <a:latin typeface="Palatino Linotype"/>
                    <a:cs typeface="Palatino Linotype"/>
                  </a:rPr>
                  <a:t>规则</a:t>
                </a:r>
                <a:r>
                  <a:rPr lang="en-US" altLang="zh-CN" b="1" spc="254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85" dirty="0">
                    <a:latin typeface="Palatino Linotype"/>
                    <a:cs typeface="Palatino Linotype"/>
                  </a:rPr>
                  <a:t>A1-</a:t>
                </a:r>
                <a:r>
                  <a:rPr lang="en-US" altLang="zh-CN" b="1" spc="-25" dirty="0">
                    <a:latin typeface="Palatino Linotype"/>
                    <a:cs typeface="Palatino Linotype"/>
                  </a:rPr>
                  <a:t>3)</a:t>
                </a:r>
                <a:r>
                  <a:rPr lang="zh-CN" altLang="en-US" spc="-25" dirty="0">
                    <a:latin typeface="宋体"/>
                    <a:cs typeface="宋体"/>
                  </a:rPr>
                  <a:t>：</a:t>
                </a:r>
                <a:endParaRPr lang="en-US" altLang="zh-CN" spc="-25" dirty="0">
                  <a:latin typeface="宋体"/>
                  <a:cs typeface="宋体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chains:</a:t>
                </a:r>
                <a:r>
                  <a:rPr lang="en-US" altLang="zh-CN" spc="16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一个变量是另一个变量的原因</a:t>
                </a:r>
                <a:r>
                  <a:rPr lang="zh-CN" altLang="en-US" spc="50" dirty="0">
                    <a:latin typeface="宋体"/>
                    <a:cs typeface="宋体"/>
                  </a:rPr>
                  <a:t>，</a:t>
                </a:r>
                <a:r>
                  <a:rPr lang="zh-CN" altLang="en-US" spc="50" dirty="0">
                    <a:latin typeface="Cambria"/>
                    <a:cs typeface="Cambria"/>
                  </a:rPr>
                  <a:t>𝐷</a:t>
                </a:r>
                <a:r>
                  <a:rPr lang="zh-CN" altLang="en-US" spc="75" dirty="0">
                    <a:latin typeface="Cambria"/>
                    <a:cs typeface="Cambria"/>
                  </a:rPr>
                  <a:t> →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280" dirty="0">
                    <a:latin typeface="Cambria"/>
                    <a:cs typeface="Cambria"/>
                  </a:rPr>
                  <a:t> </a:t>
                </a:r>
                <a:r>
                  <a:rPr lang="zh-CN" altLang="en-US" spc="-80" dirty="0">
                    <a:latin typeface="宋体"/>
                    <a:cs typeface="宋体"/>
                  </a:rPr>
                  <a:t>或 </a:t>
                </a:r>
                <a:r>
                  <a:rPr lang="zh-CN" altLang="en-US" spc="114" dirty="0">
                    <a:latin typeface="Cambria"/>
                    <a:cs typeface="Cambria"/>
                  </a:rPr>
                  <a:t>𝐷</a:t>
                </a:r>
                <a:r>
                  <a:rPr lang="zh-CN" altLang="en-US" spc="75" dirty="0">
                    <a:latin typeface="Cambria"/>
                    <a:cs typeface="Cambria"/>
                  </a:rPr>
                  <a:t> → </a:t>
                </a:r>
                <a:r>
                  <a:rPr lang="zh-CN" altLang="en-US" spc="95" dirty="0">
                    <a:latin typeface="Cambria"/>
                    <a:cs typeface="Cambria"/>
                  </a:rPr>
                  <a:t>𝑀</a:t>
                </a:r>
                <a:r>
                  <a:rPr lang="zh-CN" altLang="en-US" spc="100" dirty="0">
                    <a:latin typeface="Cambria"/>
                    <a:cs typeface="Cambria"/>
                  </a:rPr>
                  <a:t> →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20" dirty="0">
                    <a:latin typeface="Cambria"/>
                    <a:cs typeface="Cambria"/>
                  </a:rPr>
                  <a:t> </a:t>
                </a:r>
                <a:r>
                  <a:rPr lang="zh-CN" altLang="en-US" spc="-50" dirty="0">
                    <a:latin typeface="宋体"/>
                    <a:cs typeface="宋体"/>
                  </a:rPr>
                  <a:t>；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forks:</a:t>
                </a:r>
                <a:r>
                  <a:rPr lang="en-US" altLang="zh-CN" spc="16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它们具有共同的原因</a:t>
                </a:r>
                <a:r>
                  <a:rPr lang="zh-CN" altLang="en-US" spc="50" dirty="0">
                    <a:latin typeface="宋体"/>
                    <a:cs typeface="宋体"/>
                  </a:rPr>
                  <a:t>，</a:t>
                </a:r>
                <a:r>
                  <a:rPr lang="zh-CN" altLang="en-US" spc="50" dirty="0">
                    <a:latin typeface="Cambria"/>
                    <a:cs typeface="Cambria"/>
                  </a:rPr>
                  <a:t>𝐷</a:t>
                </a:r>
                <a:r>
                  <a:rPr lang="zh-CN" altLang="en-US" spc="70" dirty="0">
                    <a:latin typeface="Cambria"/>
                    <a:cs typeface="Cambria"/>
                  </a:rPr>
                  <a:t> ← </a:t>
                </a:r>
                <a:r>
                  <a:rPr lang="zh-CN" altLang="en-US" spc="125" dirty="0">
                    <a:latin typeface="Cambria"/>
                    <a:cs typeface="Cambria"/>
                  </a:rPr>
                  <a:t>𝐿</a:t>
                </a:r>
                <a:r>
                  <a:rPr lang="zh-CN" altLang="en-US" spc="70" dirty="0">
                    <a:latin typeface="Cambria"/>
                    <a:cs typeface="Cambria"/>
                  </a:rPr>
                  <a:t> →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25" dirty="0">
                    <a:latin typeface="Cambria"/>
                    <a:cs typeface="Cambria"/>
                  </a:rPr>
                  <a:t> </a:t>
                </a:r>
                <a:r>
                  <a:rPr lang="zh-CN" altLang="en-US" spc="-50" dirty="0">
                    <a:latin typeface="宋体"/>
                    <a:cs typeface="宋体"/>
                  </a:rPr>
                  <a:t>；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colliders:</a:t>
                </a:r>
                <a:r>
                  <a:rPr lang="en-US" altLang="zh-CN" spc="12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它们具有共同的结果</a:t>
                </a:r>
                <a:r>
                  <a:rPr lang="zh-CN" altLang="en-US" spc="-14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(collider)</a:t>
                </a:r>
                <a:r>
                  <a:rPr lang="en-US" altLang="zh-CN" spc="5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并以结果为条件时，或以共同结</a:t>
                </a:r>
                <a:r>
                  <a:rPr lang="zh-CN" altLang="en-US" spc="-50" dirty="0">
                    <a:latin typeface="宋体"/>
                    <a:cs typeface="宋体"/>
                  </a:rPr>
                  <a:t>果</a:t>
                </a:r>
                <a:r>
                  <a:rPr lang="zh-CN" altLang="en-US" spc="-10" dirty="0">
                    <a:latin typeface="宋体"/>
                    <a:cs typeface="宋体"/>
                  </a:rPr>
                  <a:t>的结果为条件时</a:t>
                </a:r>
                <a:r>
                  <a:rPr lang="zh-CN" altLang="en-US" spc="50" dirty="0">
                    <a:latin typeface="宋体"/>
                    <a:cs typeface="宋体"/>
                  </a:rPr>
                  <a:t>，</a:t>
                </a:r>
                <a:r>
                  <a:rPr lang="zh-CN" altLang="en-US" spc="50" dirty="0">
                    <a:latin typeface="Cambria"/>
                    <a:cs typeface="Cambria"/>
                  </a:rPr>
                  <a:t>𝐷</a:t>
                </a:r>
                <a:r>
                  <a:rPr lang="zh-CN" altLang="en-US" spc="185" dirty="0">
                    <a:latin typeface="Cambria"/>
                    <a:cs typeface="Cambria"/>
                  </a:rPr>
                  <a:t> →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C</a:t>
                </a:r>
                <a:r>
                  <a:rPr lang="zh-CN" altLang="en-US" spc="36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90" dirty="0">
                    <a:latin typeface="Cambria"/>
                    <a:cs typeface="Cambria"/>
                  </a:rPr>
                  <a:t>←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295" dirty="0">
                    <a:latin typeface="Cambria"/>
                    <a:cs typeface="Cambria"/>
                  </a:rPr>
                  <a:t> </a:t>
                </a:r>
                <a:r>
                  <a:rPr lang="zh-CN" altLang="en-US" spc="-80" dirty="0">
                    <a:latin typeface="宋体"/>
                    <a:cs typeface="宋体"/>
                  </a:rPr>
                  <a:t>或 </a:t>
                </a:r>
                <a14:m>
                  <m:oMath xmlns:m="http://schemas.openxmlformats.org/officeDocument/2006/math">
                    <m:r>
                      <a:rPr lang="zh-CN" altLang="en-US" i="1" spc="114" dirty="0" smtClean="0">
                        <a:latin typeface="Cambria Math" panose="02040503050406030204" pitchFamily="18" charset="0"/>
                        <a:cs typeface="Cambria"/>
                      </a:rPr>
                      <m:t>𝐷</m:t>
                    </m:r>
                    <m:r>
                      <a:rPr lang="zh-CN" altLang="en-US" i="1" spc="155" dirty="0" smtClean="0">
                        <a:latin typeface="Cambria Math" panose="02040503050406030204" pitchFamily="18" charset="0"/>
                        <a:cs typeface="Cambria"/>
                      </a:rPr>
                      <m:t> → </m:t>
                    </m:r>
                    <m:f>
                      <m:fPr>
                        <m:type m:val="noBar"/>
                        <m:ctrlPr>
                          <a:rPr lang="zh-CN" altLang="en-US" i="1" spc="100" dirty="0">
                            <a:latin typeface="Cambria Math" panose="02040503050406030204" pitchFamily="18" charset="0"/>
                            <a:cs typeface="Cambria"/>
                          </a:rPr>
                        </m:ctrlPr>
                      </m:fPr>
                      <m:num>
                        <m:r>
                          <a:rPr lang="zh-CN" altLang="en-US" i="1" spc="100" dirty="0">
                            <a:latin typeface="Cambria Math" panose="02040503050406030204" pitchFamily="18" charset="0"/>
                            <a:cs typeface="Cambria"/>
                          </a:rPr>
                          <m:t>𝐶</m:t>
                        </m:r>
                      </m:num>
                      <m:den>
                        <m:eqArr>
                          <m:eqArrPr>
                            <m:ctrlPr>
                              <a:rPr lang="en-US" altLang="zh-CN" b="0" i="1" spc="155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pc="155" dirty="0" smtClean="0">
                                <a:latin typeface="Cambria Math" panose="02040503050406030204" pitchFamily="18" charset="0"/>
                              </a:rPr>
                              <m:t>↓</m:t>
                            </m:r>
                          </m:e>
                          <m:e>
                            <m:r>
                              <a:rPr lang="en-US" altLang="zh-CN" b="0" i="1" spc="155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eqArr>
                      </m:den>
                    </m:f>
                    <m:r>
                      <a:rPr lang="zh-CN" altLang="en-US" i="1" spc="180" dirty="0" smtClean="0">
                        <a:latin typeface="Cambria Math" panose="02040503050406030204" pitchFamily="18" charset="0"/>
                        <a:cs typeface="Cambria"/>
                      </a:rPr>
                      <m:t> ← 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cs typeface="Cambria"/>
                      </a:rPr>
                      <m:t>𝑌</m:t>
                    </m:r>
                    <m:r>
                      <a:rPr lang="zh-CN" altLang="en-US" i="1" spc="-15" dirty="0" smtClean="0">
                        <a:latin typeface="Cambria Math" panose="02040503050406030204" pitchFamily="18" charset="0"/>
                        <a:cs typeface="Cambria"/>
                      </a:rPr>
                      <m:t> </m:t>
                    </m:r>
                  </m:oMath>
                </a14:m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zh-CN" altLang="en-US" dirty="0">
                  <a:latin typeface="宋体"/>
                  <a:cs typeface="宋体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pc="-10" dirty="0">
                    <a:latin typeface="宋体"/>
                    <a:cs typeface="宋体"/>
                  </a:rPr>
                  <a:t>什么时候会阻断相关性使两变量相互独立呢</a:t>
                </a:r>
                <a:r>
                  <a:rPr lang="zh-CN" altLang="en-US" dirty="0">
                    <a:latin typeface="宋体"/>
                    <a:cs typeface="宋体"/>
                  </a:rPr>
                  <a:t>？</a:t>
                </a:r>
                <a:r>
                  <a:rPr lang="en-US" altLang="zh-CN" b="1" dirty="0">
                    <a:latin typeface="Palatino Linotype"/>
                    <a:cs typeface="Palatino Linotype"/>
                  </a:rPr>
                  <a:t>(</a:t>
                </a:r>
                <a:r>
                  <a:rPr lang="zh-CN" altLang="en-US" b="1" dirty="0">
                    <a:latin typeface="Palatino Linotype"/>
                    <a:cs typeface="Palatino Linotype"/>
                  </a:rPr>
                  <a:t>规则</a:t>
                </a:r>
                <a:r>
                  <a:rPr lang="zh-CN" altLang="en-US" b="1" spc="37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b="1" spc="65" dirty="0">
                    <a:latin typeface="Palatino Linotype"/>
                    <a:cs typeface="Palatino Linotype"/>
                  </a:rPr>
                  <a:t>I1-</a:t>
                </a:r>
                <a:r>
                  <a:rPr lang="en-US" altLang="zh-CN" b="1" spc="45" dirty="0">
                    <a:latin typeface="Palatino Linotype"/>
                    <a:cs typeface="Palatino Linotype"/>
                  </a:rPr>
                  <a:t>3)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chains:</a:t>
                </a:r>
                <a:r>
                  <a:rPr lang="en-US" altLang="zh-CN" spc="17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以中介变量</a:t>
                </a:r>
                <a:r>
                  <a:rPr lang="zh-CN" altLang="en-US" spc="-14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(mediator)</a:t>
                </a:r>
                <a:r>
                  <a:rPr lang="en-US" altLang="zh-CN" spc="80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为条件时</a:t>
                </a:r>
                <a:r>
                  <a:rPr lang="zh-CN" altLang="en-US" spc="50" dirty="0">
                    <a:latin typeface="宋体"/>
                    <a:cs typeface="宋体"/>
                  </a:rPr>
                  <a:t>，</a:t>
                </a:r>
                <a:r>
                  <a:rPr lang="zh-CN" altLang="en-US" spc="50" dirty="0">
                    <a:latin typeface="Cambria"/>
                    <a:cs typeface="Cambria"/>
                  </a:rPr>
                  <a:t>𝐷</a:t>
                </a:r>
                <a:r>
                  <a:rPr lang="zh-CN" altLang="en-US" spc="185" dirty="0">
                    <a:latin typeface="Cambria"/>
                    <a:cs typeface="Cambria"/>
                  </a:rPr>
                  <a:t> → </a:t>
                </a:r>
                <a:r>
                  <a:rPr lang="en-US" altLang="zh-CN" spc="95" dirty="0">
                    <a:latin typeface="Palatino Linotype"/>
                    <a:cs typeface="Palatino Linotype"/>
                  </a:rPr>
                  <a:t>B</a:t>
                </a:r>
                <a:r>
                  <a:rPr lang="en-US" altLang="zh-CN" spc="36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90" dirty="0">
                    <a:latin typeface="Cambria"/>
                    <a:cs typeface="Cambria"/>
                  </a:rPr>
                  <a:t>→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en-US" altLang="zh-CN" spc="-15" dirty="0">
                    <a:latin typeface="Cambria"/>
                    <a:cs typeface="Cambria"/>
                  </a:rPr>
                  <a:t> </a:t>
                </a:r>
                <a:r>
                  <a:rPr lang="zh-CN" altLang="en-US" spc="-50" dirty="0">
                    <a:latin typeface="宋体"/>
                    <a:cs typeface="宋体"/>
                  </a:rPr>
                  <a:t>；</a:t>
                </a:r>
                <a:endParaRPr lang="en-US" altLang="zh-CN" spc="-50" dirty="0">
                  <a:latin typeface="宋体"/>
                  <a:cs typeface="宋体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forks:</a:t>
                </a:r>
                <a:r>
                  <a:rPr lang="en-US" altLang="zh-CN" spc="15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以共同原因</a:t>
                </a:r>
                <a:r>
                  <a:rPr lang="zh-CN" altLang="en-US" spc="-14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(common</a:t>
                </a:r>
                <a:r>
                  <a:rPr lang="en-US" altLang="zh-CN" spc="70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cause)</a:t>
                </a:r>
                <a:r>
                  <a:rPr lang="en-US" altLang="zh-CN" spc="6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为条件时</a:t>
                </a:r>
                <a:r>
                  <a:rPr lang="zh-CN" altLang="en-US" spc="50" dirty="0">
                    <a:latin typeface="宋体"/>
                    <a:cs typeface="宋体"/>
                  </a:rPr>
                  <a:t>，</a:t>
                </a:r>
                <a:r>
                  <a:rPr lang="zh-CN" altLang="en-US" spc="50" dirty="0">
                    <a:latin typeface="Cambria"/>
                    <a:cs typeface="Cambria"/>
                  </a:rPr>
                  <a:t>𝐷</a:t>
                </a:r>
                <a:r>
                  <a:rPr lang="zh-CN" altLang="en-US" spc="175" dirty="0">
                    <a:latin typeface="Cambria"/>
                    <a:cs typeface="Cambria"/>
                  </a:rPr>
                  <a:t> ←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L</a:t>
                </a:r>
                <a:r>
                  <a:rPr lang="en-US" altLang="zh-CN" spc="335" dirty="0">
                    <a:latin typeface="Palatino Linotype"/>
                    <a:cs typeface="Palatino Linotype"/>
                  </a:rPr>
                  <a:t> </a:t>
                </a:r>
                <a:r>
                  <a:rPr lang="en-US" altLang="zh-CN" spc="85" dirty="0">
                    <a:latin typeface="Cambria"/>
                    <a:cs typeface="Cambria"/>
                  </a:rPr>
                  <a:t>→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en-US" altLang="zh-CN" spc="-20" dirty="0">
                    <a:latin typeface="Cambria"/>
                    <a:cs typeface="Cambria"/>
                  </a:rPr>
                  <a:t> </a:t>
                </a:r>
                <a:r>
                  <a:rPr lang="zh-CN" altLang="en-US" spc="-50" dirty="0">
                    <a:latin typeface="宋体"/>
                    <a:cs typeface="宋体"/>
                  </a:rPr>
                  <a:t>；</a:t>
                </a:r>
                <a:endParaRPr lang="en-US" altLang="zh-CN" dirty="0">
                  <a:latin typeface="宋体"/>
                  <a:cs typeface="宋体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latin typeface="Palatino Linotype"/>
                    <a:cs typeface="Palatino Linotype"/>
                  </a:rPr>
                  <a:t>colliders:</a:t>
                </a:r>
                <a:r>
                  <a:rPr lang="en-US" altLang="zh-CN" spc="14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有共同结果</a:t>
                </a:r>
                <a:r>
                  <a:rPr lang="zh-CN" altLang="en-US" spc="-145" dirty="0">
                    <a:latin typeface="宋体"/>
                    <a:cs typeface="宋体"/>
                  </a:rPr>
                  <a:t> </a:t>
                </a:r>
                <a:r>
                  <a:rPr lang="en-US" altLang="zh-CN" dirty="0">
                    <a:latin typeface="Palatino Linotype"/>
                    <a:cs typeface="Palatino Linotype"/>
                  </a:rPr>
                  <a:t>(collider)</a:t>
                </a:r>
                <a:r>
                  <a:rPr lang="en-US" altLang="zh-CN" spc="65" dirty="0">
                    <a:latin typeface="Palatino Linotype"/>
                    <a:cs typeface="Palatino Linotype"/>
                  </a:rPr>
                  <a:t> </a:t>
                </a:r>
                <a:r>
                  <a:rPr lang="zh-CN" altLang="en-US" spc="-10" dirty="0">
                    <a:latin typeface="宋体"/>
                    <a:cs typeface="宋体"/>
                  </a:rPr>
                  <a:t>时</a:t>
                </a:r>
                <a:r>
                  <a:rPr lang="zh-CN" altLang="en-US" spc="50" dirty="0">
                    <a:latin typeface="宋体"/>
                    <a:cs typeface="宋体"/>
                  </a:rPr>
                  <a:t>，</a:t>
                </a:r>
                <a:r>
                  <a:rPr lang="zh-CN" altLang="en-US" spc="50" dirty="0">
                    <a:latin typeface="Cambria"/>
                    <a:cs typeface="Cambria"/>
                  </a:rPr>
                  <a:t>𝐷</a:t>
                </a:r>
                <a:r>
                  <a:rPr lang="zh-CN" altLang="en-US" spc="65" dirty="0">
                    <a:latin typeface="Cambria"/>
                    <a:cs typeface="Cambria"/>
                  </a:rPr>
                  <a:t> → </a:t>
                </a:r>
                <a:r>
                  <a:rPr lang="zh-CN" altLang="en-US" spc="125" dirty="0">
                    <a:latin typeface="Cambria"/>
                    <a:cs typeface="Cambria"/>
                  </a:rPr>
                  <a:t>𝐿</a:t>
                </a:r>
                <a:r>
                  <a:rPr lang="zh-CN" altLang="en-US" spc="65" dirty="0">
                    <a:latin typeface="Cambria"/>
                    <a:cs typeface="Cambria"/>
                  </a:rPr>
                  <a:t> ← </a:t>
                </a:r>
                <a:r>
                  <a:rPr lang="zh-CN" altLang="en-US" dirty="0">
                    <a:latin typeface="Cambria"/>
                    <a:cs typeface="Cambria"/>
                  </a:rPr>
                  <a:t>𝑌</a:t>
                </a:r>
                <a:r>
                  <a:rPr lang="zh-CN" altLang="en-US" spc="-20" dirty="0">
                    <a:latin typeface="Cambria"/>
                    <a:cs typeface="Cambria"/>
                  </a:rPr>
                  <a:t> </a:t>
                </a:r>
                <a:r>
                  <a:rPr lang="zh-CN" altLang="en-US" spc="-50" dirty="0">
                    <a:latin typeface="宋体"/>
                    <a:cs typeface="宋体"/>
                  </a:rPr>
                  <a:t>。</a:t>
                </a:r>
                <a:endParaRPr lang="en-US" altLang="zh-CN" dirty="0">
                  <a:latin typeface="宋体"/>
                  <a:cs typeface="宋体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8EAB235-52A3-9EB2-444C-BF056AF11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840" r="-4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D9B651-650B-5523-AED8-37103AA9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3B17D1-74A0-D5BA-19EC-CB869A45F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15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2F6E7-C2F1-C61A-DC32-FD378E3F2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选择偏差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D885C7-4FEE-B8AD-ECBC-8AE880D0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选择偏差的两种类型：</a:t>
            </a:r>
            <a:endParaRPr lang="en-US" altLang="zh-CN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混杂偏差</a:t>
            </a:r>
            <a:r>
              <a:rPr lang="en-US" altLang="zh-CN" dirty="0"/>
              <a:t>(confounding bias)</a:t>
            </a:r>
            <a:r>
              <a:rPr lang="zh-CN" altLang="en-US" dirty="0"/>
              <a:t>：由共同原因造成的选择偏差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解决办法：匹配、回归、分层、逆概率加权</a:t>
            </a:r>
            <a:r>
              <a:rPr lang="en-US" altLang="zh-CN" dirty="0"/>
              <a:t>(Inverse probability weighting)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交汇偏差（样本选择偏差）：因以共同结果为条件造成的偏差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zh-CN" altLang="en-US" dirty="0"/>
              <a:t>样本追踪流失、缺失数据偏差、调查没有回应偏差、健康工人偏差、自选择</a:t>
            </a:r>
            <a:endParaRPr lang="en-US" altLang="zh-CN" dirty="0"/>
          </a:p>
          <a:p>
            <a:pPr lvl="2">
              <a:lnSpc>
                <a:spcPct val="110000"/>
              </a:lnSpc>
            </a:pPr>
            <a:r>
              <a:rPr lang="en-US" altLang="zh-CN" dirty="0"/>
              <a:t>Heckman (1979), Heckman and </a:t>
            </a:r>
            <a:r>
              <a:rPr lang="en-US" altLang="zh-CN" dirty="0" err="1"/>
              <a:t>Vytlacil</a:t>
            </a:r>
            <a:r>
              <a:rPr lang="en-US" altLang="zh-CN" dirty="0"/>
              <a:t> (2005)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样本选择偏差可以定义为以两个变量的共同结果为条件进行的选择，一个变量与干预变量相关，另一个与结果变量相关</a:t>
            </a:r>
            <a:r>
              <a:rPr lang="en-US" altLang="zh-CN" dirty="0"/>
              <a:t>(Hernan et al., 2004)</a:t>
            </a:r>
          </a:p>
          <a:p>
            <a:pPr lvl="2">
              <a:lnSpc>
                <a:spcPct val="110000"/>
              </a:lnSpc>
            </a:pPr>
            <a:r>
              <a:rPr lang="zh-CN" altLang="en-US" dirty="0"/>
              <a:t>解决办法：调整、</a:t>
            </a:r>
            <a:r>
              <a:rPr lang="en-US" altLang="zh-CN" dirty="0"/>
              <a:t>Heckman</a:t>
            </a:r>
            <a:r>
              <a:rPr lang="zh-CN" altLang="en-US" dirty="0"/>
              <a:t>两步法、</a:t>
            </a:r>
            <a:r>
              <a:rPr lang="en-US" altLang="zh-CN" dirty="0"/>
              <a:t>MTE</a:t>
            </a:r>
            <a:r>
              <a:rPr lang="zh-CN" altLang="en-US" dirty="0"/>
              <a:t>框架</a:t>
            </a:r>
            <a:r>
              <a:rPr lang="en-US" altLang="zh-CN" dirty="0"/>
              <a:t>(Roy</a:t>
            </a:r>
            <a:r>
              <a:rPr lang="zh-CN" altLang="en-US" dirty="0"/>
              <a:t>模型）</a:t>
            </a:r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084AFB-3859-6442-E81B-C897D47F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697825-7D06-8FD4-55BC-686262B8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788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DC1B1-E65E-24D1-7725-E6F6876D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因果图：经济学案</a:t>
            </a:r>
            <a:r>
              <a:rPr lang="zh-CN" altLang="en-US" spc="-50" dirty="0"/>
              <a:t>例</a:t>
            </a:r>
            <a:br>
              <a:rPr lang="en-US" altLang="zh-CN" spc="-50" dirty="0"/>
            </a:br>
            <a:r>
              <a:rPr lang="en-US" altLang="zh-CN" sz="2400" dirty="0">
                <a:latin typeface="Palatino Linotype"/>
                <a:cs typeface="Palatino Linotype"/>
              </a:rPr>
              <a:t>1.</a:t>
            </a:r>
            <a:r>
              <a:rPr lang="zh-CN" altLang="en-US" sz="2400" spc="235" dirty="0">
                <a:latin typeface="Palatino Linotype"/>
                <a:cs typeface="Palatino Linotype"/>
              </a:rPr>
              <a:t> </a:t>
            </a:r>
            <a:r>
              <a:rPr lang="zh-CN" altLang="en-US" sz="2400" spc="-10" dirty="0">
                <a:latin typeface="宋体"/>
                <a:cs typeface="宋体"/>
              </a:rPr>
              <a:t>教育收益</a:t>
            </a:r>
            <a:r>
              <a:rPr lang="zh-CN" altLang="en-US" sz="2400" spc="-50" dirty="0">
                <a:latin typeface="宋体"/>
                <a:cs typeface="宋体"/>
              </a:rPr>
              <a:t>率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1DF24-61A3-F6FE-D607-7C3C6B9AC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0" dirty="0">
                <a:latin typeface="宋体"/>
                <a:cs typeface="宋体"/>
              </a:rPr>
              <a:t>劳动经济学中一个经典的问题是关于教育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75" dirty="0">
                <a:latin typeface="Palatino Linotype"/>
                <a:cs typeface="Palatino Linotype"/>
              </a:rPr>
              <a:t>(</a:t>
            </a:r>
            <a:r>
              <a:rPr lang="zh-CN" altLang="en-US" spc="75" dirty="0">
                <a:latin typeface="Cambria"/>
                <a:cs typeface="Cambria"/>
              </a:rPr>
              <a:t>𝐷</a:t>
            </a:r>
            <a:r>
              <a:rPr lang="en-US" altLang="zh-CN" spc="240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对个人收入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10" dirty="0">
                <a:latin typeface="Palatino Linotype"/>
                <a:cs typeface="Palatino Linotype"/>
              </a:rPr>
              <a:t>(</a:t>
            </a:r>
            <a:r>
              <a:rPr lang="zh-CN" altLang="en-US" spc="10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pc="229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的影响，而个人能力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70" dirty="0">
                <a:latin typeface="Palatino Linotype"/>
                <a:cs typeface="Palatino Linotype"/>
              </a:rPr>
              <a:t>(</a:t>
            </a:r>
            <a:r>
              <a:rPr lang="zh-CN" altLang="en-US" spc="70" dirty="0">
                <a:latin typeface="Cambria"/>
                <a:cs typeface="Cambria"/>
              </a:rPr>
              <a:t>𝐴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往往会同时影响教育选择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75" dirty="0">
                <a:latin typeface="Palatino Linotype"/>
                <a:cs typeface="Palatino Linotype"/>
              </a:rPr>
              <a:t>(</a:t>
            </a:r>
            <a:r>
              <a:rPr lang="zh-CN" altLang="en-US" spc="75" dirty="0">
                <a:latin typeface="Cambria"/>
                <a:cs typeface="Cambria"/>
              </a:rPr>
              <a:t>𝐷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和个人收入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10" dirty="0">
                <a:latin typeface="Palatino Linotype"/>
                <a:cs typeface="Palatino Linotype"/>
              </a:rPr>
              <a:t>(</a:t>
            </a:r>
            <a:r>
              <a:rPr lang="zh-CN" altLang="en-US" spc="10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pc="20" dirty="0">
                <a:latin typeface="Palatino Linotype"/>
                <a:cs typeface="Palatino Linotype"/>
              </a:rPr>
              <a:t>)</a:t>
            </a:r>
            <a:r>
              <a:rPr lang="zh-CN" altLang="en-US" spc="20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即个人能力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70" dirty="0">
                <a:latin typeface="Palatino Linotype"/>
                <a:cs typeface="Palatino Linotype"/>
              </a:rPr>
              <a:t>(</a:t>
            </a:r>
            <a:r>
              <a:rPr lang="zh-CN" altLang="en-US" spc="70" dirty="0">
                <a:latin typeface="Cambria"/>
                <a:cs typeface="Cambria"/>
              </a:rPr>
              <a:t>𝐴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是教育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75" dirty="0">
                <a:latin typeface="Palatino Linotype"/>
                <a:cs typeface="Palatino Linotype"/>
              </a:rPr>
              <a:t>(</a:t>
            </a:r>
            <a:r>
              <a:rPr lang="zh-CN" altLang="en-US" spc="75" dirty="0">
                <a:latin typeface="Cambria"/>
                <a:cs typeface="Cambria"/>
              </a:rPr>
              <a:t>𝐷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和个人收入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10" dirty="0">
                <a:latin typeface="Palatino Linotype"/>
                <a:cs typeface="Palatino Linotype"/>
              </a:rPr>
              <a:t>(</a:t>
            </a:r>
            <a:r>
              <a:rPr lang="zh-CN" altLang="en-US" spc="10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pc="6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的混杂因素，用因果图表示如下：</a:t>
            </a:r>
            <a:endParaRPr lang="zh-CN" altLang="en-US" dirty="0">
              <a:latin typeface="宋体"/>
              <a:cs typeface="宋体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F2C605-DFF5-E948-2B6C-042CC5BD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1B9D08-7EA0-6E46-33BD-CD9A160F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29</a:t>
            </a:fld>
            <a:endParaRPr lang="zh-CN" altLang="en-US"/>
          </a:p>
        </p:txBody>
      </p:sp>
      <p:grpSp>
        <p:nvGrpSpPr>
          <p:cNvPr id="6" name="object 9">
            <a:extLst>
              <a:ext uri="{FF2B5EF4-FFF2-40B4-BE49-F238E27FC236}">
                <a16:creationId xmlns:a16="http://schemas.microsoft.com/office/drawing/2014/main" id="{2A797BF1-9B0A-6E5D-31EB-A0E5FDB2B123}"/>
              </a:ext>
            </a:extLst>
          </p:cNvPr>
          <p:cNvGrpSpPr/>
          <p:nvPr/>
        </p:nvGrpSpPr>
        <p:grpSpPr>
          <a:xfrm>
            <a:off x="3077076" y="4427621"/>
            <a:ext cx="2275180" cy="1481549"/>
            <a:chOff x="1683210" y="1684181"/>
            <a:chExt cx="1485900" cy="687705"/>
          </a:xfrm>
        </p:grpSpPr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1B23B9CE-6ABC-8A3C-CEED-6DC4FAC03F0F}"/>
                </a:ext>
              </a:extLst>
            </p:cNvPr>
            <p:cNvSpPr/>
            <p:nvPr/>
          </p:nvSpPr>
          <p:spPr>
            <a:xfrm>
              <a:off x="1685741" y="1834115"/>
              <a:ext cx="469265" cy="469265"/>
            </a:xfrm>
            <a:custGeom>
              <a:avLst/>
              <a:gdLst/>
              <a:ahLst/>
              <a:cxnLst/>
              <a:rect l="l" t="t" r="r" b="b"/>
              <a:pathLst>
                <a:path w="469264" h="469264">
                  <a:moveTo>
                    <a:pt x="0" y="468813"/>
                  </a:moveTo>
                  <a:lnTo>
                    <a:pt x="468791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DD8C6D60-8291-1FEA-6928-2AE01E0440BD}"/>
                </a:ext>
              </a:extLst>
            </p:cNvPr>
            <p:cNvSpPr/>
            <p:nvPr/>
          </p:nvSpPr>
          <p:spPr>
            <a:xfrm>
              <a:off x="2121431" y="1826958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0" y="16998"/>
                  </a:moveTo>
                  <a:lnTo>
                    <a:pt x="11937" y="16858"/>
                  </a:lnTo>
                  <a:lnTo>
                    <a:pt x="19682" y="20577"/>
                  </a:lnTo>
                  <a:lnTo>
                    <a:pt x="23400" y="28321"/>
                  </a:lnTo>
                  <a:lnTo>
                    <a:pt x="23260" y="40259"/>
                  </a:lnTo>
                  <a:lnTo>
                    <a:pt x="26797" y="28307"/>
                  </a:lnTo>
                  <a:lnTo>
                    <a:pt x="30753" y="17781"/>
                  </a:lnTo>
                  <a:lnTo>
                    <a:pt x="35212" y="8429"/>
                  </a:lnTo>
                  <a:lnTo>
                    <a:pt x="40258" y="0"/>
                  </a:lnTo>
                  <a:lnTo>
                    <a:pt x="31829" y="5046"/>
                  </a:lnTo>
                  <a:lnTo>
                    <a:pt x="22477" y="9505"/>
                  </a:lnTo>
                  <a:lnTo>
                    <a:pt x="11951" y="13462"/>
                  </a:lnTo>
                  <a:lnTo>
                    <a:pt x="0" y="169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F714EE28-DE8C-742E-9C0B-B111C5E40434}"/>
                </a:ext>
              </a:extLst>
            </p:cNvPr>
            <p:cNvSpPr/>
            <p:nvPr/>
          </p:nvSpPr>
          <p:spPr>
            <a:xfrm>
              <a:off x="2121431" y="1826958"/>
              <a:ext cx="40640" cy="40640"/>
            </a:xfrm>
            <a:custGeom>
              <a:avLst/>
              <a:gdLst/>
              <a:ahLst/>
              <a:cxnLst/>
              <a:rect l="l" t="t" r="r" b="b"/>
              <a:pathLst>
                <a:path w="40639" h="40639">
                  <a:moveTo>
                    <a:pt x="40258" y="0"/>
                  </a:moveTo>
                  <a:lnTo>
                    <a:pt x="31829" y="5046"/>
                  </a:lnTo>
                  <a:lnTo>
                    <a:pt x="22477" y="9505"/>
                  </a:lnTo>
                  <a:lnTo>
                    <a:pt x="11951" y="13462"/>
                  </a:lnTo>
                  <a:lnTo>
                    <a:pt x="0" y="16998"/>
                  </a:lnTo>
                  <a:lnTo>
                    <a:pt x="11937" y="16858"/>
                  </a:lnTo>
                  <a:lnTo>
                    <a:pt x="19682" y="20577"/>
                  </a:lnTo>
                  <a:lnTo>
                    <a:pt x="23400" y="28321"/>
                  </a:lnTo>
                  <a:lnTo>
                    <a:pt x="23260" y="40259"/>
                  </a:lnTo>
                  <a:lnTo>
                    <a:pt x="26797" y="28307"/>
                  </a:lnTo>
                  <a:lnTo>
                    <a:pt x="30753" y="17781"/>
                  </a:lnTo>
                  <a:lnTo>
                    <a:pt x="35212" y="8429"/>
                  </a:lnTo>
                  <a:lnTo>
                    <a:pt x="4025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3">
              <a:extLst>
                <a:ext uri="{FF2B5EF4-FFF2-40B4-BE49-F238E27FC236}">
                  <a16:creationId xmlns:a16="http://schemas.microsoft.com/office/drawing/2014/main" id="{AFCD8E1F-AD4A-59C8-30C1-5FDAC65E74AD}"/>
                </a:ext>
              </a:extLst>
            </p:cNvPr>
            <p:cNvSpPr/>
            <p:nvPr/>
          </p:nvSpPr>
          <p:spPr>
            <a:xfrm>
              <a:off x="2398515" y="1703159"/>
              <a:ext cx="756920" cy="0"/>
            </a:xfrm>
            <a:custGeom>
              <a:avLst/>
              <a:gdLst/>
              <a:ahLst/>
              <a:cxnLst/>
              <a:rect l="l" t="t" r="r" b="b"/>
              <a:pathLst>
                <a:path w="756919">
                  <a:moveTo>
                    <a:pt x="0" y="0"/>
                  </a:moveTo>
                  <a:lnTo>
                    <a:pt x="756584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55728861-BD9D-75AB-B17B-2432F9FFB71B}"/>
                </a:ext>
              </a:extLst>
            </p:cNvPr>
            <p:cNvSpPr/>
            <p:nvPr/>
          </p:nvSpPr>
          <p:spPr>
            <a:xfrm>
              <a:off x="3124733" y="1686711"/>
              <a:ext cx="40640" cy="33020"/>
            </a:xfrm>
            <a:custGeom>
              <a:avLst/>
              <a:gdLst/>
              <a:ahLst/>
              <a:cxnLst/>
              <a:rect l="l" t="t" r="r" b="b"/>
              <a:pathLst>
                <a:path w="40639" h="33019">
                  <a:moveTo>
                    <a:pt x="0" y="0"/>
                  </a:moveTo>
                  <a:lnTo>
                    <a:pt x="8540" y="8342"/>
                  </a:lnTo>
                  <a:lnTo>
                    <a:pt x="11387" y="16448"/>
                  </a:lnTo>
                  <a:lnTo>
                    <a:pt x="8540" y="24553"/>
                  </a:lnTo>
                  <a:lnTo>
                    <a:pt x="0" y="32896"/>
                  </a:lnTo>
                  <a:lnTo>
                    <a:pt x="10952" y="26945"/>
                  </a:lnTo>
                  <a:lnTo>
                    <a:pt x="21192" y="22299"/>
                  </a:lnTo>
                  <a:lnTo>
                    <a:pt x="30959" y="18840"/>
                  </a:lnTo>
                  <a:lnTo>
                    <a:pt x="40487" y="16448"/>
                  </a:lnTo>
                  <a:lnTo>
                    <a:pt x="30959" y="14055"/>
                  </a:lnTo>
                  <a:lnTo>
                    <a:pt x="21192" y="10596"/>
                  </a:lnTo>
                  <a:lnTo>
                    <a:pt x="10952" y="59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DD724EA0-FC1A-8949-E9C5-B22BD0254085}"/>
                </a:ext>
              </a:extLst>
            </p:cNvPr>
            <p:cNvSpPr/>
            <p:nvPr/>
          </p:nvSpPr>
          <p:spPr>
            <a:xfrm>
              <a:off x="3124733" y="1686711"/>
              <a:ext cx="40640" cy="33020"/>
            </a:xfrm>
            <a:custGeom>
              <a:avLst/>
              <a:gdLst/>
              <a:ahLst/>
              <a:cxnLst/>
              <a:rect l="l" t="t" r="r" b="b"/>
              <a:pathLst>
                <a:path w="40639" h="33019">
                  <a:moveTo>
                    <a:pt x="40487" y="16448"/>
                  </a:moveTo>
                  <a:lnTo>
                    <a:pt x="30959" y="14055"/>
                  </a:lnTo>
                  <a:lnTo>
                    <a:pt x="21192" y="10596"/>
                  </a:lnTo>
                  <a:lnTo>
                    <a:pt x="10952" y="5950"/>
                  </a:lnTo>
                  <a:lnTo>
                    <a:pt x="0" y="0"/>
                  </a:lnTo>
                  <a:lnTo>
                    <a:pt x="8540" y="8342"/>
                  </a:lnTo>
                  <a:lnTo>
                    <a:pt x="11387" y="16448"/>
                  </a:lnTo>
                  <a:lnTo>
                    <a:pt x="8540" y="24553"/>
                  </a:lnTo>
                  <a:lnTo>
                    <a:pt x="0" y="32896"/>
                  </a:lnTo>
                  <a:lnTo>
                    <a:pt x="10952" y="26945"/>
                  </a:lnTo>
                  <a:lnTo>
                    <a:pt x="21192" y="22299"/>
                  </a:lnTo>
                  <a:lnTo>
                    <a:pt x="30959" y="18840"/>
                  </a:lnTo>
                  <a:lnTo>
                    <a:pt x="40487" y="1644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6589116-9DF6-77A2-B9EF-3EA291E9BFD4}"/>
                </a:ext>
              </a:extLst>
            </p:cNvPr>
            <p:cNvSpPr/>
            <p:nvPr/>
          </p:nvSpPr>
          <p:spPr>
            <a:xfrm>
              <a:off x="1685741" y="1759590"/>
              <a:ext cx="1471295" cy="609600"/>
            </a:xfrm>
            <a:custGeom>
              <a:avLst/>
              <a:gdLst/>
              <a:ahLst/>
              <a:cxnLst/>
              <a:rect l="l" t="t" r="r" b="b"/>
              <a:pathLst>
                <a:path w="1471295" h="609600">
                  <a:moveTo>
                    <a:pt x="0" y="609575"/>
                  </a:moveTo>
                  <a:lnTo>
                    <a:pt x="1471286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A9AEB4E9-9466-1256-DB44-DCA9F9B9CEC1}"/>
                </a:ext>
              </a:extLst>
            </p:cNvPr>
            <p:cNvSpPr/>
            <p:nvPr/>
          </p:nvSpPr>
          <p:spPr>
            <a:xfrm>
              <a:off x="3122680" y="1755716"/>
              <a:ext cx="43815" cy="31115"/>
            </a:xfrm>
            <a:custGeom>
              <a:avLst/>
              <a:gdLst/>
              <a:ahLst/>
              <a:cxnLst/>
              <a:rect l="l" t="t" r="r" b="b"/>
              <a:pathLst>
                <a:path w="43814" h="31114">
                  <a:moveTo>
                    <a:pt x="0" y="300"/>
                  </a:moveTo>
                  <a:lnTo>
                    <a:pt x="11082" y="4739"/>
                  </a:lnTo>
                  <a:lnTo>
                    <a:pt x="16814" y="11137"/>
                  </a:lnTo>
                  <a:lnTo>
                    <a:pt x="17286" y="19714"/>
                  </a:lnTo>
                  <a:lnTo>
                    <a:pt x="12589" y="30690"/>
                  </a:lnTo>
                  <a:lnTo>
                    <a:pt x="20430" y="21001"/>
                  </a:lnTo>
                  <a:lnTo>
                    <a:pt x="28112" y="12790"/>
                  </a:lnTo>
                  <a:lnTo>
                    <a:pt x="35810" y="5856"/>
                  </a:lnTo>
                  <a:lnTo>
                    <a:pt x="43698" y="0"/>
                  </a:lnTo>
                  <a:lnTo>
                    <a:pt x="33979" y="1437"/>
                  </a:lnTo>
                  <a:lnTo>
                    <a:pt x="23633" y="1978"/>
                  </a:lnTo>
                  <a:lnTo>
                    <a:pt x="12395" y="1606"/>
                  </a:lnTo>
                  <a:lnTo>
                    <a:pt x="0" y="3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8">
              <a:extLst>
                <a:ext uri="{FF2B5EF4-FFF2-40B4-BE49-F238E27FC236}">
                  <a16:creationId xmlns:a16="http://schemas.microsoft.com/office/drawing/2014/main" id="{DACD320D-F3E6-0D1F-CE8E-44CBE823A3E0}"/>
                </a:ext>
              </a:extLst>
            </p:cNvPr>
            <p:cNvSpPr/>
            <p:nvPr/>
          </p:nvSpPr>
          <p:spPr>
            <a:xfrm>
              <a:off x="3122680" y="1755716"/>
              <a:ext cx="43815" cy="31115"/>
            </a:xfrm>
            <a:custGeom>
              <a:avLst/>
              <a:gdLst/>
              <a:ahLst/>
              <a:cxnLst/>
              <a:rect l="l" t="t" r="r" b="b"/>
              <a:pathLst>
                <a:path w="43814" h="31114">
                  <a:moveTo>
                    <a:pt x="43698" y="0"/>
                  </a:moveTo>
                  <a:lnTo>
                    <a:pt x="33979" y="1437"/>
                  </a:lnTo>
                  <a:lnTo>
                    <a:pt x="23633" y="1978"/>
                  </a:lnTo>
                  <a:lnTo>
                    <a:pt x="12395" y="1606"/>
                  </a:lnTo>
                  <a:lnTo>
                    <a:pt x="0" y="300"/>
                  </a:lnTo>
                  <a:lnTo>
                    <a:pt x="11082" y="4739"/>
                  </a:lnTo>
                  <a:lnTo>
                    <a:pt x="16814" y="11137"/>
                  </a:lnTo>
                  <a:lnTo>
                    <a:pt x="17286" y="19714"/>
                  </a:lnTo>
                  <a:lnTo>
                    <a:pt x="12589" y="30690"/>
                  </a:lnTo>
                  <a:lnTo>
                    <a:pt x="20430" y="21001"/>
                  </a:lnTo>
                  <a:lnTo>
                    <a:pt x="28112" y="12790"/>
                  </a:lnTo>
                  <a:lnTo>
                    <a:pt x="35810" y="5856"/>
                  </a:lnTo>
                  <a:lnTo>
                    <a:pt x="4369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A33F9B9-A3FB-A726-B3A5-6CC98610CB15}"/>
              </a:ext>
            </a:extLst>
          </p:cNvPr>
          <p:cNvSpPr txBox="1"/>
          <p:nvPr/>
        </p:nvSpPr>
        <p:spPr>
          <a:xfrm>
            <a:off x="2607986" y="5756307"/>
            <a:ext cx="49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69014D7-BBCF-7924-106C-352CFBB221A8}"/>
              </a:ext>
            </a:extLst>
          </p:cNvPr>
          <p:cNvSpPr txBox="1"/>
          <p:nvPr/>
        </p:nvSpPr>
        <p:spPr>
          <a:xfrm>
            <a:off x="3748071" y="4328267"/>
            <a:ext cx="49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F85CD3B-B33C-5678-CB41-74E6E619CEC5}"/>
              </a:ext>
            </a:extLst>
          </p:cNvPr>
          <p:cNvSpPr txBox="1"/>
          <p:nvPr/>
        </p:nvSpPr>
        <p:spPr>
          <a:xfrm>
            <a:off x="5383507" y="4319541"/>
            <a:ext cx="495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301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9C908-3640-7643-ECE3-AEF497C9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因果图：经济学案</a:t>
            </a:r>
            <a:r>
              <a:rPr lang="zh-CN" altLang="en-US" spc="-50" dirty="0"/>
              <a:t>例</a:t>
            </a:r>
            <a:br>
              <a:rPr lang="en-US" altLang="zh-CN" spc="-50" dirty="0"/>
            </a:br>
            <a:r>
              <a:rPr lang="en-US" altLang="zh-CN" sz="2400" dirty="0">
                <a:latin typeface="Palatino Linotype"/>
                <a:cs typeface="Palatino Linotype"/>
              </a:rPr>
              <a:t>2.</a:t>
            </a:r>
            <a:r>
              <a:rPr lang="zh-CN" altLang="en-US" sz="2400" spc="245" dirty="0">
                <a:latin typeface="Palatino Linotype"/>
                <a:cs typeface="Palatino Linotype"/>
              </a:rPr>
              <a:t> </a:t>
            </a:r>
            <a:r>
              <a:rPr lang="zh-CN" altLang="en-US" sz="2400" spc="-10" dirty="0">
                <a:latin typeface="宋体"/>
                <a:cs typeface="宋体"/>
              </a:rPr>
              <a:t>班级规模与学习成</a:t>
            </a:r>
            <a:r>
              <a:rPr lang="zh-CN" altLang="en-US" sz="2400" spc="-50" dirty="0">
                <a:latin typeface="宋体"/>
                <a:cs typeface="宋体"/>
              </a:rPr>
              <a:t>绩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827F0-6353-61A7-27B2-AAC6C946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pc="-10" dirty="0"/>
              <a:t>在教育经济学中，很多文献关注班级规模</a:t>
            </a:r>
            <a:r>
              <a:rPr lang="zh-CN" altLang="en-US" spc="-170" dirty="0"/>
              <a:t> </a:t>
            </a:r>
            <a:r>
              <a:rPr lang="en-US" altLang="zh-CN" spc="75" dirty="0">
                <a:latin typeface="Palatino Linotype"/>
                <a:cs typeface="Palatino Linotype"/>
              </a:rPr>
              <a:t>(</a:t>
            </a:r>
            <a:r>
              <a:rPr lang="zh-CN" altLang="en-US" spc="75" dirty="0">
                <a:latin typeface="Cambria"/>
                <a:cs typeface="Cambria"/>
              </a:rPr>
              <a:t>𝐷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/>
              <a:t>对小孩学习效果</a:t>
            </a:r>
            <a:r>
              <a:rPr lang="zh-CN" altLang="en-US" spc="-170" dirty="0"/>
              <a:t> </a:t>
            </a:r>
            <a:r>
              <a:rPr lang="en-US" altLang="zh-CN" spc="10" dirty="0">
                <a:latin typeface="Palatino Linotype"/>
                <a:cs typeface="Palatino Linotype"/>
              </a:rPr>
              <a:t>(</a:t>
            </a:r>
            <a:r>
              <a:rPr lang="zh-CN" altLang="en-US" spc="10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pc="6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/>
              <a:t>的影响。学校班级规模往往是由学校所在地区政府财力</a:t>
            </a:r>
            <a:r>
              <a:rPr lang="zh-CN" altLang="en-US" spc="-170" dirty="0"/>
              <a:t> </a:t>
            </a:r>
            <a:r>
              <a:rPr lang="en-US" altLang="zh-CN" spc="70" dirty="0">
                <a:latin typeface="Palatino Linotype"/>
                <a:cs typeface="Palatino Linotype"/>
              </a:rPr>
              <a:t>(</a:t>
            </a:r>
            <a:r>
              <a:rPr lang="zh-CN" altLang="en-US" spc="70" dirty="0">
                <a:latin typeface="Cambria"/>
                <a:cs typeface="Cambria"/>
              </a:rPr>
              <a:t>𝐴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/>
              <a:t>决定，而移民在社区中所占的比重</a:t>
            </a:r>
            <a:r>
              <a:rPr lang="zh-CN" altLang="en-US" spc="-190" dirty="0"/>
              <a:t> </a:t>
            </a:r>
            <a:r>
              <a:rPr lang="en-US" altLang="zh-CN" spc="60" dirty="0">
                <a:latin typeface="Palatino Linotype"/>
                <a:cs typeface="Palatino Linotype"/>
              </a:rPr>
              <a:t>(</a:t>
            </a:r>
            <a:r>
              <a:rPr lang="zh-CN" altLang="en-US" spc="60" dirty="0">
                <a:latin typeface="Cambria"/>
                <a:cs typeface="Cambria"/>
              </a:rPr>
              <a:t>𝑈</a:t>
            </a:r>
            <a:r>
              <a:rPr lang="en-US" altLang="zh-CN" spc="21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/>
              <a:t>往往决定了地方政府财力水平</a:t>
            </a:r>
            <a:r>
              <a:rPr lang="zh-CN" altLang="en-US" spc="-105" dirty="0"/>
              <a:t>，</a:t>
            </a:r>
            <a:r>
              <a:rPr lang="zh-CN" altLang="en-US" spc="-10" dirty="0"/>
              <a:t>同时语言问题也影响到移民家庭小孩的学习成绩。因果图如下。</a:t>
            </a: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B297BB-4D24-9A76-380D-F2857D69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2073AC-421E-4D30-4990-2F1202DC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46DEBF7-4CFC-C82F-05A6-F5C193775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76" y="4590214"/>
            <a:ext cx="3381847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58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6E828-B22F-273C-67E4-84A1F53A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因果图：经济学案</a:t>
            </a:r>
            <a:r>
              <a:rPr lang="zh-CN" altLang="en-US" spc="-50" dirty="0"/>
              <a:t>例</a:t>
            </a:r>
            <a:br>
              <a:rPr lang="en-US" altLang="zh-CN" spc="-50" dirty="0"/>
            </a:br>
            <a:r>
              <a:rPr lang="en-US" altLang="zh-CN" sz="2700" dirty="0">
                <a:latin typeface="Palatino Linotype"/>
                <a:cs typeface="Palatino Linotype"/>
              </a:rPr>
              <a:t>3.</a:t>
            </a:r>
            <a:r>
              <a:rPr lang="zh-CN" altLang="en-US" sz="2700" spc="240" dirty="0">
                <a:latin typeface="Palatino Linotype"/>
                <a:cs typeface="Palatino Linotype"/>
              </a:rPr>
              <a:t> </a:t>
            </a:r>
            <a:r>
              <a:rPr lang="zh-CN" altLang="en-US" sz="2700" spc="-10" dirty="0">
                <a:latin typeface="宋体"/>
                <a:cs typeface="宋体"/>
              </a:rPr>
              <a:t>幸福的决定因</a:t>
            </a:r>
            <a:r>
              <a:rPr lang="zh-CN" altLang="en-US" sz="2700" spc="-50" dirty="0">
                <a:latin typeface="宋体"/>
                <a:cs typeface="宋体"/>
              </a:rPr>
              <a:t>素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38FB23-1A91-647D-38DB-205EF52F9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283503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幸福的决定因素。幸福经济学对幸福感是由哪些因素决定的非常感兴趣</a:t>
            </a:r>
            <a:r>
              <a:rPr lang="zh-CN" altLang="en-US" spc="-50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下面因果图描述一种可能的决定机制。教育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70" dirty="0">
                <a:latin typeface="Palatino Linotype"/>
                <a:cs typeface="Palatino Linotype"/>
              </a:rPr>
              <a:t>(</a:t>
            </a:r>
            <a:r>
              <a:rPr lang="zh-CN" altLang="en-US" spc="70" dirty="0">
                <a:latin typeface="Cambria"/>
                <a:cs typeface="Cambria"/>
              </a:rPr>
              <a:t>𝐴</a:t>
            </a:r>
            <a:r>
              <a:rPr lang="en-US" altLang="zh-CN" spc="70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会影响个人收入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en-US" altLang="zh-CN" spc="55" dirty="0">
                <a:latin typeface="Palatino Linotype"/>
                <a:cs typeface="Palatino Linotype"/>
              </a:rPr>
              <a:t>(</a:t>
            </a:r>
            <a:r>
              <a:rPr lang="zh-CN" altLang="en-US" spc="55" dirty="0">
                <a:latin typeface="Cambria"/>
                <a:cs typeface="Cambria"/>
              </a:rPr>
              <a:t>𝐷</a:t>
            </a:r>
            <a:r>
              <a:rPr lang="en-US" altLang="zh-CN" spc="55" dirty="0">
                <a:latin typeface="Palatino Linotype"/>
                <a:cs typeface="Palatino Linotype"/>
              </a:rPr>
              <a:t>)</a:t>
            </a:r>
            <a:r>
              <a:rPr lang="zh-CN" altLang="en-US" spc="55" dirty="0">
                <a:latin typeface="宋体"/>
                <a:cs typeface="宋体"/>
              </a:rPr>
              <a:t>，</a:t>
            </a:r>
            <a:r>
              <a:rPr lang="zh-CN" altLang="en-US" spc="-50" dirty="0">
                <a:latin typeface="宋体"/>
                <a:cs typeface="宋体"/>
              </a:rPr>
              <a:t>个</a:t>
            </a:r>
            <a:r>
              <a:rPr lang="zh-CN" altLang="en-US" spc="-10" dirty="0">
                <a:latin typeface="宋体"/>
                <a:cs typeface="宋体"/>
              </a:rPr>
              <a:t>人收入会影响个人幸福</a:t>
            </a:r>
            <a:r>
              <a:rPr lang="zh-CN" altLang="en-US" dirty="0">
                <a:latin typeface="宋体"/>
                <a:cs typeface="宋体"/>
              </a:rPr>
              <a:t>感</a:t>
            </a:r>
            <a:r>
              <a:rPr lang="zh-CN" altLang="en-US" spc="17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-15" dirty="0">
                <a:latin typeface="Cambria"/>
                <a:cs typeface="Cambria"/>
              </a:rPr>
              <a:t> </a:t>
            </a:r>
            <a:r>
              <a:rPr lang="en-US" altLang="zh-CN" spc="50" dirty="0">
                <a:latin typeface="Palatino Linotype"/>
                <a:cs typeface="Palatino Linotype"/>
              </a:rPr>
              <a:t>)</a:t>
            </a:r>
            <a:r>
              <a:rPr lang="zh-CN" altLang="en-US" spc="-10" dirty="0">
                <a:latin typeface="宋体"/>
                <a:cs typeface="宋体"/>
              </a:rPr>
              <a:t>。同时，教育</a:t>
            </a:r>
            <a:r>
              <a:rPr lang="zh-CN" altLang="en-US" spc="-165" dirty="0">
                <a:latin typeface="宋体"/>
                <a:cs typeface="宋体"/>
              </a:rPr>
              <a:t> </a:t>
            </a:r>
            <a:r>
              <a:rPr lang="en-US" altLang="zh-CN" spc="70" dirty="0">
                <a:latin typeface="Palatino Linotype"/>
                <a:cs typeface="Palatino Linotype"/>
              </a:rPr>
              <a:t>(</a:t>
            </a:r>
            <a:r>
              <a:rPr lang="zh-CN" altLang="en-US" spc="70" dirty="0">
                <a:latin typeface="Cambria"/>
                <a:cs typeface="Cambria"/>
              </a:rPr>
              <a:t>𝐴</a:t>
            </a:r>
            <a:r>
              <a:rPr lang="en-US" altLang="zh-CN" spc="75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还会影响个人的宗教</a:t>
            </a:r>
            <a:r>
              <a:rPr lang="zh-CN" altLang="en-US" spc="-50" dirty="0">
                <a:latin typeface="宋体"/>
                <a:cs typeface="宋体"/>
              </a:rPr>
              <a:t>信</a:t>
            </a:r>
            <a:r>
              <a:rPr lang="zh-CN" altLang="en-US" spc="-10" dirty="0">
                <a:latin typeface="宋体"/>
                <a:cs typeface="宋体"/>
              </a:rPr>
              <a:t>仰</a:t>
            </a:r>
            <a:r>
              <a:rPr lang="zh-CN" altLang="en-US" spc="-15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</a:t>
            </a:r>
            <a:r>
              <a:rPr lang="zh-CN" altLang="en-US" dirty="0">
                <a:latin typeface="Cambria"/>
                <a:cs typeface="Cambria"/>
              </a:rPr>
              <a:t>𝑈</a:t>
            </a:r>
            <a:r>
              <a:rPr lang="en-US" altLang="zh-CN" dirty="0">
                <a:latin typeface="Palatino Linotype"/>
                <a:cs typeface="Palatino Linotype"/>
              </a:rPr>
              <a:t>)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个人宗教信仰</a:t>
            </a:r>
            <a:r>
              <a:rPr lang="zh-CN" altLang="en-US" spc="-150" dirty="0">
                <a:latin typeface="宋体"/>
                <a:cs typeface="宋体"/>
              </a:rPr>
              <a:t> </a:t>
            </a:r>
            <a:r>
              <a:rPr lang="en-US" altLang="zh-CN" spc="60" dirty="0">
                <a:latin typeface="Palatino Linotype"/>
                <a:cs typeface="Palatino Linotype"/>
              </a:rPr>
              <a:t>(</a:t>
            </a:r>
            <a:r>
              <a:rPr lang="zh-CN" altLang="en-US" spc="60" dirty="0">
                <a:latin typeface="Cambria"/>
                <a:cs typeface="Cambria"/>
              </a:rPr>
              <a:t>𝑈</a:t>
            </a:r>
            <a:r>
              <a:rPr lang="en-US" altLang="zh-CN" spc="229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又会影响到个人幸福感</a:t>
            </a:r>
            <a:r>
              <a:rPr lang="zh-CN" altLang="en-US" spc="-15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-5" dirty="0">
                <a:latin typeface="Cambria"/>
                <a:cs typeface="Cambria"/>
              </a:rPr>
              <a:t> </a:t>
            </a:r>
            <a:r>
              <a:rPr lang="en-US" altLang="zh-CN" spc="50" dirty="0">
                <a:latin typeface="Palatino Linotype"/>
                <a:cs typeface="Palatino Linotype"/>
              </a:rPr>
              <a:t>)</a:t>
            </a:r>
            <a:r>
              <a:rPr lang="zh-CN" altLang="en-US" spc="-15" dirty="0">
                <a:latin typeface="宋体"/>
                <a:cs typeface="宋体"/>
              </a:rPr>
              <a:t>。</a:t>
            </a:r>
            <a:r>
              <a:rPr lang="zh-CN" altLang="en-US" spc="130" dirty="0">
                <a:latin typeface="Cambria"/>
                <a:cs typeface="Cambria"/>
              </a:rPr>
              <a:t>𝐷 </a:t>
            </a:r>
            <a:r>
              <a:rPr lang="zh-CN" altLang="en-US" spc="-80" dirty="0">
                <a:latin typeface="宋体"/>
                <a:cs typeface="宋体"/>
              </a:rPr>
              <a:t>到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包含</a:t>
            </a:r>
            <a:r>
              <a:rPr lang="zh-CN" altLang="en-US" spc="-50" dirty="0">
                <a:latin typeface="宋体"/>
                <a:cs typeface="宋体"/>
              </a:rPr>
              <a:t>两</a:t>
            </a:r>
            <a:r>
              <a:rPr lang="zh-CN" altLang="en-US" spc="-10" dirty="0">
                <a:latin typeface="宋体"/>
                <a:cs typeface="宋体"/>
              </a:rPr>
              <a:t>条路径：因果路径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30" dirty="0">
                <a:latin typeface="Cambria"/>
                <a:cs typeface="Cambria"/>
              </a:rPr>
              <a:t>𝐷</a:t>
            </a:r>
            <a:r>
              <a:rPr lang="zh-CN" altLang="en-US" spc="75" dirty="0">
                <a:latin typeface="Cambria"/>
                <a:cs typeface="Cambria"/>
              </a:rPr>
              <a:t> →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和后门路径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spc="130" dirty="0">
                <a:latin typeface="Cambria"/>
                <a:cs typeface="Cambria"/>
              </a:rPr>
              <a:t>𝐷</a:t>
            </a:r>
            <a:r>
              <a:rPr lang="zh-CN" altLang="en-US" spc="80" dirty="0">
                <a:latin typeface="Cambria"/>
                <a:cs typeface="Cambria"/>
              </a:rPr>
              <a:t> ← </a:t>
            </a:r>
            <a:r>
              <a:rPr lang="zh-CN" altLang="en-US" spc="105" dirty="0">
                <a:latin typeface="Cambria"/>
                <a:cs typeface="Cambria"/>
              </a:rPr>
              <a:t>𝐴</a:t>
            </a:r>
            <a:r>
              <a:rPr lang="zh-CN" altLang="en-US" spc="80" dirty="0">
                <a:latin typeface="Cambria"/>
                <a:cs typeface="Cambria"/>
              </a:rPr>
              <a:t> → </a:t>
            </a:r>
            <a:r>
              <a:rPr lang="zh-CN" altLang="en-US" dirty="0">
                <a:latin typeface="Cambria"/>
                <a:cs typeface="Cambria"/>
              </a:rPr>
              <a:t>𝑈</a:t>
            </a:r>
            <a:r>
              <a:rPr lang="zh-CN" altLang="en-US" spc="114" dirty="0">
                <a:latin typeface="Cambria"/>
                <a:cs typeface="Cambria"/>
              </a:rPr>
              <a:t> →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-2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。根据后门规</a:t>
            </a:r>
            <a:r>
              <a:rPr lang="zh-CN" altLang="en-US" spc="-50" dirty="0">
                <a:latin typeface="宋体"/>
                <a:cs typeface="宋体"/>
              </a:rPr>
              <a:t>则</a:t>
            </a:r>
            <a:r>
              <a:rPr lang="zh-CN" altLang="en-US" spc="-10" dirty="0">
                <a:latin typeface="宋体"/>
                <a:cs typeface="宋体"/>
              </a:rPr>
              <a:t>第一条或第二条，可以利用变量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dirty="0">
                <a:latin typeface="Cambria"/>
                <a:cs typeface="Cambria"/>
              </a:rPr>
              <a:t>𝑈</a:t>
            </a:r>
            <a:r>
              <a:rPr lang="zh-CN" altLang="en-US" spc="204" dirty="0">
                <a:latin typeface="Cambria"/>
                <a:cs typeface="Cambria"/>
              </a:rPr>
              <a:t> </a:t>
            </a:r>
            <a:r>
              <a:rPr lang="zh-CN" altLang="en-US" spc="75" dirty="0">
                <a:latin typeface="宋体"/>
                <a:cs typeface="宋体"/>
              </a:rPr>
              <a:t>或 </a:t>
            </a:r>
            <a:r>
              <a:rPr lang="zh-CN" altLang="en-US" spc="105" dirty="0">
                <a:latin typeface="Cambria"/>
                <a:cs typeface="Cambria"/>
              </a:rPr>
              <a:t>𝐴</a:t>
            </a:r>
            <a:r>
              <a:rPr lang="zh-CN" altLang="en-US" spc="43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阻断后门路径的相关性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FB7294-9EFB-1B8A-B6E7-AA136241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8BEAF5-F6CD-57CC-A5AC-C10EA7EC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76C4F1-422B-D631-D8CB-99368C06A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55" y="4660664"/>
            <a:ext cx="3324689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67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651C8-12F3-C13D-D054-3085D481B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lang="zh-CN" altLang="en-US" sz="4900" dirty="0"/>
              <a:t>因果图：经济学案</a:t>
            </a:r>
            <a:r>
              <a:rPr lang="zh-CN" altLang="en-US" sz="4900" spc="-50" dirty="0"/>
              <a:t>例</a:t>
            </a:r>
            <a:br>
              <a:rPr lang="zh-CN" altLang="en-US" sz="8000" dirty="0"/>
            </a:br>
            <a:r>
              <a:rPr lang="zh-CN" altLang="en-US" sz="2700" spc="-10" dirty="0"/>
              <a:t>混杂偏差与因果效应识</a:t>
            </a:r>
            <a:r>
              <a:rPr lang="zh-CN" altLang="en-US" sz="2700" spc="-50" dirty="0"/>
              <a:t>别</a:t>
            </a:r>
            <a:endParaRPr lang="zh-CN" altLang="en-US" sz="27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D570F-04C7-A8B6-4D5A-DC030718A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0" dirty="0"/>
              <a:t>混杂偏差与因果效应识别</a:t>
            </a:r>
            <a:r>
              <a:rPr lang="zh-CN" altLang="en-US" spc="-50" dirty="0"/>
              <a:t>：</a:t>
            </a:r>
            <a:endParaRPr lang="en-US" altLang="zh-CN" spc="-50" dirty="0"/>
          </a:p>
          <a:p>
            <a:r>
              <a:rPr lang="zh-CN" altLang="en-US" spc="-10" dirty="0"/>
              <a:t>后门规则</a:t>
            </a:r>
            <a:r>
              <a:rPr lang="zh-CN" altLang="en-US" spc="-50" dirty="0"/>
              <a:t>：</a:t>
            </a:r>
            <a:endParaRPr lang="en-US" altLang="zh-CN" spc="-50" dirty="0"/>
          </a:p>
          <a:p>
            <a:pPr lvl="1"/>
            <a:r>
              <a:rPr lang="zh-CN" altLang="en-US" spc="-10" dirty="0"/>
              <a:t>如果</a:t>
            </a:r>
            <a:r>
              <a:rPr lang="zh-CN" altLang="en-US" spc="-140" dirty="0"/>
              <a:t> </a:t>
            </a:r>
            <a:r>
              <a:rPr lang="zh-CN" altLang="en-US" spc="114" dirty="0">
                <a:latin typeface="Cambria"/>
                <a:cs typeface="Cambria"/>
              </a:rPr>
              <a:t>𝐷</a:t>
            </a:r>
            <a:r>
              <a:rPr lang="zh-CN" altLang="en-US" spc="-50" dirty="0"/>
              <a:t>、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285" dirty="0">
                <a:latin typeface="Cambria"/>
                <a:cs typeface="Cambria"/>
              </a:rPr>
              <a:t> </a:t>
            </a:r>
            <a:r>
              <a:rPr lang="zh-CN" altLang="en-US" spc="-10" dirty="0"/>
              <a:t>间所有的后门路径均被阻断了</a:t>
            </a:r>
            <a:r>
              <a:rPr lang="zh-CN" altLang="en-US" spc="-55" dirty="0"/>
              <a:t>，</a:t>
            </a:r>
            <a:r>
              <a:rPr lang="zh-CN" altLang="en-US" spc="-10" dirty="0"/>
              <a:t>那么</a:t>
            </a:r>
            <a:r>
              <a:rPr lang="zh-CN" altLang="en-US" dirty="0"/>
              <a:t>，</a:t>
            </a:r>
            <a:r>
              <a:rPr lang="zh-CN" altLang="en-US" dirty="0">
                <a:latin typeface="Cambria"/>
                <a:cs typeface="Cambria"/>
              </a:rPr>
              <a:t>𝐷</a:t>
            </a:r>
            <a:r>
              <a:rPr lang="zh-CN" altLang="en-US" spc="110" dirty="0">
                <a:latin typeface="Cambria"/>
                <a:cs typeface="Cambria"/>
              </a:rPr>
              <a:t> </a:t>
            </a:r>
            <a:r>
              <a:rPr lang="zh-CN" altLang="en-US" spc="-75" dirty="0"/>
              <a:t>到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285" dirty="0">
                <a:latin typeface="Cambria"/>
                <a:cs typeface="Cambria"/>
              </a:rPr>
              <a:t> </a:t>
            </a:r>
            <a:r>
              <a:rPr lang="zh-CN" altLang="en-US" spc="-10" dirty="0"/>
              <a:t>的因果效应可以</a:t>
            </a:r>
            <a:r>
              <a:rPr lang="zh-CN" altLang="en-US" spc="-50" dirty="0"/>
              <a:t>识</a:t>
            </a:r>
            <a:r>
              <a:rPr lang="zh-CN" altLang="en-US" spc="-10" dirty="0"/>
              <a:t>别</a:t>
            </a:r>
            <a:r>
              <a:rPr lang="zh-CN" altLang="en-US" spc="-50" dirty="0"/>
              <a:t>。</a:t>
            </a:r>
            <a:endParaRPr lang="en-US" altLang="zh-CN" spc="-50" dirty="0"/>
          </a:p>
          <a:p>
            <a:r>
              <a:rPr lang="zh-CN" altLang="en-US" spc="-10" dirty="0"/>
              <a:t>因而，两种情况下因果效应可以识别</a:t>
            </a:r>
            <a:r>
              <a:rPr lang="zh-CN" altLang="en-US" spc="-50" dirty="0"/>
              <a:t>：</a:t>
            </a:r>
          </a:p>
          <a:p>
            <a:pPr lvl="1"/>
            <a:r>
              <a:rPr lang="zh-CN" altLang="en-US" spc="-10" dirty="0">
                <a:latin typeface="宋体"/>
                <a:cs typeface="宋体"/>
              </a:rPr>
              <a:t>没有共同原因。如果没有干预变量和结果变量的共同原因，则没有任何后</a:t>
            </a:r>
            <a:r>
              <a:rPr lang="zh-CN" altLang="en-US" spc="-50" dirty="0">
                <a:latin typeface="宋体"/>
                <a:cs typeface="宋体"/>
              </a:rPr>
              <a:t>门</a:t>
            </a:r>
            <a:r>
              <a:rPr lang="zh-CN" altLang="en-US" spc="-10" dirty="0">
                <a:latin typeface="宋体"/>
                <a:cs typeface="宋体"/>
              </a:rPr>
              <a:t>路径需要阻断，因果效应可以识别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 lvl="1"/>
            <a:r>
              <a:rPr lang="zh-CN" altLang="en-US" spc="-10" dirty="0">
                <a:latin typeface="宋体"/>
                <a:cs typeface="宋体"/>
              </a:rPr>
              <a:t>有共同原因，但有足够的观测变量可以阻断所有后门路径。以共同原因或</a:t>
            </a:r>
            <a:r>
              <a:rPr lang="zh-CN" altLang="en-US" spc="-50" dirty="0">
                <a:latin typeface="宋体"/>
                <a:cs typeface="宋体"/>
              </a:rPr>
              <a:t>中</a:t>
            </a:r>
            <a:r>
              <a:rPr lang="zh-CN" altLang="en-US" spc="-10" dirty="0">
                <a:latin typeface="宋体"/>
                <a:cs typeface="宋体"/>
              </a:rPr>
              <a:t>介变量为条件可以阻断后门路径，消除混杂偏差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 lvl="1"/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F426CB-DCAE-2836-7532-0B1CF69D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EDCF04-E384-35A2-83B9-8BCDF745F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785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E5CA3-0DCA-3A10-6059-04E50C82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因果图：经济学案</a:t>
            </a:r>
            <a:r>
              <a:rPr lang="zh-CN" altLang="en-US" spc="-50" dirty="0"/>
              <a:t>例</a:t>
            </a:r>
            <a:br>
              <a:rPr lang="en-US" altLang="zh-CN" spc="-50" dirty="0"/>
            </a:br>
            <a:r>
              <a:rPr lang="en-US" altLang="zh-CN" sz="2400" dirty="0">
                <a:latin typeface="Palatino Linotype"/>
                <a:cs typeface="Palatino Linotype"/>
              </a:rPr>
              <a:t>4.</a:t>
            </a:r>
            <a:r>
              <a:rPr lang="zh-CN" altLang="en-US" sz="2400" spc="235" dirty="0">
                <a:latin typeface="Palatino Linotype"/>
                <a:cs typeface="Palatino Linotype"/>
              </a:rPr>
              <a:t> </a:t>
            </a:r>
            <a:r>
              <a:rPr lang="zh-CN" altLang="en-US" sz="2400" spc="-10" dirty="0">
                <a:latin typeface="宋体"/>
                <a:cs typeface="宋体"/>
              </a:rPr>
              <a:t>教育收益</a:t>
            </a:r>
            <a:r>
              <a:rPr lang="zh-CN" altLang="en-US" sz="2400" spc="-50" dirty="0">
                <a:latin typeface="宋体"/>
                <a:cs typeface="宋体"/>
              </a:rPr>
              <a:t>率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C6EDA-C1CE-B714-CBC7-B4D31E5E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97116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Palatino Linotype"/>
                <a:cs typeface="Palatino Linotype"/>
              </a:rPr>
              <a:t>Hausman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and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en-US" altLang="zh-CN" spc="10" dirty="0">
                <a:latin typeface="Palatino Linotype"/>
                <a:cs typeface="Palatino Linotype"/>
              </a:rPr>
              <a:t>Wise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en-US" altLang="zh-CN" spc="35" dirty="0">
                <a:latin typeface="Palatino Linotype"/>
                <a:cs typeface="Palatino Linotype"/>
              </a:rPr>
              <a:t>(1977)</a:t>
            </a:r>
            <a:r>
              <a:rPr lang="zh-CN" altLang="en-US" spc="80" dirty="0">
                <a:latin typeface="Palatino Linotype"/>
                <a:cs typeface="Palatino Linotype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考察了教育</a:t>
            </a:r>
            <a:r>
              <a:rPr lang="zh-CN" altLang="en-US" spc="-120" dirty="0">
                <a:latin typeface="宋体"/>
                <a:cs typeface="宋体"/>
              </a:rPr>
              <a:t> </a:t>
            </a:r>
            <a:r>
              <a:rPr lang="en-US" altLang="zh-CN" spc="100" dirty="0">
                <a:latin typeface="Palatino Linotype"/>
                <a:cs typeface="Palatino Linotype"/>
              </a:rPr>
              <a:t>(</a:t>
            </a:r>
            <a:r>
              <a:rPr lang="zh-CN" altLang="en-US" spc="100" dirty="0">
                <a:latin typeface="Cambria"/>
                <a:cs typeface="Cambria"/>
              </a:rPr>
              <a:t>𝐷</a:t>
            </a:r>
            <a:r>
              <a:rPr lang="en-US" altLang="zh-CN" spc="229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对个人收入</a:t>
            </a:r>
            <a:r>
              <a:rPr lang="zh-CN" altLang="en-US" spc="-120" dirty="0">
                <a:latin typeface="宋体"/>
                <a:cs typeface="宋体"/>
              </a:rPr>
              <a:t> </a:t>
            </a:r>
            <a:r>
              <a:rPr lang="en-US" altLang="zh-CN" spc="50" dirty="0">
                <a:latin typeface="Palatino Linotype"/>
                <a:cs typeface="Palatino Linotype"/>
              </a:rPr>
              <a:t>(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-10" dirty="0">
                <a:latin typeface="Cambria"/>
                <a:cs typeface="Cambria"/>
              </a:rPr>
              <a:t> </a:t>
            </a:r>
            <a:r>
              <a:rPr lang="en-US" altLang="zh-CN" spc="210" dirty="0">
                <a:latin typeface="Palatino Linotype"/>
                <a:cs typeface="Palatino Linotype"/>
              </a:rPr>
              <a:t>) </a:t>
            </a:r>
            <a:r>
              <a:rPr lang="zh-CN" altLang="en-US" spc="-10" dirty="0">
                <a:latin typeface="宋体"/>
                <a:cs typeface="宋体"/>
              </a:rPr>
              <a:t>的影响，但使用了一个仅包括低收入者的样本。左边图为相应因果图。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教育</a:t>
            </a:r>
            <a:r>
              <a:rPr lang="zh-CN" altLang="en-US" spc="-125" dirty="0">
                <a:latin typeface="宋体"/>
                <a:cs typeface="宋体"/>
              </a:rPr>
              <a:t>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spc="10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和其他未观测因素</a:t>
            </a:r>
            <a:r>
              <a:rPr lang="zh-CN" altLang="en-US" spc="-110" dirty="0">
                <a:latin typeface="宋体"/>
                <a:cs typeface="宋体"/>
              </a:rPr>
              <a:t> </a:t>
            </a:r>
            <a:r>
              <a:rPr lang="zh-CN" altLang="en-US" spc="65" dirty="0">
                <a:latin typeface="Cambria"/>
                <a:cs typeface="Cambria"/>
              </a:rPr>
              <a:t>𝑈</a:t>
            </a:r>
            <a:r>
              <a:rPr lang="zh-CN" altLang="en-US" spc="17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同时决定个人收入</a:t>
            </a:r>
            <a:r>
              <a:rPr lang="zh-CN" altLang="en-US" spc="-110" dirty="0">
                <a:latin typeface="宋体"/>
                <a:cs typeface="宋体"/>
              </a:rPr>
              <a:t> 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-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，假设</a:t>
            </a:r>
            <a:r>
              <a:rPr lang="zh-CN" altLang="en-US" spc="-114" dirty="0">
                <a:latin typeface="宋体"/>
                <a:cs typeface="宋体"/>
              </a:rPr>
              <a:t>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spc="105" dirty="0">
                <a:latin typeface="Cambria"/>
                <a:cs typeface="Cambria"/>
              </a:rPr>
              <a:t> </a:t>
            </a:r>
            <a:r>
              <a:rPr lang="zh-CN" altLang="en-US" spc="-65" dirty="0">
                <a:latin typeface="宋体"/>
                <a:cs typeface="宋体"/>
              </a:rPr>
              <a:t>与 </a:t>
            </a:r>
            <a:r>
              <a:rPr lang="zh-CN" altLang="en-US" spc="65" dirty="0">
                <a:latin typeface="Cambria"/>
                <a:cs typeface="Cambria"/>
              </a:rPr>
              <a:t>𝑈</a:t>
            </a:r>
            <a:r>
              <a:rPr lang="zh-CN" altLang="en-US" spc="18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是独立的，因果</a:t>
            </a:r>
            <a:r>
              <a:rPr lang="zh-CN" altLang="en-US" spc="-50" dirty="0">
                <a:latin typeface="宋体"/>
                <a:cs typeface="宋体"/>
              </a:rPr>
              <a:t>路</a:t>
            </a:r>
            <a:r>
              <a:rPr lang="zh-CN" altLang="en-US" spc="-65" dirty="0">
                <a:latin typeface="宋体"/>
                <a:cs typeface="宋体"/>
              </a:rPr>
              <a:t>径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spc="65" dirty="0">
                <a:latin typeface="Cambria"/>
                <a:cs typeface="Cambria"/>
              </a:rPr>
              <a:t> → 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55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体现了教育对收入的因果影响，但由于样本限于低收入个体，相当于以结果为条件</a:t>
            </a:r>
            <a:r>
              <a:rPr lang="zh-CN" altLang="en-US" spc="-80" dirty="0">
                <a:latin typeface="宋体"/>
                <a:cs typeface="宋体"/>
              </a:rPr>
              <a:t>。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254" dirty="0">
                <a:latin typeface="Cambria"/>
                <a:cs typeface="Cambria"/>
              </a:rPr>
              <a:t> </a:t>
            </a:r>
            <a:r>
              <a:rPr lang="zh-CN" altLang="en-US" spc="-75" dirty="0">
                <a:latin typeface="宋体"/>
                <a:cs typeface="宋体"/>
              </a:rPr>
              <a:t>是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dirty="0">
                <a:latin typeface="Cambria"/>
                <a:cs typeface="Cambria"/>
              </a:rPr>
              <a:t>   </a:t>
            </a:r>
            <a:r>
              <a:rPr lang="zh-CN" altLang="en-US" spc="-75" dirty="0">
                <a:latin typeface="宋体"/>
                <a:cs typeface="宋体"/>
              </a:rPr>
              <a:t>和 </a:t>
            </a:r>
            <a:r>
              <a:rPr lang="zh-CN" altLang="en-US" spc="65" dirty="0">
                <a:latin typeface="Cambria"/>
                <a:cs typeface="Cambria"/>
              </a:rPr>
              <a:t>𝑈</a:t>
            </a:r>
            <a:r>
              <a:rPr lang="zh-CN" altLang="en-US" spc="41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的共同结果</a:t>
            </a:r>
            <a:r>
              <a:rPr lang="zh-CN" altLang="en-US" spc="-9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是交汇变量</a:t>
            </a:r>
            <a:r>
              <a:rPr lang="zh-CN" altLang="en-US" spc="-85" dirty="0">
                <a:latin typeface="宋体"/>
                <a:cs typeface="宋体"/>
              </a:rPr>
              <a:t>，以 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254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为条件</a:t>
            </a:r>
            <a:r>
              <a:rPr lang="zh-CN" altLang="en-US" spc="-9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将使</a:t>
            </a:r>
            <a:r>
              <a:rPr lang="zh-CN" altLang="en-US" spc="-135" dirty="0">
                <a:latin typeface="宋体"/>
                <a:cs typeface="宋体"/>
              </a:rPr>
              <a:t>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spc="85" dirty="0">
                <a:latin typeface="Cambria"/>
                <a:cs typeface="Cambria"/>
              </a:rPr>
              <a:t> </a:t>
            </a:r>
            <a:r>
              <a:rPr lang="zh-CN" altLang="en-US" spc="-75" dirty="0">
                <a:latin typeface="宋体"/>
                <a:cs typeface="宋体"/>
              </a:rPr>
              <a:t>与 </a:t>
            </a:r>
            <a:r>
              <a:rPr lang="zh-CN" altLang="en-US" spc="65" dirty="0">
                <a:latin typeface="Cambria"/>
                <a:cs typeface="Cambria"/>
              </a:rPr>
              <a:t>𝑈</a:t>
            </a:r>
            <a:r>
              <a:rPr lang="zh-CN" altLang="en-US" spc="41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相关</a:t>
            </a:r>
            <a:r>
              <a:rPr lang="zh-CN" altLang="en-US" spc="-9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图中用虚线表示。这时</a:t>
            </a:r>
            <a:r>
              <a:rPr lang="zh-CN" altLang="en-US" spc="90" dirty="0">
                <a:latin typeface="宋体"/>
                <a:cs typeface="宋体"/>
              </a:rPr>
              <a:t>，</a:t>
            </a:r>
            <a:r>
              <a:rPr lang="zh-CN" altLang="en-US" spc="90" dirty="0">
                <a:latin typeface="Cambria"/>
                <a:cs typeface="Cambria"/>
              </a:rPr>
              <a:t>𝐷</a:t>
            </a:r>
            <a:r>
              <a:rPr lang="zh-CN" altLang="en-US" spc="385" dirty="0">
                <a:latin typeface="Cambria"/>
                <a:cs typeface="Cambria"/>
              </a:rPr>
              <a:t> </a:t>
            </a:r>
            <a:r>
              <a:rPr lang="zh-CN" altLang="en-US" spc="-65" dirty="0">
                <a:latin typeface="宋体"/>
                <a:cs typeface="宋体"/>
              </a:rPr>
              <a:t>到 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27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的相关性，除了反映因果路径</a:t>
            </a:r>
            <a:r>
              <a:rPr lang="zh-CN" altLang="en-US" spc="-120" dirty="0">
                <a:latin typeface="宋体"/>
                <a:cs typeface="宋体"/>
              </a:rPr>
              <a:t>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spc="65" dirty="0">
                <a:latin typeface="Cambria"/>
                <a:cs typeface="Cambria"/>
              </a:rPr>
              <a:t> → 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55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外，还包括路</a:t>
            </a:r>
            <a:r>
              <a:rPr lang="zh-CN" altLang="en-US" spc="-65" dirty="0">
                <a:latin typeface="宋体"/>
                <a:cs typeface="宋体"/>
              </a:rPr>
              <a:t>径 </a:t>
            </a:r>
            <a:r>
              <a:rPr lang="zh-CN" altLang="en-US" spc="185" dirty="0">
                <a:latin typeface="Cambria"/>
                <a:cs typeface="Cambria"/>
              </a:rPr>
              <a:t>𝐷</a:t>
            </a:r>
            <a:r>
              <a:rPr lang="zh-CN" altLang="en-US" spc="55" dirty="0">
                <a:latin typeface="Cambria"/>
                <a:cs typeface="Cambria"/>
              </a:rPr>
              <a:t> − </a:t>
            </a:r>
            <a:r>
              <a:rPr lang="zh-CN" altLang="en-US" spc="65" dirty="0">
                <a:latin typeface="Cambria"/>
                <a:cs typeface="Cambria"/>
              </a:rPr>
              <a:t>𝑈</a:t>
            </a:r>
            <a:r>
              <a:rPr lang="zh-CN" altLang="en-US" spc="90" dirty="0">
                <a:latin typeface="Cambria"/>
                <a:cs typeface="Cambria"/>
              </a:rPr>
              <a:t> → </a:t>
            </a:r>
            <a:r>
              <a:rPr lang="zh-CN" altLang="en-US" spc="50" dirty="0">
                <a:latin typeface="Cambria"/>
                <a:cs typeface="Cambria"/>
              </a:rPr>
              <a:t>𝑌</a:t>
            </a:r>
            <a:r>
              <a:rPr lang="zh-CN" altLang="en-US" spc="195" dirty="0">
                <a:latin typeface="Cambria"/>
                <a:cs typeface="Cambria"/>
              </a:rPr>
              <a:t>  </a:t>
            </a:r>
            <a:r>
              <a:rPr lang="zh-CN" altLang="en-US" spc="-10" dirty="0">
                <a:latin typeface="宋体"/>
                <a:cs typeface="宋体"/>
              </a:rPr>
              <a:t>产生的相关性，从而产生样本选择偏差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中国农村教育收益率估计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5896C7-9FA1-99F8-2BEA-7543EFD7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81750C-DE86-E312-1024-BD2C440E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7" name="object 9">
            <a:extLst>
              <a:ext uri="{FF2B5EF4-FFF2-40B4-BE49-F238E27FC236}">
                <a16:creationId xmlns:a16="http://schemas.microsoft.com/office/drawing/2014/main" id="{DC9E3468-A6F3-058F-A616-5D4B1A272B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563" y="4796789"/>
            <a:ext cx="1765289" cy="1574403"/>
          </a:xfrm>
          <a:prstGeom prst="rect">
            <a:avLst/>
          </a:prstGeom>
        </p:spPr>
      </p:pic>
      <p:pic>
        <p:nvPicPr>
          <p:cNvPr id="9" name="object 10">
            <a:extLst>
              <a:ext uri="{FF2B5EF4-FFF2-40B4-BE49-F238E27FC236}">
                <a16:creationId xmlns:a16="http://schemas.microsoft.com/office/drawing/2014/main" id="{4AAF1C27-8689-BE59-CAA5-81037890F1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4427" y="4944911"/>
            <a:ext cx="2229183" cy="102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42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9E191-8AE7-4C6E-D12C-84CC8A25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因果图：经济学案</a:t>
            </a:r>
            <a:r>
              <a:rPr lang="zh-CN" altLang="en-US" spc="-50" dirty="0"/>
              <a:t>例</a:t>
            </a:r>
            <a:br>
              <a:rPr lang="en-US" altLang="zh-CN" spc="-50" dirty="0"/>
            </a:br>
            <a:r>
              <a:rPr lang="en-US" altLang="zh-CN" sz="2400" dirty="0">
                <a:latin typeface="Palatino Linotype"/>
                <a:cs typeface="Palatino Linotype"/>
              </a:rPr>
              <a:t>5.</a:t>
            </a:r>
            <a:r>
              <a:rPr lang="zh-CN" altLang="en-US" sz="2400" spc="235" dirty="0">
                <a:latin typeface="Palatino Linotype"/>
                <a:cs typeface="Palatino Linotype"/>
              </a:rPr>
              <a:t> </a:t>
            </a:r>
            <a:r>
              <a:rPr lang="zh-CN" altLang="en-US" sz="2400" spc="-10" dirty="0">
                <a:latin typeface="宋体"/>
                <a:cs typeface="宋体"/>
              </a:rPr>
              <a:t>研发绩</a:t>
            </a:r>
            <a:r>
              <a:rPr lang="zh-CN" altLang="en-US" sz="2400" spc="-50" dirty="0">
                <a:latin typeface="宋体"/>
                <a:cs typeface="宋体"/>
              </a:rPr>
              <a:t>效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71E3A-5E94-3E44-FD78-1B4969A0D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67418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利用面板数据进行研究，往往会遇到样本流失问题</a:t>
            </a:r>
            <a:r>
              <a:rPr lang="zh-CN" altLang="en-US" spc="-20" dirty="0">
                <a:latin typeface="宋体"/>
                <a:cs typeface="宋体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(attrition)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而样本</a:t>
            </a:r>
            <a:r>
              <a:rPr lang="zh-CN" altLang="en-US" spc="-50" dirty="0">
                <a:latin typeface="宋体"/>
                <a:cs typeface="宋体"/>
              </a:rPr>
              <a:t>流</a:t>
            </a:r>
            <a:r>
              <a:rPr lang="zh-CN" altLang="en-US" spc="-10" dirty="0">
                <a:latin typeface="宋体"/>
                <a:cs typeface="宋体"/>
              </a:rPr>
              <a:t>失可能会造成样本选择偏差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利用工业企业数据，考察研发对企业绩效的影响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假设根据初始年份确定样本，在随后的年份中，由于各种原因，有些企</a:t>
            </a:r>
            <a:r>
              <a:rPr lang="zh-CN" altLang="en-US" spc="-50" dirty="0">
                <a:latin typeface="宋体"/>
                <a:cs typeface="宋体"/>
              </a:rPr>
              <a:t>业</a:t>
            </a:r>
            <a:r>
              <a:rPr lang="zh-CN" altLang="en-US" spc="-5" dirty="0">
                <a:latin typeface="宋体"/>
                <a:cs typeface="宋体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可能会流失，不在初始限定样本中了，这种流失可能会产生样本选择偏差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r>
              <a:rPr lang="zh-CN" altLang="en-US" spc="-10" dirty="0">
                <a:latin typeface="宋体"/>
                <a:cs typeface="宋体"/>
              </a:rPr>
              <a:t>见下列因果图</a:t>
            </a:r>
            <a:r>
              <a:rPr lang="zh-CN" altLang="en-US" spc="55" dirty="0">
                <a:latin typeface="宋体"/>
                <a:cs typeface="宋体"/>
              </a:rPr>
              <a:t>，</a:t>
            </a:r>
            <a:r>
              <a:rPr lang="zh-CN" altLang="en-US" spc="55" dirty="0">
                <a:latin typeface="Cambria"/>
                <a:cs typeface="Cambria"/>
              </a:rPr>
              <a:t>𝐷 </a:t>
            </a:r>
            <a:r>
              <a:rPr lang="zh-CN" altLang="en-US" spc="-10" dirty="0">
                <a:latin typeface="宋体"/>
                <a:cs typeface="宋体"/>
              </a:rPr>
              <a:t>研发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企业绩效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dirty="0">
                <a:latin typeface="Cambria"/>
                <a:cs typeface="Cambria"/>
              </a:rPr>
              <a:t>𝐶</a:t>
            </a:r>
            <a:r>
              <a:rPr lang="zh-CN" altLang="en-US" spc="180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是否流失</a:t>
            </a:r>
            <a:r>
              <a:rPr lang="zh-CN" altLang="en-US" dirty="0">
                <a:latin typeface="宋体"/>
                <a:cs typeface="宋体"/>
              </a:rPr>
              <a:t>，</a:t>
            </a:r>
            <a:r>
              <a:rPr lang="zh-CN" altLang="en-US" dirty="0">
                <a:latin typeface="Cambria"/>
                <a:cs typeface="Cambria"/>
              </a:rPr>
              <a:t>𝑈</a:t>
            </a:r>
            <a:r>
              <a:rPr lang="zh-CN" altLang="en-US" spc="215" dirty="0">
                <a:latin typeface="Cambria"/>
                <a:cs typeface="Cambria"/>
              </a:rPr>
              <a:t> </a:t>
            </a:r>
            <a:r>
              <a:rPr lang="zh-CN" altLang="en-US" spc="-10" dirty="0">
                <a:latin typeface="宋体"/>
                <a:cs typeface="宋体"/>
              </a:rPr>
              <a:t>是影响</a:t>
            </a:r>
            <a:r>
              <a:rPr lang="zh-CN" altLang="en-US" spc="-170" dirty="0">
                <a:latin typeface="宋体"/>
                <a:cs typeface="宋体"/>
              </a:rPr>
              <a:t>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15" dirty="0">
                <a:latin typeface="Cambria"/>
                <a:cs typeface="Cambria"/>
              </a:rPr>
              <a:t> </a:t>
            </a:r>
            <a:r>
              <a:rPr lang="zh-CN" altLang="en-US" spc="-90" dirty="0">
                <a:latin typeface="宋体"/>
                <a:cs typeface="宋体"/>
              </a:rPr>
              <a:t>和 </a:t>
            </a:r>
            <a:r>
              <a:rPr lang="zh-CN" altLang="en-US" spc="110" dirty="0">
                <a:latin typeface="Cambria"/>
                <a:cs typeface="Cambria"/>
              </a:rPr>
              <a:t>𝐶 </a:t>
            </a:r>
            <a:r>
              <a:rPr lang="zh-CN" altLang="en-US" spc="-50" dirty="0">
                <a:latin typeface="宋体"/>
                <a:cs typeface="宋体"/>
              </a:rPr>
              <a:t>的</a:t>
            </a:r>
            <a:r>
              <a:rPr lang="zh-CN" altLang="en-US" spc="-10" dirty="0">
                <a:latin typeface="宋体"/>
                <a:cs typeface="宋体"/>
              </a:rPr>
              <a:t>未观测因素，比如宏观经济形势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2B3917-D531-0050-2E5F-4432460D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D6E52B-90B8-D458-07F7-C84DAC56B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EA0CA3-5DDA-A2E3-DAD3-0D9A7F70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892" y="4331368"/>
            <a:ext cx="3458058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96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854A6-6013-B66E-8098-76F8019B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因果图：经济学案</a:t>
            </a:r>
            <a:r>
              <a:rPr lang="zh-CN" altLang="en-US" spc="-50" dirty="0"/>
              <a:t>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736AF7-A94B-4D8F-F165-2ACE5BF6C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0" dirty="0">
                <a:latin typeface="宋体"/>
                <a:cs typeface="宋体"/>
              </a:rPr>
              <a:t>出生体重导论</a:t>
            </a:r>
            <a:r>
              <a:rPr lang="zh-CN" altLang="en-US" spc="-35" dirty="0">
                <a:latin typeface="宋体"/>
                <a:cs typeface="宋体"/>
              </a:rPr>
              <a:t>，</a:t>
            </a:r>
            <a:r>
              <a:rPr lang="en-US" altLang="zh-CN" spc="-35" dirty="0">
                <a:latin typeface="Palatino Linotype"/>
                <a:cs typeface="Palatino Linotype"/>
              </a:rPr>
              <a:t>Hernández-</a:t>
            </a:r>
            <a:r>
              <a:rPr lang="en-US" altLang="zh-CN" spc="-10" dirty="0">
                <a:latin typeface="Palatino Linotype"/>
                <a:cs typeface="Palatino Linotype"/>
              </a:rPr>
              <a:t>Díaz,</a:t>
            </a:r>
            <a:r>
              <a:rPr lang="en-US" altLang="zh-CN" spc="15" dirty="0">
                <a:latin typeface="Palatino Linotype"/>
                <a:cs typeface="Palatino Linotype"/>
              </a:rPr>
              <a:t> </a:t>
            </a:r>
            <a:r>
              <a:rPr lang="en-US" altLang="zh-CN" spc="-10" dirty="0" err="1">
                <a:latin typeface="Palatino Linotype"/>
                <a:cs typeface="Palatino Linotype"/>
              </a:rPr>
              <a:t>Schisterman</a:t>
            </a:r>
            <a:r>
              <a:rPr lang="en-US" altLang="zh-CN" spc="-10" dirty="0">
                <a:latin typeface="Palatino Linotype"/>
                <a:cs typeface="Palatino Linotype"/>
              </a:rPr>
              <a:t>,</a:t>
            </a:r>
            <a:r>
              <a:rPr lang="en-US" altLang="zh-CN" spc="20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and</a:t>
            </a:r>
            <a:r>
              <a:rPr lang="en-US" altLang="zh-CN" spc="15" dirty="0">
                <a:latin typeface="Palatino Linotype"/>
                <a:cs typeface="Palatino Linotype"/>
              </a:rPr>
              <a:t> </a:t>
            </a:r>
            <a:r>
              <a:rPr lang="en-US" altLang="zh-CN" spc="-20" dirty="0">
                <a:latin typeface="Palatino Linotype"/>
                <a:cs typeface="Palatino Linotype"/>
              </a:rPr>
              <a:t>Hernán</a:t>
            </a:r>
            <a:r>
              <a:rPr lang="en-US" altLang="zh-CN" spc="2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(2006), American</a:t>
            </a:r>
            <a:r>
              <a:rPr lang="en-US" altLang="zh-CN" spc="30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Journal</a:t>
            </a:r>
            <a:r>
              <a:rPr lang="en-US" altLang="zh-CN" spc="35" dirty="0">
                <a:latin typeface="Palatino Linotype"/>
                <a:cs typeface="Palatino Linotype"/>
              </a:rPr>
              <a:t> </a:t>
            </a:r>
            <a:r>
              <a:rPr lang="en-US" altLang="zh-CN" dirty="0">
                <a:latin typeface="Palatino Linotype"/>
                <a:cs typeface="Palatino Linotype"/>
              </a:rPr>
              <a:t>of</a:t>
            </a:r>
            <a:r>
              <a:rPr lang="en-US" altLang="zh-CN" spc="30" dirty="0">
                <a:latin typeface="Palatino Linotype"/>
                <a:cs typeface="Palatino Linotype"/>
              </a:rPr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Epidemiology</a:t>
            </a:r>
            <a:endParaRPr lang="en-US" altLang="zh-CN" dirty="0">
              <a:latin typeface="Palatino Linotype"/>
              <a:cs typeface="Palatino Linotype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48E250-6928-DB63-5554-E684C2D7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B3E4A9-B9F5-3C97-A91F-7EFD2585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88188BF-EE09-6BB2-3EA3-B9C1634D8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354" y="3479563"/>
            <a:ext cx="4683292" cy="283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47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CD24A-626C-1C92-8799-291AA8E8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好的控制变量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D35DF1-F980-F1B9-EB59-E63C4268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20F667-BF74-DBE5-CF15-1711407C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FB310EA-5349-58E0-FB19-D054A16B801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733518"/>
            <a:ext cx="7886700" cy="25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67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F1C72-2FD0-0A6A-2979-0CAA4A87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好的控制变量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C3929C-5FD9-17D6-72DE-F6F46FBFC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09F7B5-9C2C-0DCE-476F-DF99D037B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2E1A1E6B-B7F8-26F0-D8A9-83F17AD9178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718381"/>
            <a:ext cx="7886700" cy="256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22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158D0F-4F05-AD09-9650-D0A01C42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坏的控制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69F913-84E5-89AB-BCB0-4E00125F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169BB5-58DB-67C1-49EE-7E8C7B84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FC74C931-07BB-6106-D48F-7B3063B1851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8011" y="1443789"/>
            <a:ext cx="5436638" cy="473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24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DC058-63D0-0E75-0B64-B9B994A5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中性控制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2A1A3E-E9A4-0541-9869-34D769C0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90" dirty="0"/>
              <a:t>图 </a:t>
            </a:r>
            <a:r>
              <a:rPr lang="en-US" altLang="zh-CN" spc="-10" dirty="0">
                <a:latin typeface="Palatino Linotype"/>
                <a:cs typeface="Palatino Linotype"/>
              </a:rPr>
              <a:t>5</a:t>
            </a:r>
            <a:r>
              <a:rPr lang="zh-CN" altLang="en-US" spc="-10" dirty="0"/>
              <a:t>，控制</a:t>
            </a:r>
            <a:r>
              <a:rPr lang="zh-CN" altLang="en-US" spc="-170" dirty="0"/>
              <a:t> </a:t>
            </a:r>
            <a:r>
              <a:rPr lang="zh-CN" altLang="en-US" spc="65" dirty="0">
                <a:latin typeface="Cambria"/>
                <a:cs typeface="Cambria"/>
              </a:rPr>
              <a:t>𝑍</a:t>
            </a:r>
            <a:r>
              <a:rPr lang="zh-CN" altLang="en-US" spc="65" dirty="0"/>
              <a:t>，</a:t>
            </a:r>
            <a:r>
              <a:rPr lang="zh-CN" altLang="en-US" spc="-10" dirty="0"/>
              <a:t>降低了</a:t>
            </a:r>
            <a:r>
              <a:rPr lang="zh-CN" altLang="en-US" spc="-170" dirty="0"/>
              <a:t> </a:t>
            </a:r>
            <a:r>
              <a:rPr lang="zh-CN" altLang="en-US" dirty="0">
                <a:latin typeface="Cambria"/>
                <a:cs typeface="Cambria"/>
              </a:rPr>
              <a:t>𝑌</a:t>
            </a:r>
            <a:r>
              <a:rPr lang="zh-CN" altLang="en-US" spc="300" dirty="0">
                <a:latin typeface="Cambria"/>
                <a:cs typeface="Cambria"/>
              </a:rPr>
              <a:t> </a:t>
            </a:r>
            <a:r>
              <a:rPr lang="zh-CN" altLang="en-US" spc="-10" dirty="0"/>
              <a:t>的变动性，从而可以提高估计精</a:t>
            </a:r>
            <a:endParaRPr lang="en-US" altLang="zh-CN" spc="-10" dirty="0"/>
          </a:p>
          <a:p>
            <a:r>
              <a:rPr lang="zh-CN" altLang="en-US" spc="-10" dirty="0"/>
              <a:t>图</a:t>
            </a:r>
            <a:r>
              <a:rPr lang="zh-CN" altLang="en-US" spc="-170" dirty="0"/>
              <a:t> </a:t>
            </a:r>
            <a:r>
              <a:rPr lang="en-US" altLang="zh-CN" spc="-10" dirty="0">
                <a:latin typeface="Palatino Linotype"/>
                <a:cs typeface="Palatino Linotype"/>
              </a:rPr>
              <a:t>6</a:t>
            </a:r>
            <a:r>
              <a:rPr lang="zh-CN" altLang="en-US" spc="-10" dirty="0"/>
              <a:t>，控制</a:t>
            </a:r>
            <a:r>
              <a:rPr lang="zh-CN" altLang="en-US" spc="-165" dirty="0"/>
              <a:t> </a:t>
            </a:r>
            <a:r>
              <a:rPr lang="zh-CN" altLang="en-US" spc="65" dirty="0">
                <a:latin typeface="Cambria"/>
                <a:cs typeface="Cambria"/>
              </a:rPr>
              <a:t>𝑍</a:t>
            </a:r>
            <a:r>
              <a:rPr lang="zh-CN" altLang="en-US" spc="65" dirty="0"/>
              <a:t>，</a:t>
            </a:r>
            <a:r>
              <a:rPr lang="zh-CN" altLang="en-US" spc="-10" dirty="0"/>
              <a:t>降低了</a:t>
            </a:r>
            <a:r>
              <a:rPr lang="zh-CN" altLang="en-US" spc="-165" dirty="0"/>
              <a:t> </a:t>
            </a:r>
            <a:r>
              <a:rPr lang="zh-CN" altLang="en-US" spc="170" dirty="0">
                <a:latin typeface="Cambria"/>
                <a:cs typeface="Cambria"/>
              </a:rPr>
              <a:t>𝑋</a:t>
            </a:r>
            <a:r>
              <a:rPr lang="zh-CN" altLang="en-US" spc="165" dirty="0">
                <a:latin typeface="Cambria"/>
                <a:cs typeface="Cambria"/>
              </a:rPr>
              <a:t> </a:t>
            </a:r>
            <a:r>
              <a:rPr lang="zh-CN" altLang="en-US" spc="-10" dirty="0"/>
              <a:t>的变动性，则可能降低估计精</a:t>
            </a:r>
            <a:r>
              <a:rPr lang="zh-CN" altLang="en-US" spc="-50" dirty="0"/>
              <a:t>度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6B5D7A-3FB5-0236-1FD7-D758CE6F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926379-9A61-2EA1-C6A8-80BFC28B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8F357878-71C7-A4A5-8FD0-5E459849CA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8781" y="3850206"/>
            <a:ext cx="2085968" cy="1894399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1BA2CFAA-1786-2585-4D02-184D585109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8540" y="3850206"/>
            <a:ext cx="2085968" cy="186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379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090DC-F703-4DCF-9F1E-249A2325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坏的控制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7F99A0-199A-BCB3-4AF8-C2CCE8FD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CFAB8-0756-EF03-F7F5-12AC3AD9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4951CE71-0017-3E52-9E01-F4D8422FA95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71562" y="2591594"/>
            <a:ext cx="700087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325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0357F5-50E1-763B-1BC2-9C8C00DFD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坏的控制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A87F3B-383B-DA61-383E-09D20775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A0CEFD-EF85-6476-85A7-4B8BD928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276A3E40-40B5-E68C-E3E4-738CDE631A9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95949" y="1825625"/>
            <a:ext cx="55521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079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9302A-4E52-9049-0DC1-DE455907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中性控制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4E8348-13EA-2DD3-89F3-130C39D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C5D64E-C01D-520D-D931-79AE91A8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EC49FE49-43B3-6A43-209B-A39608044DC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757558"/>
            <a:ext cx="7886700" cy="248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467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0459A5-B75D-1A8D-19B1-51C29EB9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中性控制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B2B6C2-435D-911E-0F36-399FB3F3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BE0ED0-0AD0-A0BF-C87C-D905AC68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5AF44C00-27AD-CF3E-3215-5AC34E57735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213837"/>
            <a:ext cx="7886700" cy="357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904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23B47-BC6B-0757-61B8-A8251011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坏的控制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029563-206A-C613-F336-D5183229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B35B4C-C034-AA5D-FA02-3FF8912C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FF8380A-EFE6-A6A2-EEEE-8A7F22EA9DF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8650" y="2182293"/>
            <a:ext cx="7886700" cy="363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501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0FB159-C194-01A2-9979-1480BD9C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坏的控制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2399AD-82D5-0ADD-31BE-D1840DA6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E2624A-BDE6-417D-7EF6-F6FB9C78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69CE59E-FC2A-8514-2BA8-893FEDC7284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57287" y="2624931"/>
            <a:ext cx="68294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61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36478-F3A1-CA30-E7B3-000FBF5C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好坏控制变量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AA603-8F38-A7D9-996E-0B13D88C6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10" dirty="0">
                <a:latin typeface="宋体"/>
                <a:cs typeface="宋体"/>
              </a:rPr>
              <a:t>选择控制变量的时候，应该选择干预发生之前的变量，或称为干预前变</a:t>
            </a:r>
            <a:r>
              <a:rPr lang="zh-CN" altLang="en-US" spc="-50" dirty="0">
                <a:latin typeface="宋体"/>
                <a:cs typeface="宋体"/>
              </a:rPr>
              <a:t>量 </a:t>
            </a:r>
            <a:r>
              <a:rPr lang="en-US" altLang="zh-CN" dirty="0">
                <a:latin typeface="Palatino Linotype"/>
                <a:cs typeface="Palatino Linotype"/>
              </a:rPr>
              <a:t>(pretreatment </a:t>
            </a:r>
            <a:r>
              <a:rPr lang="en-US" altLang="zh-CN" spc="-35" dirty="0">
                <a:latin typeface="Palatino Linotype"/>
                <a:cs typeface="Palatino Linotype"/>
              </a:rPr>
              <a:t>variables)</a:t>
            </a:r>
            <a:r>
              <a:rPr lang="zh-CN" altLang="en-US" spc="-3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它们可能是潜在的混杂因素</a:t>
            </a:r>
            <a:r>
              <a:rPr lang="zh-CN" altLang="en-US" spc="-105" dirty="0">
                <a:latin typeface="宋体"/>
                <a:cs typeface="宋体"/>
              </a:rPr>
              <a:t>，</a:t>
            </a:r>
            <a:r>
              <a:rPr lang="zh-CN" altLang="en-US" spc="-10" dirty="0">
                <a:latin typeface="宋体"/>
                <a:cs typeface="宋体"/>
              </a:rPr>
              <a:t>同时影响干预变</a:t>
            </a:r>
            <a:r>
              <a:rPr lang="zh-CN" altLang="en-US" spc="-50" dirty="0">
                <a:latin typeface="宋体"/>
                <a:cs typeface="宋体"/>
              </a:rPr>
              <a:t>量</a:t>
            </a:r>
            <a:r>
              <a:rPr lang="zh-CN" altLang="en-US" spc="-10" dirty="0">
                <a:latin typeface="宋体"/>
                <a:cs typeface="宋体"/>
              </a:rPr>
              <a:t>和结果变量，但因为在干预之前发生，因而，不可能受到干预的影响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或不随时间变化的特征变量。象年龄、民族等等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r>
              <a:rPr lang="zh-CN" altLang="en-US" spc="-10" dirty="0">
                <a:latin typeface="宋体"/>
                <a:cs typeface="宋体"/>
              </a:rPr>
              <a:t>而将干预后变量作为控制变量，将可能造成选择性样本偏差。因而，中</a:t>
            </a:r>
            <a:r>
              <a:rPr lang="zh-CN" altLang="en-US" spc="-50" dirty="0">
                <a:latin typeface="宋体"/>
                <a:cs typeface="宋体"/>
              </a:rPr>
              <a:t>间</a:t>
            </a:r>
            <a:r>
              <a:rPr lang="zh-CN" altLang="en-US" spc="-10" dirty="0">
                <a:latin typeface="宋体"/>
                <a:cs typeface="宋体"/>
              </a:rPr>
              <a:t>结果不是好的控制变量</a:t>
            </a:r>
            <a:r>
              <a:rPr lang="zh-CN" altLang="en-US" spc="-50" dirty="0">
                <a:latin typeface="宋体"/>
                <a:cs typeface="宋体"/>
              </a:rPr>
              <a:t>。</a:t>
            </a:r>
            <a:endParaRPr lang="zh-CN" altLang="en-US" dirty="0">
              <a:latin typeface="宋体"/>
              <a:cs typeface="宋体"/>
            </a:endParaRP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741964-7AFE-9786-BAC4-31B66BBC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9C8376-34EE-1965-99A5-C472F845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326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5414B-6F67-376F-D832-11E07040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3F8901-941E-A38D-AC1C-4A018FDCFF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三种结构：因果链、叉型结构和逆叉结构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因果链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叉型结构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b="0" dirty="0"/>
              </a:p>
              <a:p>
                <a:pPr lvl="1"/>
                <a:r>
                  <a:rPr lang="zh-CN" altLang="en-US" dirty="0"/>
                  <a:t>逆叉结果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交汇变量）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后门和后门标准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后门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后门标准</a:t>
                </a:r>
                <a:endParaRPr lang="en-US" altLang="zh-CN" dirty="0"/>
              </a:p>
              <a:p>
                <a:r>
                  <a:rPr lang="zh-CN" altLang="en-US" dirty="0"/>
                  <a:t>选择偏差的两种类型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混杂偏差</a:t>
                </a:r>
                <a:r>
                  <a:rPr lang="en-US" altLang="zh-CN"/>
                  <a:t>(confounding bias)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交汇偏差或样本选择偏差</a:t>
                </a:r>
                <a:r>
                  <a:rPr lang="en-US" altLang="zh-CN" dirty="0"/>
                  <a:t> (collider bias)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83F8901-941E-A38D-AC1C-4A018FDCFF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b="-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D508F88-C34A-57DD-D74E-C57CC1DD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ⓒ 赵西亮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97192E-65CB-4F4B-A6EF-37283915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FC515-8169-4A29-AA56-DBE520D5741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129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宋体 Heavy"/>
        <a:cs typeface=""/>
      </a:majorFont>
      <a:minorFont>
        <a:latin typeface="Times New Roman"/>
        <a:ea typeface="思源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258</TotalTime>
  <Words>5268</Words>
  <Application>Microsoft Office PowerPoint</Application>
  <PresentationFormat>全屏显示(4:3)</PresentationFormat>
  <Paragraphs>380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等线</vt:lpstr>
      <vt:lpstr>黑体</vt:lpstr>
      <vt:lpstr>宋体</vt:lpstr>
      <vt:lpstr>Arial</vt:lpstr>
      <vt:lpstr>Cambria</vt:lpstr>
      <vt:lpstr>Cambria Math</vt:lpstr>
      <vt:lpstr>Palatino Linotype</vt:lpstr>
      <vt:lpstr>Times New Roman</vt:lpstr>
      <vt:lpstr>Office 主题​​</vt:lpstr>
      <vt:lpstr>因果图</vt:lpstr>
      <vt:lpstr>辛普森悖论 (Simpson’s paradox)</vt:lpstr>
      <vt:lpstr>辛普森悖论 (Simpson’s paradox)</vt:lpstr>
      <vt:lpstr>辛普森悖论 (Simpson’s paradox)</vt:lpstr>
      <vt:lpstr>辛普森悖论 (Simpson’s paradox)</vt:lpstr>
      <vt:lpstr>辛普森悖论 (Simpson’s paradox)</vt:lpstr>
      <vt:lpstr>基本概念</vt:lpstr>
      <vt:lpstr>基本概念</vt:lpstr>
      <vt:lpstr>图和结构因果模型</vt:lpstr>
      <vt:lpstr>图和结构因果模型</vt:lpstr>
      <vt:lpstr>图和结构因果模型：因果链</vt:lpstr>
      <vt:lpstr>图和结构因果模型：因果链</vt:lpstr>
      <vt:lpstr>图和结构因果模型：因果链</vt:lpstr>
      <vt:lpstr>图和结构因果模型——叉（共同原因）</vt:lpstr>
      <vt:lpstr>图和结构因果模型——叉（共同原因）</vt:lpstr>
      <vt:lpstr>图和结构因果模型：交汇变量（共同结果）</vt:lpstr>
      <vt:lpstr>图和结构因果模型：交汇变量（共同结果）</vt:lpstr>
      <vt:lpstr>图和结构因果模型：交汇变量（共同结果）</vt:lpstr>
      <vt:lpstr>图和结构因果模型：交汇变量（共同结果）</vt:lpstr>
      <vt:lpstr>图和结构因果模型：交汇变量（共同结果）</vt:lpstr>
      <vt:lpstr>图和结构因果模型 逆叉：共同结果</vt:lpstr>
      <vt:lpstr>图和结构因果模型：𝑑-分离</vt:lpstr>
      <vt:lpstr>图和结构因果模型：𝑑-分离</vt:lpstr>
      <vt:lpstr>图和结构因果模型：后门规则</vt:lpstr>
      <vt:lpstr>图和结构因果模型：后门规则</vt:lpstr>
      <vt:lpstr>图和结构因果模型：后门规则</vt:lpstr>
      <vt:lpstr>图和结构因果模型：因果效应识别——后门规则总结</vt:lpstr>
      <vt:lpstr>选择偏差</vt:lpstr>
      <vt:lpstr>因果图：经济学案例 1. 教育收益率</vt:lpstr>
      <vt:lpstr>因果图：经济学案例 2. 班级规模与学习成绩</vt:lpstr>
      <vt:lpstr>因果图：经济学案例 3. 幸福的决定因素</vt:lpstr>
      <vt:lpstr>因果图：经济学案例 混杂偏差与因果效应识别</vt:lpstr>
      <vt:lpstr>因果图：经济学案例 4. 教育收益率</vt:lpstr>
      <vt:lpstr>因果图：经济学案例 5. 研发绩效</vt:lpstr>
      <vt:lpstr>因果图：经济学案例</vt:lpstr>
      <vt:lpstr>好的控制变量</vt:lpstr>
      <vt:lpstr>好的控制变量</vt:lpstr>
      <vt:lpstr>坏的控制</vt:lpstr>
      <vt:lpstr>中性控制</vt:lpstr>
      <vt:lpstr>坏的控制</vt:lpstr>
      <vt:lpstr>坏的控制</vt:lpstr>
      <vt:lpstr>中性控制</vt:lpstr>
      <vt:lpstr>中性控制</vt:lpstr>
      <vt:lpstr>坏的控制</vt:lpstr>
      <vt:lpstr>坏的控制</vt:lpstr>
      <vt:lpstr>好坏控制变量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Xiliang ZHAO</dc:creator>
  <cp:lastModifiedBy>Xiliang ZHAO</cp:lastModifiedBy>
  <cp:revision>27</cp:revision>
  <dcterms:created xsi:type="dcterms:W3CDTF">2026-08-07T12:10:34Z</dcterms:created>
  <dcterms:modified xsi:type="dcterms:W3CDTF">2026-08-09T07:00:42Z</dcterms:modified>
</cp:coreProperties>
</file>
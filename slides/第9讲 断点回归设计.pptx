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17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F3004A-1035-4AD2-BC4A-DB230EAABF41}" type="datetimeFigureOut">
              <a:rPr lang="zh-CN" altLang="en-US" smtClean="0"/>
              <a:t>2026/8/25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55C349-FD8F-4A61-B7BE-408729C94B71}" type="slidenum">
              <a:rPr lang="zh-CN" altLang="en-US" smtClean="0"/>
              <a:t>‹#›</a:t>
            </a:fld>
            <a:endParaRPr lang="zh-CN" altLang="en-US"/>
          </a:p>
        </p:txBody>
      </p:sp>
    </p:spTree>
    <p:extLst>
      <p:ext uri="{BB962C8B-B14F-4D97-AF65-F5344CB8AC3E}">
        <p14:creationId xmlns:p14="http://schemas.microsoft.com/office/powerpoint/2010/main" val="56546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9A4515A7-CEAA-43FE-A0C6-C344D2E1C420}"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409680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F1CD9CB9-29D0-4350-825D-C0AA5096F718}"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112358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CDDCF1F-4D82-4E39-A2A2-35E2A1D1799F}"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423829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8DD3615-B586-42F4-9872-6C720AA0F56E}" type="datetime1">
              <a:rPr lang="zh-CN" altLang="en-US" smtClean="0"/>
              <a:t>2026/8/25</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311557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C0A3562-2CF1-4137-BC7A-0E1D3AD82A62}" type="datetime1">
              <a:rPr lang="zh-CN" altLang="en-US" smtClean="0"/>
              <a:t>2026/8/25</a:t>
            </a:fld>
            <a:endParaRPr lang="zh-CN" altLang="en-US"/>
          </a:p>
        </p:txBody>
      </p:sp>
      <p:sp>
        <p:nvSpPr>
          <p:cNvPr id="8" name="Footer Placeholder 7"/>
          <p:cNvSpPr>
            <a:spLocks noGrp="1"/>
          </p:cNvSpPr>
          <p:nvPr>
            <p:ph type="ftr" sz="quarter" idx="11"/>
          </p:nvPr>
        </p:nvSpPr>
        <p:spPr/>
        <p:txBody>
          <a:bodyPr/>
          <a:lstStyle/>
          <a:p>
            <a:r>
              <a:rPr lang="zh-CN" altLang="en-US"/>
              <a:t>ⓒ 赵西亮</a:t>
            </a:r>
          </a:p>
        </p:txBody>
      </p:sp>
      <p:sp>
        <p:nvSpPr>
          <p:cNvPr id="9" name="Slide Number Placeholder 8"/>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584099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3246C70-57B0-4FDE-A935-0B961BFE496D}" type="datetime1">
              <a:rPr lang="zh-CN" altLang="en-US" smtClean="0"/>
              <a:t>2026/8/25</a:t>
            </a:fld>
            <a:endParaRPr lang="zh-CN" altLang="en-US"/>
          </a:p>
        </p:txBody>
      </p:sp>
      <p:sp>
        <p:nvSpPr>
          <p:cNvPr id="4" name="Footer Placeholder 3"/>
          <p:cNvSpPr>
            <a:spLocks noGrp="1"/>
          </p:cNvSpPr>
          <p:nvPr>
            <p:ph type="ftr" sz="quarter" idx="11"/>
          </p:nvPr>
        </p:nvSpPr>
        <p:spPr/>
        <p:txBody>
          <a:bodyPr/>
          <a:lstStyle/>
          <a:p>
            <a:r>
              <a:rPr lang="zh-CN" altLang="en-US"/>
              <a:t>ⓒ 赵西亮</a:t>
            </a:r>
          </a:p>
        </p:txBody>
      </p:sp>
      <p:sp>
        <p:nvSpPr>
          <p:cNvPr id="5" name="Slide Number Placeholder 4"/>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67662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94AC03-C0A7-4889-9992-72A6D2628D14}" type="datetime1">
              <a:rPr lang="zh-CN" altLang="en-US" smtClean="0"/>
              <a:t>2026/8/25</a:t>
            </a:fld>
            <a:endParaRPr lang="zh-CN" altLang="en-US"/>
          </a:p>
        </p:txBody>
      </p:sp>
      <p:sp>
        <p:nvSpPr>
          <p:cNvPr id="3" name="Footer Placeholder 2"/>
          <p:cNvSpPr>
            <a:spLocks noGrp="1"/>
          </p:cNvSpPr>
          <p:nvPr>
            <p:ph type="ftr" sz="quarter" idx="11"/>
          </p:nvPr>
        </p:nvSpPr>
        <p:spPr/>
        <p:txBody>
          <a:bodyPr/>
          <a:lstStyle/>
          <a:p>
            <a:r>
              <a:rPr lang="zh-CN" altLang="en-US"/>
              <a:t>ⓒ 赵西亮</a:t>
            </a:r>
          </a:p>
        </p:txBody>
      </p:sp>
      <p:sp>
        <p:nvSpPr>
          <p:cNvPr id="4" name="Slide Number Placeholder 3"/>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4096729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F954344-EBCE-46E1-8116-31474348F6BE}" type="datetime1">
              <a:rPr lang="zh-CN" altLang="en-US" smtClean="0"/>
              <a:t>2026/8/25</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100183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E4BE525-4771-468B-A8FB-DAB2047A4270}" type="datetime1">
              <a:rPr lang="zh-CN" altLang="en-US" smtClean="0"/>
              <a:t>2026/8/25</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398654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188E2B5-2348-4A45-A5B7-02B2B64364E4}"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3404451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705BAB9-886B-4640-A228-FB1A92425BDE}" type="datetime1">
              <a:rPr lang="zh-CN" altLang="en-US" smtClean="0"/>
              <a:t>2026/8/25</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509966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D44183-C876-422B-881A-B6A8D40A16EE}" type="datetime1">
              <a:rPr lang="zh-CN" altLang="en-US" smtClean="0"/>
              <a:t>2026/8/25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 赵西亮</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5104984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8F58E5-B2B8-FEBB-8A41-24F534B6F746}"/>
              </a:ext>
            </a:extLst>
          </p:cNvPr>
          <p:cNvSpPr>
            <a:spLocks noGrp="1"/>
          </p:cNvSpPr>
          <p:nvPr>
            <p:ph type="ctrTitle"/>
          </p:nvPr>
        </p:nvSpPr>
        <p:spPr/>
        <p:txBody>
          <a:bodyPr/>
          <a:lstStyle/>
          <a:p>
            <a:r>
              <a:rPr lang="zh-CN" altLang="en-US" dirty="0"/>
              <a:t>断点回归设计</a:t>
            </a:r>
          </a:p>
        </p:txBody>
      </p:sp>
      <p:sp>
        <p:nvSpPr>
          <p:cNvPr id="3" name="副标题 2">
            <a:extLst>
              <a:ext uri="{FF2B5EF4-FFF2-40B4-BE49-F238E27FC236}">
                <a16:creationId xmlns:a16="http://schemas.microsoft.com/office/drawing/2014/main" id="{D2A12E75-A8A7-EF47-8BB0-5705F1BDB078}"/>
              </a:ext>
            </a:extLst>
          </p:cNvPr>
          <p:cNvSpPr>
            <a:spLocks noGrp="1"/>
          </p:cNvSpPr>
          <p:nvPr>
            <p:ph type="subTitle" idx="1"/>
          </p:nvPr>
        </p:nvSpPr>
        <p:spPr/>
        <p:txBody>
          <a:bodyPr/>
          <a:lstStyle/>
          <a:p>
            <a:r>
              <a:rPr lang="zh-CN" altLang="en-US" dirty="0"/>
              <a:t>赵西亮</a:t>
            </a:r>
            <a:endParaRPr lang="en-US" altLang="zh-CN" dirty="0"/>
          </a:p>
          <a:p>
            <a:r>
              <a:rPr lang="zh-CN" altLang="en-US" dirty="0"/>
              <a:t>厦门大学经济学院</a:t>
            </a:r>
            <a:endParaRPr lang="en-US" altLang="zh-CN" dirty="0"/>
          </a:p>
          <a:p>
            <a:r>
              <a:rPr lang="zh-CN" altLang="en-US" dirty="0"/>
              <a:t>王亚南经济研究院</a:t>
            </a:r>
          </a:p>
        </p:txBody>
      </p:sp>
    </p:spTree>
    <p:extLst>
      <p:ext uri="{BB962C8B-B14F-4D97-AF65-F5344CB8AC3E}">
        <p14:creationId xmlns:p14="http://schemas.microsoft.com/office/powerpoint/2010/main" val="4083691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FE0263-3E9F-871C-6CBB-5FE9A14268BD}"/>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7E4AC5FA-0F8B-7133-FC7C-04A961AE1A13}"/>
              </a:ext>
            </a:extLst>
          </p:cNvPr>
          <p:cNvSpPr>
            <a:spLocks noGrp="1"/>
          </p:cNvSpPr>
          <p:nvPr>
            <p:ph idx="1"/>
          </p:nvPr>
        </p:nvSpPr>
        <p:spPr/>
        <p:txBody>
          <a:bodyPr/>
          <a:lstStyle/>
          <a:p>
            <a:r>
              <a:rPr lang="zh-CN" altLang="en-US" dirty="0"/>
              <a:t>断点回归设计</a:t>
            </a:r>
            <a:endParaRPr lang="en-US" altLang="zh-CN" dirty="0"/>
          </a:p>
          <a:p>
            <a:r>
              <a:rPr lang="zh-CN" altLang="en-US" dirty="0"/>
              <a:t>断点回归设计的图形分析</a:t>
            </a:r>
            <a:endParaRPr lang="en-US" altLang="zh-CN" dirty="0"/>
          </a:p>
          <a:p>
            <a:r>
              <a:rPr lang="zh-CN" altLang="en-US" dirty="0"/>
              <a:t>断点回归设计的估计</a:t>
            </a:r>
            <a:endParaRPr lang="en-US" altLang="zh-CN" dirty="0"/>
          </a:p>
          <a:p>
            <a:r>
              <a:rPr lang="zh-CN" altLang="en-US" dirty="0"/>
              <a:t>断点双重差分法</a:t>
            </a:r>
            <a:endParaRPr lang="en-US" altLang="zh-CN" dirty="0"/>
          </a:p>
          <a:p>
            <a:r>
              <a:rPr lang="zh-CN" altLang="en-US" dirty="0"/>
              <a:t>案例</a:t>
            </a:r>
            <a:endParaRPr lang="en-US" altLang="zh-CN" dirty="0"/>
          </a:p>
          <a:p>
            <a:pPr lvl="1"/>
            <a:r>
              <a:rPr lang="da-DK" altLang="zh-CN" dirty="0"/>
              <a:t>He et al. (2020)</a:t>
            </a:r>
            <a:r>
              <a:rPr lang="zh-CN" altLang="da-DK" dirty="0"/>
              <a:t>：水污染管制的效果</a:t>
            </a:r>
            <a:endParaRPr lang="en-US" altLang="zh-CN" dirty="0"/>
          </a:p>
          <a:p>
            <a:pPr lvl="1"/>
            <a:r>
              <a:rPr lang="en-US" altLang="zh-CN" dirty="0"/>
              <a:t>Chen et al. (2013)</a:t>
            </a:r>
            <a:r>
              <a:rPr lang="zh-CN" altLang="en-US" dirty="0"/>
              <a:t>：空气污染与寿命</a:t>
            </a:r>
            <a:endParaRPr lang="en-US" altLang="zh-CN" dirty="0"/>
          </a:p>
          <a:p>
            <a:r>
              <a:rPr lang="zh-CN" altLang="en-US" dirty="0"/>
              <a:t>弯折回归设计</a:t>
            </a:r>
          </a:p>
        </p:txBody>
      </p:sp>
      <p:sp>
        <p:nvSpPr>
          <p:cNvPr id="4" name="页脚占位符 3">
            <a:extLst>
              <a:ext uri="{FF2B5EF4-FFF2-40B4-BE49-F238E27FC236}">
                <a16:creationId xmlns:a16="http://schemas.microsoft.com/office/drawing/2014/main" id="{1D391952-40CE-EDEB-4F8D-80032F41252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A22D9F4-3CB9-BF29-8BB2-198B681A9FF0}"/>
              </a:ext>
            </a:extLst>
          </p:cNvPr>
          <p:cNvSpPr>
            <a:spLocks noGrp="1"/>
          </p:cNvSpPr>
          <p:nvPr>
            <p:ph type="sldNum" sz="quarter" idx="12"/>
          </p:nvPr>
        </p:nvSpPr>
        <p:spPr/>
        <p:txBody>
          <a:bodyPr/>
          <a:lstStyle/>
          <a:p>
            <a:fld id="{D41FC515-8169-4A29-AA56-DBE520D5741B}" type="slidenum">
              <a:rPr lang="zh-CN" altLang="en-US" smtClean="0"/>
              <a:t>2</a:t>
            </a:fld>
            <a:endParaRPr lang="zh-CN" altLang="en-US"/>
          </a:p>
        </p:txBody>
      </p:sp>
    </p:spTree>
    <p:extLst>
      <p:ext uri="{BB962C8B-B14F-4D97-AF65-F5344CB8AC3E}">
        <p14:creationId xmlns:p14="http://schemas.microsoft.com/office/powerpoint/2010/main" val="3441352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D81A2-358D-6CB1-545E-12B2A3A56902}"/>
              </a:ext>
            </a:extLst>
          </p:cNvPr>
          <p:cNvSpPr>
            <a:spLocks noGrp="1"/>
          </p:cNvSpPr>
          <p:nvPr>
            <p:ph type="title"/>
          </p:nvPr>
        </p:nvSpPr>
        <p:spPr/>
        <p:txBody>
          <a:bodyPr/>
          <a:lstStyle/>
          <a:p>
            <a:r>
              <a:rPr lang="zh-CN" altLang="en-US" dirty="0"/>
              <a:t>断点回归设计</a:t>
            </a:r>
          </a:p>
        </p:txBody>
      </p:sp>
      <p:sp>
        <p:nvSpPr>
          <p:cNvPr id="3" name="内容占位符 2">
            <a:extLst>
              <a:ext uri="{FF2B5EF4-FFF2-40B4-BE49-F238E27FC236}">
                <a16:creationId xmlns:a16="http://schemas.microsoft.com/office/drawing/2014/main" id="{DDE61F38-3F8B-BE50-2030-AE050B3675CF}"/>
              </a:ext>
            </a:extLst>
          </p:cNvPr>
          <p:cNvSpPr>
            <a:spLocks noGrp="1"/>
          </p:cNvSpPr>
          <p:nvPr>
            <p:ph idx="1"/>
          </p:nvPr>
        </p:nvSpPr>
        <p:spPr/>
        <p:txBody>
          <a:bodyPr/>
          <a:lstStyle/>
          <a:p>
            <a:r>
              <a:rPr lang="en-US" altLang="zh-CN" dirty="0"/>
              <a:t>Thistlethwaite and </a:t>
            </a:r>
            <a:r>
              <a:rPr lang="en-US" altLang="zh-CN" dirty="0" err="1"/>
              <a:t>Compbell</a:t>
            </a:r>
            <a:r>
              <a:rPr lang="en-US" altLang="zh-CN" dirty="0"/>
              <a:t> (1960)</a:t>
            </a:r>
          </a:p>
          <a:p>
            <a:r>
              <a:rPr lang="it-IT" altLang="zh-CN" dirty="0"/>
              <a:t>Hahn et al. (2001) Econometrica</a:t>
            </a:r>
          </a:p>
          <a:p>
            <a:r>
              <a:rPr lang="en-US" altLang="zh-CN" dirty="0" err="1"/>
              <a:t>Imbens</a:t>
            </a:r>
            <a:r>
              <a:rPr lang="en-US" altLang="zh-CN" dirty="0"/>
              <a:t> and Lemieux (2008), Lee and Lemieux (2010), Skovron and </a:t>
            </a:r>
            <a:r>
              <a:rPr lang="en-US" altLang="zh-CN" dirty="0" err="1"/>
              <a:t>Titiunik</a:t>
            </a:r>
            <a:r>
              <a:rPr lang="en-US" altLang="zh-CN" dirty="0"/>
              <a:t>(2015), Cattaneo et al. (2019, 2023) A Practical Introduction to </a:t>
            </a:r>
            <a:r>
              <a:rPr lang="en-US" altLang="zh-CN" dirty="0" err="1"/>
              <a:t>RegressionDiscontinuity</a:t>
            </a:r>
            <a:r>
              <a:rPr lang="en-US" altLang="zh-CN" dirty="0"/>
              <a:t> Designs.</a:t>
            </a:r>
            <a:endParaRPr lang="zh-CN" altLang="en-US" dirty="0"/>
          </a:p>
        </p:txBody>
      </p:sp>
      <p:sp>
        <p:nvSpPr>
          <p:cNvPr id="4" name="页脚占位符 3">
            <a:extLst>
              <a:ext uri="{FF2B5EF4-FFF2-40B4-BE49-F238E27FC236}">
                <a16:creationId xmlns:a16="http://schemas.microsoft.com/office/drawing/2014/main" id="{1C4D69FA-16D8-B9E4-9704-48D16CF2444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5F0E822-7633-1022-915A-6F3241C131C0}"/>
              </a:ext>
            </a:extLst>
          </p:cNvPr>
          <p:cNvSpPr>
            <a:spLocks noGrp="1"/>
          </p:cNvSpPr>
          <p:nvPr>
            <p:ph type="sldNum" sz="quarter" idx="12"/>
          </p:nvPr>
        </p:nvSpPr>
        <p:spPr/>
        <p:txBody>
          <a:bodyPr/>
          <a:lstStyle/>
          <a:p>
            <a:fld id="{D41FC515-8169-4A29-AA56-DBE520D5741B}" type="slidenum">
              <a:rPr lang="zh-CN" altLang="en-US" smtClean="0"/>
              <a:t>3</a:t>
            </a:fld>
            <a:endParaRPr lang="zh-CN" altLang="en-US"/>
          </a:p>
        </p:txBody>
      </p:sp>
    </p:spTree>
    <p:extLst>
      <p:ext uri="{BB962C8B-B14F-4D97-AF65-F5344CB8AC3E}">
        <p14:creationId xmlns:p14="http://schemas.microsoft.com/office/powerpoint/2010/main" val="792565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39F4E9-C494-352E-BFD5-488878C1B431}"/>
              </a:ext>
            </a:extLst>
          </p:cNvPr>
          <p:cNvSpPr>
            <a:spLocks noGrp="1"/>
          </p:cNvSpPr>
          <p:nvPr>
            <p:ph type="title"/>
          </p:nvPr>
        </p:nvSpPr>
        <p:spPr/>
        <p:txBody>
          <a:bodyPr/>
          <a:lstStyle/>
          <a:p>
            <a:r>
              <a:rPr lang="zh-CN" altLang="en-US" dirty="0"/>
              <a:t>断点回归设计</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82D21C56-36D3-2A14-A1FD-221209FA6619}"/>
                  </a:ext>
                </a:extLst>
              </p:cNvPr>
              <p:cNvSpPr>
                <a:spLocks noGrp="1"/>
              </p:cNvSpPr>
              <p:nvPr>
                <p:ph idx="1"/>
              </p:nvPr>
            </p:nvSpPr>
            <p:spPr>
              <a:xfrm>
                <a:off x="628650" y="1825624"/>
                <a:ext cx="7886700" cy="4667249"/>
              </a:xfrm>
            </p:spPr>
            <p:txBody>
              <a:bodyPr>
                <a:normAutofit fontScale="70000" lnSpcReduction="20000"/>
              </a:bodyPr>
              <a:lstStyle/>
              <a:p>
                <a:pPr>
                  <a:lnSpc>
                    <a:spcPct val="120000"/>
                  </a:lnSpc>
                </a:pPr>
                <a:r>
                  <a:rPr lang="zh-CN" altLang="en-US" dirty="0"/>
                  <a:t>基本思想：一个原因变量𝐷 完全依赖于一个参考变量𝑋</a:t>
                </a:r>
                <a:r>
                  <a:rPr lang="en-US" altLang="zh-CN" dirty="0"/>
                  <a:t>(running</a:t>
                </a:r>
                <a:r>
                  <a:rPr lang="zh-CN" altLang="en-US" dirty="0"/>
                  <a:t>、</a:t>
                </a:r>
                <a:r>
                  <a:rPr lang="en-US" altLang="zh-CN" dirty="0"/>
                  <a:t>assignment</a:t>
                </a:r>
                <a:r>
                  <a:rPr lang="zh-CN" altLang="en-US" dirty="0"/>
                  <a:t>、</a:t>
                </a:r>
                <a:r>
                  <a:rPr lang="en-US" altLang="zh-CN" dirty="0"/>
                  <a:t>forcing variable)</a:t>
                </a:r>
                <a:r>
                  <a:rPr lang="zh-CN" altLang="en-US" dirty="0"/>
                  <a:t>，参考变量本身也可能影响结果，如果有影响，参考变量对</a:t>
                </a:r>
                <a:r>
                  <a:rPr lang="en-US" altLang="zh-CN" dirty="0"/>
                  <a:t>Y </a:t>
                </a:r>
                <a:r>
                  <a:rPr lang="zh-CN" altLang="en-US" dirty="0"/>
                  <a:t>的影响是连续的，所有其他影响结果的变量影响都是连续的，则结果变量在断点处的跳跃，可以归因为原因变量</a:t>
                </a:r>
                <a:r>
                  <a:rPr lang="en-US" altLang="zh-CN" dirty="0"/>
                  <a:t>D </a:t>
                </a:r>
                <a:r>
                  <a:rPr lang="zh-CN" altLang="en-US" dirty="0"/>
                  <a:t>的影响。</a:t>
                </a:r>
                <a:endParaRPr lang="en-US" altLang="zh-CN" dirty="0"/>
              </a:p>
              <a:p>
                <a:pPr>
                  <a:lnSpc>
                    <a:spcPct val="120000"/>
                  </a:lnSpc>
                </a:pPr>
                <a:r>
                  <a:rPr lang="en-US" altLang="zh-CN" dirty="0"/>
                  <a:t>RDD </a:t>
                </a:r>
                <a:r>
                  <a:rPr lang="zh-CN" altLang="en-US" dirty="0"/>
                  <a:t>可分为两类：精确断点</a:t>
                </a:r>
                <a:r>
                  <a:rPr lang="en-US" altLang="zh-CN" dirty="0"/>
                  <a:t>(Sharp RDD) </a:t>
                </a:r>
                <a:r>
                  <a:rPr lang="zh-CN" altLang="en-US" dirty="0"/>
                  <a:t>和模糊断点</a:t>
                </a:r>
                <a:r>
                  <a:rPr lang="en-US" altLang="zh-CN" dirty="0"/>
                  <a:t>(Fuzzy RDD)</a:t>
                </a:r>
              </a:p>
              <a:p>
                <a:pPr lvl="1">
                  <a:lnSpc>
                    <a:spcPct val="120000"/>
                  </a:lnSpc>
                </a:pPr>
                <a:r>
                  <a:rPr lang="zh-CN" altLang="en-US" dirty="0"/>
                  <a:t>精确断点：</a:t>
                </a:r>
                <a:endParaRPr lang="en-US" altLang="zh-CN" dirty="0"/>
              </a:p>
              <a:p>
                <a:pPr marL="457200" lvl="1" indent="0">
                  <a:lnSpc>
                    <a:spcPct val="120000"/>
                  </a:lnSpc>
                  <a:buNone/>
                </a:pPr>
                <a14:m>
                  <m:oMathPara xmlns:m="http://schemas.openxmlformats.org/officeDocument/2006/math">
                    <m:oMath>
                      <m:r>
                        <a:rPr lang="zh-CN" altLang="en-US" i="1" smtClean="0">
                          <a:latin typeface="Cambria Math" panose="02040503050406030204" pitchFamily="18" charset="0"/>
                        </a:rPr>
                        <m:t>𝐷</m:t>
                      </m:r>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oMath>
                  </m:oMathPara>
                </a14:m>
                <a:endParaRPr lang="en-US" altLang="zh-CN" dirty="0"/>
              </a:p>
              <a:p>
                <a:pPr lvl="1">
                  <a:lnSpc>
                    <a:spcPct val="120000"/>
                  </a:lnSpc>
                </a:pPr>
                <a:r>
                  <a:rPr lang="zh-CN" altLang="en-US" dirty="0"/>
                  <a:t>满足</a:t>
                </a:r>
                <a:r>
                  <a:rPr lang="en-US" altLang="zh-CN" dirty="0"/>
                  <a:t>CIA</a:t>
                </a:r>
                <a:r>
                  <a:rPr lang="zh-CN" altLang="en-US" dirty="0"/>
                  <a:t>：</a:t>
                </a:r>
                <a14:m>
                  <m:oMath xmlns:m="http://schemas.openxmlformats.org/officeDocument/2006/math">
                    <m:r>
                      <a:rPr lang="en-US" altLang="zh-CN" i="1" dirty="0" smtClean="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oMath>
                </a14:m>
                <a:r>
                  <a:rPr lang="zh-CN" altLang="en-US" dirty="0"/>
                  <a:t>，但是不满足共同区间假设：</a:t>
                </a:r>
                <a14:m>
                  <m:oMath xmlns:m="http://schemas.openxmlformats.org/officeDocument/2006/math">
                    <m:r>
                      <a:rPr lang="en-US" altLang="zh-CN" i="1" dirty="0" smtClean="0">
                        <a:latin typeface="Cambria Math" panose="02040503050406030204" pitchFamily="18" charset="0"/>
                      </a:rPr>
                      <m:t>0 &lt; </m:t>
                    </m:r>
                    <m:r>
                      <a:rPr lang="zh-CN" altLang="en-US" i="1" dirty="0">
                        <a:latin typeface="Cambria Math" panose="02040503050406030204" pitchFamily="18" charset="0"/>
                      </a:rPr>
                      <m:t>𝑝</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&lt; 1</m:t>
                    </m:r>
                  </m:oMath>
                </a14:m>
                <a:r>
                  <a:rPr lang="zh-CN" altLang="en-US" dirty="0"/>
                  <a:t>。</a:t>
                </a:r>
                <a:endParaRPr lang="en-US" altLang="zh-CN" dirty="0"/>
              </a:p>
              <a:p>
                <a:pPr lvl="1">
                  <a:lnSpc>
                    <a:spcPct val="120000"/>
                  </a:lnSpc>
                </a:pPr>
                <a:r>
                  <a:rPr lang="zh-CN" altLang="en-US" dirty="0"/>
                  <a:t>模糊断点：</a:t>
                </a:r>
                <a:endParaRPr lang="en-US" altLang="zh-CN" dirty="0"/>
              </a:p>
              <a:p>
                <a:pPr marL="457200" lvl="1" indent="0">
                  <a:lnSpc>
                    <a:spcPct val="120000"/>
                  </a:lnSpc>
                  <a:buNone/>
                </a:pPr>
                <a14:m>
                  <m:oMathPara xmlns:m="http://schemas.openxmlformats.org/officeDocument/2006/math">
                    <m:oMath>
                      <m:r>
                        <a:rPr lang="zh-CN" altLang="en-US" i="1" smtClean="0">
                          <a:latin typeface="Cambria Math" panose="02040503050406030204" pitchFamily="18" charset="0"/>
                        </a:rPr>
                        <m:t>𝐷</m:t>
                      </m:r>
                      <m:r>
                        <a:rPr lang="zh-CN" altLang="en-US" i="1" smtClean="0">
                          <a:latin typeface="Cambria Math" panose="02040503050406030204" pitchFamily="18" charset="0"/>
                        </a:rPr>
                        <m:t>=</m:t>
                      </m:r>
                      <m:r>
                        <a:rPr lang="zh-CN" altLang="en-US" i="1" smtClean="0">
                          <a:latin typeface="Cambria Math" panose="02040503050406030204" pitchFamily="18" charset="0"/>
                        </a:rPr>
                        <m:t>𝐷</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𝑇</m:t>
                          </m:r>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a:rPr lang="zh-CN" altLang="en-US" i="1" smtClean="0">
                          <a:latin typeface="Cambria Math" panose="02040503050406030204" pitchFamily="18" charset="0"/>
                        </a:rPr>
                        <m:t>,</m:t>
                      </m:r>
                      <m:r>
                        <a:rPr lang="zh-CN" altLang="en-US" i="1" smtClean="0">
                          <a:latin typeface="Cambria Math" panose="02040503050406030204" pitchFamily="18" charset="0"/>
                        </a:rPr>
                        <m:t>𝑇</m:t>
                      </m:r>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𝑋</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oMath>
                  </m:oMathPara>
                </a14:m>
                <a:endParaRPr lang="en-US" altLang="zh-CN" dirty="0"/>
              </a:p>
              <a:p>
                <a:pPr lvl="1">
                  <a:lnSpc>
                    <a:spcPct val="120000"/>
                  </a:lnSpc>
                </a:pPr>
                <a:r>
                  <a:rPr lang="zh-CN" altLang="en-US" dirty="0"/>
                  <a:t>𝜀 是影响干预的其他未观测因素。</a:t>
                </a:r>
              </a:p>
            </p:txBody>
          </p:sp>
        </mc:Choice>
        <mc:Fallback>
          <p:sp>
            <p:nvSpPr>
              <p:cNvPr id="3" name="内容占位符 2">
                <a:extLst>
                  <a:ext uri="{FF2B5EF4-FFF2-40B4-BE49-F238E27FC236}">
                    <a16:creationId xmlns:a16="http://schemas.microsoft.com/office/drawing/2014/main" id="{82D21C56-36D3-2A14-A1FD-221209FA6619}"/>
                  </a:ext>
                </a:extLst>
              </p:cNvPr>
              <p:cNvSpPr>
                <a:spLocks noGrp="1" noRot="1" noChangeAspect="1" noMove="1" noResize="1" noEditPoints="1" noAdjustHandles="1" noChangeArrowheads="1" noChangeShapeType="1" noTextEdit="1"/>
              </p:cNvSpPr>
              <p:nvPr>
                <p:ph idx="1"/>
              </p:nvPr>
            </p:nvSpPr>
            <p:spPr>
              <a:xfrm>
                <a:off x="628650" y="1825624"/>
                <a:ext cx="7886700" cy="4667249"/>
              </a:xfrm>
              <a:blipFill>
                <a:blip r:embed="rId2"/>
                <a:stretch>
                  <a:fillRect l="-696" t="-783" r="-23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6756D41-BB1E-AD34-0E36-E5958E9D95A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40290EE-A565-6B03-92CD-3193C199FD91}"/>
              </a:ext>
            </a:extLst>
          </p:cNvPr>
          <p:cNvSpPr>
            <a:spLocks noGrp="1"/>
          </p:cNvSpPr>
          <p:nvPr>
            <p:ph type="sldNum" sz="quarter" idx="12"/>
          </p:nvPr>
        </p:nvSpPr>
        <p:spPr/>
        <p:txBody>
          <a:bodyPr/>
          <a:lstStyle/>
          <a:p>
            <a:fld id="{D41FC515-8169-4A29-AA56-DBE520D5741B}" type="slidenum">
              <a:rPr lang="zh-CN" altLang="en-US" smtClean="0"/>
              <a:t>4</a:t>
            </a:fld>
            <a:endParaRPr lang="zh-CN" altLang="en-US"/>
          </a:p>
        </p:txBody>
      </p:sp>
    </p:spTree>
    <p:extLst>
      <p:ext uri="{BB962C8B-B14F-4D97-AF65-F5344CB8AC3E}">
        <p14:creationId xmlns:p14="http://schemas.microsoft.com/office/powerpoint/2010/main" val="3852408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21A21B-1E76-E56A-5D22-34B16E7B899C}"/>
              </a:ext>
            </a:extLst>
          </p:cNvPr>
          <p:cNvSpPr>
            <a:spLocks noGrp="1"/>
          </p:cNvSpPr>
          <p:nvPr>
            <p:ph type="title"/>
          </p:nvPr>
        </p:nvSpPr>
        <p:spPr/>
        <p:txBody>
          <a:bodyPr/>
          <a:lstStyle/>
          <a:p>
            <a:r>
              <a:rPr lang="zh-CN" altLang="en-US" dirty="0"/>
              <a:t>断点回归设计</a:t>
            </a:r>
          </a:p>
        </p:txBody>
      </p:sp>
      <p:pic>
        <p:nvPicPr>
          <p:cNvPr id="7" name="内容占位符 6">
            <a:extLst>
              <a:ext uri="{FF2B5EF4-FFF2-40B4-BE49-F238E27FC236}">
                <a16:creationId xmlns:a16="http://schemas.microsoft.com/office/drawing/2014/main" id="{D5172E26-DB35-AFB1-0417-E04B3D10C58D}"/>
              </a:ext>
            </a:extLst>
          </p:cNvPr>
          <p:cNvPicPr>
            <a:picLocks noGrp="1" noChangeAspect="1"/>
          </p:cNvPicPr>
          <p:nvPr>
            <p:ph idx="1"/>
          </p:nvPr>
        </p:nvPicPr>
        <p:blipFill>
          <a:blip r:embed="rId2"/>
          <a:stretch>
            <a:fillRect/>
          </a:stretch>
        </p:blipFill>
        <p:spPr>
          <a:xfrm>
            <a:off x="1947567" y="2251730"/>
            <a:ext cx="5468970" cy="2799152"/>
          </a:xfrm>
          <a:prstGeom prst="rect">
            <a:avLst/>
          </a:prstGeom>
        </p:spPr>
      </p:pic>
      <p:sp>
        <p:nvSpPr>
          <p:cNvPr id="4" name="页脚占位符 3">
            <a:extLst>
              <a:ext uri="{FF2B5EF4-FFF2-40B4-BE49-F238E27FC236}">
                <a16:creationId xmlns:a16="http://schemas.microsoft.com/office/drawing/2014/main" id="{8411B894-7486-01EA-E1C2-761E2A8E47F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41EB5F8-37CA-918C-A4D3-593670EC5F3C}"/>
              </a:ext>
            </a:extLst>
          </p:cNvPr>
          <p:cNvSpPr>
            <a:spLocks noGrp="1"/>
          </p:cNvSpPr>
          <p:nvPr>
            <p:ph type="sldNum" sz="quarter" idx="12"/>
          </p:nvPr>
        </p:nvSpPr>
        <p:spPr/>
        <p:txBody>
          <a:bodyPr/>
          <a:lstStyle/>
          <a:p>
            <a:fld id="{D41FC515-8169-4A29-AA56-DBE520D5741B}" type="slidenum">
              <a:rPr lang="zh-CN" altLang="en-US" smtClean="0"/>
              <a:t>5</a:t>
            </a:fld>
            <a:endParaRPr lang="zh-CN" altLang="en-US"/>
          </a:p>
        </p:txBody>
      </p:sp>
    </p:spTree>
    <p:extLst>
      <p:ext uri="{BB962C8B-B14F-4D97-AF65-F5344CB8AC3E}">
        <p14:creationId xmlns:p14="http://schemas.microsoft.com/office/powerpoint/2010/main" val="402840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42ED34-3807-A627-5372-65A12EAB9B2D}"/>
              </a:ext>
            </a:extLst>
          </p:cNvPr>
          <p:cNvSpPr>
            <a:spLocks noGrp="1"/>
          </p:cNvSpPr>
          <p:nvPr>
            <p:ph type="title"/>
          </p:nvPr>
        </p:nvSpPr>
        <p:spPr/>
        <p:txBody>
          <a:bodyPr/>
          <a:lstStyle/>
          <a:p>
            <a:r>
              <a:rPr lang="zh-CN" altLang="en-US" dirty="0"/>
              <a:t>断点回归设计</a:t>
            </a:r>
            <a:br>
              <a:rPr lang="en-US" altLang="zh-CN" dirty="0"/>
            </a:br>
            <a:r>
              <a:rPr lang="zh-CN" altLang="en-US" sz="2400" dirty="0"/>
              <a:t>精确断点回归设计</a:t>
            </a:r>
          </a:p>
        </p:txBody>
      </p:sp>
      <p:pic>
        <p:nvPicPr>
          <p:cNvPr id="7" name="内容占位符 6">
            <a:extLst>
              <a:ext uri="{FF2B5EF4-FFF2-40B4-BE49-F238E27FC236}">
                <a16:creationId xmlns:a16="http://schemas.microsoft.com/office/drawing/2014/main" id="{E7649434-3B1B-35FB-308E-3B33A8707046}"/>
              </a:ext>
            </a:extLst>
          </p:cNvPr>
          <p:cNvPicPr>
            <a:picLocks noGrp="1" noChangeAspect="1"/>
          </p:cNvPicPr>
          <p:nvPr>
            <p:ph idx="1"/>
          </p:nvPr>
        </p:nvPicPr>
        <p:blipFill>
          <a:blip r:embed="rId2"/>
          <a:stretch>
            <a:fillRect/>
          </a:stretch>
        </p:blipFill>
        <p:spPr>
          <a:xfrm>
            <a:off x="1804737" y="1882440"/>
            <a:ext cx="5221705" cy="4610434"/>
          </a:xfrm>
          <a:prstGeom prst="rect">
            <a:avLst/>
          </a:prstGeom>
        </p:spPr>
      </p:pic>
      <p:sp>
        <p:nvSpPr>
          <p:cNvPr id="4" name="页脚占位符 3">
            <a:extLst>
              <a:ext uri="{FF2B5EF4-FFF2-40B4-BE49-F238E27FC236}">
                <a16:creationId xmlns:a16="http://schemas.microsoft.com/office/drawing/2014/main" id="{EE9075AE-0528-5730-FB3A-5DF1199AC05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BE2F0D1-23E6-38AF-99B3-F9A96A44D271}"/>
              </a:ext>
            </a:extLst>
          </p:cNvPr>
          <p:cNvSpPr>
            <a:spLocks noGrp="1"/>
          </p:cNvSpPr>
          <p:nvPr>
            <p:ph type="sldNum" sz="quarter" idx="12"/>
          </p:nvPr>
        </p:nvSpPr>
        <p:spPr/>
        <p:txBody>
          <a:bodyPr/>
          <a:lstStyle/>
          <a:p>
            <a:fld id="{D41FC515-8169-4A29-AA56-DBE520D5741B}" type="slidenum">
              <a:rPr lang="zh-CN" altLang="en-US" smtClean="0"/>
              <a:t>6</a:t>
            </a:fld>
            <a:endParaRPr lang="zh-CN" altLang="en-US"/>
          </a:p>
        </p:txBody>
      </p:sp>
    </p:spTree>
    <p:extLst>
      <p:ext uri="{BB962C8B-B14F-4D97-AF65-F5344CB8AC3E}">
        <p14:creationId xmlns:p14="http://schemas.microsoft.com/office/powerpoint/2010/main" val="156126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45126F-6587-45A6-C27D-9EA92E805140}"/>
              </a:ext>
            </a:extLst>
          </p:cNvPr>
          <p:cNvSpPr>
            <a:spLocks noGrp="1"/>
          </p:cNvSpPr>
          <p:nvPr>
            <p:ph type="title"/>
          </p:nvPr>
        </p:nvSpPr>
        <p:spPr/>
        <p:txBody>
          <a:bodyPr/>
          <a:lstStyle/>
          <a:p>
            <a:r>
              <a:rPr lang="zh-CN" altLang="en-US" dirty="0"/>
              <a:t>断点回归设计</a:t>
            </a:r>
            <a:br>
              <a:rPr lang="en-US" altLang="zh-CN" dirty="0"/>
            </a:br>
            <a:r>
              <a:rPr lang="zh-CN" altLang="en-US" sz="2400" dirty="0"/>
              <a:t>精确断点回归设计</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D9C4500E-0FB0-1A51-D1A6-E7D709EF4901}"/>
                  </a:ext>
                </a:extLst>
              </p:cNvPr>
              <p:cNvSpPr>
                <a:spLocks noGrp="1"/>
              </p:cNvSpPr>
              <p:nvPr>
                <p:ph idx="1"/>
              </p:nvPr>
            </p:nvSpPr>
            <p:spPr/>
            <p:txBody>
              <a:bodyPr>
                <a:normAutofit fontScale="92500"/>
              </a:bodyPr>
              <a:lstStyle/>
              <a:p>
                <a:pPr>
                  <a:lnSpc>
                    <a:spcPct val="110000"/>
                  </a:lnSpc>
                </a:pPr>
                <a:r>
                  <a:rPr lang="zh-CN" altLang="en-US" dirty="0"/>
                  <a:t>假设</a:t>
                </a:r>
                <a:r>
                  <a:rPr lang="en-US" altLang="zh-CN" b="1" dirty="0"/>
                  <a:t>1</a:t>
                </a:r>
                <a:r>
                  <a:rPr lang="zh-CN" altLang="en-US" dirty="0"/>
                  <a:t>（断点假设）假设极限</a:t>
                </a:r>
                <a:endParaRPr lang="en-US" altLang="zh-CN" dirty="0"/>
              </a:p>
              <a:p>
                <a:pPr marL="0" indent="0">
                  <a:lnSpc>
                    <a:spcPct val="110000"/>
                  </a:lnSpc>
                  <a:buNone/>
                </a:pPr>
                <a14:m>
                  <m:oMathPara xmlns:m="http://schemas.openxmlformats.org/officeDocument/2006/math">
                    <m:oMath>
                      <m:eqArr>
                        <m:eqArrPr>
                          <m:ctrlPr>
                            <a:rPr lang="zh-CN" altLang="en-US" i="1" smtClean="0">
                              <a:latin typeface="Cambria Math" panose="02040503050406030204" pitchFamily="18" charset="0"/>
                            </a:rPr>
                          </m:ctrlPr>
                        </m:eqArrPr>
                        <m:e>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𝑝</m:t>
                              </m:r>
                            </m:e>
                            <m:sup>
                              <m:r>
                                <a:rPr lang="zh-CN" altLang="en-US" i="1" smtClean="0">
                                  <a:latin typeface="Cambria Math" panose="02040503050406030204" pitchFamily="18" charset="0"/>
                                </a:rPr>
                                <m:t>+</m:t>
                              </m:r>
                            </m:sup>
                          </m:sSup>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r>
                            <a:rPr lang="zh-CN" altLang="en-US" i="1" smtClean="0">
                              <a:latin typeface="Cambria Math" panose="02040503050406030204" pitchFamily="18" charset="0"/>
                            </a:rPr>
                            <m:t>, </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𝑝</m:t>
                              </m:r>
                            </m:e>
                            <m:sup>
                              <m:r>
                                <a:rPr lang="zh-CN" altLang="en-US" i="1" smtClean="0">
                                  <a:latin typeface="Cambria Math" panose="02040503050406030204" pitchFamily="18" charset="0"/>
                                </a:rPr>
                                <m:t>−</m:t>
                              </m:r>
                            </m:sup>
                          </m:sSup>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r>
                            <a:rPr lang="zh-CN" altLang="en-US" i="1" smtClean="0">
                              <a:latin typeface="Cambria Math" panose="02040503050406030204" pitchFamily="18" charset="0"/>
                            </a:rPr>
                            <m:t>,</m:t>
                          </m:r>
                        </m:e>
                      </m:eqArr>
                    </m:oMath>
                  </m:oMathPara>
                </a14:m>
                <a:endParaRPr lang="en-US" altLang="zh-CN" dirty="0"/>
              </a:p>
              <a:p>
                <a:pPr marL="0" indent="0">
                  <a:lnSpc>
                    <a:spcPct val="110000"/>
                  </a:lnSpc>
                  <a:buNone/>
                </a:pPr>
                <a:r>
                  <a:rPr lang="zh-CN" altLang="en-US" dirty="0"/>
                  <a:t>存在，并且</a:t>
                </a:r>
                <a14:m>
                  <m:oMath xmlns:m="http://schemas.openxmlformats.org/officeDocument/2006/math">
                    <m:sSup>
                      <m:sSupPr>
                        <m:ctrlPr>
                          <a:rPr lang="zh-CN" altLang="en-US" i="1" dirty="0" smtClean="0">
                            <a:latin typeface="Cambria Math" panose="02040503050406030204" pitchFamily="18" charset="0"/>
                          </a:rPr>
                        </m:ctrlPr>
                      </m:sSupPr>
                      <m:e>
                        <m:r>
                          <a:rPr lang="zh-CN" altLang="en-US" i="1" dirty="0" smtClean="0">
                            <a:latin typeface="Cambria Math" panose="02040503050406030204" pitchFamily="18" charset="0"/>
                          </a:rPr>
                          <m:t>𝑝</m:t>
                        </m:r>
                      </m:e>
                      <m:sup>
                        <m:r>
                          <a:rPr lang="en-US" altLang="zh-CN" i="1" dirty="0">
                            <a:latin typeface="Cambria Math" panose="02040503050406030204" pitchFamily="18" charset="0"/>
                          </a:rPr>
                          <m:t>+</m:t>
                        </m:r>
                      </m:sup>
                    </m:sSup>
                    <m:r>
                      <a:rPr lang="en-US" altLang="zh-CN" i="1" dirty="0">
                        <a:latin typeface="Cambria Math" panose="02040503050406030204" pitchFamily="18" charset="0"/>
                      </a:rPr>
                      <m:t> </m:t>
                    </m:r>
                    <m:r>
                      <a:rPr lang="zh-CN" altLang="en-US" i="1" dirty="0">
                        <a:latin typeface="Cambria Math" panose="02040503050406030204" pitchFamily="18" charset="0"/>
                      </a:rPr>
                      <m:t>≠ </m:t>
                    </m:r>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𝑝</m:t>
                        </m:r>
                      </m:e>
                      <m:sup>
                        <m:r>
                          <a:rPr lang="zh-CN" altLang="en-US" i="1" dirty="0">
                            <a:latin typeface="Cambria Math" panose="02040503050406030204" pitchFamily="18" charset="0"/>
                          </a:rPr>
                          <m:t>−</m:t>
                        </m:r>
                      </m:sup>
                    </m:sSup>
                  </m:oMath>
                </a14:m>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𝐷</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r>
                      <a:rPr lang="zh-CN" altLang="en-US" i="1" dirty="0">
                        <a:latin typeface="Cambria Math" panose="02040503050406030204" pitchFamily="18" charset="0"/>
                      </a:rPr>
                      <m:t>𝜖</m:t>
                    </m:r>
                    <m:r>
                      <a:rPr lang="en-US" altLang="zh-CN" i="1" dirty="0">
                        <a:latin typeface="Cambria Math" panose="02040503050406030204" pitchFamily="18" charset="0"/>
                      </a:rPr>
                      <m:t>)</m:t>
                    </m:r>
                  </m:oMath>
                </a14:m>
                <a:r>
                  <a:rPr lang="zh-CN" altLang="en-US" dirty="0"/>
                  <a:t>，</a:t>
                </a:r>
                <a14:m>
                  <m:oMath xmlns:m="http://schemas.openxmlformats.org/officeDocument/2006/math">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1(</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𝑥</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oMath>
                </a14:m>
                <a:r>
                  <a:rPr lang="zh-CN" altLang="en-US" dirty="0"/>
                  <a:t>，如果是精确断点，则</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zh-CN" altLang="en-US" i="1" dirty="0">
                            <a:latin typeface="Cambria Math" panose="02040503050406030204" pitchFamily="18" charset="0"/>
                          </a:rPr>
                          <m:t>𝑖</m:t>
                        </m:r>
                      </m:sub>
                    </m:sSub>
                  </m:oMath>
                </a14:m>
                <a:r>
                  <a:rPr lang="zh-CN" altLang="en-US" dirty="0"/>
                  <a:t>；</a:t>
                </a:r>
                <a14:m>
                  <m:oMath xmlns:m="http://schemas.openxmlformats.org/officeDocument/2006/math">
                    <m:r>
                      <a:rPr lang="zh-CN" altLang="en-US" i="1" dirty="0" smtClean="0">
                        <a:latin typeface="Cambria Math" panose="02040503050406030204" pitchFamily="18" charset="0"/>
                      </a:rPr>
                      <m:t>𝑝</m:t>
                    </m:r>
                    <m:r>
                      <a:rPr lang="en-US" altLang="zh-CN" i="1" dirty="0">
                        <a:latin typeface="Cambria Math" panose="02040503050406030204" pitchFamily="18" charset="0"/>
                      </a:rPr>
                      <m:t>(</m:t>
                    </m:r>
                    <m:r>
                      <a:rPr lang="zh-CN" altLang="en-US" i="1" dirty="0">
                        <a:latin typeface="Cambria Math" panose="02040503050406030204" pitchFamily="18" charset="0"/>
                      </a:rPr>
                      <m:t>𝑥</m:t>
                    </m:r>
                    <m:r>
                      <a:rPr lang="en-US" altLang="zh-CN" i="1" dirty="0">
                        <a:latin typeface="Cambria Math" panose="02040503050406030204" pitchFamily="18" charset="0"/>
                      </a:rPr>
                      <m:t>) ≡ </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𝑥</m:t>
                    </m:r>
                    <m:r>
                      <a:rPr lang="en-US" altLang="zh-CN" i="1" dirty="0">
                        <a:latin typeface="Cambria Math" panose="02040503050406030204" pitchFamily="18" charset="0"/>
                      </a:rPr>
                      <m:t>] = </m:t>
                    </m:r>
                    <m:r>
                      <m:rPr>
                        <m:sty m:val="p"/>
                      </m:rPr>
                      <a:rPr lang="en-US" altLang="zh-CN" i="1" dirty="0" err="1">
                        <a:latin typeface="Cambria Math" panose="02040503050406030204" pitchFamily="18" charset="0"/>
                      </a:rPr>
                      <m:t>Pr</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1</m:t>
                    </m:r>
                    <m:r>
                      <a:rPr lang="en-US" altLang="zh-CN" i="1" dirty="0" smtClean="0">
                        <a:latin typeface="Cambria Math" panose="02040503050406030204" pitchFamily="18" charset="0"/>
                      </a:rPr>
                      <m:t>|</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𝑋</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𝑥</m:t>
                    </m:r>
                    <m:r>
                      <a:rPr lang="en-US" altLang="zh-CN" i="1" dirty="0">
                        <a:latin typeface="Cambria Math" panose="02040503050406030204" pitchFamily="18" charset="0"/>
                      </a:rPr>
                      <m:t>] </m:t>
                    </m:r>
                  </m:oMath>
                </a14:m>
                <a:r>
                  <a:rPr lang="zh-CN" altLang="en-US" dirty="0"/>
                  <a:t>为倾向指数，表示参考变量为𝑥 的个体进入干预组的概率，如果是精确断点，则𝑝</a:t>
                </a:r>
                <a:r>
                  <a:rPr lang="en-US" altLang="zh-CN" dirty="0"/>
                  <a:t>+ = 1</a:t>
                </a:r>
                <a:r>
                  <a:rPr lang="zh-CN" altLang="en-US" dirty="0"/>
                  <a:t>，𝑝− </a:t>
                </a:r>
                <a:r>
                  <a:rPr lang="en-US" altLang="zh-CN" dirty="0"/>
                  <a:t>= 0</a:t>
                </a:r>
                <a:r>
                  <a:rPr lang="zh-CN" altLang="en-US" dirty="0"/>
                  <a:t>，即断点右侧个体都进入干预组，左侧个体进入控制组。</a:t>
                </a:r>
              </a:p>
            </p:txBody>
          </p:sp>
        </mc:Choice>
        <mc:Fallback>
          <p:sp>
            <p:nvSpPr>
              <p:cNvPr id="3" name="内容占位符 2">
                <a:extLst>
                  <a:ext uri="{FF2B5EF4-FFF2-40B4-BE49-F238E27FC236}">
                    <a16:creationId xmlns:a16="http://schemas.microsoft.com/office/drawing/2014/main" id="{D9C4500E-0FB0-1A51-D1A6-E7D709EF4901}"/>
                  </a:ext>
                </a:extLst>
              </p:cNvPr>
              <p:cNvSpPr>
                <a:spLocks noGrp="1" noRot="1" noChangeAspect="1" noMove="1" noResize="1" noEditPoints="1" noAdjustHandles="1" noChangeArrowheads="1" noChangeShapeType="1" noTextEdit="1"/>
              </p:cNvSpPr>
              <p:nvPr>
                <p:ph idx="1"/>
              </p:nvPr>
            </p:nvSpPr>
            <p:spPr>
              <a:blipFill>
                <a:blip r:embed="rId2"/>
                <a:stretch>
                  <a:fillRect l="-1391" t="-9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7E48F01-B3A7-D528-E9DA-65DB439D40B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E823A02-2C00-24F6-1172-A1AC9890953A}"/>
              </a:ext>
            </a:extLst>
          </p:cNvPr>
          <p:cNvSpPr>
            <a:spLocks noGrp="1"/>
          </p:cNvSpPr>
          <p:nvPr>
            <p:ph type="sldNum" sz="quarter" idx="12"/>
          </p:nvPr>
        </p:nvSpPr>
        <p:spPr/>
        <p:txBody>
          <a:bodyPr/>
          <a:lstStyle/>
          <a:p>
            <a:fld id="{D41FC515-8169-4A29-AA56-DBE520D5741B}" type="slidenum">
              <a:rPr lang="zh-CN" altLang="en-US" smtClean="0"/>
              <a:t>7</a:t>
            </a:fld>
            <a:endParaRPr lang="zh-CN" altLang="en-US"/>
          </a:p>
        </p:txBody>
      </p:sp>
    </p:spTree>
    <p:extLst>
      <p:ext uri="{BB962C8B-B14F-4D97-AF65-F5344CB8AC3E}">
        <p14:creationId xmlns:p14="http://schemas.microsoft.com/office/powerpoint/2010/main" val="3630705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39CDEF-7328-A459-C234-D43EBB365E45}"/>
              </a:ext>
            </a:extLst>
          </p:cNvPr>
          <p:cNvSpPr>
            <a:spLocks noGrp="1"/>
          </p:cNvSpPr>
          <p:nvPr>
            <p:ph type="title"/>
          </p:nvPr>
        </p:nvSpPr>
        <p:spPr/>
        <p:txBody>
          <a:bodyPr/>
          <a:lstStyle/>
          <a:p>
            <a:r>
              <a:rPr lang="zh-CN" altLang="en-US" dirty="0"/>
              <a:t>断点回归设计</a:t>
            </a:r>
            <a:br>
              <a:rPr lang="en-US" altLang="zh-CN" dirty="0"/>
            </a:br>
            <a:r>
              <a:rPr lang="zh-CN" altLang="en-US" sz="2400" dirty="0"/>
              <a:t>精确断点回归设计</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36F4FFE-8BED-7783-EB5D-2E268FC44CEB}"/>
                  </a:ext>
                </a:extLst>
              </p:cNvPr>
              <p:cNvSpPr>
                <a:spLocks noGrp="1"/>
              </p:cNvSpPr>
              <p:nvPr>
                <p:ph idx="1"/>
              </p:nvPr>
            </p:nvSpPr>
            <p:spPr/>
            <p:txBody>
              <a:bodyPr>
                <a:normAutofit fontScale="92500"/>
              </a:bodyPr>
              <a:lstStyle/>
              <a:p>
                <a:r>
                  <a:rPr lang="zh-CN" altLang="en-US" dirty="0"/>
                  <a:t>假设</a:t>
                </a:r>
                <a:r>
                  <a:rPr lang="en-US" altLang="zh-CN" b="1" dirty="0"/>
                  <a:t>2</a:t>
                </a:r>
                <a:r>
                  <a:rPr lang="zh-CN" altLang="en-US" dirty="0"/>
                  <a:t>（连续性假设）𝐸</a:t>
                </a:r>
                <a:r>
                  <a:rPr lang="en-US" altLang="zh-CN" dirty="0"/>
                  <a:t>[</a:t>
                </a:r>
                <a:r>
                  <a:rPr lang="zh-CN" altLang="en-US" dirty="0"/>
                  <a:t>𝑌</a:t>
                </a:r>
                <a:r>
                  <a:rPr lang="en-US" altLang="zh-CN" dirty="0"/>
                  <a:t>0</a:t>
                </a:r>
                <a:r>
                  <a:rPr lang="zh-CN" altLang="en-US" dirty="0"/>
                  <a:t>𝑖</a:t>
                </a:r>
                <a:r>
                  <a:rPr lang="en-US" altLang="zh-CN" dirty="0"/>
                  <a:t>|</a:t>
                </a:r>
                <a:r>
                  <a:rPr lang="zh-CN" altLang="en-US" dirty="0"/>
                  <a:t>𝑋𝑖 </a:t>
                </a:r>
                <a:r>
                  <a:rPr lang="en-US" altLang="zh-CN" dirty="0"/>
                  <a:t>= </a:t>
                </a:r>
                <a:r>
                  <a:rPr lang="zh-CN" altLang="en-US" dirty="0"/>
                  <a:t>𝑥</a:t>
                </a:r>
                <a:r>
                  <a:rPr lang="en-US" altLang="zh-CN" dirty="0"/>
                  <a:t>]</a:t>
                </a:r>
                <a:r>
                  <a:rPr lang="zh-CN" altLang="en-US" dirty="0"/>
                  <a:t>、𝐸</a:t>
                </a:r>
                <a:r>
                  <a:rPr lang="en-US" altLang="zh-CN" dirty="0"/>
                  <a:t>[</a:t>
                </a:r>
                <a:r>
                  <a:rPr lang="zh-CN" altLang="en-US" dirty="0"/>
                  <a:t>𝑌𝑖</a:t>
                </a:r>
                <a:r>
                  <a:rPr lang="en-US" altLang="zh-CN" dirty="0"/>
                  <a:t>(1)|</a:t>
                </a:r>
                <a:r>
                  <a:rPr lang="zh-CN" altLang="en-US" dirty="0"/>
                  <a:t>𝑋𝑖 </a:t>
                </a:r>
                <a:r>
                  <a:rPr lang="en-US" altLang="zh-CN" dirty="0"/>
                  <a:t>= </a:t>
                </a:r>
                <a:r>
                  <a:rPr lang="zh-CN" altLang="en-US" dirty="0"/>
                  <a:t>𝑥</a:t>
                </a:r>
                <a:r>
                  <a:rPr lang="en-US" altLang="zh-CN" dirty="0"/>
                  <a:t>] </a:t>
                </a:r>
                <a:r>
                  <a:rPr lang="zh-CN" altLang="en-US" dirty="0"/>
                  <a:t>是𝑥 的函数，并且在𝑥</a:t>
                </a:r>
                <a:r>
                  <a:rPr lang="en-US" altLang="zh-CN" dirty="0"/>
                  <a:t>0 </a:t>
                </a:r>
                <a:r>
                  <a:rPr lang="zh-CN" altLang="en-US" dirty="0"/>
                  <a:t>处是连续的，即</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𝜀</m:t>
                                  </m:r>
                                  <m:r>
                                    <a:rPr lang="zh-CN" altLang="en-US" i="1" smtClean="0">
                                      <a:latin typeface="Cambria Math" panose="02040503050406030204" pitchFamily="18" charset="0"/>
                                    </a:rPr>
                                    <m:t>→0</m:t>
                                  </m:r>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𝑗𝑖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𝜀</m:t>
                                  </m:r>
                                  <m:r>
                                    <a:rPr lang="zh-CN" altLang="en-US" i="1" smtClean="0">
                                      <a:latin typeface="Cambria Math" panose="02040503050406030204" pitchFamily="18" charset="0"/>
                                    </a:rPr>
                                    <m:t>→0</m:t>
                                  </m:r>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𝑗𝑖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a:rPr lang="zh-CN" altLang="en-US" i="1" smtClean="0">
                              <a:latin typeface="Cambria Math" panose="02040503050406030204" pitchFamily="18" charset="0"/>
                            </a:rPr>
                            <m:t>, </m:t>
                          </m:r>
                          <m:r>
                            <a:rPr lang="zh-CN" altLang="en-US" i="1" smtClean="0">
                              <a:latin typeface="Cambria Math" panose="02040503050406030204" pitchFamily="18" charset="0"/>
                            </a:rPr>
                            <m:t>𝑗</m:t>
                          </m:r>
                          <m:r>
                            <a:rPr lang="zh-CN" altLang="en-US" i="1" smtClean="0">
                              <a:latin typeface="Cambria Math" panose="02040503050406030204" pitchFamily="18" charset="0"/>
                            </a:rPr>
                            <m:t>=0,1.</m:t>
                          </m:r>
                        </m:e>
                      </m:eqArr>
                    </m:oMath>
                  </m:oMathPara>
                </a14:m>
                <a:endParaRPr lang="en-US" altLang="zh-CN" dirty="0"/>
              </a:p>
              <a:p>
                <a:r>
                  <a:rPr lang="zh-CN" altLang="en-US" dirty="0"/>
                  <a:t>假设</a:t>
                </a:r>
                <a:r>
                  <a:rPr lang="en-US" altLang="zh-CN" b="1" dirty="0"/>
                  <a:t>3</a:t>
                </a:r>
                <a:r>
                  <a:rPr lang="zh-CN" altLang="en-US" dirty="0"/>
                  <a:t>（局部随机化假设）假设在断点附近近似于完全随机化实验，即</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𝛿</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e>
                      </m:eqArr>
                    </m:oMath>
                  </m:oMathPara>
                </a14:m>
                <a:endParaRPr lang="en-US" altLang="zh-CN" dirty="0"/>
              </a:p>
              <a:p>
                <a:pPr marL="0" indent="0">
                  <a:buNone/>
                </a:pPr>
                <a:r>
                  <a:rPr lang="zh-CN" altLang="en-US" dirty="0"/>
                  <a:t>其中</a:t>
                </a:r>
                <a14:m>
                  <m:oMath xmlns:m="http://schemas.openxmlformats.org/officeDocument/2006/math">
                    <m:r>
                      <a:rPr lang="zh-CN" altLang="en-US" i="1" dirty="0" smtClean="0">
                        <a:latin typeface="Cambria Math" panose="02040503050406030204" pitchFamily="18" charset="0"/>
                      </a:rPr>
                      <m:t>𝛿</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𝑥</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𝑥</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r>
                      <a:rPr lang="zh-CN" altLang="en-US" i="1" dirty="0">
                        <a:latin typeface="Cambria Math" panose="02040503050406030204" pitchFamily="18" charset="0"/>
                      </a:rPr>
                      <m:t>𝛿</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𝑥</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 </m:t>
                    </m:r>
                    <m:r>
                      <a:rPr lang="zh-CN" altLang="en-US" i="1" dirty="0">
                        <a:latin typeface="Cambria Math" panose="02040503050406030204" pitchFamily="18" charset="0"/>
                      </a:rPr>
                      <m:t>𝛿</m:t>
                    </m:r>
                    <m:r>
                      <a:rPr lang="en-US" altLang="zh-CN" i="1" dirty="0">
                        <a:latin typeface="Cambria Math" panose="02040503050406030204" pitchFamily="18" charset="0"/>
                      </a:rPr>
                      <m:t>) </m:t>
                    </m:r>
                  </m:oMath>
                </a14:m>
                <a:r>
                  <a:rPr lang="zh-CN" altLang="en-US" dirty="0"/>
                  <a:t>为</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𝑥</m:t>
                        </m:r>
                      </m:e>
                      <m:sub>
                        <m:r>
                          <a:rPr lang="en-US" altLang="zh-CN" i="1" dirty="0">
                            <a:latin typeface="Cambria Math" panose="02040503050406030204" pitchFamily="18" charset="0"/>
                          </a:rPr>
                          <m:t>0</m:t>
                        </m:r>
                      </m:sub>
                    </m:sSub>
                  </m:oMath>
                </a14:m>
                <a:r>
                  <a:rPr lang="en-US" altLang="zh-CN" dirty="0"/>
                  <a:t> </a:t>
                </a:r>
                <a:r>
                  <a:rPr lang="zh-CN" altLang="en-US" dirty="0"/>
                  <a:t>的𝛿 邻域，𝛿 </a:t>
                </a:r>
                <a:r>
                  <a:rPr lang="en-US" altLang="zh-CN" dirty="0"/>
                  <a:t>&gt; 0 </a:t>
                </a:r>
                <a:r>
                  <a:rPr lang="zh-CN" altLang="en-US" dirty="0"/>
                  <a:t>为任意小的正数。</a:t>
                </a:r>
              </a:p>
            </p:txBody>
          </p:sp>
        </mc:Choice>
        <mc:Fallback>
          <p:sp>
            <p:nvSpPr>
              <p:cNvPr id="3" name="内容占位符 2">
                <a:extLst>
                  <a:ext uri="{FF2B5EF4-FFF2-40B4-BE49-F238E27FC236}">
                    <a16:creationId xmlns:a16="http://schemas.microsoft.com/office/drawing/2014/main" id="{336F4FFE-8BED-7783-EB5D-2E268FC44CEB}"/>
                  </a:ext>
                </a:extLst>
              </p:cNvPr>
              <p:cNvSpPr>
                <a:spLocks noGrp="1" noRot="1" noChangeAspect="1" noMove="1" noResize="1" noEditPoints="1" noAdjustHandles="1" noChangeArrowheads="1" noChangeShapeType="1" noTextEdit="1"/>
              </p:cNvSpPr>
              <p:nvPr>
                <p:ph idx="1"/>
              </p:nvPr>
            </p:nvSpPr>
            <p:spPr>
              <a:blipFill>
                <a:blip r:embed="rId2"/>
                <a:stretch>
                  <a:fillRect l="-1391" t="-1401" r="-139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E0FA07E-D992-CECE-3C76-30B6A96F533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C08418B-2FA1-ADFE-5B4F-DB1860783D11}"/>
              </a:ext>
            </a:extLst>
          </p:cNvPr>
          <p:cNvSpPr>
            <a:spLocks noGrp="1"/>
          </p:cNvSpPr>
          <p:nvPr>
            <p:ph type="sldNum" sz="quarter" idx="12"/>
          </p:nvPr>
        </p:nvSpPr>
        <p:spPr/>
        <p:txBody>
          <a:bodyPr/>
          <a:lstStyle/>
          <a:p>
            <a:fld id="{D41FC515-8169-4A29-AA56-DBE520D5741B}" type="slidenum">
              <a:rPr lang="zh-CN" altLang="en-US" smtClean="0"/>
              <a:t>8</a:t>
            </a:fld>
            <a:endParaRPr lang="zh-CN" altLang="en-US"/>
          </a:p>
        </p:txBody>
      </p:sp>
    </p:spTree>
    <p:extLst>
      <p:ext uri="{BB962C8B-B14F-4D97-AF65-F5344CB8AC3E}">
        <p14:creationId xmlns:p14="http://schemas.microsoft.com/office/powerpoint/2010/main" val="4019336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F05EE8-0499-0EB9-F6FC-D00100869BD7}"/>
              </a:ext>
            </a:extLst>
          </p:cNvPr>
          <p:cNvSpPr>
            <a:spLocks noGrp="1"/>
          </p:cNvSpPr>
          <p:nvPr>
            <p:ph type="title"/>
          </p:nvPr>
        </p:nvSpPr>
        <p:spPr/>
        <p:txBody>
          <a:bodyPr/>
          <a:lstStyle/>
          <a:p>
            <a:r>
              <a:rPr lang="zh-CN" altLang="en-US" dirty="0"/>
              <a:t>断点回归设计</a:t>
            </a:r>
            <a:br>
              <a:rPr lang="en-US" altLang="zh-CN" dirty="0"/>
            </a:br>
            <a:r>
              <a:rPr lang="zh-CN" altLang="en-US" sz="2400" dirty="0"/>
              <a:t>精确断点回归设计</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6908E30-2A24-41C5-B95A-4AD4805D8BB0}"/>
                  </a:ext>
                </a:extLst>
              </p:cNvPr>
              <p:cNvSpPr>
                <a:spLocks noGrp="1"/>
              </p:cNvSpPr>
              <p:nvPr>
                <p:ph idx="1"/>
              </p:nvPr>
            </p:nvSpPr>
            <p:spPr/>
            <p:txBody>
              <a:bodyPr>
                <a:normAutofit fontScale="92500" lnSpcReduction="20000"/>
              </a:bodyPr>
              <a:lstStyle/>
              <a:p>
                <a:pPr>
                  <a:lnSpc>
                    <a:spcPct val="110000"/>
                  </a:lnSpc>
                </a:pPr>
                <a:r>
                  <a:rPr lang="zh-CN" altLang="en-US" dirty="0"/>
                  <a:t>定理</a:t>
                </a:r>
                <a:r>
                  <a:rPr lang="en-US" altLang="zh-CN" b="1" dirty="0"/>
                  <a:t>1</a:t>
                </a:r>
                <a:r>
                  <a:rPr lang="zh-CN" altLang="en-US" dirty="0"/>
                  <a:t>（</a:t>
                </a:r>
                <a:r>
                  <a:rPr lang="en-US" altLang="zh-CN" b="1" dirty="0"/>
                  <a:t>Hahn et al., 2001, </a:t>
                </a:r>
                <a:r>
                  <a:rPr lang="zh-CN" altLang="en-US" dirty="0"/>
                  <a:t>定理</a:t>
                </a:r>
                <a:r>
                  <a:rPr lang="en-US" altLang="zh-CN" b="1" dirty="0"/>
                  <a:t>2</a:t>
                </a:r>
                <a:r>
                  <a:rPr lang="zh-CN" altLang="en-US" dirty="0"/>
                  <a:t>）如果假设</a:t>
                </a:r>
                <a:r>
                  <a:rPr lang="en-US" altLang="zh-CN" dirty="0"/>
                  <a:t>1–3 </a:t>
                </a:r>
                <a:r>
                  <a:rPr lang="zh-CN" altLang="en-US" dirty="0"/>
                  <a:t>成立，则有</a:t>
                </a:r>
                <a:endParaRPr lang="en-US" altLang="zh-CN" dirty="0"/>
              </a:p>
              <a:p>
                <a:pPr marL="0" indent="0">
                  <a:lnSpc>
                    <a:spcPct val="11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𝜇</m:t>
                                  </m:r>
                                </m:e>
                                <m:sup>
                                  <m:r>
                                    <a:rPr lang="zh-CN" altLang="en-US" i="1" smtClean="0">
                                      <a:latin typeface="Cambria Math" panose="02040503050406030204" pitchFamily="18" charset="0"/>
                                    </a:rPr>
                                    <m:t>+</m:t>
                                  </m:r>
                                </m:sup>
                              </m:sSup>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𝜇</m:t>
                                  </m:r>
                                </m:e>
                                <m:sup>
                                  <m:r>
                                    <a:rPr lang="zh-CN" altLang="en-US" i="1" smtClean="0">
                                      <a:latin typeface="Cambria Math" panose="02040503050406030204" pitchFamily="18" charset="0"/>
                                    </a:rPr>
                                    <m:t>−</m:t>
                                  </m:r>
                                </m:sup>
                              </m:sSup>
                            </m:num>
                            <m:den>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𝑝</m:t>
                                  </m:r>
                                </m:e>
                                <m:sup>
                                  <m:r>
                                    <a:rPr lang="zh-CN" altLang="en-US" i="1" smtClean="0">
                                      <a:latin typeface="Cambria Math" panose="02040503050406030204" pitchFamily="18" charset="0"/>
                                    </a:rPr>
                                    <m:t>+</m:t>
                                  </m:r>
                                </m:sup>
                              </m:sSup>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𝑝</m:t>
                                  </m:r>
                                </m:e>
                                <m:sup>
                                  <m:r>
                                    <a:rPr lang="zh-CN" altLang="en-US" i="1" smtClean="0">
                                      <a:latin typeface="Cambria Math" panose="02040503050406030204" pitchFamily="18" charset="0"/>
                                    </a:rPr>
                                    <m:t>−</m:t>
                                  </m:r>
                                </m:sup>
                              </m:sSup>
                            </m:den>
                          </m:f>
                          <m:r>
                            <a:rPr lang="zh-CN" altLang="en-US" i="1" smtClean="0">
                              <a:latin typeface="Cambria Math" panose="02040503050406030204" pitchFamily="18" charset="0"/>
                            </a:rPr>
                            <m:t>,</m:t>
                          </m:r>
                        </m:e>
                      </m:eqArr>
                    </m:oMath>
                  </m:oMathPara>
                </a14:m>
                <a:endParaRPr lang="en-US" altLang="zh-CN" dirty="0"/>
              </a:p>
              <a:p>
                <a:pPr marL="0" indent="0">
                  <a:lnSpc>
                    <a:spcPct val="110000"/>
                  </a:lnSpc>
                  <a:buNone/>
                </a:pPr>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m:t>
                    </m:r>
                  </m:oMath>
                </a14:m>
                <a:r>
                  <a:rPr lang="zh-CN" altLang="en-US" dirty="0"/>
                  <a:t>为个体因果效应，</a:t>
                </a:r>
                <a14:m>
                  <m:oMath xmlns:m="http://schemas.openxmlformats.org/officeDocument/2006/math">
                    <m:r>
                      <a:rPr lang="zh-CN" altLang="en-US" i="1" dirty="0" smtClean="0">
                        <a:latin typeface="Cambria Math" panose="02040503050406030204" pitchFamily="18" charset="0"/>
                      </a:rPr>
                      <m:t>𝜇</m:t>
                    </m:r>
                    <m:r>
                      <a:rPr lang="en-US" altLang="zh-CN" i="1" dirty="0">
                        <a:latin typeface="Cambria Math" panose="02040503050406030204" pitchFamily="18" charset="0"/>
                      </a:rPr>
                      <m:t>(</m:t>
                    </m:r>
                    <m:r>
                      <a:rPr lang="zh-CN" altLang="en-US" i="1" dirty="0">
                        <a:latin typeface="Cambria Math" panose="02040503050406030204" pitchFamily="18" charset="0"/>
                      </a:rPr>
                      <m:t>𝑥</m:t>
                    </m:r>
                    <m:r>
                      <a:rPr lang="en-US" altLang="zh-CN" i="1" dirty="0">
                        <a:latin typeface="Cambria Math" panose="02040503050406030204" pitchFamily="18" charset="0"/>
                      </a:rPr>
                      <m:t>) = </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𝑥</m:t>
                    </m:r>
                    <m:r>
                      <a:rPr lang="en-US" altLang="zh-CN" i="1" dirty="0">
                        <a:latin typeface="Cambria Math" panose="02040503050406030204" pitchFamily="18" charset="0"/>
                      </a:rPr>
                      <m:t>]</m:t>
                    </m:r>
                  </m:oMath>
                </a14:m>
                <a:r>
                  <a:rPr lang="zh-CN" altLang="en-US" dirty="0"/>
                  <a:t>，</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0</m:t>
                        </m:r>
                      </m:e>
                    </m:d>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𝑖</m:t>
                        </m:r>
                      </m:sub>
                    </m:s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b="0" i="1" dirty="0" smtClean="0">
                        <a:latin typeface="Cambria Math" panose="02040503050406030204" pitchFamily="18" charset="0"/>
                      </a:rPr>
                      <m:t> </m:t>
                    </m:r>
                  </m:oMath>
                </a14:m>
                <a:r>
                  <a:rPr lang="zh-CN" altLang="en-US" dirty="0"/>
                  <a:t>，</a:t>
                </a:r>
                <a14:m>
                  <m:oMath xmlns:m="http://schemas.openxmlformats.org/officeDocument/2006/math">
                    <m:sSup>
                      <m:sSupPr>
                        <m:ctrlPr>
                          <a:rPr lang="zh-CN" altLang="en-US" i="1" dirty="0" smtClean="0">
                            <a:latin typeface="Cambria Math" panose="02040503050406030204" pitchFamily="18" charset="0"/>
                          </a:rPr>
                        </m:ctrlPr>
                      </m:sSupPr>
                      <m:e>
                        <m:r>
                          <a:rPr lang="zh-CN" altLang="en-US" i="1" dirty="0" smtClean="0">
                            <a:latin typeface="Cambria Math" panose="02040503050406030204" pitchFamily="18" charset="0"/>
                          </a:rPr>
                          <m:t>𝜇</m:t>
                        </m:r>
                      </m:e>
                      <m:sup>
                        <m:r>
                          <a:rPr lang="en-US" altLang="zh-CN" i="1" dirty="0">
                            <a:latin typeface="Cambria Math" panose="02040503050406030204" pitchFamily="18" charset="0"/>
                          </a:rPr>
                          <m:t>+</m:t>
                        </m:r>
                      </m:sup>
                    </m:sSup>
                    <m:r>
                      <a:rPr lang="en-US" altLang="zh-CN" i="1" dirty="0">
                        <a:latin typeface="Cambria Math" panose="02040503050406030204" pitchFamily="18" charset="0"/>
                      </a:rPr>
                      <m:t> =</m:t>
                    </m:r>
                    <m:limLow>
                      <m:limLowPr>
                        <m:ctrlPr>
                          <a:rPr lang="en-US" altLang="zh-CN" i="0" dirty="0" err="1">
                            <a:latin typeface="Cambria Math" panose="02040503050406030204" pitchFamily="18" charset="0"/>
                          </a:rPr>
                        </m:ctrlPr>
                      </m:limLowPr>
                      <m:e>
                        <m:r>
                          <m:rPr>
                            <m:sty m:val="p"/>
                          </m:rPr>
                          <a:rPr lang="en-US" altLang="zh-CN" i="0" dirty="0" err="1">
                            <a:latin typeface="Cambria Math" panose="02040503050406030204" pitchFamily="18" charset="0"/>
                          </a:rPr>
                          <m:t>lim</m:t>
                        </m:r>
                      </m:e>
                      <m:lim>
                        <m:r>
                          <a:rPr lang="zh-CN" altLang="en-US" i="1" dirty="0">
                            <a:latin typeface="Cambria Math" panose="02040503050406030204" pitchFamily="18" charset="0"/>
                          </a:rPr>
                          <m:t>𝑥</m:t>
                        </m:r>
                        <m:r>
                          <a:rPr lang="zh-CN" altLang="en-US"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𝑥</m:t>
                            </m:r>
                          </m:e>
                          <m:sub>
                            <m:r>
                              <a:rPr lang="en-US" altLang="zh-CN" i="1" dirty="0">
                                <a:latin typeface="Cambria Math" panose="02040503050406030204" pitchFamily="18" charset="0"/>
                              </a:rPr>
                              <m:t>0</m:t>
                            </m:r>
                          </m:sub>
                          <m:sup>
                            <m:r>
                              <a:rPr lang="en-US" altLang="zh-CN" i="1" dirty="0">
                                <a:latin typeface="Cambria Math" panose="02040503050406030204" pitchFamily="18" charset="0"/>
                              </a:rPr>
                              <m:t>+</m:t>
                            </m:r>
                          </m:sup>
                        </m:sSubSup>
                      </m:lim>
                    </m:limLow>
                    <m:r>
                      <a:rPr lang="en-US" altLang="zh-CN" b="0" i="1" dirty="0" smtClean="0">
                        <a:latin typeface="Cambria Math" panose="02040503050406030204" pitchFamily="18" charset="0"/>
                      </a:rPr>
                      <m:t> </m:t>
                    </m:r>
                    <m:r>
                      <a:rPr lang="zh-CN" altLang="en-US" i="1" dirty="0" smtClean="0">
                        <a:latin typeface="Cambria Math" panose="02040503050406030204" pitchFamily="18" charset="0"/>
                      </a:rPr>
                      <m:t>𝜇</m:t>
                    </m:r>
                    <m:r>
                      <a:rPr lang="en-US" altLang="zh-CN" i="1" dirty="0">
                        <a:latin typeface="Cambria Math" panose="02040503050406030204" pitchFamily="18" charset="0"/>
                      </a:rPr>
                      <m:t>(</m:t>
                    </m:r>
                    <m:r>
                      <a:rPr lang="zh-CN" altLang="en-US" i="1" dirty="0">
                        <a:latin typeface="Cambria Math" panose="02040503050406030204" pitchFamily="18" charset="0"/>
                      </a:rPr>
                      <m:t>𝑥</m:t>
                    </m:r>
                    <m:r>
                      <a:rPr lang="en-US" altLang="zh-CN" i="1" dirty="0">
                        <a:latin typeface="Cambria Math" panose="02040503050406030204" pitchFamily="18" charset="0"/>
                      </a:rPr>
                      <m:t>)</m:t>
                    </m:r>
                    <m:r>
                      <a:rPr lang="zh-CN" altLang="en-US" i="1" dirty="0">
                        <a:latin typeface="Cambria Math" panose="02040503050406030204" pitchFamily="18" charset="0"/>
                      </a:rPr>
                      <m:t>，</m:t>
                    </m:r>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𝜇</m:t>
                        </m:r>
                      </m:e>
                      <m:sup>
                        <m:r>
                          <a:rPr lang="en-US" altLang="zh-CN" i="1" dirty="0">
                            <a:latin typeface="Cambria Math" panose="02040503050406030204" pitchFamily="18" charset="0"/>
                          </a:rPr>
                          <m:t>−</m:t>
                        </m:r>
                      </m:sup>
                    </m:sSup>
                    <m:r>
                      <a:rPr lang="en-US" altLang="zh-CN" i="1" dirty="0">
                        <a:latin typeface="Cambria Math" panose="02040503050406030204" pitchFamily="18" charset="0"/>
                      </a:rPr>
                      <m:t> =</m:t>
                    </m:r>
                    <m:limLow>
                      <m:limLowPr>
                        <m:ctrlPr>
                          <a:rPr lang="en-US" altLang="zh-CN" i="0" dirty="0" err="1">
                            <a:latin typeface="Cambria Math" panose="02040503050406030204" pitchFamily="18" charset="0"/>
                          </a:rPr>
                        </m:ctrlPr>
                      </m:limLowPr>
                      <m:e>
                        <m:r>
                          <m:rPr>
                            <m:sty m:val="p"/>
                          </m:rPr>
                          <a:rPr lang="en-US" altLang="zh-CN" i="0" dirty="0" err="1">
                            <a:latin typeface="Cambria Math" panose="02040503050406030204" pitchFamily="18" charset="0"/>
                          </a:rPr>
                          <m:t>lim</m:t>
                        </m:r>
                      </m:e>
                      <m:lim>
                        <m:r>
                          <a:rPr lang="zh-CN" altLang="en-US" i="1" dirty="0">
                            <a:latin typeface="Cambria Math" panose="02040503050406030204" pitchFamily="18" charset="0"/>
                          </a:rPr>
                          <m:t>𝑥</m:t>
                        </m:r>
                        <m:r>
                          <a:rPr lang="zh-CN" altLang="en-US"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𝑥</m:t>
                            </m:r>
                          </m:e>
                          <m:sub>
                            <m:r>
                              <a:rPr lang="en-US" altLang="zh-CN" i="1" dirty="0">
                                <a:latin typeface="Cambria Math" panose="02040503050406030204" pitchFamily="18" charset="0"/>
                              </a:rPr>
                              <m:t>0</m:t>
                            </m:r>
                          </m:sub>
                          <m:sup>
                            <m:r>
                              <a:rPr lang="en-US" altLang="zh-CN" i="1" dirty="0">
                                <a:latin typeface="Cambria Math" panose="02040503050406030204" pitchFamily="18" charset="0"/>
                              </a:rPr>
                              <m:t>−</m:t>
                            </m:r>
                          </m:sup>
                        </m:sSubSup>
                      </m:lim>
                    </m:limLow>
                    <m:r>
                      <a:rPr lang="zh-CN" altLang="en-US" i="1" dirty="0" smtClean="0">
                        <a:latin typeface="Cambria Math" panose="02040503050406030204" pitchFamily="18" charset="0"/>
                      </a:rPr>
                      <m:t>𝜇</m:t>
                    </m:r>
                    <m:r>
                      <a:rPr lang="en-US" altLang="zh-CN" i="1" dirty="0">
                        <a:latin typeface="Cambria Math" panose="02040503050406030204" pitchFamily="18" charset="0"/>
                      </a:rPr>
                      <m:t>(</m:t>
                    </m:r>
                    <m:r>
                      <a:rPr lang="zh-CN" altLang="en-US" i="1" dirty="0">
                        <a:latin typeface="Cambria Math" panose="02040503050406030204" pitchFamily="18" charset="0"/>
                      </a:rPr>
                      <m:t>𝑥</m:t>
                    </m:r>
                    <m:r>
                      <a:rPr lang="en-US" altLang="zh-CN" i="1" dirty="0">
                        <a:latin typeface="Cambria Math" panose="02040503050406030204" pitchFamily="18" charset="0"/>
                      </a:rPr>
                      <m:t>)</m:t>
                    </m:r>
                  </m:oMath>
                </a14:m>
                <a:r>
                  <a:rPr lang="zh-CN" altLang="en-US" dirty="0"/>
                  <a:t>。</a:t>
                </a:r>
                <a:endParaRPr lang="en-US" altLang="zh-CN" dirty="0"/>
              </a:p>
              <a:p>
                <a:pPr>
                  <a:lnSpc>
                    <a:spcPct val="110000"/>
                  </a:lnSpc>
                </a:pPr>
                <a:r>
                  <a:rPr lang="zh-CN" altLang="en-US" dirty="0"/>
                  <a:t>如果是精确断点，则</a:t>
                </a:r>
                <a:r>
                  <a:rPr lang="en-US" altLang="zh-CN" dirty="0"/>
                  <a:t>(2) </a:t>
                </a:r>
                <a:r>
                  <a:rPr lang="zh-CN" altLang="en-US" dirty="0"/>
                  <a:t>简化为，</a:t>
                </a:r>
                <a:endParaRPr lang="en-US" altLang="zh-CN" dirty="0"/>
              </a:p>
              <a:p>
                <a:pPr marL="0" indent="0">
                  <a:lnSpc>
                    <a:spcPct val="110000"/>
                  </a:lnSpc>
                  <a:buNone/>
                </a:pPr>
                <a14:m>
                  <m:oMathPara xmlns:m="http://schemas.openxmlformats.org/officeDocument/2006/math">
                    <m:oMath>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𝜇</m:t>
                          </m:r>
                        </m:e>
                        <m:sup>
                          <m:r>
                            <a:rPr lang="zh-CN" altLang="en-US" i="1" smtClean="0">
                              <a:latin typeface="Cambria Math" panose="02040503050406030204" pitchFamily="18" charset="0"/>
                            </a:rPr>
                            <m:t>+</m:t>
                          </m:r>
                        </m:sup>
                      </m:sSup>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𝜇</m:t>
                          </m:r>
                        </m:e>
                        <m:sup>
                          <m:r>
                            <a:rPr lang="zh-CN" altLang="en-US" i="1" smtClean="0">
                              <a:latin typeface="Cambria Math" panose="02040503050406030204" pitchFamily="18" charset="0"/>
                            </a:rPr>
                            <m:t>−</m:t>
                          </m:r>
                        </m:sup>
                      </m:sSup>
                      <m:r>
                        <a:rPr lang="zh-CN" altLang="en-US" i="1" smtClean="0">
                          <a:latin typeface="Cambria Math" panose="02040503050406030204" pitchFamily="18" charset="0"/>
                        </a:rPr>
                        <m:t>.</m:t>
                      </m:r>
                    </m:oMath>
                  </m:oMathPara>
                </a14:m>
                <a:endParaRPr lang="zh-CN" altLang="en-US" dirty="0"/>
              </a:p>
            </p:txBody>
          </p:sp>
        </mc:Choice>
        <mc:Fallback>
          <p:sp>
            <p:nvSpPr>
              <p:cNvPr id="3" name="内容占位符 2">
                <a:extLst>
                  <a:ext uri="{FF2B5EF4-FFF2-40B4-BE49-F238E27FC236}">
                    <a16:creationId xmlns:a16="http://schemas.microsoft.com/office/drawing/2014/main" id="{66908E30-2A24-41C5-B95A-4AD4805D8BB0}"/>
                  </a:ext>
                </a:extLst>
              </p:cNvPr>
              <p:cNvSpPr>
                <a:spLocks noGrp="1" noRot="1" noChangeAspect="1" noMove="1" noResize="1" noEditPoints="1" noAdjustHandles="1" noChangeArrowheads="1" noChangeShapeType="1" noTextEdit="1"/>
              </p:cNvSpPr>
              <p:nvPr>
                <p:ph idx="1"/>
              </p:nvPr>
            </p:nvSpPr>
            <p:spPr>
              <a:blipFill>
                <a:blip r:embed="rId2"/>
                <a:stretch>
                  <a:fillRect l="-1391" t="-21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95DC497-184B-8829-EA61-8985B95EC0B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328B300-DD9E-0407-F201-BAF40D2F87E9}"/>
              </a:ext>
            </a:extLst>
          </p:cNvPr>
          <p:cNvSpPr>
            <a:spLocks noGrp="1"/>
          </p:cNvSpPr>
          <p:nvPr>
            <p:ph type="sldNum" sz="quarter" idx="12"/>
          </p:nvPr>
        </p:nvSpPr>
        <p:spPr/>
        <p:txBody>
          <a:bodyPr/>
          <a:lstStyle/>
          <a:p>
            <a:fld id="{D41FC515-8169-4A29-AA56-DBE520D5741B}" type="slidenum">
              <a:rPr lang="zh-CN" altLang="en-US" smtClean="0"/>
              <a:t>9</a:t>
            </a:fld>
            <a:endParaRPr lang="zh-CN" altLang="en-US"/>
          </a:p>
        </p:txBody>
      </p:sp>
    </p:spTree>
    <p:extLst>
      <p:ext uri="{BB962C8B-B14F-4D97-AF65-F5344CB8AC3E}">
        <p14:creationId xmlns:p14="http://schemas.microsoft.com/office/powerpoint/2010/main" val="2164689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600F4D-DC9E-6B84-0E34-3BE6EF526EC6}"/>
              </a:ext>
            </a:extLst>
          </p:cNvPr>
          <p:cNvSpPr>
            <a:spLocks noGrp="1"/>
          </p:cNvSpPr>
          <p:nvPr>
            <p:ph type="title"/>
          </p:nvPr>
        </p:nvSpPr>
        <p:spPr/>
        <p:txBody>
          <a:bodyPr/>
          <a:lstStyle/>
          <a:p>
            <a:r>
              <a:rPr lang="zh-CN" altLang="en-US" dirty="0"/>
              <a:t>断点回归设计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8EEDAEC-E919-9037-B33A-0289BF1BD092}"/>
                  </a:ext>
                </a:extLst>
              </p:cNvPr>
              <p:cNvSpPr>
                <a:spLocks noGrp="1"/>
              </p:cNvSpPr>
              <p:nvPr>
                <p:ph idx="1"/>
              </p:nvPr>
            </p:nvSpPr>
            <p:spPr/>
            <p:txBody>
              <a:bodyPr>
                <a:noAutofit/>
              </a:bodyPr>
              <a:lstStyle/>
              <a:p>
                <a:pPr>
                  <a:lnSpc>
                    <a:spcPct val="120000"/>
                  </a:lnSpc>
                </a:pPr>
                <a:r>
                  <a:rPr lang="zh-CN" altLang="en-US" sz="1600" dirty="0"/>
                  <a:t>证明：考虑在断点左右观测结果的期望值变化，对于</a:t>
                </a:r>
                <a:r>
                  <a:rPr lang="en-US" altLang="zh-CN" sz="1600" dirty="0"/>
                  <a:t>0 &lt; </a:t>
                </a:r>
                <a:r>
                  <a:rPr lang="zh-CN" altLang="en-US" sz="1600" dirty="0"/>
                  <a:t>𝜀 </a:t>
                </a:r>
                <a:r>
                  <a:rPr lang="en-US" altLang="zh-CN" sz="1600" dirty="0"/>
                  <a:t>&lt; </a:t>
                </a:r>
                <a:r>
                  <a:rPr lang="zh-CN" altLang="en-US" sz="1600" dirty="0"/>
                  <a:t>𝛿，</a:t>
                </a:r>
                <a:endParaRPr lang="en-US" altLang="zh-CN" sz="1600" dirty="0"/>
              </a:p>
              <a:p>
                <a:pPr marL="0" indent="0">
                  <a:lnSpc>
                    <a:spcPct val="120000"/>
                  </a:lnSpc>
                  <a:buNone/>
                </a:pPr>
                <a14:m>
                  <m:oMathPara xmlns:m="http://schemas.openxmlformats.org/officeDocument/2006/math">
                    <m:oMath>
                      <m:eqArr>
                        <m:eqArrPr>
                          <m:ctrlPr>
                            <a:rPr lang="zh-CN" altLang="en-US" sz="1600" i="1" smtClean="0">
                              <a:latin typeface="Cambria Math" panose="02040503050406030204" pitchFamily="18" charset="0"/>
                            </a:rPr>
                          </m:ctrlPr>
                        </m:eqArrPr>
                        <m:e>
                          <m:r>
                            <a:rPr lang="zh-CN" altLang="en-US" sz="1600" i="1" smtClean="0">
                              <a:latin typeface="Cambria Math" panose="02040503050406030204" pitchFamily="18" charset="0"/>
                            </a:rPr>
                            <m:t>𝐸</m:t>
                          </m:r>
                          <m:r>
                            <m:rPr>
                              <m:aln/>
                            </m:rPr>
                            <a:rPr lang="zh-CN" altLang="en-US" sz="1600" i="1" smtClean="0">
                              <a:latin typeface="Cambria Math" panose="02040503050406030204" pitchFamily="18" charset="0"/>
                            </a:rPr>
                            <m:t>&amp;</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d>
                            <m:dPr>
                              <m:begChr m:val="{"/>
                              <m:endChr m:val="}"/>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Sub>
                                  <m:d>
                                    <m:dPr>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0</m:t>
                                      </m:r>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e>
                          </m:d>
                          <m:r>
                            <a:rPr lang="zh-CN" altLang="en-US" sz="1600" i="1" smtClean="0">
                              <a:latin typeface="Cambria Math" panose="02040503050406030204" pitchFamily="18" charset="0"/>
                            </a:rPr>
                            <m:t>+</m:t>
                          </m:r>
                          <m:d>
                            <m:dPr>
                              <m:begChr m:val="{"/>
                              <m:endChr m:val="}"/>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e>
                          </m:d>
                        </m:e>
                      </m:eqArr>
                    </m:oMath>
                  </m:oMathPara>
                </a14:m>
                <a:endParaRPr lang="en-US" altLang="zh-CN" sz="1600" dirty="0"/>
              </a:p>
              <a:p>
                <a:pPr marL="0" indent="0">
                  <a:lnSpc>
                    <a:spcPct val="120000"/>
                  </a:lnSpc>
                  <a:buNone/>
                </a:pPr>
                <a14:m>
                  <m:oMathPara xmlns:m="http://schemas.openxmlformats.org/officeDocument/2006/math">
                    <m:oMath>
                      <m:eqArr>
                        <m:eqArrPr>
                          <m:ctrlPr>
                            <a:rPr lang="zh-CN" altLang="en-US" sz="1600" i="1" smtClean="0">
                              <a:latin typeface="Cambria Math" panose="02040503050406030204" pitchFamily="18" charset="0"/>
                            </a:rPr>
                          </m:ctrlPr>
                        </m:eqArr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  −</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a:rPr lang="zh-CN" altLang="en-US" sz="1600" i="1" smtClean="0">
                              <a:latin typeface="Cambria Math" panose="02040503050406030204" pitchFamily="18" charset="0"/>
                            </a:rPr>
                            <m:t>.</m:t>
                          </m:r>
                        </m:e>
                      </m:eqArr>
                    </m:oMath>
                  </m:oMathPara>
                </a14:m>
                <a:endParaRPr lang="en-US" altLang="zh-CN" sz="1600" dirty="0"/>
              </a:p>
              <a:p>
                <a:pPr marL="0" indent="0">
                  <a:lnSpc>
                    <a:spcPct val="120000"/>
                  </a:lnSpc>
                  <a:buNone/>
                </a:pPr>
                <a14:m>
                  <m:oMathPara xmlns:m="http://schemas.openxmlformats.org/officeDocument/2006/math">
                    <m:oMath>
                      <m:eqArr>
                        <m:eqArrPr>
                          <m:ctrlPr>
                            <a:rPr lang="zh-CN" altLang="en-US" sz="1600" i="1" smtClean="0">
                              <a:latin typeface="Cambria Math" panose="02040503050406030204" pitchFamily="18" charset="0"/>
                            </a:rPr>
                          </m:ctrlPr>
                        </m:eqArrPr>
                        <m:e>
                          <m:func>
                            <m:funcPr>
                              <m:ctrlPr>
                                <a:rPr lang="zh-CN" altLang="en-US" sz="1600" i="1" smtClean="0">
                                  <a:latin typeface="Cambria Math" panose="02040503050406030204" pitchFamily="18" charset="0"/>
                                </a:rPr>
                              </m:ctrlPr>
                            </m:funcPr>
                            <m:fName>
                              <m:limLow>
                                <m:limLowPr>
                                  <m:ctrlPr>
                                    <a:rPr lang="zh-CN" altLang="en-US" sz="1600" i="1" smtClean="0">
                                      <a:latin typeface="Cambria Math" panose="02040503050406030204" pitchFamily="18" charset="0"/>
                                    </a:rPr>
                                  </m:ctrlPr>
                                </m:limLowPr>
                                <m:e>
                                  <m:r>
                                    <m:rPr>
                                      <m:sty m:val="p"/>
                                    </m:rPr>
                                    <a:rPr lang="zh-CN" altLang="en-US" sz="1600" i="1" smtClean="0">
                                      <a:latin typeface="Cambria Math" panose="02040503050406030204" pitchFamily="18" charset="0"/>
                                    </a:rPr>
                                    <m:t>lim</m:t>
                                  </m:r>
                                </m:e>
                                <m:lim>
                                  <m:r>
                                    <a:rPr lang="zh-CN" altLang="en-US" sz="1600" i="1" smtClean="0">
                                      <a:latin typeface="Cambria Math" panose="02040503050406030204" pitchFamily="18" charset="0"/>
                                    </a:rPr>
                                    <m:t>𝜀</m:t>
                                  </m:r>
                                  <m:r>
                                    <a:rPr lang="zh-CN" altLang="en-US" sz="1600" i="1" smtClean="0">
                                      <a:latin typeface="Cambria Math" panose="02040503050406030204" pitchFamily="18" charset="0"/>
                                    </a:rPr>
                                    <m:t>→0</m:t>
                                  </m:r>
                                </m:lim>
                              </m:limLow>
                            </m:fName>
                            <m:e>
                              <m:r>
                                <a:rPr lang="zh-CN" altLang="en-US" sz="1600" i="1" smtClean="0">
                                  <a:latin typeface="Cambria Math" panose="02040503050406030204" pitchFamily="18" charset="0"/>
                                </a:rPr>
                                <m:t>{</m:t>
                              </m:r>
                            </m:e>
                          </m:func>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a:rPr lang="zh-CN" altLang="en-US" sz="1600" i="1" smtClean="0">
                              <a:latin typeface="Cambria Math" panose="02040503050406030204" pitchFamily="18" charset="0"/>
                            </a:rPr>
                            <m:t>}</m:t>
                          </m:r>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func>
                            <m:funcPr>
                              <m:ctrlPr>
                                <a:rPr lang="zh-CN" altLang="en-US" sz="1600" i="1" smtClean="0">
                                  <a:latin typeface="Cambria Math" panose="02040503050406030204" pitchFamily="18" charset="0"/>
                                </a:rPr>
                              </m:ctrlPr>
                            </m:funcPr>
                            <m:fName>
                              <m:limLow>
                                <m:limLowPr>
                                  <m:ctrlPr>
                                    <a:rPr lang="zh-CN" altLang="en-US" sz="1600" i="1" smtClean="0">
                                      <a:latin typeface="Cambria Math" panose="02040503050406030204" pitchFamily="18" charset="0"/>
                                    </a:rPr>
                                  </m:ctrlPr>
                                </m:limLowPr>
                                <m:e>
                                  <m:r>
                                    <m:rPr>
                                      <m:sty m:val="p"/>
                                    </m:rPr>
                                    <a:rPr lang="zh-CN" altLang="en-US" sz="1600" i="1" smtClean="0">
                                      <a:latin typeface="Cambria Math" panose="02040503050406030204" pitchFamily="18" charset="0"/>
                                    </a:rPr>
                                    <m:t>lim</m:t>
                                  </m:r>
                                </m:e>
                                <m:lim>
                                  <m:r>
                                    <a:rPr lang="zh-CN" altLang="en-US" sz="1600" i="1" smtClean="0">
                                      <a:latin typeface="Cambria Math" panose="02040503050406030204" pitchFamily="18" charset="0"/>
                                    </a:rPr>
                                    <m:t>𝜀</m:t>
                                  </m:r>
                                  <m:r>
                                    <a:rPr lang="zh-CN" altLang="en-US" sz="1600" i="1" smtClean="0">
                                      <a:latin typeface="Cambria Math" panose="02040503050406030204" pitchFamily="18" charset="0"/>
                                    </a:rPr>
                                    <m:t>→0</m:t>
                                  </m:r>
                                </m:lim>
                              </m:limLow>
                            </m:fName>
                            <m:e>
                              <m:d>
                                <m:dPr>
                                  <m:begChr m:val="{"/>
                                  <m:endChr m:val="}"/>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e>
                              </m:d>
                            </m:e>
                          </m:func>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  −</m:t>
                          </m:r>
                          <m:func>
                            <m:funcPr>
                              <m:ctrlPr>
                                <a:rPr lang="zh-CN" altLang="en-US" sz="1600" i="1" smtClean="0">
                                  <a:latin typeface="Cambria Math" panose="02040503050406030204" pitchFamily="18" charset="0"/>
                                </a:rPr>
                              </m:ctrlPr>
                            </m:funcPr>
                            <m:fName>
                              <m:limLow>
                                <m:limLowPr>
                                  <m:ctrlPr>
                                    <a:rPr lang="zh-CN" altLang="en-US" sz="1600" i="1" smtClean="0">
                                      <a:latin typeface="Cambria Math" panose="02040503050406030204" pitchFamily="18" charset="0"/>
                                    </a:rPr>
                                  </m:ctrlPr>
                                </m:limLowPr>
                                <m:e>
                                  <m:r>
                                    <m:rPr>
                                      <m:sty m:val="p"/>
                                    </m:rPr>
                                    <a:rPr lang="zh-CN" altLang="en-US" sz="1600" i="1" smtClean="0">
                                      <a:latin typeface="Cambria Math" panose="02040503050406030204" pitchFamily="18" charset="0"/>
                                    </a:rPr>
                                    <m:t>lim</m:t>
                                  </m:r>
                                </m:e>
                                <m:lim>
                                  <m:r>
                                    <a:rPr lang="zh-CN" altLang="en-US" sz="1600" i="1" smtClean="0">
                                      <a:latin typeface="Cambria Math" panose="02040503050406030204" pitchFamily="18" charset="0"/>
                                    </a:rPr>
                                    <m:t>𝜀</m:t>
                                  </m:r>
                                  <m:r>
                                    <a:rPr lang="zh-CN" altLang="en-US" sz="1600" i="1" smtClean="0">
                                      <a:latin typeface="Cambria Math" panose="02040503050406030204" pitchFamily="18" charset="0"/>
                                    </a:rPr>
                                    <m:t>→0</m:t>
                                  </m:r>
                                </m:lim>
                              </m:limLow>
                            </m:fName>
                            <m:e>
                              <m:d>
                                <m:dPr>
                                  <m:begChr m:val="{"/>
                                  <m:endChr m:val="}"/>
                                  <m:ctrlPr>
                                    <a:rPr lang="zh-CN" altLang="en-US" sz="1600" i="1" smtClean="0">
                                      <a:latin typeface="Cambria Math" panose="02040503050406030204" pitchFamily="18" charset="0"/>
                                    </a:rPr>
                                  </m:ctrlPr>
                                </m:d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e>
                              </m:d>
                            </m:e>
                          </m:func>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sSup>
                            <m:sSupPr>
                              <m:ctrlPr>
                                <a:rPr lang="zh-CN" altLang="en-US" sz="1600" i="1" smtClean="0">
                                  <a:latin typeface="Cambria Math" panose="02040503050406030204" pitchFamily="18" charset="0"/>
                                </a:rPr>
                              </m:ctrlPr>
                            </m:sSupPr>
                            <m:e>
                              <m:r>
                                <a:rPr lang="zh-CN" altLang="en-US" sz="1600" i="1" smtClean="0">
                                  <a:latin typeface="Cambria Math" panose="02040503050406030204" pitchFamily="18" charset="0"/>
                                </a:rPr>
                                <m:t>𝑝</m:t>
                              </m:r>
                            </m:e>
                            <m:sup>
                              <m:r>
                                <a:rPr lang="zh-CN" altLang="en-US" sz="1600" i="1" smtClean="0">
                                  <a:latin typeface="Cambria Math" panose="02040503050406030204" pitchFamily="18" charset="0"/>
                                </a:rPr>
                                <m:t>+</m:t>
                              </m:r>
                            </m:sup>
                          </m:sSup>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sSup>
                            <m:sSupPr>
                              <m:ctrlPr>
                                <a:rPr lang="zh-CN" altLang="en-US" sz="1600" i="1" smtClean="0">
                                  <a:latin typeface="Cambria Math" panose="02040503050406030204" pitchFamily="18" charset="0"/>
                                </a:rPr>
                              </m:ctrlPr>
                            </m:sSupPr>
                            <m:e>
                              <m:r>
                                <a:rPr lang="zh-CN" altLang="en-US" sz="1600" i="1" smtClean="0">
                                  <a:latin typeface="Cambria Math" panose="02040503050406030204" pitchFamily="18" charset="0"/>
                                </a:rPr>
                                <m:t>𝑝</m:t>
                              </m:r>
                            </m:e>
                            <m:sup>
                              <m:r>
                                <a:rPr lang="zh-CN" altLang="en-US" sz="1600" i="1" smtClean="0">
                                  <a:latin typeface="Cambria Math" panose="02040503050406030204" pitchFamily="18" charset="0"/>
                                </a:rPr>
                                <m:t>−</m:t>
                              </m:r>
                            </m:sup>
                          </m:sSup>
                        </m:e>
                        <m:e>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d>
                            <m:dPr>
                              <m:ctrlPr>
                                <a:rPr lang="zh-CN" altLang="en-US" sz="1600" i="1" smtClean="0">
                                  <a:latin typeface="Cambria Math" panose="02040503050406030204" pitchFamily="18" charset="0"/>
                                </a:rPr>
                              </m:ctrlPr>
                            </m:dPr>
                            <m:e>
                              <m:sSup>
                                <m:sSupPr>
                                  <m:ctrlPr>
                                    <a:rPr lang="zh-CN" altLang="en-US" sz="1600" i="1" smtClean="0">
                                      <a:latin typeface="Cambria Math" panose="02040503050406030204" pitchFamily="18" charset="0"/>
                                    </a:rPr>
                                  </m:ctrlPr>
                                </m:sSupPr>
                                <m:e>
                                  <m:r>
                                    <a:rPr lang="zh-CN" altLang="en-US" sz="1600" i="1" smtClean="0">
                                      <a:latin typeface="Cambria Math" panose="02040503050406030204" pitchFamily="18" charset="0"/>
                                    </a:rPr>
                                    <m:t>𝑝</m:t>
                                  </m:r>
                                </m:e>
                                <m:sup>
                                  <m:r>
                                    <a:rPr lang="zh-CN" altLang="en-US" sz="1600" i="1" smtClean="0">
                                      <a:latin typeface="Cambria Math" panose="02040503050406030204" pitchFamily="18" charset="0"/>
                                    </a:rPr>
                                    <m:t>+</m:t>
                                  </m:r>
                                </m:sup>
                              </m:sSup>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r>
                                    <a:rPr lang="zh-CN" altLang="en-US" sz="1600" i="1" smtClean="0">
                                      <a:latin typeface="Cambria Math" panose="02040503050406030204" pitchFamily="18" charset="0"/>
                                    </a:rPr>
                                    <m:t>𝑝</m:t>
                                  </m:r>
                                </m:e>
                                <m:sup>
                                  <m:r>
                                    <a:rPr lang="zh-CN" altLang="en-US" sz="1600" i="1" smtClean="0">
                                      <a:latin typeface="Cambria Math" panose="02040503050406030204" pitchFamily="18" charset="0"/>
                                    </a:rPr>
                                    <m:t>−</m:t>
                                  </m:r>
                                </m:sup>
                              </m:sSup>
                            </m:e>
                          </m:d>
                          <m:r>
                            <a:rPr lang="zh-CN" altLang="en-US" sz="1600" i="1" smtClean="0">
                              <a:latin typeface="Cambria Math" panose="02040503050406030204" pitchFamily="18" charset="0"/>
                            </a:rPr>
                            <m:t>.</m:t>
                          </m:r>
                          <m:r>
                            <a:rPr lang="en-US" altLang="zh-CN" sz="1600" b="0" i="1" smtClean="0">
                              <a:latin typeface="Cambria Math" panose="02040503050406030204" pitchFamily="18" charset="0"/>
                            </a:rPr>
                            <m:t>                                                    (3)</m:t>
                          </m:r>
                        </m:e>
                      </m:eqArr>
                    </m:oMath>
                  </m:oMathPara>
                </a14:m>
                <a:endParaRPr lang="en-US" altLang="zh-CN" sz="1600" dirty="0"/>
              </a:p>
              <a:p>
                <a:pPr marL="0" indent="0">
                  <a:lnSpc>
                    <a:spcPct val="120000"/>
                  </a:lnSpc>
                  <a:buNone/>
                </a:pPr>
                <a14:m>
                  <m:oMathPara xmlns:m="http://schemas.openxmlformats.org/officeDocument/2006/math">
                    <m:oMath>
                      <m:eqArr>
                        <m:eqArrPr>
                          <m:ctrlPr>
                            <a:rPr lang="zh-CN" altLang="en-US" sz="1600" i="1" smtClean="0">
                              <a:latin typeface="Cambria Math" panose="02040503050406030204" pitchFamily="18" charset="0"/>
                            </a:rPr>
                          </m:ctrlPr>
                        </m:eqArrPr>
                        <m:e>
                          <m:sSup>
                            <m:sSupPr>
                              <m:ctrlPr>
                                <a:rPr lang="zh-CN" altLang="en-US" sz="1600" i="1" smtClean="0">
                                  <a:latin typeface="Cambria Math" panose="02040503050406030204" pitchFamily="18" charset="0"/>
                                </a:rPr>
                              </m:ctrlPr>
                            </m:sSupPr>
                            <m:e>
                              <m:r>
                                <a:rPr lang="zh-CN" altLang="en-US" sz="1600" i="1" smtClean="0">
                                  <a:latin typeface="Cambria Math" panose="02040503050406030204" pitchFamily="18" charset="0"/>
                                </a:rPr>
                                <m:t>𝜇</m:t>
                              </m:r>
                            </m:e>
                            <m:sup>
                              <m:r>
                                <a:rPr lang="zh-CN" altLang="en-US" sz="1600" i="1" smtClean="0">
                                  <a:latin typeface="Cambria Math" panose="02040503050406030204" pitchFamily="18" charset="0"/>
                                </a:rPr>
                                <m:t>+</m:t>
                              </m:r>
                            </m:sup>
                          </m:sSup>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r>
                                <a:rPr lang="zh-CN" altLang="en-US" sz="1600" i="1" smtClean="0">
                                  <a:latin typeface="Cambria Math" panose="02040503050406030204" pitchFamily="18" charset="0"/>
                                </a:rPr>
                                <m:t>𝜇</m:t>
                              </m:r>
                            </m:e>
                            <m:sup>
                              <m:r>
                                <a:rPr lang="zh-CN" altLang="en-US" sz="1600" i="1" smtClean="0">
                                  <a:latin typeface="Cambria Math" panose="02040503050406030204" pitchFamily="18" charset="0"/>
                                </a:rPr>
                                <m:t>−</m:t>
                              </m:r>
                            </m:sup>
                          </m:sSup>
                          <m:r>
                            <m:rPr>
                              <m:aln/>
                            </m:rPr>
                            <a:rPr lang="zh-CN" altLang="en-US" sz="1600" i="1" smtClean="0">
                              <a:latin typeface="Cambria Math" panose="02040503050406030204" pitchFamily="18" charset="0"/>
                            </a:rPr>
                            <m:t>&amp;</m:t>
                          </m:r>
                          <m:r>
                            <a:rPr lang="zh-CN" altLang="en-US" sz="1600" i="1" smtClean="0">
                              <a:latin typeface="Cambria Math" panose="02040503050406030204" pitchFamily="18" charset="0"/>
                            </a:rPr>
                            <m:t>=</m:t>
                          </m:r>
                          <m:func>
                            <m:funcPr>
                              <m:ctrlPr>
                                <a:rPr lang="zh-CN" altLang="en-US" sz="1600" i="1" smtClean="0">
                                  <a:latin typeface="Cambria Math" panose="02040503050406030204" pitchFamily="18" charset="0"/>
                                </a:rPr>
                              </m:ctrlPr>
                            </m:funcPr>
                            <m:fName>
                              <m:limLow>
                                <m:limLowPr>
                                  <m:ctrlPr>
                                    <a:rPr lang="zh-CN" altLang="en-US" sz="1600" i="1" smtClean="0">
                                      <a:latin typeface="Cambria Math" panose="02040503050406030204" pitchFamily="18" charset="0"/>
                                    </a:rPr>
                                  </m:ctrlPr>
                                </m:limLowPr>
                                <m:e>
                                  <m:r>
                                    <m:rPr>
                                      <m:sty m:val="p"/>
                                    </m:rPr>
                                    <a:rPr lang="zh-CN" altLang="en-US" sz="1600" i="1" smtClean="0">
                                      <a:latin typeface="Cambria Math" panose="02040503050406030204" pitchFamily="18" charset="0"/>
                                    </a:rPr>
                                    <m:t>lim</m:t>
                                  </m:r>
                                </m:e>
                                <m:lim>
                                  <m:r>
                                    <a:rPr lang="zh-CN" altLang="en-US" sz="1600" i="1" smtClean="0">
                                      <a:latin typeface="Cambria Math" panose="02040503050406030204" pitchFamily="18" charset="0"/>
                                    </a:rPr>
                                    <m:t>𝜀</m:t>
                                  </m:r>
                                  <m:r>
                                    <a:rPr lang="zh-CN" altLang="en-US" sz="1600" i="1" smtClean="0">
                                      <a:latin typeface="Cambria Math" panose="02040503050406030204" pitchFamily="18" charset="0"/>
                                    </a:rPr>
                                    <m:t>→0</m:t>
                                  </m:r>
                                </m:lim>
                              </m:limLow>
                            </m:fName>
                            <m:e>
                              <m:r>
                                <a:rPr lang="zh-CN" altLang="en-US" sz="1600" i="1" smtClean="0">
                                  <a:latin typeface="Cambria Math" panose="02040503050406030204" pitchFamily="18" charset="0"/>
                                </a:rPr>
                                <m:t>𝜇</m:t>
                              </m:r>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e>
                          </m:func>
                          <m:r>
                            <a:rPr lang="zh-CN" altLang="en-US" sz="1600" i="1" smtClean="0">
                              <a:latin typeface="Cambria Math" panose="02040503050406030204" pitchFamily="18" charset="0"/>
                            </a:rPr>
                            <m:t>−</m:t>
                          </m:r>
                          <m:func>
                            <m:funcPr>
                              <m:ctrlPr>
                                <a:rPr lang="zh-CN" altLang="en-US" sz="1600" i="1" smtClean="0">
                                  <a:latin typeface="Cambria Math" panose="02040503050406030204" pitchFamily="18" charset="0"/>
                                </a:rPr>
                              </m:ctrlPr>
                            </m:funcPr>
                            <m:fName>
                              <m:limLow>
                                <m:limLowPr>
                                  <m:ctrlPr>
                                    <a:rPr lang="zh-CN" altLang="en-US" sz="1600" i="1" smtClean="0">
                                      <a:latin typeface="Cambria Math" panose="02040503050406030204" pitchFamily="18" charset="0"/>
                                    </a:rPr>
                                  </m:ctrlPr>
                                </m:limLowPr>
                                <m:e>
                                  <m:r>
                                    <m:rPr>
                                      <m:sty m:val="p"/>
                                    </m:rPr>
                                    <a:rPr lang="zh-CN" altLang="en-US" sz="1600" i="1" smtClean="0">
                                      <a:latin typeface="Cambria Math" panose="02040503050406030204" pitchFamily="18" charset="0"/>
                                    </a:rPr>
                                    <m:t>lim</m:t>
                                  </m:r>
                                </m:e>
                                <m:lim>
                                  <m:r>
                                    <a:rPr lang="zh-CN" altLang="en-US" sz="1600" i="1" smtClean="0">
                                      <a:latin typeface="Cambria Math" panose="02040503050406030204" pitchFamily="18" charset="0"/>
                                    </a:rPr>
                                    <m:t>𝜀</m:t>
                                  </m:r>
                                  <m:r>
                                    <a:rPr lang="zh-CN" altLang="en-US" sz="1600" i="1" smtClean="0">
                                      <a:latin typeface="Cambria Math" panose="02040503050406030204" pitchFamily="18" charset="0"/>
                                    </a:rPr>
                                    <m:t>→0</m:t>
                                  </m:r>
                                </m:lim>
                              </m:limLow>
                            </m:fName>
                            <m:e>
                              <m:r>
                                <a:rPr lang="zh-CN" altLang="en-US" sz="1600" i="1" smtClean="0">
                                  <a:latin typeface="Cambria Math" panose="02040503050406030204" pitchFamily="18" charset="0"/>
                                </a:rPr>
                                <m:t>𝜇</m:t>
                              </m:r>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𝜀</m:t>
                                  </m:r>
                                </m:e>
                              </m:d>
                            </m:e>
                          </m:func>
                          <m:r>
                            <a:rPr lang="zh-CN" altLang="en-US" sz="1600" i="1" smtClean="0">
                              <a:latin typeface="Cambria Math" panose="02040503050406030204" pitchFamily="18" charset="0"/>
                            </a:rPr>
                            <m:t>=</m:t>
                          </m:r>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d>
                            <m:dPr>
                              <m:ctrlPr>
                                <a:rPr lang="zh-CN" altLang="en-US" sz="1600" i="1" smtClean="0">
                                  <a:latin typeface="Cambria Math" panose="02040503050406030204" pitchFamily="18" charset="0"/>
                                </a:rPr>
                              </m:ctrlPr>
                            </m:dPr>
                            <m:e>
                              <m:sSup>
                                <m:sSupPr>
                                  <m:ctrlPr>
                                    <a:rPr lang="zh-CN" altLang="en-US" sz="1600" i="1" smtClean="0">
                                      <a:latin typeface="Cambria Math" panose="02040503050406030204" pitchFamily="18" charset="0"/>
                                    </a:rPr>
                                  </m:ctrlPr>
                                </m:sSupPr>
                                <m:e>
                                  <m:r>
                                    <a:rPr lang="zh-CN" altLang="en-US" sz="1600" i="1" smtClean="0">
                                      <a:latin typeface="Cambria Math" panose="02040503050406030204" pitchFamily="18" charset="0"/>
                                    </a:rPr>
                                    <m:t>𝑝</m:t>
                                  </m:r>
                                </m:e>
                                <m:sup>
                                  <m:r>
                                    <a:rPr lang="zh-CN" altLang="en-US" sz="1600" i="1" smtClean="0">
                                      <a:latin typeface="Cambria Math" panose="02040503050406030204" pitchFamily="18" charset="0"/>
                                    </a:rPr>
                                    <m:t>+</m:t>
                                  </m:r>
                                </m:sup>
                              </m:sSup>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r>
                                    <a:rPr lang="zh-CN" altLang="en-US" sz="1600" i="1" smtClean="0">
                                      <a:latin typeface="Cambria Math" panose="02040503050406030204" pitchFamily="18" charset="0"/>
                                    </a:rPr>
                                    <m:t>𝑝</m:t>
                                  </m:r>
                                </m:e>
                                <m:sup>
                                  <m:r>
                                    <a:rPr lang="zh-CN" altLang="en-US" sz="1600" i="1" smtClean="0">
                                      <a:latin typeface="Cambria Math" panose="02040503050406030204" pitchFamily="18" charset="0"/>
                                    </a:rPr>
                                    <m:t>−</m:t>
                                  </m:r>
                                </m:sup>
                              </m:sSup>
                            </m:e>
                          </m:d>
                          <m:r>
                            <a:rPr lang="zh-CN" altLang="en-US" sz="1600" i="1" smtClean="0">
                              <a:latin typeface="Cambria Math" panose="02040503050406030204" pitchFamily="18" charset="0"/>
                            </a:rPr>
                            <m:t>.</m:t>
                          </m:r>
                        </m:e>
                      </m:eqArr>
                    </m:oMath>
                  </m:oMathPara>
                </a14:m>
                <a:endParaRPr lang="en-US" altLang="zh-CN" sz="1600" dirty="0"/>
              </a:p>
              <a:p>
                <a:pPr marL="0" indent="0">
                  <a:lnSpc>
                    <a:spcPct val="120000"/>
                  </a:lnSpc>
                  <a:buNone/>
                </a:pPr>
                <a14:m>
                  <m:oMathPara xmlns:m="http://schemas.openxmlformats.org/officeDocument/2006/math">
                    <m:oMath>
                      <m:eqArr>
                        <m:eqArrPr>
                          <m:ctrlPr>
                            <a:rPr lang="zh-CN" altLang="en-US" sz="1600" i="1" smtClean="0">
                              <a:latin typeface="Cambria Math" panose="02040503050406030204" pitchFamily="18" charset="0"/>
                            </a:rPr>
                          </m:ctrlPr>
                        </m:eqArrPr>
                        <m:e>
                          <m:r>
                            <a:rPr lang="zh-CN" altLang="en-US" sz="1600" i="1" smtClean="0">
                              <a:latin typeface="Cambria Math" panose="02040503050406030204" pitchFamily="18" charset="0"/>
                            </a:rPr>
                            <m:t>𝐸</m:t>
                          </m:r>
                          <m:d>
                            <m:dPr>
                              <m:begChr m:val="["/>
                              <m:endChr m:val="]"/>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r>
                            <a:rPr lang="zh-CN" altLang="en-US" sz="1600" i="1" smtClean="0">
                              <a:latin typeface="Cambria Math" panose="02040503050406030204" pitchFamily="18" charset="0"/>
                            </a:rPr>
                            <m:t>=</m:t>
                          </m:r>
                          <m:f>
                            <m:fPr>
                              <m:ctrlPr>
                                <a:rPr lang="zh-CN" altLang="en-US" sz="1600" i="1" smtClean="0">
                                  <a:latin typeface="Cambria Math" panose="02040503050406030204" pitchFamily="18" charset="0"/>
                                </a:rPr>
                              </m:ctrlPr>
                            </m:fPr>
                            <m:num>
                              <m:sSup>
                                <m:sSupPr>
                                  <m:ctrlPr>
                                    <a:rPr lang="zh-CN" altLang="en-US" sz="1600" i="1" smtClean="0">
                                      <a:latin typeface="Cambria Math" panose="02040503050406030204" pitchFamily="18" charset="0"/>
                                    </a:rPr>
                                  </m:ctrlPr>
                                </m:sSupPr>
                                <m:e>
                                  <m:r>
                                    <a:rPr lang="zh-CN" altLang="en-US" sz="1600" i="1" smtClean="0">
                                      <a:latin typeface="Cambria Math" panose="02040503050406030204" pitchFamily="18" charset="0"/>
                                    </a:rPr>
                                    <m:t>𝜇</m:t>
                                  </m:r>
                                </m:e>
                                <m:sup>
                                  <m:r>
                                    <a:rPr lang="zh-CN" altLang="en-US" sz="1600" i="1" smtClean="0">
                                      <a:latin typeface="Cambria Math" panose="02040503050406030204" pitchFamily="18" charset="0"/>
                                    </a:rPr>
                                    <m:t>+</m:t>
                                  </m:r>
                                </m:sup>
                              </m:sSup>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r>
                                    <a:rPr lang="zh-CN" altLang="en-US" sz="1600" i="1" smtClean="0">
                                      <a:latin typeface="Cambria Math" panose="02040503050406030204" pitchFamily="18" charset="0"/>
                                    </a:rPr>
                                    <m:t>𝜇</m:t>
                                  </m:r>
                                </m:e>
                                <m:sup>
                                  <m:r>
                                    <a:rPr lang="zh-CN" altLang="en-US" sz="1600" i="1" smtClean="0">
                                      <a:latin typeface="Cambria Math" panose="02040503050406030204" pitchFamily="18" charset="0"/>
                                    </a:rPr>
                                    <m:t>−</m:t>
                                  </m:r>
                                </m:sup>
                              </m:sSup>
                            </m:num>
                            <m:den>
                              <m:sSup>
                                <m:sSupPr>
                                  <m:ctrlPr>
                                    <a:rPr lang="zh-CN" altLang="en-US" sz="1600" i="1" smtClean="0">
                                      <a:latin typeface="Cambria Math" panose="02040503050406030204" pitchFamily="18" charset="0"/>
                                    </a:rPr>
                                  </m:ctrlPr>
                                </m:sSupPr>
                                <m:e>
                                  <m:r>
                                    <a:rPr lang="zh-CN" altLang="en-US" sz="1600" i="1" smtClean="0">
                                      <a:latin typeface="Cambria Math" panose="02040503050406030204" pitchFamily="18" charset="0"/>
                                    </a:rPr>
                                    <m:t>𝑝</m:t>
                                  </m:r>
                                </m:e>
                                <m:sup>
                                  <m:r>
                                    <a:rPr lang="zh-CN" altLang="en-US" sz="1600" i="1" smtClean="0">
                                      <a:latin typeface="Cambria Math" panose="02040503050406030204" pitchFamily="18" charset="0"/>
                                    </a:rPr>
                                    <m:t>+</m:t>
                                  </m:r>
                                </m:sup>
                              </m:sSup>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r>
                                    <a:rPr lang="zh-CN" altLang="en-US" sz="1600" i="1" smtClean="0">
                                      <a:latin typeface="Cambria Math" panose="02040503050406030204" pitchFamily="18" charset="0"/>
                                    </a:rPr>
                                    <m:t>𝑝</m:t>
                                  </m:r>
                                </m:e>
                                <m:sup>
                                  <m:r>
                                    <a:rPr lang="zh-CN" altLang="en-US" sz="1600" i="1" smtClean="0">
                                      <a:latin typeface="Cambria Math" panose="02040503050406030204" pitchFamily="18" charset="0"/>
                                    </a:rPr>
                                    <m:t>−</m:t>
                                  </m:r>
                                </m:sup>
                              </m:sSup>
                            </m:den>
                          </m:f>
                          <m:r>
                            <a:rPr lang="zh-CN" altLang="en-US" sz="1600" i="1" smtClean="0">
                              <a:latin typeface="Cambria Math" panose="02040503050406030204" pitchFamily="18" charset="0"/>
                            </a:rPr>
                            <m:t>.</m:t>
                          </m:r>
                        </m:e>
                      </m:eqArr>
                    </m:oMath>
                  </m:oMathPara>
                </a14:m>
                <a:endParaRPr lang="zh-CN" altLang="en-US" sz="1600" dirty="0"/>
              </a:p>
            </p:txBody>
          </p:sp>
        </mc:Choice>
        <mc:Fallback xmlns="">
          <p:sp>
            <p:nvSpPr>
              <p:cNvPr id="3" name="内容占位符 2">
                <a:extLst>
                  <a:ext uri="{FF2B5EF4-FFF2-40B4-BE49-F238E27FC236}">
                    <a16:creationId xmlns:a16="http://schemas.microsoft.com/office/drawing/2014/main" id="{98EEDAEC-E919-9037-B33A-0289BF1BD092}"/>
                  </a:ext>
                </a:extLst>
              </p:cNvPr>
              <p:cNvSpPr>
                <a:spLocks noGrp="1" noRot="1" noChangeAspect="1" noMove="1" noResize="1" noEditPoints="1" noAdjustHandles="1" noChangeArrowheads="1" noChangeShapeType="1" noTextEdit="1"/>
              </p:cNvSpPr>
              <p:nvPr>
                <p:ph idx="1"/>
              </p:nvPr>
            </p:nvSpPr>
            <p:spPr>
              <a:blipFill>
                <a:blip r:embed="rId2"/>
                <a:stretch>
                  <a:fillRect l="-309" r="-8423" b="-252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D4B78772-CE98-758B-8D3B-3D4BEBC045D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A6CFEB5-C6C8-F630-E142-74AE411B6A0A}"/>
              </a:ext>
            </a:extLst>
          </p:cNvPr>
          <p:cNvSpPr>
            <a:spLocks noGrp="1"/>
          </p:cNvSpPr>
          <p:nvPr>
            <p:ph type="sldNum" sz="quarter" idx="12"/>
          </p:nvPr>
        </p:nvSpPr>
        <p:spPr/>
        <p:txBody>
          <a:bodyPr/>
          <a:lstStyle/>
          <a:p>
            <a:fld id="{D41FC515-8169-4A29-AA56-DBE520D5741B}" type="slidenum">
              <a:rPr lang="zh-CN" altLang="en-US" smtClean="0"/>
              <a:t>10</a:t>
            </a:fld>
            <a:endParaRPr lang="zh-CN" altLang="en-US"/>
          </a:p>
        </p:txBody>
      </p:sp>
    </p:spTree>
    <p:extLst>
      <p:ext uri="{BB962C8B-B14F-4D97-AF65-F5344CB8AC3E}">
        <p14:creationId xmlns:p14="http://schemas.microsoft.com/office/powerpoint/2010/main" val="202991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4FDC94-89F3-A8A6-7B59-8D7A1640C7ED}"/>
              </a:ext>
            </a:extLst>
          </p:cNvPr>
          <p:cNvSpPr>
            <a:spLocks noGrp="1"/>
          </p:cNvSpPr>
          <p:nvPr>
            <p:ph type="title"/>
          </p:nvPr>
        </p:nvSpPr>
        <p:spPr/>
        <p:txBody>
          <a:bodyPr/>
          <a:lstStyle/>
          <a:p>
            <a:r>
              <a:rPr lang="zh-CN" altLang="en-US" dirty="0"/>
              <a:t>断点回归设计</a:t>
            </a:r>
            <a:br>
              <a:rPr lang="zh-CN" altLang="en-US" dirty="0"/>
            </a:br>
            <a:r>
              <a:rPr lang="zh-CN" altLang="en-US" sz="2400" dirty="0"/>
              <a:t>模糊断点回归设计</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DDC8962B-1DD2-4E90-0FE9-579D345B3D9A}"/>
                  </a:ext>
                </a:extLst>
              </p:cNvPr>
              <p:cNvSpPr>
                <a:spLocks noGrp="1"/>
              </p:cNvSpPr>
              <p:nvPr>
                <p:ph idx="1"/>
              </p:nvPr>
            </p:nvSpPr>
            <p:spPr>
              <a:xfrm>
                <a:off x="628650" y="1825624"/>
                <a:ext cx="7886700" cy="4667249"/>
              </a:xfrm>
            </p:spPr>
            <p:txBody>
              <a:bodyPr>
                <a:normAutofit fontScale="62500" lnSpcReduction="20000"/>
              </a:bodyPr>
              <a:lstStyle/>
              <a:p>
                <a:pPr>
                  <a:lnSpc>
                    <a:spcPct val="120000"/>
                  </a:lnSpc>
                </a:pPr>
                <a:r>
                  <a:rPr lang="zh-CN" altLang="en-US" dirty="0"/>
                  <a:t>模糊断点下，干预分配𝐷𝑖 不完全由断点决定，但断点会与干预分配相关，</a:t>
                </a:r>
                <a:endParaRPr lang="en-US" altLang="zh-CN" dirty="0"/>
              </a:p>
              <a:p>
                <a:pPr>
                  <a:lnSpc>
                    <a:spcPct val="120000"/>
                  </a:lnSpc>
                </a:pPr>
                <a:r>
                  <a:rPr lang="zh-CN" altLang="en-US" dirty="0"/>
                  <a:t>定义断点</a:t>
                </a:r>
                <a14:m>
                  <m:oMath xmlns:m="http://schemas.openxmlformats.org/officeDocument/2006/math">
                    <m:r>
                      <a:rPr lang="zh-CN" altLang="en-US" i="1" dirty="0" smtClean="0">
                        <a:latin typeface="Cambria Math" panose="02040503050406030204" pitchFamily="18" charset="0"/>
                      </a:rPr>
                      <m:t>𝑇</m:t>
                    </m:r>
                    <m:r>
                      <a:rPr lang="zh-CN" altLang="en-US" i="1" dirty="0" smtClean="0">
                        <a:latin typeface="Cambria Math" panose="02040503050406030204" pitchFamily="18" charset="0"/>
                      </a:rPr>
                      <m:t> = </m:t>
                    </m:r>
                    <m:r>
                      <a:rPr lang="zh-CN" altLang="en-US" i="1" dirty="0">
                        <a:latin typeface="Cambria Math" panose="02040503050406030204" pitchFamily="18" charset="0"/>
                      </a:rPr>
                      <m:t>𝟙</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𝑥</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oMath>
                </a14:m>
                <a:r>
                  <a:rPr lang="zh-CN" altLang="en-US" dirty="0"/>
                  <a:t>，接受的干预</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zh-CN" altLang="en-US" i="1" dirty="0">
                            <a:latin typeface="Cambria Math" panose="02040503050406030204" pitchFamily="18" charset="0"/>
                          </a:rPr>
                          <m:t>𝑖</m:t>
                        </m:r>
                      </m:sub>
                    </m:s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 </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1 −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zh-CN" altLang="en-US" i="1" dirty="0">
                                <a:latin typeface="Cambria Math" panose="02040503050406030204" pitchFamily="18" charset="0"/>
                              </a:rPr>
                              <m:t>𝑖</m:t>
                            </m:r>
                          </m:sub>
                        </m:sSub>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m:t>
                    </m:r>
                  </m:oMath>
                </a14:m>
                <a:r>
                  <a:rPr lang="zh-CN" altLang="en-US" dirty="0"/>
                  <a:t>，或者</a:t>
                </a:r>
                <a:endParaRPr lang="en-US" altLang="zh-CN" dirty="0"/>
              </a:p>
              <a:p>
                <a:pPr marL="0" indent="0">
                  <a:lnSpc>
                    <a:spcPct val="120000"/>
                  </a:lnSpc>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m>
                            <m:mPr>
                              <m:mcs>
                                <m:mc>
                                  <m:mcPr>
                                    <m:count m:val="2"/>
                                    <m:mcJc m:val="center"/>
                                  </m:mcPr>
                                </m:mc>
                              </m:mcs>
                              <m:ctrlPr>
                                <a:rPr lang="zh-CN" altLang="en-US" i="1" smtClean="0">
                                  <a:latin typeface="Cambria Math" panose="02040503050406030204" pitchFamily="18" charset="0"/>
                                </a:rPr>
                              </m:ctrlPr>
                            </m:mPr>
                            <m:m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e>
                              <m:e>
                                <m:r>
                                  <a:rPr lang="zh-CN" altLang="en-US" i="1" smtClean="0">
                                    <a:latin typeface="Cambria Math" panose="02040503050406030204" pitchFamily="18" charset="0"/>
                                  </a:rPr>
                                  <m:t>𝑇</m:t>
                                </m:r>
                                <m:r>
                                  <a:rPr lang="zh-CN" altLang="en-US" i="1" smtClean="0">
                                    <a:latin typeface="Cambria Math" panose="02040503050406030204" pitchFamily="18" charset="0"/>
                                  </a:rPr>
                                  <m:t>=1</m:t>
                                </m:r>
                              </m:e>
                            </m:mr>
                            <m:m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e>
                              <m:e>
                                <m:r>
                                  <a:rPr lang="zh-CN" altLang="en-US" i="1" smtClean="0">
                                    <a:latin typeface="Cambria Math" panose="02040503050406030204" pitchFamily="18" charset="0"/>
                                  </a:rPr>
                                  <m:t>𝑇</m:t>
                                </m:r>
                                <m:r>
                                  <a:rPr lang="zh-CN" altLang="en-US" i="1" smtClean="0">
                                    <a:latin typeface="Cambria Math" panose="02040503050406030204" pitchFamily="18" charset="0"/>
                                  </a:rPr>
                                  <m:t>=0</m:t>
                                </m:r>
                              </m:e>
                            </m:mr>
                          </m:m>
                        </m:e>
                      </m:d>
                    </m:oMath>
                  </m:oMathPara>
                </a14:m>
                <a:endParaRPr lang="en-US" altLang="zh-CN" dirty="0"/>
              </a:p>
              <a:p>
                <a:pPr>
                  <a:lnSpc>
                    <a:spcPct val="120000"/>
                  </a:lnSpc>
                </a:pPr>
                <a:r>
                  <a:rPr lang="zh-CN" altLang="en-US" dirty="0"/>
                  <a:t>假设</a:t>
                </a:r>
                <a:r>
                  <a:rPr lang="en-US" altLang="zh-CN" b="1" dirty="0"/>
                  <a:t>4</a:t>
                </a:r>
                <a:r>
                  <a:rPr lang="zh-CN" altLang="en-US" dirty="0"/>
                  <a:t>（独立性假设）假设潜在结果</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sub>
                    </m:sSub>
                    <m:r>
                      <a:rPr lang="en-US" altLang="zh-CN" i="1" dirty="0">
                        <a:latin typeface="Cambria Math" panose="02040503050406030204" pitchFamily="18" charset="0"/>
                      </a:rPr>
                      <m:t>(1),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m:t>
                    </m:r>
                  </m:oMath>
                </a14:m>
                <a:r>
                  <a:rPr lang="zh-CN" altLang="en-US" dirty="0"/>
                  <a:t>独立于断点</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𝑇</m:t>
                        </m:r>
                      </m:e>
                      <m:sub>
                        <m:r>
                          <a:rPr lang="zh-CN" altLang="en-US" i="1" dirty="0" smtClean="0">
                            <a:latin typeface="Cambria Math" panose="02040503050406030204" pitchFamily="18" charset="0"/>
                          </a:rPr>
                          <m:t>𝑖</m:t>
                        </m:r>
                      </m:sub>
                    </m:sSub>
                  </m:oMath>
                </a14:m>
                <a:r>
                  <a:rPr lang="zh-CN" altLang="en-US" dirty="0"/>
                  <a:t>，即</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en-US" altLang="zh-CN" b="0" i="1" smtClean="0">
                              <a:latin typeface="Cambria Math" panose="02040503050406030204" pitchFamily="18" charset="0"/>
                              <a:ea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𝑇</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即断点（除参考变量𝑋 外）不受其他变量的影响，特别是不受影响𝑌 的混杂因素的影响，同时断点也不直接影响𝑌 ，从而断点可以作为工具变量。</a:t>
                </a:r>
                <a:endParaRPr lang="en-US" altLang="zh-CN" dirty="0"/>
              </a:p>
              <a:p>
                <a:pPr>
                  <a:lnSpc>
                    <a:spcPct val="120000"/>
                  </a:lnSpc>
                </a:pPr>
                <a:r>
                  <a:rPr lang="zh-CN" altLang="en-US" dirty="0"/>
                  <a:t>假设</a:t>
                </a:r>
                <a:r>
                  <a:rPr lang="en-US" altLang="zh-CN" b="1" dirty="0"/>
                  <a:t>5</a:t>
                </a:r>
                <a:r>
                  <a:rPr lang="zh-CN" altLang="en-US" dirty="0"/>
                  <a:t>（单调性假设）假设断点对所有个体的影响方向是相同的，这里我们假设正向单调性成立，有</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e>
                      </m:eqArr>
                    </m:oMath>
                  </m:oMathPara>
                </a14:m>
                <a:endParaRPr lang="zh-CN" altLang="en-US" dirty="0"/>
              </a:p>
            </p:txBody>
          </p:sp>
        </mc:Choice>
        <mc:Fallback>
          <p:sp>
            <p:nvSpPr>
              <p:cNvPr id="3" name="内容占位符 2">
                <a:extLst>
                  <a:ext uri="{FF2B5EF4-FFF2-40B4-BE49-F238E27FC236}">
                    <a16:creationId xmlns:a16="http://schemas.microsoft.com/office/drawing/2014/main" id="{DDC8962B-1DD2-4E90-0FE9-579D345B3D9A}"/>
                  </a:ext>
                </a:extLst>
              </p:cNvPr>
              <p:cNvSpPr>
                <a:spLocks noGrp="1" noRot="1" noChangeAspect="1" noMove="1" noResize="1" noEditPoints="1" noAdjustHandles="1" noChangeArrowheads="1" noChangeShapeType="1" noTextEdit="1"/>
              </p:cNvSpPr>
              <p:nvPr>
                <p:ph idx="1"/>
              </p:nvPr>
            </p:nvSpPr>
            <p:spPr>
              <a:xfrm>
                <a:off x="628650" y="1825624"/>
                <a:ext cx="7886700" cy="4667249"/>
              </a:xfrm>
              <a:blipFill>
                <a:blip r:embed="rId2"/>
                <a:stretch>
                  <a:fillRect l="-618" t="-783" r="-69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6521627-83F0-BACD-AC81-2BD5E8D6C9A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32963AC-D52C-3849-8694-B46D68140A0A}"/>
              </a:ext>
            </a:extLst>
          </p:cNvPr>
          <p:cNvSpPr>
            <a:spLocks noGrp="1"/>
          </p:cNvSpPr>
          <p:nvPr>
            <p:ph type="sldNum" sz="quarter" idx="12"/>
          </p:nvPr>
        </p:nvSpPr>
        <p:spPr/>
        <p:txBody>
          <a:bodyPr/>
          <a:lstStyle/>
          <a:p>
            <a:fld id="{D41FC515-8169-4A29-AA56-DBE520D5741B}" type="slidenum">
              <a:rPr lang="zh-CN" altLang="en-US" smtClean="0"/>
              <a:t>11</a:t>
            </a:fld>
            <a:endParaRPr lang="zh-CN" altLang="en-US"/>
          </a:p>
        </p:txBody>
      </p:sp>
    </p:spTree>
    <p:extLst>
      <p:ext uri="{BB962C8B-B14F-4D97-AF65-F5344CB8AC3E}">
        <p14:creationId xmlns:p14="http://schemas.microsoft.com/office/powerpoint/2010/main" val="2458298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3D1B30-75F8-8244-8779-0BA432FFD117}"/>
              </a:ext>
            </a:extLst>
          </p:cNvPr>
          <p:cNvSpPr>
            <a:spLocks noGrp="1"/>
          </p:cNvSpPr>
          <p:nvPr>
            <p:ph type="title"/>
          </p:nvPr>
        </p:nvSpPr>
        <p:spPr/>
        <p:txBody>
          <a:bodyPr/>
          <a:lstStyle/>
          <a:p>
            <a:r>
              <a:rPr lang="zh-CN" altLang="en-US" dirty="0"/>
              <a:t>断点回归设计</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39C7393-F6CE-B4AF-473B-1D0DE90DCE23}"/>
                  </a:ext>
                </a:extLst>
              </p:cNvPr>
              <p:cNvSpPr>
                <a:spLocks noGrp="1"/>
              </p:cNvSpPr>
              <p:nvPr>
                <p:ph idx="1"/>
              </p:nvPr>
            </p:nvSpPr>
            <p:spPr/>
            <p:txBody>
              <a:bodyPr>
                <a:normAutofit fontScale="70000" lnSpcReduction="20000"/>
              </a:bodyPr>
              <a:lstStyle/>
              <a:p>
                <a:r>
                  <a:rPr lang="zh-CN" altLang="en-US" dirty="0"/>
                  <a:t>定理</a:t>
                </a:r>
                <a:r>
                  <a:rPr lang="en-US" altLang="zh-CN" b="1" dirty="0"/>
                  <a:t>2</a:t>
                </a:r>
                <a:r>
                  <a:rPr lang="zh-CN" altLang="en-US" dirty="0"/>
                  <a:t>（</a:t>
                </a:r>
                <a:r>
                  <a:rPr lang="en-US" altLang="zh-CN" b="1" dirty="0"/>
                  <a:t>Hahn et al., 2001, </a:t>
                </a:r>
                <a:r>
                  <a:rPr lang="zh-CN" altLang="en-US" dirty="0"/>
                  <a:t>定理</a:t>
                </a:r>
                <a:r>
                  <a:rPr lang="en-US" altLang="zh-CN" b="1" dirty="0"/>
                  <a:t>3</a:t>
                </a:r>
                <a:r>
                  <a:rPr lang="zh-CN" altLang="en-US" dirty="0"/>
                  <a:t>）假设</a:t>
                </a:r>
                <a:r>
                  <a:rPr lang="en-US" altLang="zh-CN" dirty="0"/>
                  <a:t>1</a:t>
                </a:r>
                <a:r>
                  <a:rPr lang="zh-CN" altLang="en-US" dirty="0"/>
                  <a:t>、</a:t>
                </a:r>
                <a:r>
                  <a:rPr lang="en-US" altLang="zh-CN" dirty="0"/>
                  <a:t>2</a:t>
                </a:r>
                <a:r>
                  <a:rPr lang="zh-CN" altLang="en-US" dirty="0"/>
                  <a:t>、</a:t>
                </a:r>
                <a:r>
                  <a:rPr lang="en-US" altLang="zh-CN" dirty="0"/>
                  <a:t>4 </a:t>
                </a:r>
                <a:r>
                  <a:rPr lang="zh-CN" altLang="en-US" dirty="0"/>
                  <a:t>和</a:t>
                </a:r>
                <a:r>
                  <a:rPr lang="en-US" altLang="zh-CN" dirty="0"/>
                  <a:t>5 </a:t>
                </a:r>
                <a:r>
                  <a:rPr lang="zh-CN" altLang="en-US" dirty="0"/>
                  <a:t>成立，则</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𝜇</m:t>
                                  </m:r>
                                </m:e>
                                <m:sup>
                                  <m:r>
                                    <a:rPr lang="zh-CN" altLang="en-US" i="1" smtClean="0">
                                      <a:latin typeface="Cambria Math" panose="02040503050406030204" pitchFamily="18" charset="0"/>
                                    </a:rPr>
                                    <m:t>+</m:t>
                                  </m:r>
                                </m:sup>
                              </m:sSup>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𝜇</m:t>
                                  </m:r>
                                </m:e>
                                <m:sup>
                                  <m:r>
                                    <a:rPr lang="zh-CN" altLang="en-US" i="1" smtClean="0">
                                      <a:latin typeface="Cambria Math" panose="02040503050406030204" pitchFamily="18" charset="0"/>
                                    </a:rPr>
                                    <m:t>−</m:t>
                                  </m:r>
                                </m:sup>
                              </m:sSup>
                            </m:num>
                            <m:den>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𝑝</m:t>
                                  </m:r>
                                </m:e>
                                <m:sup>
                                  <m:r>
                                    <a:rPr lang="zh-CN" altLang="en-US" i="1" smtClean="0">
                                      <a:latin typeface="Cambria Math" panose="02040503050406030204" pitchFamily="18" charset="0"/>
                                    </a:rPr>
                                    <m:t>+</m:t>
                                  </m:r>
                                </m:sup>
                              </m:sSup>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𝑝</m:t>
                                  </m:r>
                                </m:e>
                                <m:sup>
                                  <m:r>
                                    <a:rPr lang="zh-CN" altLang="en-US" i="1" smtClean="0">
                                      <a:latin typeface="Cambria Math" panose="02040503050406030204" pitchFamily="18" charset="0"/>
                                    </a:rPr>
                                    <m:t>−</m:t>
                                  </m:r>
                                </m:sup>
                              </m:sSup>
                            </m:den>
                          </m:f>
                          <m:r>
                            <a:rPr lang="zh-CN" altLang="en-US" i="1" smtClean="0">
                              <a:latin typeface="Cambria Math" panose="02040503050406030204" pitchFamily="18" charset="0"/>
                            </a:rPr>
                            <m:t>.</m:t>
                          </m:r>
                        </m:e>
                      </m:eqArr>
                      <m:r>
                        <a:rPr lang="en-US" altLang="zh-CN" b="0" i="1" smtClean="0">
                          <a:latin typeface="Cambria Math" panose="02040503050406030204" pitchFamily="18" charset="0"/>
                        </a:rPr>
                        <m:t>                        (6)</m:t>
                      </m:r>
                    </m:oMath>
                  </m:oMathPara>
                </a14:m>
                <a:endParaRPr lang="en-US" altLang="zh-CN" dirty="0"/>
              </a:p>
              <a:p>
                <a:r>
                  <a:rPr lang="zh-CN" altLang="en-US" dirty="0"/>
                  <a:t>证明：</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r>
                            <a:rPr lang="zh-CN" altLang="en-US" i="1" smtClean="0">
                              <a:latin typeface="Cambria Math" panose="02040503050406030204" pitchFamily="18" charset="0"/>
                            </a:rPr>
                            <m:t>,</m:t>
                          </m:r>
                        </m:e>
                      </m:eqArr>
                    </m:oMath>
                  </m:oMathPara>
                </a14:m>
                <a:endParaRPr lang="zh-CN" altLang="en-US" dirty="0"/>
              </a:p>
            </p:txBody>
          </p:sp>
        </mc:Choice>
        <mc:Fallback>
          <p:sp>
            <p:nvSpPr>
              <p:cNvPr id="3" name="内容占位符 2">
                <a:extLst>
                  <a:ext uri="{FF2B5EF4-FFF2-40B4-BE49-F238E27FC236}">
                    <a16:creationId xmlns:a16="http://schemas.microsoft.com/office/drawing/2014/main" id="{339C7393-F6CE-B4AF-473B-1D0DE90DCE23}"/>
                  </a:ext>
                </a:extLst>
              </p:cNvPr>
              <p:cNvSpPr>
                <a:spLocks noGrp="1" noRot="1" noChangeAspect="1" noMove="1" noResize="1" noEditPoints="1" noAdjustHandles="1" noChangeArrowheads="1" noChangeShapeType="1" noTextEdit="1"/>
              </p:cNvSpPr>
              <p:nvPr>
                <p:ph idx="1"/>
              </p:nvPr>
            </p:nvSpPr>
            <p:spPr>
              <a:blipFill>
                <a:blip r:embed="rId2"/>
                <a:stretch>
                  <a:fillRect l="-696" t="-21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73909BC4-AD28-D83D-256E-53940320820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487A45C-8FA5-9A39-D034-BCD1E268F505}"/>
              </a:ext>
            </a:extLst>
          </p:cNvPr>
          <p:cNvSpPr>
            <a:spLocks noGrp="1"/>
          </p:cNvSpPr>
          <p:nvPr>
            <p:ph type="sldNum" sz="quarter" idx="12"/>
          </p:nvPr>
        </p:nvSpPr>
        <p:spPr/>
        <p:txBody>
          <a:bodyPr/>
          <a:lstStyle/>
          <a:p>
            <a:fld id="{D41FC515-8169-4A29-AA56-DBE520D5741B}" type="slidenum">
              <a:rPr lang="zh-CN" altLang="en-US" smtClean="0"/>
              <a:t>12</a:t>
            </a:fld>
            <a:endParaRPr lang="zh-CN" altLang="en-US"/>
          </a:p>
        </p:txBody>
      </p:sp>
    </p:spTree>
    <p:extLst>
      <p:ext uri="{BB962C8B-B14F-4D97-AF65-F5344CB8AC3E}">
        <p14:creationId xmlns:p14="http://schemas.microsoft.com/office/powerpoint/2010/main" val="2851694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439C0B-AE93-F492-2737-915ECA693034}"/>
              </a:ext>
            </a:extLst>
          </p:cNvPr>
          <p:cNvSpPr>
            <a:spLocks noGrp="1"/>
          </p:cNvSpPr>
          <p:nvPr>
            <p:ph type="title"/>
          </p:nvPr>
        </p:nvSpPr>
        <p:spPr/>
        <p:txBody>
          <a:bodyPr/>
          <a:lstStyle/>
          <a:p>
            <a:r>
              <a:rPr lang="zh-CN" altLang="en-US" dirty="0"/>
              <a:t>断点回归设计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DA5406A-9861-20B7-14ED-08E774504CBF}"/>
                  </a:ext>
                </a:extLst>
              </p:cNvPr>
              <p:cNvSpPr>
                <a:spLocks noGrp="1"/>
              </p:cNvSpPr>
              <p:nvPr>
                <p:ph idx="1"/>
              </p:nvPr>
            </p:nvSpPr>
            <p:spPr/>
            <p:txBody>
              <a:bodyPr>
                <a:normAutofit fontScale="62500" lnSpcReduction="20000"/>
              </a:bodyPr>
              <a:lstStyle/>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r>
                            <m:rPr>
                              <m:aln/>
                            </m:rPr>
                            <a:rPr lang="zh-CN" altLang="en-US" i="1" smtClean="0">
                              <a:latin typeface="Cambria Math" panose="02040503050406030204" pitchFamily="18" charset="0"/>
                            </a:rPr>
                            <m:t>&amp;</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Pr</m:t>
                              </m:r>
                            </m:fName>
                            <m:e>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func>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e>
                        <m:e>
                          <m:r>
                            <m:rPr>
                              <m:aln/>
                            </m:rPr>
                            <a:rPr lang="zh-CN" altLang="en-US" i="1" smtClean="0">
                              <a:latin typeface="Cambria Math" panose="02040503050406030204" pitchFamily="18" charset="0"/>
                            </a:rPr>
                            <m:t>&amp;</m:t>
                          </m:r>
                          <m:r>
                            <a:rPr lang="en-US" altLang="zh-CN" b="0" i="1" smtClean="0">
                              <a:latin typeface="Cambria Math" panose="02040503050406030204" pitchFamily="18" charset="0"/>
                            </a:rPr>
                            <m:t> </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e>
                        <m:e>
                          <m:r>
                            <m:rPr>
                              <m:aln/>
                            </m:rPr>
                            <a:rPr lang="zh-CN" altLang="en-US" i="1" smtClean="0">
                              <a:latin typeface="Cambria Math" panose="02040503050406030204" pitchFamily="18" charset="0"/>
                            </a:rPr>
                            <m:t>&amp;</m:t>
                          </m:r>
                          <m:r>
                            <a:rPr lang="en-US" altLang="zh-CN" b="0" i="1" smtClean="0">
                              <a:latin typeface="Cambria Math" panose="02040503050406030204" pitchFamily="18" charset="0"/>
                            </a:rPr>
                            <m:t> </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a:rPr lang="zh-CN" altLang="en-US" i="1" smtClean="0">
                              <a:latin typeface="Cambria Math" panose="02040503050406030204" pitchFamily="18" charset="0"/>
                            </a:rPr>
                            <m:t>.</m:t>
                          </m:r>
                        </m:e>
                      </m:eqArr>
                    </m:oMath>
                  </m:oMathPara>
                </a14:m>
                <a:endParaRPr lang="en-US" altLang="zh-CN" dirty="0"/>
              </a:p>
              <a:p>
                <a:pPr marL="0" indent="0">
                  <a:buNone/>
                </a:pP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𝜀</m:t>
                              </m:r>
                              <m:r>
                                <a:rPr lang="zh-CN" altLang="en-US" i="1" smtClean="0">
                                  <a:latin typeface="Cambria Math" panose="02040503050406030204" pitchFamily="18" charset="0"/>
                                </a:rPr>
                                <m:t>→0</m:t>
                              </m:r>
                            </m:lim>
                          </m:limLow>
                          <m:r>
                            <m:rPr>
                              <m:aln/>
                            </m:rPr>
                            <a:rPr lang="zh-CN" altLang="en-US" i="1" smtClean="0">
                              <a:latin typeface="Cambria Math" panose="02040503050406030204" pitchFamily="18" charset="0"/>
                            </a:rPr>
                            <m:t>&amp;</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𝜀</m:t>
                                  </m:r>
                                  <m:r>
                                    <a:rPr lang="zh-CN" altLang="en-US" i="1" smtClean="0">
                                      <a:latin typeface="Cambria Math" panose="02040503050406030204" pitchFamily="18" charset="0"/>
                                    </a:rPr>
                                    <m:t>→0</m:t>
                                  </m:r>
                                </m:lim>
                              </m:limLow>
                            </m:fName>
                            <m:e>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e>
                              </m:d>
                            </m:e>
                          </m:func>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𝜀</m:t>
                                  </m:r>
                                  <m:r>
                                    <a:rPr lang="zh-CN" altLang="en-US" i="1" smtClean="0">
                                      <a:latin typeface="Cambria Math" panose="02040503050406030204" pitchFamily="18" charset="0"/>
                                    </a:rPr>
                                    <m:t>→0</m:t>
                                  </m:r>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e>
                          </m:d>
                          <m:r>
                            <a:rPr lang="zh-CN" altLang="en-US" i="1" smtClean="0">
                              <a:latin typeface="Cambria Math" panose="02040503050406030204" pitchFamily="18" charset="0"/>
                            </a:rPr>
                            <m:t>.</m:t>
                          </m:r>
                        </m:e>
                      </m:eqArr>
                    </m:oMath>
                  </m:oMathPara>
                </a14:m>
                <a:endParaRPr lang="en-US" altLang="zh-CN" dirty="0"/>
              </a:p>
              <a:p>
                <a:pPr marL="0" indent="0">
                  <a:buNone/>
                </a:pP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𝜀</m:t>
                                  </m:r>
                                  <m:r>
                                    <a:rPr lang="zh-CN" altLang="en-US" i="1" smtClean="0">
                                      <a:latin typeface="Cambria Math" panose="02040503050406030204" pitchFamily="18" charset="0"/>
                                    </a:rPr>
                                    <m:t>→0</m:t>
                                  </m:r>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m:t>
                                  </m:r>
                                </m:e>
                              </m:d>
                              <m:r>
                                <a:rPr lang="zh-CN" altLang="en-US" i="1" smtClean="0">
                                  <a:latin typeface="Cambria Math" panose="02040503050406030204" pitchFamily="18" charset="0"/>
                                </a:rPr>
                                <m:t>&gt;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m:t>
                                  </m:r>
                                </m:e>
                              </m:d>
                            </m:e>
                          </m:d>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𝜀</m:t>
                                      </m:r>
                                      <m:r>
                                        <a:rPr lang="zh-CN" altLang="en-US" i="1" smtClean="0">
                                          <a:latin typeface="Cambria Math" panose="02040503050406030204" pitchFamily="18" charset="0"/>
                                        </a:rPr>
                                        <m:t>→0</m:t>
                                      </m:r>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𝜀</m:t>
                                      </m:r>
                                      <m:r>
                                        <a:rPr lang="zh-CN" altLang="en-US" i="1" smtClean="0">
                                          <a:latin typeface="Cambria Math" panose="02040503050406030204" pitchFamily="18" charset="0"/>
                                        </a:rPr>
                                        <m:t>→0</m:t>
                                      </m:r>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num>
                            <m:den>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𝜀</m:t>
                                      </m:r>
                                      <m:r>
                                        <a:rPr lang="zh-CN" altLang="en-US" i="1" smtClean="0">
                                          <a:latin typeface="Cambria Math" panose="02040503050406030204" pitchFamily="18" charset="0"/>
                                        </a:rPr>
                                        <m:t>→0</m:t>
                                      </m:r>
                                    </m:lim>
                                  </m:limLow>
                                </m:fName>
                                <m:e>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𝜀</m:t>
                                          </m:r>
                                          <m:r>
                                            <a:rPr lang="zh-CN" altLang="en-US" i="1" smtClean="0">
                                              <a:latin typeface="Cambria Math" panose="02040503050406030204" pitchFamily="18" charset="0"/>
                                            </a:rPr>
                                            <m:t>→0</m:t>
                                          </m:r>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𝜀</m:t>
                                      </m:r>
                                    </m:e>
                                  </m:d>
                                </m:e>
                              </m:func>
                            </m:den>
                          </m:f>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𝜇</m:t>
                                  </m:r>
                                </m:e>
                                <m:sup>
                                  <m:r>
                                    <a:rPr lang="zh-CN" altLang="en-US" i="1" smtClean="0">
                                      <a:latin typeface="Cambria Math" panose="02040503050406030204" pitchFamily="18" charset="0"/>
                                    </a:rPr>
                                    <m:t>+</m:t>
                                  </m:r>
                                </m:sup>
                              </m:sSup>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𝜇</m:t>
                                  </m:r>
                                </m:e>
                                <m:sup>
                                  <m:r>
                                    <a:rPr lang="zh-CN" altLang="en-US" i="1" smtClean="0">
                                      <a:latin typeface="Cambria Math" panose="02040503050406030204" pitchFamily="18" charset="0"/>
                                    </a:rPr>
                                    <m:t>−</m:t>
                                  </m:r>
                                </m:sup>
                              </m:sSup>
                            </m:num>
                            <m:den>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𝑝</m:t>
                                  </m:r>
                                </m:e>
                                <m:sup>
                                  <m:r>
                                    <a:rPr lang="zh-CN" altLang="en-US" i="1" smtClean="0">
                                      <a:latin typeface="Cambria Math" panose="02040503050406030204" pitchFamily="18" charset="0"/>
                                    </a:rPr>
                                    <m:t>+</m:t>
                                  </m:r>
                                </m:sup>
                              </m:sSup>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r>
                                    <a:rPr lang="zh-CN" altLang="en-US" i="1" smtClean="0">
                                      <a:latin typeface="Cambria Math" panose="02040503050406030204" pitchFamily="18" charset="0"/>
                                    </a:rPr>
                                    <m:t>𝑝</m:t>
                                  </m:r>
                                </m:e>
                                <m:sup>
                                  <m:r>
                                    <a:rPr lang="zh-CN" altLang="en-US" i="1" smtClean="0">
                                      <a:latin typeface="Cambria Math" panose="02040503050406030204" pitchFamily="18" charset="0"/>
                                    </a:rPr>
                                    <m:t>−</m:t>
                                  </m:r>
                                </m:sup>
                              </m:sSup>
                            </m:den>
                          </m:f>
                          <m:r>
                            <a:rPr lang="zh-CN" altLang="en-US" i="1" smtClean="0">
                              <a:latin typeface="Cambria Math" panose="02040503050406030204" pitchFamily="18" charset="0"/>
                            </a:rPr>
                            <m:t>.</m:t>
                          </m:r>
                        </m:e>
                      </m:eqArr>
                    </m:oMath>
                  </m:oMathPara>
                </a14:m>
                <a:endParaRPr lang="zh-CN" altLang="en-US" dirty="0"/>
              </a:p>
            </p:txBody>
          </p:sp>
        </mc:Choice>
        <mc:Fallback xmlns="">
          <p:sp>
            <p:nvSpPr>
              <p:cNvPr id="3" name="内容占位符 2">
                <a:extLst>
                  <a:ext uri="{FF2B5EF4-FFF2-40B4-BE49-F238E27FC236}">
                    <a16:creationId xmlns:a16="http://schemas.microsoft.com/office/drawing/2014/main" id="{BDA5406A-9861-20B7-14ED-08E774504CBF}"/>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F24BA39-B843-F149-D2E0-3A85429660D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571CD59-D6ED-A37F-2F05-BC053B5433AD}"/>
              </a:ext>
            </a:extLst>
          </p:cNvPr>
          <p:cNvSpPr>
            <a:spLocks noGrp="1"/>
          </p:cNvSpPr>
          <p:nvPr>
            <p:ph type="sldNum" sz="quarter" idx="12"/>
          </p:nvPr>
        </p:nvSpPr>
        <p:spPr/>
        <p:txBody>
          <a:bodyPr/>
          <a:lstStyle/>
          <a:p>
            <a:fld id="{D41FC515-8169-4A29-AA56-DBE520D5741B}" type="slidenum">
              <a:rPr lang="zh-CN" altLang="en-US" smtClean="0"/>
              <a:t>13</a:t>
            </a:fld>
            <a:endParaRPr lang="zh-CN" altLang="en-US"/>
          </a:p>
        </p:txBody>
      </p:sp>
    </p:spTree>
    <p:extLst>
      <p:ext uri="{BB962C8B-B14F-4D97-AF65-F5344CB8AC3E}">
        <p14:creationId xmlns:p14="http://schemas.microsoft.com/office/powerpoint/2010/main" val="3444411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385829-6ED3-4D57-CF50-081591377223}"/>
              </a:ext>
            </a:extLst>
          </p:cNvPr>
          <p:cNvSpPr>
            <a:spLocks noGrp="1"/>
          </p:cNvSpPr>
          <p:nvPr>
            <p:ph type="title"/>
          </p:nvPr>
        </p:nvSpPr>
        <p:spPr/>
        <p:txBody>
          <a:bodyPr/>
          <a:lstStyle/>
          <a:p>
            <a:r>
              <a:rPr lang="zh-CN" altLang="en-US" dirty="0"/>
              <a:t>断点回归设计的图形分析</a:t>
            </a:r>
            <a:br>
              <a:rPr lang="zh-CN" altLang="en-US" dirty="0"/>
            </a:br>
            <a:r>
              <a:rPr lang="en-US" altLang="zh-CN" sz="2400" dirty="0"/>
              <a:t>1. </a:t>
            </a:r>
            <a:r>
              <a:rPr lang="zh-CN" altLang="en-US" sz="2400" dirty="0"/>
              <a:t>结果变量与参考变量关系图</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3D9AC68-A2A2-30F5-5980-0EC18D1E6066}"/>
                  </a:ext>
                </a:extLst>
              </p:cNvPr>
              <p:cNvSpPr>
                <a:spLocks noGrp="1"/>
              </p:cNvSpPr>
              <p:nvPr>
                <p:ph idx="1"/>
              </p:nvPr>
            </p:nvSpPr>
            <p:spPr/>
            <p:txBody>
              <a:bodyPr/>
              <a:lstStyle/>
              <a:p>
                <a:r>
                  <a:rPr lang="zh-CN" altLang="en-US" dirty="0"/>
                  <a:t>具体地，选择某一带宽</a:t>
                </a:r>
                <a:r>
                  <a:rPr lang="en-US" altLang="zh-CN" dirty="0"/>
                  <a:t>ℎ</a:t>
                </a:r>
                <a:r>
                  <a:rPr lang="zh-CN" altLang="en-US" dirty="0"/>
                  <a:t>，相应断点左右所划分的区间数分别为</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𝐾</m:t>
                        </m:r>
                      </m:e>
                      <m:sub>
                        <m:r>
                          <a:rPr lang="en-US" altLang="zh-CN" i="1" dirty="0">
                            <a:latin typeface="Cambria Math" panose="02040503050406030204" pitchFamily="18" charset="0"/>
                          </a:rPr>
                          <m:t>0</m:t>
                        </m:r>
                      </m:sub>
                    </m:sSub>
                  </m:oMath>
                </a14:m>
                <a:r>
                  <a:rPr lang="en-US" altLang="zh-CN" dirty="0"/>
                  <a:t> </a:t>
                </a:r>
                <a:r>
                  <a:rPr lang="zh-CN" altLang="en-US" dirty="0"/>
                  <a:t>和</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𝐾</m:t>
                        </m:r>
                      </m:e>
                      <m:sub>
                        <m:r>
                          <a:rPr lang="en-US" altLang="zh-CN" i="1" dirty="0">
                            <a:latin typeface="Cambria Math" panose="02040503050406030204" pitchFamily="18" charset="0"/>
                          </a:rPr>
                          <m:t>1</m:t>
                        </m:r>
                      </m:sub>
                    </m:sSub>
                  </m:oMath>
                </a14:m>
                <a:r>
                  <a:rPr lang="zh-CN" altLang="en-US" dirty="0"/>
                  <a:t>，目的是构造一系列区间</a:t>
                </a:r>
                <a14:m>
                  <m:oMath xmlns:m="http://schemas.openxmlformats.org/officeDocument/2006/math">
                    <m:r>
                      <a:rPr lang="en-US" altLang="zh-CN" i="1" dirty="0" smtClean="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𝑏</m:t>
                        </m:r>
                      </m:e>
                      <m:sub>
                        <m:r>
                          <a:rPr lang="zh-CN" altLang="en-US" i="1" dirty="0">
                            <a:latin typeface="Cambria Math" panose="02040503050406030204" pitchFamily="18" charset="0"/>
                          </a:rPr>
                          <m:t>𝑘</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𝑏</m:t>
                        </m:r>
                      </m:e>
                      <m:sub>
                        <m:r>
                          <a:rPr lang="zh-CN" altLang="en-US" i="1" dirty="0">
                            <a:latin typeface="Cambria Math" panose="02040503050406030204" pitchFamily="18" charset="0"/>
                          </a:rPr>
                          <m:t>𝑘</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r>
                      <a:rPr lang="zh-CN" altLang="en-US" i="1" dirty="0">
                        <a:latin typeface="Cambria Math" panose="02040503050406030204" pitchFamily="18" charset="0"/>
                      </a:rPr>
                      <m:t>𝑘</m:t>
                    </m:r>
                    <m:r>
                      <a:rPr lang="zh-CN" altLang="en-US" i="1" dirty="0">
                        <a:latin typeface="Cambria Math" panose="02040503050406030204" pitchFamily="18" charset="0"/>
                      </a:rPr>
                      <m:t> = 1, … , </m:t>
                    </m:r>
                    <m:r>
                      <a:rPr lang="zh-CN" altLang="en-US" i="1" dirty="0">
                        <a:latin typeface="Cambria Math" panose="02040503050406030204" pitchFamily="18" charset="0"/>
                      </a:rPr>
                      <m:t>𝐾</m:t>
                    </m:r>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𝐾</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𝐾</m:t>
                        </m:r>
                      </m:e>
                      <m:sub>
                        <m:r>
                          <a:rPr lang="en-US" altLang="zh-CN" i="1" dirty="0">
                            <a:latin typeface="Cambria Math" panose="02040503050406030204" pitchFamily="18" charset="0"/>
                          </a:rPr>
                          <m:t>1</m:t>
                        </m:r>
                      </m:sub>
                    </m:sSub>
                  </m:oMath>
                </a14:m>
                <a:r>
                  <a:rPr lang="zh-CN" altLang="en-US" dirty="0"/>
                  <a:t>，其中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𝑏</m:t>
                        </m:r>
                      </m:e>
                      <m:sub>
                        <m:r>
                          <a:rPr lang="zh-CN" altLang="en-US" i="1" dirty="0">
                            <a:latin typeface="Cambria Math" panose="02040503050406030204" pitchFamily="18" charset="0"/>
                          </a:rPr>
                          <m:t>𝑘</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𝑥</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𝐾</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r>
                      <a:rPr lang="zh-CN" altLang="en-US" i="1" dirty="0">
                        <a:latin typeface="Cambria Math" panose="02040503050406030204" pitchFamily="18" charset="0"/>
                      </a:rPr>
                      <m:t>𝑘</m:t>
                    </m:r>
                    <m:r>
                      <a:rPr lang="zh-CN" altLang="en-US" i="1" dirty="0">
                        <a:latin typeface="Cambria Math" panose="02040503050406030204" pitchFamily="18" charset="0"/>
                      </a:rPr>
                      <m:t> + 1)</m:t>
                    </m:r>
                    <m:r>
                      <a:rPr lang="en-US" altLang="zh-CN" i="1" dirty="0">
                        <a:latin typeface="Cambria Math" panose="02040503050406030204" pitchFamily="18" charset="0"/>
                      </a:rPr>
                      <m:t>ℎ</m:t>
                    </m:r>
                  </m:oMath>
                </a14:m>
                <a:r>
                  <a:rPr lang="zh-CN" altLang="en-US" dirty="0"/>
                  <a:t>。区间𝑘 中个体结果的平均值为：</a:t>
                </a:r>
                <a:endParaRPr lang="en-US" altLang="zh-CN" dirty="0"/>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bar>
                            <m:barPr>
                              <m:pos m:val="top"/>
                              <m:ctrlPr>
                                <a:rPr lang="zh-CN" altLang="en-US" i="1" smtClean="0">
                                  <a:latin typeface="Cambria Math" panose="02040503050406030204" pitchFamily="18" charset="0"/>
                                </a:rPr>
                              </m:ctrlPr>
                            </m:barPr>
                            <m:e>
                              <m:r>
                                <a:rPr lang="zh-CN" altLang="en-US" i="1" smtClean="0">
                                  <a:latin typeface="Cambria Math" panose="02040503050406030204" pitchFamily="18" charset="0"/>
                                </a:rPr>
                                <m:t>𝑌</m:t>
                              </m:r>
                            </m:e>
                          </m:bar>
                        </m:e>
                        <m:sub>
                          <m:r>
                            <a:rPr lang="zh-CN" altLang="en-US" i="1" smtClean="0">
                              <a:latin typeface="Cambria Math" panose="02040503050406030204" pitchFamily="18" charset="0"/>
                            </a:rPr>
                            <m:t>𝑘</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𝑘</m:t>
                              </m:r>
                            </m:sub>
                          </m:sSub>
                        </m:den>
                      </m:f>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e>
                      </m:nary>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𝑘</m:t>
                              </m:r>
                            </m:sub>
                          </m:sSub>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𝑘</m:t>
                              </m:r>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oMath>
                  </m:oMathPara>
                </a14:m>
                <a:endParaRPr lang="en-US" altLang="zh-CN" dirty="0"/>
              </a:p>
              <a:p>
                <a:pPr marL="0" indent="0" algn="ctr">
                  <a:buNone/>
                </a:pPr>
                <a14:m>
                  <m:oMath xmlns:m="http://schemas.openxmlformats.org/officeDocument/2006/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𝑁</m:t>
                            </m:r>
                          </m:e>
                          <m:sub>
                            <m:r>
                              <a:rPr lang="zh-CN" altLang="en-US" i="1" smtClean="0">
                                <a:latin typeface="Cambria Math" panose="02040503050406030204" pitchFamily="18" charset="0"/>
                              </a:rPr>
                              <m:t>𝑘</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r>
                              <a:rPr lang="zh-CN" altLang="en-US" i="1" smtClean="0">
                                <a:latin typeface="Cambria Math" panose="02040503050406030204" pitchFamily="18" charset="0"/>
                              </a:rPr>
                              <m:t>1</m:t>
                            </m:r>
                          </m:e>
                        </m:nary>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𝑘</m:t>
                                </m:r>
                              </m:sub>
                            </m:sSub>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𝑘</m:t>
                                </m:r>
                                <m:r>
                                  <a:rPr lang="zh-CN" altLang="en-US" i="1" smtClean="0">
                                    <a:latin typeface="Cambria Math" panose="02040503050406030204" pitchFamily="18" charset="0"/>
                                  </a:rPr>
                                  <m:t>+1</m:t>
                                </m:r>
                              </m:sub>
                            </m:sSub>
                          </m:e>
                        </m:d>
                        <m:r>
                          <a:rPr lang="zh-CN" altLang="en-US" i="1" smtClean="0">
                            <a:latin typeface="Cambria Math" panose="02040503050406030204" pitchFamily="18" charset="0"/>
                          </a:rPr>
                          <m:t>.</m:t>
                        </m:r>
                      </m:e>
                    </m:eqArr>
                  </m:oMath>
                </a14:m>
                <a:r>
                  <a:rPr lang="zh-CN" altLang="en-US" dirty="0"/>
                  <a:t>   </a:t>
                </a:r>
              </a:p>
            </p:txBody>
          </p:sp>
        </mc:Choice>
        <mc:Fallback xmlns="">
          <p:sp>
            <p:nvSpPr>
              <p:cNvPr id="3" name="内容占位符 2">
                <a:extLst>
                  <a:ext uri="{FF2B5EF4-FFF2-40B4-BE49-F238E27FC236}">
                    <a16:creationId xmlns:a16="http://schemas.microsoft.com/office/drawing/2014/main" id="{63D9AC68-A2A2-30F5-5980-0EC18D1E6066}"/>
                  </a:ext>
                </a:extLst>
              </p:cNvPr>
              <p:cNvSpPr>
                <a:spLocks noGrp="1" noRot="1" noChangeAspect="1" noMove="1" noResize="1" noEditPoints="1" noAdjustHandles="1" noChangeArrowheads="1" noChangeShapeType="1" noTextEdit="1"/>
              </p:cNvSpPr>
              <p:nvPr>
                <p:ph idx="1"/>
              </p:nvPr>
            </p:nvSpPr>
            <p:spPr>
              <a:blipFill>
                <a:blip r:embed="rId2"/>
                <a:stretch>
                  <a:fillRect l="-1391" t="-14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7890E14-562D-BDA4-DDBF-B18BE73D977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027D82D-31B5-1B55-828C-0491E249E730}"/>
              </a:ext>
            </a:extLst>
          </p:cNvPr>
          <p:cNvSpPr>
            <a:spLocks noGrp="1"/>
          </p:cNvSpPr>
          <p:nvPr>
            <p:ph type="sldNum" sz="quarter" idx="12"/>
          </p:nvPr>
        </p:nvSpPr>
        <p:spPr/>
        <p:txBody>
          <a:bodyPr/>
          <a:lstStyle/>
          <a:p>
            <a:fld id="{D41FC515-8169-4A29-AA56-DBE520D5741B}" type="slidenum">
              <a:rPr lang="zh-CN" altLang="en-US" smtClean="0"/>
              <a:t>14</a:t>
            </a:fld>
            <a:endParaRPr lang="zh-CN" altLang="en-US"/>
          </a:p>
        </p:txBody>
      </p:sp>
    </p:spTree>
    <p:extLst>
      <p:ext uri="{BB962C8B-B14F-4D97-AF65-F5344CB8AC3E}">
        <p14:creationId xmlns:p14="http://schemas.microsoft.com/office/powerpoint/2010/main" val="3457040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613FD-4072-1D39-5378-2DFE5E0000B7}"/>
              </a:ext>
            </a:extLst>
          </p:cNvPr>
          <p:cNvSpPr>
            <a:spLocks noGrp="1"/>
          </p:cNvSpPr>
          <p:nvPr>
            <p:ph type="title"/>
          </p:nvPr>
        </p:nvSpPr>
        <p:spPr/>
        <p:txBody>
          <a:bodyPr/>
          <a:lstStyle/>
          <a:p>
            <a:r>
              <a:rPr lang="zh-CN" altLang="en-US" dirty="0"/>
              <a:t>断点回归设计的图形分析</a:t>
            </a:r>
            <a:br>
              <a:rPr lang="zh-CN" altLang="en-US" dirty="0"/>
            </a:br>
            <a:r>
              <a:rPr lang="en-US" altLang="zh-CN" sz="2400" dirty="0"/>
              <a:t>1. </a:t>
            </a:r>
            <a:r>
              <a:rPr lang="zh-CN" altLang="en-US" sz="2400" dirty="0"/>
              <a:t>结果变量与参考变量关系图</a:t>
            </a:r>
          </a:p>
        </p:txBody>
      </p:sp>
      <p:pic>
        <p:nvPicPr>
          <p:cNvPr id="7" name="内容占位符 6">
            <a:extLst>
              <a:ext uri="{FF2B5EF4-FFF2-40B4-BE49-F238E27FC236}">
                <a16:creationId xmlns:a16="http://schemas.microsoft.com/office/drawing/2014/main" id="{EBEF14DB-38C7-16B6-0204-F3E3B0D846A1}"/>
              </a:ext>
            </a:extLst>
          </p:cNvPr>
          <p:cNvPicPr>
            <a:picLocks noGrp="1" noChangeAspect="1"/>
          </p:cNvPicPr>
          <p:nvPr>
            <p:ph idx="1"/>
          </p:nvPr>
        </p:nvPicPr>
        <p:blipFill>
          <a:blip r:embed="rId2"/>
          <a:stretch>
            <a:fillRect/>
          </a:stretch>
        </p:blipFill>
        <p:spPr>
          <a:xfrm>
            <a:off x="628650" y="2163645"/>
            <a:ext cx="7886700" cy="3675297"/>
          </a:xfrm>
          <a:prstGeom prst="rect">
            <a:avLst/>
          </a:prstGeom>
        </p:spPr>
      </p:pic>
      <p:sp>
        <p:nvSpPr>
          <p:cNvPr id="4" name="页脚占位符 3">
            <a:extLst>
              <a:ext uri="{FF2B5EF4-FFF2-40B4-BE49-F238E27FC236}">
                <a16:creationId xmlns:a16="http://schemas.microsoft.com/office/drawing/2014/main" id="{04B101F0-F4FE-BEE4-4DF9-509CC69F51F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8AB987D-FF09-AEC1-BE9D-9EC2418A9EE5}"/>
              </a:ext>
            </a:extLst>
          </p:cNvPr>
          <p:cNvSpPr>
            <a:spLocks noGrp="1"/>
          </p:cNvSpPr>
          <p:nvPr>
            <p:ph type="sldNum" sz="quarter" idx="12"/>
          </p:nvPr>
        </p:nvSpPr>
        <p:spPr/>
        <p:txBody>
          <a:bodyPr/>
          <a:lstStyle/>
          <a:p>
            <a:fld id="{D41FC515-8169-4A29-AA56-DBE520D5741B}" type="slidenum">
              <a:rPr lang="zh-CN" altLang="en-US" smtClean="0"/>
              <a:t>15</a:t>
            </a:fld>
            <a:endParaRPr lang="zh-CN" altLang="en-US"/>
          </a:p>
        </p:txBody>
      </p:sp>
    </p:spTree>
    <p:extLst>
      <p:ext uri="{BB962C8B-B14F-4D97-AF65-F5344CB8AC3E}">
        <p14:creationId xmlns:p14="http://schemas.microsoft.com/office/powerpoint/2010/main" val="67226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89121D-9524-BD05-0D1C-3F427AD89933}"/>
              </a:ext>
            </a:extLst>
          </p:cNvPr>
          <p:cNvSpPr>
            <a:spLocks noGrp="1"/>
          </p:cNvSpPr>
          <p:nvPr>
            <p:ph type="title"/>
          </p:nvPr>
        </p:nvSpPr>
        <p:spPr/>
        <p:txBody>
          <a:bodyPr>
            <a:normAutofit/>
          </a:bodyPr>
          <a:lstStyle/>
          <a:p>
            <a:r>
              <a:rPr lang="zh-CN" altLang="en-US" dirty="0"/>
              <a:t>断点回归设计</a:t>
            </a:r>
            <a:br>
              <a:rPr lang="zh-CN" altLang="en-US" dirty="0"/>
            </a:br>
            <a:r>
              <a:rPr lang="en-US" altLang="zh-CN" sz="2700" dirty="0"/>
              <a:t>2. </a:t>
            </a:r>
            <a:r>
              <a:rPr lang="zh-CN" altLang="en-US" sz="2700" dirty="0"/>
              <a:t>可观测变量与参考变量关系图</a:t>
            </a:r>
          </a:p>
        </p:txBody>
      </p:sp>
      <p:sp>
        <p:nvSpPr>
          <p:cNvPr id="3" name="内容占位符 2">
            <a:extLst>
              <a:ext uri="{FF2B5EF4-FFF2-40B4-BE49-F238E27FC236}">
                <a16:creationId xmlns:a16="http://schemas.microsoft.com/office/drawing/2014/main" id="{D30526EB-A815-5DF5-9B8B-B48D79CF8DE3}"/>
              </a:ext>
            </a:extLst>
          </p:cNvPr>
          <p:cNvSpPr>
            <a:spLocks noGrp="1"/>
          </p:cNvSpPr>
          <p:nvPr>
            <p:ph idx="1"/>
          </p:nvPr>
        </p:nvSpPr>
        <p:spPr/>
        <p:txBody>
          <a:bodyPr>
            <a:normAutofit/>
          </a:bodyPr>
          <a:lstStyle/>
          <a:p>
            <a:r>
              <a:rPr lang="zh-CN" altLang="en-US" sz="1600" dirty="0"/>
              <a:t>检验连续性假设</a:t>
            </a:r>
            <a:endParaRPr lang="en-US" altLang="zh-CN" sz="1600" dirty="0"/>
          </a:p>
          <a:p>
            <a:endParaRPr lang="zh-CN" altLang="en-US" sz="1600" dirty="0"/>
          </a:p>
        </p:txBody>
      </p:sp>
      <p:sp>
        <p:nvSpPr>
          <p:cNvPr id="4" name="页脚占位符 3">
            <a:extLst>
              <a:ext uri="{FF2B5EF4-FFF2-40B4-BE49-F238E27FC236}">
                <a16:creationId xmlns:a16="http://schemas.microsoft.com/office/drawing/2014/main" id="{D4AD105D-05B3-C6B0-9B1F-7821173E6D7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8CFFA84-A66A-C057-A6D8-A15EFA077299}"/>
              </a:ext>
            </a:extLst>
          </p:cNvPr>
          <p:cNvSpPr>
            <a:spLocks noGrp="1"/>
          </p:cNvSpPr>
          <p:nvPr>
            <p:ph type="sldNum" sz="quarter" idx="12"/>
          </p:nvPr>
        </p:nvSpPr>
        <p:spPr/>
        <p:txBody>
          <a:bodyPr/>
          <a:lstStyle/>
          <a:p>
            <a:fld id="{D41FC515-8169-4A29-AA56-DBE520D5741B}" type="slidenum">
              <a:rPr lang="zh-CN" altLang="en-US" smtClean="0"/>
              <a:t>16</a:t>
            </a:fld>
            <a:endParaRPr lang="zh-CN" altLang="en-US"/>
          </a:p>
        </p:txBody>
      </p:sp>
      <p:pic>
        <p:nvPicPr>
          <p:cNvPr id="7" name="图片 6">
            <a:extLst>
              <a:ext uri="{FF2B5EF4-FFF2-40B4-BE49-F238E27FC236}">
                <a16:creationId xmlns:a16="http://schemas.microsoft.com/office/drawing/2014/main" id="{CB0AA30F-689A-F3DC-2B00-63E2BDC32D29}"/>
              </a:ext>
            </a:extLst>
          </p:cNvPr>
          <p:cNvPicPr>
            <a:picLocks noChangeAspect="1"/>
          </p:cNvPicPr>
          <p:nvPr/>
        </p:nvPicPr>
        <p:blipFill>
          <a:blip r:embed="rId2"/>
          <a:stretch>
            <a:fillRect/>
          </a:stretch>
        </p:blipFill>
        <p:spPr>
          <a:xfrm>
            <a:off x="2185849" y="2138087"/>
            <a:ext cx="4672151" cy="3898206"/>
          </a:xfrm>
          <a:prstGeom prst="rect">
            <a:avLst/>
          </a:prstGeom>
        </p:spPr>
      </p:pic>
    </p:spTree>
    <p:extLst>
      <p:ext uri="{BB962C8B-B14F-4D97-AF65-F5344CB8AC3E}">
        <p14:creationId xmlns:p14="http://schemas.microsoft.com/office/powerpoint/2010/main" val="2176012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A4836A-0E76-B023-4B03-AD111D44724F}"/>
              </a:ext>
            </a:extLst>
          </p:cNvPr>
          <p:cNvSpPr>
            <a:spLocks noGrp="1"/>
          </p:cNvSpPr>
          <p:nvPr>
            <p:ph type="title"/>
          </p:nvPr>
        </p:nvSpPr>
        <p:spPr/>
        <p:txBody>
          <a:bodyPr/>
          <a:lstStyle/>
          <a:p>
            <a:r>
              <a:rPr lang="zh-CN" altLang="en-US" dirty="0"/>
              <a:t>断点回归设计</a:t>
            </a:r>
            <a:br>
              <a:rPr lang="zh-CN" altLang="en-US" dirty="0"/>
            </a:br>
            <a:r>
              <a:rPr lang="en-US" altLang="zh-CN" sz="2400" dirty="0"/>
              <a:t>3. </a:t>
            </a:r>
            <a:r>
              <a:rPr lang="zh-CN" altLang="en-US" sz="2400" dirty="0"/>
              <a:t>参考变量分布图</a:t>
            </a:r>
          </a:p>
        </p:txBody>
      </p:sp>
      <p:sp>
        <p:nvSpPr>
          <p:cNvPr id="3" name="内容占位符 2">
            <a:extLst>
              <a:ext uri="{FF2B5EF4-FFF2-40B4-BE49-F238E27FC236}">
                <a16:creationId xmlns:a16="http://schemas.microsoft.com/office/drawing/2014/main" id="{2BD2F24A-AE5F-5739-9730-2EBF95DE8688}"/>
              </a:ext>
            </a:extLst>
          </p:cNvPr>
          <p:cNvSpPr>
            <a:spLocks noGrp="1"/>
          </p:cNvSpPr>
          <p:nvPr>
            <p:ph idx="1"/>
          </p:nvPr>
        </p:nvSpPr>
        <p:spPr/>
        <p:txBody>
          <a:bodyPr>
            <a:normAutofit/>
          </a:bodyPr>
          <a:lstStyle/>
          <a:p>
            <a:r>
              <a:rPr lang="zh-CN" altLang="en-US" sz="1600" dirty="0"/>
              <a:t>个体是否能够精确控制临界点</a:t>
            </a:r>
          </a:p>
        </p:txBody>
      </p:sp>
      <p:sp>
        <p:nvSpPr>
          <p:cNvPr id="4" name="页脚占位符 3">
            <a:extLst>
              <a:ext uri="{FF2B5EF4-FFF2-40B4-BE49-F238E27FC236}">
                <a16:creationId xmlns:a16="http://schemas.microsoft.com/office/drawing/2014/main" id="{4963822E-0C26-3129-D9F3-42D5583DF65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761AF8B-FD19-A063-9B21-2457A6C086BB}"/>
              </a:ext>
            </a:extLst>
          </p:cNvPr>
          <p:cNvSpPr>
            <a:spLocks noGrp="1"/>
          </p:cNvSpPr>
          <p:nvPr>
            <p:ph type="sldNum" sz="quarter" idx="12"/>
          </p:nvPr>
        </p:nvSpPr>
        <p:spPr/>
        <p:txBody>
          <a:bodyPr/>
          <a:lstStyle/>
          <a:p>
            <a:fld id="{D41FC515-8169-4A29-AA56-DBE520D5741B}" type="slidenum">
              <a:rPr lang="zh-CN" altLang="en-US" smtClean="0"/>
              <a:t>17</a:t>
            </a:fld>
            <a:endParaRPr lang="zh-CN" altLang="en-US"/>
          </a:p>
        </p:txBody>
      </p:sp>
      <p:pic>
        <p:nvPicPr>
          <p:cNvPr id="7" name="图片 6">
            <a:extLst>
              <a:ext uri="{FF2B5EF4-FFF2-40B4-BE49-F238E27FC236}">
                <a16:creationId xmlns:a16="http://schemas.microsoft.com/office/drawing/2014/main" id="{A780A167-F9FB-B363-DC9D-2E02F5E00495}"/>
              </a:ext>
            </a:extLst>
          </p:cNvPr>
          <p:cNvPicPr>
            <a:picLocks noChangeAspect="1"/>
          </p:cNvPicPr>
          <p:nvPr/>
        </p:nvPicPr>
        <p:blipFill>
          <a:blip r:embed="rId2"/>
          <a:stretch>
            <a:fillRect/>
          </a:stretch>
        </p:blipFill>
        <p:spPr>
          <a:xfrm>
            <a:off x="2336705" y="2334126"/>
            <a:ext cx="4470590" cy="3628961"/>
          </a:xfrm>
          <a:prstGeom prst="rect">
            <a:avLst/>
          </a:prstGeom>
        </p:spPr>
      </p:pic>
    </p:spTree>
    <p:extLst>
      <p:ext uri="{BB962C8B-B14F-4D97-AF65-F5344CB8AC3E}">
        <p14:creationId xmlns:p14="http://schemas.microsoft.com/office/powerpoint/2010/main" val="3622364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35383-07AC-B564-EE04-CC66BD0E265D}"/>
              </a:ext>
            </a:extLst>
          </p:cNvPr>
          <p:cNvSpPr>
            <a:spLocks noGrp="1"/>
          </p:cNvSpPr>
          <p:nvPr>
            <p:ph type="title"/>
          </p:nvPr>
        </p:nvSpPr>
        <p:spPr/>
        <p:txBody>
          <a:bodyPr/>
          <a:lstStyle/>
          <a:p>
            <a:r>
              <a:rPr lang="zh-CN" altLang="en-US" dirty="0"/>
              <a:t>断点回归设计的估计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3C400C2-070F-F50D-BB60-D4C9CD3EC4AA}"/>
                  </a:ext>
                </a:extLst>
              </p:cNvPr>
              <p:cNvSpPr>
                <a:spLocks noGrp="1"/>
              </p:cNvSpPr>
              <p:nvPr>
                <p:ph idx="1"/>
              </p:nvPr>
            </p:nvSpPr>
            <p:spPr/>
            <p:txBody>
              <a:bodyPr>
                <a:normAutofit fontScale="62500" lnSpcReduction="20000"/>
              </a:bodyPr>
              <a:lstStyle/>
              <a:p>
                <a:pPr>
                  <a:lnSpc>
                    <a:spcPct val="120000"/>
                  </a:lnSpc>
                </a:pPr>
                <a:r>
                  <a:rPr lang="en-US" altLang="zh-CN" dirty="0"/>
                  <a:t>1. </a:t>
                </a:r>
                <a:r>
                  <a:rPr lang="zh-CN" altLang="en-US" dirty="0"/>
                  <a:t>边界非参数回归</a:t>
                </a:r>
                <a:r>
                  <a:rPr lang="en-US" altLang="zh-CN" dirty="0"/>
                  <a:t>(nonparametric regression at the boundary)</a:t>
                </a:r>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p>
                            <m:sSupPr>
                              <m:ctrlPr>
                                <a:rPr lang="zh-CN" altLang="en-US" i="1" smtClean="0">
                                  <a:latin typeface="Cambria Math" panose="02040503050406030204" pitchFamily="18" charset="0"/>
                                </a:rPr>
                              </m:ctrlPr>
                            </m:s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e>
                            <m:sup>
                              <m:r>
                                <a:rPr lang="zh-CN" altLang="en-US" i="1" smtClean="0">
                                  <a:latin typeface="Cambria Math" panose="02040503050406030204" pitchFamily="18" charset="0"/>
                                </a:rPr>
                                <m:t>−</m:t>
                              </m:r>
                            </m:sup>
                          </m:s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&lt;</m:t>
                                  </m:r>
                                  <m:r>
                                    <a:rPr lang="zh-CN" altLang="en-US" i="1" smtClean="0">
                                      <a:latin typeface="Cambria Math" panose="02040503050406030204" pitchFamily="18" charset="0"/>
                                    </a:rPr>
                                    <m:t>𝑥</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e>
                              </m:nary>
                              <m:r>
                                <a:rPr lang="zh-CN" altLang="en-US" i="1" smtClean="0">
                                  <a:latin typeface="Cambria Math" panose="02040503050406030204" pitchFamily="18" charset="0"/>
                                </a:rPr>
                                <m:t>⋅</m:t>
                              </m:r>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r>
                                    <a:rPr lang="zh-CN" altLang="en-US" i="1" smtClean="0">
                                      <a:latin typeface="Cambria Math" panose="02040503050406030204" pitchFamily="18" charset="0"/>
                                    </a:rPr>
                                    <m:t>/</m:t>
                                  </m:r>
                                  <m:r>
                                    <a:rPr lang="zh-CN" altLang="en-US" i="1" smtClean="0">
                                      <a:latin typeface="Cambria Math" panose="02040503050406030204" pitchFamily="18" charset="0"/>
                                    </a:rPr>
                                    <m:t>ℎ</m:t>
                                  </m:r>
                                </m:e>
                              </m:d>
                            </m:num>
                            <m:den>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&lt;</m:t>
                                  </m:r>
                                  <m:r>
                                    <a:rPr lang="zh-CN" altLang="en-US" i="1" smtClean="0">
                                      <a:latin typeface="Cambria Math" panose="02040503050406030204" pitchFamily="18" charset="0"/>
                                    </a:rPr>
                                    <m:t>𝑥</m:t>
                                  </m:r>
                                </m:sub>
                                <m:sup/>
                                <m:e>
                                  <m:r>
                                    <a:rPr lang="zh-CN" altLang="en-US" i="1" smtClean="0">
                                      <a:latin typeface="Cambria Math" panose="02040503050406030204" pitchFamily="18" charset="0"/>
                                    </a:rPr>
                                    <m:t>𝐾</m:t>
                                  </m:r>
                                </m:e>
                              </m:nary>
                              <m:d>
                                <m:dPr>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r>
                                    <a:rPr lang="zh-CN" altLang="en-US" i="1" smtClean="0">
                                      <a:latin typeface="Cambria Math" panose="02040503050406030204" pitchFamily="18" charset="0"/>
                                    </a:rPr>
                                    <m:t>/</m:t>
                                  </m:r>
                                  <m:r>
                                    <a:rPr lang="zh-CN" altLang="en-US" i="1" smtClean="0">
                                      <a:latin typeface="Cambria Math" panose="02040503050406030204" pitchFamily="18" charset="0"/>
                                    </a:rPr>
                                    <m:t>ℎ</m:t>
                                  </m:r>
                                </m:e>
                              </m:d>
                            </m:den>
                          </m:f>
                          <m:r>
                            <a:rPr lang="zh-CN" altLang="en-US" i="1" smtClean="0">
                              <a:latin typeface="Cambria Math" panose="02040503050406030204" pitchFamily="18" charset="0"/>
                            </a:rPr>
                            <m:t>, </m:t>
                          </m:r>
                          <m:sSup>
                            <m:sSupPr>
                              <m:ctrlPr>
                                <a:rPr lang="zh-CN" altLang="en-US" i="1" smtClean="0">
                                  <a:latin typeface="Cambria Math" panose="02040503050406030204" pitchFamily="18" charset="0"/>
                                </a:rPr>
                              </m:ctrlPr>
                            </m:s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e>
                            <m:sup>
                              <m:r>
                                <a:rPr lang="zh-CN" altLang="en-US" i="1" smtClean="0">
                                  <a:latin typeface="Cambria Math" panose="02040503050406030204" pitchFamily="18" charset="0"/>
                                </a:rPr>
                                <m:t>+</m:t>
                              </m:r>
                            </m:sup>
                          </m:s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sub>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e>
                              </m:nary>
                              <m:r>
                                <a:rPr lang="zh-CN" altLang="en-US" i="1" smtClean="0">
                                  <a:latin typeface="Cambria Math" panose="02040503050406030204" pitchFamily="18" charset="0"/>
                                </a:rPr>
                                <m:t>⋅</m:t>
                              </m:r>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r>
                                    <a:rPr lang="zh-CN" altLang="en-US" i="1" smtClean="0">
                                      <a:latin typeface="Cambria Math" panose="02040503050406030204" pitchFamily="18" charset="0"/>
                                    </a:rPr>
                                    <m:t>/</m:t>
                                  </m:r>
                                  <m:r>
                                    <a:rPr lang="zh-CN" altLang="en-US" i="1" smtClean="0">
                                      <a:latin typeface="Cambria Math" panose="02040503050406030204" pitchFamily="18" charset="0"/>
                                    </a:rPr>
                                    <m:t>ℎ</m:t>
                                  </m:r>
                                </m:e>
                              </m:d>
                            </m:num>
                            <m:den>
                              <m:nary>
                                <m:naryPr>
                                  <m:chr m:val="∑"/>
                                  <m:limLoc m:val="undOvr"/>
                                  <m:supHide m:val="on"/>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sub>
                                <m:sup/>
                                <m:e>
                                  <m:r>
                                    <a:rPr lang="zh-CN" altLang="en-US" i="1" smtClean="0">
                                      <a:latin typeface="Cambria Math" panose="02040503050406030204" pitchFamily="18" charset="0"/>
                                    </a:rPr>
                                    <m:t>𝐾</m:t>
                                  </m:r>
                                </m:e>
                              </m:nary>
                              <m:d>
                                <m:dPr>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r>
                                    <a:rPr lang="zh-CN" altLang="en-US" i="1" smtClean="0">
                                      <a:latin typeface="Cambria Math" panose="02040503050406030204" pitchFamily="18" charset="0"/>
                                    </a:rPr>
                                    <m:t>/</m:t>
                                  </m:r>
                                  <m:r>
                                    <a:rPr lang="zh-CN" altLang="en-US" i="1" smtClean="0">
                                      <a:latin typeface="Cambria Math" panose="02040503050406030204" pitchFamily="18" charset="0"/>
                                    </a:rPr>
                                    <m:t>ℎ</m:t>
                                  </m:r>
                                </m:e>
                              </m:d>
                            </m:den>
                          </m:f>
                          <m:r>
                            <a:rPr lang="zh-CN" altLang="en-US" i="1" smtClean="0">
                              <a:latin typeface="Cambria Math" panose="02040503050406030204" pitchFamily="18" charset="0"/>
                            </a:rPr>
                            <m:t>.</m:t>
                          </m:r>
                        </m:e>
                      </m:eqArr>
                    </m:oMath>
                  </m:oMathPara>
                </a14:m>
                <a:endParaRPr lang="en-US" altLang="zh-CN" dirty="0"/>
              </a:p>
              <a:p>
                <a:pPr>
                  <a:lnSpc>
                    <a:spcPct val="120000"/>
                  </a:lnSpc>
                </a:pPr>
                <a:r>
                  <a:rPr lang="zh-CN" altLang="en-US" dirty="0"/>
                  <a:t>矩形核函数𝐾</a:t>
                </a:r>
                <a:r>
                  <a:rPr lang="en-US" altLang="zh-CN" dirty="0"/>
                  <a:t>(</a:t>
                </a:r>
                <a:r>
                  <a:rPr lang="zh-CN" altLang="en-US" dirty="0"/>
                  <a:t>𝑢</a:t>
                </a:r>
                <a:r>
                  <a:rPr lang="en-US" altLang="zh-CN" dirty="0"/>
                  <a:t>) = 1/2 ⋅ 1(|</a:t>
                </a:r>
                <a:r>
                  <a:rPr lang="zh-CN" altLang="en-US" dirty="0"/>
                  <a:t>𝑢</a:t>
                </a:r>
                <a:r>
                  <a:rPr lang="en-US" altLang="zh-CN" dirty="0"/>
                  <a:t>| &lt; 1)</a:t>
                </a:r>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p>
                            <m:sSupPr>
                              <m:ctrlPr>
                                <a:rPr lang="zh-CN" altLang="en-US" i="1" smtClean="0">
                                  <a:latin typeface="Cambria Math" panose="02040503050406030204" pitchFamily="18" charset="0"/>
                                </a:rPr>
                              </m:ctrlPr>
                            </m:s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e>
                            <m:sup>
                              <m:r>
                                <a:rPr lang="zh-CN" altLang="en-US" i="1" smtClean="0">
                                  <a:latin typeface="Cambria Math" panose="02040503050406030204" pitchFamily="18" charset="0"/>
                                </a:rPr>
                                <m:t>−</m:t>
                              </m:r>
                            </m:sup>
                          </m:s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e>
                              </m:nary>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r>
                                    <a:rPr lang="zh-CN" altLang="en-US" i="1" smtClean="0">
                                      <a:latin typeface="Cambria Math" panose="02040503050406030204" pitchFamily="18" charset="0"/>
                                    </a:rPr>
                                    <m:t>−</m:t>
                                  </m:r>
                                  <m:r>
                                    <a:rPr lang="zh-CN" altLang="en-US" i="1" smtClean="0">
                                      <a:latin typeface="Cambria Math" panose="02040503050406030204" pitchFamily="18" charset="0"/>
                                    </a:rPr>
                                    <m:t>ℎ</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&lt;</m:t>
                                  </m:r>
                                  <m:r>
                                    <a:rPr lang="zh-CN" altLang="en-US" i="1" smtClean="0">
                                      <a:latin typeface="Cambria Math" panose="02040503050406030204" pitchFamily="18" charset="0"/>
                                    </a:rPr>
                                    <m:t>𝑥</m:t>
                                  </m:r>
                                </m:e>
                              </m:d>
                            </m:num>
                            <m:den>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r>
                                    <a:rPr lang="zh-CN" altLang="en-US" i="1" smtClean="0">
                                      <a:latin typeface="Cambria Math" panose="02040503050406030204" pitchFamily="18" charset="0"/>
                                    </a:rPr>
                                    <m:t>1</m:t>
                                  </m:r>
                                </m:e>
                              </m:nary>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r>
                                    <a:rPr lang="zh-CN" altLang="en-US" i="1" smtClean="0">
                                      <a:latin typeface="Cambria Math" panose="02040503050406030204" pitchFamily="18" charset="0"/>
                                    </a:rPr>
                                    <m:t>−</m:t>
                                  </m:r>
                                  <m:r>
                                    <a:rPr lang="zh-CN" altLang="en-US" i="1" smtClean="0">
                                      <a:latin typeface="Cambria Math" panose="02040503050406030204" pitchFamily="18" charset="0"/>
                                    </a:rPr>
                                    <m:t>ℎ</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&lt;</m:t>
                                  </m:r>
                                  <m:r>
                                    <a:rPr lang="zh-CN" altLang="en-US" i="1" smtClean="0">
                                      <a:latin typeface="Cambria Math" panose="02040503050406030204" pitchFamily="18" charset="0"/>
                                    </a:rPr>
                                    <m:t>𝑥</m:t>
                                  </m:r>
                                </m:e>
                              </m:d>
                            </m:den>
                          </m:f>
                          <m:r>
                            <a:rPr lang="zh-CN" altLang="en-US" i="1" smtClean="0">
                              <a:latin typeface="Cambria Math" panose="02040503050406030204" pitchFamily="18" charset="0"/>
                            </a:rPr>
                            <m:t>, </m:t>
                          </m:r>
                          <m:sSup>
                            <m:sSupPr>
                              <m:ctrlPr>
                                <a:rPr lang="zh-CN" altLang="en-US" i="1" smtClean="0">
                                  <a:latin typeface="Cambria Math" panose="02040503050406030204" pitchFamily="18" charset="0"/>
                                </a:rPr>
                              </m:ctrlPr>
                            </m:s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e>
                            <m:sup>
                              <m:r>
                                <a:rPr lang="zh-CN" altLang="en-US" i="1" smtClean="0">
                                  <a:latin typeface="Cambria Math" panose="02040503050406030204" pitchFamily="18" charset="0"/>
                                </a:rPr>
                                <m:t>+</m:t>
                              </m:r>
                            </m:sup>
                          </m:sSup>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e>
                              </m:nary>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r>
                                    <a:rPr lang="zh-CN" altLang="en-US" i="1" smtClean="0">
                                      <a:latin typeface="Cambria Math" panose="02040503050406030204" pitchFamily="18" charset="0"/>
                                    </a:rPr>
                                    <m:t>ℎ</m:t>
                                  </m:r>
                                </m:e>
                              </m:d>
                            </m:num>
                            <m:den>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r>
                                    <a:rPr lang="zh-CN" altLang="en-US" i="1" smtClean="0">
                                      <a:latin typeface="Cambria Math" panose="02040503050406030204" pitchFamily="18" charset="0"/>
                                    </a:rPr>
                                    <m:t>1</m:t>
                                  </m:r>
                                </m:e>
                              </m:nary>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r>
                                    <a:rPr lang="zh-CN" altLang="en-US" i="1" smtClean="0">
                                      <a:latin typeface="Cambria Math" panose="02040503050406030204" pitchFamily="18" charset="0"/>
                                    </a:rPr>
                                    <m:t>+</m:t>
                                  </m:r>
                                  <m:r>
                                    <a:rPr lang="zh-CN" altLang="en-US" i="1" smtClean="0">
                                      <a:latin typeface="Cambria Math" panose="02040503050406030204" pitchFamily="18" charset="0"/>
                                    </a:rPr>
                                    <m:t>ℎ</m:t>
                                  </m:r>
                                </m:e>
                              </m:d>
                            </m:den>
                          </m:f>
                          <m:r>
                            <a:rPr lang="zh-CN" altLang="en-US" i="1" smtClean="0">
                              <a:latin typeface="Cambria Math" panose="02040503050406030204" pitchFamily="18" charset="0"/>
                            </a:rPr>
                            <m:t>.</m:t>
                          </m:r>
                        </m:e>
                      </m:eqArr>
                    </m:oMath>
                  </m:oMathPara>
                </a14:m>
                <a:endParaRPr lang="en-US" altLang="zh-CN" dirty="0"/>
              </a:p>
              <a:p>
                <a:pPr>
                  <a:lnSpc>
                    <a:spcPct val="120000"/>
                  </a:lnSpc>
                </a:pPr>
                <a:r>
                  <a:rPr lang="en-US" altLang="zh-CN" dirty="0"/>
                  <a:t>RDD </a:t>
                </a:r>
                <a:r>
                  <a:rPr lang="zh-CN" altLang="en-US" dirty="0"/>
                  <a:t>估计量：</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𝐴𝑇𝐸</m:t>
                              </m:r>
                            </m:sub>
                            <m:sup>
                              <m:r>
                                <a:rPr lang="zh-CN" altLang="en-US" i="1" smtClean="0">
                                  <a:latin typeface="Cambria Math" panose="02040503050406030204" pitchFamily="18" charset="0"/>
                                </a:rPr>
                                <m:t>𝑆𝑅𝐷</m:t>
                              </m:r>
                            </m:sup>
                          </m:sSubSup>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e>
                            <m:sup>
                              <m:r>
                                <a:rPr lang="zh-CN" altLang="en-US" i="1" smtClean="0">
                                  <a:latin typeface="Cambria Math" panose="02040503050406030204" pitchFamily="18" charset="0"/>
                                </a:rPr>
                                <m:t>+</m:t>
                              </m:r>
                            </m:sup>
                          </m:sSup>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sSup>
                            <m:sSupPr>
                              <m:ctrlPr>
                                <a:rPr lang="zh-CN" altLang="en-US" i="1" smtClean="0">
                                  <a:latin typeface="Cambria Math" panose="02040503050406030204" pitchFamily="18" charset="0"/>
                                </a:rPr>
                              </m:ctrlPr>
                            </m:s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e>
                            <m:sup>
                              <m:r>
                                <a:rPr lang="zh-CN" altLang="en-US" i="1" smtClean="0">
                                  <a:latin typeface="Cambria Math" panose="02040503050406030204" pitchFamily="18" charset="0"/>
                                </a:rPr>
                                <m:t>−</m:t>
                              </m:r>
                            </m:sup>
                          </m:sSup>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e>
                      </m:eqArr>
                      <m:r>
                        <a:rPr lang="en-US" altLang="zh-CN" b="0" i="1" smtClean="0">
                          <a:latin typeface="Cambria Math" panose="02040503050406030204" pitchFamily="18" charset="0"/>
                        </a:rPr>
                        <m:t>                                  (7)</m:t>
                      </m:r>
                    </m:oMath>
                  </m:oMathPara>
                </a14:m>
                <a:endParaRPr lang="zh-CN" altLang="en-US" dirty="0"/>
              </a:p>
            </p:txBody>
          </p:sp>
        </mc:Choice>
        <mc:Fallback xmlns="">
          <p:sp>
            <p:nvSpPr>
              <p:cNvPr id="3" name="内容占位符 2">
                <a:extLst>
                  <a:ext uri="{FF2B5EF4-FFF2-40B4-BE49-F238E27FC236}">
                    <a16:creationId xmlns:a16="http://schemas.microsoft.com/office/drawing/2014/main" id="{D3C400C2-070F-F50D-BB60-D4C9CD3EC4AA}"/>
                  </a:ext>
                </a:extLst>
              </p:cNvPr>
              <p:cNvSpPr>
                <a:spLocks noGrp="1" noRot="1" noChangeAspect="1" noMove="1" noResize="1" noEditPoints="1" noAdjustHandles="1" noChangeArrowheads="1" noChangeShapeType="1" noTextEdit="1"/>
              </p:cNvSpPr>
              <p:nvPr>
                <p:ph idx="1"/>
              </p:nvPr>
            </p:nvSpPr>
            <p:spPr>
              <a:blipFill>
                <a:blip r:embed="rId2"/>
                <a:stretch>
                  <a:fillRect l="-464"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B1CA302C-F726-9F93-F486-67796AA4E81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D17E5A3-BF46-7B86-5A90-0B2E4D4A1CA2}"/>
              </a:ext>
            </a:extLst>
          </p:cNvPr>
          <p:cNvSpPr>
            <a:spLocks noGrp="1"/>
          </p:cNvSpPr>
          <p:nvPr>
            <p:ph type="sldNum" sz="quarter" idx="12"/>
          </p:nvPr>
        </p:nvSpPr>
        <p:spPr/>
        <p:txBody>
          <a:bodyPr/>
          <a:lstStyle/>
          <a:p>
            <a:fld id="{D41FC515-8169-4A29-AA56-DBE520D5741B}" type="slidenum">
              <a:rPr lang="zh-CN" altLang="en-US" smtClean="0"/>
              <a:t>18</a:t>
            </a:fld>
            <a:endParaRPr lang="zh-CN" altLang="en-US"/>
          </a:p>
        </p:txBody>
      </p:sp>
    </p:spTree>
    <p:extLst>
      <p:ext uri="{BB962C8B-B14F-4D97-AF65-F5344CB8AC3E}">
        <p14:creationId xmlns:p14="http://schemas.microsoft.com/office/powerpoint/2010/main" val="2674000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D7AA74-A20E-9091-1A01-71A7ED3CD5E4}"/>
              </a:ext>
            </a:extLst>
          </p:cNvPr>
          <p:cNvSpPr>
            <a:spLocks noGrp="1"/>
          </p:cNvSpPr>
          <p:nvPr>
            <p:ph type="title"/>
          </p:nvPr>
        </p:nvSpPr>
        <p:spPr/>
        <p:txBody>
          <a:bodyPr/>
          <a:lstStyle/>
          <a:p>
            <a:r>
              <a:rPr lang="zh-CN" altLang="en-US" dirty="0"/>
              <a:t>断点回归设计的估计</a:t>
            </a:r>
          </a:p>
        </p:txBody>
      </p:sp>
      <p:sp>
        <p:nvSpPr>
          <p:cNvPr id="3" name="内容占位符 2">
            <a:extLst>
              <a:ext uri="{FF2B5EF4-FFF2-40B4-BE49-F238E27FC236}">
                <a16:creationId xmlns:a16="http://schemas.microsoft.com/office/drawing/2014/main" id="{47E47972-BDFA-C988-BDF0-695C5B62DF07}"/>
              </a:ext>
            </a:extLst>
          </p:cNvPr>
          <p:cNvSpPr>
            <a:spLocks noGrp="1"/>
          </p:cNvSpPr>
          <p:nvPr>
            <p:ph idx="1"/>
          </p:nvPr>
        </p:nvSpPr>
        <p:spPr/>
        <p:txBody>
          <a:bodyPr>
            <a:normAutofit/>
          </a:bodyPr>
          <a:lstStyle/>
          <a:p>
            <a:r>
              <a:rPr lang="en-US" altLang="zh-CN" sz="1800" dirty="0"/>
              <a:t>1. </a:t>
            </a:r>
            <a:r>
              <a:rPr lang="zh-CN" altLang="en-US" sz="1800" dirty="0"/>
              <a:t>边界非参数回归</a:t>
            </a:r>
            <a:r>
              <a:rPr lang="en-US" altLang="zh-CN" sz="1800" dirty="0"/>
              <a:t>(nonparametric regression at the boundary)</a:t>
            </a:r>
            <a:endParaRPr lang="zh-CN" altLang="en-US" sz="1800" dirty="0"/>
          </a:p>
        </p:txBody>
      </p:sp>
      <p:sp>
        <p:nvSpPr>
          <p:cNvPr id="4" name="页脚占位符 3">
            <a:extLst>
              <a:ext uri="{FF2B5EF4-FFF2-40B4-BE49-F238E27FC236}">
                <a16:creationId xmlns:a16="http://schemas.microsoft.com/office/drawing/2014/main" id="{49203B05-08BB-CC48-2B4B-7B1BA8DADF1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9D91E00-5E85-9FD2-4EAB-B0F107DC287C}"/>
              </a:ext>
            </a:extLst>
          </p:cNvPr>
          <p:cNvSpPr>
            <a:spLocks noGrp="1"/>
          </p:cNvSpPr>
          <p:nvPr>
            <p:ph type="sldNum" sz="quarter" idx="12"/>
          </p:nvPr>
        </p:nvSpPr>
        <p:spPr/>
        <p:txBody>
          <a:bodyPr/>
          <a:lstStyle/>
          <a:p>
            <a:fld id="{D41FC515-8169-4A29-AA56-DBE520D5741B}" type="slidenum">
              <a:rPr lang="zh-CN" altLang="en-US" smtClean="0"/>
              <a:t>19</a:t>
            </a:fld>
            <a:endParaRPr lang="zh-CN" altLang="en-US"/>
          </a:p>
        </p:txBody>
      </p:sp>
      <p:pic>
        <p:nvPicPr>
          <p:cNvPr id="7" name="图片 6">
            <a:extLst>
              <a:ext uri="{FF2B5EF4-FFF2-40B4-BE49-F238E27FC236}">
                <a16:creationId xmlns:a16="http://schemas.microsoft.com/office/drawing/2014/main" id="{90861276-9662-F4FD-795B-7E49CA04BFA2}"/>
              </a:ext>
            </a:extLst>
          </p:cNvPr>
          <p:cNvPicPr>
            <a:picLocks noChangeAspect="1"/>
          </p:cNvPicPr>
          <p:nvPr/>
        </p:nvPicPr>
        <p:blipFill>
          <a:blip r:embed="rId2"/>
          <a:stretch>
            <a:fillRect/>
          </a:stretch>
        </p:blipFill>
        <p:spPr>
          <a:xfrm>
            <a:off x="2145519" y="2454442"/>
            <a:ext cx="4854420" cy="3901909"/>
          </a:xfrm>
          <a:prstGeom prst="rect">
            <a:avLst/>
          </a:prstGeom>
        </p:spPr>
      </p:pic>
    </p:spTree>
    <p:extLst>
      <p:ext uri="{BB962C8B-B14F-4D97-AF65-F5344CB8AC3E}">
        <p14:creationId xmlns:p14="http://schemas.microsoft.com/office/powerpoint/2010/main" val="3728196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609A8C-83CC-6E68-6A7B-924A1738CD52}"/>
              </a:ext>
            </a:extLst>
          </p:cNvPr>
          <p:cNvSpPr>
            <a:spLocks noGrp="1"/>
          </p:cNvSpPr>
          <p:nvPr>
            <p:ph type="title"/>
          </p:nvPr>
        </p:nvSpPr>
        <p:spPr/>
        <p:txBody>
          <a:bodyPr/>
          <a:lstStyle/>
          <a:p>
            <a:r>
              <a:rPr lang="zh-CN" altLang="en-US" dirty="0"/>
              <a:t>断点回归设计的估计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40654A9-A495-248A-54F6-7FDCDBC2F83C}"/>
                  </a:ext>
                </a:extLst>
              </p:cNvPr>
              <p:cNvSpPr>
                <a:spLocks noGrp="1"/>
              </p:cNvSpPr>
              <p:nvPr>
                <p:ph idx="1"/>
              </p:nvPr>
            </p:nvSpPr>
            <p:spPr/>
            <p:txBody>
              <a:bodyPr>
                <a:normAutofit fontScale="55000" lnSpcReduction="20000"/>
              </a:bodyPr>
              <a:lstStyle/>
              <a:p>
                <a:r>
                  <a:rPr lang="en-US" altLang="zh-CN" dirty="0"/>
                  <a:t>2. </a:t>
                </a:r>
                <a:r>
                  <a:rPr lang="zh-CN" altLang="en-US" dirty="0"/>
                  <a:t>局部线性回归</a:t>
                </a:r>
                <a:r>
                  <a:rPr lang="en-US" altLang="zh-CN" dirty="0"/>
                  <a:t>(Local Liner Regression, LLR)</a:t>
                </a:r>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𝑙</m:t>
                                      </m:r>
                                    </m:sub>
                                  </m:sSub>
                                </m:lim>
                              </m:limLow>
                            </m:fName>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e>
                                      </m:d>
                                    </m:e>
                                    <m:sup>
                                      <m:r>
                                        <a:rPr lang="zh-CN" altLang="en-US" i="1" smtClean="0">
                                          <a:latin typeface="Cambria Math" panose="02040503050406030204" pitchFamily="18" charset="0"/>
                                        </a:rPr>
                                        <m:t>2</m:t>
                                      </m:r>
                                    </m:sup>
                                  </m:sSup>
                                </m:e>
                              </m:nary>
                            </m:e>
                          </m:func>
                          <m:r>
                            <a:rPr lang="zh-CN" altLang="en-US" i="1" smtClean="0">
                              <a:latin typeface="Cambria Math" panose="02040503050406030204" pitchFamily="18" charset="0"/>
                            </a:rPr>
                            <m:t>⋅</m:t>
                          </m:r>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num>
                                <m:den>
                                  <m:r>
                                    <a:rPr lang="zh-CN" altLang="en-US" i="1" smtClean="0">
                                      <a:latin typeface="Cambria Math" panose="02040503050406030204" pitchFamily="18" charset="0"/>
                                    </a:rPr>
                                    <m:t>ℎ</m:t>
                                  </m:r>
                                </m:den>
                              </m:f>
                            </m:e>
                          </m:d>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e>
                      </m:eqArr>
                    </m:oMath>
                  </m:oMathPara>
                </a14:m>
                <a:endParaRPr lang="en-US" altLang="zh-CN" dirty="0"/>
              </a:p>
              <a:p>
                <a:pPr marL="0" indent="0">
                  <a:buNone/>
                </a:pPr>
                <a:r>
                  <a:rPr lang="zh-CN" altLang="en-US" dirty="0"/>
                  <a:t>和</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𝑟</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𝑟</m:t>
                                      </m:r>
                                    </m:sub>
                                  </m:sSub>
                                </m:lim>
                              </m:limLow>
                            </m:fName>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𝑟</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𝑟</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e>
                                      </m:d>
                                    </m:e>
                                    <m:sup>
                                      <m:r>
                                        <a:rPr lang="zh-CN" altLang="en-US" i="1" smtClean="0">
                                          <a:latin typeface="Cambria Math" panose="02040503050406030204" pitchFamily="18" charset="0"/>
                                        </a:rPr>
                                        <m:t>2</m:t>
                                      </m:r>
                                    </m:sup>
                                  </m:sSup>
                                </m:e>
                              </m:nary>
                            </m:e>
                          </m:func>
                          <m:r>
                            <a:rPr lang="zh-CN" altLang="en-US" i="1" smtClean="0">
                              <a:latin typeface="Cambria Math" panose="02040503050406030204" pitchFamily="18" charset="0"/>
                            </a:rPr>
                            <m:t>⋅</m:t>
                          </m:r>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num>
                                <m:den>
                                  <m:r>
                                    <a:rPr lang="zh-CN" altLang="en-US" i="1" smtClean="0">
                                      <a:latin typeface="Cambria Math" panose="02040503050406030204" pitchFamily="18" charset="0"/>
                                    </a:rPr>
                                    <m:t>ℎ</m:t>
                                  </m:r>
                                </m:den>
                              </m:f>
                            </m:e>
                          </m:d>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e>
                      </m:eqArr>
                    </m:oMath>
                  </m:oMathPara>
                </a14:m>
                <a:endParaRPr lang="en-US" altLang="zh-CN" dirty="0"/>
              </a:p>
              <a:p>
                <a:r>
                  <a:rPr lang="zh-CN" altLang="en-US" dirty="0"/>
                  <a:t>矩形核</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𝑙</m:t>
                                      </m:r>
                                    </m:sub>
                                  </m:sSub>
                                </m:lim>
                              </m:limLow>
                            </m:fName>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𝑙</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e>
                                      </m:d>
                                    </m:e>
                                    <m:sup>
                                      <m:r>
                                        <a:rPr lang="zh-CN" altLang="en-US" i="1" smtClean="0">
                                          <a:latin typeface="Cambria Math" panose="02040503050406030204" pitchFamily="18" charset="0"/>
                                        </a:rPr>
                                        <m:t>2</m:t>
                                      </m:r>
                                    </m:sup>
                                  </m:sSup>
                                </m:e>
                              </m:nary>
                            </m:e>
                          </m:func>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ℎ</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e>
                      </m:eqArr>
                    </m:oMath>
                  </m:oMathPara>
                </a14:m>
                <a:endParaRPr lang="en-US" altLang="zh-CN" dirty="0"/>
              </a:p>
              <a:p>
                <a:pPr marL="0" indent="0">
                  <a:buNone/>
                </a:pPr>
                <a:r>
                  <a:rPr lang="zh-CN" altLang="en-US" dirty="0"/>
                  <a:t>和</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𝑟</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𝑟</m:t>
                                      </m:r>
                                    </m:sub>
                                  </m:sSub>
                                </m:lim>
                              </m:limLow>
                            </m:fName>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𝑟</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𝑟</m:t>
                                              </m:r>
                                            </m:sub>
                                          </m:sSub>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e>
                                      </m:d>
                                    </m:e>
                                    <m:sup>
                                      <m:r>
                                        <a:rPr lang="zh-CN" altLang="en-US" i="1" smtClean="0">
                                          <a:latin typeface="Cambria Math" panose="02040503050406030204" pitchFamily="18" charset="0"/>
                                        </a:rPr>
                                        <m:t>2</m:t>
                                      </m:r>
                                    </m:sup>
                                  </m:sSup>
                                </m:e>
                              </m:nary>
                            </m:e>
                          </m:func>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ℎ</m:t>
                              </m:r>
                            </m:e>
                          </m:d>
                          <m:r>
                            <a:rPr lang="zh-CN" altLang="en-US" i="1" smtClean="0">
                              <a:latin typeface="Cambria Math" panose="02040503050406030204" pitchFamily="18" charset="0"/>
                            </a:rPr>
                            <m:t>.</m:t>
                          </m:r>
                        </m:e>
                      </m:eqArr>
                    </m:oMath>
                  </m:oMathPara>
                </a14:m>
                <a:endParaRPr lang="zh-CN" altLang="en-US" dirty="0"/>
              </a:p>
            </p:txBody>
          </p:sp>
        </mc:Choice>
        <mc:Fallback xmlns="">
          <p:sp>
            <p:nvSpPr>
              <p:cNvPr id="3" name="内容占位符 2">
                <a:extLst>
                  <a:ext uri="{FF2B5EF4-FFF2-40B4-BE49-F238E27FC236}">
                    <a16:creationId xmlns:a16="http://schemas.microsoft.com/office/drawing/2014/main" id="{640654A9-A495-248A-54F6-7FDCDBC2F83C}"/>
                  </a:ext>
                </a:extLst>
              </p:cNvPr>
              <p:cNvSpPr>
                <a:spLocks noGrp="1" noRot="1" noChangeAspect="1" noMove="1" noResize="1" noEditPoints="1" noAdjustHandles="1" noChangeArrowheads="1" noChangeShapeType="1" noTextEdit="1"/>
              </p:cNvSpPr>
              <p:nvPr>
                <p:ph idx="1"/>
              </p:nvPr>
            </p:nvSpPr>
            <p:spPr>
              <a:blipFill>
                <a:blip r:embed="rId2"/>
                <a:stretch>
                  <a:fillRect l="-309" t="-12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8F3ED73-41B3-1038-9CCC-1E7499D3BDF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97B78B4-C5C1-0789-9136-3AB12E72B0AD}"/>
              </a:ext>
            </a:extLst>
          </p:cNvPr>
          <p:cNvSpPr>
            <a:spLocks noGrp="1"/>
          </p:cNvSpPr>
          <p:nvPr>
            <p:ph type="sldNum" sz="quarter" idx="12"/>
          </p:nvPr>
        </p:nvSpPr>
        <p:spPr/>
        <p:txBody>
          <a:bodyPr/>
          <a:lstStyle/>
          <a:p>
            <a:fld id="{D41FC515-8169-4A29-AA56-DBE520D5741B}" type="slidenum">
              <a:rPr lang="zh-CN" altLang="en-US" smtClean="0"/>
              <a:t>20</a:t>
            </a:fld>
            <a:endParaRPr lang="zh-CN" altLang="en-US"/>
          </a:p>
        </p:txBody>
      </p:sp>
    </p:spTree>
    <p:extLst>
      <p:ext uri="{BB962C8B-B14F-4D97-AF65-F5344CB8AC3E}">
        <p14:creationId xmlns:p14="http://schemas.microsoft.com/office/powerpoint/2010/main" val="265841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4FE411-F09B-15A6-4D82-3D0A5FCC1893}"/>
              </a:ext>
            </a:extLst>
          </p:cNvPr>
          <p:cNvSpPr>
            <a:spLocks noGrp="1"/>
          </p:cNvSpPr>
          <p:nvPr>
            <p:ph type="title"/>
          </p:nvPr>
        </p:nvSpPr>
        <p:spPr/>
        <p:txBody>
          <a:bodyPr/>
          <a:lstStyle/>
          <a:p>
            <a:r>
              <a:rPr lang="zh-CN" altLang="en-US" dirty="0"/>
              <a:t>断点回归设计的估计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2D58A73-2BE7-D94C-0777-76F44E8C7006}"/>
                  </a:ext>
                </a:extLst>
              </p:cNvPr>
              <p:cNvSpPr>
                <a:spLocks noGrp="1"/>
              </p:cNvSpPr>
              <p:nvPr>
                <p:ph idx="1"/>
              </p:nvPr>
            </p:nvSpPr>
            <p:spPr/>
            <p:txBody>
              <a:bodyPr>
                <a:noAutofit/>
              </a:bodyPr>
              <a:lstStyle/>
              <a:p>
                <a:r>
                  <a:rPr lang="en-US" altLang="zh-CN" sz="1600" dirty="0"/>
                  <a:t>2. </a:t>
                </a:r>
                <a:r>
                  <a:rPr lang="zh-CN" altLang="en-US" sz="1600" dirty="0"/>
                  <a:t>局部线性回归</a:t>
                </a:r>
                <a:r>
                  <a:rPr lang="en-US" altLang="zh-CN" sz="1600" dirty="0"/>
                  <a:t>(Local Liner Regression, LLR)</a:t>
                </a:r>
              </a:p>
              <a:p>
                <a:pPr marL="0" indent="0">
                  <a:buNone/>
                </a:pPr>
                <a14:m>
                  <m:oMathPara xmlns:m="http://schemas.openxmlformats.org/officeDocument/2006/math">
                    <m:oMath>
                      <m:eqArr>
                        <m:eqArrPr>
                          <m:ctrlPr>
                            <a:rPr lang="en-US" altLang="zh-CN" sz="1600" i="1" smtClean="0">
                              <a:latin typeface="Cambria Math" panose="02040503050406030204" pitchFamily="18" charset="0"/>
                            </a:rPr>
                          </m:ctrlPr>
                        </m:eqArrPr>
                        <m:e>
                          <m:sSup>
                            <m:sSupPr>
                              <m:ctrlPr>
                                <a:rPr lang="en-US" altLang="zh-CN" sz="1600" i="1" smtClean="0">
                                  <a:latin typeface="Cambria Math" panose="02040503050406030204" pitchFamily="18" charset="0"/>
                                </a:rPr>
                              </m:ctrlPr>
                            </m:sSupPr>
                            <m:e>
                              <m:acc>
                                <m:accPr>
                                  <m:chr m:val="̂"/>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𝜇</m:t>
                                  </m:r>
                                </m:e>
                              </m:acc>
                            </m:e>
                            <m:sup>
                              <m:r>
                                <a:rPr lang="en-US" altLang="zh-CN" sz="1600" i="1" smtClean="0">
                                  <a:latin typeface="Cambria Math" panose="02040503050406030204" pitchFamily="18" charset="0"/>
                                </a:rPr>
                                <m:t>−</m:t>
                              </m:r>
                            </m:sup>
                          </m:sSup>
                          <m:d>
                            <m:dPr>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e>
                          </m:d>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acc>
                                <m:accPr>
                                  <m:chr m:val="ˆ"/>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𝑎</m:t>
                                  </m:r>
                                </m:e>
                              </m:acc>
                            </m:e>
                            <m:sub>
                              <m:r>
                                <a:rPr lang="en-US" altLang="zh-CN" sz="1600" i="1" smtClean="0">
                                  <a:latin typeface="Cambria Math" panose="02040503050406030204" pitchFamily="18" charset="0"/>
                                </a:rPr>
                                <m:t>𝑙</m:t>
                              </m:r>
                            </m:sub>
                          </m:sSub>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acc>
                                <m:accPr>
                                  <m:chr m:val="ˆ"/>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𝑏</m:t>
                                  </m:r>
                                </m:e>
                              </m:acc>
                            </m:e>
                            <m:sub>
                              <m:r>
                                <a:rPr lang="en-US" altLang="zh-CN" sz="1600" i="1" smtClean="0">
                                  <a:latin typeface="Cambria Math" panose="02040503050406030204" pitchFamily="18" charset="0"/>
                                </a:rPr>
                                <m:t>𝑙</m:t>
                              </m:r>
                            </m:sub>
                          </m:sSub>
                          <m:d>
                            <m:dPr>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e>
                          </m:d>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acc>
                                <m:accPr>
                                  <m:chr m:val="ˆ"/>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𝑎</m:t>
                                  </m:r>
                                </m:e>
                              </m:acc>
                            </m:e>
                            <m:sub>
                              <m:r>
                                <a:rPr lang="en-US" altLang="zh-CN" sz="1600" i="1" smtClean="0">
                                  <a:latin typeface="Cambria Math" panose="02040503050406030204" pitchFamily="18" charset="0"/>
                                </a:rPr>
                                <m:t>𝑙</m:t>
                              </m:r>
                            </m:sub>
                          </m:sSub>
                          <m:r>
                            <a:rPr lang="en-US" altLang="zh-CN" sz="1600" i="1" smtClean="0">
                              <a:latin typeface="Cambria Math" panose="02040503050406030204" pitchFamily="18" charset="0"/>
                            </a:rPr>
                            <m:t>,</m:t>
                          </m:r>
                        </m:e>
                      </m:eqArr>
                    </m:oMath>
                  </m:oMathPara>
                </a14:m>
                <a:endParaRPr lang="en-US" altLang="zh-CN" sz="1600" dirty="0"/>
              </a:p>
              <a:p>
                <a:pPr marL="0" indent="0">
                  <a:buNone/>
                </a:pPr>
                <a14:m>
                  <m:oMathPara xmlns:m="http://schemas.openxmlformats.org/officeDocument/2006/math">
                    <m:oMath>
                      <m:eqArr>
                        <m:eqArrPr>
                          <m:ctrlPr>
                            <a:rPr lang="en-US" altLang="zh-CN" sz="1600" i="1" smtClean="0">
                              <a:latin typeface="Cambria Math" panose="02040503050406030204" pitchFamily="18" charset="0"/>
                            </a:rPr>
                          </m:ctrlPr>
                        </m:eqArrPr>
                        <m:e>
                          <m:sSup>
                            <m:sSupPr>
                              <m:ctrlPr>
                                <a:rPr lang="en-US" altLang="zh-CN" sz="1600" i="1" smtClean="0">
                                  <a:latin typeface="Cambria Math" panose="02040503050406030204" pitchFamily="18" charset="0"/>
                                </a:rPr>
                              </m:ctrlPr>
                            </m:sSupPr>
                            <m:e>
                              <m:acc>
                                <m:accPr>
                                  <m:chr m:val="̂"/>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𝜇</m:t>
                                  </m:r>
                                </m:e>
                              </m:acc>
                            </m:e>
                            <m:sup>
                              <m:r>
                                <a:rPr lang="en-US" altLang="zh-CN" sz="1600" i="1" smtClean="0">
                                  <a:latin typeface="Cambria Math" panose="02040503050406030204" pitchFamily="18" charset="0"/>
                                </a:rPr>
                                <m:t>+</m:t>
                              </m:r>
                            </m:sup>
                          </m:sSup>
                          <m:d>
                            <m:dPr>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e>
                          </m:d>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acc>
                                <m:accPr>
                                  <m:chr m:val="ˆ"/>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𝑎</m:t>
                                  </m:r>
                                </m:e>
                              </m:acc>
                            </m:e>
                            <m:sub>
                              <m:r>
                                <a:rPr lang="en-US" altLang="zh-CN" sz="1600" i="1" smtClean="0">
                                  <a:latin typeface="Cambria Math" panose="02040503050406030204" pitchFamily="18" charset="0"/>
                                </a:rPr>
                                <m:t>𝑟</m:t>
                              </m:r>
                            </m:sub>
                          </m:sSub>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acc>
                                <m:accPr>
                                  <m:chr m:val="ˆ"/>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𝑏</m:t>
                                  </m:r>
                                </m:e>
                              </m:acc>
                            </m:e>
                            <m:sub>
                              <m:r>
                                <a:rPr lang="en-US" altLang="zh-CN" sz="1600" i="1" smtClean="0">
                                  <a:latin typeface="Cambria Math" panose="02040503050406030204" pitchFamily="18" charset="0"/>
                                </a:rPr>
                                <m:t>𝑟</m:t>
                              </m:r>
                            </m:sub>
                          </m:sSub>
                          <m:d>
                            <m:dPr>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e>
                          </m:d>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acc>
                                <m:accPr>
                                  <m:chr m:val="ˆ"/>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𝑎</m:t>
                                  </m:r>
                                </m:e>
                              </m:acc>
                            </m:e>
                            <m:sub>
                              <m:r>
                                <a:rPr lang="en-US" altLang="zh-CN" sz="1600" i="1" smtClean="0">
                                  <a:latin typeface="Cambria Math" panose="02040503050406030204" pitchFamily="18" charset="0"/>
                                </a:rPr>
                                <m:t>𝑟</m:t>
                              </m:r>
                            </m:sub>
                          </m:sSub>
                          <m:r>
                            <a:rPr lang="en-US" altLang="zh-CN" sz="1600" i="1" smtClean="0">
                              <a:latin typeface="Cambria Math" panose="02040503050406030204" pitchFamily="18" charset="0"/>
                            </a:rPr>
                            <m:t>,</m:t>
                          </m:r>
                        </m:e>
                      </m:eqArr>
                    </m:oMath>
                  </m:oMathPara>
                </a14:m>
                <a:endParaRPr lang="en-US" altLang="zh-CN" sz="1600" dirty="0"/>
              </a:p>
              <a:p>
                <a:r>
                  <a:rPr lang="zh-CN" altLang="en-US" sz="1600" dirty="0"/>
                  <a:t>从而，</a:t>
                </a:r>
                <a:endParaRPr lang="en-US" altLang="zh-CN" sz="1600" dirty="0"/>
              </a:p>
              <a:p>
                <a:pPr marL="0" indent="0">
                  <a:buNone/>
                </a:pPr>
                <a14:m>
                  <m:oMathPara xmlns:m="http://schemas.openxmlformats.org/officeDocument/2006/math">
                    <m:oMath>
                      <m:eqArr>
                        <m:eqArrPr>
                          <m:ctrlPr>
                            <a:rPr lang="en-US" altLang="zh-CN" sz="1600" i="1" smtClean="0">
                              <a:latin typeface="Cambria Math" panose="02040503050406030204" pitchFamily="18" charset="0"/>
                            </a:rPr>
                          </m:ctrlPr>
                        </m:eqArrPr>
                        <m:e>
                          <m:sSubSup>
                            <m:sSubSupPr>
                              <m:ctrlPr>
                                <a:rPr lang="en-US" altLang="zh-CN" sz="1600" i="1" smtClean="0">
                                  <a:latin typeface="Cambria Math" panose="02040503050406030204" pitchFamily="18" charset="0"/>
                                </a:rPr>
                              </m:ctrlPr>
                            </m:sSubSupPr>
                            <m:e>
                              <m:acc>
                                <m:accPr>
                                  <m:chr m:val="̂"/>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𝜏</m:t>
                                  </m:r>
                                </m:e>
                              </m:acc>
                            </m:e>
                            <m:sub>
                              <m:r>
                                <a:rPr lang="en-US" altLang="zh-CN" sz="1600" i="1" smtClean="0">
                                  <a:latin typeface="Cambria Math" panose="02040503050406030204" pitchFamily="18" charset="0"/>
                                </a:rPr>
                                <m:t>𝐴𝑇𝐸</m:t>
                              </m:r>
                            </m:sub>
                            <m:sup>
                              <m:r>
                                <a:rPr lang="en-US" altLang="zh-CN" sz="1600" i="1" smtClean="0">
                                  <a:latin typeface="Cambria Math" panose="02040503050406030204" pitchFamily="18" charset="0"/>
                                </a:rPr>
                                <m:t>𝑆𝑅𝐷</m:t>
                              </m:r>
                            </m:sup>
                          </m:sSubSup>
                          <m:r>
                            <a:rPr lang="en-US" altLang="zh-CN" sz="1600" i="1" smtClean="0">
                              <a:latin typeface="Cambria Math" panose="02040503050406030204" pitchFamily="18" charset="0"/>
                            </a:rPr>
                            <m:t>=</m:t>
                          </m:r>
                          <m:sSup>
                            <m:sSupPr>
                              <m:ctrlPr>
                                <a:rPr lang="en-US" altLang="zh-CN" sz="1600" i="1" smtClean="0">
                                  <a:latin typeface="Cambria Math" panose="02040503050406030204" pitchFamily="18" charset="0"/>
                                </a:rPr>
                              </m:ctrlPr>
                            </m:sSupPr>
                            <m:e>
                              <m:acc>
                                <m:accPr>
                                  <m:chr m:val="̂"/>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𝜇</m:t>
                                  </m:r>
                                </m:e>
                              </m:acc>
                            </m:e>
                            <m:sup>
                              <m:r>
                                <a:rPr lang="en-US" altLang="zh-CN" sz="1600" i="1" smtClean="0">
                                  <a:latin typeface="Cambria Math" panose="02040503050406030204" pitchFamily="18" charset="0"/>
                                </a:rPr>
                                <m:t>+</m:t>
                              </m:r>
                            </m:sup>
                          </m:sSup>
                          <m:d>
                            <m:dPr>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e>
                          </m:d>
                          <m:r>
                            <a:rPr lang="en-US" altLang="zh-CN" sz="1600" i="1" smtClean="0">
                              <a:latin typeface="Cambria Math" panose="02040503050406030204" pitchFamily="18" charset="0"/>
                            </a:rPr>
                            <m:t>−</m:t>
                          </m:r>
                          <m:sSup>
                            <m:sSupPr>
                              <m:ctrlPr>
                                <a:rPr lang="en-US" altLang="zh-CN" sz="1600" i="1" smtClean="0">
                                  <a:latin typeface="Cambria Math" panose="02040503050406030204" pitchFamily="18" charset="0"/>
                                </a:rPr>
                              </m:ctrlPr>
                            </m:sSupPr>
                            <m:e>
                              <m:acc>
                                <m:accPr>
                                  <m:chr m:val="̂"/>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𝜇</m:t>
                                  </m:r>
                                </m:e>
                              </m:acc>
                            </m:e>
                            <m:sup>
                              <m:r>
                                <a:rPr lang="en-US" altLang="zh-CN" sz="1600" i="1" smtClean="0">
                                  <a:latin typeface="Cambria Math" panose="02040503050406030204" pitchFamily="18" charset="0"/>
                                </a:rPr>
                                <m:t>−</m:t>
                              </m:r>
                            </m:sup>
                          </m:sSup>
                          <m:d>
                            <m:dPr>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e>
                          </m:d>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acc>
                                <m:accPr>
                                  <m:chr m:val="ˆ"/>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𝑎</m:t>
                                  </m:r>
                                </m:e>
                              </m:acc>
                            </m:e>
                            <m:sub>
                              <m:r>
                                <a:rPr lang="en-US" altLang="zh-CN" sz="1600" i="1" smtClean="0">
                                  <a:latin typeface="Cambria Math" panose="02040503050406030204" pitchFamily="18" charset="0"/>
                                </a:rPr>
                                <m:t>𝑟</m:t>
                              </m:r>
                            </m:sub>
                          </m:sSub>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acc>
                                <m:accPr>
                                  <m:chr m:val="ˆ"/>
                                  <m:ctrlPr>
                                    <a:rPr lang="en-US" altLang="zh-CN" sz="1600" i="1" smtClean="0">
                                      <a:latin typeface="Cambria Math" panose="02040503050406030204" pitchFamily="18" charset="0"/>
                                    </a:rPr>
                                  </m:ctrlPr>
                                </m:accPr>
                                <m:e>
                                  <m:r>
                                    <a:rPr lang="en-US" altLang="zh-CN" sz="1600" i="1" smtClean="0">
                                      <a:latin typeface="Cambria Math" panose="02040503050406030204" pitchFamily="18" charset="0"/>
                                    </a:rPr>
                                    <m:t>𝑎</m:t>
                                  </m:r>
                                </m:e>
                              </m:acc>
                            </m:e>
                            <m:sub>
                              <m:r>
                                <a:rPr lang="en-US" altLang="zh-CN" sz="1600" i="1" smtClean="0">
                                  <a:latin typeface="Cambria Math" panose="02040503050406030204" pitchFamily="18" charset="0"/>
                                </a:rPr>
                                <m:t>𝑙</m:t>
                              </m:r>
                            </m:sub>
                          </m:sSub>
                          <m:r>
                            <a:rPr lang="en-US" altLang="zh-CN" sz="1600" i="1" smtClean="0">
                              <a:latin typeface="Cambria Math" panose="02040503050406030204" pitchFamily="18" charset="0"/>
                            </a:rPr>
                            <m:t>.</m:t>
                          </m:r>
                        </m:e>
                      </m:eqArr>
                      <m:r>
                        <a:rPr lang="en-US" altLang="zh-CN" sz="1600" b="0" i="1" smtClean="0">
                          <a:latin typeface="Cambria Math" panose="02040503050406030204" pitchFamily="18" charset="0"/>
                        </a:rPr>
                        <m:t>                                                                                               </m:t>
                      </m:r>
                      <m:r>
                        <a:rPr lang="zh-CN" altLang="en-US" sz="1600" i="1">
                          <a:latin typeface="Cambria Math" panose="02040503050406030204" pitchFamily="18" charset="0"/>
                        </a:rPr>
                        <m:t>（</m:t>
                      </m:r>
                      <m:r>
                        <a:rPr lang="en-US" altLang="zh-CN" sz="1600" b="0" i="1" smtClean="0">
                          <a:latin typeface="Cambria Math" panose="02040503050406030204" pitchFamily="18" charset="0"/>
                        </a:rPr>
                        <m:t>10</m:t>
                      </m:r>
                      <m:r>
                        <a:rPr lang="zh-CN" altLang="en-US" sz="1600" i="1">
                          <a:latin typeface="Cambria Math" panose="02040503050406030204" pitchFamily="18" charset="0"/>
                        </a:rPr>
                        <m:t>）</m:t>
                      </m:r>
                    </m:oMath>
                  </m:oMathPara>
                </a14:m>
                <a:endParaRPr lang="en-US" altLang="zh-CN" sz="1600" dirty="0"/>
              </a:p>
              <a:p>
                <a:r>
                  <a:rPr lang="en-US" altLang="zh-CN" sz="1600" dirty="0" err="1"/>
                  <a:t>Imbens</a:t>
                </a:r>
                <a:r>
                  <a:rPr lang="en-US" altLang="zh-CN" sz="1600" dirty="0"/>
                  <a:t> and Lemieux(2008)</a:t>
                </a:r>
              </a:p>
              <a:p>
                <a:pPr marL="0" indent="0">
                  <a:buNone/>
                </a:pPr>
                <a14:m>
                  <m:oMathPara xmlns:m="http://schemas.openxmlformats.org/officeDocument/2006/math">
                    <m:oMath>
                      <m:eqArr>
                        <m:eqArrPr>
                          <m:ctrlPr>
                            <a:rPr lang="en-US" altLang="zh-CN" sz="1600" i="1" smtClean="0">
                              <a:latin typeface="Cambria Math" panose="02040503050406030204" pitchFamily="18" charset="0"/>
                            </a:rPr>
                          </m:ctrlPr>
                        </m:eqArrPr>
                        <m:e>
                          <m:func>
                            <m:funcPr>
                              <m:ctrlPr>
                                <a:rPr lang="en-US" altLang="zh-CN" sz="1600" i="1" smtClean="0">
                                  <a:latin typeface="Cambria Math" panose="02040503050406030204" pitchFamily="18" charset="0"/>
                                </a:rPr>
                              </m:ctrlPr>
                            </m:funcPr>
                            <m:fName>
                              <m:limLow>
                                <m:limLowPr>
                                  <m:ctrlPr>
                                    <a:rPr lang="en-US" altLang="zh-CN" sz="1600" i="1" smtClean="0">
                                      <a:latin typeface="Cambria Math" panose="02040503050406030204" pitchFamily="18" charset="0"/>
                                    </a:rPr>
                                  </m:ctrlPr>
                                </m:limLowPr>
                                <m:e>
                                  <m:r>
                                    <m:rPr>
                                      <m:sty m:val="p"/>
                                    </m:rPr>
                                    <a:rPr lang="en-US" altLang="zh-CN" sz="1600" i="1" smtClean="0">
                                      <a:latin typeface="Cambria Math" panose="02040503050406030204" pitchFamily="18" charset="0"/>
                                    </a:rPr>
                                    <m:t>min</m:t>
                                  </m:r>
                                </m:e>
                                <m:lim>
                                  <m:r>
                                    <a:rPr lang="en-US" altLang="zh-CN" sz="1600" i="1" smtClean="0">
                                      <a:latin typeface="Cambria Math" panose="02040503050406030204" pitchFamily="18" charset="0"/>
                                    </a:rPr>
                                    <m:t>𝑎</m:t>
                                  </m:r>
                                  <m:r>
                                    <a:rPr lang="en-US" altLang="zh-CN" sz="1600" i="1" smtClean="0">
                                      <a:latin typeface="Cambria Math" panose="02040503050406030204" pitchFamily="18" charset="0"/>
                                    </a:rPr>
                                    <m:t>,</m:t>
                                  </m:r>
                                  <m:r>
                                    <a:rPr lang="en-US" altLang="zh-CN" sz="1600" i="1" smtClean="0">
                                      <a:latin typeface="Cambria Math" panose="02040503050406030204" pitchFamily="18" charset="0"/>
                                    </a:rPr>
                                    <m:t>𝑏</m:t>
                                  </m:r>
                                  <m:r>
                                    <a:rPr lang="en-US" altLang="zh-CN" sz="1600" i="1" smtClean="0">
                                      <a:latin typeface="Cambria Math" panose="02040503050406030204" pitchFamily="18" charset="0"/>
                                    </a:rPr>
                                    <m:t>,</m:t>
                                  </m:r>
                                  <m:r>
                                    <a:rPr lang="en-US" altLang="zh-CN" sz="1600" i="1" smtClean="0">
                                      <a:latin typeface="Cambria Math" panose="02040503050406030204" pitchFamily="18" charset="0"/>
                                    </a:rPr>
                                    <m:t>𝜏</m:t>
                                  </m:r>
                                  <m:r>
                                    <a:rPr lang="en-US" altLang="zh-CN" sz="1600" i="1" smtClean="0">
                                      <a:latin typeface="Cambria Math" panose="02040503050406030204" pitchFamily="18" charset="0"/>
                                    </a:rPr>
                                    <m:t>,</m:t>
                                  </m:r>
                                  <m:r>
                                    <a:rPr lang="en-US" altLang="zh-CN" sz="1600" i="1" smtClean="0">
                                      <a:latin typeface="Cambria Math" panose="02040503050406030204" pitchFamily="18" charset="0"/>
                                    </a:rPr>
                                    <m:t>𝛾</m:t>
                                  </m:r>
                                </m:lim>
                              </m:limLow>
                            </m:fName>
                            <m:e>
                              <m:nary>
                                <m:naryPr>
                                  <m:chr m:val="∑"/>
                                  <m:limLoc m:val="undOvr"/>
                                  <m:ctrlPr>
                                    <a:rPr lang="en-US" altLang="zh-CN" sz="1600" i="1" smtClean="0">
                                      <a:latin typeface="Cambria Math" panose="02040503050406030204" pitchFamily="18" charset="0"/>
                                    </a:rPr>
                                  </m:ctrlPr>
                                </m:naryPr>
                                <m:sub>
                                  <m:r>
                                    <a:rPr lang="en-US" altLang="zh-CN" sz="1600" i="1" smtClean="0">
                                      <a:latin typeface="Cambria Math" panose="02040503050406030204" pitchFamily="18" charset="0"/>
                                    </a:rPr>
                                    <m:t>𝑖</m:t>
                                  </m:r>
                                  <m:r>
                                    <a:rPr lang="en-US" altLang="zh-CN" sz="1600" i="1" smtClean="0">
                                      <a:latin typeface="Cambria Math" panose="02040503050406030204" pitchFamily="18" charset="0"/>
                                    </a:rPr>
                                    <m:t>=1</m:t>
                                  </m:r>
                                </m:sub>
                                <m:sup>
                                  <m:r>
                                    <a:rPr lang="en-US" altLang="zh-CN" sz="1600" i="1" smtClean="0">
                                      <a:latin typeface="Cambria Math" panose="02040503050406030204" pitchFamily="18" charset="0"/>
                                    </a:rPr>
                                    <m:t>𝑁</m:t>
                                  </m:r>
                                </m:sup>
                                <m:e>
                                  <m:r>
                                    <a:rPr lang="en-US" altLang="zh-CN" sz="1600" i="1" smtClean="0">
                                      <a:latin typeface="Cambria Math" panose="02040503050406030204" pitchFamily="18" charset="0"/>
                                    </a:rPr>
                                    <m:t>1</m:t>
                                  </m:r>
                                </m:e>
                              </m:nary>
                              <m:d>
                                <m:dPr>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r>
                                    <a:rPr lang="en-US" altLang="zh-CN" sz="1600" i="1" smtClean="0">
                                      <a:latin typeface="Cambria Math" panose="02040503050406030204" pitchFamily="18" charset="0"/>
                                    </a:rPr>
                                    <m:t>−</m:t>
                                  </m:r>
                                  <m:r>
                                    <a:rPr lang="en-US" altLang="zh-CN" sz="1600" i="1" smtClean="0">
                                      <a:latin typeface="Cambria Math" panose="02040503050406030204" pitchFamily="18" charset="0"/>
                                    </a:rPr>
                                    <m:t>ℎ</m:t>
                                  </m:r>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𝑋</m:t>
                                      </m:r>
                                    </m:e>
                                    <m:sub>
                                      <m:r>
                                        <a:rPr lang="en-US" altLang="zh-CN" sz="1600" i="1" smtClean="0">
                                          <a:latin typeface="Cambria Math" panose="02040503050406030204" pitchFamily="18" charset="0"/>
                                        </a:rPr>
                                        <m:t>𝑖</m:t>
                                      </m:r>
                                    </m:sub>
                                  </m:sSub>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r>
                                    <a:rPr lang="en-US" altLang="zh-CN" sz="1600" i="1" smtClean="0">
                                      <a:latin typeface="Cambria Math" panose="02040503050406030204" pitchFamily="18" charset="0"/>
                                    </a:rPr>
                                    <m:t>+</m:t>
                                  </m:r>
                                  <m:r>
                                    <a:rPr lang="en-US" altLang="zh-CN" sz="1600" i="1" smtClean="0">
                                      <a:latin typeface="Cambria Math" panose="02040503050406030204" pitchFamily="18" charset="0"/>
                                    </a:rPr>
                                    <m:t>ℎ</m:t>
                                  </m:r>
                                </m:e>
                              </m:d>
                            </m:e>
                          </m:func>
                          <m:r>
                            <a:rPr lang="en-US" altLang="zh-CN" sz="1600" i="1" smtClean="0">
                              <a:latin typeface="Cambria Math" panose="02040503050406030204" pitchFamily="18" charset="0"/>
                            </a:rPr>
                            <m:t>⋅</m:t>
                          </m:r>
                          <m:sSup>
                            <m:sSupPr>
                              <m:ctrlPr>
                                <a:rPr lang="en-US" altLang="zh-CN" sz="1600" i="1" smtClean="0">
                                  <a:latin typeface="Cambria Math" panose="02040503050406030204" pitchFamily="18" charset="0"/>
                                </a:rPr>
                              </m:ctrlPr>
                            </m:sSupPr>
                            <m:e>
                              <m:d>
                                <m:dPr>
                                  <m:begChr m:val="["/>
                                  <m:endChr m:val="]"/>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𝑌</m:t>
                                      </m:r>
                                    </m:e>
                                    <m:sub>
                                      <m:r>
                                        <a:rPr lang="en-US" altLang="zh-CN" sz="1600" i="1" smtClean="0">
                                          <a:latin typeface="Cambria Math" panose="02040503050406030204" pitchFamily="18" charset="0"/>
                                        </a:rPr>
                                        <m:t>𝑖</m:t>
                                      </m:r>
                                    </m:sub>
                                  </m:sSub>
                                  <m:r>
                                    <a:rPr lang="en-US" altLang="zh-CN" sz="1600" i="1" smtClean="0">
                                      <a:latin typeface="Cambria Math" panose="02040503050406030204" pitchFamily="18" charset="0"/>
                                    </a:rPr>
                                    <m:t>−</m:t>
                                  </m:r>
                                  <m:r>
                                    <a:rPr lang="en-US" altLang="zh-CN" sz="1600" i="1" smtClean="0">
                                      <a:latin typeface="Cambria Math" panose="02040503050406030204" pitchFamily="18" charset="0"/>
                                    </a:rPr>
                                    <m:t>𝑎</m:t>
                                  </m:r>
                                  <m:r>
                                    <a:rPr lang="en-US" altLang="zh-CN" sz="1600" i="1" smtClean="0">
                                      <a:latin typeface="Cambria Math" panose="02040503050406030204" pitchFamily="18" charset="0"/>
                                    </a:rPr>
                                    <m:t>−</m:t>
                                  </m:r>
                                  <m:r>
                                    <a:rPr lang="en-US" altLang="zh-CN" sz="1600" i="1" smtClean="0">
                                      <a:latin typeface="Cambria Math" panose="02040503050406030204" pitchFamily="18" charset="0"/>
                                    </a:rPr>
                                    <m:t>𝑏</m:t>
                                  </m:r>
                                  <m:d>
                                    <m:dPr>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𝑋</m:t>
                                          </m:r>
                                        </m:e>
                                        <m:sub>
                                          <m:r>
                                            <a:rPr lang="en-US" altLang="zh-CN" sz="1600" i="1" smtClean="0">
                                              <a:latin typeface="Cambria Math" panose="02040503050406030204" pitchFamily="18" charset="0"/>
                                            </a:rPr>
                                            <m:t>𝑖</m:t>
                                          </m:r>
                                        </m:sub>
                                      </m:sSub>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e>
                                  </m:d>
                                  <m:r>
                                    <a:rPr lang="en-US" altLang="zh-CN" sz="1600" i="1" smtClean="0">
                                      <a:latin typeface="Cambria Math" panose="02040503050406030204" pitchFamily="18" charset="0"/>
                                    </a:rPr>
                                    <m:t>−</m:t>
                                  </m:r>
                                  <m:r>
                                    <a:rPr lang="en-US" altLang="zh-CN" sz="1600" i="1" smtClean="0">
                                      <a:latin typeface="Cambria Math" panose="02040503050406030204" pitchFamily="18" charset="0"/>
                                    </a:rPr>
                                    <m:t>𝜏</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𝐷</m:t>
                                      </m:r>
                                    </m:e>
                                    <m:sub>
                                      <m:r>
                                        <a:rPr lang="en-US" altLang="zh-CN" sz="1600" i="1" smtClean="0">
                                          <a:latin typeface="Cambria Math" panose="02040503050406030204" pitchFamily="18" charset="0"/>
                                        </a:rPr>
                                        <m:t>𝑖</m:t>
                                      </m:r>
                                    </m:sub>
                                  </m:sSub>
                                  <m:r>
                                    <a:rPr lang="en-US" altLang="zh-CN" sz="1600" i="1" smtClean="0">
                                      <a:latin typeface="Cambria Math" panose="02040503050406030204" pitchFamily="18" charset="0"/>
                                    </a:rPr>
                                    <m:t>−</m:t>
                                  </m:r>
                                  <m:r>
                                    <a:rPr lang="en-US" altLang="zh-CN" sz="1600" i="1" smtClean="0">
                                      <a:latin typeface="Cambria Math" panose="02040503050406030204" pitchFamily="18" charset="0"/>
                                    </a:rPr>
                                    <m:t>𝛾</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𝐷</m:t>
                                      </m:r>
                                    </m:e>
                                    <m:sub>
                                      <m:r>
                                        <a:rPr lang="en-US" altLang="zh-CN" sz="1600" i="1" smtClean="0">
                                          <a:latin typeface="Cambria Math" panose="02040503050406030204" pitchFamily="18" charset="0"/>
                                        </a:rPr>
                                        <m:t>𝑖</m:t>
                                      </m:r>
                                    </m:sub>
                                  </m:sSub>
                                  <m:d>
                                    <m:dPr>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𝑋</m:t>
                                          </m:r>
                                        </m:e>
                                        <m:sub>
                                          <m:r>
                                            <a:rPr lang="en-US" altLang="zh-CN" sz="1600" i="1" smtClean="0">
                                              <a:latin typeface="Cambria Math" panose="02040503050406030204" pitchFamily="18" charset="0"/>
                                            </a:rPr>
                                            <m:t>𝑖</m:t>
                                          </m:r>
                                        </m:sub>
                                      </m:sSub>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e>
                                  </m:d>
                                </m:e>
                              </m:d>
                            </m:e>
                            <m:sup>
                              <m:r>
                                <a:rPr lang="en-US" altLang="zh-CN" sz="1600" i="1" smtClean="0">
                                  <a:latin typeface="Cambria Math" panose="02040503050406030204" pitchFamily="18" charset="0"/>
                                </a:rPr>
                                <m:t>2</m:t>
                              </m:r>
                            </m:sup>
                          </m:sSup>
                          <m:r>
                            <a:rPr lang="en-US" altLang="zh-CN" sz="1600" i="1" smtClean="0">
                              <a:latin typeface="Cambria Math" panose="02040503050406030204" pitchFamily="18" charset="0"/>
                            </a:rPr>
                            <m:t>,</m:t>
                          </m:r>
                        </m:e>
                      </m:eqArr>
                      <m:r>
                        <a:rPr lang="en-US" altLang="zh-CN" sz="1600" b="0" i="1" smtClean="0">
                          <a:latin typeface="Cambria Math" panose="02040503050406030204" pitchFamily="18" charset="0"/>
                        </a:rPr>
                        <m:t>          </m:t>
                      </m:r>
                      <m:r>
                        <a:rPr lang="zh-CN" altLang="en-US" sz="1600" i="1">
                          <a:latin typeface="Cambria Math" panose="02040503050406030204" pitchFamily="18" charset="0"/>
                        </a:rPr>
                        <m:t>（</m:t>
                      </m:r>
                      <m:r>
                        <a:rPr lang="en-US" altLang="zh-CN" sz="1600" b="0" i="1" smtClean="0">
                          <a:latin typeface="Cambria Math" panose="02040503050406030204" pitchFamily="18" charset="0"/>
                        </a:rPr>
                        <m:t>11</m:t>
                      </m:r>
                      <m:r>
                        <a:rPr lang="zh-CN" altLang="en-US" sz="1600" i="1">
                          <a:latin typeface="Cambria Math" panose="02040503050406030204" pitchFamily="18" charset="0"/>
                        </a:rPr>
                        <m:t>）</m:t>
                      </m:r>
                    </m:oMath>
                  </m:oMathPara>
                </a14:m>
                <a:endParaRPr lang="en-US" altLang="zh-CN" sz="1600" dirty="0"/>
              </a:p>
              <a:p>
                <a:pPr marL="0" indent="0">
                  <a:buNone/>
                </a:pPr>
                <a14:m>
                  <m:oMathPara xmlns:m="http://schemas.openxmlformats.org/officeDocument/2006/math">
                    <m:oMathParaPr>
                      <m:jc m:val="right"/>
                    </m:oMathParaPr>
                    <m:oMath>
                      <m:eqArr>
                        <m:eqArrPr>
                          <m:ctrlPr>
                            <a:rPr lang="en-US" altLang="zh-CN" sz="1600" i="1" smtClean="0">
                              <a:latin typeface="Cambria Math" panose="02040503050406030204" pitchFamily="18" charset="0"/>
                            </a:rPr>
                          </m:ctrlPr>
                        </m:eqArrPr>
                        <m:e>
                          <m:func>
                            <m:funcPr>
                              <m:ctrlPr>
                                <a:rPr lang="en-US" altLang="zh-CN" sz="1600" i="1" smtClean="0">
                                  <a:latin typeface="Cambria Math" panose="02040503050406030204" pitchFamily="18" charset="0"/>
                                </a:rPr>
                              </m:ctrlPr>
                            </m:funcPr>
                            <m:fName>
                              <m:limLow>
                                <m:limLowPr>
                                  <m:ctrlPr>
                                    <a:rPr lang="en-US" altLang="zh-CN" sz="1600" i="1" smtClean="0">
                                      <a:latin typeface="Cambria Math" panose="02040503050406030204" pitchFamily="18" charset="0"/>
                                    </a:rPr>
                                  </m:ctrlPr>
                                </m:limLowPr>
                                <m:e>
                                  <m:r>
                                    <m:rPr>
                                      <m:sty m:val="p"/>
                                    </m:rPr>
                                    <a:rPr lang="en-US" altLang="zh-CN" sz="1600" i="1" smtClean="0">
                                      <a:latin typeface="Cambria Math" panose="02040503050406030204" pitchFamily="18" charset="0"/>
                                    </a:rPr>
                                    <m:t>min</m:t>
                                  </m:r>
                                </m:e>
                                <m:lim>
                                  <m:r>
                                    <a:rPr lang="en-US" altLang="zh-CN" sz="1600" i="1" smtClean="0">
                                      <a:latin typeface="Cambria Math" panose="02040503050406030204" pitchFamily="18" charset="0"/>
                                    </a:rPr>
                                    <m:t>𝑎</m:t>
                                  </m:r>
                                  <m:r>
                                    <a:rPr lang="en-US" altLang="zh-CN" sz="1600" i="1" smtClean="0">
                                      <a:latin typeface="Cambria Math" panose="02040503050406030204" pitchFamily="18" charset="0"/>
                                    </a:rPr>
                                    <m:t>,</m:t>
                                  </m:r>
                                  <m:r>
                                    <a:rPr lang="en-US" altLang="zh-CN" sz="1600" i="1" smtClean="0">
                                      <a:latin typeface="Cambria Math" panose="02040503050406030204" pitchFamily="18" charset="0"/>
                                    </a:rPr>
                                    <m:t>𝑏</m:t>
                                  </m:r>
                                  <m:r>
                                    <a:rPr lang="en-US" altLang="zh-CN" sz="1600" i="1" smtClean="0">
                                      <a:latin typeface="Cambria Math" panose="02040503050406030204" pitchFamily="18" charset="0"/>
                                    </a:rPr>
                                    <m:t>,</m:t>
                                  </m:r>
                                  <m:r>
                                    <a:rPr lang="en-US" altLang="zh-CN" sz="1600" i="1" smtClean="0">
                                      <a:latin typeface="Cambria Math" panose="02040503050406030204" pitchFamily="18" charset="0"/>
                                    </a:rPr>
                                    <m:t>𝜏</m:t>
                                  </m:r>
                                  <m:r>
                                    <a:rPr lang="en-US" altLang="zh-CN" sz="1600" i="1" smtClean="0">
                                      <a:latin typeface="Cambria Math" panose="02040503050406030204" pitchFamily="18" charset="0"/>
                                    </a:rPr>
                                    <m:t>,</m:t>
                                  </m:r>
                                  <m:r>
                                    <a:rPr lang="en-US" altLang="zh-CN" sz="1600" i="1" smtClean="0">
                                      <a:latin typeface="Cambria Math" panose="02040503050406030204" pitchFamily="18" charset="0"/>
                                    </a:rPr>
                                    <m:t>𝛾</m:t>
                                  </m:r>
                                  <m:r>
                                    <a:rPr lang="en-US" altLang="zh-CN" sz="1600" i="1" smtClean="0">
                                      <a:latin typeface="Cambria Math" panose="02040503050406030204" pitchFamily="18" charset="0"/>
                                    </a:rPr>
                                    <m:t>,</m:t>
                                  </m:r>
                                  <m:r>
                                    <a:rPr lang="en-US" altLang="zh-CN" sz="1600" i="1" smtClean="0">
                                      <a:latin typeface="Cambria Math" panose="02040503050406030204" pitchFamily="18" charset="0"/>
                                    </a:rPr>
                                    <m:t>𝛿</m:t>
                                  </m:r>
                                </m:lim>
                              </m:limLow>
                            </m:fName>
                            <m:e>
                              <m:nary>
                                <m:naryPr>
                                  <m:chr m:val="∑"/>
                                  <m:limLoc m:val="undOvr"/>
                                  <m:ctrlPr>
                                    <a:rPr lang="en-US" altLang="zh-CN" sz="1600" i="1" smtClean="0">
                                      <a:latin typeface="Cambria Math" panose="02040503050406030204" pitchFamily="18" charset="0"/>
                                    </a:rPr>
                                  </m:ctrlPr>
                                </m:naryPr>
                                <m:sub>
                                  <m:r>
                                    <a:rPr lang="en-US" altLang="zh-CN" sz="1600" i="1" smtClean="0">
                                      <a:latin typeface="Cambria Math" panose="02040503050406030204" pitchFamily="18" charset="0"/>
                                    </a:rPr>
                                    <m:t>𝑖</m:t>
                                  </m:r>
                                  <m:r>
                                    <a:rPr lang="en-US" altLang="zh-CN" sz="1600" i="1" smtClean="0">
                                      <a:latin typeface="Cambria Math" panose="02040503050406030204" pitchFamily="18" charset="0"/>
                                    </a:rPr>
                                    <m:t>=1</m:t>
                                  </m:r>
                                </m:sub>
                                <m:sup>
                                  <m:r>
                                    <a:rPr lang="en-US" altLang="zh-CN" sz="1600" i="1" smtClean="0">
                                      <a:latin typeface="Cambria Math" panose="02040503050406030204" pitchFamily="18" charset="0"/>
                                    </a:rPr>
                                    <m:t>𝑁</m:t>
                                  </m:r>
                                </m:sup>
                                <m:e>
                                  <m:r>
                                    <a:rPr lang="en-US" altLang="zh-CN" sz="1600" i="1" smtClean="0">
                                      <a:latin typeface="Cambria Math" panose="02040503050406030204" pitchFamily="18" charset="0"/>
                                    </a:rPr>
                                    <m:t>1</m:t>
                                  </m:r>
                                </m:e>
                              </m:nary>
                              <m:d>
                                <m:dPr>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r>
                                    <a:rPr lang="en-US" altLang="zh-CN" sz="1600" i="1" smtClean="0">
                                      <a:latin typeface="Cambria Math" panose="02040503050406030204" pitchFamily="18" charset="0"/>
                                    </a:rPr>
                                    <m:t>−</m:t>
                                  </m:r>
                                  <m:r>
                                    <a:rPr lang="en-US" altLang="zh-CN" sz="1600" i="1" smtClean="0">
                                      <a:latin typeface="Cambria Math" panose="02040503050406030204" pitchFamily="18" charset="0"/>
                                    </a:rPr>
                                    <m:t>ℎ</m:t>
                                  </m:r>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𝑋</m:t>
                                      </m:r>
                                    </m:e>
                                    <m:sub>
                                      <m:r>
                                        <a:rPr lang="en-US" altLang="zh-CN" sz="1600" i="1" smtClean="0">
                                          <a:latin typeface="Cambria Math" panose="02040503050406030204" pitchFamily="18" charset="0"/>
                                        </a:rPr>
                                        <m:t>𝑖</m:t>
                                      </m:r>
                                    </m:sub>
                                  </m:sSub>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r>
                                    <a:rPr lang="en-US" altLang="zh-CN" sz="1600" i="1" smtClean="0">
                                      <a:latin typeface="Cambria Math" panose="02040503050406030204" pitchFamily="18" charset="0"/>
                                    </a:rPr>
                                    <m:t>+</m:t>
                                  </m:r>
                                  <m:r>
                                    <a:rPr lang="en-US" altLang="zh-CN" sz="1600" i="1" smtClean="0">
                                      <a:latin typeface="Cambria Math" panose="02040503050406030204" pitchFamily="18" charset="0"/>
                                    </a:rPr>
                                    <m:t>ℎ</m:t>
                                  </m:r>
                                </m:e>
                              </m:d>
                            </m:e>
                          </m:func>
                          <m:r>
                            <a:rPr lang="en-US" altLang="zh-CN" sz="1600" i="1" smtClean="0">
                              <a:latin typeface="Cambria Math" panose="02040503050406030204" pitchFamily="18" charset="0"/>
                            </a:rPr>
                            <m:t>⋅</m:t>
                          </m:r>
                          <m:sSup>
                            <m:sSupPr>
                              <m:ctrlPr>
                                <a:rPr lang="en-US" altLang="zh-CN" sz="1600" i="1" smtClean="0">
                                  <a:latin typeface="Cambria Math" panose="02040503050406030204" pitchFamily="18" charset="0"/>
                                </a:rPr>
                              </m:ctrlPr>
                            </m:sSupPr>
                            <m:e>
                              <m:d>
                                <m:dPr>
                                  <m:begChr m:val="["/>
                                  <m:endChr m:val="]"/>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𝑌</m:t>
                                      </m:r>
                                    </m:e>
                                    <m:sub>
                                      <m:r>
                                        <a:rPr lang="en-US" altLang="zh-CN" sz="1600" i="1" smtClean="0">
                                          <a:latin typeface="Cambria Math" panose="02040503050406030204" pitchFamily="18" charset="0"/>
                                        </a:rPr>
                                        <m:t>𝑖</m:t>
                                      </m:r>
                                    </m:sub>
                                  </m:sSub>
                                  <m:r>
                                    <a:rPr lang="en-US" altLang="zh-CN" sz="1600" i="1" smtClean="0">
                                      <a:latin typeface="Cambria Math" panose="02040503050406030204" pitchFamily="18" charset="0"/>
                                    </a:rPr>
                                    <m:t>−</m:t>
                                  </m:r>
                                  <m:r>
                                    <a:rPr lang="en-US" altLang="zh-CN" sz="1600" i="1" smtClean="0">
                                      <a:latin typeface="Cambria Math" panose="02040503050406030204" pitchFamily="18" charset="0"/>
                                    </a:rPr>
                                    <m:t>𝑎</m:t>
                                  </m:r>
                                  <m:r>
                                    <a:rPr lang="en-US" altLang="zh-CN" sz="1600" i="1" smtClean="0">
                                      <a:latin typeface="Cambria Math" panose="02040503050406030204" pitchFamily="18" charset="0"/>
                                    </a:rPr>
                                    <m:t>−</m:t>
                                  </m:r>
                                  <m:r>
                                    <a:rPr lang="en-US" altLang="zh-CN" sz="1600" i="1" smtClean="0">
                                      <a:latin typeface="Cambria Math" panose="02040503050406030204" pitchFamily="18" charset="0"/>
                                    </a:rPr>
                                    <m:t>𝑏</m:t>
                                  </m:r>
                                  <m:d>
                                    <m:dPr>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𝑋</m:t>
                                          </m:r>
                                        </m:e>
                                        <m:sub>
                                          <m:r>
                                            <a:rPr lang="en-US" altLang="zh-CN" sz="1600" i="1" smtClean="0">
                                              <a:latin typeface="Cambria Math" panose="02040503050406030204" pitchFamily="18" charset="0"/>
                                            </a:rPr>
                                            <m:t>𝑖</m:t>
                                          </m:r>
                                        </m:sub>
                                      </m:sSub>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e>
                                  </m:d>
                                  <m:r>
                                    <a:rPr lang="en-US" altLang="zh-CN" sz="1600" i="1" smtClean="0">
                                      <a:latin typeface="Cambria Math" panose="02040503050406030204" pitchFamily="18" charset="0"/>
                                    </a:rPr>
                                    <m:t>−</m:t>
                                  </m:r>
                                  <m:r>
                                    <a:rPr lang="en-US" altLang="zh-CN" sz="1600" i="1" smtClean="0">
                                      <a:latin typeface="Cambria Math" panose="02040503050406030204" pitchFamily="18" charset="0"/>
                                    </a:rPr>
                                    <m:t>𝜏</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𝐷</m:t>
                                      </m:r>
                                    </m:e>
                                    <m:sub>
                                      <m:r>
                                        <a:rPr lang="en-US" altLang="zh-CN" sz="1600" i="1" smtClean="0">
                                          <a:latin typeface="Cambria Math" panose="02040503050406030204" pitchFamily="18" charset="0"/>
                                        </a:rPr>
                                        <m:t>𝑖</m:t>
                                      </m:r>
                                    </m:sub>
                                  </m:sSub>
                                  <m:r>
                                    <a:rPr lang="en-US" altLang="zh-CN" sz="1600" i="1" smtClean="0">
                                      <a:latin typeface="Cambria Math" panose="02040503050406030204" pitchFamily="18" charset="0"/>
                                    </a:rPr>
                                    <m:t>−</m:t>
                                  </m:r>
                                  <m:r>
                                    <a:rPr lang="en-US" altLang="zh-CN" sz="1600" i="1" smtClean="0">
                                      <a:latin typeface="Cambria Math" panose="02040503050406030204" pitchFamily="18" charset="0"/>
                                    </a:rPr>
                                    <m:t>𝛾</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𝐷</m:t>
                                      </m:r>
                                    </m:e>
                                    <m:sub>
                                      <m:r>
                                        <a:rPr lang="en-US" altLang="zh-CN" sz="1600" i="1" smtClean="0">
                                          <a:latin typeface="Cambria Math" panose="02040503050406030204" pitchFamily="18" charset="0"/>
                                        </a:rPr>
                                        <m:t>𝑖</m:t>
                                      </m:r>
                                    </m:sub>
                                  </m:sSub>
                                  <m:d>
                                    <m:dPr>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𝑋</m:t>
                                          </m:r>
                                        </m:e>
                                        <m:sub>
                                          <m:r>
                                            <a:rPr lang="en-US" altLang="zh-CN" sz="1600" i="1" smtClean="0">
                                              <a:latin typeface="Cambria Math" panose="02040503050406030204" pitchFamily="18" charset="0"/>
                                            </a:rPr>
                                            <m:t>𝑖</m:t>
                                          </m:r>
                                        </m:sub>
                                      </m:sSub>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𝑥</m:t>
                                          </m:r>
                                        </m:e>
                                        <m:sub>
                                          <m:r>
                                            <a:rPr lang="en-US" altLang="zh-CN" sz="1600" i="1" smtClean="0">
                                              <a:latin typeface="Cambria Math" panose="02040503050406030204" pitchFamily="18" charset="0"/>
                                            </a:rPr>
                                            <m:t>0</m:t>
                                          </m:r>
                                        </m:sub>
                                      </m:sSub>
                                    </m:e>
                                  </m:d>
                                  <m:r>
                                    <a:rPr lang="en-US" altLang="zh-CN" sz="1600" i="1" smtClean="0">
                                      <a:latin typeface="Cambria Math" panose="02040503050406030204" pitchFamily="18" charset="0"/>
                                    </a:rPr>
                                    <m:t>−</m:t>
                                  </m:r>
                                  <m:r>
                                    <a:rPr lang="en-US" altLang="zh-CN" sz="1600" i="1" smtClean="0">
                                      <a:latin typeface="Cambria Math" panose="02040503050406030204" pitchFamily="18" charset="0"/>
                                    </a:rPr>
                                    <m:t>𝛿</m:t>
                                  </m:r>
                                  <m:r>
                                    <a:rPr lang="en-US" altLang="zh-CN" sz="1600" i="1" smtClean="0">
                                      <a:latin typeface="Cambria Math" panose="02040503050406030204" pitchFamily="18" charset="0"/>
                                    </a:rPr>
                                    <m:t>′</m:t>
                                  </m:r>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rPr>
                                        <m:t>𝑍</m:t>
                                      </m:r>
                                    </m:e>
                                    <m:sub>
                                      <m:r>
                                        <a:rPr lang="en-US" altLang="zh-CN" sz="1600" i="1" smtClean="0">
                                          <a:latin typeface="Cambria Math" panose="02040503050406030204" pitchFamily="18" charset="0"/>
                                        </a:rPr>
                                        <m:t>𝑖</m:t>
                                      </m:r>
                                    </m:sub>
                                  </m:sSub>
                                </m:e>
                              </m:d>
                            </m:e>
                            <m:sup>
                              <m:r>
                                <a:rPr lang="en-US" altLang="zh-CN" sz="1600" i="1" smtClean="0">
                                  <a:latin typeface="Cambria Math" panose="02040503050406030204" pitchFamily="18" charset="0"/>
                                </a:rPr>
                                <m:t>2</m:t>
                              </m:r>
                            </m:sup>
                          </m:sSup>
                          <m:r>
                            <a:rPr lang="en-US" altLang="zh-CN" sz="1600" i="1" smtClean="0">
                              <a:latin typeface="Cambria Math" panose="02040503050406030204" pitchFamily="18" charset="0"/>
                            </a:rPr>
                            <m:t>,</m:t>
                          </m:r>
                        </m:e>
                      </m:eqArr>
                      <m:r>
                        <a:rPr lang="en-US" altLang="zh-CN" sz="1600" b="0" i="1" smtClean="0">
                          <a:latin typeface="Cambria Math" panose="02040503050406030204" pitchFamily="18" charset="0"/>
                        </a:rPr>
                        <m:t> </m:t>
                      </m:r>
                      <m:r>
                        <a:rPr lang="zh-CN" altLang="en-US" sz="1600" i="1">
                          <a:latin typeface="Cambria Math" panose="02040503050406030204" pitchFamily="18" charset="0"/>
                        </a:rPr>
                        <m:t>（</m:t>
                      </m:r>
                      <m:r>
                        <a:rPr lang="en-US" altLang="zh-CN" sz="1600" b="0" i="1" smtClean="0">
                          <a:latin typeface="Cambria Math" panose="02040503050406030204" pitchFamily="18" charset="0"/>
                        </a:rPr>
                        <m:t>12</m:t>
                      </m:r>
                      <m:r>
                        <a:rPr lang="zh-CN" altLang="en-US" sz="1600" i="1">
                          <a:latin typeface="Cambria Math" panose="02040503050406030204" pitchFamily="18" charset="0"/>
                        </a:rPr>
                        <m:t>）</m:t>
                      </m:r>
                    </m:oMath>
                  </m:oMathPara>
                </a14:m>
                <a:endParaRPr lang="en-US" altLang="zh-CN" sz="1600" dirty="0"/>
              </a:p>
              <a:p>
                <a:endParaRPr lang="zh-CN" altLang="en-US" sz="1600" dirty="0"/>
              </a:p>
            </p:txBody>
          </p:sp>
        </mc:Choice>
        <mc:Fallback xmlns="">
          <p:sp>
            <p:nvSpPr>
              <p:cNvPr id="3" name="内容占位符 2">
                <a:extLst>
                  <a:ext uri="{FF2B5EF4-FFF2-40B4-BE49-F238E27FC236}">
                    <a16:creationId xmlns:a16="http://schemas.microsoft.com/office/drawing/2014/main" id="{F2D58A73-2BE7-D94C-0777-76F44E8C7006}"/>
                  </a:ext>
                </a:extLst>
              </p:cNvPr>
              <p:cNvSpPr>
                <a:spLocks noGrp="1" noRot="1" noChangeAspect="1" noMove="1" noResize="1" noEditPoints="1" noAdjustHandles="1" noChangeArrowheads="1" noChangeShapeType="1" noTextEdit="1"/>
              </p:cNvSpPr>
              <p:nvPr>
                <p:ph idx="1"/>
              </p:nvPr>
            </p:nvSpPr>
            <p:spPr>
              <a:blipFill>
                <a:blip r:embed="rId2"/>
                <a:stretch>
                  <a:fillRect l="-309" t="-42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64F9FCC-452F-54A1-BE3D-30F86166B70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516D9BA-773C-CCD3-DF57-EB5A88A24436}"/>
              </a:ext>
            </a:extLst>
          </p:cNvPr>
          <p:cNvSpPr>
            <a:spLocks noGrp="1"/>
          </p:cNvSpPr>
          <p:nvPr>
            <p:ph type="sldNum" sz="quarter" idx="12"/>
          </p:nvPr>
        </p:nvSpPr>
        <p:spPr/>
        <p:txBody>
          <a:bodyPr/>
          <a:lstStyle/>
          <a:p>
            <a:fld id="{D41FC515-8169-4A29-AA56-DBE520D5741B}" type="slidenum">
              <a:rPr lang="zh-CN" altLang="en-US" smtClean="0"/>
              <a:t>21</a:t>
            </a:fld>
            <a:endParaRPr lang="zh-CN" altLang="en-US"/>
          </a:p>
        </p:txBody>
      </p:sp>
    </p:spTree>
    <p:extLst>
      <p:ext uri="{BB962C8B-B14F-4D97-AF65-F5344CB8AC3E}">
        <p14:creationId xmlns:p14="http://schemas.microsoft.com/office/powerpoint/2010/main" val="2295211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348C7A-B212-C81E-1347-2BE81F8A4330}"/>
              </a:ext>
            </a:extLst>
          </p:cNvPr>
          <p:cNvSpPr>
            <a:spLocks noGrp="1"/>
          </p:cNvSpPr>
          <p:nvPr>
            <p:ph type="title"/>
          </p:nvPr>
        </p:nvSpPr>
        <p:spPr/>
        <p:txBody>
          <a:bodyPr/>
          <a:lstStyle/>
          <a:p>
            <a:r>
              <a:rPr lang="zh-CN" altLang="en-US" dirty="0"/>
              <a:t>断点回归设计的估计</a:t>
            </a:r>
          </a:p>
        </p:txBody>
      </p:sp>
      <p:sp>
        <p:nvSpPr>
          <p:cNvPr id="3" name="内容占位符 2">
            <a:extLst>
              <a:ext uri="{FF2B5EF4-FFF2-40B4-BE49-F238E27FC236}">
                <a16:creationId xmlns:a16="http://schemas.microsoft.com/office/drawing/2014/main" id="{905F2626-AF89-43CB-115D-7DB7344797FC}"/>
              </a:ext>
            </a:extLst>
          </p:cNvPr>
          <p:cNvSpPr>
            <a:spLocks noGrp="1"/>
          </p:cNvSpPr>
          <p:nvPr>
            <p:ph idx="1"/>
          </p:nvPr>
        </p:nvSpPr>
        <p:spPr/>
        <p:txBody>
          <a:bodyPr>
            <a:normAutofit/>
          </a:bodyPr>
          <a:lstStyle/>
          <a:p>
            <a:r>
              <a:rPr lang="en-US" altLang="zh-CN" sz="1600" dirty="0"/>
              <a:t>2. </a:t>
            </a:r>
            <a:r>
              <a:rPr lang="zh-CN" altLang="en-US" sz="1600" dirty="0"/>
              <a:t>局部线性回归</a:t>
            </a:r>
            <a:r>
              <a:rPr lang="en-US" altLang="zh-CN" sz="1600" dirty="0"/>
              <a:t>(Local Liner Regression, LLR)</a:t>
            </a:r>
            <a:endParaRPr lang="zh-CN" altLang="en-US" sz="1600" dirty="0"/>
          </a:p>
        </p:txBody>
      </p:sp>
      <p:sp>
        <p:nvSpPr>
          <p:cNvPr id="4" name="页脚占位符 3">
            <a:extLst>
              <a:ext uri="{FF2B5EF4-FFF2-40B4-BE49-F238E27FC236}">
                <a16:creationId xmlns:a16="http://schemas.microsoft.com/office/drawing/2014/main" id="{57437E13-293E-FEAD-7710-C1541FB240D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241F735-0D58-24B2-7BE0-D825E60AA5D5}"/>
              </a:ext>
            </a:extLst>
          </p:cNvPr>
          <p:cNvSpPr>
            <a:spLocks noGrp="1"/>
          </p:cNvSpPr>
          <p:nvPr>
            <p:ph type="sldNum" sz="quarter" idx="12"/>
          </p:nvPr>
        </p:nvSpPr>
        <p:spPr/>
        <p:txBody>
          <a:bodyPr/>
          <a:lstStyle/>
          <a:p>
            <a:fld id="{D41FC515-8169-4A29-AA56-DBE520D5741B}" type="slidenum">
              <a:rPr lang="zh-CN" altLang="en-US" smtClean="0"/>
              <a:t>22</a:t>
            </a:fld>
            <a:endParaRPr lang="zh-CN" altLang="en-US"/>
          </a:p>
        </p:txBody>
      </p:sp>
      <p:pic>
        <p:nvPicPr>
          <p:cNvPr id="7" name="图片 6">
            <a:extLst>
              <a:ext uri="{FF2B5EF4-FFF2-40B4-BE49-F238E27FC236}">
                <a16:creationId xmlns:a16="http://schemas.microsoft.com/office/drawing/2014/main" id="{D338D185-26A4-C6C1-894D-583D721F2199}"/>
              </a:ext>
            </a:extLst>
          </p:cNvPr>
          <p:cNvPicPr>
            <a:picLocks noChangeAspect="1"/>
          </p:cNvPicPr>
          <p:nvPr/>
        </p:nvPicPr>
        <p:blipFill>
          <a:blip r:embed="rId2"/>
          <a:stretch>
            <a:fillRect/>
          </a:stretch>
        </p:blipFill>
        <p:spPr>
          <a:xfrm>
            <a:off x="2084386" y="2280349"/>
            <a:ext cx="4975228" cy="3896614"/>
          </a:xfrm>
          <a:prstGeom prst="rect">
            <a:avLst/>
          </a:prstGeom>
        </p:spPr>
      </p:pic>
    </p:spTree>
    <p:extLst>
      <p:ext uri="{BB962C8B-B14F-4D97-AF65-F5344CB8AC3E}">
        <p14:creationId xmlns:p14="http://schemas.microsoft.com/office/powerpoint/2010/main" val="2920285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4E3528-E361-5812-C517-09DA52352AF9}"/>
              </a:ext>
            </a:extLst>
          </p:cNvPr>
          <p:cNvSpPr>
            <a:spLocks noGrp="1"/>
          </p:cNvSpPr>
          <p:nvPr>
            <p:ph type="title"/>
          </p:nvPr>
        </p:nvSpPr>
        <p:spPr/>
        <p:txBody>
          <a:bodyPr/>
          <a:lstStyle/>
          <a:p>
            <a:r>
              <a:rPr lang="zh-CN" altLang="en-US" dirty="0"/>
              <a:t>断点回归设计的估计</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E453EAF8-605E-2BDB-EBFF-8118660DC3A4}"/>
                  </a:ext>
                </a:extLst>
              </p:cNvPr>
              <p:cNvSpPr>
                <a:spLocks noGrp="1"/>
              </p:cNvSpPr>
              <p:nvPr>
                <p:ph idx="1"/>
              </p:nvPr>
            </p:nvSpPr>
            <p:spPr/>
            <p:txBody>
              <a:bodyPr>
                <a:normAutofit/>
              </a:bodyPr>
              <a:lstStyle/>
              <a:p>
                <a:r>
                  <a:rPr lang="en-US" altLang="zh-CN" sz="1600" dirty="0"/>
                  <a:t>3. </a:t>
                </a:r>
                <a:r>
                  <a:rPr lang="zh-CN" altLang="en-US" sz="1600" dirty="0"/>
                  <a:t>局部多项式回归</a:t>
                </a:r>
                <a:r>
                  <a:rPr lang="en-US" altLang="zh-CN" sz="1600" dirty="0"/>
                  <a:t>(Local Polynomial Regression, LPR)</a:t>
                </a:r>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func>
                            <m:funcPr>
                              <m:ctrlPr>
                                <a:rPr lang="zh-CN" altLang="en-US" sz="1600" i="1" smtClean="0">
                                  <a:latin typeface="Cambria Math" panose="02040503050406030204" pitchFamily="18" charset="0"/>
                                </a:rPr>
                              </m:ctrlPr>
                            </m:funcPr>
                            <m:fName>
                              <m:limLow>
                                <m:limLowPr>
                                  <m:ctrlPr>
                                    <a:rPr lang="zh-CN" altLang="en-US" sz="1600" i="1" smtClean="0">
                                      <a:latin typeface="Cambria Math" panose="02040503050406030204" pitchFamily="18" charset="0"/>
                                    </a:rPr>
                                  </m:ctrlPr>
                                </m:limLowPr>
                                <m:e>
                                  <m:r>
                                    <m:rPr>
                                      <m:sty m:val="p"/>
                                    </m:rPr>
                                    <a:rPr lang="zh-CN" altLang="en-US" sz="1600" i="1" smtClean="0">
                                      <a:latin typeface="Cambria Math" panose="02040503050406030204" pitchFamily="18" charset="0"/>
                                    </a:rPr>
                                    <m:t>min</m:t>
                                  </m:r>
                                </m:e>
                                <m:lim>
                                  <m:sSub>
                                    <m:sSubPr>
                                      <m:ctrlPr>
                                        <a:rPr lang="zh-CN" altLang="en-US" sz="1600" b="1" i="1" smtClean="0">
                                          <a:latin typeface="Cambria Math" panose="02040503050406030204" pitchFamily="18" charset="0"/>
                                        </a:rPr>
                                      </m:ctrlPr>
                                    </m:sSubPr>
                                    <m:e>
                                      <m:r>
                                        <a:rPr lang="zh-CN" altLang="en-US" sz="1600" b="1" i="1" smtClean="0">
                                          <a:latin typeface="Cambria Math" panose="02040503050406030204" pitchFamily="18" charset="0"/>
                                        </a:rPr>
                                        <m:t>𝐛</m:t>
                                      </m:r>
                                    </m:e>
                                    <m:sub>
                                      <m:r>
                                        <a:rPr lang="zh-CN" altLang="en-US" sz="1600" b="0" i="1" smtClean="0">
                                          <a:latin typeface="Cambria Math" panose="02040503050406030204" pitchFamily="18" charset="0"/>
                                        </a:rPr>
                                        <m:t>𝑙</m:t>
                                      </m:r>
                                    </m:sub>
                                  </m:sSub>
                                </m:lim>
                              </m:limLow>
                            </m:fName>
                            <m:e>
                              <m:nary>
                                <m:naryPr>
                                  <m:chr m:val="∑"/>
                                  <m:limLoc m:val="undOvr"/>
                                  <m:ctrlPr>
                                    <a:rPr lang="zh-CN" altLang="en-US" sz="1600" b="0" i="1" smtClean="0">
                                      <a:latin typeface="Cambria Math" panose="02040503050406030204" pitchFamily="18" charset="0"/>
                                    </a:rPr>
                                  </m:ctrlPr>
                                </m:naryPr>
                                <m:sub>
                                  <m:r>
                                    <a:rPr lang="zh-CN" altLang="en-US" sz="1600" b="0" i="1" smtClean="0">
                                      <a:latin typeface="Cambria Math" panose="02040503050406030204" pitchFamily="18" charset="0"/>
                                    </a:rPr>
                                    <m:t>𝑖</m:t>
                                  </m:r>
                                  <m:r>
                                    <a:rPr lang="zh-CN" altLang="en-US" sz="1600" b="0" i="1" smtClean="0">
                                      <a:latin typeface="Cambria Math" panose="02040503050406030204" pitchFamily="18" charset="0"/>
                                    </a:rPr>
                                    <m:t>=1</m:t>
                                  </m:r>
                                </m:sub>
                                <m:sup>
                                  <m:r>
                                    <a:rPr lang="zh-CN" altLang="en-US" sz="1600" b="0" i="1" smtClean="0">
                                      <a:latin typeface="Cambria Math" panose="02040503050406030204" pitchFamily="18" charset="0"/>
                                    </a:rPr>
                                    <m:t>𝑁</m:t>
                                  </m:r>
                                </m:sup>
                                <m:e>
                                  <m:sSup>
                                    <m:sSupPr>
                                      <m:ctrlPr>
                                        <a:rPr lang="zh-CN" altLang="en-US" sz="1600" b="0" i="1" smtClean="0">
                                          <a:latin typeface="Cambria Math" panose="02040503050406030204" pitchFamily="18" charset="0"/>
                                        </a:rPr>
                                      </m:ctrlPr>
                                    </m:sSupPr>
                                    <m:e>
                                      <m:d>
                                        <m:dPr>
                                          <m:ctrlPr>
                                            <a:rPr lang="zh-CN" altLang="en-US" sz="1600" b="0" i="1" smtClean="0">
                                              <a:latin typeface="Cambria Math" panose="02040503050406030204" pitchFamily="18" charset="0"/>
                                            </a:rPr>
                                          </m:ctrlPr>
                                        </m:dPr>
                                        <m:e>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𝑌</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m:t>
                                          </m:r>
                                          <m:sSub>
                                            <m:sSubPr>
                                              <m:ctrlPr>
                                                <a:rPr lang="zh-CN" altLang="en-US" sz="1600" b="1" i="1" smtClean="0">
                                                  <a:latin typeface="Cambria Math" panose="02040503050406030204" pitchFamily="18" charset="0"/>
                                                </a:rPr>
                                              </m:ctrlPr>
                                            </m:sSubPr>
                                            <m:e>
                                              <m:r>
                                                <a:rPr lang="zh-CN" altLang="en-US" sz="1600" b="1" i="1" smtClean="0">
                                                  <a:latin typeface="Cambria Math" panose="02040503050406030204" pitchFamily="18" charset="0"/>
                                                </a:rPr>
                                                <m:t>𝐛</m:t>
                                              </m:r>
                                            </m:e>
                                            <m:sub>
                                              <m:r>
                                                <a:rPr lang="zh-CN" altLang="en-US" sz="1600" b="0" i="1" smtClean="0">
                                                  <a:latin typeface="Cambria Math" panose="02040503050406030204" pitchFamily="18" charset="0"/>
                                                </a:rPr>
                                                <m:t>𝑙</m:t>
                                              </m:r>
                                            </m:sub>
                                          </m:sSub>
                                          <m:r>
                                            <a:rPr lang="zh-CN" altLang="en-US" sz="1600" b="0" i="1" smtClean="0">
                                              <a:latin typeface="Cambria Math" panose="02040503050406030204" pitchFamily="18" charset="0"/>
                                            </a:rPr>
                                            <m:t>′</m:t>
                                          </m:r>
                                          <m:r>
                                            <a:rPr lang="zh-CN" altLang="en-US" sz="1600" b="1" i="1" smtClean="0">
                                              <a:latin typeface="Cambria Math" panose="02040503050406030204" pitchFamily="18" charset="0"/>
                                            </a:rPr>
                                            <m:t>𝐱</m:t>
                                          </m:r>
                                        </m:e>
                                      </m:d>
                                    </m:e>
                                    <m:sup>
                                      <m:r>
                                        <a:rPr lang="zh-CN" altLang="en-US" sz="1600" b="0" i="1" smtClean="0">
                                          <a:latin typeface="Cambria Math" panose="02040503050406030204" pitchFamily="18" charset="0"/>
                                        </a:rPr>
                                        <m:t>2</m:t>
                                      </m:r>
                                    </m:sup>
                                  </m:sSup>
                                </m:e>
                              </m:nary>
                            </m:e>
                          </m:func>
                          <m:r>
                            <a:rPr lang="zh-CN" altLang="en-US" sz="1600" b="0" i="1" smtClean="0">
                              <a:latin typeface="Cambria Math" panose="02040503050406030204" pitchFamily="18" charset="0"/>
                            </a:rPr>
                            <m:t>𝐾</m:t>
                          </m:r>
                          <m:d>
                            <m:dPr>
                              <m:ctrlPr>
                                <a:rPr lang="zh-CN" altLang="en-US" sz="1600" b="0" i="1" smtClean="0">
                                  <a:latin typeface="Cambria Math" panose="02040503050406030204" pitchFamily="18" charset="0"/>
                                </a:rPr>
                              </m:ctrlPr>
                            </m:dPr>
                            <m:e>
                              <m:f>
                                <m:fPr>
                                  <m:ctrlPr>
                                    <a:rPr lang="zh-CN" altLang="en-US" sz="1600" b="0" i="1" smtClean="0">
                                      <a:latin typeface="Cambria Math" panose="02040503050406030204" pitchFamily="18" charset="0"/>
                                    </a:rPr>
                                  </m:ctrlPr>
                                </m:fPr>
                                <m:num>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𝑥</m:t>
                                      </m:r>
                                    </m:e>
                                    <m:sub>
                                      <m:r>
                                        <a:rPr lang="zh-CN" altLang="en-US" sz="1600" b="0" i="1" smtClean="0">
                                          <a:latin typeface="Cambria Math" panose="02040503050406030204" pitchFamily="18" charset="0"/>
                                        </a:rPr>
                                        <m:t>𝑖</m:t>
                                      </m:r>
                                    </m:sub>
                                  </m:sSub>
                                </m:num>
                                <m:den>
                                  <m:r>
                                    <a:rPr lang="zh-CN" altLang="en-US" sz="1600" b="0" i="1" smtClean="0">
                                      <a:latin typeface="Cambria Math" panose="02040503050406030204" pitchFamily="18" charset="0"/>
                                    </a:rPr>
                                    <m:t>ℎ</m:t>
                                  </m:r>
                                </m:den>
                              </m:f>
                            </m:e>
                          </m:d>
                          <m:r>
                            <a:rPr lang="zh-CN" altLang="en-US" sz="1600" b="0" i="1" smtClean="0">
                              <a:latin typeface="Cambria Math" panose="02040503050406030204" pitchFamily="18" charset="0"/>
                            </a:rPr>
                            <m:t>1</m:t>
                          </m:r>
                          <m:d>
                            <m:dPr>
                              <m:ctrlPr>
                                <a:rPr lang="zh-CN" altLang="en-US" sz="1600" b="0" i="1" smtClean="0">
                                  <a:latin typeface="Cambria Math" panose="02040503050406030204" pitchFamily="18" charset="0"/>
                                </a:rPr>
                              </m:ctrlPr>
                            </m:dPr>
                            <m:e>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𝑥</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&lt;0</m:t>
                              </m:r>
                            </m:e>
                          </m:d>
                          <m:r>
                            <a:rPr lang="zh-CN" altLang="en-US" sz="1600" b="0" i="1" smtClean="0">
                              <a:latin typeface="Cambria Math" panose="02040503050406030204" pitchFamily="18" charset="0"/>
                            </a:rPr>
                            <m:t>,</m:t>
                          </m:r>
                        </m:e>
                      </m:eqArr>
                    </m:oMath>
                  </m:oMathPara>
                </a14:m>
                <a:endParaRPr lang="zh-CN" altLang="en-US" sz="1600" b="0" i="1" dirty="0">
                  <a:latin typeface="Cambria Math" panose="02040503050406030204" pitchFamily="18" charset="0"/>
                </a:endParaRPr>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func>
                            <m:funcPr>
                              <m:ctrlPr>
                                <a:rPr lang="zh-CN" altLang="en-US" sz="1600" i="1" smtClean="0">
                                  <a:latin typeface="Cambria Math" panose="02040503050406030204" pitchFamily="18" charset="0"/>
                                </a:rPr>
                              </m:ctrlPr>
                            </m:funcPr>
                            <m:fName>
                              <m:limLow>
                                <m:limLowPr>
                                  <m:ctrlPr>
                                    <a:rPr lang="zh-CN" altLang="en-US" sz="1600" i="1" smtClean="0">
                                      <a:latin typeface="Cambria Math" panose="02040503050406030204" pitchFamily="18" charset="0"/>
                                    </a:rPr>
                                  </m:ctrlPr>
                                </m:limLowPr>
                                <m:e>
                                  <m:r>
                                    <m:rPr>
                                      <m:sty m:val="p"/>
                                    </m:rPr>
                                    <a:rPr lang="zh-CN" altLang="en-US" sz="1600" i="1" smtClean="0">
                                      <a:latin typeface="Cambria Math" panose="02040503050406030204" pitchFamily="18" charset="0"/>
                                    </a:rPr>
                                    <m:t>min</m:t>
                                  </m:r>
                                </m:e>
                                <m:lim>
                                  <m:sSub>
                                    <m:sSubPr>
                                      <m:ctrlPr>
                                        <a:rPr lang="zh-CN" altLang="en-US" sz="1600" b="1" i="1" smtClean="0">
                                          <a:latin typeface="Cambria Math" panose="02040503050406030204" pitchFamily="18" charset="0"/>
                                        </a:rPr>
                                      </m:ctrlPr>
                                    </m:sSubPr>
                                    <m:e>
                                      <m:r>
                                        <a:rPr lang="zh-CN" altLang="en-US" sz="1600" b="1" i="1" smtClean="0">
                                          <a:latin typeface="Cambria Math" panose="02040503050406030204" pitchFamily="18" charset="0"/>
                                        </a:rPr>
                                        <m:t>𝐛</m:t>
                                      </m:r>
                                    </m:e>
                                    <m:sub>
                                      <m:r>
                                        <a:rPr lang="zh-CN" altLang="en-US" sz="1600" b="0" i="1" smtClean="0">
                                          <a:latin typeface="Cambria Math" panose="02040503050406030204" pitchFamily="18" charset="0"/>
                                        </a:rPr>
                                        <m:t>𝑟</m:t>
                                      </m:r>
                                    </m:sub>
                                  </m:sSub>
                                </m:lim>
                              </m:limLow>
                            </m:fName>
                            <m:e>
                              <m:nary>
                                <m:naryPr>
                                  <m:chr m:val="∑"/>
                                  <m:limLoc m:val="undOvr"/>
                                  <m:ctrlPr>
                                    <a:rPr lang="zh-CN" altLang="en-US" sz="1600" b="0" i="1" smtClean="0">
                                      <a:latin typeface="Cambria Math" panose="02040503050406030204" pitchFamily="18" charset="0"/>
                                    </a:rPr>
                                  </m:ctrlPr>
                                </m:naryPr>
                                <m:sub>
                                  <m:r>
                                    <a:rPr lang="zh-CN" altLang="en-US" sz="1600" b="0" i="1" smtClean="0">
                                      <a:latin typeface="Cambria Math" panose="02040503050406030204" pitchFamily="18" charset="0"/>
                                    </a:rPr>
                                    <m:t>𝑖</m:t>
                                  </m:r>
                                  <m:r>
                                    <a:rPr lang="zh-CN" altLang="en-US" sz="1600" b="0" i="1" smtClean="0">
                                      <a:latin typeface="Cambria Math" panose="02040503050406030204" pitchFamily="18" charset="0"/>
                                    </a:rPr>
                                    <m:t>=1</m:t>
                                  </m:r>
                                </m:sub>
                                <m:sup>
                                  <m:r>
                                    <a:rPr lang="zh-CN" altLang="en-US" sz="1600" b="0" i="1" smtClean="0">
                                      <a:latin typeface="Cambria Math" panose="02040503050406030204" pitchFamily="18" charset="0"/>
                                    </a:rPr>
                                    <m:t>𝑁</m:t>
                                  </m:r>
                                </m:sup>
                                <m:e>
                                  <m:sSup>
                                    <m:sSupPr>
                                      <m:ctrlPr>
                                        <a:rPr lang="zh-CN" altLang="en-US" sz="1600" b="0" i="1" smtClean="0">
                                          <a:latin typeface="Cambria Math" panose="02040503050406030204" pitchFamily="18" charset="0"/>
                                        </a:rPr>
                                      </m:ctrlPr>
                                    </m:sSupPr>
                                    <m:e>
                                      <m:d>
                                        <m:dPr>
                                          <m:ctrlPr>
                                            <a:rPr lang="zh-CN" altLang="en-US" sz="1600" b="0" i="1" smtClean="0">
                                              <a:latin typeface="Cambria Math" panose="02040503050406030204" pitchFamily="18" charset="0"/>
                                            </a:rPr>
                                          </m:ctrlPr>
                                        </m:dPr>
                                        <m:e>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𝑌</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m:t>
                                          </m:r>
                                          <m:sSub>
                                            <m:sSubPr>
                                              <m:ctrlPr>
                                                <a:rPr lang="zh-CN" altLang="en-US" sz="1600" b="1" i="1" smtClean="0">
                                                  <a:latin typeface="Cambria Math" panose="02040503050406030204" pitchFamily="18" charset="0"/>
                                                </a:rPr>
                                              </m:ctrlPr>
                                            </m:sSubPr>
                                            <m:e>
                                              <m:r>
                                                <a:rPr lang="zh-CN" altLang="en-US" sz="1600" b="1" i="1" smtClean="0">
                                                  <a:latin typeface="Cambria Math" panose="02040503050406030204" pitchFamily="18" charset="0"/>
                                                </a:rPr>
                                                <m:t>𝐛</m:t>
                                              </m:r>
                                            </m:e>
                                            <m:sub>
                                              <m:r>
                                                <a:rPr lang="zh-CN" altLang="en-US" sz="1600" b="0" i="1" smtClean="0">
                                                  <a:latin typeface="Cambria Math" panose="02040503050406030204" pitchFamily="18" charset="0"/>
                                                </a:rPr>
                                                <m:t>𝑟</m:t>
                                              </m:r>
                                            </m:sub>
                                          </m:sSub>
                                          <m:r>
                                            <a:rPr lang="zh-CN" altLang="en-US" sz="1600" b="0" i="1" smtClean="0">
                                              <a:latin typeface="Cambria Math" panose="02040503050406030204" pitchFamily="18" charset="0"/>
                                            </a:rPr>
                                            <m:t>′</m:t>
                                          </m:r>
                                          <m:r>
                                            <a:rPr lang="zh-CN" altLang="en-US" sz="1600" b="1" i="1" smtClean="0">
                                              <a:latin typeface="Cambria Math" panose="02040503050406030204" pitchFamily="18" charset="0"/>
                                            </a:rPr>
                                            <m:t>𝐱</m:t>
                                          </m:r>
                                        </m:e>
                                      </m:d>
                                    </m:e>
                                    <m:sup>
                                      <m:r>
                                        <a:rPr lang="zh-CN" altLang="en-US" sz="1600" b="0" i="1" smtClean="0">
                                          <a:latin typeface="Cambria Math" panose="02040503050406030204" pitchFamily="18" charset="0"/>
                                        </a:rPr>
                                        <m:t>2</m:t>
                                      </m:r>
                                    </m:sup>
                                  </m:sSup>
                                </m:e>
                              </m:nary>
                            </m:e>
                          </m:func>
                          <m:r>
                            <a:rPr lang="zh-CN" altLang="en-US" sz="1600" b="0" i="1" smtClean="0">
                              <a:latin typeface="Cambria Math" panose="02040503050406030204" pitchFamily="18" charset="0"/>
                            </a:rPr>
                            <m:t>𝐾</m:t>
                          </m:r>
                          <m:d>
                            <m:dPr>
                              <m:ctrlPr>
                                <a:rPr lang="zh-CN" altLang="en-US" sz="1600" b="0" i="1" smtClean="0">
                                  <a:latin typeface="Cambria Math" panose="02040503050406030204" pitchFamily="18" charset="0"/>
                                </a:rPr>
                              </m:ctrlPr>
                            </m:dPr>
                            <m:e>
                              <m:f>
                                <m:fPr>
                                  <m:ctrlPr>
                                    <a:rPr lang="zh-CN" altLang="en-US" sz="1600" b="0" i="1" smtClean="0">
                                      <a:latin typeface="Cambria Math" panose="02040503050406030204" pitchFamily="18" charset="0"/>
                                    </a:rPr>
                                  </m:ctrlPr>
                                </m:fPr>
                                <m:num>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𝑥</m:t>
                                      </m:r>
                                    </m:e>
                                    <m:sub>
                                      <m:r>
                                        <a:rPr lang="zh-CN" altLang="en-US" sz="1600" b="0" i="1" smtClean="0">
                                          <a:latin typeface="Cambria Math" panose="02040503050406030204" pitchFamily="18" charset="0"/>
                                        </a:rPr>
                                        <m:t>𝑖</m:t>
                                      </m:r>
                                    </m:sub>
                                  </m:sSub>
                                </m:num>
                                <m:den>
                                  <m:r>
                                    <a:rPr lang="zh-CN" altLang="en-US" sz="1600" b="0" i="1" smtClean="0">
                                      <a:latin typeface="Cambria Math" panose="02040503050406030204" pitchFamily="18" charset="0"/>
                                    </a:rPr>
                                    <m:t>ℎ</m:t>
                                  </m:r>
                                </m:den>
                              </m:f>
                            </m:e>
                          </m:d>
                          <m:r>
                            <a:rPr lang="zh-CN" altLang="en-US" sz="1600" b="0" i="1" smtClean="0">
                              <a:latin typeface="Cambria Math" panose="02040503050406030204" pitchFamily="18" charset="0"/>
                            </a:rPr>
                            <m:t>1</m:t>
                          </m:r>
                          <m:d>
                            <m:dPr>
                              <m:ctrlPr>
                                <a:rPr lang="zh-CN" altLang="en-US" sz="1600" b="0" i="1" smtClean="0">
                                  <a:latin typeface="Cambria Math" panose="02040503050406030204" pitchFamily="18" charset="0"/>
                                </a:rPr>
                              </m:ctrlPr>
                            </m:dPr>
                            <m:e>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𝑥</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≥0</m:t>
                              </m:r>
                            </m:e>
                          </m:d>
                          <m:r>
                            <a:rPr lang="zh-CN" altLang="en-US" sz="1600" b="0" i="1" smtClean="0">
                              <a:latin typeface="Cambria Math" panose="02040503050406030204" pitchFamily="18" charset="0"/>
                            </a:rPr>
                            <m:t>,</m:t>
                          </m:r>
                        </m:e>
                      </m:eqArr>
                    </m:oMath>
                  </m:oMathPara>
                </a14:m>
                <a:endParaRPr lang="en-US" altLang="zh-CN" sz="1600" dirty="0"/>
              </a:p>
              <a:p>
                <a:pPr marL="0" indent="0">
                  <a:buNone/>
                </a:pPr>
                <a:r>
                  <a:rPr lang="zh-CN" altLang="en-US" sz="1600" dirty="0"/>
                  <a:t>其中</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𝑥</m:t>
                        </m:r>
                      </m:e>
                      <m:sub>
                        <m:r>
                          <a:rPr lang="zh-CN" altLang="en-US" sz="1600" i="1" dirty="0" smtClean="0">
                            <a:latin typeface="Cambria Math" panose="02040503050406030204" pitchFamily="18" charset="0"/>
                          </a:rPr>
                          <m:t>𝑖</m:t>
                        </m:r>
                      </m:sub>
                    </m:sSub>
                    <m:r>
                      <a:rPr lang="zh-CN" altLang="en-US" sz="1600" i="1" dirty="0" smtClean="0">
                        <a:latin typeface="Cambria Math" panose="02040503050406030204" pitchFamily="18" charset="0"/>
                      </a:rPr>
                      <m:t> </m:t>
                    </m:r>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zh-CN" altLang="en-US" sz="1600" i="1" dirty="0">
                            <a:latin typeface="Cambria Math" panose="02040503050406030204" pitchFamily="18" charset="0"/>
                          </a:rPr>
                          <m:t>𝑖</m:t>
                        </m:r>
                      </m:sub>
                    </m:sSub>
                    <m:r>
                      <a:rPr lang="zh-CN" altLang="en-US" sz="1600" i="1" dirty="0">
                        <a:latin typeface="Cambria Math" panose="02040503050406030204" pitchFamily="18" charset="0"/>
                      </a:rPr>
                      <m:t>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𝑥</m:t>
                        </m:r>
                      </m:e>
                      <m:sub>
                        <m:r>
                          <a:rPr lang="en-US" altLang="zh-CN" sz="1600" i="1" dirty="0">
                            <a:latin typeface="Cambria Math" panose="02040503050406030204" pitchFamily="18" charset="0"/>
                          </a:rPr>
                          <m:t>0</m:t>
                        </m:r>
                      </m:sub>
                    </m:sSub>
                    <m:r>
                      <a:rPr lang="zh-CN" altLang="en-US" sz="1600" i="1" dirty="0">
                        <a:latin typeface="Cambria Math" panose="02040503050406030204" pitchFamily="18" charset="0"/>
                      </a:rPr>
                      <m:t>，</m:t>
                    </m:r>
                    <m:sSub>
                      <m:sSubPr>
                        <m:ctrlPr>
                          <a:rPr lang="en-US" altLang="zh-CN" sz="1600" b="1" i="1" dirty="0">
                            <a:latin typeface="Cambria Math" panose="02040503050406030204" pitchFamily="18" charset="0"/>
                          </a:rPr>
                        </m:ctrlPr>
                      </m:sSubPr>
                      <m:e>
                        <m:r>
                          <m:rPr>
                            <m:sty m:val="p"/>
                          </m:rPr>
                          <a:rPr lang="en-US" altLang="zh-CN" sz="1600" b="1" i="1" dirty="0">
                            <a:latin typeface="Cambria Math" panose="02040503050406030204" pitchFamily="18" charset="0"/>
                          </a:rPr>
                          <m:t>b</m:t>
                        </m:r>
                      </m:e>
                      <m:sub>
                        <m:r>
                          <a:rPr lang="zh-CN" altLang="en-US" sz="1600" i="1" dirty="0">
                            <a:latin typeface="Cambria Math" panose="02040503050406030204" pitchFamily="18" charset="0"/>
                          </a:rPr>
                          <m:t>𝑗</m:t>
                        </m:r>
                      </m:sub>
                    </m:sSub>
                    <m:r>
                      <a:rPr lang="zh-CN" altLang="en-US" sz="1600" i="1" dirty="0">
                        <a:latin typeface="Cambria Math" panose="02040503050406030204" pitchFamily="18" charset="0"/>
                      </a:rPr>
                      <m:t> </m:t>
                    </m:r>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𝑏</m:t>
                        </m:r>
                      </m:e>
                      <m:sub>
                        <m:r>
                          <a:rPr lang="en-US" altLang="zh-CN" sz="1600" i="1" dirty="0">
                            <a:latin typeface="Cambria Math" panose="02040503050406030204" pitchFamily="18" charset="0"/>
                          </a:rPr>
                          <m:t>0</m:t>
                        </m:r>
                        <m:r>
                          <a:rPr lang="zh-CN" altLang="en-US" sz="1600" i="1" dirty="0">
                            <a:latin typeface="Cambria Math" panose="02040503050406030204" pitchFamily="18" charset="0"/>
                          </a:rPr>
                          <m:t>𝑗</m:t>
                        </m:r>
                      </m:sub>
                    </m:sSub>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𝑏</m:t>
                        </m:r>
                      </m:e>
                      <m:sub>
                        <m:r>
                          <a:rPr lang="en-US" altLang="zh-CN" sz="1600" i="1" dirty="0">
                            <a:latin typeface="Cambria Math" panose="02040503050406030204" pitchFamily="18" charset="0"/>
                          </a:rPr>
                          <m:t>1</m:t>
                        </m:r>
                        <m:r>
                          <a:rPr lang="zh-CN" altLang="en-US" sz="1600" i="1" dirty="0">
                            <a:latin typeface="Cambria Math" panose="02040503050406030204" pitchFamily="18" charset="0"/>
                          </a:rPr>
                          <m:t>𝑗</m:t>
                        </m:r>
                      </m:sub>
                    </m:sSub>
                    <m:r>
                      <a:rPr lang="en-US" altLang="zh-CN" sz="1600" i="1" dirty="0">
                        <a:latin typeface="Cambria Math" panose="02040503050406030204" pitchFamily="18" charset="0"/>
                      </a:rPr>
                      <m:t>, …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𝑏</m:t>
                        </m:r>
                      </m:e>
                      <m:sub>
                        <m:r>
                          <a:rPr lang="zh-CN" altLang="en-US" sz="1600" i="1" dirty="0">
                            <a:latin typeface="Cambria Math" panose="02040503050406030204" pitchFamily="18" charset="0"/>
                          </a:rPr>
                          <m:t>𝑝𝑗</m:t>
                        </m:r>
                      </m:sub>
                    </m:sSub>
                    <m:r>
                      <a:rPr lang="en-US" altLang="zh-CN" sz="1600" i="1" dirty="0">
                        <a:latin typeface="Cambria Math" panose="02040503050406030204" pitchFamily="18" charset="0"/>
                      </a:rPr>
                      <m:t>)′, </m:t>
                    </m:r>
                    <m:r>
                      <a:rPr lang="zh-CN" altLang="en-US" sz="1600" i="1" dirty="0">
                        <a:latin typeface="Cambria Math" panose="02040503050406030204" pitchFamily="18" charset="0"/>
                      </a:rPr>
                      <m:t>𝑗</m:t>
                    </m:r>
                    <m:r>
                      <a:rPr lang="zh-CN" altLang="en-US" sz="1600" i="1" dirty="0">
                        <a:latin typeface="Cambria Math" panose="02040503050406030204" pitchFamily="18" charset="0"/>
                      </a:rPr>
                      <m:t> = </m:t>
                    </m:r>
                    <m:r>
                      <a:rPr lang="zh-CN" altLang="en-US" sz="1600" i="1" dirty="0">
                        <a:latin typeface="Cambria Math" panose="02040503050406030204" pitchFamily="18" charset="0"/>
                      </a:rPr>
                      <m:t>𝑙</m:t>
                    </m:r>
                    <m:r>
                      <a:rPr lang="en-US" altLang="zh-CN" sz="1600" i="1" dirty="0">
                        <a:latin typeface="Cambria Math" panose="02040503050406030204" pitchFamily="18" charset="0"/>
                      </a:rPr>
                      <m:t>, </m:t>
                    </m:r>
                    <m:r>
                      <a:rPr lang="zh-CN" altLang="en-US" sz="1600" i="1" dirty="0">
                        <a:latin typeface="Cambria Math" panose="02040503050406030204" pitchFamily="18" charset="0"/>
                      </a:rPr>
                      <m:t>𝑟</m:t>
                    </m:r>
                    <m:r>
                      <a:rPr lang="zh-CN" altLang="en-US" sz="1600" i="1" dirty="0">
                        <a:latin typeface="Cambria Math" panose="02040503050406030204" pitchFamily="18" charset="0"/>
                      </a:rPr>
                      <m:t>，</m:t>
                    </m:r>
                    <m:r>
                      <a:rPr lang="en-US" altLang="zh-CN" sz="1600" b="1" i="1" dirty="0">
                        <a:latin typeface="Cambria Math" panose="02040503050406030204" pitchFamily="18" charset="0"/>
                      </a:rPr>
                      <m:t>𝒙</m:t>
                    </m:r>
                    <m:r>
                      <a:rPr lang="en-US" altLang="zh-CN" sz="1600" b="1" i="1" dirty="0">
                        <a:latin typeface="Cambria Math" panose="02040503050406030204" pitchFamily="18" charset="0"/>
                      </a:rPr>
                      <m:t> = (1,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𝑥</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𝑥</m:t>
                        </m:r>
                      </m:e>
                      <m:sub>
                        <m:r>
                          <a:rPr lang="zh-CN" altLang="en-US" sz="1600" i="1" dirty="0" smtClean="0">
                            <a:latin typeface="Cambria Math" panose="02040503050406030204" pitchFamily="18" charset="0"/>
                          </a:rPr>
                          <m:t>𝑖</m:t>
                        </m:r>
                      </m:sub>
                      <m:sup>
                        <m:r>
                          <a:rPr lang="en-US" altLang="zh-CN" sz="1600" i="1" dirty="0" smtClean="0">
                            <a:latin typeface="Cambria Math" panose="02040503050406030204" pitchFamily="18" charset="0"/>
                          </a:rPr>
                          <m:t>2</m:t>
                        </m:r>
                      </m:sup>
                    </m:sSubSup>
                    <m:r>
                      <a:rPr lang="en-US" altLang="zh-CN" sz="1600" i="1" dirty="0" smtClean="0">
                        <a:latin typeface="Cambria Math" panose="02040503050406030204" pitchFamily="18" charset="0"/>
                      </a:rPr>
                      <m:t>, </m:t>
                    </m:r>
                    <m:r>
                      <a:rPr lang="en-US" altLang="zh-CN" sz="1600" i="1" dirty="0">
                        <a:latin typeface="Cambria Math" panose="02040503050406030204" pitchFamily="18" charset="0"/>
                      </a:rPr>
                      <m:t>… , </m:t>
                    </m:r>
                    <m:sSubSup>
                      <m:sSubSupPr>
                        <m:ctrlPr>
                          <a:rPr lang="zh-CN" altLang="en-US" sz="1600" i="1" dirty="0">
                            <a:latin typeface="Cambria Math" panose="02040503050406030204" pitchFamily="18" charset="0"/>
                          </a:rPr>
                        </m:ctrlPr>
                      </m:sSubSupPr>
                      <m:e>
                        <m:r>
                          <a:rPr lang="zh-CN" altLang="en-US" sz="1600" i="1" dirty="0">
                            <a:latin typeface="Cambria Math" panose="02040503050406030204" pitchFamily="18" charset="0"/>
                          </a:rPr>
                          <m:t>𝑥</m:t>
                        </m:r>
                      </m:e>
                      <m:sub>
                        <m:r>
                          <a:rPr lang="zh-CN" altLang="en-US" sz="1600" i="1" dirty="0" smtClean="0">
                            <a:latin typeface="Cambria Math" panose="02040503050406030204" pitchFamily="18" charset="0"/>
                          </a:rPr>
                          <m:t>𝑖</m:t>
                        </m:r>
                      </m:sub>
                      <m:sup>
                        <m:r>
                          <a:rPr lang="zh-CN" altLang="en-US" sz="1600" i="1" dirty="0">
                            <a:latin typeface="Cambria Math" panose="02040503050406030204" pitchFamily="18" charset="0"/>
                          </a:rPr>
                          <m:t>𝑝</m:t>
                        </m:r>
                      </m:sup>
                    </m:sSubSup>
                    <m:r>
                      <a:rPr lang="en-US" altLang="zh-CN" sz="1600" i="1" dirty="0" smtClean="0">
                        <a:latin typeface="Cambria Math" panose="02040503050406030204" pitchFamily="18" charset="0"/>
                      </a:rPr>
                      <m:t>)′</m:t>
                    </m:r>
                  </m:oMath>
                </a14:m>
                <a:r>
                  <a:rPr lang="zh-CN" altLang="en-US" sz="1600" dirty="0"/>
                  <a:t>。</a:t>
                </a:r>
                <a:endParaRPr lang="en-US" altLang="zh-CN" sz="1600" dirty="0"/>
              </a:p>
              <a:p>
                <a:r>
                  <a:rPr lang="zh-CN" altLang="en-US" sz="1600" dirty="0"/>
                  <a:t>相应的</a:t>
                </a:r>
                <a:r>
                  <a:rPr lang="en-US" altLang="zh-CN" sz="1600" dirty="0"/>
                  <a:t>RDD </a:t>
                </a:r>
                <a:r>
                  <a:rPr lang="zh-CN" altLang="en-US" sz="1600" dirty="0"/>
                  <a:t>估计量为：</a:t>
                </a:r>
                <a:endParaRPr lang="en-US" altLang="zh-CN" sz="1600" dirty="0"/>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sSubSup>
                            <m:sSubSupPr>
                              <m:ctrlPr>
                                <a:rPr lang="zh-CN" altLang="en-US" sz="1600" i="1" smtClean="0">
                                  <a:latin typeface="Cambria Math" panose="02040503050406030204" pitchFamily="18" charset="0"/>
                                </a:rPr>
                              </m:ctrlPr>
                            </m:sSub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𝜏</m:t>
                                  </m:r>
                                </m:e>
                              </m:acc>
                            </m:e>
                            <m:sub>
                              <m:r>
                                <a:rPr lang="zh-CN" altLang="en-US" sz="1600" i="1" smtClean="0">
                                  <a:latin typeface="Cambria Math" panose="02040503050406030204" pitchFamily="18" charset="0"/>
                                </a:rPr>
                                <m:t>𝐴𝑇𝐸</m:t>
                              </m:r>
                            </m:sub>
                            <m:sup>
                              <m:r>
                                <a:rPr lang="zh-CN" altLang="en-US" sz="1600" i="1" smtClean="0">
                                  <a:latin typeface="Cambria Math" panose="02040503050406030204" pitchFamily="18" charset="0"/>
                                </a:rPr>
                                <m:t>𝑆𝑅𝐷</m:t>
                              </m:r>
                            </m:sup>
                          </m:sSubSup>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𝜇</m:t>
                                  </m:r>
                                </m:e>
                              </m:acc>
                            </m:e>
                            <m:sup>
                              <m:r>
                                <a:rPr lang="zh-CN" altLang="en-US" sz="1600" i="1" smtClean="0">
                                  <a:latin typeface="Cambria Math" panose="02040503050406030204" pitchFamily="18" charset="0"/>
                                </a:rPr>
                                <m:t>+</m:t>
                              </m:r>
                            </m:sup>
                          </m:sSup>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𝜇</m:t>
                                  </m:r>
                                </m:e>
                              </m:acc>
                            </m:e>
                            <m:sup>
                              <m:r>
                                <a:rPr lang="zh-CN" altLang="en-US" sz="1600" i="1" smtClean="0">
                                  <a:latin typeface="Cambria Math" panose="02040503050406030204" pitchFamily="18" charset="0"/>
                                </a:rPr>
                                <m:t>−</m:t>
                              </m:r>
                            </m:sup>
                          </m:sSup>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𝑏</m:t>
                                  </m:r>
                                </m:e>
                              </m:acc>
                            </m:e>
                            <m:sub>
                              <m:r>
                                <a:rPr lang="zh-CN" altLang="en-US" sz="1600" i="1" smtClean="0">
                                  <a:latin typeface="Cambria Math" panose="02040503050406030204" pitchFamily="18" charset="0"/>
                                </a:rPr>
                                <m:t>0</m:t>
                              </m:r>
                              <m:r>
                                <a:rPr lang="zh-CN" altLang="en-US" sz="1600" i="1" smtClean="0">
                                  <a:latin typeface="Cambria Math" panose="02040503050406030204" pitchFamily="18" charset="0"/>
                                </a:rPr>
                                <m:t>𝑟</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acc>
                                <m:accPr>
                                  <m:chr m:val="̂"/>
                                  <m:ctrlPr>
                                    <a:rPr lang="zh-CN" altLang="en-US" sz="1600" i="1" smtClean="0">
                                      <a:latin typeface="Cambria Math" panose="02040503050406030204" pitchFamily="18" charset="0"/>
                                    </a:rPr>
                                  </m:ctrlPr>
                                </m:accPr>
                                <m:e>
                                  <m:r>
                                    <a:rPr lang="zh-CN" altLang="en-US" sz="1600" i="1" smtClean="0">
                                      <a:latin typeface="Cambria Math" panose="02040503050406030204" pitchFamily="18" charset="0"/>
                                    </a:rPr>
                                    <m:t>𝑏</m:t>
                                  </m:r>
                                </m:e>
                              </m:acc>
                            </m:e>
                            <m:sub>
                              <m:r>
                                <a:rPr lang="zh-CN" altLang="en-US" sz="1600" i="1" smtClean="0">
                                  <a:latin typeface="Cambria Math" panose="02040503050406030204" pitchFamily="18" charset="0"/>
                                </a:rPr>
                                <m:t>0</m:t>
                              </m:r>
                              <m:r>
                                <a:rPr lang="zh-CN" altLang="en-US" sz="1600" i="1" smtClean="0">
                                  <a:latin typeface="Cambria Math" panose="02040503050406030204" pitchFamily="18" charset="0"/>
                                </a:rPr>
                                <m:t>𝑙</m:t>
                              </m:r>
                            </m:sub>
                          </m:sSub>
                          <m:r>
                            <a:rPr lang="zh-CN" altLang="en-US" sz="1600" i="1" smtClean="0">
                              <a:latin typeface="Cambria Math" panose="02040503050406030204" pitchFamily="18" charset="0"/>
                            </a:rPr>
                            <m:t>.</m:t>
                          </m:r>
                        </m:e>
                      </m:eqArr>
                    </m:oMath>
                  </m:oMathPara>
                </a14:m>
                <a:endParaRPr lang="en-US" altLang="zh-CN" sz="1600" dirty="0"/>
              </a:p>
              <a:p>
                <a:pPr marL="0" indent="0">
                  <a:buNone/>
                </a:pPr>
                <a:r>
                  <a:rPr lang="zh-CN" altLang="en-US" sz="1600" dirty="0"/>
                  <a:t>也可以利用下列模型直接估计</a:t>
                </a:r>
                <a:r>
                  <a:rPr lang="en-US" altLang="zh-CN" sz="1600" dirty="0"/>
                  <a:t>RDD </a:t>
                </a:r>
                <a:r>
                  <a:rPr lang="zh-CN" altLang="en-US" sz="1600" dirty="0"/>
                  <a:t>估计量，</a:t>
                </a:r>
                <a:endParaRPr lang="en-US" altLang="zh-CN" sz="1600" dirty="0"/>
              </a:p>
              <a:p>
                <a:pPr marL="0" indent="0">
                  <a:buNone/>
                </a:pPr>
                <a14:m>
                  <m:oMathPara xmlns:m="http://schemas.openxmlformats.org/officeDocument/2006/math">
                    <m:oMath>
                      <m:eqArr>
                        <m:eqArrPr>
                          <m:ctrlPr>
                            <a:rPr lang="zh-CN" altLang="en-US" sz="1600" i="1" smtClean="0">
                              <a:latin typeface="Cambria Math" panose="02040503050406030204" pitchFamily="18" charset="0"/>
                            </a:rPr>
                          </m:ctrlPr>
                        </m:eqArrPr>
                        <m:e>
                          <m:func>
                            <m:funcPr>
                              <m:ctrlPr>
                                <a:rPr lang="zh-CN" altLang="en-US" sz="1600" i="1" smtClean="0">
                                  <a:latin typeface="Cambria Math" panose="02040503050406030204" pitchFamily="18" charset="0"/>
                                </a:rPr>
                              </m:ctrlPr>
                            </m:funcPr>
                            <m:fName>
                              <m:limLow>
                                <m:limLowPr>
                                  <m:ctrlPr>
                                    <a:rPr lang="zh-CN" altLang="en-US" sz="1600" i="1" smtClean="0">
                                      <a:latin typeface="Cambria Math" panose="02040503050406030204" pitchFamily="18" charset="0"/>
                                    </a:rPr>
                                  </m:ctrlPr>
                                </m:limLowPr>
                                <m:e>
                                  <m:r>
                                    <m:rPr>
                                      <m:sty m:val="p"/>
                                    </m:rPr>
                                    <a:rPr lang="zh-CN" altLang="en-US" sz="1600" i="1" smtClean="0">
                                      <a:latin typeface="Cambria Math" panose="02040503050406030204" pitchFamily="18" charset="0"/>
                                    </a:rPr>
                                    <m:t>min</m:t>
                                  </m:r>
                                </m:e>
                                <m:lim>
                                  <m:r>
                                    <a:rPr lang="zh-CN" altLang="en-US" sz="1600" b="1" i="1" smtClean="0">
                                      <a:latin typeface="Cambria Math" panose="02040503050406030204" pitchFamily="18" charset="0"/>
                                    </a:rPr>
                                    <m:t>𝐛</m:t>
                                  </m:r>
                                  <m:r>
                                    <a:rPr lang="zh-CN" altLang="en-US" sz="1600" b="0" i="1" smtClean="0">
                                      <a:latin typeface="Cambria Math" panose="02040503050406030204" pitchFamily="18" charset="0"/>
                                    </a:rPr>
                                    <m:t>,</m:t>
                                  </m:r>
                                  <m:r>
                                    <a:rPr lang="zh-CN" altLang="en-US" sz="1600" b="1" i="1" smtClean="0">
                                      <a:latin typeface="Cambria Math" panose="02040503050406030204" pitchFamily="18" charset="0"/>
                                    </a:rPr>
                                    <m:t>𝐜</m:t>
                                  </m:r>
                                </m:lim>
                              </m:limLow>
                            </m:fName>
                            <m:e>
                              <m:nary>
                                <m:naryPr>
                                  <m:chr m:val="∑"/>
                                  <m:limLoc m:val="undOvr"/>
                                  <m:ctrlPr>
                                    <a:rPr lang="zh-CN" altLang="en-US" sz="1600" b="0" i="1" smtClean="0">
                                      <a:latin typeface="Cambria Math" panose="02040503050406030204" pitchFamily="18" charset="0"/>
                                    </a:rPr>
                                  </m:ctrlPr>
                                </m:naryPr>
                                <m:sub>
                                  <m:r>
                                    <a:rPr lang="zh-CN" altLang="en-US" sz="1600" b="0" i="1" smtClean="0">
                                      <a:latin typeface="Cambria Math" panose="02040503050406030204" pitchFamily="18" charset="0"/>
                                    </a:rPr>
                                    <m:t>𝑖</m:t>
                                  </m:r>
                                  <m:r>
                                    <a:rPr lang="zh-CN" altLang="en-US" sz="1600" b="0" i="1" smtClean="0">
                                      <a:latin typeface="Cambria Math" panose="02040503050406030204" pitchFamily="18" charset="0"/>
                                    </a:rPr>
                                    <m:t>=1</m:t>
                                  </m:r>
                                </m:sub>
                                <m:sup>
                                  <m:r>
                                    <a:rPr lang="zh-CN" altLang="en-US" sz="1600" b="0" i="1" smtClean="0">
                                      <a:latin typeface="Cambria Math" panose="02040503050406030204" pitchFamily="18" charset="0"/>
                                    </a:rPr>
                                    <m:t>𝑁</m:t>
                                  </m:r>
                                </m:sup>
                                <m:e>
                                  <m:sSup>
                                    <m:sSupPr>
                                      <m:ctrlPr>
                                        <a:rPr lang="zh-CN" altLang="en-US" sz="1600" b="0" i="1" smtClean="0">
                                          <a:latin typeface="Cambria Math" panose="02040503050406030204" pitchFamily="18" charset="0"/>
                                        </a:rPr>
                                      </m:ctrlPr>
                                    </m:sSupPr>
                                    <m:e>
                                      <m:d>
                                        <m:dPr>
                                          <m:ctrlPr>
                                            <a:rPr lang="zh-CN" altLang="en-US" sz="1600" b="0" i="1" smtClean="0">
                                              <a:latin typeface="Cambria Math" panose="02040503050406030204" pitchFamily="18" charset="0"/>
                                            </a:rPr>
                                          </m:ctrlPr>
                                        </m:dPr>
                                        <m:e>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𝑌</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m:t>
                                          </m:r>
                                          <m:r>
                                            <a:rPr lang="zh-CN" altLang="en-US" sz="1600" b="1" i="1" smtClean="0">
                                              <a:latin typeface="Cambria Math" panose="02040503050406030204" pitchFamily="18" charset="0"/>
                                            </a:rPr>
                                            <m:t>𝐛</m:t>
                                          </m:r>
                                          <m:r>
                                            <a:rPr lang="zh-CN" altLang="en-US" sz="1600" b="0" i="1" smtClean="0">
                                              <a:latin typeface="Cambria Math" panose="02040503050406030204" pitchFamily="18" charset="0"/>
                                            </a:rPr>
                                            <m:t>′</m:t>
                                          </m:r>
                                          <m:r>
                                            <a:rPr lang="zh-CN" altLang="en-US" sz="1600" b="1" i="1" smtClean="0">
                                              <a:latin typeface="Cambria Math" panose="02040503050406030204" pitchFamily="18" charset="0"/>
                                            </a:rPr>
                                            <m:t>𝐱</m:t>
                                          </m:r>
                                          <m:r>
                                            <a:rPr lang="zh-CN" altLang="en-US" sz="1600" b="0" i="1" smtClean="0">
                                              <a:latin typeface="Cambria Math" panose="02040503050406030204" pitchFamily="18" charset="0"/>
                                            </a:rPr>
                                            <m:t>−</m:t>
                                          </m:r>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𝐷</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m:t>
                                          </m:r>
                                          <m:r>
                                            <a:rPr lang="zh-CN" altLang="en-US" sz="1600" b="1" i="1" smtClean="0">
                                              <a:latin typeface="Cambria Math" panose="02040503050406030204" pitchFamily="18" charset="0"/>
                                            </a:rPr>
                                            <m:t>𝐜</m:t>
                                          </m:r>
                                          <m:r>
                                            <a:rPr lang="zh-CN" altLang="en-US" sz="1600" b="0" i="1" smtClean="0">
                                              <a:latin typeface="Cambria Math" panose="02040503050406030204" pitchFamily="18" charset="0"/>
                                            </a:rPr>
                                            <m:t>′</m:t>
                                          </m:r>
                                          <m:r>
                                            <a:rPr lang="zh-CN" altLang="en-US" sz="1600" b="1" i="1" smtClean="0">
                                              <a:latin typeface="Cambria Math" panose="02040503050406030204" pitchFamily="18" charset="0"/>
                                            </a:rPr>
                                            <m:t>𝐱</m:t>
                                          </m:r>
                                        </m:e>
                                      </m:d>
                                    </m:e>
                                    <m:sup>
                                      <m:r>
                                        <a:rPr lang="zh-CN" altLang="en-US" sz="1600" b="0" i="1" smtClean="0">
                                          <a:latin typeface="Cambria Math" panose="02040503050406030204" pitchFamily="18" charset="0"/>
                                        </a:rPr>
                                        <m:t>2</m:t>
                                      </m:r>
                                    </m:sup>
                                  </m:sSup>
                                </m:e>
                              </m:nary>
                            </m:e>
                          </m:func>
                          <m:r>
                            <a:rPr lang="zh-CN" altLang="en-US" sz="1600" b="0" i="1" smtClean="0">
                              <a:latin typeface="Cambria Math" panose="02040503050406030204" pitchFamily="18" charset="0"/>
                            </a:rPr>
                            <m:t>𝐾</m:t>
                          </m:r>
                          <m:d>
                            <m:dPr>
                              <m:ctrlPr>
                                <a:rPr lang="zh-CN" altLang="en-US" sz="1600" b="0" i="1" smtClean="0">
                                  <a:latin typeface="Cambria Math" panose="02040503050406030204" pitchFamily="18" charset="0"/>
                                </a:rPr>
                              </m:ctrlPr>
                            </m:dPr>
                            <m:e>
                              <m:sSub>
                                <m:sSubPr>
                                  <m:ctrlPr>
                                    <a:rPr lang="zh-CN" altLang="en-US" sz="1600" b="0" i="1" smtClean="0">
                                      <a:latin typeface="Cambria Math" panose="02040503050406030204" pitchFamily="18" charset="0"/>
                                    </a:rPr>
                                  </m:ctrlPr>
                                </m:sSubPr>
                                <m:e>
                                  <m:r>
                                    <a:rPr lang="zh-CN" altLang="en-US" sz="1600" b="0" i="1" smtClean="0">
                                      <a:latin typeface="Cambria Math" panose="02040503050406030204" pitchFamily="18" charset="0"/>
                                    </a:rPr>
                                    <m:t>𝑥</m:t>
                                  </m:r>
                                </m:e>
                                <m:sub>
                                  <m:r>
                                    <a:rPr lang="zh-CN" altLang="en-US" sz="1600" b="0" i="1" smtClean="0">
                                      <a:latin typeface="Cambria Math" panose="02040503050406030204" pitchFamily="18" charset="0"/>
                                    </a:rPr>
                                    <m:t>𝑖</m:t>
                                  </m:r>
                                </m:sub>
                              </m:sSub>
                              <m:r>
                                <a:rPr lang="zh-CN" altLang="en-US" sz="1600" b="0" i="1" smtClean="0">
                                  <a:latin typeface="Cambria Math" panose="02040503050406030204" pitchFamily="18" charset="0"/>
                                </a:rPr>
                                <m:t>/</m:t>
                              </m:r>
                              <m:r>
                                <a:rPr lang="zh-CN" altLang="en-US" sz="1600" b="0" i="1" smtClean="0">
                                  <a:latin typeface="Cambria Math" panose="02040503050406030204" pitchFamily="18" charset="0"/>
                                </a:rPr>
                                <m:t>ℎ</m:t>
                              </m:r>
                            </m:e>
                          </m:d>
                          <m:r>
                            <a:rPr lang="zh-CN" altLang="en-US" sz="1600" b="0" i="1" smtClean="0">
                              <a:latin typeface="Cambria Math" panose="02040503050406030204" pitchFamily="18" charset="0"/>
                            </a:rPr>
                            <m:t>.</m:t>
                          </m:r>
                        </m:e>
                      </m:eqArr>
                    </m:oMath>
                  </m:oMathPara>
                </a14:m>
                <a:endParaRPr lang="zh-CN" altLang="en-US" sz="1600" dirty="0"/>
              </a:p>
            </p:txBody>
          </p:sp>
        </mc:Choice>
        <mc:Fallback>
          <p:sp>
            <p:nvSpPr>
              <p:cNvPr id="3" name="内容占位符 2">
                <a:extLst>
                  <a:ext uri="{FF2B5EF4-FFF2-40B4-BE49-F238E27FC236}">
                    <a16:creationId xmlns:a16="http://schemas.microsoft.com/office/drawing/2014/main" id="{E453EAF8-605E-2BDB-EBFF-8118660DC3A4}"/>
                  </a:ext>
                </a:extLst>
              </p:cNvPr>
              <p:cNvSpPr>
                <a:spLocks noGrp="1" noRot="1" noChangeAspect="1" noMove="1" noResize="1" noEditPoints="1" noAdjustHandles="1" noChangeArrowheads="1" noChangeShapeType="1" noTextEdit="1"/>
              </p:cNvSpPr>
              <p:nvPr>
                <p:ph idx="1"/>
              </p:nvPr>
            </p:nvSpPr>
            <p:spPr>
              <a:blipFill>
                <a:blip r:embed="rId2"/>
                <a:stretch>
                  <a:fillRect l="-386" t="-42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FAE681D-733B-8B63-6FAD-34164BF075F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581504C-C57A-72F3-6E01-9B3008CA9604}"/>
              </a:ext>
            </a:extLst>
          </p:cNvPr>
          <p:cNvSpPr>
            <a:spLocks noGrp="1"/>
          </p:cNvSpPr>
          <p:nvPr>
            <p:ph type="sldNum" sz="quarter" idx="12"/>
          </p:nvPr>
        </p:nvSpPr>
        <p:spPr/>
        <p:txBody>
          <a:bodyPr/>
          <a:lstStyle/>
          <a:p>
            <a:fld id="{D41FC515-8169-4A29-AA56-DBE520D5741B}" type="slidenum">
              <a:rPr lang="zh-CN" altLang="en-US" smtClean="0"/>
              <a:t>23</a:t>
            </a:fld>
            <a:endParaRPr lang="zh-CN" altLang="en-US"/>
          </a:p>
        </p:txBody>
      </p:sp>
    </p:spTree>
    <p:extLst>
      <p:ext uri="{BB962C8B-B14F-4D97-AF65-F5344CB8AC3E}">
        <p14:creationId xmlns:p14="http://schemas.microsoft.com/office/powerpoint/2010/main" val="3386970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06D6C6-03E4-EB40-439B-DA514CB95294}"/>
              </a:ext>
            </a:extLst>
          </p:cNvPr>
          <p:cNvSpPr>
            <a:spLocks noGrp="1"/>
          </p:cNvSpPr>
          <p:nvPr>
            <p:ph type="title"/>
          </p:nvPr>
        </p:nvSpPr>
        <p:spPr/>
        <p:txBody>
          <a:bodyPr/>
          <a:lstStyle/>
          <a:p>
            <a:r>
              <a:rPr lang="zh-CN" altLang="en-US" dirty="0"/>
              <a:t>断点回归设计的估计</a:t>
            </a:r>
          </a:p>
        </p:txBody>
      </p:sp>
      <p:sp>
        <p:nvSpPr>
          <p:cNvPr id="3" name="内容占位符 2">
            <a:extLst>
              <a:ext uri="{FF2B5EF4-FFF2-40B4-BE49-F238E27FC236}">
                <a16:creationId xmlns:a16="http://schemas.microsoft.com/office/drawing/2014/main" id="{6D578F55-8302-2FAD-09F4-34B02C3300B9}"/>
              </a:ext>
            </a:extLst>
          </p:cNvPr>
          <p:cNvSpPr>
            <a:spLocks noGrp="1"/>
          </p:cNvSpPr>
          <p:nvPr>
            <p:ph idx="1"/>
          </p:nvPr>
        </p:nvSpPr>
        <p:spPr/>
        <p:txBody>
          <a:bodyPr>
            <a:normAutofit/>
          </a:bodyPr>
          <a:lstStyle/>
          <a:p>
            <a:r>
              <a:rPr lang="en-US" altLang="zh-CN" sz="1600" dirty="0"/>
              <a:t>3. </a:t>
            </a:r>
            <a:r>
              <a:rPr lang="zh-CN" altLang="en-US" sz="1600" dirty="0"/>
              <a:t>多项式回归</a:t>
            </a:r>
            <a:r>
              <a:rPr lang="en-US" altLang="zh-CN" sz="1600" dirty="0"/>
              <a:t>(Polynomial Regression, LPR)</a:t>
            </a:r>
          </a:p>
          <a:p>
            <a:r>
              <a:rPr lang="zh-CN" altLang="en-US" sz="1600" dirty="0"/>
              <a:t>不建议使用。</a:t>
            </a:r>
            <a:r>
              <a:rPr lang="en-US" altLang="zh-CN" sz="1600" dirty="0"/>
              <a:t>Gelman and </a:t>
            </a:r>
            <a:r>
              <a:rPr lang="en-US" altLang="zh-CN" sz="1600" dirty="0" err="1"/>
              <a:t>Imbens</a:t>
            </a:r>
            <a:r>
              <a:rPr lang="en-US" altLang="zh-CN" sz="1600" dirty="0"/>
              <a:t> (2019) Why High-Order Polynomials </a:t>
            </a:r>
            <a:r>
              <a:rPr lang="en-US" altLang="zh-CN" sz="1600" dirty="0" err="1"/>
              <a:t>ShouldNot</a:t>
            </a:r>
            <a:r>
              <a:rPr lang="en-US" altLang="zh-CN" sz="1600" dirty="0"/>
              <a:t> Be Used in Regression Discontinuity Designs, JBES</a:t>
            </a:r>
          </a:p>
          <a:p>
            <a:endParaRPr lang="zh-CN" altLang="en-US" sz="1600" dirty="0"/>
          </a:p>
        </p:txBody>
      </p:sp>
      <p:sp>
        <p:nvSpPr>
          <p:cNvPr id="4" name="页脚占位符 3">
            <a:extLst>
              <a:ext uri="{FF2B5EF4-FFF2-40B4-BE49-F238E27FC236}">
                <a16:creationId xmlns:a16="http://schemas.microsoft.com/office/drawing/2014/main" id="{B561B4CA-E6B7-7783-7D5B-28BAD889674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984D5CD-00F0-EFA8-A14F-BD4993888119}"/>
              </a:ext>
            </a:extLst>
          </p:cNvPr>
          <p:cNvSpPr>
            <a:spLocks noGrp="1"/>
          </p:cNvSpPr>
          <p:nvPr>
            <p:ph type="sldNum" sz="quarter" idx="12"/>
          </p:nvPr>
        </p:nvSpPr>
        <p:spPr/>
        <p:txBody>
          <a:bodyPr/>
          <a:lstStyle/>
          <a:p>
            <a:fld id="{D41FC515-8169-4A29-AA56-DBE520D5741B}" type="slidenum">
              <a:rPr lang="zh-CN" altLang="en-US" smtClean="0"/>
              <a:t>24</a:t>
            </a:fld>
            <a:endParaRPr lang="zh-CN" altLang="en-US"/>
          </a:p>
        </p:txBody>
      </p:sp>
      <p:pic>
        <p:nvPicPr>
          <p:cNvPr id="7" name="图片 6">
            <a:extLst>
              <a:ext uri="{FF2B5EF4-FFF2-40B4-BE49-F238E27FC236}">
                <a16:creationId xmlns:a16="http://schemas.microsoft.com/office/drawing/2014/main" id="{C2651028-A70B-F595-DD5C-91C95D4040D3}"/>
              </a:ext>
            </a:extLst>
          </p:cNvPr>
          <p:cNvPicPr>
            <a:picLocks noChangeAspect="1"/>
          </p:cNvPicPr>
          <p:nvPr/>
        </p:nvPicPr>
        <p:blipFill>
          <a:blip r:embed="rId2"/>
          <a:stretch>
            <a:fillRect/>
          </a:stretch>
        </p:blipFill>
        <p:spPr>
          <a:xfrm>
            <a:off x="2492252" y="3008096"/>
            <a:ext cx="4159495" cy="3400554"/>
          </a:xfrm>
          <a:prstGeom prst="rect">
            <a:avLst/>
          </a:prstGeom>
        </p:spPr>
      </p:pic>
    </p:spTree>
    <p:extLst>
      <p:ext uri="{BB962C8B-B14F-4D97-AF65-F5344CB8AC3E}">
        <p14:creationId xmlns:p14="http://schemas.microsoft.com/office/powerpoint/2010/main" val="24630090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45B1BA-A6AC-1431-6DAF-318D3F15D6B0}"/>
              </a:ext>
            </a:extLst>
          </p:cNvPr>
          <p:cNvSpPr>
            <a:spLocks noGrp="1"/>
          </p:cNvSpPr>
          <p:nvPr>
            <p:ph type="title"/>
          </p:nvPr>
        </p:nvSpPr>
        <p:spPr/>
        <p:txBody>
          <a:bodyPr/>
          <a:lstStyle/>
          <a:p>
            <a:r>
              <a:rPr lang="zh-CN" altLang="en-US" dirty="0"/>
              <a:t>断点回归设计的估计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690B319-1164-130F-7B92-F38ACF9C0120}"/>
                  </a:ext>
                </a:extLst>
              </p:cNvPr>
              <p:cNvSpPr>
                <a:spLocks noGrp="1"/>
              </p:cNvSpPr>
              <p:nvPr>
                <p:ph idx="1"/>
              </p:nvPr>
            </p:nvSpPr>
            <p:spPr/>
            <p:txBody>
              <a:bodyPr>
                <a:normAutofit/>
              </a:bodyPr>
              <a:lstStyle/>
              <a:p>
                <a:r>
                  <a:rPr lang="en-US" altLang="zh-CN" sz="1600" dirty="0"/>
                  <a:t>4. </a:t>
                </a:r>
                <a:r>
                  <a:rPr lang="zh-CN" altLang="en-US" sz="1600" dirty="0"/>
                  <a:t>模糊断点回归的估计</a:t>
                </a:r>
                <a:endParaRPr lang="en-US" altLang="zh-CN" sz="1600" dirty="0"/>
              </a:p>
              <a:p>
                <a:pPr lvl="1"/>
                <a:r>
                  <a:rPr lang="zh-CN" altLang="en-US" sz="1600" dirty="0"/>
                  <a:t>首先利用结果变量对断点进行局部线性回归，得到估计量 𝜏𝑌̂ ：</a:t>
                </a:r>
                <a:endParaRPr lang="en-US" altLang="zh-CN" sz="1600" dirty="0"/>
              </a:p>
              <a:p>
                <a:pPr marL="457200" lvl="1" indent="0">
                  <a:buNone/>
                </a:pPr>
                <a14:m>
                  <m:oMathPara xmlns:m="http://schemas.openxmlformats.org/officeDocument/2006/math">
                    <m:oMath>
                      <m:eqArr>
                        <m:eqArrPr>
                          <m:ctrlPr>
                            <a:rPr lang="zh-CN" altLang="en-US" sz="1600" i="1" smtClean="0">
                              <a:latin typeface="Cambria Math" panose="02040503050406030204" pitchFamily="18" charset="0"/>
                            </a:rPr>
                          </m:ctrlPr>
                        </m:eqArrPr>
                        <m:e>
                          <m:func>
                            <m:funcPr>
                              <m:ctrlPr>
                                <a:rPr lang="zh-CN" altLang="en-US" sz="1600" i="1" smtClean="0">
                                  <a:latin typeface="Cambria Math" panose="02040503050406030204" pitchFamily="18" charset="0"/>
                                </a:rPr>
                              </m:ctrlPr>
                            </m:funcPr>
                            <m:fName>
                              <m:limLow>
                                <m:limLowPr>
                                  <m:ctrlPr>
                                    <a:rPr lang="zh-CN" altLang="en-US" sz="1600" i="1" smtClean="0">
                                      <a:latin typeface="Cambria Math" panose="02040503050406030204" pitchFamily="18" charset="0"/>
                                    </a:rPr>
                                  </m:ctrlPr>
                                </m:limLowPr>
                                <m:e>
                                  <m:r>
                                    <m:rPr>
                                      <m:sty m:val="p"/>
                                    </m:rPr>
                                    <a:rPr lang="zh-CN" altLang="en-US" sz="1600" i="1" smtClean="0">
                                      <a:latin typeface="Cambria Math" panose="02040503050406030204" pitchFamily="18" charset="0"/>
                                    </a:rPr>
                                    <m:t>min</m:t>
                                  </m:r>
                                </m:e>
                                <m:lim>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𝑎</m:t>
                                      </m:r>
                                    </m:e>
                                    <m:sub>
                                      <m:r>
                                        <a:rPr lang="zh-CN" altLang="en-US" sz="1600" i="1" smtClean="0">
                                          <a:latin typeface="Cambria Math" panose="02040503050406030204" pitchFamily="18" charset="0"/>
                                        </a:rPr>
                                        <m:t>𝑌</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𝑏</m:t>
                                      </m:r>
                                    </m:e>
                                    <m:sub>
                                      <m:r>
                                        <a:rPr lang="zh-CN" altLang="en-US" sz="1600" i="1" smtClean="0">
                                          <a:latin typeface="Cambria Math" panose="02040503050406030204" pitchFamily="18" charset="0"/>
                                        </a:rPr>
                                        <m:t>𝑌</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𝑌</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𝛾</m:t>
                                      </m:r>
                                    </m:e>
                                    <m:sub>
                                      <m:r>
                                        <a:rPr lang="zh-CN" altLang="en-US" sz="1600" i="1" smtClean="0">
                                          <a:latin typeface="Cambria Math" panose="02040503050406030204" pitchFamily="18" charset="0"/>
                                        </a:rPr>
                                        <m:t>𝑌</m:t>
                                      </m:r>
                                    </m:sub>
                                  </m:sSub>
                                </m:lim>
                              </m:limLow>
                            </m:fName>
                            <m:e>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=1</m:t>
                                  </m:r>
                                </m:sub>
                                <m:sup>
                                  <m:r>
                                    <a:rPr lang="zh-CN" altLang="en-US" sz="1600" i="1" smtClean="0">
                                      <a:latin typeface="Cambria Math" panose="02040503050406030204" pitchFamily="18" charset="0"/>
                                    </a:rPr>
                                    <m:t>𝑁</m:t>
                                  </m:r>
                                </m:sup>
                                <m:e>
                                  <m:r>
                                    <a:rPr lang="zh-CN" altLang="en-US" sz="1600" i="1" smtClean="0">
                                      <a:latin typeface="Cambria Math" panose="02040503050406030204" pitchFamily="18" charset="0"/>
                                    </a:rPr>
                                    <m:t>𝐾</m:t>
                                  </m:r>
                                </m:e>
                              </m:nary>
                            </m:e>
                          </m:func>
                          <m:d>
                            <m:dPr>
                              <m:ctrlPr>
                                <a:rPr lang="zh-CN" altLang="en-US" sz="1600" i="1" smtClean="0">
                                  <a:latin typeface="Cambria Math" panose="02040503050406030204" pitchFamily="18" charset="0"/>
                                </a:rPr>
                              </m:ctrlPr>
                            </m:dPr>
                            <m:e>
                              <m:f>
                                <m:fPr>
                                  <m:ctrlPr>
                                    <a:rPr lang="zh-CN" altLang="en-US" sz="1600" i="1" smtClean="0">
                                      <a:latin typeface="Cambria Math" panose="02040503050406030204" pitchFamily="18" charset="0"/>
                                    </a:rPr>
                                  </m:ctrlPr>
                                </m:fPr>
                                <m:num>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num>
                                <m:den>
                                  <m:r>
                                    <a:rPr lang="zh-CN" altLang="en-US" sz="1600" i="1" smtClean="0">
                                      <a:latin typeface="Cambria Math" panose="02040503050406030204" pitchFamily="18" charset="0"/>
                                    </a:rPr>
                                    <m:t>ℎ</m:t>
                                  </m:r>
                                </m:den>
                              </m:f>
                            </m:e>
                          </m:d>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𝑎</m:t>
                                      </m:r>
                                    </m:e>
                                    <m:sub>
                                      <m:r>
                                        <a:rPr lang="zh-CN" altLang="en-US" sz="1600" i="1" smtClean="0">
                                          <a:latin typeface="Cambria Math" panose="02040503050406030204" pitchFamily="18" charset="0"/>
                                        </a:rPr>
                                        <m:t>𝑌</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𝑏</m:t>
                                      </m:r>
                                    </m:e>
                                    <m:sub>
                                      <m:r>
                                        <a:rPr lang="zh-CN" altLang="en-US" sz="1600" i="1" smtClean="0">
                                          <a:latin typeface="Cambria Math" panose="02040503050406030204" pitchFamily="18" charset="0"/>
                                        </a:rPr>
                                        <m:t>𝑌</m:t>
                                      </m:r>
                                    </m:sub>
                                  </m:sSub>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𝑌</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𝛾</m:t>
                                      </m:r>
                                    </m:e>
                                    <m:sub>
                                      <m:r>
                                        <a:rPr lang="zh-CN" altLang="en-US" sz="1600" i="1" smtClean="0">
                                          <a:latin typeface="Cambria Math" panose="02040503050406030204" pitchFamily="18" charset="0"/>
                                        </a:rPr>
                                        <m:t>𝑌</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𝑖</m:t>
                                      </m:r>
                                    </m:sub>
                                  </m:sSub>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e>
                              </m:d>
                            </m:e>
                            <m:sup>
                              <m:r>
                                <a:rPr lang="zh-CN" altLang="en-US" sz="1600" i="1" smtClean="0">
                                  <a:latin typeface="Cambria Math" panose="02040503050406030204" pitchFamily="18" charset="0"/>
                                </a:rPr>
                                <m:t>2</m:t>
                              </m:r>
                            </m:sup>
                          </m:sSup>
                          <m:r>
                            <a:rPr lang="zh-CN" altLang="en-US" sz="1600" i="1" smtClean="0">
                              <a:latin typeface="Cambria Math" panose="02040503050406030204" pitchFamily="18" charset="0"/>
                            </a:rPr>
                            <m:t>,</m:t>
                          </m:r>
                        </m:e>
                      </m:eqArr>
                      <m:r>
                        <a:rPr lang="en-US" altLang="zh-CN" sz="1600" b="0" i="1" smtClean="0">
                          <a:latin typeface="Cambria Math" panose="02040503050406030204" pitchFamily="18" charset="0"/>
                        </a:rPr>
                        <m:t>(17)</m:t>
                      </m:r>
                    </m:oMath>
                  </m:oMathPara>
                </a14:m>
                <a:endParaRPr lang="en-US" altLang="zh-CN" sz="1600" dirty="0"/>
              </a:p>
              <a:p>
                <a:pPr marL="457200" lvl="1" indent="0">
                  <a:buNone/>
                </a:pPr>
                <a:r>
                  <a:rPr lang="zh-CN" altLang="en-US" sz="1600" dirty="0"/>
                  <a:t>其中 𝑇𝑖 </a:t>
                </a:r>
                <a:r>
                  <a:rPr lang="en-US" altLang="zh-CN" sz="1600" dirty="0"/>
                  <a:t>= 1(</a:t>
                </a:r>
                <a:r>
                  <a:rPr lang="zh-CN" altLang="en-US" sz="1600" dirty="0"/>
                  <a:t>𝑋𝑖 ≥ 𝑥</a:t>
                </a:r>
                <a:r>
                  <a:rPr lang="en-US" altLang="zh-CN" sz="1600" dirty="0"/>
                  <a:t>0)</a:t>
                </a:r>
                <a:r>
                  <a:rPr lang="zh-CN" altLang="en-US" sz="1600" dirty="0"/>
                  <a:t>，然后利用原因变量对断点进行局部线性回归，得到 𝜏𝐷̂ ：</a:t>
                </a:r>
                <a:endParaRPr lang="en-US" altLang="zh-CN" sz="1600" dirty="0"/>
              </a:p>
              <a:p>
                <a:pPr marL="457200" lvl="1" indent="0">
                  <a:buNone/>
                </a:pPr>
                <a14:m>
                  <m:oMathPara xmlns:m="http://schemas.openxmlformats.org/officeDocument/2006/math">
                    <m:oMath>
                      <m:eqArr>
                        <m:eqArrPr>
                          <m:ctrlPr>
                            <a:rPr lang="zh-CN" altLang="en-US" sz="1600" i="1" smtClean="0">
                              <a:latin typeface="Cambria Math" panose="02040503050406030204" pitchFamily="18" charset="0"/>
                            </a:rPr>
                          </m:ctrlPr>
                        </m:eqArrPr>
                        <m:e>
                          <m:func>
                            <m:funcPr>
                              <m:ctrlPr>
                                <a:rPr lang="zh-CN" altLang="en-US" sz="1600" i="1" smtClean="0">
                                  <a:latin typeface="Cambria Math" panose="02040503050406030204" pitchFamily="18" charset="0"/>
                                </a:rPr>
                              </m:ctrlPr>
                            </m:funcPr>
                            <m:fName>
                              <m:limLow>
                                <m:limLowPr>
                                  <m:ctrlPr>
                                    <a:rPr lang="zh-CN" altLang="en-US" sz="1600" i="1" smtClean="0">
                                      <a:latin typeface="Cambria Math" panose="02040503050406030204" pitchFamily="18" charset="0"/>
                                    </a:rPr>
                                  </m:ctrlPr>
                                </m:limLowPr>
                                <m:e>
                                  <m:r>
                                    <m:rPr>
                                      <m:sty m:val="p"/>
                                    </m:rPr>
                                    <a:rPr lang="zh-CN" altLang="en-US" sz="1600" i="1" smtClean="0">
                                      <a:latin typeface="Cambria Math" panose="02040503050406030204" pitchFamily="18" charset="0"/>
                                    </a:rPr>
                                    <m:t>min</m:t>
                                  </m:r>
                                </m:e>
                                <m:lim>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𝑎</m:t>
                                      </m:r>
                                    </m:e>
                                    <m:sub>
                                      <m:r>
                                        <a:rPr lang="zh-CN" altLang="en-US" sz="1600" i="1" smtClean="0">
                                          <a:latin typeface="Cambria Math" panose="02040503050406030204" pitchFamily="18" charset="0"/>
                                        </a:rPr>
                                        <m:t>𝐷</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𝑏</m:t>
                                      </m:r>
                                    </m:e>
                                    <m:sub>
                                      <m:r>
                                        <a:rPr lang="zh-CN" altLang="en-US" sz="1600" i="1" smtClean="0">
                                          <a:latin typeface="Cambria Math" panose="02040503050406030204" pitchFamily="18" charset="0"/>
                                        </a:rPr>
                                        <m:t>𝐷</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𝐷</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𝛾</m:t>
                                      </m:r>
                                    </m:e>
                                    <m:sub>
                                      <m:r>
                                        <a:rPr lang="zh-CN" altLang="en-US" sz="1600" i="1" smtClean="0">
                                          <a:latin typeface="Cambria Math" panose="02040503050406030204" pitchFamily="18" charset="0"/>
                                        </a:rPr>
                                        <m:t>𝐷</m:t>
                                      </m:r>
                                    </m:sub>
                                  </m:sSub>
                                </m:lim>
                              </m:limLow>
                            </m:fName>
                            <m:e>
                              <m:nary>
                                <m:naryPr>
                                  <m:chr m:val="∑"/>
                                  <m:limLoc m:val="undOvr"/>
                                  <m:ctrlPr>
                                    <a:rPr lang="zh-CN" altLang="en-US" sz="1600" i="1" smtClean="0">
                                      <a:latin typeface="Cambria Math" panose="02040503050406030204" pitchFamily="18" charset="0"/>
                                    </a:rPr>
                                  </m:ctrlPr>
                                </m:naryPr>
                                <m:sub>
                                  <m:r>
                                    <a:rPr lang="zh-CN" altLang="en-US" sz="1600" i="1" smtClean="0">
                                      <a:latin typeface="Cambria Math" panose="02040503050406030204" pitchFamily="18" charset="0"/>
                                    </a:rPr>
                                    <m:t>𝑖</m:t>
                                  </m:r>
                                  <m:r>
                                    <a:rPr lang="zh-CN" altLang="en-US" sz="1600" i="1" smtClean="0">
                                      <a:latin typeface="Cambria Math" panose="02040503050406030204" pitchFamily="18" charset="0"/>
                                    </a:rPr>
                                    <m:t>=1</m:t>
                                  </m:r>
                                </m:sub>
                                <m:sup>
                                  <m:r>
                                    <a:rPr lang="zh-CN" altLang="en-US" sz="1600" i="1" smtClean="0">
                                      <a:latin typeface="Cambria Math" panose="02040503050406030204" pitchFamily="18" charset="0"/>
                                    </a:rPr>
                                    <m:t>𝑁</m:t>
                                  </m:r>
                                </m:sup>
                                <m:e>
                                  <m:r>
                                    <a:rPr lang="zh-CN" altLang="en-US" sz="1600" i="1" smtClean="0">
                                      <a:latin typeface="Cambria Math" panose="02040503050406030204" pitchFamily="18" charset="0"/>
                                    </a:rPr>
                                    <m:t>𝐾</m:t>
                                  </m:r>
                                </m:e>
                              </m:nary>
                            </m:e>
                          </m:func>
                          <m:d>
                            <m:dPr>
                              <m:ctrlPr>
                                <a:rPr lang="zh-CN" altLang="en-US" sz="1600" i="1" smtClean="0">
                                  <a:latin typeface="Cambria Math" panose="02040503050406030204" pitchFamily="18" charset="0"/>
                                </a:rPr>
                              </m:ctrlPr>
                            </m:dPr>
                            <m:e>
                              <m:f>
                                <m:fPr>
                                  <m:ctrlPr>
                                    <a:rPr lang="zh-CN" altLang="en-US" sz="1600" i="1" smtClean="0">
                                      <a:latin typeface="Cambria Math" panose="02040503050406030204" pitchFamily="18" charset="0"/>
                                    </a:rPr>
                                  </m:ctrlPr>
                                </m:fPr>
                                <m:num>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num>
                                <m:den>
                                  <m:r>
                                    <a:rPr lang="zh-CN" altLang="en-US" sz="1600" i="1" smtClean="0">
                                      <a:latin typeface="Cambria Math" panose="02040503050406030204" pitchFamily="18" charset="0"/>
                                    </a:rPr>
                                    <m:t>ℎ</m:t>
                                  </m:r>
                                </m:den>
                              </m:f>
                            </m:e>
                          </m:d>
                          <m:r>
                            <a:rPr lang="zh-CN" altLang="en-US" sz="1600" i="1" smtClean="0">
                              <a:latin typeface="Cambria Math" panose="02040503050406030204" pitchFamily="18" charset="0"/>
                            </a:rPr>
                            <m:t>⋅</m:t>
                          </m:r>
                          <m:sSup>
                            <m:sSupPr>
                              <m:ctrlPr>
                                <a:rPr lang="zh-CN" altLang="en-US" sz="1600" i="1" smtClean="0">
                                  <a:latin typeface="Cambria Math" panose="02040503050406030204" pitchFamily="18" charset="0"/>
                                </a:rPr>
                              </m:ctrlPr>
                            </m:sSupPr>
                            <m:e>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𝑎</m:t>
                                      </m:r>
                                    </m:e>
                                    <m:sub>
                                      <m:r>
                                        <a:rPr lang="zh-CN" altLang="en-US" sz="1600" i="1" smtClean="0">
                                          <a:latin typeface="Cambria Math" panose="02040503050406030204" pitchFamily="18" charset="0"/>
                                        </a:rPr>
                                        <m:t>𝐷</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𝑏</m:t>
                                      </m:r>
                                    </m:e>
                                    <m:sub>
                                      <m:r>
                                        <a:rPr lang="zh-CN" altLang="en-US" sz="1600" i="1" smtClean="0">
                                          <a:latin typeface="Cambria Math" panose="02040503050406030204" pitchFamily="18" charset="0"/>
                                        </a:rPr>
                                        <m:t>𝐷</m:t>
                                      </m:r>
                                    </m:sub>
                                  </m:sSub>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𝜏</m:t>
                                      </m:r>
                                    </m:e>
                                    <m:sub>
                                      <m:r>
                                        <a:rPr lang="zh-CN" altLang="en-US" sz="1600" i="1" smtClean="0">
                                          <a:latin typeface="Cambria Math" panose="02040503050406030204" pitchFamily="18" charset="0"/>
                                        </a:rPr>
                                        <m:t>𝐷</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𝛾</m:t>
                                      </m:r>
                                    </m:e>
                                    <m:sub>
                                      <m:r>
                                        <a:rPr lang="zh-CN" altLang="en-US" sz="1600" i="1" smtClean="0">
                                          <a:latin typeface="Cambria Math" panose="02040503050406030204" pitchFamily="18" charset="0"/>
                                        </a:rPr>
                                        <m:t>𝐷</m:t>
                                      </m:r>
                                    </m:sub>
                                  </m:sSub>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𝑖</m:t>
                                      </m:r>
                                    </m:sub>
                                  </m:sSub>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e>
                              </m:d>
                            </m:e>
                            <m:sup>
                              <m:r>
                                <a:rPr lang="zh-CN" altLang="en-US" sz="1600" i="1" smtClean="0">
                                  <a:latin typeface="Cambria Math" panose="02040503050406030204" pitchFamily="18" charset="0"/>
                                </a:rPr>
                                <m:t>2</m:t>
                              </m:r>
                            </m:sup>
                          </m:sSup>
                          <m:r>
                            <a:rPr lang="zh-CN" altLang="en-US" sz="1600" i="1" smtClean="0">
                              <a:latin typeface="Cambria Math" panose="02040503050406030204" pitchFamily="18" charset="0"/>
                            </a:rPr>
                            <m:t>,</m:t>
                          </m:r>
                        </m:e>
                      </m:eqArr>
                      <m:r>
                        <a:rPr lang="en-US" altLang="zh-CN" sz="1600" b="0" i="1" smtClean="0">
                          <a:latin typeface="Cambria Math" panose="02040503050406030204" pitchFamily="18" charset="0"/>
                        </a:rPr>
                        <m:t>(18)</m:t>
                      </m:r>
                    </m:oMath>
                  </m:oMathPara>
                </a14:m>
                <a:endParaRPr lang="en-US" altLang="zh-CN" sz="1600" dirty="0"/>
              </a:p>
              <a:p>
                <a:pPr lvl="1"/>
                <a:r>
                  <a:rPr lang="zh-CN" altLang="en-US" sz="1600" dirty="0"/>
                  <a:t>相应的模糊断点回归估计量为：</a:t>
                </a:r>
                <a:endParaRPr lang="en-US" altLang="zh-CN" sz="1600" dirty="0"/>
              </a:p>
              <a:p>
                <a:pPr marL="457200" lvl="1" indent="0">
                  <a:buNone/>
                </a:pPr>
                <a14:m>
                  <m:oMathPara xmlns:m="http://schemas.openxmlformats.org/officeDocument/2006/math">
                    <m:oMath>
                      <m:eqArr>
                        <m:eqArrPr>
                          <m:ctrlPr>
                            <a:rPr lang="zh-CN" altLang="en-US" sz="1600" i="1" dirty="0">
                              <a:latin typeface="Cambria Math" panose="02040503050406030204" pitchFamily="18" charset="0"/>
                            </a:rPr>
                          </m:ctrlPr>
                        </m:eqArrPr>
                        <m:e>
                          <m:sSubSup>
                            <m:sSubSupPr>
                              <m:ctrlPr>
                                <a:rPr lang="zh-CN" altLang="en-US" sz="1600" i="1" dirty="0">
                                  <a:latin typeface="Cambria Math" panose="02040503050406030204" pitchFamily="18" charset="0"/>
                                </a:rPr>
                              </m:ctrlPr>
                            </m:sSubSupPr>
                            <m:e>
                              <m:acc>
                                <m:accPr>
                                  <m:chr m:val="̂"/>
                                  <m:ctrlPr>
                                    <a:rPr lang="zh-CN" altLang="en-US" sz="1600" i="1" dirty="0">
                                      <a:latin typeface="Cambria Math" panose="02040503050406030204" pitchFamily="18" charset="0"/>
                                    </a:rPr>
                                  </m:ctrlPr>
                                </m:accPr>
                                <m:e>
                                  <m:r>
                                    <a:rPr lang="zh-CN" altLang="en-US" sz="1600" i="1" dirty="0">
                                      <a:latin typeface="Cambria Math" panose="02040503050406030204" pitchFamily="18" charset="0"/>
                                    </a:rPr>
                                    <m:t>𝜏</m:t>
                                  </m:r>
                                </m:e>
                              </m:acc>
                            </m:e>
                            <m:sub>
                              <m:r>
                                <a:rPr lang="zh-CN" altLang="en-US" sz="1600" i="1" dirty="0">
                                  <a:latin typeface="Cambria Math" panose="02040503050406030204" pitchFamily="18" charset="0"/>
                                </a:rPr>
                                <m:t>𝐿𝐴𝑇𝐸</m:t>
                              </m:r>
                            </m:sub>
                            <m:sup>
                              <m:r>
                                <a:rPr lang="zh-CN" altLang="en-US" sz="1600" i="1" dirty="0">
                                  <a:latin typeface="Cambria Math" panose="02040503050406030204" pitchFamily="18" charset="0"/>
                                </a:rPr>
                                <m:t>𝐹𝑅𝐷</m:t>
                              </m:r>
                            </m:sup>
                          </m:sSubSup>
                          <m:r>
                            <a:rPr lang="zh-CN" altLang="en-US" sz="1600" i="0" dirty="0">
                              <a:latin typeface="Cambria Math" panose="02040503050406030204" pitchFamily="18" charset="0"/>
                            </a:rPr>
                            <m:t>=</m:t>
                          </m:r>
                          <m:f>
                            <m:fPr>
                              <m:ctrlPr>
                                <a:rPr lang="zh-CN" altLang="en-US" sz="1600" i="1" dirty="0">
                                  <a:latin typeface="Cambria Math" panose="02040503050406030204" pitchFamily="18" charset="0"/>
                                </a:rPr>
                              </m:ctrlPr>
                            </m:fPr>
                            <m:num>
                              <m:sSub>
                                <m:sSubPr>
                                  <m:ctrlPr>
                                    <a:rPr lang="zh-CN" altLang="en-US" sz="1600" i="1" dirty="0">
                                      <a:latin typeface="Cambria Math" panose="02040503050406030204" pitchFamily="18" charset="0"/>
                                    </a:rPr>
                                  </m:ctrlPr>
                                </m:sSubPr>
                                <m:e>
                                  <m:acc>
                                    <m:accPr>
                                      <m:chr m:val="̂"/>
                                      <m:ctrlPr>
                                        <a:rPr lang="zh-CN" altLang="en-US" sz="1600" i="1" dirty="0">
                                          <a:latin typeface="Cambria Math" panose="02040503050406030204" pitchFamily="18" charset="0"/>
                                        </a:rPr>
                                      </m:ctrlPr>
                                    </m:accPr>
                                    <m:e>
                                      <m:r>
                                        <a:rPr lang="zh-CN" altLang="en-US" sz="1600" i="1" dirty="0">
                                          <a:latin typeface="Cambria Math" panose="02040503050406030204" pitchFamily="18" charset="0"/>
                                        </a:rPr>
                                        <m:t>𝜏</m:t>
                                      </m:r>
                                    </m:e>
                                  </m:acc>
                                </m:e>
                                <m:sub>
                                  <m:r>
                                    <a:rPr lang="zh-CN" altLang="en-US" sz="1600" i="1" dirty="0">
                                      <a:latin typeface="Cambria Math" panose="02040503050406030204" pitchFamily="18" charset="0"/>
                                    </a:rPr>
                                    <m:t>𝑌</m:t>
                                  </m:r>
                                </m:sub>
                              </m:sSub>
                            </m:num>
                            <m:den>
                              <m:sSub>
                                <m:sSubPr>
                                  <m:ctrlPr>
                                    <a:rPr lang="zh-CN" altLang="en-US" sz="1600" i="1" dirty="0">
                                      <a:latin typeface="Cambria Math" panose="02040503050406030204" pitchFamily="18" charset="0"/>
                                    </a:rPr>
                                  </m:ctrlPr>
                                </m:sSubPr>
                                <m:e>
                                  <m:acc>
                                    <m:accPr>
                                      <m:chr m:val="̂"/>
                                      <m:ctrlPr>
                                        <a:rPr lang="zh-CN" altLang="en-US" sz="1600" i="1" dirty="0">
                                          <a:latin typeface="Cambria Math" panose="02040503050406030204" pitchFamily="18" charset="0"/>
                                        </a:rPr>
                                      </m:ctrlPr>
                                    </m:accPr>
                                    <m:e>
                                      <m:r>
                                        <a:rPr lang="zh-CN" altLang="en-US" sz="1600" i="1" dirty="0">
                                          <a:latin typeface="Cambria Math" panose="02040503050406030204" pitchFamily="18" charset="0"/>
                                        </a:rPr>
                                        <m:t>𝜏</m:t>
                                      </m:r>
                                    </m:e>
                                  </m:acc>
                                </m:e>
                                <m:sub>
                                  <m:r>
                                    <a:rPr lang="zh-CN" altLang="en-US" sz="1600" i="1" dirty="0">
                                      <a:latin typeface="Cambria Math" panose="02040503050406030204" pitchFamily="18" charset="0"/>
                                    </a:rPr>
                                    <m:t>𝐷</m:t>
                                  </m:r>
                                </m:sub>
                              </m:sSub>
                            </m:den>
                          </m:f>
                          <m:r>
                            <a:rPr lang="zh-CN" altLang="en-US" sz="1600" i="0" dirty="0">
                              <a:latin typeface="Cambria Math" panose="02040503050406030204" pitchFamily="18" charset="0"/>
                            </a:rPr>
                            <m:t>.</m:t>
                          </m:r>
                        </m:e>
                      </m:eqArr>
                      <m:r>
                        <a:rPr lang="en-US" altLang="zh-CN" sz="1600" b="0" i="1" dirty="0" smtClean="0">
                          <a:latin typeface="Cambria Math" panose="02040503050406030204" pitchFamily="18" charset="0"/>
                        </a:rPr>
                        <m:t>                                                                                                     (19)</m:t>
                      </m:r>
                    </m:oMath>
                  </m:oMathPara>
                </a14:m>
                <a:endParaRPr lang="en-US" altLang="zh-CN" sz="1600" dirty="0"/>
              </a:p>
              <a:p>
                <a:pPr lvl="1"/>
                <a:r>
                  <a:rPr lang="en-US" altLang="zh-CN" sz="1600" dirty="0" err="1"/>
                  <a:t>Imbens</a:t>
                </a:r>
                <a:r>
                  <a:rPr lang="en-US" altLang="zh-CN" sz="1600" dirty="0"/>
                  <a:t> and Lemieux (2008)</a:t>
                </a:r>
              </a:p>
              <a:p>
                <a:pPr marL="457200" lvl="1" indent="0">
                  <a:buNone/>
                </a:pPr>
                <a14:m>
                  <m:oMathPara xmlns:m="http://schemas.openxmlformats.org/officeDocument/2006/math">
                    <m:oMath>
                      <m:eqArr>
                        <m:eqArrPr>
                          <m:ctrlPr>
                            <a:rPr lang="zh-CN" altLang="en-US" sz="1600" i="1" smtClean="0">
                              <a:latin typeface="Cambria Math" panose="02040503050406030204" pitchFamily="18" charset="0"/>
                            </a:rPr>
                          </m:ctrlPr>
                        </m:eqArr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𝑌</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𝛼</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𝜏</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𝐷</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r>
                            <a:rPr lang="zh-CN" altLang="en-US" sz="1600" i="1" smtClean="0">
                              <a:latin typeface="Cambria Math" panose="02040503050406030204" pitchFamily="18" charset="0"/>
                            </a:rPr>
                            <m:t>𝛽</m:t>
                          </m:r>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r>
                            <a:rPr lang="zh-CN" altLang="en-US" sz="1600" i="1" smtClean="0">
                              <a:latin typeface="Cambria Math" panose="02040503050406030204" pitchFamily="18" charset="0"/>
                            </a:rPr>
                            <m:t>+</m:t>
                          </m:r>
                          <m:r>
                            <a:rPr lang="zh-CN" altLang="en-US" sz="1600" i="1" smtClean="0">
                              <a:latin typeface="Cambria Math" panose="02040503050406030204" pitchFamily="18" charset="0"/>
                            </a:rPr>
                            <m:t>𝛿</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𝑇</m:t>
                              </m:r>
                            </m:e>
                            <m:sub>
                              <m:r>
                                <a:rPr lang="zh-CN" altLang="en-US" sz="1600" i="1" smtClean="0">
                                  <a:latin typeface="Cambria Math" panose="02040503050406030204" pitchFamily="18" charset="0"/>
                                </a:rPr>
                                <m:t>𝑖</m:t>
                              </m:r>
                            </m:sub>
                          </m:sSub>
                          <m:d>
                            <m:dPr>
                              <m:ctrlPr>
                                <a:rPr lang="zh-CN" altLang="en-US" sz="1600" i="1" smtClean="0">
                                  <a:latin typeface="Cambria Math" panose="02040503050406030204" pitchFamily="18" charset="0"/>
                                </a:rPr>
                              </m:ctrlPr>
                            </m:dPr>
                            <m:e>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𝑋</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𝑥</m:t>
                                  </m:r>
                                </m:e>
                                <m:sub>
                                  <m:r>
                                    <a:rPr lang="zh-CN" altLang="en-US" sz="1600" i="1" smtClean="0">
                                      <a:latin typeface="Cambria Math" panose="02040503050406030204" pitchFamily="18" charset="0"/>
                                    </a:rPr>
                                    <m:t>0</m:t>
                                  </m:r>
                                </m:sub>
                              </m:sSub>
                            </m:e>
                          </m:d>
                          <m:r>
                            <a:rPr lang="zh-CN" altLang="en-US" sz="1600" i="1" smtClean="0">
                              <a:latin typeface="Cambria Math" panose="02040503050406030204" pitchFamily="18" charset="0"/>
                            </a:rPr>
                            <m:t>+</m:t>
                          </m:r>
                          <m:sSub>
                            <m:sSubPr>
                              <m:ctrlPr>
                                <a:rPr lang="zh-CN" altLang="en-US" sz="1600" i="1" smtClean="0">
                                  <a:latin typeface="Cambria Math" panose="02040503050406030204" pitchFamily="18" charset="0"/>
                                </a:rPr>
                              </m:ctrlPr>
                            </m:sSubPr>
                            <m:e>
                              <m:r>
                                <a:rPr lang="zh-CN" altLang="en-US" sz="1600" i="1" smtClean="0">
                                  <a:latin typeface="Cambria Math" panose="02040503050406030204" pitchFamily="18" charset="0"/>
                                </a:rPr>
                                <m:t>𝜀</m:t>
                              </m:r>
                            </m:e>
                            <m:sub>
                              <m:r>
                                <a:rPr lang="zh-CN" altLang="en-US" sz="1600" i="1" smtClean="0">
                                  <a:latin typeface="Cambria Math" panose="02040503050406030204" pitchFamily="18" charset="0"/>
                                </a:rPr>
                                <m:t>𝑖</m:t>
                              </m:r>
                            </m:sub>
                          </m:sSub>
                          <m:r>
                            <a:rPr lang="zh-CN" altLang="en-US" sz="1600" i="1" smtClean="0">
                              <a:latin typeface="Cambria Math" panose="02040503050406030204" pitchFamily="18" charset="0"/>
                            </a:rPr>
                            <m:t>,</m:t>
                          </m:r>
                        </m:e>
                      </m:eqArr>
                      <m:r>
                        <a:rPr lang="en-US" altLang="zh-CN" sz="1600" b="0" i="1" smtClean="0">
                          <a:latin typeface="Cambria Math" panose="02040503050406030204" pitchFamily="18" charset="0"/>
                        </a:rPr>
                        <m:t>                                   (20)</m:t>
                      </m:r>
                    </m:oMath>
                  </m:oMathPara>
                </a14:m>
                <a:endParaRPr lang="en-US" altLang="zh-CN" sz="1600" dirty="0"/>
              </a:p>
              <a:p>
                <a:pPr marL="457200" lvl="1" indent="0">
                  <a:buNone/>
                </a:pPr>
                <a:r>
                  <a:rPr lang="zh-CN" altLang="en-US" sz="1600" dirty="0"/>
                  <a:t>其中第一阶段回归为</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𝐷</m:t>
                        </m:r>
                      </m:e>
                      <m:sub>
                        <m:r>
                          <a:rPr lang="zh-CN" altLang="en-US" sz="1600" i="1" dirty="0" smtClean="0">
                            <a:latin typeface="Cambria Math" panose="02040503050406030204" pitchFamily="18" charset="0"/>
                          </a:rPr>
                          <m:t>𝑖</m:t>
                        </m:r>
                      </m:sub>
                    </m:sSub>
                    <m:r>
                      <a:rPr lang="zh-CN" altLang="en-US" sz="1600" i="1" dirty="0" smtClean="0">
                        <a:latin typeface="Cambria Math" panose="02040503050406030204" pitchFamily="18" charset="0"/>
                      </a:rPr>
                      <m:t> </m:t>
                    </m:r>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𝑎</m:t>
                        </m:r>
                      </m:e>
                      <m:sub>
                        <m:r>
                          <a:rPr lang="zh-CN" altLang="en-US" sz="1600" i="1" dirty="0">
                            <a:latin typeface="Cambria Math" panose="02040503050406030204" pitchFamily="18" charset="0"/>
                          </a:rPr>
                          <m:t>𝐷</m:t>
                        </m:r>
                      </m:sub>
                    </m:sSub>
                    <m:r>
                      <a:rPr lang="zh-CN" altLang="en-US" sz="1600" i="1" dirty="0">
                        <a:latin typeface="Cambria Math" panose="02040503050406030204" pitchFamily="18" charset="0"/>
                      </a:rPr>
                      <m:t> </m:t>
                    </m:r>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𝜏</m:t>
                        </m:r>
                      </m:e>
                      <m:sub>
                        <m:r>
                          <a:rPr lang="zh-CN" altLang="en-US" sz="1600" i="1" dirty="0">
                            <a:latin typeface="Cambria Math" panose="02040503050406030204" pitchFamily="18" charset="0"/>
                          </a:rPr>
                          <m:t>𝐷</m:t>
                        </m:r>
                      </m:sub>
                    </m:s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𝑇</m:t>
                        </m:r>
                      </m:e>
                      <m:sub>
                        <m:r>
                          <a:rPr lang="zh-CN" altLang="en-US" sz="1600" i="1" dirty="0">
                            <a:latin typeface="Cambria Math" panose="02040503050406030204" pitchFamily="18" charset="0"/>
                          </a:rPr>
                          <m:t>𝑖</m:t>
                        </m:r>
                      </m:sub>
                    </m:sSub>
                    <m:r>
                      <a:rPr lang="zh-CN" altLang="en-US" sz="1600" i="1" dirty="0">
                        <a:latin typeface="Cambria Math" panose="02040503050406030204" pitchFamily="18" charset="0"/>
                      </a:rPr>
                      <m:t> </m:t>
                    </m:r>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𝑏</m:t>
                        </m:r>
                      </m:e>
                      <m:sub>
                        <m:r>
                          <a:rPr lang="zh-CN" altLang="en-US" sz="1600" i="1" dirty="0">
                            <a:latin typeface="Cambria Math" panose="02040503050406030204" pitchFamily="18" charset="0"/>
                          </a:rPr>
                          <m:t>𝐷</m:t>
                        </m:r>
                      </m:sub>
                    </m:sSub>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zh-CN" altLang="en-US" sz="1600" i="1" dirty="0">
                            <a:latin typeface="Cambria Math" panose="02040503050406030204" pitchFamily="18" charset="0"/>
                          </a:rPr>
                          <m:t>𝑖</m:t>
                        </m:r>
                      </m:sub>
                    </m:sSub>
                    <m:r>
                      <a:rPr lang="zh-CN" altLang="en-US" sz="1600" i="1" dirty="0">
                        <a:latin typeface="Cambria Math" panose="02040503050406030204" pitchFamily="18" charset="0"/>
                      </a:rPr>
                      <m:t>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𝑥</m:t>
                        </m:r>
                      </m:e>
                      <m:sub>
                        <m:r>
                          <a:rPr lang="en-US" altLang="zh-CN" sz="1600" i="1" dirty="0">
                            <a:latin typeface="Cambria Math" panose="02040503050406030204" pitchFamily="18" charset="0"/>
                          </a:rPr>
                          <m:t>0</m:t>
                        </m:r>
                      </m:sub>
                    </m:sSub>
                    <m:r>
                      <a:rPr lang="en-US" altLang="zh-CN" sz="1600" i="1" dirty="0">
                        <a:latin typeface="Cambria Math" panose="02040503050406030204" pitchFamily="18" charset="0"/>
                      </a:rPr>
                      <m:t>)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𝛾</m:t>
                        </m:r>
                      </m:e>
                      <m:sub>
                        <m:r>
                          <a:rPr lang="zh-CN" altLang="en-US" sz="1600" i="1" dirty="0">
                            <a:latin typeface="Cambria Math" panose="02040503050406030204" pitchFamily="18" charset="0"/>
                          </a:rPr>
                          <m:t>𝐷</m:t>
                        </m:r>
                      </m:sub>
                    </m:s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𝑇</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zh-CN" altLang="en-US" sz="1600" i="1" dirty="0">
                            <a:latin typeface="Cambria Math" panose="02040503050406030204" pitchFamily="18" charset="0"/>
                          </a:rPr>
                          <m:t>𝑖</m:t>
                        </m:r>
                      </m:sub>
                    </m:sSub>
                    <m:r>
                      <a:rPr lang="zh-CN" altLang="en-US" sz="1600" i="1" dirty="0">
                        <a:latin typeface="Cambria Math" panose="02040503050406030204" pitchFamily="18" charset="0"/>
                      </a:rPr>
                      <m:t>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𝑥</m:t>
                        </m:r>
                      </m:e>
                      <m:sub>
                        <m:r>
                          <a:rPr lang="en-US" altLang="zh-CN" sz="1600" i="1" dirty="0">
                            <a:latin typeface="Cambria Math" panose="02040503050406030204" pitchFamily="18" charset="0"/>
                          </a:rPr>
                          <m:t>0</m:t>
                        </m:r>
                      </m:sub>
                    </m:sSub>
                    <m:r>
                      <a:rPr lang="en-US" altLang="zh-CN" sz="1600" i="1" dirty="0">
                        <a:latin typeface="Cambria Math" panose="02040503050406030204" pitchFamily="18" charset="0"/>
                      </a:rPr>
                      <m:t>)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𝜉</m:t>
                        </m:r>
                      </m:e>
                      <m:sub>
                        <m:r>
                          <a:rPr lang="zh-CN" altLang="en-US" sz="1600" i="1" dirty="0">
                            <a:latin typeface="Cambria Math" panose="02040503050406030204" pitchFamily="18" charset="0"/>
                          </a:rPr>
                          <m:t>𝑖</m:t>
                        </m:r>
                      </m:sub>
                    </m:sSub>
                  </m:oMath>
                </a14:m>
                <a:r>
                  <a:rPr lang="zh-CN" altLang="en-US" sz="1600" dirty="0"/>
                  <a:t>。</a:t>
                </a:r>
                <a:endParaRPr lang="en-US" altLang="zh-CN" sz="1600" dirty="0"/>
              </a:p>
              <a:p>
                <a:pPr lvl="1"/>
                <a:r>
                  <a:rPr lang="fr-FR" altLang="zh-CN" sz="1600" dirty="0"/>
                  <a:t>Stata: ivreg2 Y (D=T) X-x0 T(X-x0), robust</a:t>
                </a:r>
                <a:endParaRPr lang="zh-CN" altLang="en-US" sz="1600" dirty="0"/>
              </a:p>
            </p:txBody>
          </p:sp>
        </mc:Choice>
        <mc:Fallback xmlns="">
          <p:sp>
            <p:nvSpPr>
              <p:cNvPr id="3" name="内容占位符 2">
                <a:extLst>
                  <a:ext uri="{FF2B5EF4-FFF2-40B4-BE49-F238E27FC236}">
                    <a16:creationId xmlns:a16="http://schemas.microsoft.com/office/drawing/2014/main" id="{9690B319-1164-130F-7B92-F38ACF9C0120}"/>
                  </a:ext>
                </a:extLst>
              </p:cNvPr>
              <p:cNvSpPr>
                <a:spLocks noGrp="1" noRot="1" noChangeAspect="1" noMove="1" noResize="1" noEditPoints="1" noAdjustHandles="1" noChangeArrowheads="1" noChangeShapeType="1" noTextEdit="1"/>
              </p:cNvSpPr>
              <p:nvPr>
                <p:ph idx="1"/>
              </p:nvPr>
            </p:nvSpPr>
            <p:spPr>
              <a:blipFill>
                <a:blip r:embed="rId2"/>
                <a:stretch>
                  <a:fillRect l="-309" t="-420" b="-56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1B03E77-5D3F-6C0C-9D2F-3E46B6B5501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EDFB8AE-7D28-B696-2ABC-41BA818FA0A8}"/>
              </a:ext>
            </a:extLst>
          </p:cNvPr>
          <p:cNvSpPr>
            <a:spLocks noGrp="1"/>
          </p:cNvSpPr>
          <p:nvPr>
            <p:ph type="sldNum" sz="quarter" idx="12"/>
          </p:nvPr>
        </p:nvSpPr>
        <p:spPr/>
        <p:txBody>
          <a:bodyPr/>
          <a:lstStyle/>
          <a:p>
            <a:fld id="{D41FC515-8169-4A29-AA56-DBE520D5741B}" type="slidenum">
              <a:rPr lang="zh-CN" altLang="en-US" smtClean="0"/>
              <a:t>25</a:t>
            </a:fld>
            <a:endParaRPr lang="zh-CN" altLang="en-US"/>
          </a:p>
        </p:txBody>
      </p:sp>
    </p:spTree>
    <p:extLst>
      <p:ext uri="{BB962C8B-B14F-4D97-AF65-F5344CB8AC3E}">
        <p14:creationId xmlns:p14="http://schemas.microsoft.com/office/powerpoint/2010/main" val="27223122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07545D-E8A5-FE57-76DC-A9001EABD165}"/>
              </a:ext>
            </a:extLst>
          </p:cNvPr>
          <p:cNvSpPr>
            <a:spLocks noGrp="1"/>
          </p:cNvSpPr>
          <p:nvPr>
            <p:ph type="title"/>
          </p:nvPr>
        </p:nvSpPr>
        <p:spPr/>
        <p:txBody>
          <a:bodyPr/>
          <a:lstStyle/>
          <a:p>
            <a:r>
              <a:rPr lang="zh-CN" altLang="en-US" dirty="0"/>
              <a:t>断点回归设计的估计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1788715-029A-B026-89E7-35C59EE1410A}"/>
                  </a:ext>
                </a:extLst>
              </p:cNvPr>
              <p:cNvSpPr>
                <a:spLocks noGrp="1"/>
              </p:cNvSpPr>
              <p:nvPr>
                <p:ph idx="1"/>
              </p:nvPr>
            </p:nvSpPr>
            <p:spPr/>
            <p:txBody>
              <a:bodyPr>
                <a:normAutofit fontScale="70000" lnSpcReduction="20000"/>
              </a:bodyPr>
              <a:lstStyle/>
              <a:p>
                <a:r>
                  <a:rPr lang="en-US" altLang="zh-CN" dirty="0"/>
                  <a:t>5. </a:t>
                </a:r>
                <a:r>
                  <a:rPr lang="zh-CN" altLang="en-US" dirty="0"/>
                  <a:t>带宽选择和滞后阶数</a:t>
                </a:r>
                <a:endParaRPr lang="en-US" altLang="zh-CN" dirty="0"/>
              </a:p>
              <a:p>
                <a:pPr lvl="1"/>
                <a:r>
                  <a:rPr lang="en-US" altLang="zh-CN" dirty="0"/>
                  <a:t>Ludwig and Miller(2007), </a:t>
                </a:r>
                <a:r>
                  <a:rPr lang="en-US" altLang="zh-CN" dirty="0" err="1"/>
                  <a:t>Imbens</a:t>
                </a:r>
                <a:r>
                  <a:rPr lang="en-US" altLang="zh-CN" dirty="0"/>
                  <a:t> and Lemieux (2008) </a:t>
                </a:r>
                <a:r>
                  <a:rPr lang="zh-CN" altLang="en-US" dirty="0"/>
                  <a:t>提出一种交叉验证方法</a:t>
                </a:r>
                <a:endParaRPr lang="en-US" altLang="zh-CN" dirty="0"/>
              </a:p>
              <a:p>
                <a:pPr lvl="1"/>
                <a:r>
                  <a:rPr lang="zh-CN" altLang="en-US" dirty="0"/>
                  <a:t>基本思想：在所有可能的带宽下，选择使拟合的均方误差最小的带宽。</a:t>
                </a:r>
                <a:endParaRPr lang="en-US" altLang="zh-CN" dirty="0"/>
              </a:p>
              <a:p>
                <a:pPr lvl="1"/>
                <a:r>
                  <a:rPr lang="zh-CN" altLang="en-US" dirty="0"/>
                  <a:t>实施方法：对于给定带宽</a:t>
                </a:r>
                <a:r>
                  <a:rPr lang="en-US" altLang="zh-CN" dirty="0"/>
                  <a:t>ℎ</a:t>
                </a:r>
                <a:r>
                  <a:rPr lang="zh-CN" altLang="en-US" dirty="0"/>
                  <a:t>，在𝑥 处的估计为，</a:t>
                </a:r>
                <a:endParaRPr lang="en-US" altLang="zh-CN" dirty="0"/>
              </a:p>
              <a:p>
                <a:pPr marL="457200" lvl="1" indent="0">
                  <a:buNone/>
                </a:pPr>
                <a14:m>
                  <m:oMathPara xmlns:m="http://schemas.openxmlformats.org/officeDocument/2006/math">
                    <m:oMath>
                      <m:eqArr>
                        <m:eqArrPr>
                          <m:ctrlPr>
                            <a:rPr lang="zh-CN" altLang="en-US" i="1" smtClean="0">
                              <a:latin typeface="Cambria Math" panose="02040503050406030204" pitchFamily="18" charset="0"/>
                            </a:rPr>
                          </m:ctrlPr>
                        </m:eqArr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m>
                                <m:mPr>
                                  <m:mcs>
                                    <m:mc>
                                      <m:mcPr>
                                        <m:count m:val="2"/>
                                        <m:mcJc m:val="center"/>
                                      </m:mcPr>
                                    </m:mc>
                                  </m:mcs>
                                  <m:ctrlPr>
                                    <a:rPr lang="zh-CN" altLang="en-US" i="1" smtClean="0">
                                      <a:latin typeface="Cambria Math" panose="02040503050406030204" pitchFamily="18" charset="0"/>
                                    </a:rPr>
                                  </m:ctrlPr>
                                </m:mPr>
                                <m:mr>
                                  <m:e>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𝑎</m:t>
                                            </m:r>
                                          </m:e>
                                        </m:acc>
                                      </m:e>
                                      <m:sub>
                                        <m:r>
                                          <a:rPr lang="zh-CN" altLang="en-US" i="1" smtClean="0">
                                            <a:latin typeface="Cambria Math" panose="02040503050406030204" pitchFamily="18" charset="0"/>
                                          </a:rPr>
                                          <m:t>𝑙</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e>
                                  <m:e>
                                    <m:r>
                                      <a:rPr lang="zh-CN" altLang="en-US" i="1" smtClean="0">
                                        <a:latin typeface="Cambria Math" panose="02040503050406030204" pitchFamily="18" charset="0"/>
                                      </a:rPr>
                                      <m:t>𝑥</m:t>
                                    </m:r>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e>
                                </m:mr>
                                <m:mr>
                                  <m:e>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𝑎</m:t>
                                            </m:r>
                                          </m:e>
                                        </m:acc>
                                      </m:e>
                                      <m:sub>
                                        <m:r>
                                          <a:rPr lang="zh-CN" altLang="en-US" i="1" smtClean="0">
                                            <a:latin typeface="Cambria Math" panose="02040503050406030204" pitchFamily="18" charset="0"/>
                                          </a:rPr>
                                          <m:t>𝑟</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e>
                                  <m:e>
                                    <m:r>
                                      <a:rPr lang="zh-CN" altLang="en-US" i="1" smtClean="0">
                                        <a:latin typeface="Cambria Math" panose="02040503050406030204" pitchFamily="18" charset="0"/>
                                      </a:rPr>
                                      <m:t>𝑥</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e>
                                </m:mr>
                              </m:m>
                            </m:e>
                          </m:d>
                        </m:e>
                      </m:eqArr>
                    </m:oMath>
                  </m:oMathPara>
                </a14:m>
                <a:endParaRPr lang="en-US" altLang="zh-CN" dirty="0"/>
              </a:p>
              <a:p>
                <a:pPr lvl="1"/>
                <a:r>
                  <a:rPr lang="zh-CN" altLang="en-US" dirty="0"/>
                  <a:t>交叉验证标准为：</a:t>
                </a:r>
                <a:endParaRPr lang="en-US" altLang="zh-CN" dirty="0"/>
              </a:p>
              <a:p>
                <a:pPr marL="457200" lvl="1" indent="0" algn="ctr">
                  <a:buNone/>
                </a:pPr>
                <a14:m>
                  <m:oMath xmlns:m="http://schemas.openxmlformats.org/officeDocument/2006/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𝐶</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𝑉</m:t>
                            </m:r>
                          </m:e>
                          <m:sub>
                            <m:r>
                              <a:rPr lang="zh-CN" altLang="en-US" i="1" smtClean="0">
                                <a:latin typeface="Cambria Math" panose="02040503050406030204" pitchFamily="18" charset="0"/>
                              </a:rPr>
                              <m:t>𝑌</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ℎ</m:t>
                            </m:r>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𝑁</m:t>
                            </m:r>
                          </m:den>
                        </m:f>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d>
                              </m:e>
                              <m:sup>
                                <m:r>
                                  <a:rPr lang="zh-CN" altLang="en-US" i="1" smtClean="0">
                                    <a:latin typeface="Cambria Math" panose="02040503050406030204" pitchFamily="18" charset="0"/>
                                  </a:rPr>
                                  <m:t>2</m:t>
                                </m:r>
                              </m:sup>
                            </m:sSup>
                          </m:e>
                        </m:nary>
                        <m:r>
                          <a:rPr lang="zh-CN" altLang="en-US" i="1" smtClean="0">
                            <a:latin typeface="Cambria Math" panose="02040503050406030204" pitchFamily="18" charset="0"/>
                          </a:rPr>
                          <m:t>,</m:t>
                        </m:r>
                      </m:e>
                    </m:eqArr>
                  </m:oMath>
                </a14:m>
                <a:r>
                  <a:rPr lang="en-US" altLang="zh-CN" dirty="0"/>
                  <a:t>                            (21)</a:t>
                </a:r>
              </a:p>
              <a:p>
                <a:pPr marL="457200" lvl="1" indent="0">
                  <a:buNone/>
                </a:pPr>
                <a14:m>
                  <m:oMathPara xmlns:m="http://schemas.openxmlformats.org/officeDocument/2006/math">
                    <m:oMath>
                      <m:eqArr>
                        <m:eqArrPr>
                          <m:ctrlPr>
                            <a:rPr lang="zh-CN" altLang="en-US" i="1" smtClean="0">
                              <a:latin typeface="Cambria Math" panose="02040503050406030204" pitchFamily="18" charset="0"/>
                            </a:rPr>
                          </m:ctrlPr>
                        </m:eqArrPr>
                        <m:e>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ℎ</m:t>
                              </m:r>
                            </m:e>
                            <m:sub>
                              <m:r>
                                <a:rPr lang="zh-CN" altLang="en-US" i="1" smtClean="0">
                                  <a:latin typeface="Cambria Math" panose="02040503050406030204" pitchFamily="18" charset="0"/>
                                </a:rPr>
                                <m:t>𝐶𝑉</m:t>
                              </m:r>
                            </m:sub>
                            <m:sup>
                              <m:r>
                                <a:rPr lang="zh-CN" altLang="en-US" i="1" smtClean="0">
                                  <a:latin typeface="Cambria Math" panose="02040503050406030204" pitchFamily="18" charset="0"/>
                                </a:rPr>
                                <m:t>𝑜𝑝𝑡</m:t>
                              </m:r>
                            </m:sup>
                          </m:sSubSup>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arg</m:t>
                              </m:r>
                            </m:fName>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r>
                                        <a:rPr lang="zh-CN" altLang="en-US" i="1" smtClean="0">
                                          <a:latin typeface="Cambria Math" panose="02040503050406030204" pitchFamily="18" charset="0"/>
                                        </a:rPr>
                                        <m:t>ℎ</m:t>
                                      </m:r>
                                    </m:lim>
                                  </m:limLow>
                                </m:fName>
                                <m:e>
                                  <m:r>
                                    <a:rPr lang="zh-CN" altLang="en-US" i="1" smtClean="0">
                                      <a:latin typeface="Cambria Math" panose="02040503050406030204" pitchFamily="18" charset="0"/>
                                    </a:rPr>
                                    <m:t>𝐶</m:t>
                                  </m:r>
                                </m:e>
                              </m:func>
                            </m:e>
                          </m:func>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𝑉</m:t>
                              </m:r>
                            </m:e>
                            <m:sub>
                              <m:r>
                                <a:rPr lang="zh-CN" altLang="en-US" i="1" smtClean="0">
                                  <a:latin typeface="Cambria Math" panose="02040503050406030204" pitchFamily="18" charset="0"/>
                                </a:rPr>
                                <m:t>𝑌</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ℎ</m:t>
                              </m:r>
                            </m:e>
                          </m:d>
                          <m:r>
                            <a:rPr lang="zh-CN" altLang="en-US" i="1" smtClean="0">
                              <a:latin typeface="Cambria Math" panose="02040503050406030204" pitchFamily="18" charset="0"/>
                            </a:rPr>
                            <m:t>.</m:t>
                          </m:r>
                        </m:e>
                      </m:eqArr>
                    </m:oMath>
                  </m:oMathPara>
                </a14:m>
                <a:endParaRPr lang="en-US" altLang="zh-CN" dirty="0"/>
              </a:p>
              <a:p>
                <a:pPr lvl="1"/>
                <a:r>
                  <a:rPr lang="zh-CN" altLang="en-US" dirty="0"/>
                  <a:t>可以将最优带宽搜索限制在𝑥𝛿 ≤ 𝑋𝑖 ≤ 𝑥</a:t>
                </a:r>
                <a:r>
                  <a:rPr lang="en-US" altLang="zh-CN" dirty="0"/>
                  <a:t>1−</a:t>
                </a:r>
                <a:r>
                  <a:rPr lang="zh-CN" altLang="en-US" dirty="0"/>
                  <a:t>𝛿 范围之内，即</a:t>
                </a:r>
                <a:endParaRPr lang="en-US" altLang="zh-CN" dirty="0"/>
              </a:p>
              <a:p>
                <a:pPr marL="457200" lvl="1" indent="0">
                  <a:buNone/>
                </a:pPr>
                <a14:m>
                  <m:oMathPara xmlns:m="http://schemas.openxmlformats.org/officeDocument/2006/math">
                    <m:oMath>
                      <m:eqArr>
                        <m:eqArrPr>
                          <m:ctrlPr>
                            <a:rPr lang="zh-CN" altLang="en-US" i="1" smtClean="0">
                              <a:latin typeface="Cambria Math" panose="02040503050406030204" pitchFamily="18" charset="0"/>
                            </a:rPr>
                          </m:ctrlPr>
                        </m:eqArrPr>
                        <m:e>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ℎ</m:t>
                              </m:r>
                            </m:e>
                            <m:sub>
                              <m:r>
                                <a:rPr lang="zh-CN" altLang="en-US" i="1" smtClean="0">
                                  <a:latin typeface="Cambria Math" panose="02040503050406030204" pitchFamily="18" charset="0"/>
                                </a:rPr>
                                <m:t>𝐶𝑉</m:t>
                              </m:r>
                            </m:sub>
                            <m:sup>
                              <m:r>
                                <a:rPr lang="zh-CN" altLang="en-US" i="1" smtClean="0">
                                  <a:latin typeface="Cambria Math" panose="02040503050406030204" pitchFamily="18" charset="0"/>
                                </a:rPr>
                                <m:t>𝛿</m:t>
                              </m:r>
                              <m:r>
                                <a:rPr lang="zh-CN" altLang="en-US" i="1" smtClean="0">
                                  <a:latin typeface="Cambria Math" panose="02040503050406030204" pitchFamily="18" charset="0"/>
                                </a:rPr>
                                <m:t>,</m:t>
                              </m:r>
                              <m:r>
                                <a:rPr lang="zh-CN" altLang="en-US" i="1" smtClean="0">
                                  <a:latin typeface="Cambria Math" panose="02040503050406030204" pitchFamily="18" charset="0"/>
                                </a:rPr>
                                <m:t>𝑜𝑝𝑡</m:t>
                              </m:r>
                            </m:sup>
                          </m:sSubSup>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arg</m:t>
                              </m:r>
                            </m:fName>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r>
                                        <a:rPr lang="zh-CN" altLang="en-US" i="1" smtClean="0">
                                          <a:latin typeface="Cambria Math" panose="02040503050406030204" pitchFamily="18" charset="0"/>
                                        </a:rPr>
                                        <m:t>ℎ</m:t>
                                      </m:r>
                                    </m:lim>
                                  </m:limLow>
                                </m:fName>
                                <m:e>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𝑁</m:t>
                                      </m:r>
                                    </m:den>
                                  </m:f>
                                </m:e>
                              </m:func>
                            </m:e>
                          </m:func>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d>
                                </m:e>
                                <m:sup>
                                  <m:r>
                                    <a:rPr lang="zh-CN" altLang="en-US" i="1" smtClean="0">
                                      <a:latin typeface="Cambria Math" panose="02040503050406030204" pitchFamily="18" charset="0"/>
                                    </a:rPr>
                                    <m:t>2</m:t>
                                  </m:r>
                                </m:sup>
                              </m:sSup>
                            </m:e>
                          </m:nary>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𝛿</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1−</m:t>
                                  </m:r>
                                  <m:r>
                                    <a:rPr lang="zh-CN" altLang="en-US" i="1" smtClean="0">
                                      <a:latin typeface="Cambria Math" panose="02040503050406030204" pitchFamily="18" charset="0"/>
                                    </a:rPr>
                                    <m:t>𝛿</m:t>
                                  </m:r>
                                </m:sub>
                              </m:sSub>
                            </m:e>
                          </m:d>
                          <m:r>
                            <a:rPr lang="zh-CN" altLang="en-US" i="1" smtClean="0">
                              <a:latin typeface="Cambria Math" panose="02040503050406030204" pitchFamily="18" charset="0"/>
                            </a:rPr>
                            <m:t>.</m:t>
                          </m:r>
                        </m:e>
                      </m:eqArr>
                    </m:oMath>
                  </m:oMathPara>
                </a14:m>
                <a:endParaRPr lang="zh-CN" altLang="en-US" dirty="0"/>
              </a:p>
            </p:txBody>
          </p:sp>
        </mc:Choice>
        <mc:Fallback xmlns="">
          <p:sp>
            <p:nvSpPr>
              <p:cNvPr id="3" name="内容占位符 2">
                <a:extLst>
                  <a:ext uri="{FF2B5EF4-FFF2-40B4-BE49-F238E27FC236}">
                    <a16:creationId xmlns:a16="http://schemas.microsoft.com/office/drawing/2014/main" id="{F1788715-029A-B026-89E7-35C59EE1410A}"/>
                  </a:ext>
                </a:extLst>
              </p:cNvPr>
              <p:cNvSpPr>
                <a:spLocks noGrp="1" noRot="1" noChangeAspect="1" noMove="1" noResize="1" noEditPoints="1" noAdjustHandles="1" noChangeArrowheads="1" noChangeShapeType="1" noTextEdit="1"/>
              </p:cNvSpPr>
              <p:nvPr>
                <p:ph idx="1"/>
              </p:nvPr>
            </p:nvSpPr>
            <p:spPr>
              <a:blipFill>
                <a:blip r:embed="rId2"/>
                <a:stretch>
                  <a:fillRect l="-696" t="-21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730A977-E82F-7E89-693B-B772F737AA9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BBD55D8-A9A2-0918-C81D-088C3CF34ACE}"/>
              </a:ext>
            </a:extLst>
          </p:cNvPr>
          <p:cNvSpPr>
            <a:spLocks noGrp="1"/>
          </p:cNvSpPr>
          <p:nvPr>
            <p:ph type="sldNum" sz="quarter" idx="12"/>
          </p:nvPr>
        </p:nvSpPr>
        <p:spPr/>
        <p:txBody>
          <a:bodyPr/>
          <a:lstStyle/>
          <a:p>
            <a:fld id="{D41FC515-8169-4A29-AA56-DBE520D5741B}" type="slidenum">
              <a:rPr lang="zh-CN" altLang="en-US" smtClean="0"/>
              <a:t>26</a:t>
            </a:fld>
            <a:endParaRPr lang="zh-CN" altLang="en-US"/>
          </a:p>
        </p:txBody>
      </p:sp>
    </p:spTree>
    <p:extLst>
      <p:ext uri="{BB962C8B-B14F-4D97-AF65-F5344CB8AC3E}">
        <p14:creationId xmlns:p14="http://schemas.microsoft.com/office/powerpoint/2010/main" val="20736536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6ED019-C7F1-7C5B-D788-9CDC3ACCC59D}"/>
              </a:ext>
            </a:extLst>
          </p:cNvPr>
          <p:cNvSpPr>
            <a:spLocks noGrp="1"/>
          </p:cNvSpPr>
          <p:nvPr>
            <p:ph type="title"/>
          </p:nvPr>
        </p:nvSpPr>
        <p:spPr/>
        <p:txBody>
          <a:bodyPr/>
          <a:lstStyle/>
          <a:p>
            <a:r>
              <a:rPr lang="zh-CN" altLang="en-US" dirty="0"/>
              <a:t>断点回归设计的估计</a:t>
            </a:r>
          </a:p>
        </p:txBody>
      </p:sp>
      <p:pic>
        <p:nvPicPr>
          <p:cNvPr id="7" name="内容占位符 6">
            <a:extLst>
              <a:ext uri="{FF2B5EF4-FFF2-40B4-BE49-F238E27FC236}">
                <a16:creationId xmlns:a16="http://schemas.microsoft.com/office/drawing/2014/main" id="{FDF4AEE6-BB1F-A887-17B7-9020C16346D3}"/>
              </a:ext>
            </a:extLst>
          </p:cNvPr>
          <p:cNvPicPr>
            <a:picLocks noGrp="1" noChangeAspect="1"/>
          </p:cNvPicPr>
          <p:nvPr>
            <p:ph idx="1"/>
          </p:nvPr>
        </p:nvPicPr>
        <p:blipFill>
          <a:blip r:embed="rId2"/>
          <a:stretch>
            <a:fillRect/>
          </a:stretch>
        </p:blipFill>
        <p:spPr>
          <a:xfrm>
            <a:off x="1911653" y="1825625"/>
            <a:ext cx="5320694" cy="4351338"/>
          </a:xfrm>
          <a:prstGeom prst="rect">
            <a:avLst/>
          </a:prstGeom>
        </p:spPr>
      </p:pic>
      <p:sp>
        <p:nvSpPr>
          <p:cNvPr id="4" name="页脚占位符 3">
            <a:extLst>
              <a:ext uri="{FF2B5EF4-FFF2-40B4-BE49-F238E27FC236}">
                <a16:creationId xmlns:a16="http://schemas.microsoft.com/office/drawing/2014/main" id="{DFA354F7-7F6F-FC5E-92F1-2B190E00E2E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57F4BC6-1467-A82F-4793-4297E180F095}"/>
              </a:ext>
            </a:extLst>
          </p:cNvPr>
          <p:cNvSpPr>
            <a:spLocks noGrp="1"/>
          </p:cNvSpPr>
          <p:nvPr>
            <p:ph type="sldNum" sz="quarter" idx="12"/>
          </p:nvPr>
        </p:nvSpPr>
        <p:spPr/>
        <p:txBody>
          <a:bodyPr/>
          <a:lstStyle/>
          <a:p>
            <a:fld id="{D41FC515-8169-4A29-AA56-DBE520D5741B}" type="slidenum">
              <a:rPr lang="zh-CN" altLang="en-US" smtClean="0"/>
              <a:t>27</a:t>
            </a:fld>
            <a:endParaRPr lang="zh-CN" altLang="en-US"/>
          </a:p>
        </p:txBody>
      </p:sp>
    </p:spTree>
    <p:extLst>
      <p:ext uri="{BB962C8B-B14F-4D97-AF65-F5344CB8AC3E}">
        <p14:creationId xmlns:p14="http://schemas.microsoft.com/office/powerpoint/2010/main" val="30792928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4B0B9B-0F05-24AD-B6CF-CC5A18BDB029}"/>
              </a:ext>
            </a:extLst>
          </p:cNvPr>
          <p:cNvSpPr>
            <a:spLocks noGrp="1"/>
          </p:cNvSpPr>
          <p:nvPr>
            <p:ph type="title"/>
          </p:nvPr>
        </p:nvSpPr>
        <p:spPr/>
        <p:txBody>
          <a:bodyPr/>
          <a:lstStyle/>
          <a:p>
            <a:r>
              <a:rPr lang="zh-CN" altLang="en-US" dirty="0"/>
              <a:t>断点回归设计的估计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6053DB1-A9F7-15F3-6F88-CE4078629B00}"/>
                  </a:ext>
                </a:extLst>
              </p:cNvPr>
              <p:cNvSpPr>
                <a:spLocks noGrp="1"/>
              </p:cNvSpPr>
              <p:nvPr>
                <p:ph idx="1"/>
              </p:nvPr>
            </p:nvSpPr>
            <p:spPr/>
            <p:txBody>
              <a:bodyPr>
                <a:normAutofit fontScale="62500" lnSpcReduction="20000"/>
              </a:bodyPr>
              <a:lstStyle/>
              <a:p>
                <a:pPr>
                  <a:lnSpc>
                    <a:spcPct val="120000"/>
                  </a:lnSpc>
                </a:pPr>
                <a:r>
                  <a:rPr lang="en-US" altLang="zh-CN" dirty="0"/>
                  <a:t>5. </a:t>
                </a:r>
                <a:r>
                  <a:rPr lang="zh-CN" altLang="en-US" dirty="0"/>
                  <a:t>带宽选择和滞后阶数</a:t>
                </a:r>
              </a:p>
              <a:p>
                <a:pPr lvl="1">
                  <a:lnSpc>
                    <a:spcPct val="120000"/>
                  </a:lnSpc>
                </a:pPr>
                <a:r>
                  <a:rPr lang="zh-CN" altLang="en-US" dirty="0"/>
                  <a:t>对于模糊断点回归，</a:t>
                </a:r>
                <a:r>
                  <a:rPr lang="en-US" altLang="zh-CN" dirty="0"/>
                  <a:t>RDD</a:t>
                </a:r>
                <a:r>
                  <a:rPr lang="zh-CN" altLang="en-US" dirty="0"/>
                  <a:t>估计量</a:t>
                </a:r>
                <a:r>
                  <a:rPr lang="en-US" altLang="zh-CN" dirty="0"/>
                  <a:t>(19) </a:t>
                </a:r>
                <a:r>
                  <a:rPr lang="zh-CN" altLang="en-US" dirty="0"/>
                  <a:t>分子分母需要进行两次最优带宽选择，可以采用类似于</a:t>
                </a:r>
                <a:r>
                  <a:rPr lang="en-US" altLang="zh-CN" dirty="0"/>
                  <a:t>(21) </a:t>
                </a:r>
                <a:r>
                  <a:rPr lang="zh-CN" altLang="en-US" dirty="0"/>
                  <a:t>的交叉验证标准估计分母的最优带宽，</a:t>
                </a:r>
                <a:endParaRPr lang="en-US" altLang="zh-CN" dirty="0"/>
              </a:p>
              <a:p>
                <a:pPr marL="457200" lvl="1"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𝐶</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𝑉</m:t>
                              </m:r>
                            </m:e>
                            <m:sub>
                              <m:r>
                                <a:rPr lang="zh-CN" altLang="en-US" i="1" smtClean="0">
                                  <a:latin typeface="Cambria Math" panose="02040503050406030204" pitchFamily="18" charset="0"/>
                                </a:rPr>
                                <m:t>𝐷</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ℎ</m:t>
                              </m:r>
                            </m:e>
                          </m:d>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r>
                                <a:rPr lang="zh-CN" altLang="en-US" i="1" smtClean="0">
                                  <a:latin typeface="Cambria Math" panose="02040503050406030204" pitchFamily="18" charset="0"/>
                                </a:rPr>
                                <m:t>1</m:t>
                              </m:r>
                            </m:num>
                            <m:den>
                              <m:r>
                                <a:rPr lang="zh-CN" altLang="en-US" i="1" smtClean="0">
                                  <a:latin typeface="Cambria Math" panose="02040503050406030204" pitchFamily="18" charset="0"/>
                                </a:rPr>
                                <m:t>𝑁</m:t>
                              </m:r>
                            </m:den>
                          </m:f>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𝜇</m:t>
                                          </m:r>
                                        </m:e>
                                      </m:acc>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e>
                                      </m:d>
                                    </m:e>
                                  </m:d>
                                </m:e>
                                <m:sup>
                                  <m:r>
                                    <a:rPr lang="zh-CN" altLang="en-US" i="1" smtClean="0">
                                      <a:latin typeface="Cambria Math" panose="02040503050406030204" pitchFamily="18" charset="0"/>
                                    </a:rPr>
                                    <m:t>2</m:t>
                                  </m:r>
                                </m:sup>
                              </m:sSup>
                            </m:e>
                          </m:nary>
                          <m:r>
                            <a:rPr lang="zh-CN" altLang="en-US" i="1" smtClean="0">
                              <a:latin typeface="Cambria Math" panose="02040503050406030204" pitchFamily="18" charset="0"/>
                            </a:rPr>
                            <m:t>,</m:t>
                          </m:r>
                        </m:e>
                      </m:eqArr>
                    </m:oMath>
                  </m:oMathPara>
                </a14:m>
                <a:endParaRPr lang="en-US" altLang="zh-CN" dirty="0"/>
              </a:p>
              <a:p>
                <a:pPr lvl="1">
                  <a:lnSpc>
                    <a:spcPct val="120000"/>
                  </a:lnSpc>
                </a:pPr>
                <a:r>
                  <a:rPr lang="en-US" altLang="zh-CN" dirty="0" err="1"/>
                  <a:t>Imbens</a:t>
                </a:r>
                <a:r>
                  <a:rPr lang="en-US" altLang="zh-CN" dirty="0"/>
                  <a:t> and Lemieux (2008) </a:t>
                </a:r>
                <a:r>
                  <a:rPr lang="zh-CN" altLang="en-US" dirty="0"/>
                  <a:t>建议分子分母采用相同的带宽，因而，可以选择结果方程和选择方程两个最优带宽中最小的那个作为共同的最优带宽，即</a:t>
                </a:r>
                <a:endParaRPr lang="en-US" altLang="zh-CN" dirty="0"/>
              </a:p>
              <a:p>
                <a:pPr marL="457200" lvl="1" indent="0">
                  <a:lnSpc>
                    <a:spcPct val="120000"/>
                  </a:lnSpc>
                  <a:buNone/>
                </a:pPr>
                <a14:m>
                  <m:oMathPara xmlns:m="http://schemas.openxmlformats.org/officeDocument/2006/math">
                    <m:oMath>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ℎ</m:t>
                          </m:r>
                        </m:e>
                        <m:sub>
                          <m:r>
                            <a:rPr lang="zh-CN" altLang="en-US" i="1" smtClean="0">
                              <a:latin typeface="Cambria Math" panose="02040503050406030204" pitchFamily="18" charset="0"/>
                            </a:rPr>
                            <m:t>𝐶𝑉</m:t>
                          </m:r>
                        </m:sub>
                        <m:sup>
                          <m:r>
                            <a:rPr lang="zh-CN" altLang="en-US" i="1" smtClean="0">
                              <a:latin typeface="Cambria Math" panose="02040503050406030204" pitchFamily="18" charset="0"/>
                            </a:rPr>
                            <m:t>𝑜𝑝𝑡</m:t>
                          </m:r>
                        </m:sup>
                      </m:sSubSup>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r>
                                <a:rPr lang="zh-CN" altLang="en-US" i="1" smtClean="0">
                                  <a:latin typeface="Cambria Math" panose="02040503050406030204" pitchFamily="18" charset="0"/>
                                </a:rPr>
                                <m:t>ℎ</m:t>
                              </m:r>
                            </m:lim>
                          </m:limLow>
                        </m:fName>
                        <m:e>
                          <m:d>
                            <m:dPr>
                              <m:begChr m:val="{"/>
                              <m:endChr m:val="}"/>
                              <m:ctrlPr>
                                <a:rPr lang="zh-CN" altLang="en-US" i="1" smtClean="0">
                                  <a:latin typeface="Cambria Math" panose="02040503050406030204" pitchFamily="18" charset="0"/>
                                </a:rPr>
                              </m:ctrlPr>
                            </m:dPr>
                            <m:e>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arg</m:t>
                                  </m:r>
                                </m:fName>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r>
                                            <a:rPr lang="zh-CN" altLang="en-US" i="1" smtClean="0">
                                              <a:latin typeface="Cambria Math" panose="02040503050406030204" pitchFamily="18" charset="0"/>
                                            </a:rPr>
                                            <m:t>ℎ</m:t>
                                          </m:r>
                                        </m:lim>
                                      </m:limLow>
                                    </m:fName>
                                    <m:e>
                                      <m:r>
                                        <a:rPr lang="zh-CN" altLang="en-US" i="1" smtClean="0">
                                          <a:latin typeface="Cambria Math" panose="02040503050406030204" pitchFamily="18" charset="0"/>
                                        </a:rPr>
                                        <m:t>𝐶</m:t>
                                      </m:r>
                                    </m:e>
                                  </m:func>
                                </m:e>
                              </m:func>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𝑉</m:t>
                                  </m:r>
                                </m:e>
                                <m:sub>
                                  <m:r>
                                    <a:rPr lang="zh-CN" altLang="en-US" i="1" smtClean="0">
                                      <a:latin typeface="Cambria Math" panose="02040503050406030204" pitchFamily="18" charset="0"/>
                                    </a:rPr>
                                    <m:t>𝑌</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ℎ</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r>
                                    <m:rPr>
                                      <m:sty m:val="p"/>
                                    </m:rPr>
                                    <a:rPr lang="zh-CN" altLang="en-US" i="1" smtClean="0">
                                      <a:latin typeface="Cambria Math" panose="02040503050406030204" pitchFamily="18" charset="0"/>
                                    </a:rPr>
                                    <m:t>arg</m:t>
                                  </m:r>
                                </m:fName>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r>
                                            <a:rPr lang="zh-CN" altLang="en-US" i="1" smtClean="0">
                                              <a:latin typeface="Cambria Math" panose="02040503050406030204" pitchFamily="18" charset="0"/>
                                            </a:rPr>
                                            <m:t>ℎ</m:t>
                                          </m:r>
                                        </m:lim>
                                      </m:limLow>
                                    </m:fName>
                                    <m:e>
                                      <m:r>
                                        <a:rPr lang="zh-CN" altLang="en-US" i="1" smtClean="0">
                                          <a:latin typeface="Cambria Math" panose="02040503050406030204" pitchFamily="18" charset="0"/>
                                        </a:rPr>
                                        <m:t>𝐶</m:t>
                                      </m:r>
                                    </m:e>
                                  </m:func>
                                </m:e>
                              </m:func>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𝑉</m:t>
                                  </m:r>
                                </m:e>
                                <m:sub>
                                  <m:r>
                                    <a:rPr lang="zh-CN" altLang="en-US" i="1" smtClean="0">
                                      <a:latin typeface="Cambria Math" panose="02040503050406030204" pitchFamily="18" charset="0"/>
                                    </a:rPr>
                                    <m:t>𝐷</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ℎ</m:t>
                                  </m:r>
                                </m:e>
                              </m:d>
                            </m:e>
                          </m:d>
                        </m:e>
                      </m:func>
                      <m:r>
                        <a:rPr lang="zh-CN" altLang="en-US" i="1" smtClean="0">
                          <a:latin typeface="Cambria Math" panose="02040503050406030204" pitchFamily="18" charset="0"/>
                        </a:rPr>
                        <m:t>.</m:t>
                      </m:r>
                    </m:oMath>
                  </m:oMathPara>
                </a14:m>
                <a:endParaRPr lang="en-US" altLang="zh-CN" dirty="0"/>
              </a:p>
              <a:p>
                <a:pPr lvl="1">
                  <a:lnSpc>
                    <a:spcPct val="120000"/>
                  </a:lnSpc>
                </a:pPr>
                <a:r>
                  <a:rPr lang="zh-CN" altLang="en-US" dirty="0"/>
                  <a:t>一般而言，当干预分配的依从比率较高时，干预变量的回归方程会比较平坦，选择方程的最优带宽往往会比较大，因而，可以直接将结果方程的最优带宽作为共同的最优带宽</a:t>
                </a:r>
                <a:r>
                  <a:rPr lang="en-US" altLang="zh-CN" dirty="0"/>
                  <a:t>(Lee and Lemieux, 2010)</a:t>
                </a:r>
                <a:r>
                  <a:rPr lang="zh-CN" altLang="en-US" dirty="0"/>
                  <a:t>。</a:t>
                </a:r>
                <a:endParaRPr lang="en-US" altLang="zh-CN" dirty="0"/>
              </a:p>
              <a:p>
                <a:pPr lvl="1">
                  <a:lnSpc>
                    <a:spcPct val="120000"/>
                  </a:lnSpc>
                </a:pPr>
                <a:r>
                  <a:rPr lang="zh-CN" altLang="en-US" dirty="0"/>
                  <a:t>关于最优带宽的选择，</a:t>
                </a:r>
                <a:r>
                  <a:rPr lang="en-US" altLang="zh-CN" dirty="0" err="1"/>
                  <a:t>Imbens</a:t>
                </a:r>
                <a:r>
                  <a:rPr lang="en-US" altLang="zh-CN" dirty="0"/>
                  <a:t> and Kalyanaraman (2012) </a:t>
                </a:r>
                <a:r>
                  <a:rPr lang="zh-CN" altLang="en-US" dirty="0"/>
                  <a:t>和</a:t>
                </a:r>
                <a:r>
                  <a:rPr lang="en-US" altLang="zh-CN" dirty="0" err="1"/>
                  <a:t>Calonico</a:t>
                </a:r>
                <a:r>
                  <a:rPr lang="en-US" altLang="zh-CN" dirty="0"/>
                  <a:t> et al. (2014)</a:t>
                </a:r>
                <a:r>
                  <a:rPr lang="zh-CN" altLang="en-US" dirty="0"/>
                  <a:t>对交叉验证方法作了进一步的改进，后文我们称为</a:t>
                </a:r>
                <a:r>
                  <a:rPr lang="en-US" altLang="zh-CN" dirty="0"/>
                  <a:t>IK </a:t>
                </a:r>
                <a:r>
                  <a:rPr lang="zh-CN" altLang="en-US" dirty="0"/>
                  <a:t>最优带宽和</a:t>
                </a:r>
                <a:r>
                  <a:rPr lang="en-US" altLang="zh-CN" dirty="0"/>
                  <a:t>CCT </a:t>
                </a:r>
                <a:r>
                  <a:rPr lang="zh-CN" altLang="en-US" dirty="0"/>
                  <a:t>最优带宽。</a:t>
                </a:r>
              </a:p>
            </p:txBody>
          </p:sp>
        </mc:Choice>
        <mc:Fallback xmlns="">
          <p:sp>
            <p:nvSpPr>
              <p:cNvPr id="3" name="内容占位符 2">
                <a:extLst>
                  <a:ext uri="{FF2B5EF4-FFF2-40B4-BE49-F238E27FC236}">
                    <a16:creationId xmlns:a16="http://schemas.microsoft.com/office/drawing/2014/main" id="{46053DB1-A9F7-15F3-6F88-CE4078629B00}"/>
                  </a:ext>
                </a:extLst>
              </p:cNvPr>
              <p:cNvSpPr>
                <a:spLocks noGrp="1" noRot="1" noChangeAspect="1" noMove="1" noResize="1" noEditPoints="1" noAdjustHandles="1" noChangeArrowheads="1" noChangeShapeType="1" noTextEdit="1"/>
              </p:cNvSpPr>
              <p:nvPr>
                <p:ph idx="1"/>
              </p:nvPr>
            </p:nvSpPr>
            <p:spPr>
              <a:blipFill>
                <a:blip r:embed="rId2"/>
                <a:stretch>
                  <a:fillRect l="-464"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8749D8E-7897-27F6-F2F2-A2D494B1E543}"/>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542C13A-DE1E-A519-B23C-B721BE23DE8E}"/>
              </a:ext>
            </a:extLst>
          </p:cNvPr>
          <p:cNvSpPr>
            <a:spLocks noGrp="1"/>
          </p:cNvSpPr>
          <p:nvPr>
            <p:ph type="sldNum" sz="quarter" idx="12"/>
          </p:nvPr>
        </p:nvSpPr>
        <p:spPr/>
        <p:txBody>
          <a:bodyPr/>
          <a:lstStyle/>
          <a:p>
            <a:fld id="{D41FC515-8169-4A29-AA56-DBE520D5741B}" type="slidenum">
              <a:rPr lang="zh-CN" altLang="en-US" smtClean="0"/>
              <a:t>28</a:t>
            </a:fld>
            <a:endParaRPr lang="zh-CN" altLang="en-US"/>
          </a:p>
        </p:txBody>
      </p:sp>
    </p:spTree>
    <p:extLst>
      <p:ext uri="{BB962C8B-B14F-4D97-AF65-F5344CB8AC3E}">
        <p14:creationId xmlns:p14="http://schemas.microsoft.com/office/powerpoint/2010/main" val="22176489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2B4468-2F4D-788F-9326-14C1E35309C8}"/>
              </a:ext>
            </a:extLst>
          </p:cNvPr>
          <p:cNvSpPr>
            <a:spLocks noGrp="1"/>
          </p:cNvSpPr>
          <p:nvPr>
            <p:ph type="title"/>
          </p:nvPr>
        </p:nvSpPr>
        <p:spPr/>
        <p:txBody>
          <a:bodyPr/>
          <a:lstStyle/>
          <a:p>
            <a:r>
              <a:rPr lang="zh-CN" altLang="en-US" dirty="0"/>
              <a:t>断点回归设计的估计</a:t>
            </a:r>
          </a:p>
        </p:txBody>
      </p:sp>
      <p:sp>
        <p:nvSpPr>
          <p:cNvPr id="3" name="内容占位符 2">
            <a:extLst>
              <a:ext uri="{FF2B5EF4-FFF2-40B4-BE49-F238E27FC236}">
                <a16:creationId xmlns:a16="http://schemas.microsoft.com/office/drawing/2014/main" id="{9D3CD155-98E1-A20A-F6AC-1723097DB07C}"/>
              </a:ext>
            </a:extLst>
          </p:cNvPr>
          <p:cNvSpPr>
            <a:spLocks noGrp="1"/>
          </p:cNvSpPr>
          <p:nvPr>
            <p:ph idx="1"/>
          </p:nvPr>
        </p:nvSpPr>
        <p:spPr/>
        <p:txBody>
          <a:bodyPr>
            <a:normAutofit/>
          </a:bodyPr>
          <a:lstStyle/>
          <a:p>
            <a:r>
              <a:rPr lang="en-US" altLang="zh-CN" sz="2000" dirty="0"/>
              <a:t>5. </a:t>
            </a:r>
            <a:r>
              <a:rPr lang="zh-CN" altLang="en-US" sz="2000" dirty="0"/>
              <a:t>带宽选择和滞后阶数</a:t>
            </a:r>
            <a:endParaRPr lang="en-US" altLang="zh-CN" sz="2000" dirty="0"/>
          </a:p>
          <a:p>
            <a:pPr lvl="1"/>
            <a:r>
              <a:rPr lang="zh-CN" altLang="en-US" sz="2000" dirty="0"/>
              <a:t>在利用局部多项式进行</a:t>
            </a:r>
            <a:r>
              <a:rPr lang="en-US" altLang="zh-CN" sz="2000" dirty="0"/>
              <a:t>RDD </a:t>
            </a:r>
            <a:r>
              <a:rPr lang="zh-CN" altLang="en-US" sz="2000" dirty="0"/>
              <a:t>估计时，还需要选择滞后阶数𝑝，可以采用常用的模型选择标准，比如</a:t>
            </a:r>
            <a:r>
              <a:rPr lang="en-US" altLang="zh-CN" sz="2000" dirty="0"/>
              <a:t>AIC </a:t>
            </a:r>
            <a:r>
              <a:rPr lang="zh-CN" altLang="en-US" sz="2000" dirty="0"/>
              <a:t>标准、</a:t>
            </a:r>
            <a:r>
              <a:rPr lang="en-US" altLang="zh-CN" sz="2000" dirty="0"/>
              <a:t>BIC </a:t>
            </a:r>
            <a:r>
              <a:rPr lang="zh-CN" altLang="en-US" sz="2000" dirty="0"/>
              <a:t>标准。</a:t>
            </a:r>
            <a:endParaRPr lang="en-US" altLang="zh-CN" sz="2000" dirty="0"/>
          </a:p>
          <a:p>
            <a:pPr lvl="1"/>
            <a:r>
              <a:rPr lang="zh-CN" altLang="en-US" sz="2000" dirty="0"/>
              <a:t>一般而言，带宽越大，需要选择的滞后阶数越大；带宽越小，滞后阶数越小。</a:t>
            </a:r>
            <a:endParaRPr lang="en-US" altLang="zh-CN" sz="2000" dirty="0"/>
          </a:p>
          <a:p>
            <a:endParaRPr lang="zh-CN" altLang="en-US" sz="2000" dirty="0"/>
          </a:p>
        </p:txBody>
      </p:sp>
      <p:sp>
        <p:nvSpPr>
          <p:cNvPr id="4" name="页脚占位符 3">
            <a:extLst>
              <a:ext uri="{FF2B5EF4-FFF2-40B4-BE49-F238E27FC236}">
                <a16:creationId xmlns:a16="http://schemas.microsoft.com/office/drawing/2014/main" id="{1CB10CC4-8EFE-CA2A-7DDA-97F625FCBC5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419381A-3991-4438-2BD4-D37E78B62084}"/>
              </a:ext>
            </a:extLst>
          </p:cNvPr>
          <p:cNvSpPr>
            <a:spLocks noGrp="1"/>
          </p:cNvSpPr>
          <p:nvPr>
            <p:ph type="sldNum" sz="quarter" idx="12"/>
          </p:nvPr>
        </p:nvSpPr>
        <p:spPr/>
        <p:txBody>
          <a:bodyPr/>
          <a:lstStyle/>
          <a:p>
            <a:fld id="{D41FC515-8169-4A29-AA56-DBE520D5741B}" type="slidenum">
              <a:rPr lang="zh-CN" altLang="en-US" smtClean="0"/>
              <a:t>29</a:t>
            </a:fld>
            <a:endParaRPr lang="zh-CN" altLang="en-US"/>
          </a:p>
        </p:txBody>
      </p:sp>
      <p:pic>
        <p:nvPicPr>
          <p:cNvPr id="7" name="图片 6">
            <a:extLst>
              <a:ext uri="{FF2B5EF4-FFF2-40B4-BE49-F238E27FC236}">
                <a16:creationId xmlns:a16="http://schemas.microsoft.com/office/drawing/2014/main" id="{7DDB821D-AD22-1408-23F1-18C61D3FF85C}"/>
              </a:ext>
            </a:extLst>
          </p:cNvPr>
          <p:cNvPicPr>
            <a:picLocks noChangeAspect="1"/>
          </p:cNvPicPr>
          <p:nvPr/>
        </p:nvPicPr>
        <p:blipFill>
          <a:blip r:embed="rId2"/>
          <a:stretch>
            <a:fillRect/>
          </a:stretch>
        </p:blipFill>
        <p:spPr>
          <a:xfrm>
            <a:off x="1340419" y="3746308"/>
            <a:ext cx="6083065" cy="1782537"/>
          </a:xfrm>
          <a:prstGeom prst="rect">
            <a:avLst/>
          </a:prstGeom>
        </p:spPr>
      </p:pic>
    </p:spTree>
    <p:extLst>
      <p:ext uri="{BB962C8B-B14F-4D97-AF65-F5344CB8AC3E}">
        <p14:creationId xmlns:p14="http://schemas.microsoft.com/office/powerpoint/2010/main" val="1531675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3E45BB-8853-33D3-20C9-E6B8BB2ACE69}"/>
              </a:ext>
            </a:extLst>
          </p:cNvPr>
          <p:cNvSpPr>
            <a:spLocks noGrp="1"/>
          </p:cNvSpPr>
          <p:nvPr>
            <p:ph type="title"/>
          </p:nvPr>
        </p:nvSpPr>
        <p:spPr/>
        <p:txBody>
          <a:bodyPr/>
          <a:lstStyle/>
          <a:p>
            <a:r>
              <a:rPr lang="zh-CN" altLang="en-US" dirty="0"/>
              <a:t>断点回归设计的估计</a:t>
            </a:r>
            <a:br>
              <a:rPr lang="zh-CN" altLang="en-US" dirty="0"/>
            </a:br>
            <a:r>
              <a:rPr lang="zh-CN" altLang="en-US" sz="2400" dirty="0"/>
              <a:t>软件</a:t>
            </a:r>
          </a:p>
        </p:txBody>
      </p:sp>
      <p:sp>
        <p:nvSpPr>
          <p:cNvPr id="3" name="内容占位符 2">
            <a:extLst>
              <a:ext uri="{FF2B5EF4-FFF2-40B4-BE49-F238E27FC236}">
                <a16:creationId xmlns:a16="http://schemas.microsoft.com/office/drawing/2014/main" id="{164FB514-3581-5FFF-448A-38FE397F8AA8}"/>
              </a:ext>
            </a:extLst>
          </p:cNvPr>
          <p:cNvSpPr>
            <a:spLocks noGrp="1"/>
          </p:cNvSpPr>
          <p:nvPr>
            <p:ph idx="1"/>
          </p:nvPr>
        </p:nvSpPr>
        <p:spPr/>
        <p:txBody>
          <a:bodyPr/>
          <a:lstStyle/>
          <a:p>
            <a:r>
              <a:rPr lang="zh-CN" altLang="en-US" dirty="0"/>
              <a:t>可以手动实施（参考</a:t>
            </a:r>
            <a:r>
              <a:rPr lang="en-US" altLang="zh-CN" dirty="0"/>
              <a:t>Cattaneo et al. (2019) </a:t>
            </a:r>
            <a:r>
              <a:rPr lang="zh-CN" altLang="en-US" dirty="0"/>
              <a:t>第</a:t>
            </a:r>
            <a:r>
              <a:rPr lang="en-US" altLang="zh-CN" dirty="0"/>
              <a:t>4.2.4 </a:t>
            </a:r>
            <a:r>
              <a:rPr lang="zh-CN" altLang="en-US" dirty="0"/>
              <a:t>节）或使用用户命令</a:t>
            </a:r>
            <a:r>
              <a:rPr lang="en-US" altLang="zh-CN" dirty="0" err="1"/>
              <a:t>rdrobust</a:t>
            </a:r>
            <a:endParaRPr lang="en-US" altLang="zh-CN" dirty="0"/>
          </a:p>
          <a:p>
            <a:r>
              <a:rPr lang="zh-CN" altLang="en-US" dirty="0"/>
              <a:t>可以选择核（比如三角核）、多项式阶数𝑝 以及设定带宽</a:t>
            </a:r>
            <a:r>
              <a:rPr lang="en-US" altLang="zh-CN" dirty="0"/>
              <a:t>ℎ</a:t>
            </a:r>
          </a:p>
          <a:p>
            <a:r>
              <a:rPr lang="en-US" altLang="zh-CN" dirty="0"/>
              <a:t>MSE-</a:t>
            </a:r>
            <a:r>
              <a:rPr lang="zh-CN" altLang="en-US" dirty="0"/>
              <a:t>最优带宽可以用用户命令</a:t>
            </a:r>
            <a:r>
              <a:rPr lang="en-US" altLang="zh-CN" dirty="0" err="1"/>
              <a:t>rdbwselect</a:t>
            </a:r>
            <a:endParaRPr lang="en-US" altLang="zh-CN" dirty="0"/>
          </a:p>
          <a:p>
            <a:r>
              <a:rPr lang="en-US" altLang="zh-CN" dirty="0" err="1"/>
              <a:t>rdplot</a:t>
            </a:r>
            <a:r>
              <a:rPr lang="en-US" altLang="zh-CN" dirty="0"/>
              <a:t> </a:t>
            </a:r>
            <a:r>
              <a:rPr lang="zh-CN" altLang="en-US" dirty="0"/>
              <a:t>画断点回归图</a:t>
            </a:r>
          </a:p>
        </p:txBody>
      </p:sp>
      <p:sp>
        <p:nvSpPr>
          <p:cNvPr id="4" name="页脚占位符 3">
            <a:extLst>
              <a:ext uri="{FF2B5EF4-FFF2-40B4-BE49-F238E27FC236}">
                <a16:creationId xmlns:a16="http://schemas.microsoft.com/office/drawing/2014/main" id="{FD81A2F4-63EA-775B-2816-DD1C932D26D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89118BF1-A3E3-290E-FCB8-9C5E1F062ABB}"/>
              </a:ext>
            </a:extLst>
          </p:cNvPr>
          <p:cNvSpPr>
            <a:spLocks noGrp="1"/>
          </p:cNvSpPr>
          <p:nvPr>
            <p:ph type="sldNum" sz="quarter" idx="12"/>
          </p:nvPr>
        </p:nvSpPr>
        <p:spPr/>
        <p:txBody>
          <a:bodyPr/>
          <a:lstStyle/>
          <a:p>
            <a:fld id="{D41FC515-8169-4A29-AA56-DBE520D5741B}" type="slidenum">
              <a:rPr lang="zh-CN" altLang="en-US" smtClean="0"/>
              <a:t>30</a:t>
            </a:fld>
            <a:endParaRPr lang="zh-CN" altLang="en-US"/>
          </a:p>
        </p:txBody>
      </p:sp>
    </p:spTree>
    <p:extLst>
      <p:ext uri="{BB962C8B-B14F-4D97-AF65-F5344CB8AC3E}">
        <p14:creationId xmlns:p14="http://schemas.microsoft.com/office/powerpoint/2010/main" val="19939953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1C0569-CFB6-DD06-5A04-A3D8AA5C3A26}"/>
              </a:ext>
            </a:extLst>
          </p:cNvPr>
          <p:cNvSpPr>
            <a:spLocks noGrp="1"/>
          </p:cNvSpPr>
          <p:nvPr>
            <p:ph type="title"/>
          </p:nvPr>
        </p:nvSpPr>
        <p:spPr/>
        <p:txBody>
          <a:bodyPr/>
          <a:lstStyle/>
          <a:p>
            <a:r>
              <a:rPr lang="zh-CN" altLang="en-US" dirty="0"/>
              <a:t>断点回归设计的估计</a:t>
            </a:r>
            <a:br>
              <a:rPr lang="zh-CN" altLang="en-US" dirty="0"/>
            </a:br>
            <a:r>
              <a:rPr lang="zh-CN" altLang="en-US" sz="2400" dirty="0"/>
              <a:t>统计推断</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8200F97D-B846-057A-CC57-1320C226C931}"/>
                  </a:ext>
                </a:extLst>
              </p:cNvPr>
              <p:cNvSpPr>
                <a:spLocks noGrp="1"/>
              </p:cNvSpPr>
              <p:nvPr>
                <p:ph idx="1"/>
              </p:nvPr>
            </p:nvSpPr>
            <p:spPr/>
            <p:txBody>
              <a:bodyPr>
                <a:normAutofit fontScale="70000" lnSpcReduction="20000"/>
              </a:bodyPr>
              <a:lstStyle/>
              <a:p>
                <a:pPr>
                  <a:lnSpc>
                    <a:spcPct val="120000"/>
                  </a:lnSpc>
                </a:pPr>
                <a:r>
                  <a:rPr lang="zh-CN" altLang="en-US" dirty="0"/>
                  <a:t>如果偏差，渐近置信区间会太小（参考第</a:t>
                </a:r>
                <a:r>
                  <a:rPr lang="en-US" altLang="zh-CN" dirty="0"/>
                  <a:t>1 </a:t>
                </a:r>
                <a:r>
                  <a:rPr lang="zh-CN" altLang="en-US" dirty="0"/>
                  <a:t>讲）</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𝐶𝐼</m:t>
                      </m:r>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r>
                                <a:rPr lang="zh-CN" altLang="en-US" i="1" smtClean="0">
                                  <a:latin typeface="Cambria Math" panose="02040503050406030204" pitchFamily="18" charset="0"/>
                                </a:rPr>
                                <m:t>−</m:t>
                              </m:r>
                              <m:r>
                                <a:rPr lang="zh-CN" altLang="en-US" i="1" smtClean="0">
                                  <a:latin typeface="Cambria Math" panose="02040503050406030204" pitchFamily="18" charset="0"/>
                                </a:rPr>
                                <m:t>𝐵</m:t>
                              </m:r>
                            </m:e>
                          </m:d>
                          <m:r>
                            <a:rPr lang="zh-CN" altLang="en-US" i="1" smtClean="0">
                              <a:latin typeface="Cambria Math" panose="02040503050406030204" pitchFamily="18" charset="0"/>
                            </a:rPr>
                            <m:t>±1.96</m:t>
                          </m:r>
                          <m:rad>
                            <m:radPr>
                              <m:degHide m:val="on"/>
                              <m:ctrlPr>
                                <a:rPr lang="zh-CN" altLang="en-US" i="1" smtClean="0">
                                  <a:latin typeface="Cambria Math" panose="02040503050406030204" pitchFamily="18" charset="0"/>
                                </a:rPr>
                              </m:ctrlPr>
                            </m:radPr>
                            <m:deg/>
                            <m:e>
                              <m:r>
                                <a:rPr lang="zh-CN" altLang="en-US" i="1" smtClean="0">
                                  <a:latin typeface="Cambria Math" panose="02040503050406030204" pitchFamily="18" charset="0"/>
                                </a:rPr>
                                <m:t>𝑉</m:t>
                              </m:r>
                            </m:e>
                          </m:rad>
                        </m:e>
                      </m:d>
                    </m:oMath>
                  </m:oMathPara>
                </a14:m>
                <a:endParaRPr lang="en-US" altLang="zh-CN" dirty="0"/>
              </a:p>
              <a:p>
                <a:pPr>
                  <a:lnSpc>
                    <a:spcPct val="120000"/>
                  </a:lnSpc>
                </a:pPr>
                <a:r>
                  <a:rPr lang="zh-CN" altLang="en-US" dirty="0"/>
                  <a:t>通常的置信区间</a:t>
                </a:r>
                <a:r>
                  <a:rPr lang="en-US" altLang="zh-CN" dirty="0"/>
                  <a:t>(Conventional CI) </a:t>
                </a:r>
                <a:r>
                  <a:rPr lang="zh-CN" altLang="en-US" dirty="0"/>
                  <a:t>忽略可能的偏差，</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𝐶</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𝐼</m:t>
                          </m:r>
                        </m:e>
                        <m:sub>
                          <m:r>
                            <a:rPr lang="zh-CN" altLang="en-US" i="1" smtClean="0">
                              <a:latin typeface="Cambria Math" panose="02040503050406030204" pitchFamily="18" charset="0"/>
                            </a:rPr>
                            <m:t>𝑐</m:t>
                          </m:r>
                        </m:sub>
                      </m:sSub>
                      <m:r>
                        <a:rPr lang="zh-CN" altLang="en-US" i="1" smtClean="0">
                          <a:latin typeface="Cambria Math" panose="02040503050406030204" pitchFamily="18" charset="0"/>
                        </a:rPr>
                        <m:t>=</m:t>
                      </m:r>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r>
                        <a:rPr lang="zh-CN" altLang="en-US" i="1" smtClean="0">
                          <a:latin typeface="Cambria Math" panose="02040503050406030204" pitchFamily="18" charset="0"/>
                        </a:rPr>
                        <m:t>±1.96</m:t>
                      </m:r>
                      <m:rad>
                        <m:radPr>
                          <m:degHide m:val="on"/>
                          <m:ctrlPr>
                            <a:rPr lang="zh-CN" altLang="en-US" i="1" smtClean="0">
                              <a:latin typeface="Cambria Math" panose="02040503050406030204" pitchFamily="18" charset="0"/>
                            </a:rPr>
                          </m:ctrlPr>
                        </m:radPr>
                        <m:deg/>
                        <m:e>
                          <m:r>
                            <a:rPr lang="zh-CN" altLang="en-US" i="1" smtClean="0">
                              <a:latin typeface="Cambria Math" panose="02040503050406030204" pitchFamily="18" charset="0"/>
                            </a:rPr>
                            <m:t>𝑉</m:t>
                          </m:r>
                        </m:e>
                      </m:rad>
                    </m:oMath>
                  </m:oMathPara>
                </a14:m>
                <a:endParaRPr lang="en-US" altLang="zh-CN" dirty="0"/>
              </a:p>
              <a:p>
                <a:pPr marL="0" indent="0">
                  <a:lnSpc>
                    <a:spcPct val="120000"/>
                  </a:lnSpc>
                  <a:buNone/>
                </a:pPr>
                <a:r>
                  <a:rPr lang="en-US" altLang="zh-CN" dirty="0"/>
                  <a:t>Cattaneo et al. (2019) </a:t>
                </a:r>
                <a:r>
                  <a:rPr lang="zh-CN" altLang="en-US" dirty="0"/>
                  <a:t>不建议使用</a:t>
                </a:r>
                <a:endParaRPr lang="en-US" altLang="zh-CN" dirty="0"/>
              </a:p>
              <a:p>
                <a:pPr>
                  <a:lnSpc>
                    <a:spcPct val="120000"/>
                  </a:lnSpc>
                </a:pPr>
                <a:r>
                  <a:rPr lang="zh-CN" altLang="en-US" dirty="0"/>
                  <a:t>偏差调整的置信区间</a:t>
                </a:r>
                <a:r>
                  <a:rPr lang="en-US" altLang="zh-CN" dirty="0"/>
                  <a:t>(Bias correction CI)</a:t>
                </a:r>
                <a:r>
                  <a:rPr lang="zh-CN" altLang="en-US" dirty="0"/>
                  <a:t>，</a:t>
                </a:r>
                <a:endParaRPr lang="en-US" altLang="zh-CN" dirty="0"/>
              </a:p>
              <a:p>
                <a:pPr marL="0" indent="0">
                  <a:lnSpc>
                    <a:spcPct val="120000"/>
                  </a:lnSpc>
                  <a:buNone/>
                </a:pPr>
                <a14:m>
                  <m:oMathPara xmlns:m="http://schemas.openxmlformats.org/officeDocument/2006/math">
                    <m:oMath>
                      <m:r>
                        <a:rPr lang="zh-CN" altLang="en-US" i="1" smtClean="0">
                          <a:latin typeface="Cambria Math" panose="02040503050406030204" pitchFamily="18" charset="0"/>
                        </a:rPr>
                        <m:t>𝐶</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𝐼</m:t>
                          </m:r>
                        </m:e>
                        <m:sub>
                          <m:r>
                            <a:rPr lang="zh-CN" altLang="en-US" i="1" smtClean="0">
                              <a:latin typeface="Cambria Math" panose="02040503050406030204" pitchFamily="18" charset="0"/>
                            </a:rPr>
                            <m:t>𝑏𝑐</m:t>
                          </m:r>
                        </m:sub>
                      </m:sSub>
                      <m:r>
                        <a:rPr lang="zh-CN" altLang="en-US" i="1" smtClean="0">
                          <a:latin typeface="Cambria Math" panose="02040503050406030204" pitchFamily="18" charset="0"/>
                        </a:rPr>
                        <m:t>=</m:t>
                      </m:r>
                      <m:d>
                        <m:dPr>
                          <m:begChr m:val="["/>
                          <m:endChr m:val="]"/>
                          <m:ctrlPr>
                            <a:rPr lang="zh-CN" altLang="en-US" i="1" smtClean="0">
                              <a:latin typeface="Cambria Math" panose="02040503050406030204" pitchFamily="18" charset="0"/>
                            </a:rPr>
                          </m:ctrlPr>
                        </m:dPr>
                        <m:e>
                          <m:d>
                            <m:dPr>
                              <m:ctrlPr>
                                <a:rPr lang="zh-CN" altLang="en-US" i="1" smtClean="0">
                                  <a:latin typeface="Cambria Math" panose="02040503050406030204" pitchFamily="18" charset="0"/>
                                </a:rPr>
                              </m:ctrlPr>
                            </m:dPr>
                            <m:e>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r>
                                <a:rPr lang="zh-CN" altLang="en-US" i="1" smtClean="0">
                                  <a:latin typeface="Cambria Math" panose="02040503050406030204" pitchFamily="18" charset="0"/>
                                </a:rPr>
                                <m:t>−</m:t>
                              </m:r>
                              <m:acc>
                                <m:accPr>
                                  <m:chr m:val="ˆ"/>
                                  <m:ctrlPr>
                                    <a:rPr lang="zh-CN" altLang="en-US" i="1" smtClean="0">
                                      <a:latin typeface="Cambria Math" panose="02040503050406030204" pitchFamily="18" charset="0"/>
                                    </a:rPr>
                                  </m:ctrlPr>
                                </m:accPr>
                                <m:e>
                                  <m:r>
                                    <a:rPr lang="zh-CN" altLang="en-US" i="1" smtClean="0">
                                      <a:latin typeface="Cambria Math" panose="02040503050406030204" pitchFamily="18" charset="0"/>
                                    </a:rPr>
                                    <m:t>𝐵</m:t>
                                  </m:r>
                                </m:e>
                              </m:acc>
                            </m:e>
                          </m:d>
                          <m:r>
                            <a:rPr lang="zh-CN" altLang="en-US" i="1" smtClean="0">
                              <a:latin typeface="Cambria Math" panose="02040503050406030204" pitchFamily="18" charset="0"/>
                            </a:rPr>
                            <m:t>±1.96</m:t>
                          </m:r>
                          <m:rad>
                            <m:radPr>
                              <m:degHide m:val="on"/>
                              <m:ctrlPr>
                                <a:rPr lang="zh-CN" altLang="en-US" i="1" smtClean="0">
                                  <a:latin typeface="Cambria Math" panose="02040503050406030204" pitchFamily="18" charset="0"/>
                                </a:rPr>
                              </m:ctrlPr>
                            </m:radPr>
                            <m:deg/>
                            <m:e>
                              <m:r>
                                <a:rPr lang="zh-CN" altLang="en-US" i="1" smtClean="0">
                                  <a:latin typeface="Cambria Math" panose="02040503050406030204" pitchFamily="18" charset="0"/>
                                </a:rPr>
                                <m:t>𝑉</m:t>
                              </m:r>
                            </m:e>
                          </m:rad>
                        </m:e>
                      </m:d>
                    </m:oMath>
                  </m:oMathPara>
                </a14:m>
                <a:endParaRPr lang="en-US" altLang="zh-CN" dirty="0"/>
              </a:p>
              <a:p>
                <a:pPr>
                  <a:lnSpc>
                    <a:spcPct val="120000"/>
                  </a:lnSpc>
                </a:pPr>
                <a:r>
                  <a:rPr lang="zh-CN" altLang="en-US" dirty="0"/>
                  <a:t>稳健的偏差调整置信区间 </a:t>
                </a:r>
                <a:r>
                  <a:rPr lang="en-US" altLang="zh-CN" dirty="0"/>
                  <a:t>(Robust bias correction CI)</a:t>
                </a:r>
                <a:r>
                  <a:rPr lang="zh-CN" altLang="en-US" dirty="0"/>
                  <a:t>，估计了偏差项 </a:t>
                </a:r>
                <a14:m>
                  <m:oMath xmlns:m="http://schemas.openxmlformats.org/officeDocument/2006/math">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𝐵</m:t>
                        </m:r>
                      </m:e>
                    </m:acc>
                  </m:oMath>
                </a14:m>
                <a:r>
                  <a:rPr lang="zh-CN" altLang="en-US" dirty="0"/>
                  <a:t>，并将偏差调整步骤的不确定性纳入新的渐近方差</a:t>
                </a:r>
                <a:endParaRPr lang="en-US" altLang="zh-CN" dirty="0"/>
              </a:p>
              <a:p>
                <a:pPr marL="0" indent="0">
                  <a:lnSpc>
                    <a:spcPct val="120000"/>
                  </a:lnSpc>
                  <a:buNone/>
                </a:pPr>
                <a14:m>
                  <m:oMathPara xmlns:m="http://schemas.openxmlformats.org/officeDocument/2006/math">
                    <m:oMath>
                      <m:r>
                        <a:rPr lang="en-US" altLang="zh-CN" i="1" smtClean="0">
                          <a:latin typeface="Cambria Math" panose="02040503050406030204" pitchFamily="18" charset="0"/>
                        </a:rPr>
                        <m:t>𝐶</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𝐼</m:t>
                          </m:r>
                        </m:e>
                        <m:sub>
                          <m:r>
                            <a:rPr lang="en-US" altLang="zh-CN" i="1" smtClean="0">
                              <a:latin typeface="Cambria Math" panose="02040503050406030204" pitchFamily="18" charset="0"/>
                            </a:rPr>
                            <m:t>𝑟𝑏𝑐</m:t>
                          </m:r>
                        </m:sub>
                      </m:sSub>
                      <m:r>
                        <a:rPr lang="en-US" altLang="zh-CN"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d>
                            <m:dPr>
                              <m:ctrlPr>
                                <a:rPr lang="en-US" altLang="zh-CN" i="1" smtClean="0">
                                  <a:latin typeface="Cambria Math" panose="02040503050406030204" pitchFamily="18" charset="0"/>
                                </a:rPr>
                              </m:ctrlPr>
                            </m:dPr>
                            <m:e>
                              <m:acc>
                                <m:accPr>
                                  <m:chr m:val="ˆ"/>
                                  <m:ctrlPr>
                                    <a:rPr lang="en-US" altLang="zh-CN" i="1" smtClean="0">
                                      <a:latin typeface="Cambria Math" panose="02040503050406030204" pitchFamily="18" charset="0"/>
                                    </a:rPr>
                                  </m:ctrlPr>
                                </m:accPr>
                                <m:e>
                                  <m:r>
                                    <a:rPr lang="en-US" altLang="zh-CN" i="1" smtClean="0">
                                      <a:latin typeface="Cambria Math" panose="02040503050406030204" pitchFamily="18" charset="0"/>
                                    </a:rPr>
                                    <m:t>𝜏</m:t>
                                  </m:r>
                                </m:e>
                              </m:acc>
                              <m:r>
                                <a:rPr lang="en-US" altLang="zh-CN" i="1" smtClean="0">
                                  <a:latin typeface="Cambria Math" panose="02040503050406030204" pitchFamily="18" charset="0"/>
                                </a:rPr>
                                <m:t>−</m:t>
                              </m:r>
                              <m:acc>
                                <m:accPr>
                                  <m:chr m:val="ˆ"/>
                                  <m:ctrlPr>
                                    <a:rPr lang="en-US" altLang="zh-CN" i="1" smtClean="0">
                                      <a:latin typeface="Cambria Math" panose="02040503050406030204" pitchFamily="18" charset="0"/>
                                    </a:rPr>
                                  </m:ctrlPr>
                                </m:accPr>
                                <m:e>
                                  <m:r>
                                    <a:rPr lang="en-US" altLang="zh-CN" i="1" smtClean="0">
                                      <a:latin typeface="Cambria Math" panose="02040503050406030204" pitchFamily="18" charset="0"/>
                                    </a:rPr>
                                    <m:t>𝐵</m:t>
                                  </m:r>
                                </m:e>
                              </m:acc>
                            </m:e>
                          </m:d>
                          <m:r>
                            <a:rPr lang="en-US" altLang="zh-CN" i="1" smtClean="0">
                              <a:latin typeface="Cambria Math" panose="02040503050406030204" pitchFamily="18" charset="0"/>
                            </a:rPr>
                            <m:t>±1.96</m:t>
                          </m:r>
                          <m:rad>
                            <m:radPr>
                              <m:degHide m:val="on"/>
                              <m:ctrlPr>
                                <a:rPr lang="en-US" altLang="zh-CN" i="1" smtClean="0">
                                  <a:latin typeface="Cambria Math" panose="02040503050406030204" pitchFamily="18" charset="0"/>
                                </a:rPr>
                              </m:ctrlPr>
                            </m:radPr>
                            <m:deg/>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𝑉</m:t>
                                  </m:r>
                                </m:e>
                                <m:sub>
                                  <m:r>
                                    <a:rPr lang="en-US" altLang="zh-CN" i="1" smtClean="0">
                                      <a:latin typeface="Cambria Math" panose="02040503050406030204" pitchFamily="18" charset="0"/>
                                    </a:rPr>
                                    <m:t>𝑏𝑐</m:t>
                                  </m:r>
                                </m:sub>
                              </m:sSub>
                            </m:e>
                          </m:rad>
                        </m:e>
                      </m:d>
                    </m:oMath>
                  </m:oMathPara>
                </a14:m>
                <a:endParaRPr lang="en-US" altLang="zh-CN" dirty="0"/>
              </a:p>
              <a:p>
                <a:pPr>
                  <a:lnSpc>
                    <a:spcPct val="120000"/>
                  </a:lnSpc>
                </a:pPr>
                <a:endParaRPr lang="zh-CN" altLang="en-US" dirty="0"/>
              </a:p>
            </p:txBody>
          </p:sp>
        </mc:Choice>
        <mc:Fallback>
          <p:sp>
            <p:nvSpPr>
              <p:cNvPr id="3" name="内容占位符 2">
                <a:extLst>
                  <a:ext uri="{FF2B5EF4-FFF2-40B4-BE49-F238E27FC236}">
                    <a16:creationId xmlns:a16="http://schemas.microsoft.com/office/drawing/2014/main" id="{8200F97D-B846-057A-CC57-1320C226C931}"/>
                  </a:ext>
                </a:extLst>
              </p:cNvPr>
              <p:cNvSpPr>
                <a:spLocks noGrp="1" noRot="1" noChangeAspect="1" noMove="1" noResize="1" noEditPoints="1" noAdjustHandles="1" noChangeArrowheads="1" noChangeShapeType="1" noTextEdit="1"/>
              </p:cNvSpPr>
              <p:nvPr>
                <p:ph idx="1"/>
              </p:nvPr>
            </p:nvSpPr>
            <p:spPr>
              <a:blipFill>
                <a:blip r:embed="rId2"/>
                <a:stretch>
                  <a:fillRect l="-773" t="-700" r="-77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E97D634-1BC9-D7C9-8AB6-39B7E9E7F2A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8D37EEC4-9C1D-7191-FAB9-93DF7B38D199}"/>
              </a:ext>
            </a:extLst>
          </p:cNvPr>
          <p:cNvSpPr>
            <a:spLocks noGrp="1"/>
          </p:cNvSpPr>
          <p:nvPr>
            <p:ph type="sldNum" sz="quarter" idx="12"/>
          </p:nvPr>
        </p:nvSpPr>
        <p:spPr/>
        <p:txBody>
          <a:bodyPr/>
          <a:lstStyle/>
          <a:p>
            <a:fld id="{D41FC515-8169-4A29-AA56-DBE520D5741B}" type="slidenum">
              <a:rPr lang="zh-CN" altLang="en-US" smtClean="0"/>
              <a:t>31</a:t>
            </a:fld>
            <a:endParaRPr lang="zh-CN" altLang="en-US"/>
          </a:p>
        </p:txBody>
      </p:sp>
    </p:spTree>
    <p:extLst>
      <p:ext uri="{BB962C8B-B14F-4D97-AF65-F5344CB8AC3E}">
        <p14:creationId xmlns:p14="http://schemas.microsoft.com/office/powerpoint/2010/main" val="20882885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AB3D39-D431-4E43-A768-3EF666C13159}"/>
              </a:ext>
            </a:extLst>
          </p:cNvPr>
          <p:cNvSpPr>
            <a:spLocks noGrp="1"/>
          </p:cNvSpPr>
          <p:nvPr>
            <p:ph type="title"/>
          </p:nvPr>
        </p:nvSpPr>
        <p:spPr/>
        <p:txBody>
          <a:bodyPr/>
          <a:lstStyle/>
          <a:p>
            <a:r>
              <a:rPr lang="zh-CN" altLang="en-US" dirty="0"/>
              <a:t>断点回归设计的估计</a:t>
            </a:r>
            <a:br>
              <a:rPr lang="zh-CN" altLang="en-US" dirty="0"/>
            </a:br>
            <a:r>
              <a:rPr lang="zh-CN" altLang="en-US" sz="2400" dirty="0"/>
              <a:t>统计推断</a:t>
            </a:r>
            <a:endParaRPr lang="zh-CN" altLang="en-US" dirty="0"/>
          </a:p>
        </p:txBody>
      </p:sp>
      <p:pic>
        <p:nvPicPr>
          <p:cNvPr id="7" name="内容占位符 6">
            <a:extLst>
              <a:ext uri="{FF2B5EF4-FFF2-40B4-BE49-F238E27FC236}">
                <a16:creationId xmlns:a16="http://schemas.microsoft.com/office/drawing/2014/main" id="{4DA8694B-EEE0-6A2B-44ED-4BE721A3DD3E}"/>
              </a:ext>
            </a:extLst>
          </p:cNvPr>
          <p:cNvPicPr>
            <a:picLocks noGrp="1" noChangeAspect="1"/>
          </p:cNvPicPr>
          <p:nvPr>
            <p:ph idx="1"/>
          </p:nvPr>
        </p:nvPicPr>
        <p:blipFill>
          <a:blip r:embed="rId2"/>
          <a:stretch>
            <a:fillRect/>
          </a:stretch>
        </p:blipFill>
        <p:spPr>
          <a:xfrm>
            <a:off x="855474" y="2596612"/>
            <a:ext cx="7433052" cy="2511166"/>
          </a:xfrm>
          <a:prstGeom prst="rect">
            <a:avLst/>
          </a:prstGeom>
        </p:spPr>
      </p:pic>
      <p:sp>
        <p:nvSpPr>
          <p:cNvPr id="4" name="页脚占位符 3">
            <a:extLst>
              <a:ext uri="{FF2B5EF4-FFF2-40B4-BE49-F238E27FC236}">
                <a16:creationId xmlns:a16="http://schemas.microsoft.com/office/drawing/2014/main" id="{BFAC907B-04B8-C67D-37F6-6AFD70E2020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9AF99F0-81A1-A417-8759-99D909C8F8E8}"/>
              </a:ext>
            </a:extLst>
          </p:cNvPr>
          <p:cNvSpPr>
            <a:spLocks noGrp="1"/>
          </p:cNvSpPr>
          <p:nvPr>
            <p:ph type="sldNum" sz="quarter" idx="12"/>
          </p:nvPr>
        </p:nvSpPr>
        <p:spPr/>
        <p:txBody>
          <a:bodyPr/>
          <a:lstStyle/>
          <a:p>
            <a:fld id="{D41FC515-8169-4A29-AA56-DBE520D5741B}" type="slidenum">
              <a:rPr lang="zh-CN" altLang="en-US" smtClean="0"/>
              <a:t>32</a:t>
            </a:fld>
            <a:endParaRPr lang="zh-CN" altLang="en-US"/>
          </a:p>
        </p:txBody>
      </p:sp>
    </p:spTree>
    <p:extLst>
      <p:ext uri="{BB962C8B-B14F-4D97-AF65-F5344CB8AC3E}">
        <p14:creationId xmlns:p14="http://schemas.microsoft.com/office/powerpoint/2010/main" val="2917542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781EDC-9F14-4B10-C995-2B7A6002C73D}"/>
              </a:ext>
            </a:extLst>
          </p:cNvPr>
          <p:cNvSpPr>
            <a:spLocks noGrp="1"/>
          </p:cNvSpPr>
          <p:nvPr>
            <p:ph type="title"/>
          </p:nvPr>
        </p:nvSpPr>
        <p:spPr/>
        <p:txBody>
          <a:bodyPr/>
          <a:lstStyle/>
          <a:p>
            <a:r>
              <a:rPr lang="zh-CN" altLang="en-US" dirty="0"/>
              <a:t>断点回归设计的估计</a:t>
            </a:r>
          </a:p>
        </p:txBody>
      </p:sp>
      <p:sp>
        <p:nvSpPr>
          <p:cNvPr id="3" name="内容占位符 2">
            <a:extLst>
              <a:ext uri="{FF2B5EF4-FFF2-40B4-BE49-F238E27FC236}">
                <a16:creationId xmlns:a16="http://schemas.microsoft.com/office/drawing/2014/main" id="{EF95219D-5E92-1FB8-B484-A564A936E6B5}"/>
              </a:ext>
            </a:extLst>
          </p:cNvPr>
          <p:cNvSpPr>
            <a:spLocks noGrp="1"/>
          </p:cNvSpPr>
          <p:nvPr>
            <p:ph idx="1"/>
          </p:nvPr>
        </p:nvSpPr>
        <p:spPr/>
        <p:txBody>
          <a:bodyPr>
            <a:normAutofit fontScale="92500"/>
          </a:bodyPr>
          <a:lstStyle/>
          <a:p>
            <a:r>
              <a:rPr lang="en-US" altLang="zh-CN" dirty="0"/>
              <a:t>6. </a:t>
            </a:r>
            <a:r>
              <a:rPr lang="zh-CN" altLang="en-US" dirty="0"/>
              <a:t>模型设定检验</a:t>
            </a:r>
            <a:endParaRPr lang="en-US" altLang="zh-CN" dirty="0"/>
          </a:p>
          <a:p>
            <a:pPr lvl="1"/>
            <a:r>
              <a:rPr lang="zh-CN" altLang="en-US" dirty="0"/>
              <a:t>协变量连续性检验，也称为伪结果检验</a:t>
            </a:r>
            <a:r>
              <a:rPr lang="en-US" altLang="zh-CN" dirty="0"/>
              <a:t>(pseudo outcome)</a:t>
            </a:r>
          </a:p>
          <a:p>
            <a:pPr lvl="1"/>
            <a:r>
              <a:rPr lang="zh-CN" altLang="en-US" dirty="0"/>
              <a:t>参考变量分布连续性检验，</a:t>
            </a:r>
            <a:r>
              <a:rPr lang="en-US" altLang="zh-CN" dirty="0"/>
              <a:t>McCrary(2008)</a:t>
            </a:r>
          </a:p>
          <a:p>
            <a:pPr lvl="1"/>
            <a:r>
              <a:rPr lang="zh-CN" altLang="en-US" dirty="0"/>
              <a:t>伪断点检验</a:t>
            </a:r>
            <a:r>
              <a:rPr lang="en-US" altLang="zh-CN" dirty="0"/>
              <a:t>(pseudo cutoff point)</a:t>
            </a:r>
          </a:p>
          <a:p>
            <a:pPr lvl="1"/>
            <a:r>
              <a:rPr lang="zh-CN" altLang="en-US" dirty="0"/>
              <a:t>带宽选择的敏感性检验</a:t>
            </a:r>
            <a:endParaRPr lang="en-US" altLang="zh-CN" dirty="0"/>
          </a:p>
          <a:p>
            <a:r>
              <a:rPr lang="en-US" altLang="zh-CN" dirty="0"/>
              <a:t>7. </a:t>
            </a:r>
            <a:r>
              <a:rPr lang="zh-CN" altLang="en-US" dirty="0"/>
              <a:t>小结</a:t>
            </a:r>
            <a:endParaRPr lang="en-US" altLang="zh-CN" dirty="0"/>
          </a:p>
          <a:p>
            <a:pPr lvl="1"/>
            <a:r>
              <a:rPr lang="zh-CN" altLang="en-US" dirty="0"/>
              <a:t>图形分析：结果变量与参考变量关系图（原因变量与参考变量关系图）</a:t>
            </a:r>
            <a:endParaRPr lang="en-US" altLang="zh-CN" dirty="0"/>
          </a:p>
          <a:p>
            <a:pPr lvl="1"/>
            <a:r>
              <a:rPr lang="zh-CN" altLang="en-US" dirty="0"/>
              <a:t>因果效应估计：</a:t>
            </a:r>
            <a:r>
              <a:rPr lang="en-US" altLang="zh-CN" dirty="0"/>
              <a:t>LLR</a:t>
            </a:r>
          </a:p>
          <a:p>
            <a:pPr lvl="1"/>
            <a:r>
              <a:rPr lang="zh-CN" altLang="en-US" dirty="0"/>
              <a:t>稳健性检验：</a:t>
            </a:r>
          </a:p>
        </p:txBody>
      </p:sp>
      <p:sp>
        <p:nvSpPr>
          <p:cNvPr id="4" name="页脚占位符 3">
            <a:extLst>
              <a:ext uri="{FF2B5EF4-FFF2-40B4-BE49-F238E27FC236}">
                <a16:creationId xmlns:a16="http://schemas.microsoft.com/office/drawing/2014/main" id="{9DCD0655-1291-6269-C009-0CCB3619673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CA38FCF-0981-4A4C-B06B-5B49042AFFB9}"/>
              </a:ext>
            </a:extLst>
          </p:cNvPr>
          <p:cNvSpPr>
            <a:spLocks noGrp="1"/>
          </p:cNvSpPr>
          <p:nvPr>
            <p:ph type="sldNum" sz="quarter" idx="12"/>
          </p:nvPr>
        </p:nvSpPr>
        <p:spPr/>
        <p:txBody>
          <a:bodyPr/>
          <a:lstStyle/>
          <a:p>
            <a:fld id="{D41FC515-8169-4A29-AA56-DBE520D5741B}" type="slidenum">
              <a:rPr lang="zh-CN" altLang="en-US" smtClean="0"/>
              <a:t>33</a:t>
            </a:fld>
            <a:endParaRPr lang="zh-CN" altLang="en-US"/>
          </a:p>
        </p:txBody>
      </p:sp>
    </p:spTree>
    <p:extLst>
      <p:ext uri="{BB962C8B-B14F-4D97-AF65-F5344CB8AC3E}">
        <p14:creationId xmlns:p14="http://schemas.microsoft.com/office/powerpoint/2010/main" val="24620761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24088F-39A7-E399-8A8B-0CEC85D162EF}"/>
              </a:ext>
            </a:extLst>
          </p:cNvPr>
          <p:cNvSpPr>
            <a:spLocks noGrp="1"/>
          </p:cNvSpPr>
          <p:nvPr>
            <p:ph type="title"/>
          </p:nvPr>
        </p:nvSpPr>
        <p:spPr/>
        <p:txBody>
          <a:bodyPr/>
          <a:lstStyle/>
          <a:p>
            <a:r>
              <a:rPr lang="zh-CN" altLang="en-US" dirty="0"/>
              <a:t>断点双重差分法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A50FE72-3798-07F9-03CB-E91C1C409A33}"/>
                  </a:ext>
                </a:extLst>
              </p:cNvPr>
              <p:cNvSpPr>
                <a:spLocks noGrp="1"/>
              </p:cNvSpPr>
              <p:nvPr>
                <p:ph idx="1"/>
              </p:nvPr>
            </p:nvSpPr>
            <p:spPr/>
            <p:txBody>
              <a:bodyPr>
                <a:normAutofit fontScale="47500" lnSpcReduction="20000"/>
              </a:bodyPr>
              <a:lstStyle/>
              <a:p>
                <a:pPr>
                  <a:lnSpc>
                    <a:spcPct val="120000"/>
                  </a:lnSpc>
                </a:pPr>
                <a:r>
                  <a:rPr lang="zh-CN" altLang="en-US" dirty="0"/>
                  <a:t>断点双重差分法</a:t>
                </a:r>
                <a:r>
                  <a:rPr lang="en-US" altLang="zh-CN" dirty="0"/>
                  <a:t>(Difference-in-discontinuities, RD-DID)</a:t>
                </a:r>
                <a:r>
                  <a:rPr lang="zh-CN" altLang="en-US" dirty="0"/>
                  <a:t>。文献中对断点双重差分设计的缩写还有</a:t>
                </a:r>
                <a:r>
                  <a:rPr lang="en-US" altLang="zh-CN" dirty="0"/>
                  <a:t>diff-in-disc</a:t>
                </a:r>
                <a:r>
                  <a:rPr lang="zh-CN" altLang="en-US" dirty="0"/>
                  <a:t>、</a:t>
                </a:r>
                <a:r>
                  <a:rPr lang="en-US" altLang="zh-CN" dirty="0" err="1"/>
                  <a:t>DDisc</a:t>
                </a:r>
                <a:r>
                  <a:rPr lang="zh-CN" altLang="en-US" dirty="0"/>
                  <a:t>、</a:t>
                </a:r>
                <a:r>
                  <a:rPr lang="en-US" altLang="zh-CN" dirty="0"/>
                  <a:t>DID-RD</a:t>
                </a:r>
                <a:r>
                  <a:rPr lang="zh-CN" altLang="en-US" dirty="0"/>
                  <a:t>、</a:t>
                </a:r>
                <a:r>
                  <a:rPr lang="en-US" altLang="zh-CN" dirty="0"/>
                  <a:t>RD-DD</a:t>
                </a:r>
                <a:r>
                  <a:rPr lang="zh-CN" altLang="en-US" dirty="0"/>
                  <a:t>、</a:t>
                </a:r>
                <a:r>
                  <a:rPr lang="en-US" altLang="zh-CN" dirty="0"/>
                  <a:t>RD-</a:t>
                </a:r>
                <a:r>
                  <a:rPr lang="en-US" altLang="zh-CN" dirty="0" err="1"/>
                  <a:t>DiD</a:t>
                </a:r>
                <a:r>
                  <a:rPr lang="zh-CN" altLang="en-US" dirty="0"/>
                  <a:t>，我们选择</a:t>
                </a:r>
                <a:r>
                  <a:rPr lang="en-US" altLang="zh-CN" dirty="0"/>
                  <a:t>RD-DID </a:t>
                </a:r>
                <a:r>
                  <a:rPr lang="zh-CN" altLang="en-US" dirty="0"/>
                  <a:t>缩写表明它是</a:t>
                </a:r>
                <a:r>
                  <a:rPr lang="en-US" altLang="zh-CN" dirty="0"/>
                  <a:t>RDD </a:t>
                </a:r>
                <a:r>
                  <a:rPr lang="zh-CN" altLang="en-US" dirty="0"/>
                  <a:t>和</a:t>
                </a:r>
                <a:r>
                  <a:rPr lang="en-US" altLang="zh-CN" dirty="0"/>
                  <a:t>DID </a:t>
                </a:r>
                <a:r>
                  <a:rPr lang="zh-CN" altLang="en-US" dirty="0"/>
                  <a:t>两种方法的结合。</a:t>
                </a:r>
                <a:endParaRPr lang="en-US" altLang="zh-CN" dirty="0"/>
              </a:p>
              <a:p>
                <a:pPr>
                  <a:lnSpc>
                    <a:spcPct val="120000"/>
                  </a:lnSpc>
                </a:pPr>
                <a:r>
                  <a:rPr lang="en-US" altLang="zh-CN" dirty="0"/>
                  <a:t>Dickert‐Conlin and Elder (2010) </a:t>
                </a:r>
                <a:r>
                  <a:rPr lang="zh-CN" altLang="en-US" dirty="0"/>
                  <a:t>最早使用了</a:t>
                </a:r>
                <a:r>
                  <a:rPr lang="en-US" altLang="zh-CN" dirty="0"/>
                  <a:t>RD‐DID </a:t>
                </a:r>
                <a:r>
                  <a:rPr lang="zh-CN" altLang="en-US" dirty="0"/>
                  <a:t>设计，</a:t>
                </a:r>
                <a:r>
                  <a:rPr lang="en-US" altLang="zh-CN" dirty="0" err="1"/>
                  <a:t>Grembi</a:t>
                </a:r>
                <a:r>
                  <a:rPr lang="en-US" altLang="zh-CN" dirty="0"/>
                  <a:t> et al. (2016)</a:t>
                </a:r>
                <a:r>
                  <a:rPr lang="zh-CN" altLang="en-US" dirty="0"/>
                  <a:t>对</a:t>
                </a:r>
                <a:r>
                  <a:rPr lang="en-US" altLang="zh-CN" dirty="0"/>
                  <a:t>RD‐DID </a:t>
                </a:r>
                <a:r>
                  <a:rPr lang="zh-CN" altLang="en-US" dirty="0"/>
                  <a:t>的基本识别条件和估计方法进行了最早的讨论</a:t>
                </a:r>
                <a:r>
                  <a:rPr lang="en-US" altLang="zh-CN" dirty="0"/>
                  <a:t>.</a:t>
                </a:r>
              </a:p>
              <a:p>
                <a:pPr>
                  <a:lnSpc>
                    <a:spcPct val="120000"/>
                  </a:lnSpc>
                </a:pPr>
                <a:r>
                  <a:rPr lang="zh-CN" altLang="en-US" dirty="0"/>
                  <a:t>考虑存在两期数据，用𝑇𝑖 </a:t>
                </a:r>
                <a:r>
                  <a:rPr lang="en-US" altLang="zh-CN" dirty="0"/>
                  <a:t>= 0, 1 </a:t>
                </a:r>
                <a:r>
                  <a:rPr lang="zh-CN" altLang="en-US" dirty="0"/>
                  <a:t>表示，事前在断点𝑥</a:t>
                </a:r>
                <a:r>
                  <a:rPr lang="en-US" altLang="zh-CN" dirty="0"/>
                  <a:t>0 </a:t>
                </a:r>
                <a:r>
                  <a:rPr lang="zh-CN" altLang="en-US" dirty="0"/>
                  <a:t>只发生一种政策𝑉𝑖</a:t>
                </a:r>
                <a:r>
                  <a:rPr lang="en-US" altLang="zh-CN" dirty="0"/>
                  <a:t>0</a:t>
                </a:r>
                <a:r>
                  <a:rPr lang="zh-CN" altLang="en-US" dirty="0"/>
                  <a:t>，即𝑉𝑖</a:t>
                </a:r>
                <a:r>
                  <a:rPr lang="en-US" altLang="zh-CN" dirty="0"/>
                  <a:t>0 = </a:t>
                </a:r>
                <a:r>
                  <a:rPr lang="zh-CN" altLang="en-US" dirty="0"/>
                  <a:t>𝟙</a:t>
                </a:r>
                <a:r>
                  <a:rPr lang="en-US" altLang="zh-CN" dirty="0"/>
                  <a:t>[</a:t>
                </a:r>
                <a:r>
                  <a:rPr lang="zh-CN" altLang="en-US" dirty="0"/>
                  <a:t>𝑋𝑖 ≥ 𝑥</a:t>
                </a:r>
                <a:r>
                  <a:rPr lang="en-US" altLang="zh-CN" dirty="0"/>
                  <a:t>0]</a:t>
                </a:r>
                <a:r>
                  <a:rPr lang="zh-CN" altLang="en-US" dirty="0"/>
                  <a:t>，但事后在断点𝑥</a:t>
                </a:r>
                <a:r>
                  <a:rPr lang="en-US" altLang="zh-CN" dirty="0"/>
                  <a:t>0 </a:t>
                </a:r>
                <a:r>
                  <a:rPr lang="zh-CN" altLang="en-US" dirty="0"/>
                  <a:t>处同时发生两种政策𝑉𝑖</a:t>
                </a:r>
                <a:r>
                  <a:rPr lang="en-US" altLang="zh-CN" dirty="0"/>
                  <a:t>1 </a:t>
                </a:r>
                <a:r>
                  <a:rPr lang="zh-CN" altLang="en-US" dirty="0"/>
                  <a:t>和𝐷𝑖</a:t>
                </a:r>
                <a:r>
                  <a:rPr lang="en-US" altLang="zh-CN" dirty="0"/>
                  <a:t>1</a:t>
                </a:r>
                <a:r>
                  <a:rPr lang="zh-CN" altLang="en-US" dirty="0"/>
                  <a:t>，即𝑉𝑖</a:t>
                </a:r>
                <a:r>
                  <a:rPr lang="en-US" altLang="zh-CN" dirty="0"/>
                  <a:t>1 = </a:t>
                </a:r>
                <a:r>
                  <a:rPr lang="zh-CN" altLang="en-US" dirty="0"/>
                  <a:t>𝟙</a:t>
                </a:r>
                <a:r>
                  <a:rPr lang="en-US" altLang="zh-CN" dirty="0"/>
                  <a:t>[</a:t>
                </a:r>
                <a:r>
                  <a:rPr lang="zh-CN" altLang="en-US" dirty="0"/>
                  <a:t>𝑋𝑖 ≥ 𝑥</a:t>
                </a:r>
                <a:r>
                  <a:rPr lang="en-US" altLang="zh-CN" dirty="0"/>
                  <a:t>0]</a:t>
                </a:r>
                <a:r>
                  <a:rPr lang="zh-CN" altLang="en-US" dirty="0"/>
                  <a:t>、𝐷𝑖</a:t>
                </a:r>
                <a:r>
                  <a:rPr lang="en-US" altLang="zh-CN" dirty="0"/>
                  <a:t>1 = </a:t>
                </a:r>
                <a:r>
                  <a:rPr lang="zh-CN" altLang="en-US" dirty="0"/>
                  <a:t>𝟙</a:t>
                </a:r>
                <a:r>
                  <a:rPr lang="en-US" altLang="zh-CN" dirty="0"/>
                  <a:t>[</a:t>
                </a:r>
                <a:r>
                  <a:rPr lang="zh-CN" altLang="en-US" dirty="0"/>
                  <a:t>𝑋𝑖 ≥ 𝑥</a:t>
                </a:r>
                <a:r>
                  <a:rPr lang="en-US" altLang="zh-CN" dirty="0"/>
                  <a:t>0]</a:t>
                </a:r>
                <a:r>
                  <a:rPr lang="zh-CN" altLang="en-US" dirty="0"/>
                  <a:t>，用𝑌𝑖𝑡</a:t>
                </a:r>
                <a:r>
                  <a:rPr lang="en-US" altLang="zh-CN" dirty="0"/>
                  <a:t>(</a:t>
                </a:r>
                <a:r>
                  <a:rPr lang="zh-CN" altLang="en-US" dirty="0"/>
                  <a:t>𝑣</a:t>
                </a:r>
                <a:r>
                  <a:rPr lang="en-US" altLang="zh-CN" dirty="0"/>
                  <a:t>, </a:t>
                </a:r>
                <a:r>
                  <a:rPr lang="zh-CN" altLang="en-US" dirty="0"/>
                  <a:t>𝑑</a:t>
                </a:r>
                <a:r>
                  <a:rPr lang="en-US" altLang="zh-CN" dirty="0"/>
                  <a:t>) </a:t>
                </a:r>
                <a:r>
                  <a:rPr lang="zh-CN" altLang="en-US" dirty="0"/>
                  <a:t>表示潜在结果，𝑌𝑖𝑡 表示观测结果。假设事前事后均满足</a:t>
                </a:r>
                <a:r>
                  <a:rPr lang="en-US" altLang="zh-CN" dirty="0"/>
                  <a:t>RDD </a:t>
                </a:r>
                <a:r>
                  <a:rPr lang="zh-CN" altLang="en-US" dirty="0"/>
                  <a:t>的基本识别条件，如果仅利用事后数据进行断点回归设计估计，结果为</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𝑅𝐷𝐷</m:t>
                              </m:r>
                              <m:r>
                                <a:rPr lang="zh-CN" altLang="en-US" i="1" smtClean="0">
                                  <a:latin typeface="Cambria Math" panose="02040503050406030204" pitchFamily="18" charset="0"/>
                                </a:rPr>
                                <m:t>|</m:t>
                              </m:r>
                              <m:r>
                                <a:rPr lang="zh-CN" altLang="en-US" i="1" smtClean="0">
                                  <a:latin typeface="Cambria Math" panose="02040503050406030204" pitchFamily="18" charset="0"/>
                                </a:rPr>
                                <m:t>𝑇</m:t>
                              </m:r>
                              <m:r>
                                <a:rPr lang="zh-CN" altLang="en-US" i="1" smtClean="0">
                                  <a:latin typeface="Cambria Math" panose="02040503050406030204" pitchFamily="18" charset="0"/>
                                </a:rPr>
                                <m:t>=1</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1,1</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1,0</m:t>
                                          </m:r>
                                        </m:e>
                                      </m:d>
                                    </m:e>
                                  </m:groupChr>
                                </m:e>
                                <m:lim>
                                  <m:r>
                                    <a:rPr lang="zh-CN" altLang="en-US" i="1" smtClean="0">
                                      <a:latin typeface="Cambria Math" panose="02040503050406030204" pitchFamily="18" charset="0"/>
                                    </a:rPr>
                                    <m:t>𝐷</m:t>
                                  </m:r>
                                  <m:r>
                                    <m:rPr>
                                      <m:nor/>
                                    </m:rPr>
                                    <a:rPr lang="zh-CN" altLang="en-US" i="0" smtClean="0">
                                      <a:latin typeface="Cambria Math" panose="02040503050406030204" pitchFamily="18" charset="0"/>
                                    </a:rPr>
                                    <m:t>的因果效应</m:t>
                                  </m:r>
                                </m:lim>
                              </m:limLow>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0,0</m:t>
                                          </m:r>
                                        </m:e>
                                      </m:d>
                                    </m:e>
                                  </m:groupChr>
                                </m:e>
                                <m:lim>
                                  <m:r>
                                    <a:rPr lang="zh-CN" altLang="en-US" i="1" smtClean="0">
                                      <a:latin typeface="Cambria Math" panose="02040503050406030204" pitchFamily="18" charset="0"/>
                                    </a:rPr>
                                    <m:t>𝑉</m:t>
                                  </m:r>
                                  <m:r>
                                    <m:rPr>
                                      <m:nor/>
                                    </m:rPr>
                                    <a:rPr lang="zh-CN" altLang="en-US" i="0" smtClean="0">
                                      <a:latin typeface="Cambria Math" panose="02040503050406030204" pitchFamily="18" charset="0"/>
                                    </a:rPr>
                                    <m:t>的因果效应</m:t>
                                  </m:r>
                                </m:lim>
                              </m:limLow>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r>
                            <a:rPr lang="en-US" altLang="zh-CN" b="0" i="1" smtClean="0">
                              <a:latin typeface="Cambria Math" panose="02040503050406030204" pitchFamily="18" charset="0"/>
                            </a:rPr>
                            <m:t>     </m:t>
                          </m:r>
                          <m:r>
                            <a:rPr lang="zh-CN" altLang="en-US" i="1">
                              <a:latin typeface="Cambria Math" panose="02040503050406030204" pitchFamily="18" charset="0"/>
                            </a:rPr>
                            <m:t>（</m:t>
                          </m:r>
                          <m:r>
                            <a:rPr lang="en-US" altLang="zh-CN" b="0" i="1" smtClean="0">
                              <a:latin typeface="Cambria Math" panose="02040503050406030204" pitchFamily="18" charset="0"/>
                            </a:rPr>
                            <m:t>22</m:t>
                          </m:r>
                          <m:r>
                            <a:rPr lang="zh-CN" altLang="en-US" i="1">
                              <a:latin typeface="Cambria Math" panose="02040503050406030204" pitchFamily="18" charset="0"/>
                            </a:rPr>
                            <m:t>）</m:t>
                          </m:r>
                        </m:e>
                      </m:eqArr>
                    </m:oMath>
                  </m:oMathPara>
                </a14:m>
                <a:endParaRPr lang="zh-CN" altLang="en-US" dirty="0"/>
              </a:p>
            </p:txBody>
          </p:sp>
        </mc:Choice>
        <mc:Fallback xmlns="">
          <p:sp>
            <p:nvSpPr>
              <p:cNvPr id="3" name="内容占位符 2">
                <a:extLst>
                  <a:ext uri="{FF2B5EF4-FFF2-40B4-BE49-F238E27FC236}">
                    <a16:creationId xmlns:a16="http://schemas.microsoft.com/office/drawing/2014/main" id="{DA50FE72-3798-07F9-03CB-E91C1C409A33}"/>
                  </a:ext>
                </a:extLst>
              </p:cNvPr>
              <p:cNvSpPr>
                <a:spLocks noGrp="1" noRot="1" noChangeAspect="1" noMove="1" noResize="1" noEditPoints="1" noAdjustHandles="1" noChangeArrowheads="1" noChangeShapeType="1" noTextEdit="1"/>
              </p:cNvSpPr>
              <p:nvPr>
                <p:ph idx="1"/>
              </p:nvPr>
            </p:nvSpPr>
            <p:spPr>
              <a:blipFill>
                <a:blip r:embed="rId2"/>
                <a:stretch>
                  <a:fillRect t="-14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7E798ED5-3C8D-05C9-AEA0-C022CB6DA55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6BE0D3B-156E-549C-15ED-E56517431060}"/>
              </a:ext>
            </a:extLst>
          </p:cNvPr>
          <p:cNvSpPr>
            <a:spLocks noGrp="1"/>
          </p:cNvSpPr>
          <p:nvPr>
            <p:ph type="sldNum" sz="quarter" idx="12"/>
          </p:nvPr>
        </p:nvSpPr>
        <p:spPr/>
        <p:txBody>
          <a:bodyPr/>
          <a:lstStyle/>
          <a:p>
            <a:fld id="{D41FC515-8169-4A29-AA56-DBE520D5741B}" type="slidenum">
              <a:rPr lang="zh-CN" altLang="en-US" smtClean="0"/>
              <a:t>34</a:t>
            </a:fld>
            <a:endParaRPr lang="zh-CN" altLang="en-US"/>
          </a:p>
        </p:txBody>
      </p:sp>
    </p:spTree>
    <p:extLst>
      <p:ext uri="{BB962C8B-B14F-4D97-AF65-F5344CB8AC3E}">
        <p14:creationId xmlns:p14="http://schemas.microsoft.com/office/powerpoint/2010/main" val="3091792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8E08C-0197-212F-9D89-8C0B7B4859F9}"/>
              </a:ext>
            </a:extLst>
          </p:cNvPr>
          <p:cNvSpPr>
            <a:spLocks noGrp="1"/>
          </p:cNvSpPr>
          <p:nvPr>
            <p:ph type="title"/>
          </p:nvPr>
        </p:nvSpPr>
        <p:spPr/>
        <p:txBody>
          <a:bodyPr/>
          <a:lstStyle/>
          <a:p>
            <a:r>
              <a:rPr lang="zh-CN" altLang="en-US" dirty="0"/>
              <a:t>断点双重差分法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E017414-2597-B9FF-F1D0-F1EB4482E371}"/>
                  </a:ext>
                </a:extLst>
              </p:cNvPr>
              <p:cNvSpPr>
                <a:spLocks noGrp="1"/>
              </p:cNvSpPr>
              <p:nvPr>
                <p:ph idx="1"/>
              </p:nvPr>
            </p:nvSpPr>
            <p:spPr/>
            <p:txBody>
              <a:bodyPr>
                <a:normAutofit fontScale="62500" lnSpcReduction="20000"/>
              </a:bodyPr>
              <a:lstStyle/>
              <a:p>
                <a:pPr>
                  <a:lnSpc>
                    <a:spcPct val="120000"/>
                  </a:lnSpc>
                </a:pPr>
                <a:r>
                  <a:rPr lang="zh-CN" altLang="en-US" dirty="0"/>
                  <a:t>因而，事后</a:t>
                </a:r>
                <a:r>
                  <a:rPr lang="en-US" altLang="zh-CN" dirty="0"/>
                  <a:t>RDD </a:t>
                </a:r>
                <a:r>
                  <a:rPr lang="zh-CN" altLang="en-US" dirty="0"/>
                  <a:t>估计包含了两种政策效应，如果𝐷 是关注的政策，那么上述估计结果受到混杂政策𝑉 的影响，存在着估计偏差。如果存在事前数据，并且事前期只有混杂政策𝑉 发生，则有</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𝑅𝐷𝐷</m:t>
                              </m:r>
                              <m:r>
                                <a:rPr lang="zh-CN" altLang="en-US" i="1" smtClean="0">
                                  <a:latin typeface="Cambria Math" panose="02040503050406030204" pitchFamily="18" charset="0"/>
                                </a:rPr>
                                <m:t>|</m:t>
                              </m:r>
                              <m:r>
                                <a:rPr lang="zh-CN" altLang="en-US" i="1" smtClean="0">
                                  <a:latin typeface="Cambria Math" panose="02040503050406030204" pitchFamily="18" charset="0"/>
                                </a:rPr>
                                <m:t>𝑇</m:t>
                              </m:r>
                              <m:r>
                                <a:rPr lang="zh-CN" altLang="en-US" i="1" smtClean="0">
                                  <a:latin typeface="Cambria Math" panose="02040503050406030204" pitchFamily="18" charset="0"/>
                                </a:rPr>
                                <m:t>=0</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𝐸</m:t>
                              </m:r>
                            </m:e>
                          </m:func>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𝑥</m:t>
                              </m:r>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limLow>
                                <m:limLowPr>
                                  <m:ctrlPr>
                                    <a:rPr lang="zh-CN" altLang="en-US" i="1" smtClean="0">
                                      <a:latin typeface="Cambria Math" panose="02040503050406030204" pitchFamily="18" charset="0"/>
                                    </a:rPr>
                                  </m:ctrlPr>
                                </m:limLowPr>
                                <m:e>
                                  <m:groupChr>
                                    <m:groupChrPr>
                                      <m:chr m:val="⏟"/>
                                      <m:pos m:val="bot"/>
                                      <m:vertJc m:val="top"/>
                                      <m:ctrlPr>
                                        <a:rPr lang="zh-CN" altLang="en-US" i="1" smtClean="0">
                                          <a:latin typeface="Cambria Math" panose="02040503050406030204" pitchFamily="18" charset="0"/>
                                        </a:rPr>
                                      </m:ctrlPr>
                                    </m:groupCh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1,0</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0,0</m:t>
                                          </m:r>
                                        </m:e>
                                      </m:d>
                                    </m:e>
                                  </m:groupChr>
                                </m:e>
                                <m:lim>
                                  <m:r>
                                    <a:rPr lang="zh-CN" altLang="en-US" i="1" smtClean="0">
                                      <a:latin typeface="Cambria Math" panose="02040503050406030204" pitchFamily="18" charset="0"/>
                                    </a:rPr>
                                    <m:t>𝑉</m:t>
                                  </m:r>
                                  <m:r>
                                    <m:rPr>
                                      <m:nor/>
                                    </m:rPr>
                                    <a:rPr lang="zh-CN" altLang="en-US" i="0" smtClean="0">
                                      <a:latin typeface="Cambria Math" panose="02040503050406030204" pitchFamily="18" charset="0"/>
                                    </a:rPr>
                                    <m:t>的因果效应</m:t>
                                  </m:r>
                                </m:lim>
                              </m:limLow>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r>
                            <a:rPr lang="en-US" altLang="zh-CN" b="0" i="1" smtClean="0">
                              <a:latin typeface="Cambria Math" panose="02040503050406030204" pitchFamily="18" charset="0"/>
                            </a:rPr>
                            <m:t>   </m:t>
                          </m:r>
                          <m:r>
                            <a:rPr lang="zh-CN" altLang="en-US" i="1">
                              <a:latin typeface="Cambria Math" panose="02040503050406030204" pitchFamily="18" charset="0"/>
                            </a:rPr>
                            <m:t>（</m:t>
                          </m:r>
                          <m:r>
                            <a:rPr lang="en-US" altLang="zh-CN" b="0" i="1" smtClean="0">
                              <a:latin typeface="Cambria Math" panose="02040503050406030204" pitchFamily="18" charset="0"/>
                            </a:rPr>
                            <m:t>23</m:t>
                          </m:r>
                          <m:r>
                            <a:rPr lang="zh-CN" altLang="en-US" i="1">
                              <a:latin typeface="Cambria Math" panose="02040503050406030204" pitchFamily="18" charset="0"/>
                            </a:rPr>
                            <m:t>）</m:t>
                          </m:r>
                        </m:e>
                      </m:eqArr>
                    </m:oMath>
                  </m:oMathPara>
                </a14:m>
                <a:endParaRPr lang="en-US" altLang="zh-CN" dirty="0"/>
              </a:p>
              <a:p>
                <a:pPr>
                  <a:lnSpc>
                    <a:spcPct val="120000"/>
                  </a:lnSpc>
                </a:pPr>
                <a:r>
                  <a:rPr lang="zh-CN" altLang="en-US" dirty="0"/>
                  <a:t>如果引入平行趋势假设，即假设政策𝑉 在断点处的因果影响不随时间变化，则利用</a:t>
                </a:r>
                <a:r>
                  <a:rPr lang="en-US" altLang="zh-CN" dirty="0"/>
                  <a:t>(22)(23) </a:t>
                </a:r>
                <a:r>
                  <a:rPr lang="zh-CN" altLang="en-US" dirty="0"/>
                  <a:t>可以得到政策𝐷 在断点处的平均因果效应为</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𝑅𝐷</m:t>
                              </m:r>
                              <m:r>
                                <a:rPr lang="zh-CN" altLang="en-US" i="1" smtClean="0">
                                  <a:latin typeface="Cambria Math" panose="02040503050406030204" pitchFamily="18" charset="0"/>
                                </a:rPr>
                                <m:t>−</m:t>
                              </m:r>
                              <m:r>
                                <a:rPr lang="zh-CN" altLang="en-US" i="1" smtClean="0">
                                  <a:latin typeface="Cambria Math" panose="02040503050406030204" pitchFamily="18" charset="0"/>
                                </a:rPr>
                                <m:t>𝐷𝐼𝐷</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𝑅𝐷𝐷</m:t>
                              </m:r>
                              <m:r>
                                <a:rPr lang="zh-CN" altLang="en-US" i="1" smtClean="0">
                                  <a:latin typeface="Cambria Math" panose="02040503050406030204" pitchFamily="18" charset="0"/>
                                </a:rPr>
                                <m:t>|</m:t>
                              </m:r>
                              <m:r>
                                <a:rPr lang="zh-CN" altLang="en-US" i="1" smtClean="0">
                                  <a:latin typeface="Cambria Math" panose="02040503050406030204" pitchFamily="18" charset="0"/>
                                </a:rPr>
                                <m:t>𝑇</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𝑅𝐷𝐷</m:t>
                              </m:r>
                              <m:r>
                                <a:rPr lang="zh-CN" altLang="en-US" i="1" smtClean="0">
                                  <a:latin typeface="Cambria Math" panose="02040503050406030204" pitchFamily="18" charset="0"/>
                                </a:rPr>
                                <m:t>|</m:t>
                              </m:r>
                              <m:r>
                                <a:rPr lang="zh-CN" altLang="en-US" i="1" smtClean="0">
                                  <a:latin typeface="Cambria Math" panose="02040503050406030204" pitchFamily="18" charset="0"/>
                                </a:rPr>
                                <m:t>𝑇</m:t>
                              </m:r>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e>
                      </m:eqArr>
                      <m:r>
                        <a:rPr lang="en-US" altLang="zh-CN" b="0" i="1" smtClean="0">
                          <a:latin typeface="Cambria Math" panose="02040503050406030204" pitchFamily="18" charset="0"/>
                        </a:rPr>
                        <m:t>  </m:t>
                      </m:r>
                      <m:r>
                        <a:rPr lang="zh-CN" altLang="en-US" i="1">
                          <a:latin typeface="Cambria Math" panose="02040503050406030204" pitchFamily="18" charset="0"/>
                        </a:rPr>
                        <m:t>（</m:t>
                      </m:r>
                      <m:r>
                        <a:rPr lang="en-US" altLang="zh-CN" b="0" i="1" smtClean="0">
                          <a:latin typeface="Cambria Math" panose="02040503050406030204" pitchFamily="18" charset="0"/>
                        </a:rPr>
                        <m:t>24</m:t>
                      </m:r>
                      <m:r>
                        <a:rPr lang="zh-CN" altLang="en-US" i="1">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9E017414-2597-B9FF-F1D0-F1EB4482E371}"/>
                  </a:ext>
                </a:extLst>
              </p:cNvPr>
              <p:cNvSpPr>
                <a:spLocks noGrp="1" noRot="1" noChangeAspect="1" noMove="1" noResize="1" noEditPoints="1" noAdjustHandles="1" noChangeArrowheads="1" noChangeShapeType="1" noTextEdit="1"/>
              </p:cNvSpPr>
              <p:nvPr>
                <p:ph idx="1"/>
              </p:nvPr>
            </p:nvSpPr>
            <p:spPr>
              <a:blipFill>
                <a:blip r:embed="rId2"/>
                <a:stretch>
                  <a:fillRect l="-464" t="-840" r="-123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D1D7F2BD-7AE0-BCD4-2B35-7E6B116F950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0D27303-53D5-12BC-6435-6B2FE4BEFDAD}"/>
              </a:ext>
            </a:extLst>
          </p:cNvPr>
          <p:cNvSpPr>
            <a:spLocks noGrp="1"/>
          </p:cNvSpPr>
          <p:nvPr>
            <p:ph type="sldNum" sz="quarter" idx="12"/>
          </p:nvPr>
        </p:nvSpPr>
        <p:spPr/>
        <p:txBody>
          <a:bodyPr/>
          <a:lstStyle/>
          <a:p>
            <a:fld id="{D41FC515-8169-4A29-AA56-DBE520D5741B}" type="slidenum">
              <a:rPr lang="zh-CN" altLang="en-US" smtClean="0"/>
              <a:t>35</a:t>
            </a:fld>
            <a:endParaRPr lang="zh-CN" altLang="en-US"/>
          </a:p>
        </p:txBody>
      </p:sp>
    </p:spTree>
    <p:extLst>
      <p:ext uri="{BB962C8B-B14F-4D97-AF65-F5344CB8AC3E}">
        <p14:creationId xmlns:p14="http://schemas.microsoft.com/office/powerpoint/2010/main" val="35708416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7551CC-C7A4-F96F-3C94-1A6716C7BFE3}"/>
              </a:ext>
            </a:extLst>
          </p:cNvPr>
          <p:cNvSpPr>
            <a:spLocks noGrp="1"/>
          </p:cNvSpPr>
          <p:nvPr>
            <p:ph type="title"/>
          </p:nvPr>
        </p:nvSpPr>
        <p:spPr/>
        <p:txBody>
          <a:bodyPr/>
          <a:lstStyle/>
          <a:p>
            <a:r>
              <a:rPr lang="zh-CN" altLang="en-US" dirty="0"/>
              <a:t>断点双重差分法</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EF9913A0-E7B6-37EC-59D7-3C3E95B439F6}"/>
                  </a:ext>
                </a:extLst>
              </p:cNvPr>
              <p:cNvSpPr>
                <a:spLocks noGrp="1"/>
              </p:cNvSpPr>
              <p:nvPr>
                <p:ph idx="1"/>
              </p:nvPr>
            </p:nvSpPr>
            <p:spPr/>
            <p:txBody>
              <a:bodyPr>
                <a:normAutofit fontScale="62500" lnSpcReduction="20000"/>
              </a:bodyPr>
              <a:lstStyle/>
              <a:p>
                <a:pPr>
                  <a:lnSpc>
                    <a:spcPct val="120000"/>
                  </a:lnSpc>
                </a:pPr>
                <a:r>
                  <a:rPr lang="zh-CN" altLang="en-US" dirty="0"/>
                  <a:t>对于两期</a:t>
                </a:r>
                <a:r>
                  <a:rPr lang="en-US" altLang="zh-CN" dirty="0"/>
                  <a:t>RDD </a:t>
                </a:r>
                <a:r>
                  <a:rPr lang="zh-CN" altLang="en-US" dirty="0"/>
                  <a:t>估计量均可利用</a:t>
                </a:r>
                <a:r>
                  <a:rPr lang="en-US" altLang="zh-CN" dirty="0"/>
                  <a:t>(11) </a:t>
                </a:r>
                <a:r>
                  <a:rPr lang="zh-CN" altLang="en-US" dirty="0"/>
                  <a:t>的模型设定进行估计，设定𝑇 </a:t>
                </a:r>
                <a:r>
                  <a:rPr lang="en-US" altLang="zh-CN" dirty="0"/>
                  <a:t>= 0 </a:t>
                </a:r>
                <a:r>
                  <a:rPr lang="zh-CN" altLang="en-US" dirty="0"/>
                  <a:t>期的回归模型为</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0</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0</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en-US" altLang="zh-CN" b="0" i="1" smtClean="0">
                              <a:latin typeface="Cambria Math" panose="02040503050406030204" pitchFamily="18" charset="0"/>
                            </a:rPr>
                            <m:t>         </m:t>
                          </m:r>
                          <m:r>
                            <a:rPr lang="zh-CN" altLang="en-US" i="1">
                              <a:latin typeface="Cambria Math" panose="02040503050406030204" pitchFamily="18" charset="0"/>
                            </a:rPr>
                            <m:t>（</m:t>
                          </m:r>
                          <m:r>
                            <a:rPr lang="en-US" altLang="zh-CN" b="0" i="1" smtClean="0">
                              <a:latin typeface="Cambria Math" panose="02040503050406030204" pitchFamily="18" charset="0"/>
                            </a:rPr>
                            <m:t>25</m:t>
                          </m:r>
                          <m:r>
                            <a:rPr lang="zh-CN" altLang="en-US" i="1">
                              <a:latin typeface="Cambria Math" panose="02040503050406030204" pitchFamily="18" charset="0"/>
                            </a:rPr>
                            <m:t>）</m:t>
                          </m:r>
                        </m:e>
                      </m:eqArr>
                    </m:oMath>
                  </m:oMathPara>
                </a14:m>
                <a:endParaRPr lang="en-US" altLang="zh-CN" dirty="0"/>
              </a:p>
              <a:p>
                <a:pPr>
                  <a:lnSpc>
                    <a:spcPct val="120000"/>
                  </a:lnSpc>
                </a:pPr>
                <a:r>
                  <a:rPr lang="zh-CN" altLang="en-US" dirty="0"/>
                  <a:t>𝑇 </a:t>
                </a:r>
                <a:r>
                  <a:rPr lang="en-US" altLang="zh-CN" dirty="0"/>
                  <a:t>= 1 </a:t>
                </a:r>
                <a:r>
                  <a:rPr lang="zh-CN" altLang="en-US" dirty="0"/>
                  <a:t>期的回归模型为</a:t>
                </a:r>
                <a:endParaRPr lang="en-US" altLang="zh-CN" dirty="0"/>
              </a:p>
              <a:p>
                <a:pPr marL="0" indent="0" algn="ctr">
                  <a:lnSpc>
                    <a:spcPct val="120000"/>
                  </a:lnSpc>
                  <a:buNone/>
                </a:pPr>
                <a14:m>
                  <m:oMath xmlns:m="http://schemas.openxmlformats.org/officeDocument/2006/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1</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e>
                    </m:eqArr>
                  </m:oMath>
                </a14:m>
                <a:r>
                  <a:rPr lang="zh-CN" altLang="en-US" dirty="0"/>
                  <a:t>                （</a:t>
                </a:r>
                <a:r>
                  <a:rPr lang="en-US" altLang="zh-CN" dirty="0"/>
                  <a:t>26</a:t>
                </a:r>
                <a:r>
                  <a:rPr lang="zh-CN" altLang="en-US" dirty="0"/>
                  <a:t>）</a:t>
                </a:r>
                <a:endParaRPr lang="en-US" altLang="zh-CN" dirty="0"/>
              </a:p>
              <a:p>
                <a:pPr>
                  <a:lnSpc>
                    <a:spcPct val="120000"/>
                  </a:lnSpc>
                </a:pPr>
                <a:r>
                  <a:rPr lang="zh-CN" altLang="en-US" dirty="0"/>
                  <a:t>则</a:t>
                </a:r>
                <a:endParaRPr lang="en-US" altLang="zh-CN" dirty="0"/>
              </a:p>
              <a:p>
                <a:pPr marL="0" indent="0" algn="ctr">
                  <a:lnSpc>
                    <a:spcPct val="120000"/>
                  </a:lnSpc>
                  <a:buNone/>
                </a:pPr>
                <a14:m>
                  <m:oMath xmlns:m="http://schemas.openxmlformats.org/officeDocument/2006/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𝑖𝑡</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𝑇</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𝑎</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0</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𝑎𝑇</m:t>
                        </m:r>
                        <m:r>
                          <a:rPr lang="zh-CN" altLang="en-US" i="1" smtClean="0">
                            <a:latin typeface="Cambria Math" panose="02040503050406030204" pitchFamily="18" charset="0"/>
                          </a:rPr>
                          <m:t>+</m:t>
                        </m:r>
                        <m:r>
                          <a:rPr lang="zh-CN" altLang="en-US" i="1" smtClean="0">
                            <a:latin typeface="Cambria Math" panose="02040503050406030204" pitchFamily="18" charset="0"/>
                          </a:rPr>
                          <m:t>𝜏</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𝑏</m:t>
                            </m:r>
                          </m:e>
                          <m:sub>
                            <m:r>
                              <a:rPr lang="zh-CN" altLang="en-US" i="1" smtClean="0">
                                <a:latin typeface="Cambria Math" panose="02040503050406030204" pitchFamily="18" charset="0"/>
                              </a:rPr>
                              <m:t>0</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 +</m:t>
                        </m:r>
                        <m:r>
                          <a:rPr lang="zh-CN" altLang="en-US" i="1" smtClean="0">
                            <a:latin typeface="Cambria Math" panose="02040503050406030204" pitchFamily="18" charset="0"/>
                          </a:rPr>
                          <m:t>𝑏𝑇</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𝛾</m:t>
                            </m:r>
                          </m:e>
                          <m:sub>
                            <m:r>
                              <a:rPr lang="zh-CN" altLang="en-US" i="1" smtClean="0">
                                <a:latin typeface="Cambria Math" panose="02040503050406030204" pitchFamily="18" charset="0"/>
                              </a:rPr>
                              <m:t>0</m:t>
                            </m:r>
                          </m:sub>
                        </m:sSub>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r>
                          <a:rPr lang="zh-CN" altLang="en-US" i="1" smtClean="0">
                            <a:latin typeface="Cambria Math" panose="02040503050406030204" pitchFamily="18" charset="0"/>
                          </a:rPr>
                          <m:t>𝛾</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𝑇</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𝑖𝑡</m:t>
                            </m:r>
                          </m:sub>
                        </m:sSub>
                        <m:r>
                          <a:rPr lang="zh-CN" altLang="en-US" i="1" smtClean="0">
                            <a:latin typeface="Cambria Math" panose="02040503050406030204" pitchFamily="18" charset="0"/>
                          </a:rPr>
                          <m:t>.</m:t>
                        </m:r>
                      </m:e>
                    </m:eqArr>
                  </m:oMath>
                </a14:m>
                <a:r>
                  <a:rPr lang="zh-CN" altLang="en-US" dirty="0"/>
                  <a:t>    （</a:t>
                </a:r>
                <a:r>
                  <a:rPr lang="en-US" altLang="zh-CN" dirty="0"/>
                  <a:t>27</a:t>
                </a:r>
                <a:r>
                  <a:rPr lang="zh-CN" altLang="en-US" dirty="0"/>
                  <a:t>）</a:t>
                </a:r>
                <a:endParaRPr lang="en-US" altLang="zh-CN" dirty="0"/>
              </a:p>
              <a:p>
                <a:pPr marL="0" indent="0">
                  <a:lnSpc>
                    <a:spcPct val="120000"/>
                  </a:lnSpc>
                  <a:buNone/>
                </a:pPr>
                <a:r>
                  <a:rPr lang="zh-CN" altLang="en-US" dirty="0"/>
                  <a:t>其中</a:t>
                </a:r>
                <a14:m>
                  <m:oMath xmlns:m="http://schemas.openxmlformats.org/officeDocument/2006/math">
                    <m:r>
                      <a:rPr lang="zh-CN" altLang="en-US" i="1" dirty="0" smtClean="0">
                        <a:latin typeface="Cambria Math" panose="02040503050406030204" pitchFamily="18" charset="0"/>
                      </a:rPr>
                      <m:t>𝑎</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𝑎</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𝑎</m:t>
                        </m:r>
                      </m:e>
                      <m:sub>
                        <m:r>
                          <a:rPr lang="en-US" altLang="zh-CN" i="1" dirty="0">
                            <a:latin typeface="Cambria Math" panose="02040503050406030204" pitchFamily="18" charset="0"/>
                          </a:rPr>
                          <m:t>0</m:t>
                        </m:r>
                      </m:sub>
                    </m:sSub>
                  </m:oMath>
                </a14:m>
                <a:r>
                  <a:rPr lang="zh-CN" altLang="en-US" dirty="0"/>
                  <a:t>，</a:t>
                </a:r>
                <a14:m>
                  <m:oMath xmlns:m="http://schemas.openxmlformats.org/officeDocument/2006/math">
                    <m:r>
                      <a:rPr lang="zh-CN" altLang="en-US" i="1" dirty="0" smtClean="0">
                        <a:latin typeface="Cambria Math" panose="02040503050406030204" pitchFamily="18" charset="0"/>
                      </a:rPr>
                      <m:t>𝑏</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𝑏</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𝑏</m:t>
                        </m:r>
                      </m:e>
                      <m:sub>
                        <m:r>
                          <a:rPr lang="en-US" altLang="zh-CN" i="1" dirty="0">
                            <a:latin typeface="Cambria Math" panose="02040503050406030204" pitchFamily="18" charset="0"/>
                          </a:rPr>
                          <m:t>0</m:t>
                        </m:r>
                      </m:sub>
                    </m:sSub>
                  </m:oMath>
                </a14:m>
                <a:r>
                  <a:rPr lang="zh-CN" altLang="en-US" dirty="0"/>
                  <a:t>，</a:t>
                </a:r>
                <a14:m>
                  <m:oMath xmlns:m="http://schemas.openxmlformats.org/officeDocument/2006/math">
                    <m:r>
                      <a:rPr lang="zh-CN" altLang="en-US" i="1" dirty="0" smtClean="0">
                        <a:latin typeface="Cambria Math" panose="02040503050406030204" pitchFamily="18" charset="0"/>
                      </a:rPr>
                      <m:t>𝜏</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en-US" altLang="zh-CN" i="1" dirty="0">
                            <a:latin typeface="Cambria Math" panose="02040503050406030204" pitchFamily="18" charset="0"/>
                          </a:rPr>
                          <m:t>0</m:t>
                        </m:r>
                      </m:sub>
                    </m:sSub>
                  </m:oMath>
                </a14:m>
                <a:r>
                  <a:rPr lang="zh-CN" altLang="en-US" dirty="0"/>
                  <a:t>，</a:t>
                </a:r>
                <a14:m>
                  <m:oMath xmlns:m="http://schemas.openxmlformats.org/officeDocument/2006/math">
                    <m:r>
                      <a:rPr lang="zh-CN" altLang="en-US" i="1" dirty="0" smtClean="0">
                        <a:latin typeface="Cambria Math" panose="02040503050406030204" pitchFamily="18" charset="0"/>
                      </a:rPr>
                      <m:t>𝛾</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𝛾</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𝛾</m:t>
                        </m:r>
                      </m:e>
                      <m:sub>
                        <m:r>
                          <a:rPr lang="en-US" altLang="zh-CN" i="1" dirty="0">
                            <a:latin typeface="Cambria Math" panose="02040503050406030204" pitchFamily="18" charset="0"/>
                          </a:rPr>
                          <m:t>0</m:t>
                        </m:r>
                      </m:sub>
                    </m:sSub>
                  </m:oMath>
                </a14:m>
                <a:r>
                  <a:rPr lang="zh-CN" altLang="en-US" dirty="0"/>
                  <a:t>，</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𝜀</m:t>
                        </m:r>
                      </m:e>
                      <m:sub>
                        <m:r>
                          <a:rPr lang="zh-CN" altLang="en-US" i="1" dirty="0" smtClean="0">
                            <a:latin typeface="Cambria Math" panose="02040503050406030204" pitchFamily="18" charset="0"/>
                          </a:rPr>
                          <m:t>𝑖𝑡</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𝑇</m:t>
                    </m:r>
                    <m:r>
                      <a:rPr lang="zh-CN" altLang="en-US"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zh-CN" altLang="en-US"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 + </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1 − </m:t>
                        </m:r>
                        <m:r>
                          <a:rPr lang="zh-CN" altLang="en-US" i="1" dirty="0">
                            <a:latin typeface="Cambria Math" panose="02040503050406030204" pitchFamily="18" charset="0"/>
                          </a:rPr>
                          <m:t>𝑇</m:t>
                        </m:r>
                        <m:r>
                          <a:rPr lang="zh-CN" altLang="en-US" i="1" dirty="0">
                            <a:latin typeface="Cambria Math" panose="02040503050406030204" pitchFamily="18" charset="0"/>
                          </a:rPr>
                          <m:t> </m:t>
                        </m:r>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zh-CN" altLang="en-US" i="1" dirty="0">
                            <a:latin typeface="Cambria Math" panose="02040503050406030204" pitchFamily="18" charset="0"/>
                          </a:rPr>
                          <m:t>𝑖</m:t>
                        </m:r>
                        <m:r>
                          <a:rPr lang="en-US" altLang="zh-CN" i="1" dirty="0">
                            <a:latin typeface="Cambria Math" panose="02040503050406030204" pitchFamily="18" charset="0"/>
                          </a:rPr>
                          <m:t>0</m:t>
                        </m:r>
                      </m:sub>
                    </m:sSub>
                  </m:oMath>
                </a14:m>
                <a:r>
                  <a:rPr lang="zh-CN" altLang="en-US" dirty="0"/>
                  <a:t>。和</a:t>
                </a:r>
                <a:r>
                  <a:rPr lang="en-US" altLang="zh-CN" dirty="0"/>
                  <a:t>DID </a:t>
                </a:r>
                <a:r>
                  <a:rPr lang="zh-CN" altLang="en-US" dirty="0"/>
                  <a:t>回归模型设定相似，交互项</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𝑇</m:t>
                    </m:r>
                  </m:oMath>
                </a14:m>
                <a:r>
                  <a:rPr lang="zh-CN" altLang="en-US" dirty="0"/>
                  <a:t> 的系数是对</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𝑅𝐷</m:t>
                        </m:r>
                        <m:r>
                          <a:rPr lang="zh-CN" altLang="en-US" i="1" dirty="0">
                            <a:latin typeface="Cambria Math" panose="02040503050406030204" pitchFamily="18" charset="0"/>
                          </a:rPr>
                          <m:t>−</m:t>
                        </m:r>
                        <m:r>
                          <a:rPr lang="zh-CN" altLang="en-US" i="1" dirty="0">
                            <a:latin typeface="Cambria Math" panose="02040503050406030204" pitchFamily="18" charset="0"/>
                          </a:rPr>
                          <m:t>𝐷𝐼𝐷</m:t>
                        </m:r>
                      </m:sub>
                    </m:sSub>
                    <m:r>
                      <a:rPr lang="zh-CN" altLang="en-US" i="1" dirty="0" smtClean="0">
                        <a:latin typeface="Cambria Math" panose="02040503050406030204" pitchFamily="18" charset="0"/>
                      </a:rPr>
                      <m:t> </m:t>
                    </m:r>
                  </m:oMath>
                </a14:m>
                <a:r>
                  <a:rPr lang="zh-CN" altLang="en-US" dirty="0"/>
                  <a:t>的估计。</a:t>
                </a:r>
              </a:p>
            </p:txBody>
          </p:sp>
        </mc:Choice>
        <mc:Fallback>
          <p:sp>
            <p:nvSpPr>
              <p:cNvPr id="3" name="内容占位符 2">
                <a:extLst>
                  <a:ext uri="{FF2B5EF4-FFF2-40B4-BE49-F238E27FC236}">
                    <a16:creationId xmlns:a16="http://schemas.microsoft.com/office/drawing/2014/main" id="{EF9913A0-E7B6-37EC-59D7-3C3E95B439F6}"/>
                  </a:ext>
                </a:extLst>
              </p:cNvPr>
              <p:cNvSpPr>
                <a:spLocks noGrp="1" noRot="1" noChangeAspect="1" noMove="1" noResize="1" noEditPoints="1" noAdjustHandles="1" noChangeArrowheads="1" noChangeShapeType="1" noTextEdit="1"/>
              </p:cNvSpPr>
              <p:nvPr>
                <p:ph idx="1"/>
              </p:nvPr>
            </p:nvSpPr>
            <p:spPr>
              <a:blipFill>
                <a:blip r:embed="rId2"/>
                <a:stretch>
                  <a:fillRect l="-618" t="-840" r="-69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76E8D34E-070E-41BD-AA9C-7BC286C691F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39C077B-386C-7D27-6133-64F1D9857419}"/>
              </a:ext>
            </a:extLst>
          </p:cNvPr>
          <p:cNvSpPr>
            <a:spLocks noGrp="1"/>
          </p:cNvSpPr>
          <p:nvPr>
            <p:ph type="sldNum" sz="quarter" idx="12"/>
          </p:nvPr>
        </p:nvSpPr>
        <p:spPr/>
        <p:txBody>
          <a:bodyPr/>
          <a:lstStyle/>
          <a:p>
            <a:fld id="{D41FC515-8169-4A29-AA56-DBE520D5741B}" type="slidenum">
              <a:rPr lang="zh-CN" altLang="en-US" smtClean="0"/>
              <a:t>36</a:t>
            </a:fld>
            <a:endParaRPr lang="zh-CN" altLang="en-US"/>
          </a:p>
        </p:txBody>
      </p:sp>
    </p:spTree>
    <p:extLst>
      <p:ext uri="{BB962C8B-B14F-4D97-AF65-F5344CB8AC3E}">
        <p14:creationId xmlns:p14="http://schemas.microsoft.com/office/powerpoint/2010/main" val="27237353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074F9E-930A-ED90-2E20-6BD5D0B6F839}"/>
              </a:ext>
            </a:extLst>
          </p:cNvPr>
          <p:cNvSpPr>
            <a:spLocks noGrp="1"/>
          </p:cNvSpPr>
          <p:nvPr>
            <p:ph type="title"/>
          </p:nvPr>
        </p:nvSpPr>
        <p:spPr/>
        <p:txBody>
          <a:bodyPr>
            <a:normAutofit/>
          </a:bodyPr>
          <a:lstStyle/>
          <a:p>
            <a:r>
              <a:rPr lang="zh-CN" altLang="en-US" dirty="0"/>
              <a:t>断点回归设计</a:t>
            </a:r>
            <a:br>
              <a:rPr lang="zh-CN" altLang="en-US" dirty="0"/>
            </a:br>
            <a:r>
              <a:rPr lang="da-DK" altLang="zh-CN" sz="2700" dirty="0"/>
              <a:t>He et al. (2020)</a:t>
            </a:r>
            <a:r>
              <a:rPr lang="zh-CN" altLang="da-DK" sz="2700" dirty="0"/>
              <a:t>：水污染管制的效果</a:t>
            </a:r>
            <a:endParaRPr lang="zh-CN" altLang="en-US" sz="2700" dirty="0"/>
          </a:p>
        </p:txBody>
      </p:sp>
      <p:sp>
        <p:nvSpPr>
          <p:cNvPr id="3" name="内容占位符 2">
            <a:extLst>
              <a:ext uri="{FF2B5EF4-FFF2-40B4-BE49-F238E27FC236}">
                <a16:creationId xmlns:a16="http://schemas.microsoft.com/office/drawing/2014/main" id="{2C0F6006-F73B-09E1-83BC-0A16FB1F94FD}"/>
              </a:ext>
            </a:extLst>
          </p:cNvPr>
          <p:cNvSpPr>
            <a:spLocks noGrp="1"/>
          </p:cNvSpPr>
          <p:nvPr>
            <p:ph idx="1"/>
          </p:nvPr>
        </p:nvSpPr>
        <p:spPr/>
        <p:txBody>
          <a:bodyPr>
            <a:normAutofit/>
          </a:bodyPr>
          <a:lstStyle/>
          <a:p>
            <a:r>
              <a:rPr lang="en-US" altLang="zh-CN" sz="1600" dirty="0"/>
              <a:t>2003 </a:t>
            </a:r>
            <a:r>
              <a:rPr lang="zh-CN" altLang="en-US" sz="1600" dirty="0"/>
              <a:t>年以来，我国加大了对环境的治理，</a:t>
            </a:r>
            <a:r>
              <a:rPr lang="en-US" altLang="zh-CN" sz="1600" dirty="0"/>
              <a:t>He et al. (2020) </a:t>
            </a:r>
            <a:r>
              <a:rPr lang="zh-CN" altLang="en-US" sz="1600" dirty="0"/>
              <a:t>考察了环境治理对企业</a:t>
            </a:r>
            <a:r>
              <a:rPr lang="en-US" altLang="zh-CN" sz="1600" dirty="0"/>
              <a:t>TFP </a:t>
            </a:r>
            <a:r>
              <a:rPr lang="zh-CN" altLang="en-US" sz="1600" dirty="0"/>
              <a:t>的影响。</a:t>
            </a:r>
          </a:p>
          <a:p>
            <a:r>
              <a:rPr lang="en-US" altLang="zh-CN" sz="1600" dirty="0"/>
              <a:t>He et al. (2020)</a:t>
            </a:r>
            <a:r>
              <a:rPr lang="zh-CN" altLang="en-US" sz="1600" dirty="0"/>
              <a:t>利用水体监测站上下游企业的数据，发现上游污染企业</a:t>
            </a:r>
            <a:r>
              <a:rPr lang="en-US" altLang="zh-CN" sz="1600" dirty="0"/>
              <a:t>TFP </a:t>
            </a:r>
            <a:r>
              <a:rPr lang="zh-CN" altLang="en-US" sz="1600" dirty="0"/>
              <a:t>下降</a:t>
            </a:r>
            <a:r>
              <a:rPr lang="en-US" altLang="zh-CN" sz="1600" dirty="0"/>
              <a:t>24%</a:t>
            </a:r>
            <a:r>
              <a:rPr lang="zh-CN" altLang="en-US" sz="1600" dirty="0"/>
              <a:t>，化学需氧量排放下降</a:t>
            </a:r>
            <a:r>
              <a:rPr lang="en-US" altLang="zh-CN" sz="1600" dirty="0"/>
              <a:t>57%</a:t>
            </a:r>
            <a:r>
              <a:rPr lang="zh-CN" altLang="en-US" sz="1600" dirty="0"/>
              <a:t>。这种</a:t>
            </a:r>
            <a:r>
              <a:rPr lang="en-US" altLang="zh-CN" sz="1600" dirty="0"/>
              <a:t>TFP </a:t>
            </a:r>
            <a:r>
              <a:rPr lang="zh-CN" altLang="en-US" sz="1600" dirty="0"/>
              <a:t>的不连续性在非污染企业中并不存在。</a:t>
            </a:r>
          </a:p>
        </p:txBody>
      </p:sp>
      <p:sp>
        <p:nvSpPr>
          <p:cNvPr id="4" name="页脚占位符 3">
            <a:extLst>
              <a:ext uri="{FF2B5EF4-FFF2-40B4-BE49-F238E27FC236}">
                <a16:creationId xmlns:a16="http://schemas.microsoft.com/office/drawing/2014/main" id="{557CB4AE-3FBA-AAD4-7891-966D050FB703}"/>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CF5B602-3C9E-A395-C254-7F24C04C98AD}"/>
              </a:ext>
            </a:extLst>
          </p:cNvPr>
          <p:cNvSpPr>
            <a:spLocks noGrp="1"/>
          </p:cNvSpPr>
          <p:nvPr>
            <p:ph type="sldNum" sz="quarter" idx="12"/>
          </p:nvPr>
        </p:nvSpPr>
        <p:spPr/>
        <p:txBody>
          <a:bodyPr/>
          <a:lstStyle/>
          <a:p>
            <a:fld id="{D41FC515-8169-4A29-AA56-DBE520D5741B}" type="slidenum">
              <a:rPr lang="zh-CN" altLang="en-US" smtClean="0"/>
              <a:t>37</a:t>
            </a:fld>
            <a:endParaRPr lang="zh-CN" altLang="en-US"/>
          </a:p>
        </p:txBody>
      </p:sp>
      <p:pic>
        <p:nvPicPr>
          <p:cNvPr id="7" name="图片 6">
            <a:extLst>
              <a:ext uri="{FF2B5EF4-FFF2-40B4-BE49-F238E27FC236}">
                <a16:creationId xmlns:a16="http://schemas.microsoft.com/office/drawing/2014/main" id="{5A8FE14A-5FB8-A4FC-EC04-6F0487E3883B}"/>
              </a:ext>
            </a:extLst>
          </p:cNvPr>
          <p:cNvPicPr>
            <a:picLocks noChangeAspect="1"/>
          </p:cNvPicPr>
          <p:nvPr/>
        </p:nvPicPr>
        <p:blipFill>
          <a:blip r:embed="rId2"/>
          <a:stretch>
            <a:fillRect/>
          </a:stretch>
        </p:blipFill>
        <p:spPr>
          <a:xfrm>
            <a:off x="1004552" y="3429000"/>
            <a:ext cx="3567447" cy="2768957"/>
          </a:xfrm>
          <a:prstGeom prst="rect">
            <a:avLst/>
          </a:prstGeom>
        </p:spPr>
      </p:pic>
      <p:pic>
        <p:nvPicPr>
          <p:cNvPr id="9" name="图片 8">
            <a:extLst>
              <a:ext uri="{FF2B5EF4-FFF2-40B4-BE49-F238E27FC236}">
                <a16:creationId xmlns:a16="http://schemas.microsoft.com/office/drawing/2014/main" id="{F30EF276-5196-94B9-A6B9-7A9014049F33}"/>
              </a:ext>
            </a:extLst>
          </p:cNvPr>
          <p:cNvPicPr>
            <a:picLocks noChangeAspect="1"/>
          </p:cNvPicPr>
          <p:nvPr/>
        </p:nvPicPr>
        <p:blipFill>
          <a:blip r:embed="rId3"/>
          <a:stretch>
            <a:fillRect/>
          </a:stretch>
        </p:blipFill>
        <p:spPr>
          <a:xfrm>
            <a:off x="4572000" y="3429000"/>
            <a:ext cx="3618963" cy="2807594"/>
          </a:xfrm>
          <a:prstGeom prst="rect">
            <a:avLst/>
          </a:prstGeom>
        </p:spPr>
      </p:pic>
    </p:spTree>
    <p:extLst>
      <p:ext uri="{BB962C8B-B14F-4D97-AF65-F5344CB8AC3E}">
        <p14:creationId xmlns:p14="http://schemas.microsoft.com/office/powerpoint/2010/main" val="29328977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10FFA3-0D25-D0C8-B84D-685AB57C234E}"/>
              </a:ext>
            </a:extLst>
          </p:cNvPr>
          <p:cNvSpPr>
            <a:spLocks noGrp="1"/>
          </p:cNvSpPr>
          <p:nvPr>
            <p:ph type="title"/>
          </p:nvPr>
        </p:nvSpPr>
        <p:spPr/>
        <p:txBody>
          <a:bodyPr>
            <a:normAutofit/>
          </a:bodyPr>
          <a:lstStyle/>
          <a:p>
            <a:r>
              <a:rPr lang="zh-CN" altLang="en-US" dirty="0"/>
              <a:t>断点回归设计</a:t>
            </a:r>
            <a:br>
              <a:rPr lang="zh-CN" altLang="en-US" dirty="0"/>
            </a:br>
            <a:r>
              <a:rPr lang="da-DK" altLang="zh-CN" sz="2700" dirty="0"/>
              <a:t>He et al. (2020)</a:t>
            </a:r>
            <a:r>
              <a:rPr lang="zh-CN" altLang="da-DK" sz="2700" dirty="0"/>
              <a:t>：水污染管制的效果</a:t>
            </a:r>
            <a:endParaRPr lang="zh-CN" altLang="en-US" sz="2700" dirty="0"/>
          </a:p>
        </p:txBody>
      </p:sp>
      <p:pic>
        <p:nvPicPr>
          <p:cNvPr id="7" name="内容占位符 6">
            <a:extLst>
              <a:ext uri="{FF2B5EF4-FFF2-40B4-BE49-F238E27FC236}">
                <a16:creationId xmlns:a16="http://schemas.microsoft.com/office/drawing/2014/main" id="{28BEA228-56B6-8BBB-3DAC-9DB5E51EDF61}"/>
              </a:ext>
            </a:extLst>
          </p:cNvPr>
          <p:cNvPicPr>
            <a:picLocks noGrp="1" noChangeAspect="1"/>
          </p:cNvPicPr>
          <p:nvPr>
            <p:ph idx="1"/>
          </p:nvPr>
        </p:nvPicPr>
        <p:blipFill>
          <a:blip r:embed="rId2"/>
          <a:stretch>
            <a:fillRect/>
          </a:stretch>
        </p:blipFill>
        <p:spPr>
          <a:xfrm>
            <a:off x="1244812" y="1825625"/>
            <a:ext cx="6654376" cy="4351338"/>
          </a:xfrm>
          <a:prstGeom prst="rect">
            <a:avLst/>
          </a:prstGeom>
        </p:spPr>
      </p:pic>
      <p:sp>
        <p:nvSpPr>
          <p:cNvPr id="4" name="页脚占位符 3">
            <a:extLst>
              <a:ext uri="{FF2B5EF4-FFF2-40B4-BE49-F238E27FC236}">
                <a16:creationId xmlns:a16="http://schemas.microsoft.com/office/drawing/2014/main" id="{77B5D4CA-E3BB-E52D-1771-37A2F1FCCDB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9751DB7-3F1C-1C11-F318-408A71B4F486}"/>
              </a:ext>
            </a:extLst>
          </p:cNvPr>
          <p:cNvSpPr>
            <a:spLocks noGrp="1"/>
          </p:cNvSpPr>
          <p:nvPr>
            <p:ph type="sldNum" sz="quarter" idx="12"/>
          </p:nvPr>
        </p:nvSpPr>
        <p:spPr/>
        <p:txBody>
          <a:bodyPr/>
          <a:lstStyle/>
          <a:p>
            <a:fld id="{D41FC515-8169-4A29-AA56-DBE520D5741B}" type="slidenum">
              <a:rPr lang="zh-CN" altLang="en-US" smtClean="0"/>
              <a:t>38</a:t>
            </a:fld>
            <a:endParaRPr lang="zh-CN" altLang="en-US"/>
          </a:p>
        </p:txBody>
      </p:sp>
    </p:spTree>
    <p:extLst>
      <p:ext uri="{BB962C8B-B14F-4D97-AF65-F5344CB8AC3E}">
        <p14:creationId xmlns:p14="http://schemas.microsoft.com/office/powerpoint/2010/main" val="5806805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C65E4A-38C6-A64D-9BD3-E3E588CEB022}"/>
              </a:ext>
            </a:extLst>
          </p:cNvPr>
          <p:cNvSpPr>
            <a:spLocks noGrp="1"/>
          </p:cNvSpPr>
          <p:nvPr>
            <p:ph type="title"/>
          </p:nvPr>
        </p:nvSpPr>
        <p:spPr/>
        <p:txBody>
          <a:bodyPr>
            <a:normAutofit/>
          </a:bodyPr>
          <a:lstStyle/>
          <a:p>
            <a:r>
              <a:rPr lang="zh-CN" altLang="en-US" dirty="0"/>
              <a:t>断点回归设计</a:t>
            </a:r>
            <a:br>
              <a:rPr lang="zh-CN" altLang="en-US" dirty="0"/>
            </a:br>
            <a:r>
              <a:rPr lang="da-DK" altLang="zh-CN" sz="2700" dirty="0"/>
              <a:t>He et al. (2020)</a:t>
            </a:r>
            <a:r>
              <a:rPr lang="zh-CN" altLang="da-DK" sz="2700" dirty="0"/>
              <a:t>：水污染管制的效果</a:t>
            </a:r>
            <a:endParaRPr lang="zh-CN" altLang="en-US" sz="2700" dirty="0"/>
          </a:p>
        </p:txBody>
      </p:sp>
      <p:sp>
        <p:nvSpPr>
          <p:cNvPr id="3" name="内容占位符 2">
            <a:extLst>
              <a:ext uri="{FF2B5EF4-FFF2-40B4-BE49-F238E27FC236}">
                <a16:creationId xmlns:a16="http://schemas.microsoft.com/office/drawing/2014/main" id="{4CD67417-E2CF-7AA7-BC73-B812DD24EB47}"/>
              </a:ext>
            </a:extLst>
          </p:cNvPr>
          <p:cNvSpPr>
            <a:spLocks noGrp="1"/>
          </p:cNvSpPr>
          <p:nvPr>
            <p:ph idx="1"/>
          </p:nvPr>
        </p:nvSpPr>
        <p:spPr/>
        <p:txBody>
          <a:bodyPr>
            <a:normAutofit/>
          </a:bodyPr>
          <a:lstStyle/>
          <a:p>
            <a:r>
              <a:rPr lang="zh-CN" altLang="en-US" sz="1600" dirty="0"/>
              <a:t>污染企业</a:t>
            </a:r>
          </a:p>
        </p:txBody>
      </p:sp>
      <p:sp>
        <p:nvSpPr>
          <p:cNvPr id="4" name="页脚占位符 3">
            <a:extLst>
              <a:ext uri="{FF2B5EF4-FFF2-40B4-BE49-F238E27FC236}">
                <a16:creationId xmlns:a16="http://schemas.microsoft.com/office/drawing/2014/main" id="{F6225F03-14E1-402F-0B8D-CC9A45C3019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6EE5397-E22C-88C6-8C02-F6B2E250AE73}"/>
              </a:ext>
            </a:extLst>
          </p:cNvPr>
          <p:cNvSpPr>
            <a:spLocks noGrp="1"/>
          </p:cNvSpPr>
          <p:nvPr>
            <p:ph type="sldNum" sz="quarter" idx="12"/>
          </p:nvPr>
        </p:nvSpPr>
        <p:spPr/>
        <p:txBody>
          <a:bodyPr/>
          <a:lstStyle/>
          <a:p>
            <a:fld id="{D41FC515-8169-4A29-AA56-DBE520D5741B}" type="slidenum">
              <a:rPr lang="zh-CN" altLang="en-US" smtClean="0"/>
              <a:t>39</a:t>
            </a:fld>
            <a:endParaRPr lang="zh-CN" altLang="en-US"/>
          </a:p>
        </p:txBody>
      </p:sp>
      <p:pic>
        <p:nvPicPr>
          <p:cNvPr id="7" name="图片 6">
            <a:extLst>
              <a:ext uri="{FF2B5EF4-FFF2-40B4-BE49-F238E27FC236}">
                <a16:creationId xmlns:a16="http://schemas.microsoft.com/office/drawing/2014/main" id="{AD9C9EFA-7CF6-E73A-34D6-20E8BBF8E7C4}"/>
              </a:ext>
            </a:extLst>
          </p:cNvPr>
          <p:cNvPicPr>
            <a:picLocks noChangeAspect="1"/>
          </p:cNvPicPr>
          <p:nvPr/>
        </p:nvPicPr>
        <p:blipFill>
          <a:blip r:embed="rId2"/>
          <a:stretch>
            <a:fillRect/>
          </a:stretch>
        </p:blipFill>
        <p:spPr>
          <a:xfrm>
            <a:off x="1897938" y="1945505"/>
            <a:ext cx="6439945" cy="4111578"/>
          </a:xfrm>
          <a:prstGeom prst="rect">
            <a:avLst/>
          </a:prstGeom>
        </p:spPr>
      </p:pic>
    </p:spTree>
    <p:extLst>
      <p:ext uri="{BB962C8B-B14F-4D97-AF65-F5344CB8AC3E}">
        <p14:creationId xmlns:p14="http://schemas.microsoft.com/office/powerpoint/2010/main" val="8527584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B7E5E6-2015-8644-89C5-27B38B77D539}"/>
              </a:ext>
            </a:extLst>
          </p:cNvPr>
          <p:cNvSpPr>
            <a:spLocks noGrp="1"/>
          </p:cNvSpPr>
          <p:nvPr>
            <p:ph type="title"/>
          </p:nvPr>
        </p:nvSpPr>
        <p:spPr/>
        <p:txBody>
          <a:bodyPr>
            <a:normAutofit/>
          </a:bodyPr>
          <a:lstStyle/>
          <a:p>
            <a:r>
              <a:rPr lang="zh-CN" altLang="en-US" dirty="0"/>
              <a:t>断点回归设计</a:t>
            </a:r>
            <a:br>
              <a:rPr lang="zh-CN" altLang="en-US" dirty="0"/>
            </a:br>
            <a:r>
              <a:rPr lang="da-DK" altLang="zh-CN" sz="2700" dirty="0"/>
              <a:t>He et al. (2020)</a:t>
            </a:r>
            <a:r>
              <a:rPr lang="zh-CN" altLang="da-DK" sz="2700" dirty="0"/>
              <a:t>：水污染管制的效果</a:t>
            </a:r>
            <a:endParaRPr lang="zh-CN" altLang="en-US" sz="2700" dirty="0"/>
          </a:p>
        </p:txBody>
      </p:sp>
      <p:sp>
        <p:nvSpPr>
          <p:cNvPr id="3" name="内容占位符 2">
            <a:extLst>
              <a:ext uri="{FF2B5EF4-FFF2-40B4-BE49-F238E27FC236}">
                <a16:creationId xmlns:a16="http://schemas.microsoft.com/office/drawing/2014/main" id="{675ED072-D2DB-5BE4-C2BD-5632F33ACCF9}"/>
              </a:ext>
            </a:extLst>
          </p:cNvPr>
          <p:cNvSpPr>
            <a:spLocks noGrp="1"/>
          </p:cNvSpPr>
          <p:nvPr>
            <p:ph idx="1"/>
          </p:nvPr>
        </p:nvSpPr>
        <p:spPr/>
        <p:txBody>
          <a:bodyPr>
            <a:normAutofit/>
          </a:bodyPr>
          <a:lstStyle/>
          <a:p>
            <a:r>
              <a:rPr lang="zh-CN" altLang="en-US" sz="1600" dirty="0"/>
              <a:t>非污染企业</a:t>
            </a:r>
          </a:p>
        </p:txBody>
      </p:sp>
      <p:sp>
        <p:nvSpPr>
          <p:cNvPr id="4" name="页脚占位符 3">
            <a:extLst>
              <a:ext uri="{FF2B5EF4-FFF2-40B4-BE49-F238E27FC236}">
                <a16:creationId xmlns:a16="http://schemas.microsoft.com/office/drawing/2014/main" id="{399ADBBD-7F77-859E-D030-F5BFCF74124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C0091EA-A859-B6C0-F6FD-0D296D42275E}"/>
              </a:ext>
            </a:extLst>
          </p:cNvPr>
          <p:cNvSpPr>
            <a:spLocks noGrp="1"/>
          </p:cNvSpPr>
          <p:nvPr>
            <p:ph type="sldNum" sz="quarter" idx="12"/>
          </p:nvPr>
        </p:nvSpPr>
        <p:spPr/>
        <p:txBody>
          <a:bodyPr/>
          <a:lstStyle/>
          <a:p>
            <a:fld id="{D41FC515-8169-4A29-AA56-DBE520D5741B}" type="slidenum">
              <a:rPr lang="zh-CN" altLang="en-US" smtClean="0"/>
              <a:t>40</a:t>
            </a:fld>
            <a:endParaRPr lang="zh-CN" altLang="en-US"/>
          </a:p>
        </p:txBody>
      </p:sp>
      <p:pic>
        <p:nvPicPr>
          <p:cNvPr id="7" name="图片 6">
            <a:extLst>
              <a:ext uri="{FF2B5EF4-FFF2-40B4-BE49-F238E27FC236}">
                <a16:creationId xmlns:a16="http://schemas.microsoft.com/office/drawing/2014/main" id="{4C996EE9-1E20-7EB6-2141-5EC84375EED0}"/>
              </a:ext>
            </a:extLst>
          </p:cNvPr>
          <p:cNvPicPr>
            <a:picLocks noChangeAspect="1"/>
          </p:cNvPicPr>
          <p:nvPr/>
        </p:nvPicPr>
        <p:blipFill>
          <a:blip r:embed="rId2"/>
          <a:stretch>
            <a:fillRect/>
          </a:stretch>
        </p:blipFill>
        <p:spPr>
          <a:xfrm>
            <a:off x="2174239" y="1870077"/>
            <a:ext cx="6493242" cy="4221629"/>
          </a:xfrm>
          <a:prstGeom prst="rect">
            <a:avLst/>
          </a:prstGeom>
        </p:spPr>
      </p:pic>
    </p:spTree>
    <p:extLst>
      <p:ext uri="{BB962C8B-B14F-4D97-AF65-F5344CB8AC3E}">
        <p14:creationId xmlns:p14="http://schemas.microsoft.com/office/powerpoint/2010/main" val="12078028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EB4951-C45F-82CF-9DF7-2C6387E48B17}"/>
              </a:ext>
            </a:extLst>
          </p:cNvPr>
          <p:cNvSpPr>
            <a:spLocks noGrp="1"/>
          </p:cNvSpPr>
          <p:nvPr>
            <p:ph type="title"/>
          </p:nvPr>
        </p:nvSpPr>
        <p:spPr/>
        <p:txBody>
          <a:bodyPr>
            <a:normAutofit/>
          </a:bodyPr>
          <a:lstStyle/>
          <a:p>
            <a:r>
              <a:rPr lang="zh-CN" altLang="en-US" dirty="0"/>
              <a:t>断点回归设计</a:t>
            </a:r>
            <a:br>
              <a:rPr lang="zh-CN" altLang="en-US" dirty="0"/>
            </a:br>
            <a:r>
              <a:rPr lang="da-DK" altLang="zh-CN" sz="2700" dirty="0"/>
              <a:t>He et al. (2020)</a:t>
            </a:r>
            <a:r>
              <a:rPr lang="zh-CN" altLang="da-DK" sz="2700" dirty="0"/>
              <a:t>：水污染管制的效果</a:t>
            </a:r>
            <a:endParaRPr lang="zh-CN" altLang="en-US" sz="2700" dirty="0"/>
          </a:p>
        </p:txBody>
      </p:sp>
      <p:sp>
        <p:nvSpPr>
          <p:cNvPr id="3" name="内容占位符 2">
            <a:extLst>
              <a:ext uri="{FF2B5EF4-FFF2-40B4-BE49-F238E27FC236}">
                <a16:creationId xmlns:a16="http://schemas.microsoft.com/office/drawing/2014/main" id="{B19BC1A7-549C-0E61-73F5-02FAE430AD75}"/>
              </a:ext>
            </a:extLst>
          </p:cNvPr>
          <p:cNvSpPr>
            <a:spLocks noGrp="1"/>
          </p:cNvSpPr>
          <p:nvPr>
            <p:ph idx="1"/>
          </p:nvPr>
        </p:nvSpPr>
        <p:spPr/>
        <p:txBody>
          <a:bodyPr>
            <a:normAutofit/>
          </a:bodyPr>
          <a:lstStyle/>
          <a:p>
            <a:r>
              <a:rPr lang="zh-CN" altLang="en-US" sz="1600" dirty="0"/>
              <a:t>连续性检验</a:t>
            </a:r>
            <a:r>
              <a:rPr lang="en-US" altLang="zh-CN" sz="1600" dirty="0"/>
              <a:t>S3–S5</a:t>
            </a:r>
            <a:endParaRPr lang="zh-CN" altLang="en-US" sz="1600" dirty="0"/>
          </a:p>
        </p:txBody>
      </p:sp>
      <p:sp>
        <p:nvSpPr>
          <p:cNvPr id="4" name="页脚占位符 3">
            <a:extLst>
              <a:ext uri="{FF2B5EF4-FFF2-40B4-BE49-F238E27FC236}">
                <a16:creationId xmlns:a16="http://schemas.microsoft.com/office/drawing/2014/main" id="{107E2C10-475B-D10D-3922-9B9CF12F8FD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A1D824F-31DF-C06F-5BF5-C5971B87D0AB}"/>
              </a:ext>
            </a:extLst>
          </p:cNvPr>
          <p:cNvSpPr>
            <a:spLocks noGrp="1"/>
          </p:cNvSpPr>
          <p:nvPr>
            <p:ph type="sldNum" sz="quarter" idx="12"/>
          </p:nvPr>
        </p:nvSpPr>
        <p:spPr/>
        <p:txBody>
          <a:bodyPr/>
          <a:lstStyle/>
          <a:p>
            <a:fld id="{D41FC515-8169-4A29-AA56-DBE520D5741B}" type="slidenum">
              <a:rPr lang="zh-CN" altLang="en-US" smtClean="0"/>
              <a:t>41</a:t>
            </a:fld>
            <a:endParaRPr lang="zh-CN" altLang="en-US"/>
          </a:p>
        </p:txBody>
      </p:sp>
      <p:pic>
        <p:nvPicPr>
          <p:cNvPr id="7" name="图片 6">
            <a:extLst>
              <a:ext uri="{FF2B5EF4-FFF2-40B4-BE49-F238E27FC236}">
                <a16:creationId xmlns:a16="http://schemas.microsoft.com/office/drawing/2014/main" id="{E4F8517A-B5EF-D321-0081-B8BDFA64A481}"/>
              </a:ext>
            </a:extLst>
          </p:cNvPr>
          <p:cNvPicPr>
            <a:picLocks noChangeAspect="1"/>
          </p:cNvPicPr>
          <p:nvPr/>
        </p:nvPicPr>
        <p:blipFill>
          <a:blip r:embed="rId2"/>
          <a:stretch>
            <a:fillRect/>
          </a:stretch>
        </p:blipFill>
        <p:spPr>
          <a:xfrm>
            <a:off x="2740150" y="1690689"/>
            <a:ext cx="5130306" cy="4250825"/>
          </a:xfrm>
          <a:prstGeom prst="rect">
            <a:avLst/>
          </a:prstGeom>
        </p:spPr>
      </p:pic>
    </p:spTree>
    <p:extLst>
      <p:ext uri="{BB962C8B-B14F-4D97-AF65-F5344CB8AC3E}">
        <p14:creationId xmlns:p14="http://schemas.microsoft.com/office/powerpoint/2010/main" val="10382167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502501-338C-0FD2-7CC4-4D5CC5625630}"/>
              </a:ext>
            </a:extLst>
          </p:cNvPr>
          <p:cNvSpPr>
            <a:spLocks noGrp="1"/>
          </p:cNvSpPr>
          <p:nvPr>
            <p:ph type="title"/>
          </p:nvPr>
        </p:nvSpPr>
        <p:spPr/>
        <p:txBody>
          <a:bodyPr>
            <a:normAutofit/>
          </a:bodyPr>
          <a:lstStyle/>
          <a:p>
            <a:r>
              <a:rPr lang="zh-CN" altLang="en-US" dirty="0"/>
              <a:t>断点回归设计</a:t>
            </a:r>
            <a:br>
              <a:rPr lang="zh-CN" altLang="en-US" dirty="0"/>
            </a:br>
            <a:r>
              <a:rPr lang="da-DK" altLang="zh-CN" sz="2700" dirty="0"/>
              <a:t>He et al. (2020)</a:t>
            </a:r>
            <a:r>
              <a:rPr lang="zh-CN" altLang="da-DK" sz="2700" dirty="0"/>
              <a:t>：水污染管制的效果</a:t>
            </a:r>
            <a:endParaRPr lang="zh-CN" altLang="en-US" sz="2700"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EBA3A803-F935-65D2-A62E-66647E788FFA}"/>
                  </a:ext>
                </a:extLst>
              </p:cNvPr>
              <p:cNvSpPr>
                <a:spLocks noGrp="1"/>
              </p:cNvSpPr>
              <p:nvPr>
                <p:ph idx="1"/>
              </p:nvPr>
            </p:nvSpPr>
            <p:spPr/>
            <p:txBody>
              <a:bodyPr>
                <a:normAutofit fontScale="62500" lnSpcReduction="20000"/>
              </a:bodyPr>
              <a:lstStyle/>
              <a:p>
                <a:pPr>
                  <a:lnSpc>
                    <a:spcPct val="120000"/>
                  </a:lnSpc>
                </a:pPr>
                <a:r>
                  <a:rPr lang="zh-CN" altLang="en-US" dirty="0"/>
                  <a:t>模型（局部线性回归，</a:t>
                </a:r>
                <a:r>
                  <a:rPr lang="en-US" altLang="zh-CN" dirty="0"/>
                  <a:t>LLR</a:t>
                </a:r>
                <a:r>
                  <a:rPr lang="zh-CN" altLang="en-US" dirty="0"/>
                  <a:t>）：</a:t>
                </a:r>
                <a:endParaRPr lang="en-US" altLang="zh-CN" dirty="0"/>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𝑇𝐹</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𝑃</m:t>
                              </m:r>
                            </m:e>
                            <m:sub>
                              <m:r>
                                <a:rPr lang="zh-CN" altLang="en-US" i="1" smtClean="0">
                                  <a:latin typeface="Cambria Math" panose="02040503050406030204" pitchFamily="18" charset="0"/>
                                </a:rPr>
                                <m:t>𝑖𝑗𝑘</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𝐷𝑜𝑤</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𝑛</m:t>
                              </m:r>
                            </m:e>
                            <m:sub>
                              <m:r>
                                <a:rPr lang="zh-CN" altLang="en-US" i="1" smtClean="0">
                                  <a:latin typeface="Cambria Math" panose="02040503050406030204" pitchFamily="18" charset="0"/>
                                </a:rPr>
                                <m:t>𝑖𝑗𝑘</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2</m:t>
                              </m:r>
                            </m:sub>
                          </m:sSub>
                          <m:r>
                            <a:rPr lang="zh-CN" altLang="en-US" i="1" smtClean="0">
                              <a:latin typeface="Cambria Math" panose="02040503050406030204" pitchFamily="18" charset="0"/>
                            </a:rPr>
                            <m:t>𝐷𝑖𝑠</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𝑖𝑗𝑘</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3</m:t>
                              </m:r>
                            </m:sub>
                          </m:sSub>
                          <m:r>
                            <a:rPr lang="zh-CN" altLang="en-US" i="1" smtClean="0">
                              <a:latin typeface="Cambria Math" panose="02040503050406030204" pitchFamily="18" charset="0"/>
                            </a:rPr>
                            <m:t>𝐷𝑜𝑤</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𝑛</m:t>
                              </m:r>
                            </m:e>
                            <m:sub>
                              <m:r>
                                <a:rPr lang="zh-CN" altLang="en-US" i="1" smtClean="0">
                                  <a:latin typeface="Cambria Math" panose="02040503050406030204" pitchFamily="18" charset="0"/>
                                </a:rPr>
                                <m:t>𝑖𝑗𝑘</m:t>
                              </m:r>
                            </m:sub>
                          </m:sSub>
                          <m:r>
                            <a:rPr lang="zh-CN" altLang="en-US" i="1" smtClean="0">
                              <a:latin typeface="Cambria Math" panose="02040503050406030204" pitchFamily="18" charset="0"/>
                            </a:rPr>
                            <m:t>𝐷𝑖𝑠</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𝑖𝑗𝑘</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𝑗</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𝑣</m:t>
                              </m:r>
                            </m:e>
                            <m:sub>
                              <m:r>
                                <a:rPr lang="zh-CN" altLang="en-US" i="1" smtClean="0">
                                  <a:latin typeface="Cambria Math" panose="02040503050406030204" pitchFamily="18" charset="0"/>
                                </a:rPr>
                                <m:t>𝑘</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𝑖𝑗𝑘</m:t>
                              </m:r>
                            </m:sub>
                          </m:sSub>
                          <m:r>
                            <a:rPr lang="zh-CN" altLang="en-US" i="1" smtClean="0">
                              <a:latin typeface="Cambria Math" panose="02040503050406030204" pitchFamily="18" charset="0"/>
                            </a:rPr>
                            <m:t>,</m:t>
                          </m:r>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𝑠</m:t>
                          </m:r>
                          <m:r>
                            <a:rPr lang="zh-CN" altLang="en-US" i="1" smtClean="0">
                              <a:latin typeface="Cambria Math" panose="02040503050406030204" pitchFamily="18" charset="0"/>
                            </a:rPr>
                            <m:t>.</m:t>
                          </m:r>
                          <m:r>
                            <a:rPr lang="zh-CN" altLang="en-US" i="1" smtClean="0">
                              <a:latin typeface="Cambria Math" panose="02040503050406030204" pitchFamily="18" charset="0"/>
                            </a:rPr>
                            <m:t>𝑡</m:t>
                          </m:r>
                          <m:r>
                            <a:rPr lang="zh-CN" altLang="en-US" i="1" smtClean="0">
                              <a:latin typeface="Cambria Math" panose="02040503050406030204" pitchFamily="18" charset="0"/>
                            </a:rPr>
                            <m:t>.−</m:t>
                          </m:r>
                          <m:r>
                            <a:rPr lang="zh-CN" altLang="en-US" i="1" smtClean="0">
                              <a:latin typeface="Cambria Math" panose="02040503050406030204" pitchFamily="18" charset="0"/>
                            </a:rPr>
                            <m:t>ℎ</m:t>
                          </m:r>
                          <m:r>
                            <a:rPr lang="zh-CN" altLang="en-US" i="1" smtClean="0">
                              <a:latin typeface="Cambria Math" panose="02040503050406030204" pitchFamily="18" charset="0"/>
                            </a:rPr>
                            <m:t>≤</m:t>
                          </m:r>
                          <m:r>
                            <a:rPr lang="zh-CN" altLang="en-US" i="1" smtClean="0">
                              <a:latin typeface="Cambria Math" panose="02040503050406030204" pitchFamily="18" charset="0"/>
                            </a:rPr>
                            <m:t>𝐷𝑖𝑠</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𝑖𝑗𝑘</m:t>
                              </m:r>
                            </m:sub>
                          </m:sSub>
                          <m:r>
                            <a:rPr lang="zh-CN" altLang="en-US" i="1" smtClean="0">
                              <a:latin typeface="Cambria Math" panose="02040503050406030204" pitchFamily="18" charset="0"/>
                            </a:rPr>
                            <m:t>≤</m:t>
                          </m:r>
                          <m:r>
                            <a:rPr lang="zh-CN" altLang="en-US" i="1" smtClean="0">
                              <a:latin typeface="Cambria Math" panose="02040503050406030204" pitchFamily="18" charset="0"/>
                            </a:rPr>
                            <m:t>ℎ</m:t>
                          </m:r>
                          <m:r>
                            <a:rPr lang="zh-CN" altLang="en-US"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其中</a:t>
                </a:r>
                <a14:m>
                  <m:oMath xmlns:m="http://schemas.openxmlformats.org/officeDocument/2006/math">
                    <m:r>
                      <a:rPr lang="zh-CN" altLang="en-US" i="1" dirty="0" smtClean="0">
                        <a:latin typeface="Cambria Math" panose="02040503050406030204" pitchFamily="18" charset="0"/>
                      </a:rPr>
                      <m:t>𝑇𝐹</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𝑃</m:t>
                        </m:r>
                      </m:e>
                      <m:sub>
                        <m:r>
                          <a:rPr lang="zh-CN" altLang="en-US" i="1" dirty="0" smtClean="0">
                            <a:latin typeface="Cambria Math" panose="02040503050406030204" pitchFamily="18" charset="0"/>
                          </a:rPr>
                          <m:t>𝑖𝑗𝑘</m:t>
                        </m:r>
                      </m:sub>
                    </m:sSub>
                    <m:r>
                      <a:rPr lang="zh-CN" altLang="en-US" i="1" dirty="0" smtClean="0">
                        <a:latin typeface="Cambria Math" panose="02040503050406030204" pitchFamily="18" charset="0"/>
                      </a:rPr>
                      <m:t> </m:t>
                    </m:r>
                  </m:oMath>
                </a14:m>
                <a:r>
                  <a:rPr lang="zh-CN" altLang="en-US" dirty="0"/>
                  <a:t>是监测站𝑘 附近的𝑗 行业企业𝑖 的全要素生产率，</a:t>
                </a:r>
                <a14:m>
                  <m:oMath xmlns:m="http://schemas.openxmlformats.org/officeDocument/2006/math">
                    <m:r>
                      <a:rPr lang="zh-CN" altLang="en-US" i="1" dirty="0" smtClean="0">
                        <a:latin typeface="Cambria Math" panose="02040503050406030204" pitchFamily="18" charset="0"/>
                      </a:rPr>
                      <m:t>𝐷𝑜𝑤</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𝑛</m:t>
                        </m:r>
                      </m:e>
                      <m:sub>
                        <m:r>
                          <a:rPr lang="zh-CN" altLang="en-US" i="1" dirty="0" smtClean="0">
                            <a:latin typeface="Cambria Math" panose="02040503050406030204" pitchFamily="18" charset="0"/>
                          </a:rPr>
                          <m:t>𝑖𝑗𝑘</m:t>
                        </m:r>
                      </m:sub>
                    </m:sSub>
                    <m:r>
                      <a:rPr lang="zh-CN" altLang="en-US" i="1" dirty="0" smtClean="0">
                        <a:latin typeface="Cambria Math" panose="02040503050406030204" pitchFamily="18" charset="0"/>
                      </a:rPr>
                      <m:t> </m:t>
                    </m:r>
                  </m:oMath>
                </a14:m>
                <a:r>
                  <a:rPr lang="zh-CN" altLang="en-US" dirty="0"/>
                  <a:t>表示个体𝑖 是否是下游企业，是下游企业取</a:t>
                </a:r>
                <a:r>
                  <a:rPr lang="en-US" altLang="zh-CN" dirty="0"/>
                  <a:t>1</a:t>
                </a:r>
                <a:r>
                  <a:rPr lang="zh-CN" altLang="en-US" dirty="0"/>
                  <a:t>。</a:t>
                </a:r>
                <a14:m>
                  <m:oMath xmlns:m="http://schemas.openxmlformats.org/officeDocument/2006/math">
                    <m:r>
                      <a:rPr lang="zh-CN" altLang="en-US" i="1" dirty="0" smtClean="0">
                        <a:latin typeface="Cambria Math" panose="02040503050406030204" pitchFamily="18" charset="0"/>
                      </a:rPr>
                      <m:t>𝐷𝑖𝑠</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𝑡</m:t>
                        </m:r>
                      </m:e>
                      <m:sub>
                        <m:r>
                          <a:rPr lang="zh-CN" altLang="en-US" i="1" dirty="0" smtClean="0">
                            <a:latin typeface="Cambria Math" panose="02040503050406030204" pitchFamily="18" charset="0"/>
                          </a:rPr>
                          <m:t>𝑖𝑗𝑘</m:t>
                        </m:r>
                      </m:sub>
                    </m:sSub>
                    <m:r>
                      <a:rPr lang="zh-CN" altLang="en-US" i="1" dirty="0" smtClean="0">
                        <a:latin typeface="Cambria Math" panose="02040503050406030204" pitchFamily="18" charset="0"/>
                      </a:rPr>
                      <m:t> </m:t>
                    </m:r>
                  </m:oMath>
                </a14:m>
                <a:r>
                  <a:rPr lang="zh-CN" altLang="en-US" dirty="0"/>
                  <a:t>是企业𝑖 离监测站𝑘 的距离，</a:t>
                </a:r>
                <a:r>
                  <a:rPr lang="en-US" altLang="zh-CN" dirty="0"/>
                  <a:t>ℎ </a:t>
                </a:r>
                <a:r>
                  <a:rPr lang="zh-CN" altLang="en-US" dirty="0"/>
                  <a:t>是最优带宽。</a:t>
                </a:r>
                <a:endParaRPr lang="en-US" altLang="zh-CN" dirty="0"/>
              </a:p>
              <a:p>
                <a:pPr>
                  <a:lnSpc>
                    <a:spcPct val="120000"/>
                  </a:lnSpc>
                </a:pPr>
                <a:r>
                  <a:rPr lang="en-US" altLang="zh-CN" dirty="0"/>
                  <a:t>Difference-in-discontinuities</a:t>
                </a:r>
              </a:p>
              <a:p>
                <a:pPr marL="0" indent="0">
                  <a:lnSpc>
                    <a:spcPct val="120000"/>
                  </a:lnSpc>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𝑇𝐹</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𝑃</m:t>
                              </m:r>
                            </m:e>
                            <m:sub>
                              <m:r>
                                <a:rPr lang="zh-CN" altLang="en-US" i="1" smtClean="0">
                                  <a:latin typeface="Cambria Math" panose="02040503050406030204" pitchFamily="18" charset="0"/>
                                </a:rPr>
                                <m:t>𝑖𝑗𝑘𝑡</m:t>
                              </m:r>
                            </m:sub>
                          </m:sSub>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𝐷𝑜𝑤</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𝑛</m:t>
                              </m:r>
                            </m:e>
                            <m:sub>
                              <m:r>
                                <a:rPr lang="zh-CN" altLang="en-US" i="1" smtClean="0">
                                  <a:latin typeface="Cambria Math" panose="02040503050406030204" pitchFamily="18" charset="0"/>
                                </a:rPr>
                                <m:t>𝑖𝑗𝑘</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𝐷𝑜𝑤</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𝑛</m:t>
                              </m:r>
                            </m:e>
                            <m:sub>
                              <m:r>
                                <a:rPr lang="zh-CN" altLang="en-US" i="1" smtClean="0">
                                  <a:latin typeface="Cambria Math" panose="02040503050406030204" pitchFamily="18" charset="0"/>
                                </a:rPr>
                                <m:t>𝑖𝑗𝑘</m:t>
                              </m:r>
                            </m:sub>
                          </m:sSub>
                          <m:r>
                            <a:rPr lang="zh-CN" altLang="en-US" i="1" smtClean="0">
                              <a:latin typeface="Cambria Math" panose="02040503050406030204" pitchFamily="18" charset="0"/>
                            </a:rPr>
                            <m:t>𝑓</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𝐷𝑖𝑠</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𝑖𝑗𝑘</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𝛼</m:t>
                              </m:r>
                            </m:e>
                            <m:sub>
                              <m:r>
                                <a:rPr lang="zh-CN" altLang="en-US" i="1" smtClean="0">
                                  <a:latin typeface="Cambria Math" panose="02040503050406030204" pitchFamily="18" charset="0"/>
                                </a:rPr>
                                <m:t>2</m:t>
                              </m:r>
                            </m:sub>
                          </m:sSub>
                          <m:r>
                            <a:rPr lang="zh-CN" altLang="en-US" i="1" smtClean="0">
                              <a:latin typeface="Cambria Math" panose="02040503050406030204" pitchFamily="18" charset="0"/>
                            </a:rPr>
                            <m:t>𝐷𝑜𝑤</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𝑛</m:t>
                              </m:r>
                            </m:e>
                            <m:sub>
                              <m:r>
                                <a:rPr lang="zh-CN" altLang="en-US" i="1" smtClean="0">
                                  <a:latin typeface="Cambria Math" panose="02040503050406030204" pitchFamily="18" charset="0"/>
                                </a:rPr>
                                <m:t>𝑖𝑗𝑘</m:t>
                              </m:r>
                            </m:sub>
                          </m:sSub>
                          <m:r>
                            <a:rPr lang="zh-CN" altLang="en-US" i="1" smtClean="0">
                              <a:latin typeface="Cambria Math" panose="02040503050406030204" pitchFamily="18" charset="0"/>
                            </a:rPr>
                            <m:t>𝑃𝑜𝑠𝑡</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03</m:t>
                              </m:r>
                            </m:e>
                            <m:sub>
                              <m:r>
                                <a:rPr lang="zh-CN" altLang="en-US" i="1" smtClean="0">
                                  <a:latin typeface="Cambria Math" panose="02040503050406030204" pitchFamily="18" charset="0"/>
                                </a:rPr>
                                <m:t>𝑡</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r>
                            <a:rPr lang="zh-CN" altLang="en-US" i="1" smtClean="0">
                              <a:latin typeface="Cambria Math" panose="02040503050406030204" pitchFamily="18" charset="0"/>
                            </a:rPr>
                            <m:t>𝑓</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𝐷𝑖𝑠</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𝑖𝑗𝑘</m:t>
                                  </m:r>
                                </m:sub>
                              </m:sSub>
                            </m:e>
                          </m:d>
                          <m:r>
                            <a:rPr lang="zh-CN" altLang="en-US" i="1" smtClean="0">
                              <a:latin typeface="Cambria Math" panose="02040503050406030204" pitchFamily="18" charset="0"/>
                            </a:rPr>
                            <m:t>𝑃𝑜𝑠𝑡</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03</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r>
                            <a:rPr lang="zh-CN" altLang="en-US" i="1" smtClean="0">
                              <a:latin typeface="Cambria Math" panose="02040503050406030204" pitchFamily="18" charset="0"/>
                            </a:rPr>
                            <m:t>𝐷𝑜𝑤</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𝑛</m:t>
                              </m:r>
                            </m:e>
                            <m:sub>
                              <m:r>
                                <a:rPr lang="zh-CN" altLang="en-US" i="1" smtClean="0">
                                  <a:latin typeface="Cambria Math" panose="02040503050406030204" pitchFamily="18" charset="0"/>
                                </a:rPr>
                                <m:t>𝑖𝑗𝑘</m:t>
                              </m:r>
                            </m:sub>
                          </m:sSub>
                          <m:r>
                            <a:rPr lang="zh-CN" altLang="en-US" i="1" smtClean="0">
                              <a:latin typeface="Cambria Math" panose="02040503050406030204" pitchFamily="18" charset="0"/>
                            </a:rPr>
                            <m:t>𝑓</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𝐷𝑖𝑠</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𝑖𝑗𝑘</m:t>
                                  </m:r>
                                </m:sub>
                              </m:sSub>
                            </m:e>
                          </m:d>
                          <m:r>
                            <a:rPr lang="zh-CN" altLang="en-US" i="1" smtClean="0">
                              <a:latin typeface="Cambria Math" panose="02040503050406030204" pitchFamily="18" charset="0"/>
                            </a:rPr>
                            <m:t>𝑃𝑜𝑠𝑡</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03</m:t>
                              </m:r>
                            </m:e>
                            <m:sub>
                              <m:r>
                                <a:rPr lang="zh-CN" altLang="en-US" i="1" smtClean="0">
                                  <a:latin typeface="Cambria Math" panose="02040503050406030204" pitchFamily="18" charset="0"/>
                                </a:rPr>
                                <m:t>𝑡</m:t>
                              </m:r>
                            </m:sub>
                          </m:sSub>
                        </m:e>
                        <m:e>
                          <m:r>
                            <m:rPr>
                              <m:aln/>
                            </m:rPr>
                            <a:rPr lang="zh-CN" altLang="en-US" i="1" smtClean="0">
                              <a:latin typeface="Cambria Math" panose="02040503050406030204" pitchFamily="18" charset="0"/>
                            </a:rPr>
                            <m:t>&amp;</m:t>
                          </m:r>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𝑢</m:t>
                              </m:r>
                            </m:e>
                            <m:sub>
                              <m:r>
                                <a:rPr lang="zh-CN" altLang="en-US" i="1" smtClean="0">
                                  <a:latin typeface="Cambria Math" panose="02040503050406030204" pitchFamily="18" charset="0"/>
                                </a:rPr>
                                <m:t>𝑗</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𝑣</m:t>
                              </m:r>
                            </m:e>
                            <m:sub>
                              <m:r>
                                <a:rPr lang="zh-CN" altLang="en-US" i="1" smtClean="0">
                                  <a:latin typeface="Cambria Math" panose="02040503050406030204" pitchFamily="18" charset="0"/>
                                </a:rPr>
                                <m:t>𝑘</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𝑤</m:t>
                              </m:r>
                            </m:e>
                            <m:sub>
                              <m:r>
                                <a:rPr lang="zh-CN" altLang="en-US" i="1" smtClean="0">
                                  <a:latin typeface="Cambria Math" panose="02040503050406030204" pitchFamily="18" charset="0"/>
                                </a:rPr>
                                <m:t>𝑡</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𝑖𝑗𝑘</m:t>
                              </m:r>
                            </m:sub>
                          </m:sSub>
                          <m:r>
                            <a:rPr lang="zh-CN" altLang="en-US" i="1" smtClean="0">
                              <a:latin typeface="Cambria Math" panose="02040503050406030204" pitchFamily="18" charset="0"/>
                            </a:rPr>
                            <m:t>, </m:t>
                          </m:r>
                          <m:r>
                            <a:rPr lang="zh-CN" altLang="en-US" i="1" smtClean="0">
                              <a:latin typeface="Cambria Math" panose="02040503050406030204" pitchFamily="18" charset="0"/>
                            </a:rPr>
                            <m:t>𝑠</m:t>
                          </m:r>
                          <m:r>
                            <a:rPr lang="zh-CN" altLang="en-US" i="1" smtClean="0">
                              <a:latin typeface="Cambria Math" panose="02040503050406030204" pitchFamily="18" charset="0"/>
                            </a:rPr>
                            <m:t>.</m:t>
                          </m:r>
                          <m:r>
                            <a:rPr lang="zh-CN" altLang="en-US" i="1" smtClean="0">
                              <a:latin typeface="Cambria Math" panose="02040503050406030204" pitchFamily="18" charset="0"/>
                            </a:rPr>
                            <m:t>𝑡</m:t>
                          </m:r>
                          <m:r>
                            <a:rPr lang="zh-CN" altLang="en-US" i="1" smtClean="0">
                              <a:latin typeface="Cambria Math" panose="02040503050406030204" pitchFamily="18" charset="0"/>
                            </a:rPr>
                            <m:t>.−</m:t>
                          </m:r>
                          <m:r>
                            <a:rPr lang="zh-CN" altLang="en-US" i="1" smtClean="0">
                              <a:latin typeface="Cambria Math" panose="02040503050406030204" pitchFamily="18" charset="0"/>
                            </a:rPr>
                            <m:t>ℎ</m:t>
                          </m:r>
                          <m:r>
                            <a:rPr lang="zh-CN" altLang="en-US" i="1" smtClean="0">
                              <a:latin typeface="Cambria Math" panose="02040503050406030204" pitchFamily="18" charset="0"/>
                            </a:rPr>
                            <m:t>≤</m:t>
                          </m:r>
                          <m:r>
                            <a:rPr lang="zh-CN" altLang="en-US" i="1" smtClean="0">
                              <a:latin typeface="Cambria Math" panose="02040503050406030204" pitchFamily="18" charset="0"/>
                            </a:rPr>
                            <m:t>𝐷𝑖𝑠</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𝑡</m:t>
                              </m:r>
                            </m:e>
                            <m:sub>
                              <m:r>
                                <a:rPr lang="zh-CN" altLang="en-US" i="1" smtClean="0">
                                  <a:latin typeface="Cambria Math" panose="02040503050406030204" pitchFamily="18" charset="0"/>
                                </a:rPr>
                                <m:t>𝑖𝑗𝑘</m:t>
                              </m:r>
                            </m:sub>
                          </m:sSub>
                          <m:r>
                            <a:rPr lang="zh-CN" altLang="en-US" i="1" smtClean="0">
                              <a:latin typeface="Cambria Math" panose="02040503050406030204" pitchFamily="18" charset="0"/>
                            </a:rPr>
                            <m:t>≤</m:t>
                          </m:r>
                          <m:r>
                            <a:rPr lang="zh-CN" altLang="en-US" i="1" smtClean="0">
                              <a:latin typeface="Cambria Math" panose="02040503050406030204" pitchFamily="18" charset="0"/>
                            </a:rPr>
                            <m:t>ℎ</m:t>
                          </m:r>
                          <m:r>
                            <a:rPr lang="zh-CN" altLang="en-US" i="1" smtClean="0">
                              <a:latin typeface="Cambria Math" panose="02040503050406030204" pitchFamily="18" charset="0"/>
                            </a:rPr>
                            <m:t>,</m:t>
                          </m:r>
                        </m:e>
                      </m:eqArr>
                    </m:oMath>
                  </m:oMathPara>
                </a14:m>
                <a:endParaRPr lang="en-US" altLang="zh-CN" dirty="0"/>
              </a:p>
              <a:p>
                <a:pPr marL="0" indent="0">
                  <a:lnSpc>
                    <a:spcPct val="120000"/>
                  </a:lnSpc>
                  <a:buNone/>
                </a:pPr>
                <a:r>
                  <a:rPr lang="zh-CN" altLang="en-US" dirty="0"/>
                  <a:t>其中</a:t>
                </a:r>
                <a14:m>
                  <m:oMath xmlns:m="http://schemas.openxmlformats.org/officeDocument/2006/math">
                    <m:r>
                      <a:rPr lang="zh-CN" altLang="en-US" i="1" dirty="0" smtClean="0">
                        <a:latin typeface="Cambria Math" panose="02040503050406030204" pitchFamily="18" charset="0"/>
                      </a:rPr>
                      <m:t>𝑃𝑜</m:t>
                    </m:r>
                    <m:r>
                      <a:rPr lang="zh-CN" altLang="en-US" i="1" dirty="0">
                        <a:latin typeface="Cambria Math" panose="02040503050406030204" pitchFamily="18" charset="0"/>
                      </a:rPr>
                      <m:t>𝑠𝑡</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03</m:t>
                        </m:r>
                      </m:e>
                      <m:sub>
                        <m:r>
                          <a:rPr lang="zh-CN" altLang="en-US" i="1" dirty="0">
                            <a:latin typeface="Cambria Math" panose="02040503050406030204" pitchFamily="18" charset="0"/>
                          </a:rPr>
                          <m:t>𝑡</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𝟙</m:t>
                    </m:r>
                    <m:r>
                      <a:rPr lang="en-US" altLang="zh-CN" i="1" dirty="0">
                        <a:latin typeface="Cambria Math" panose="02040503050406030204" pitchFamily="18" charset="0"/>
                      </a:rPr>
                      <m:t>[</m:t>
                    </m:r>
                    <m:r>
                      <a:rPr lang="zh-CN" altLang="en-US" i="1" dirty="0">
                        <a:latin typeface="Cambria Math" panose="02040503050406030204" pitchFamily="18" charset="0"/>
                      </a:rPr>
                      <m:t>𝑡</m:t>
                    </m:r>
                    <m:r>
                      <a:rPr lang="zh-CN" altLang="en-US" i="1" dirty="0">
                        <a:latin typeface="Cambria Math" panose="02040503050406030204" pitchFamily="18" charset="0"/>
                      </a:rPr>
                      <m:t> ≥ 2003]</m:t>
                    </m:r>
                  </m:oMath>
                </a14:m>
                <a:r>
                  <a:rPr lang="zh-CN" altLang="en-US" dirty="0"/>
                  <a:t>。</a:t>
                </a:r>
              </a:p>
            </p:txBody>
          </p:sp>
        </mc:Choice>
        <mc:Fallback>
          <p:sp>
            <p:nvSpPr>
              <p:cNvPr id="3" name="内容占位符 2">
                <a:extLst>
                  <a:ext uri="{FF2B5EF4-FFF2-40B4-BE49-F238E27FC236}">
                    <a16:creationId xmlns:a16="http://schemas.microsoft.com/office/drawing/2014/main" id="{EBA3A803-F935-65D2-A62E-66647E788FFA}"/>
                  </a:ext>
                </a:extLst>
              </p:cNvPr>
              <p:cNvSpPr>
                <a:spLocks noGrp="1" noRot="1" noChangeAspect="1" noMove="1" noResize="1" noEditPoints="1" noAdjustHandles="1" noChangeArrowheads="1" noChangeShapeType="1" noTextEdit="1"/>
              </p:cNvSpPr>
              <p:nvPr>
                <p:ph idx="1"/>
              </p:nvPr>
            </p:nvSpPr>
            <p:spPr>
              <a:blipFill>
                <a:blip r:embed="rId2"/>
                <a:stretch>
                  <a:fillRect l="-618"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8596D8D5-1942-077D-D808-B4736C7AF8C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4ACB494-430F-EDD2-3D06-D4D33DC18A48}"/>
              </a:ext>
            </a:extLst>
          </p:cNvPr>
          <p:cNvSpPr>
            <a:spLocks noGrp="1"/>
          </p:cNvSpPr>
          <p:nvPr>
            <p:ph type="sldNum" sz="quarter" idx="12"/>
          </p:nvPr>
        </p:nvSpPr>
        <p:spPr/>
        <p:txBody>
          <a:bodyPr/>
          <a:lstStyle/>
          <a:p>
            <a:fld id="{D41FC515-8169-4A29-AA56-DBE520D5741B}" type="slidenum">
              <a:rPr lang="zh-CN" altLang="en-US" smtClean="0"/>
              <a:t>42</a:t>
            </a:fld>
            <a:endParaRPr lang="zh-CN" altLang="en-US"/>
          </a:p>
        </p:txBody>
      </p:sp>
    </p:spTree>
    <p:extLst>
      <p:ext uri="{BB962C8B-B14F-4D97-AF65-F5344CB8AC3E}">
        <p14:creationId xmlns:p14="http://schemas.microsoft.com/office/powerpoint/2010/main" val="24708772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B4F8D2-67A9-C4D2-84DF-44A808D7B0DE}"/>
              </a:ext>
            </a:extLst>
          </p:cNvPr>
          <p:cNvSpPr>
            <a:spLocks noGrp="1"/>
          </p:cNvSpPr>
          <p:nvPr>
            <p:ph type="title"/>
          </p:nvPr>
        </p:nvSpPr>
        <p:spPr/>
        <p:txBody>
          <a:bodyPr>
            <a:normAutofit/>
          </a:bodyPr>
          <a:lstStyle/>
          <a:p>
            <a:r>
              <a:rPr lang="zh-CN" altLang="en-US" dirty="0"/>
              <a:t>断点回归设计</a:t>
            </a:r>
            <a:br>
              <a:rPr lang="zh-CN" altLang="en-US" dirty="0"/>
            </a:br>
            <a:r>
              <a:rPr lang="da-DK" altLang="zh-CN" sz="2700" dirty="0"/>
              <a:t>He et al. (2020)</a:t>
            </a:r>
            <a:r>
              <a:rPr lang="zh-CN" altLang="da-DK" sz="2700" dirty="0"/>
              <a:t>：水污染管制的效果</a:t>
            </a:r>
            <a:endParaRPr lang="zh-CN" altLang="en-US" sz="2700" dirty="0"/>
          </a:p>
        </p:txBody>
      </p:sp>
      <p:pic>
        <p:nvPicPr>
          <p:cNvPr id="7" name="内容占位符 6">
            <a:extLst>
              <a:ext uri="{FF2B5EF4-FFF2-40B4-BE49-F238E27FC236}">
                <a16:creationId xmlns:a16="http://schemas.microsoft.com/office/drawing/2014/main" id="{1C126D06-BBA6-7E02-6566-6CA82CFAAC00}"/>
              </a:ext>
            </a:extLst>
          </p:cNvPr>
          <p:cNvPicPr>
            <a:picLocks noGrp="1" noChangeAspect="1"/>
          </p:cNvPicPr>
          <p:nvPr>
            <p:ph idx="1"/>
          </p:nvPr>
        </p:nvPicPr>
        <p:blipFill>
          <a:blip r:embed="rId2"/>
          <a:stretch>
            <a:fillRect/>
          </a:stretch>
        </p:blipFill>
        <p:spPr>
          <a:xfrm>
            <a:off x="2080044" y="1825625"/>
            <a:ext cx="4983911" cy="4351338"/>
          </a:xfrm>
          <a:prstGeom prst="rect">
            <a:avLst/>
          </a:prstGeom>
        </p:spPr>
      </p:pic>
      <p:sp>
        <p:nvSpPr>
          <p:cNvPr id="4" name="页脚占位符 3">
            <a:extLst>
              <a:ext uri="{FF2B5EF4-FFF2-40B4-BE49-F238E27FC236}">
                <a16:creationId xmlns:a16="http://schemas.microsoft.com/office/drawing/2014/main" id="{80AC334C-2F19-41E6-787C-17CB7FCA174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8888EFD-12AD-26AE-DDE0-DF6D80AB8C9C}"/>
              </a:ext>
            </a:extLst>
          </p:cNvPr>
          <p:cNvSpPr>
            <a:spLocks noGrp="1"/>
          </p:cNvSpPr>
          <p:nvPr>
            <p:ph type="sldNum" sz="quarter" idx="12"/>
          </p:nvPr>
        </p:nvSpPr>
        <p:spPr/>
        <p:txBody>
          <a:bodyPr/>
          <a:lstStyle/>
          <a:p>
            <a:fld id="{D41FC515-8169-4A29-AA56-DBE520D5741B}" type="slidenum">
              <a:rPr lang="zh-CN" altLang="en-US" smtClean="0"/>
              <a:t>43</a:t>
            </a:fld>
            <a:endParaRPr lang="zh-CN" altLang="en-US"/>
          </a:p>
        </p:txBody>
      </p:sp>
    </p:spTree>
    <p:extLst>
      <p:ext uri="{BB962C8B-B14F-4D97-AF65-F5344CB8AC3E}">
        <p14:creationId xmlns:p14="http://schemas.microsoft.com/office/powerpoint/2010/main" val="35246179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38825B-49D5-4BCF-F46C-AAEAD1B17E73}"/>
              </a:ext>
            </a:extLst>
          </p:cNvPr>
          <p:cNvSpPr>
            <a:spLocks noGrp="1"/>
          </p:cNvSpPr>
          <p:nvPr>
            <p:ph type="title"/>
          </p:nvPr>
        </p:nvSpPr>
        <p:spPr/>
        <p:txBody>
          <a:bodyPr>
            <a:normAutofit/>
          </a:bodyPr>
          <a:lstStyle/>
          <a:p>
            <a:r>
              <a:rPr lang="zh-CN" altLang="en-US" dirty="0"/>
              <a:t>断点回归设计</a:t>
            </a:r>
            <a:br>
              <a:rPr lang="zh-CN" altLang="en-US" dirty="0"/>
            </a:br>
            <a:r>
              <a:rPr lang="da-DK" altLang="zh-CN" sz="2700" dirty="0"/>
              <a:t>He et al. (2020)</a:t>
            </a:r>
            <a:r>
              <a:rPr lang="zh-CN" altLang="da-DK" sz="2700" dirty="0"/>
              <a:t>：水污染管制的效果</a:t>
            </a:r>
            <a:endParaRPr lang="zh-CN" altLang="en-US" sz="2700" dirty="0"/>
          </a:p>
        </p:txBody>
      </p:sp>
      <p:sp>
        <p:nvSpPr>
          <p:cNvPr id="3" name="内容占位符 2">
            <a:extLst>
              <a:ext uri="{FF2B5EF4-FFF2-40B4-BE49-F238E27FC236}">
                <a16:creationId xmlns:a16="http://schemas.microsoft.com/office/drawing/2014/main" id="{F88D47E6-C7F1-E2EC-8EC3-706EE587BEE9}"/>
              </a:ext>
            </a:extLst>
          </p:cNvPr>
          <p:cNvSpPr>
            <a:spLocks noGrp="1"/>
          </p:cNvSpPr>
          <p:nvPr>
            <p:ph idx="1"/>
          </p:nvPr>
        </p:nvSpPr>
        <p:spPr/>
        <p:txBody>
          <a:bodyPr>
            <a:normAutofit/>
          </a:bodyPr>
          <a:lstStyle/>
          <a:p>
            <a:r>
              <a:rPr lang="zh-CN" altLang="en-US" sz="1600" dirty="0"/>
              <a:t>动态效应</a:t>
            </a:r>
          </a:p>
        </p:txBody>
      </p:sp>
      <p:sp>
        <p:nvSpPr>
          <p:cNvPr id="4" name="页脚占位符 3">
            <a:extLst>
              <a:ext uri="{FF2B5EF4-FFF2-40B4-BE49-F238E27FC236}">
                <a16:creationId xmlns:a16="http://schemas.microsoft.com/office/drawing/2014/main" id="{A1196391-DC44-B77F-85BC-4F935AC236F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802B256-CD59-B125-A958-3CDB9F668445}"/>
              </a:ext>
            </a:extLst>
          </p:cNvPr>
          <p:cNvSpPr>
            <a:spLocks noGrp="1"/>
          </p:cNvSpPr>
          <p:nvPr>
            <p:ph type="sldNum" sz="quarter" idx="12"/>
          </p:nvPr>
        </p:nvSpPr>
        <p:spPr/>
        <p:txBody>
          <a:bodyPr/>
          <a:lstStyle/>
          <a:p>
            <a:fld id="{D41FC515-8169-4A29-AA56-DBE520D5741B}" type="slidenum">
              <a:rPr lang="zh-CN" altLang="en-US" smtClean="0"/>
              <a:t>44</a:t>
            </a:fld>
            <a:endParaRPr lang="zh-CN" altLang="en-US"/>
          </a:p>
        </p:txBody>
      </p:sp>
      <p:pic>
        <p:nvPicPr>
          <p:cNvPr id="7" name="图片 6">
            <a:extLst>
              <a:ext uri="{FF2B5EF4-FFF2-40B4-BE49-F238E27FC236}">
                <a16:creationId xmlns:a16="http://schemas.microsoft.com/office/drawing/2014/main" id="{0BB39544-419C-0476-D363-53DB291F7D9B}"/>
              </a:ext>
            </a:extLst>
          </p:cNvPr>
          <p:cNvPicPr>
            <a:picLocks noChangeAspect="1"/>
          </p:cNvPicPr>
          <p:nvPr/>
        </p:nvPicPr>
        <p:blipFill>
          <a:blip r:embed="rId2"/>
          <a:stretch>
            <a:fillRect/>
          </a:stretch>
        </p:blipFill>
        <p:spPr>
          <a:xfrm>
            <a:off x="937869" y="2182884"/>
            <a:ext cx="7268261" cy="4309990"/>
          </a:xfrm>
          <a:prstGeom prst="rect">
            <a:avLst/>
          </a:prstGeom>
        </p:spPr>
      </p:pic>
    </p:spTree>
    <p:extLst>
      <p:ext uri="{BB962C8B-B14F-4D97-AF65-F5344CB8AC3E}">
        <p14:creationId xmlns:p14="http://schemas.microsoft.com/office/powerpoint/2010/main" val="35384577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AAEB55-F879-8A9D-1F44-B05D9167D282}"/>
              </a:ext>
            </a:extLst>
          </p:cNvPr>
          <p:cNvSpPr>
            <a:spLocks noGrp="1"/>
          </p:cNvSpPr>
          <p:nvPr>
            <p:ph type="title"/>
          </p:nvPr>
        </p:nvSpPr>
        <p:spPr/>
        <p:txBody>
          <a:bodyPr>
            <a:normAutofit/>
          </a:bodyPr>
          <a:lstStyle/>
          <a:p>
            <a:r>
              <a:rPr lang="zh-CN" altLang="en-US" dirty="0"/>
              <a:t>断点回归设计</a:t>
            </a:r>
            <a:br>
              <a:rPr lang="zh-CN" altLang="en-US" dirty="0"/>
            </a:br>
            <a:r>
              <a:rPr lang="da-DK" altLang="zh-CN" sz="2700" dirty="0"/>
              <a:t>He et al. (2020)</a:t>
            </a:r>
            <a:r>
              <a:rPr lang="zh-CN" altLang="da-DK" sz="2700" dirty="0"/>
              <a:t>：水污染管制的效果</a:t>
            </a:r>
            <a:endParaRPr lang="zh-CN" altLang="en-US" sz="2700" dirty="0"/>
          </a:p>
        </p:txBody>
      </p:sp>
      <p:pic>
        <p:nvPicPr>
          <p:cNvPr id="7" name="内容占位符 6">
            <a:extLst>
              <a:ext uri="{FF2B5EF4-FFF2-40B4-BE49-F238E27FC236}">
                <a16:creationId xmlns:a16="http://schemas.microsoft.com/office/drawing/2014/main" id="{0D0ECF8B-397E-3362-04C7-D4F606128E16}"/>
              </a:ext>
            </a:extLst>
          </p:cNvPr>
          <p:cNvPicPr>
            <a:picLocks noGrp="1" noChangeAspect="1"/>
          </p:cNvPicPr>
          <p:nvPr>
            <p:ph idx="1"/>
          </p:nvPr>
        </p:nvPicPr>
        <p:blipFill>
          <a:blip r:embed="rId2"/>
          <a:stretch>
            <a:fillRect/>
          </a:stretch>
        </p:blipFill>
        <p:spPr>
          <a:xfrm>
            <a:off x="1759311" y="1825625"/>
            <a:ext cx="5625377" cy="4351338"/>
          </a:xfrm>
          <a:prstGeom prst="rect">
            <a:avLst/>
          </a:prstGeom>
        </p:spPr>
      </p:pic>
      <p:sp>
        <p:nvSpPr>
          <p:cNvPr id="4" name="页脚占位符 3">
            <a:extLst>
              <a:ext uri="{FF2B5EF4-FFF2-40B4-BE49-F238E27FC236}">
                <a16:creationId xmlns:a16="http://schemas.microsoft.com/office/drawing/2014/main" id="{B377CC42-9666-56BD-97E9-45E8C997294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3FA2B07-A725-4AF5-D74F-D40CB36A3451}"/>
              </a:ext>
            </a:extLst>
          </p:cNvPr>
          <p:cNvSpPr>
            <a:spLocks noGrp="1"/>
          </p:cNvSpPr>
          <p:nvPr>
            <p:ph type="sldNum" sz="quarter" idx="12"/>
          </p:nvPr>
        </p:nvSpPr>
        <p:spPr/>
        <p:txBody>
          <a:bodyPr/>
          <a:lstStyle/>
          <a:p>
            <a:fld id="{D41FC515-8169-4A29-AA56-DBE520D5741B}" type="slidenum">
              <a:rPr lang="zh-CN" altLang="en-US" smtClean="0"/>
              <a:t>45</a:t>
            </a:fld>
            <a:endParaRPr lang="zh-CN" altLang="en-US"/>
          </a:p>
        </p:txBody>
      </p:sp>
    </p:spTree>
    <p:extLst>
      <p:ext uri="{BB962C8B-B14F-4D97-AF65-F5344CB8AC3E}">
        <p14:creationId xmlns:p14="http://schemas.microsoft.com/office/powerpoint/2010/main" val="27468761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5C86CF-32A0-21A5-D5B2-2C6CEDC4598F}"/>
              </a:ext>
            </a:extLst>
          </p:cNvPr>
          <p:cNvSpPr>
            <a:spLocks noGrp="1"/>
          </p:cNvSpPr>
          <p:nvPr>
            <p:ph type="title"/>
          </p:nvPr>
        </p:nvSpPr>
        <p:spPr/>
        <p:txBody>
          <a:bodyPr/>
          <a:lstStyle/>
          <a:p>
            <a:r>
              <a:rPr lang="zh-CN" altLang="en-US" dirty="0"/>
              <a:t>弯折回归设计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2E27DAD-A4F7-106C-20D8-3231720BF638}"/>
                  </a:ext>
                </a:extLst>
              </p:cNvPr>
              <p:cNvSpPr>
                <a:spLocks noGrp="1"/>
              </p:cNvSpPr>
              <p:nvPr>
                <p:ph idx="1"/>
              </p:nvPr>
            </p:nvSpPr>
            <p:spPr/>
            <p:txBody>
              <a:bodyPr>
                <a:normAutofit fontScale="62500" lnSpcReduction="20000"/>
              </a:bodyPr>
              <a:lstStyle/>
              <a:p>
                <a:pPr>
                  <a:lnSpc>
                    <a:spcPct val="120000"/>
                  </a:lnSpc>
                </a:pPr>
                <a:r>
                  <a:rPr lang="en-US" altLang="zh-CN" dirty="0"/>
                  <a:t>Card et al. (2015)</a:t>
                </a:r>
                <a:r>
                  <a:rPr lang="zh-CN" altLang="en-US" dirty="0"/>
                  <a:t>，</a:t>
                </a:r>
                <a:r>
                  <a:rPr lang="en-US" altLang="zh-CN" dirty="0"/>
                  <a:t>Card et al. (2016)</a:t>
                </a:r>
              </a:p>
              <a:p>
                <a:pPr>
                  <a:lnSpc>
                    <a:spcPct val="120000"/>
                  </a:lnSpc>
                </a:pPr>
                <a:r>
                  <a:rPr lang="zh-CN" altLang="en-US" dirty="0"/>
                  <a:t>基本思想：结果变量在断点处弯折，其他变量在断点均平滑（可导），原因变量在断点处变折，则结果变量的弯折可以归因为原因变量的影响。</a:t>
                </a:r>
                <a:endParaRPr lang="en-US" altLang="zh-CN" dirty="0"/>
              </a:p>
              <a:p>
                <a:pPr>
                  <a:lnSpc>
                    <a:spcPct val="120000"/>
                  </a:lnSpc>
                </a:pPr>
                <a:r>
                  <a:rPr lang="zh-CN" altLang="en-US" dirty="0"/>
                  <a:t>基本设定：</a:t>
                </a:r>
                <a:endParaRPr lang="en-US" altLang="zh-CN" dirty="0"/>
              </a:p>
              <a:p>
                <a:pPr marL="0" indent="0" algn="ctr">
                  <a:lnSpc>
                    <a:spcPct val="120000"/>
                  </a:lnSpc>
                  <a:buNone/>
                </a:pPr>
                <a14:m>
                  <m:oMath xmlns:m="http://schemas.openxmlformats.org/officeDocument/2006/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𝑦</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𝑈</m:t>
                                </m:r>
                              </m:e>
                              <m:sub>
                                <m:r>
                                  <a:rPr lang="zh-CN" altLang="en-US" i="1" smtClean="0">
                                    <a:latin typeface="Cambria Math" panose="02040503050406030204" pitchFamily="18" charset="0"/>
                                  </a:rPr>
                                  <m:t>𝑖</m:t>
                                </m:r>
                              </m:sub>
                            </m:sSub>
                          </m:e>
                        </m:d>
                        <m:r>
                          <a:rPr lang="zh-CN" altLang="en-US" i="1" smtClean="0">
                            <a:latin typeface="Cambria Math" panose="02040503050406030204" pitchFamily="18" charset="0"/>
                          </a:rPr>
                          <m:t>,</m:t>
                        </m:r>
                      </m:e>
                    </m:eqArr>
                  </m:oMath>
                </a14:m>
                <a:r>
                  <a:rPr lang="en-US" altLang="zh-CN" dirty="0"/>
                  <a:t>    </a:t>
                </a:r>
                <a:r>
                  <a:rPr lang="zh-CN" altLang="en-US" dirty="0"/>
                  <a:t>（</a:t>
                </a:r>
                <a:r>
                  <a:rPr lang="en-US" altLang="zh-CN" dirty="0"/>
                  <a:t>28</a:t>
                </a:r>
                <a:r>
                  <a:rPr lang="zh-CN" altLang="en-US" dirty="0"/>
                  <a:t>）</a:t>
                </a:r>
                <a:endParaRPr lang="en-US" altLang="zh-CN" dirty="0"/>
              </a:p>
              <a:p>
                <a:pPr>
                  <a:lnSpc>
                    <a:spcPct val="120000"/>
                  </a:lnSpc>
                </a:pPr>
                <a:r>
                  <a:rPr lang="zh-CN" altLang="en-US" dirty="0"/>
                  <a:t>假设</a:t>
                </a:r>
                <a:r>
                  <a:rPr lang="en-US" altLang="zh-CN" b="1" dirty="0"/>
                  <a:t>7</a:t>
                </a:r>
                <a:r>
                  <a:rPr lang="zh-CN" altLang="en-US" dirty="0"/>
                  <a:t>（弯折假设） 𝑑</a:t>
                </a:r>
                <a:r>
                  <a:rPr lang="en-US" altLang="zh-CN" dirty="0"/>
                  <a:t>(⋅) </a:t>
                </a:r>
                <a:r>
                  <a:rPr lang="zh-CN" altLang="en-US" dirty="0"/>
                  <a:t>为已知连续函数，𝑑</a:t>
                </a:r>
                <a:r>
                  <a:rPr lang="en-US" altLang="zh-CN" dirty="0"/>
                  <a:t>(⋅) </a:t>
                </a:r>
                <a:r>
                  <a:rPr lang="zh-CN" altLang="en-US" dirty="0"/>
                  <a:t>在断点两侧是连续可导的，但断点两侧的导数不相同， </a:t>
                </a:r>
                <a14:m>
                  <m:oMath xmlns:m="http://schemas.openxmlformats.org/officeDocument/2006/math">
                    <m:limLow>
                      <m:limLowPr>
                        <m:ctrlPr>
                          <a:rPr lang="en-US" altLang="zh-CN" i="0" dirty="0" smtClean="0">
                            <a:latin typeface="Cambria Math" panose="02040503050406030204" pitchFamily="18" charset="0"/>
                          </a:rPr>
                        </m:ctrlPr>
                      </m:limLowPr>
                      <m:e>
                        <m:r>
                          <m:rPr>
                            <m:sty m:val="p"/>
                          </m:rPr>
                          <a:rPr lang="en-US" altLang="zh-CN" i="0" dirty="0" smtClean="0">
                            <a:latin typeface="Cambria Math" panose="02040503050406030204" pitchFamily="18" charset="0"/>
                          </a:rPr>
                          <m:t>lim</m:t>
                        </m:r>
                      </m:e>
                      <m:lim>
                        <m:r>
                          <a:rPr lang="zh-CN" altLang="en-US" i="1" dirty="0" smtClean="0">
                            <a:latin typeface="Cambria Math" panose="02040503050406030204" pitchFamily="18" charset="0"/>
                          </a:rPr>
                          <m:t>𝑥</m:t>
                        </m:r>
                        <m:r>
                          <a:rPr lang="zh-CN" altLang="en-US"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𝑥</m:t>
                            </m:r>
                          </m:e>
                          <m:sub>
                            <m:r>
                              <a:rPr lang="en-US" altLang="zh-CN" i="1" dirty="0">
                                <a:latin typeface="Cambria Math" panose="02040503050406030204" pitchFamily="18" charset="0"/>
                              </a:rPr>
                              <m:t>0</m:t>
                            </m:r>
                          </m:sub>
                          <m:sup>
                            <m:r>
                              <a:rPr lang="en-US" altLang="zh-CN" i="1" dirty="0">
                                <a:latin typeface="Cambria Math" panose="02040503050406030204" pitchFamily="18" charset="0"/>
                              </a:rPr>
                              <m:t>+</m:t>
                            </m:r>
                          </m:sup>
                        </m:sSubSup>
                      </m:lim>
                    </m:limLow>
                    <m:sSup>
                      <m:sSupPr>
                        <m:ctrlPr>
                          <a:rPr lang="zh-CN" altLang="en-US" i="1" dirty="0" smtClean="0">
                            <a:latin typeface="Cambria Math" panose="02040503050406030204" pitchFamily="18" charset="0"/>
                          </a:rPr>
                        </m:ctrlPr>
                      </m:sSupPr>
                      <m:e>
                        <m:r>
                          <a:rPr lang="zh-CN" altLang="en-US" i="1" dirty="0" smtClean="0">
                            <a:latin typeface="Cambria Math" panose="02040503050406030204" pitchFamily="18" charset="0"/>
                          </a:rPr>
                          <m:t>𝑑</m:t>
                        </m:r>
                      </m:e>
                      <m:sup>
                        <m:r>
                          <a:rPr lang="en-US" altLang="zh-CN" i="1" dirty="0">
                            <a:latin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𝑥</m:t>
                        </m:r>
                      </m:e>
                    </m:d>
                    <m:r>
                      <a:rPr lang="en-US" altLang="zh-CN" i="1" dirty="0">
                        <a:latin typeface="Cambria Math" panose="02040503050406030204" pitchFamily="18" charset="0"/>
                      </a:rPr>
                      <m:t>≠</m:t>
                    </m:r>
                    <m:limLow>
                      <m:limLowPr>
                        <m:ctrlPr>
                          <a:rPr lang="en-US" altLang="zh-CN" i="0" dirty="0" err="1" smtClean="0">
                            <a:latin typeface="Cambria Math" panose="02040503050406030204" pitchFamily="18" charset="0"/>
                          </a:rPr>
                        </m:ctrlPr>
                      </m:limLowPr>
                      <m:e>
                        <m:r>
                          <m:rPr>
                            <m:sty m:val="p"/>
                          </m:rPr>
                          <a:rPr lang="en-US" altLang="zh-CN" i="0" dirty="0" err="1" smtClean="0">
                            <a:latin typeface="Cambria Math" panose="02040503050406030204" pitchFamily="18" charset="0"/>
                          </a:rPr>
                          <m:t>lim</m:t>
                        </m:r>
                      </m:e>
                      <m:lim>
                        <m:r>
                          <a:rPr lang="zh-CN" altLang="en-US" i="1" dirty="0" smtClean="0">
                            <a:latin typeface="Cambria Math" panose="02040503050406030204" pitchFamily="18" charset="0"/>
                          </a:rPr>
                          <m:t>𝑥</m:t>
                        </m:r>
                        <m:r>
                          <a:rPr lang="zh-CN" altLang="en-US"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𝑥</m:t>
                            </m:r>
                          </m:e>
                          <m:sub>
                            <m:r>
                              <a:rPr lang="en-US" altLang="zh-CN" i="1" dirty="0">
                                <a:latin typeface="Cambria Math" panose="02040503050406030204" pitchFamily="18" charset="0"/>
                              </a:rPr>
                              <m:t>0</m:t>
                            </m:r>
                          </m:sub>
                          <m:sup>
                            <m:r>
                              <a:rPr lang="zh-CN" altLang="en-US" i="1" dirty="0">
                                <a:latin typeface="Cambria Math" panose="02040503050406030204" pitchFamily="18" charset="0"/>
                              </a:rPr>
                              <m:t>−</m:t>
                            </m:r>
                          </m:sup>
                        </m:sSubSup>
                      </m:lim>
                    </m:limLow>
                    <m:r>
                      <a:rPr lang="en-US" altLang="zh-CN" b="0" i="1" dirty="0" smtClean="0">
                        <a:latin typeface="Cambria Math" panose="02040503050406030204" pitchFamily="18" charset="0"/>
                      </a:rPr>
                      <m:t> </m:t>
                    </m:r>
                    <m:r>
                      <a:rPr lang="zh-CN" altLang="en-US" i="1" dirty="0" smtClean="0">
                        <a:latin typeface="Cambria Math" panose="02040503050406030204" pitchFamily="18" charset="0"/>
                      </a:rPr>
                      <m:t>𝑑</m:t>
                    </m:r>
                    <m:r>
                      <a:rPr lang="en-US" altLang="zh-CN" i="1" dirty="0">
                        <a:latin typeface="Cambria Math" panose="02040503050406030204" pitchFamily="18" charset="0"/>
                      </a:rPr>
                      <m:t>′(</m:t>
                    </m:r>
                    <m:r>
                      <a:rPr lang="zh-CN" altLang="en-US" i="1" dirty="0">
                        <a:latin typeface="Cambria Math" panose="02040503050406030204" pitchFamily="18" charset="0"/>
                      </a:rPr>
                      <m:t>𝑥</m:t>
                    </m:r>
                    <m:r>
                      <a:rPr lang="en-US" altLang="zh-CN" i="1" dirty="0">
                        <a:latin typeface="Cambria Math" panose="02040503050406030204" pitchFamily="18" charset="0"/>
                      </a:rPr>
                      <m:t>)</m:t>
                    </m:r>
                  </m:oMath>
                </a14:m>
                <a:r>
                  <a:rPr lang="zh-CN" altLang="en-US" dirty="0"/>
                  <a:t>，即存在弯折。</a:t>
                </a:r>
                <a:endParaRPr lang="en-US" altLang="zh-CN" dirty="0"/>
              </a:p>
              <a:p>
                <a:pPr>
                  <a:lnSpc>
                    <a:spcPct val="120000"/>
                  </a:lnSpc>
                </a:pPr>
                <a:r>
                  <a:rPr lang="zh-CN" altLang="en-US" dirty="0"/>
                  <a:t>假设</a:t>
                </a:r>
                <a:r>
                  <a:rPr lang="en-US" altLang="zh-CN" b="1" dirty="0"/>
                  <a:t>8</a:t>
                </a:r>
                <a:r>
                  <a:rPr lang="zh-CN" altLang="en-US" dirty="0"/>
                  <a:t>（平滑性假设）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𝑦</m:t>
                        </m:r>
                      </m:e>
                      <m:sub>
                        <m:r>
                          <a:rPr lang="en-US" altLang="zh-CN" i="1" dirty="0">
                            <a:latin typeface="Cambria Math" panose="02040503050406030204" pitchFamily="18" charset="0"/>
                          </a:rPr>
                          <m:t>2</m:t>
                        </m:r>
                      </m:sub>
                    </m:sSub>
                    <m:r>
                      <a:rPr lang="en-US" altLang="zh-CN" i="1" dirty="0">
                        <a:latin typeface="Cambria Math" panose="02040503050406030204" pitchFamily="18" charset="0"/>
                      </a:rPr>
                      <m:t>(</m:t>
                    </m:r>
                    <m:r>
                      <a:rPr lang="zh-CN" altLang="en-US" i="1" dirty="0">
                        <a:latin typeface="Cambria Math" panose="02040503050406030204" pitchFamily="18" charset="0"/>
                      </a:rPr>
                      <m:t>𝑑</m:t>
                    </m:r>
                    <m:r>
                      <a:rPr lang="en-US" altLang="zh-CN" i="1" dirty="0">
                        <a:latin typeface="Cambria Math" panose="02040503050406030204" pitchFamily="18" charset="0"/>
                      </a:rPr>
                      <m:t>, </m:t>
                    </m:r>
                    <m:r>
                      <a:rPr lang="zh-CN" altLang="en-US" i="1" dirty="0">
                        <a:latin typeface="Cambria Math" panose="02040503050406030204" pitchFamily="18" charset="0"/>
                      </a:rPr>
                      <m:t>𝑥</m:t>
                    </m:r>
                    <m:r>
                      <a:rPr lang="en-US" altLang="zh-CN" i="1" dirty="0">
                        <a:latin typeface="Cambria Math" panose="02040503050406030204" pitchFamily="18" charset="0"/>
                      </a:rPr>
                      <m:t>, </m:t>
                    </m:r>
                    <m:r>
                      <a:rPr lang="zh-CN" altLang="en-US" i="1" dirty="0">
                        <a:latin typeface="Cambria Math" panose="02040503050406030204" pitchFamily="18" charset="0"/>
                      </a:rPr>
                      <m:t>𝑢</m:t>
                    </m:r>
                    <m:r>
                      <a:rPr lang="en-US" altLang="zh-CN" i="1" dirty="0">
                        <a:latin typeface="Cambria Math" panose="02040503050406030204" pitchFamily="18" charset="0"/>
                      </a:rPr>
                      <m:t>)</m:t>
                    </m:r>
                  </m:oMath>
                </a14:m>
                <a:r>
                  <a:rPr lang="en-US" altLang="zh-CN" dirty="0"/>
                  <a:t> </a:t>
                </a:r>
                <a:r>
                  <a:rPr lang="zh-CN" altLang="en-US" dirty="0"/>
                  <a:t>在断点</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𝑥</m:t>
                        </m:r>
                      </m:e>
                      <m:sub>
                        <m:r>
                          <a:rPr lang="en-US" altLang="zh-CN" i="1" dirty="0">
                            <a:latin typeface="Cambria Math" panose="02040503050406030204" pitchFamily="18" charset="0"/>
                          </a:rPr>
                          <m:t>0</m:t>
                        </m:r>
                      </m:sub>
                    </m:sSub>
                  </m:oMath>
                </a14:m>
                <a:r>
                  <a:rPr lang="en-US" altLang="zh-CN" dirty="0"/>
                  <a:t> </a:t>
                </a:r>
                <a:r>
                  <a:rPr lang="zh-CN" altLang="en-US" dirty="0"/>
                  <a:t>处是连续的，即</a:t>
                </a:r>
                <a:endParaRPr lang="en-US" altLang="zh-CN" dirty="0"/>
              </a:p>
              <a:p>
                <a:pPr marL="0" indent="0">
                  <a:lnSpc>
                    <a:spcPct val="120000"/>
                  </a:lnSpc>
                  <a:buNone/>
                </a:pPr>
                <a14:m>
                  <m:oMathPara xmlns:m="http://schemas.openxmlformats.org/officeDocument/2006/math">
                    <m:oMath>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1" smtClean="0">
                                  <a:latin typeface="Cambria Math" panose="02040503050406030204" pitchFamily="18" charset="0"/>
                                </a:rPr>
                                <m:t>lim</m:t>
                              </m:r>
                            </m:e>
                            <m:lim>
                              <m:r>
                                <a:rPr lang="en-US" altLang="zh-CN" i="1" smtClean="0">
                                  <a:latin typeface="Cambria Math" panose="02040503050406030204" pitchFamily="18" charset="0"/>
                                </a:rPr>
                                <m:t>𝑥</m:t>
                              </m:r>
                              <m:r>
                                <a:rPr lang="en-US" altLang="zh-CN" i="1" smtClean="0">
                                  <a:latin typeface="Cambria Math" panose="02040503050406030204" pitchFamily="18" charset="0"/>
                                </a:rPr>
                                <m:t>→</m:t>
                              </m:r>
                              <m:sSubSup>
                                <m:sSubSupPr>
                                  <m:ctrlPr>
                                    <a:rPr lang="en-US" altLang="zh-CN" i="1" smtClean="0">
                                      <a:latin typeface="Cambria Math" panose="02040503050406030204" pitchFamily="18" charset="0"/>
                                    </a:rPr>
                                  </m:ctrlPr>
                                </m:sSubSupPr>
                                <m:e>
                                  <m:r>
                                    <a:rPr lang="en-US" altLang="zh-CN" i="1" smtClean="0">
                                      <a:latin typeface="Cambria Math" panose="02040503050406030204" pitchFamily="18" charset="0"/>
                                    </a:rPr>
                                    <m:t>𝑥</m:t>
                                  </m:r>
                                </m:e>
                                <m:sub>
                                  <m:r>
                                    <a:rPr lang="en-US" altLang="zh-CN" i="1" smtClean="0">
                                      <a:latin typeface="Cambria Math" panose="02040503050406030204" pitchFamily="18" charset="0"/>
                                    </a:rPr>
                                    <m:t>0</m:t>
                                  </m:r>
                                </m:sub>
                                <m:sup>
                                  <m:r>
                                    <a:rPr lang="en-US" altLang="zh-CN" i="1" smtClean="0">
                                      <a:latin typeface="Cambria Math" panose="02040503050406030204" pitchFamily="18" charset="0"/>
                                    </a:rPr>
                                    <m:t>+</m:t>
                                  </m:r>
                                </m:sup>
                              </m:sSubSup>
                            </m:lim>
                          </m:limLow>
                        </m:fName>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𝑦</m:t>
                              </m:r>
                            </m:e>
                            <m:sub>
                              <m:r>
                                <a:rPr lang="en-US" altLang="zh-CN" i="1" smtClean="0">
                                  <a:latin typeface="Cambria Math" panose="02040503050406030204" pitchFamily="18" charset="0"/>
                                </a:rPr>
                                <m:t>2</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𝑑</m:t>
                              </m:r>
                              <m:r>
                                <a:rPr lang="en-US" altLang="zh-CN" i="1" smtClean="0">
                                  <a:latin typeface="Cambria Math" panose="02040503050406030204" pitchFamily="18" charset="0"/>
                                </a:rPr>
                                <m:t>,</m:t>
                              </m:r>
                              <m:r>
                                <a:rPr lang="en-US" altLang="zh-CN" i="1" smtClean="0">
                                  <a:latin typeface="Cambria Math" panose="02040503050406030204" pitchFamily="18" charset="0"/>
                                </a:rPr>
                                <m:t>𝑥</m:t>
                              </m:r>
                              <m:r>
                                <a:rPr lang="en-US" altLang="zh-CN" i="1" smtClean="0">
                                  <a:latin typeface="Cambria Math" panose="02040503050406030204" pitchFamily="18" charset="0"/>
                                </a:rPr>
                                <m:t>,</m:t>
                              </m:r>
                              <m:r>
                                <a:rPr lang="en-US" altLang="zh-CN" i="1" smtClean="0">
                                  <a:latin typeface="Cambria Math" panose="02040503050406030204" pitchFamily="18" charset="0"/>
                                </a:rPr>
                                <m:t>𝑢</m:t>
                              </m:r>
                            </m:e>
                          </m:d>
                        </m:e>
                      </m:func>
                      <m:r>
                        <a:rPr lang="en-US" altLang="zh-CN" i="1" smtClean="0">
                          <a:latin typeface="Cambria Math" panose="02040503050406030204" pitchFamily="18" charset="0"/>
                        </a:rPr>
                        <m:t>=</m:t>
                      </m:r>
                      <m:func>
                        <m:funcPr>
                          <m:ctrlPr>
                            <a:rPr lang="en-US" altLang="zh-CN" i="1" smtClean="0">
                              <a:latin typeface="Cambria Math" panose="02040503050406030204" pitchFamily="18" charset="0"/>
                            </a:rPr>
                          </m:ctrlPr>
                        </m:funcPr>
                        <m:fName>
                          <m:limLow>
                            <m:limLowPr>
                              <m:ctrlPr>
                                <a:rPr lang="en-US" altLang="zh-CN" i="1" smtClean="0">
                                  <a:latin typeface="Cambria Math" panose="02040503050406030204" pitchFamily="18" charset="0"/>
                                </a:rPr>
                              </m:ctrlPr>
                            </m:limLowPr>
                            <m:e>
                              <m:r>
                                <m:rPr>
                                  <m:sty m:val="p"/>
                                </m:rPr>
                                <a:rPr lang="en-US" altLang="zh-CN" i="1" smtClean="0">
                                  <a:latin typeface="Cambria Math" panose="02040503050406030204" pitchFamily="18" charset="0"/>
                                </a:rPr>
                                <m:t>lim</m:t>
                              </m:r>
                            </m:e>
                            <m:lim>
                              <m:r>
                                <a:rPr lang="en-US" altLang="zh-CN" i="1" smtClean="0">
                                  <a:latin typeface="Cambria Math" panose="02040503050406030204" pitchFamily="18" charset="0"/>
                                </a:rPr>
                                <m:t>𝑥</m:t>
                              </m:r>
                              <m:r>
                                <a:rPr lang="en-US" altLang="zh-CN" i="1" smtClean="0">
                                  <a:latin typeface="Cambria Math" panose="02040503050406030204" pitchFamily="18" charset="0"/>
                                </a:rPr>
                                <m:t>→</m:t>
                              </m:r>
                              <m:sSubSup>
                                <m:sSubSupPr>
                                  <m:ctrlPr>
                                    <a:rPr lang="en-US" altLang="zh-CN" i="1" smtClean="0">
                                      <a:latin typeface="Cambria Math" panose="02040503050406030204" pitchFamily="18" charset="0"/>
                                    </a:rPr>
                                  </m:ctrlPr>
                                </m:sSubSupPr>
                                <m:e>
                                  <m:r>
                                    <a:rPr lang="en-US" altLang="zh-CN" i="1" smtClean="0">
                                      <a:latin typeface="Cambria Math" panose="02040503050406030204" pitchFamily="18" charset="0"/>
                                    </a:rPr>
                                    <m:t>𝑥</m:t>
                                  </m:r>
                                </m:e>
                                <m:sub>
                                  <m:r>
                                    <a:rPr lang="en-US" altLang="zh-CN" i="1" smtClean="0">
                                      <a:latin typeface="Cambria Math" panose="02040503050406030204" pitchFamily="18" charset="0"/>
                                    </a:rPr>
                                    <m:t>0</m:t>
                                  </m:r>
                                </m:sub>
                                <m:sup>
                                  <m:r>
                                    <a:rPr lang="en-US" altLang="zh-CN" i="1" smtClean="0">
                                      <a:latin typeface="Cambria Math" panose="02040503050406030204" pitchFamily="18" charset="0"/>
                                    </a:rPr>
                                    <m:t>−</m:t>
                                  </m:r>
                                </m:sup>
                              </m:sSubSup>
                            </m:lim>
                          </m:limLow>
                        </m:fName>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𝑦</m:t>
                              </m:r>
                            </m:e>
                            <m:sub>
                              <m:r>
                                <a:rPr lang="en-US" altLang="zh-CN" i="1" smtClean="0">
                                  <a:latin typeface="Cambria Math" panose="02040503050406030204" pitchFamily="18" charset="0"/>
                                </a:rPr>
                                <m:t>2</m:t>
                              </m:r>
                            </m:sub>
                          </m:s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𝑑</m:t>
                              </m:r>
                              <m:r>
                                <a:rPr lang="en-US" altLang="zh-CN" i="1" smtClean="0">
                                  <a:latin typeface="Cambria Math" panose="02040503050406030204" pitchFamily="18" charset="0"/>
                                </a:rPr>
                                <m:t>,</m:t>
                              </m:r>
                              <m:r>
                                <a:rPr lang="en-US" altLang="zh-CN" i="1" smtClean="0">
                                  <a:latin typeface="Cambria Math" panose="02040503050406030204" pitchFamily="18" charset="0"/>
                                </a:rPr>
                                <m:t>𝑥</m:t>
                              </m:r>
                              <m:r>
                                <a:rPr lang="en-US" altLang="zh-CN" i="1" smtClean="0">
                                  <a:latin typeface="Cambria Math" panose="02040503050406030204" pitchFamily="18" charset="0"/>
                                </a:rPr>
                                <m:t>,</m:t>
                              </m:r>
                              <m:r>
                                <a:rPr lang="en-US" altLang="zh-CN" i="1" smtClean="0">
                                  <a:latin typeface="Cambria Math" panose="02040503050406030204" pitchFamily="18" charset="0"/>
                                </a:rPr>
                                <m:t>𝑢</m:t>
                              </m:r>
                            </m:e>
                          </m:d>
                        </m:e>
                      </m:func>
                      <m:r>
                        <a:rPr lang="en-US" altLang="zh-CN" i="1" smtClean="0">
                          <a:latin typeface="Cambria Math" panose="02040503050406030204" pitchFamily="18" charset="0"/>
                        </a:rPr>
                        <m:t>.</m:t>
                      </m:r>
                    </m:oMath>
                  </m:oMathPara>
                </a14:m>
                <a:endParaRPr lang="en-US" altLang="zh-CN" dirty="0"/>
              </a:p>
              <a:p>
                <a:pPr>
                  <a:lnSpc>
                    <a:spcPct val="120000"/>
                  </a:lnSpc>
                </a:pPr>
                <a:r>
                  <a:rPr lang="zh-CN" altLang="en-US" dirty="0"/>
                  <a:t>假设</a:t>
                </a:r>
                <a:r>
                  <a:rPr lang="en-US" altLang="zh-CN" b="1" dirty="0"/>
                  <a:t>9</a:t>
                </a:r>
                <a:r>
                  <a:rPr lang="zh-CN" altLang="en-US" dirty="0"/>
                  <a:t>（密度平滑假设）条件密度函数</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𝑓</m:t>
                        </m:r>
                      </m:e>
                      <m:sub>
                        <m:r>
                          <a:rPr lang="zh-CN" altLang="en-US" i="1" dirty="0" smtClean="0">
                            <a:latin typeface="Cambria Math" panose="02040503050406030204" pitchFamily="18" charset="0"/>
                          </a:rPr>
                          <m:t>𝑋</m:t>
                        </m:r>
                        <m:r>
                          <a:rPr lang="en-US" altLang="zh-CN" i="1" dirty="0">
                            <a:latin typeface="Cambria Math" panose="02040503050406030204" pitchFamily="18" charset="0"/>
                          </a:rPr>
                          <m:t>|</m:t>
                        </m:r>
                        <m:r>
                          <a:rPr lang="zh-CN" altLang="en-US" i="1" dirty="0">
                            <a:latin typeface="Cambria Math" panose="02040503050406030204" pitchFamily="18" charset="0"/>
                          </a:rPr>
                          <m:t>𝑈</m:t>
                        </m:r>
                      </m:sub>
                    </m:sSub>
                    <m:r>
                      <a:rPr lang="en-US" altLang="zh-CN" b="0" i="1" dirty="0" smtClean="0">
                        <a:latin typeface="Cambria Math" panose="02040503050406030204" pitchFamily="18" charset="0"/>
                      </a:rPr>
                      <m:t> </m:t>
                    </m:r>
                    <m:r>
                      <a:rPr lang="en-US" altLang="zh-CN" i="1" dirty="0">
                        <a:latin typeface="Cambria Math" panose="02040503050406030204" pitchFamily="18" charset="0"/>
                      </a:rPr>
                      <m:t>(</m:t>
                    </m:r>
                    <m:r>
                      <a:rPr lang="zh-CN" altLang="en-US" i="1" dirty="0">
                        <a:latin typeface="Cambria Math" panose="02040503050406030204" pitchFamily="18" charset="0"/>
                      </a:rPr>
                      <m:t>𝑥</m:t>
                    </m:r>
                    <m:r>
                      <a:rPr lang="en-US" altLang="zh-CN" i="1" dirty="0">
                        <a:latin typeface="Cambria Math" panose="02040503050406030204" pitchFamily="18" charset="0"/>
                      </a:rPr>
                      <m:t>|</m:t>
                    </m:r>
                    <m:r>
                      <a:rPr lang="zh-CN" altLang="en-US" i="1" dirty="0">
                        <a:latin typeface="Cambria Math" panose="02040503050406030204" pitchFamily="18" charset="0"/>
                      </a:rPr>
                      <m:t>𝑢</m:t>
                    </m:r>
                    <m:r>
                      <a:rPr lang="en-US" altLang="zh-CN" i="1" dirty="0">
                        <a:latin typeface="Cambria Math" panose="02040503050406030204" pitchFamily="18" charset="0"/>
                      </a:rPr>
                      <m:t>) </m:t>
                    </m:r>
                  </m:oMath>
                </a14:m>
                <a:r>
                  <a:rPr lang="zh-CN" altLang="en-US" dirty="0"/>
                  <a:t>及其导数</a:t>
                </a:r>
                <a14:m>
                  <m:oMath xmlns:m="http://schemas.openxmlformats.org/officeDocument/2006/math">
                    <m:r>
                      <a:rPr lang="zh-CN" altLang="en-US" i="1" dirty="0" smtClean="0">
                        <a:latin typeface="Cambria Math" panose="02040503050406030204" pitchFamily="18" charset="0"/>
                      </a:rPr>
                      <m:t>𝜕</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𝑓</m:t>
                        </m:r>
                      </m:e>
                      <m:sub>
                        <m:r>
                          <a:rPr lang="zh-CN" altLang="en-US" i="1" dirty="0" smtClean="0">
                            <a:latin typeface="Cambria Math" panose="02040503050406030204" pitchFamily="18" charset="0"/>
                          </a:rPr>
                          <m:t>𝑋</m:t>
                        </m:r>
                        <m:r>
                          <a:rPr lang="en-US" altLang="zh-CN" i="1" dirty="0">
                            <a:latin typeface="Cambria Math" panose="02040503050406030204" pitchFamily="18" charset="0"/>
                          </a:rPr>
                          <m:t>|</m:t>
                        </m:r>
                        <m:r>
                          <a:rPr lang="zh-CN" altLang="en-US" i="1" dirty="0">
                            <a:latin typeface="Cambria Math" panose="02040503050406030204" pitchFamily="18" charset="0"/>
                          </a:rPr>
                          <m:t>𝑈</m:t>
                        </m:r>
                      </m:sub>
                    </m:sSub>
                    <m:r>
                      <a:rPr lang="zh-CN" altLang="en-US" i="1" dirty="0">
                        <a:latin typeface="Cambria Math" panose="02040503050406030204" pitchFamily="18" charset="0"/>
                      </a:rPr>
                      <m:t> </m:t>
                    </m:r>
                    <m:r>
                      <a:rPr lang="en-US" altLang="zh-CN" i="1" dirty="0">
                        <a:latin typeface="Cambria Math" panose="02040503050406030204" pitchFamily="18" charset="0"/>
                      </a:rPr>
                      <m:t>(</m:t>
                    </m:r>
                    <m:r>
                      <a:rPr lang="zh-CN" altLang="en-US" i="1" dirty="0">
                        <a:latin typeface="Cambria Math" panose="02040503050406030204" pitchFamily="18" charset="0"/>
                      </a:rPr>
                      <m:t>𝑥</m:t>
                    </m:r>
                    <m:r>
                      <a:rPr lang="en-US" altLang="zh-CN" i="1" dirty="0">
                        <a:latin typeface="Cambria Math" panose="02040503050406030204" pitchFamily="18" charset="0"/>
                      </a:rPr>
                      <m:t>|</m:t>
                    </m:r>
                    <m:r>
                      <a:rPr lang="zh-CN" altLang="en-US" i="1" dirty="0">
                        <a:latin typeface="Cambria Math" panose="02040503050406030204" pitchFamily="18" charset="0"/>
                      </a:rPr>
                      <m:t>𝑢</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a:latin typeface="Cambria Math" panose="02040503050406030204" pitchFamily="18" charset="0"/>
                      </a:rPr>
                      <m:t>𝑥</m:t>
                    </m:r>
                  </m:oMath>
                </a14:m>
                <a:r>
                  <a:rPr lang="zh-CN" altLang="en-US" dirty="0"/>
                  <a:t> 在断点</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𝑥</m:t>
                        </m:r>
                      </m:e>
                      <m:sub>
                        <m:r>
                          <a:rPr lang="en-US" altLang="zh-CN" i="1" dirty="0">
                            <a:latin typeface="Cambria Math" panose="02040503050406030204" pitchFamily="18" charset="0"/>
                          </a:rPr>
                          <m:t>0</m:t>
                        </m:r>
                      </m:sub>
                    </m:sSub>
                  </m:oMath>
                </a14:m>
                <a:r>
                  <a:rPr lang="en-US" altLang="zh-CN" dirty="0"/>
                  <a:t> </a:t>
                </a:r>
                <a:r>
                  <a:rPr lang="zh-CN" altLang="en-US" dirty="0"/>
                  <a:t>处连续。</a:t>
                </a:r>
                <a:endParaRPr lang="en-US" altLang="zh-CN" dirty="0"/>
              </a:p>
              <a:p>
                <a:pPr>
                  <a:lnSpc>
                    <a:spcPct val="120000"/>
                  </a:lnSpc>
                </a:pPr>
                <a:endParaRPr lang="zh-CN" altLang="en-US" dirty="0"/>
              </a:p>
            </p:txBody>
          </p:sp>
        </mc:Choice>
        <mc:Fallback xmlns="">
          <p:sp>
            <p:nvSpPr>
              <p:cNvPr id="3" name="内容占位符 2">
                <a:extLst>
                  <a:ext uri="{FF2B5EF4-FFF2-40B4-BE49-F238E27FC236}">
                    <a16:creationId xmlns:a16="http://schemas.microsoft.com/office/drawing/2014/main" id="{A2E27DAD-A4F7-106C-20D8-3231720BF638}"/>
                  </a:ext>
                </a:extLst>
              </p:cNvPr>
              <p:cNvSpPr>
                <a:spLocks noGrp="1" noRot="1" noChangeAspect="1" noMove="1" noResize="1" noEditPoints="1" noAdjustHandles="1" noChangeArrowheads="1" noChangeShapeType="1" noTextEdit="1"/>
              </p:cNvSpPr>
              <p:nvPr>
                <p:ph idx="1"/>
              </p:nvPr>
            </p:nvSpPr>
            <p:spPr>
              <a:blipFill>
                <a:blip r:embed="rId2"/>
                <a:stretch>
                  <a:fillRect l="-464" t="-700" b="-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80FE6FF-3F69-1070-6085-D84CD552F2B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8E93D06-2F51-8301-E45B-9DBBED035560}"/>
              </a:ext>
            </a:extLst>
          </p:cNvPr>
          <p:cNvSpPr>
            <a:spLocks noGrp="1"/>
          </p:cNvSpPr>
          <p:nvPr>
            <p:ph type="sldNum" sz="quarter" idx="12"/>
          </p:nvPr>
        </p:nvSpPr>
        <p:spPr/>
        <p:txBody>
          <a:bodyPr/>
          <a:lstStyle/>
          <a:p>
            <a:fld id="{D41FC515-8169-4A29-AA56-DBE520D5741B}" type="slidenum">
              <a:rPr lang="zh-CN" altLang="en-US" smtClean="0"/>
              <a:t>46</a:t>
            </a:fld>
            <a:endParaRPr lang="zh-CN" altLang="en-US"/>
          </a:p>
        </p:txBody>
      </p:sp>
    </p:spTree>
    <p:extLst>
      <p:ext uri="{BB962C8B-B14F-4D97-AF65-F5344CB8AC3E}">
        <p14:creationId xmlns:p14="http://schemas.microsoft.com/office/powerpoint/2010/main" val="2174838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184B93-4D5C-4F73-F6DC-6D66623D0AD5}"/>
              </a:ext>
            </a:extLst>
          </p:cNvPr>
          <p:cNvSpPr>
            <a:spLocks noGrp="1"/>
          </p:cNvSpPr>
          <p:nvPr>
            <p:ph type="title"/>
          </p:nvPr>
        </p:nvSpPr>
        <p:spPr/>
        <p:txBody>
          <a:bodyPr/>
          <a:lstStyle/>
          <a:p>
            <a:r>
              <a:rPr lang="zh-CN" altLang="en-US" dirty="0"/>
              <a:t>弯折回归设计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D04850D-751A-BD6D-91E7-2F9C4BD87CE0}"/>
                  </a:ext>
                </a:extLst>
              </p:cNvPr>
              <p:cNvSpPr>
                <a:spLocks noGrp="1"/>
              </p:cNvSpPr>
              <p:nvPr>
                <p:ph idx="1"/>
              </p:nvPr>
            </p:nvSpPr>
            <p:spPr/>
            <p:txBody>
              <a:bodyPr>
                <a:normAutofit fontScale="85000" lnSpcReduction="10000"/>
              </a:bodyPr>
              <a:lstStyle/>
              <a:p>
                <a:r>
                  <a:rPr lang="zh-CN" altLang="en-US" dirty="0"/>
                  <a:t>定理</a:t>
                </a:r>
                <a:r>
                  <a:rPr lang="en-US" altLang="zh-CN" b="1" dirty="0"/>
                  <a:t>3 </a:t>
                </a:r>
                <a:r>
                  <a:rPr lang="zh-CN" altLang="en-US" dirty="0"/>
                  <a:t>如果假设</a:t>
                </a:r>
                <a:r>
                  <a:rPr lang="en-US" altLang="zh-CN" dirty="0"/>
                  <a:t>7-9 </a:t>
                </a:r>
                <a:r>
                  <a:rPr lang="zh-CN" altLang="en-US" dirty="0"/>
                  <a:t>成立，那么，</a:t>
                </a:r>
                <a:endParaRPr lang="en-US" altLang="zh-CN" dirty="0"/>
              </a:p>
              <a:p>
                <a:pPr lvl="1"/>
                <a:r>
                  <a:rPr lang="en-US" altLang="zh-CN" dirty="0" err="1"/>
                  <a:t>Pr</a:t>
                </a:r>
                <a:r>
                  <a:rPr lang="en-US" altLang="zh-CN" dirty="0"/>
                  <a:t>[</a:t>
                </a:r>
                <a:r>
                  <a:rPr lang="zh-CN" altLang="en-US" dirty="0"/>
                  <a:t>𝑈 ≤ 𝑢</a:t>
                </a:r>
                <a:r>
                  <a:rPr lang="en-US" altLang="zh-CN" dirty="0"/>
                  <a:t>|</a:t>
                </a:r>
                <a:r>
                  <a:rPr lang="zh-CN" altLang="en-US" dirty="0"/>
                  <a:t>𝑋 </a:t>
                </a:r>
                <a:r>
                  <a:rPr lang="en-US" altLang="zh-CN" dirty="0"/>
                  <a:t>= </a:t>
                </a:r>
                <a:r>
                  <a:rPr lang="zh-CN" altLang="en-US" dirty="0"/>
                  <a:t>𝑥</a:t>
                </a:r>
                <a:r>
                  <a:rPr lang="en-US" altLang="zh-CN" dirty="0"/>
                  <a:t>] </a:t>
                </a:r>
                <a:r>
                  <a:rPr lang="zh-CN" altLang="en-US" dirty="0"/>
                  <a:t>在断点处是连续可导的。</a:t>
                </a:r>
                <a:endParaRPr lang="en-US" altLang="zh-CN" dirty="0"/>
              </a:p>
              <a:p>
                <a:pPr lvl="1"/>
                <a:r>
                  <a:rPr lang="zh-CN" altLang="en-US" dirty="0"/>
                  <a:t>在断点处的因果效应为：</a:t>
                </a:r>
                <a:endParaRPr lang="en-US" altLang="zh-CN" dirty="0"/>
              </a:p>
              <a:p>
                <a:pPr marL="457200" lvl="1" indent="0">
                  <a:buNone/>
                </a:pPr>
                <a14:m>
                  <m:oMathPara xmlns:m="http://schemas.openxmlformats.org/officeDocument/2006/math">
                    <m:oMath>
                      <m:eqArr>
                        <m:eqArrPr>
                          <m:ctrlPr>
                            <a:rPr lang="zh-CN" altLang="en-US" i="1" smtClean="0">
                              <a:latin typeface="Cambria Math" panose="02040503050406030204" pitchFamily="18" charset="0"/>
                            </a:rPr>
                          </m:ctrlPr>
                        </m:eqArrPr>
                        <m:e>
                          <m:r>
                            <a:rPr lang="zh-CN" altLang="en-US" i="1" smtClean="0">
                              <a:latin typeface="Cambria Math" panose="02040503050406030204" pitchFamily="18" charset="0"/>
                            </a:rPr>
                            <m:t>𝜏</m:t>
                          </m:r>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𝜇</m:t>
                                  </m:r>
                                </m:e>
                              </m:func>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𝜇</m:t>
                                  </m:r>
                                </m:e>
                              </m:func>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num>
                            <m:den>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𝑑</m:t>
                                  </m:r>
                                </m:e>
                              </m:func>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r>
                                <a:rPr lang="zh-CN" altLang="en-US" i="1" smtClean="0">
                                  <a:latin typeface="Cambria Math" panose="02040503050406030204" pitchFamily="18" charset="0"/>
                                </a:rPr>
                                <m:t>−</m:t>
                              </m:r>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lim</m:t>
                                      </m:r>
                                    </m:e>
                                    <m:lim>
                                      <m:r>
                                        <a:rPr lang="zh-CN" altLang="en-US" i="1" smtClean="0">
                                          <a:latin typeface="Cambria Math" panose="02040503050406030204" pitchFamily="18" charset="0"/>
                                        </a:rPr>
                                        <m:t>𝑥</m:t>
                                      </m:r>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up>
                                          <m:r>
                                            <a:rPr lang="zh-CN" altLang="en-US" i="1" smtClean="0">
                                              <a:latin typeface="Cambria Math" panose="02040503050406030204" pitchFamily="18" charset="0"/>
                                            </a:rPr>
                                            <m:t>−</m:t>
                                          </m:r>
                                        </m:sup>
                                      </m:sSubSup>
                                    </m:lim>
                                  </m:limLow>
                                </m:fName>
                                <m:e>
                                  <m:r>
                                    <a:rPr lang="zh-CN" altLang="en-US" i="1" smtClean="0">
                                      <a:latin typeface="Cambria Math" panose="02040503050406030204" pitchFamily="18" charset="0"/>
                                    </a:rPr>
                                    <m:t>𝑑</m:t>
                                  </m:r>
                                </m:e>
                              </m:func>
                              <m:r>
                                <a:rPr lang="zh-CN" altLang="en-US" i="1" smtClean="0">
                                  <a:latin typeface="Cambria Math" panose="02040503050406030204" pitchFamily="18" charset="0"/>
                                </a:rPr>
                                <m:t>′</m:t>
                              </m:r>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𝑥</m:t>
                                  </m:r>
                                </m:e>
                              </m:d>
                            </m:den>
                          </m:f>
                          <m:r>
                            <a:rPr lang="zh-CN" altLang="en-US" i="1" smtClean="0">
                              <a:latin typeface="Cambria Math" panose="02040503050406030204" pitchFamily="18" charset="0"/>
                            </a:rPr>
                            <m:t>=</m:t>
                          </m:r>
                          <m:r>
                            <a:rPr lang="zh-CN" altLang="en-US" i="1" smtClean="0">
                              <a:latin typeface="Cambria Math" panose="02040503050406030204" pitchFamily="18" charset="0"/>
                            </a:rPr>
                            <m:t>𝐸</m:t>
                          </m:r>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𝑦</m:t>
                                  </m:r>
                                </m:e>
                                <m:sub>
                                  <m:r>
                                    <a:rPr lang="zh-CN" altLang="en-US" i="1" smtClean="0">
                                      <a:latin typeface="Cambria Math" panose="02040503050406030204" pitchFamily="18" charset="0"/>
                                    </a:rPr>
                                    <m:t>1</m:t>
                                  </m:r>
                                </m:sub>
                              </m:sSub>
                              <m:d>
                                <m:dPr>
                                  <m:ctrlPr>
                                    <a:rPr lang="zh-CN" altLang="en-US" i="1" smtClean="0">
                                      <a:latin typeface="Cambria Math" panose="02040503050406030204" pitchFamily="18" charset="0"/>
                                    </a:rPr>
                                  </m:ctrlPr>
                                </m:dPr>
                                <m:e>
                                  <m:r>
                                    <a:rPr lang="zh-CN" altLang="en-US" i="1" smtClean="0">
                                      <a:latin typeface="Cambria Math" panose="02040503050406030204" pitchFamily="18" charset="0"/>
                                    </a:rPr>
                                    <m:t>𝑑</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𝑈</m:t>
                                  </m:r>
                                </m:e>
                              </m:d>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e>
                      </m:eqArr>
                      <m:r>
                        <a:rPr lang="en-US" altLang="zh-CN" b="0" i="1" smtClean="0">
                          <a:latin typeface="Cambria Math" panose="02040503050406030204" pitchFamily="18" charset="0"/>
                        </a:rPr>
                        <m:t> (29)</m:t>
                      </m:r>
                    </m:oMath>
                  </m:oMathPara>
                </a14:m>
                <a:endParaRPr lang="zh-CN" altLang="en-US" dirty="0"/>
              </a:p>
            </p:txBody>
          </p:sp>
        </mc:Choice>
        <mc:Fallback xmlns="">
          <p:sp>
            <p:nvSpPr>
              <p:cNvPr id="3" name="内容占位符 2">
                <a:extLst>
                  <a:ext uri="{FF2B5EF4-FFF2-40B4-BE49-F238E27FC236}">
                    <a16:creationId xmlns:a16="http://schemas.microsoft.com/office/drawing/2014/main" id="{DD04850D-751A-BD6D-91E7-2F9C4BD87CE0}"/>
                  </a:ext>
                </a:extLst>
              </p:cNvPr>
              <p:cNvSpPr>
                <a:spLocks noGrp="1" noRot="1" noChangeAspect="1" noMove="1" noResize="1" noEditPoints="1" noAdjustHandles="1" noChangeArrowheads="1" noChangeShapeType="1" noTextEdit="1"/>
              </p:cNvSpPr>
              <p:nvPr>
                <p:ph idx="1"/>
              </p:nvPr>
            </p:nvSpPr>
            <p:spPr>
              <a:blipFill>
                <a:blip r:embed="rId2"/>
                <a:stretch>
                  <a:fillRect l="-1005" t="-19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D796843-B4DC-347B-05FE-89DDCD68814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2B74BE5-FE4F-334C-9292-91BF944425F1}"/>
              </a:ext>
            </a:extLst>
          </p:cNvPr>
          <p:cNvSpPr>
            <a:spLocks noGrp="1"/>
          </p:cNvSpPr>
          <p:nvPr>
            <p:ph type="sldNum" sz="quarter" idx="12"/>
          </p:nvPr>
        </p:nvSpPr>
        <p:spPr/>
        <p:txBody>
          <a:bodyPr/>
          <a:lstStyle/>
          <a:p>
            <a:fld id="{D41FC515-8169-4A29-AA56-DBE520D5741B}" type="slidenum">
              <a:rPr lang="zh-CN" altLang="en-US" smtClean="0"/>
              <a:t>47</a:t>
            </a:fld>
            <a:endParaRPr lang="zh-CN" altLang="en-US"/>
          </a:p>
        </p:txBody>
      </p:sp>
    </p:spTree>
    <p:extLst>
      <p:ext uri="{BB962C8B-B14F-4D97-AF65-F5344CB8AC3E}">
        <p14:creationId xmlns:p14="http://schemas.microsoft.com/office/powerpoint/2010/main" val="16524334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77D823-007B-351D-781E-C0831476B807}"/>
              </a:ext>
            </a:extLst>
          </p:cNvPr>
          <p:cNvSpPr>
            <a:spLocks noGrp="1"/>
          </p:cNvSpPr>
          <p:nvPr>
            <p:ph type="title"/>
          </p:nvPr>
        </p:nvSpPr>
        <p:spPr/>
        <p:txBody>
          <a:bodyPr/>
          <a:lstStyle/>
          <a:p>
            <a:r>
              <a:rPr lang="zh-CN" altLang="en-US" dirty="0"/>
              <a:t>弯折回归设计</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3E56F1D-87F0-0EDD-2594-133818D35654}"/>
                  </a:ext>
                </a:extLst>
              </p:cNvPr>
              <p:cNvSpPr>
                <a:spLocks noGrp="1"/>
              </p:cNvSpPr>
              <p:nvPr>
                <p:ph idx="1"/>
              </p:nvPr>
            </p:nvSpPr>
            <p:spPr/>
            <p:txBody>
              <a:bodyPr>
                <a:normAutofit fontScale="70000" lnSpcReduction="20000"/>
              </a:bodyPr>
              <a:lstStyle/>
              <a:p>
                <a:r>
                  <a:rPr lang="en-US" altLang="zh-CN" dirty="0"/>
                  <a:t>RKD </a:t>
                </a:r>
                <a:r>
                  <a:rPr lang="zh-CN" altLang="en-US" dirty="0"/>
                  <a:t>估计方法：局部二次方程回归</a:t>
                </a:r>
                <a:r>
                  <a:rPr lang="en-US" altLang="zh-CN" dirty="0"/>
                  <a:t>(Local Quadratic Regression)</a:t>
                </a:r>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𝑙𝑗</m:t>
                                          </m:r>
                                        </m:sub>
                                      </m:sSub>
                                    </m:e>
                                  </m:d>
                                </m:lim>
                              </m:limLow>
                            </m:fName>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𝑗</m:t>
                                              </m:r>
                                              <m:r>
                                                <a:rPr lang="zh-CN" altLang="en-US" i="1" smtClean="0">
                                                  <a:latin typeface="Cambria Math" panose="02040503050406030204" pitchFamily="18" charset="0"/>
                                                </a:rPr>
                                                <m:t>=0</m:t>
                                              </m:r>
                                            </m:sub>
                                            <m:sup>
                                              <m:r>
                                                <a:rPr lang="zh-CN" altLang="en-US" i="1" smtClean="0">
                                                  <a:latin typeface="Cambria Math" panose="02040503050406030204" pitchFamily="18" charset="0"/>
                                                </a:rPr>
                                                <m:t>𝑝</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𝑙𝑗</m:t>
                                                  </m:r>
                                                </m:sub>
                                              </m:sSub>
                                            </m:e>
                                          </m:nary>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e>
                                            <m:sup>
                                              <m:r>
                                                <a:rPr lang="zh-CN" altLang="en-US" i="1" smtClean="0">
                                                  <a:latin typeface="Cambria Math" panose="02040503050406030204" pitchFamily="18" charset="0"/>
                                                </a:rPr>
                                                <m:t>𝑗</m:t>
                                              </m:r>
                                            </m:sup>
                                          </m:sSup>
                                        </m:e>
                                      </m:d>
                                    </m:e>
                                    <m:sup>
                                      <m:r>
                                        <a:rPr lang="zh-CN" altLang="en-US" i="1" smtClean="0">
                                          <a:latin typeface="Cambria Math" panose="02040503050406030204" pitchFamily="18" charset="0"/>
                                        </a:rPr>
                                        <m:t>2</m:t>
                                      </m:r>
                                    </m:sup>
                                  </m:sSup>
                                </m:e>
                              </m:nary>
                            </m:e>
                          </m:func>
                          <m:r>
                            <a:rPr lang="zh-CN" altLang="en-US" i="1" smtClean="0">
                              <a:latin typeface="Cambria Math" panose="02040503050406030204" pitchFamily="18" charset="0"/>
                            </a:rPr>
                            <m:t>⋅</m:t>
                          </m:r>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num>
                                <m:den>
                                  <m:r>
                                    <a:rPr lang="zh-CN" altLang="en-US" i="1" smtClean="0">
                                      <a:latin typeface="Cambria Math" panose="02040503050406030204" pitchFamily="18" charset="0"/>
                                    </a:rPr>
                                    <m:t>ℎ</m:t>
                                  </m:r>
                                </m:den>
                              </m:f>
                            </m:e>
                          </m:d>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r>
                            <a:rPr lang="en-US" altLang="zh-CN" b="0" i="1" smtClean="0">
                              <a:latin typeface="Cambria Math" panose="02040503050406030204" pitchFamily="18" charset="0"/>
                            </a:rPr>
                            <m:t> (30)</m:t>
                          </m:r>
                        </m:e>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𝑟𝑗</m:t>
                                          </m:r>
                                        </m:sub>
                                      </m:sSub>
                                    </m:e>
                                  </m:d>
                                </m:lim>
                              </m:limLow>
                            </m:fName>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𝑌</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𝑗</m:t>
                                              </m:r>
                                              <m:r>
                                                <a:rPr lang="zh-CN" altLang="en-US" i="1" smtClean="0">
                                                  <a:latin typeface="Cambria Math" panose="02040503050406030204" pitchFamily="18" charset="0"/>
                                                </a:rPr>
                                                <m:t>=0</m:t>
                                              </m:r>
                                            </m:sub>
                                            <m:sup>
                                              <m:r>
                                                <a:rPr lang="zh-CN" altLang="en-US" i="1" smtClean="0">
                                                  <a:latin typeface="Cambria Math" panose="02040503050406030204" pitchFamily="18" charset="0"/>
                                                </a:rPr>
                                                <m:t>𝑝</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𝛽</m:t>
                                                  </m:r>
                                                </m:e>
                                                <m:sub>
                                                  <m:r>
                                                    <a:rPr lang="zh-CN" altLang="en-US" i="1" smtClean="0">
                                                      <a:latin typeface="Cambria Math" panose="02040503050406030204" pitchFamily="18" charset="0"/>
                                                    </a:rPr>
                                                    <m:t>𝑟𝑗</m:t>
                                                  </m:r>
                                                </m:sub>
                                              </m:sSub>
                                            </m:e>
                                          </m:nary>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e>
                                            <m:sup>
                                              <m:r>
                                                <a:rPr lang="zh-CN" altLang="en-US" i="1" smtClean="0">
                                                  <a:latin typeface="Cambria Math" panose="02040503050406030204" pitchFamily="18" charset="0"/>
                                                </a:rPr>
                                                <m:t>𝑗</m:t>
                                              </m:r>
                                            </m:sup>
                                          </m:sSup>
                                        </m:e>
                                      </m:d>
                                    </m:e>
                                    <m:sup>
                                      <m:r>
                                        <a:rPr lang="zh-CN" altLang="en-US" i="1" smtClean="0">
                                          <a:latin typeface="Cambria Math" panose="02040503050406030204" pitchFamily="18" charset="0"/>
                                        </a:rPr>
                                        <m:t>2</m:t>
                                      </m:r>
                                    </m:sup>
                                  </m:sSup>
                                </m:e>
                              </m:nary>
                            </m:e>
                          </m:func>
                          <m:r>
                            <a:rPr lang="zh-CN" altLang="en-US" i="1" smtClean="0">
                              <a:latin typeface="Cambria Math" panose="02040503050406030204" pitchFamily="18" charset="0"/>
                            </a:rPr>
                            <m:t>⋅</m:t>
                          </m:r>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num>
                                <m:den>
                                  <m:r>
                                    <a:rPr lang="zh-CN" altLang="en-US" i="1" smtClean="0">
                                      <a:latin typeface="Cambria Math" panose="02040503050406030204" pitchFamily="18" charset="0"/>
                                    </a:rPr>
                                    <m:t>ℎ</m:t>
                                  </m:r>
                                </m:den>
                              </m:f>
                            </m:e>
                          </m:d>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r>
                            <a:rPr lang="en-US" altLang="zh-CN" b="0" i="1" smtClean="0">
                              <a:latin typeface="Cambria Math" panose="02040503050406030204" pitchFamily="18" charset="0"/>
                            </a:rPr>
                            <m:t> (31)</m:t>
                          </m:r>
                        </m:e>
                      </m:eqArr>
                    </m:oMath>
                  </m:oMathPara>
                </a14:m>
                <a:endParaRPr lang="en-US" altLang="zh-CN" dirty="0"/>
              </a:p>
              <a:p>
                <a:r>
                  <a:rPr lang="zh-CN" altLang="en-US" dirty="0"/>
                  <a:t>记</a:t>
                </a:r>
                <a14:m>
                  <m:oMath xmlns:m="http://schemas.openxmlformats.org/officeDocument/2006/math">
                    <m:sSubSup>
                      <m:sSubSupPr>
                        <m:ctrlPr>
                          <a:rPr lang="zh-CN" altLang="en-US" i="1" dirty="0" smtClean="0">
                            <a:latin typeface="Cambria Math" panose="02040503050406030204" pitchFamily="18" charset="0"/>
                          </a:rPr>
                        </m:ctrlPr>
                      </m:sSubSupPr>
                      <m:e>
                        <m:r>
                          <a:rPr lang="zh-CN" altLang="en-US" i="1" dirty="0" smtClean="0">
                            <a:latin typeface="Cambria Math" panose="02040503050406030204" pitchFamily="18" charset="0"/>
                          </a:rPr>
                          <m:t>𝜅</m:t>
                        </m:r>
                      </m:e>
                      <m:sub>
                        <m:r>
                          <a:rPr lang="en-US" altLang="zh-CN" i="1" dirty="0" smtClean="0">
                            <a:latin typeface="Cambria Math" panose="02040503050406030204" pitchFamily="18" charset="0"/>
                          </a:rPr>
                          <m:t>1</m:t>
                        </m:r>
                      </m:sub>
                      <m:sup>
                        <m:r>
                          <a:rPr lang="en-US" altLang="zh-CN" i="1" dirty="0" smtClean="0">
                            <a:latin typeface="Cambria Math" panose="02040503050406030204" pitchFamily="18" charset="0"/>
                          </a:rPr>
                          <m:t>+</m:t>
                        </m:r>
                      </m:sup>
                    </m:sSubSup>
                    <m:r>
                      <a:rPr lang="en-US" altLang="zh-CN" i="1" dirty="0" smtClean="0">
                        <a:latin typeface="Cambria Math" panose="02040503050406030204" pitchFamily="18" charset="0"/>
                      </a:rPr>
                      <m:t> </m:t>
                    </m:r>
                    <m:r>
                      <a:rPr lang="en-US" altLang="zh-CN" i="1" dirty="0">
                        <a:latin typeface="Cambria Math" panose="02040503050406030204" pitchFamily="18" charset="0"/>
                      </a:rPr>
                      <m:t>=</m:t>
                    </m:r>
                    <m:limLow>
                      <m:limLowPr>
                        <m:ctrlPr>
                          <a:rPr lang="en-US" altLang="zh-CN" i="0" dirty="0" err="1" smtClean="0">
                            <a:latin typeface="Cambria Math" panose="02040503050406030204" pitchFamily="18" charset="0"/>
                          </a:rPr>
                        </m:ctrlPr>
                      </m:limLowPr>
                      <m:e>
                        <m:r>
                          <m:rPr>
                            <m:sty m:val="p"/>
                          </m:rPr>
                          <a:rPr lang="en-US" altLang="zh-CN" i="0" dirty="0" err="1" smtClean="0">
                            <a:latin typeface="Cambria Math" panose="02040503050406030204" pitchFamily="18" charset="0"/>
                          </a:rPr>
                          <m:t>lim</m:t>
                        </m:r>
                      </m:e>
                      <m:lim>
                        <m:r>
                          <a:rPr lang="zh-CN" altLang="en-US" i="1" dirty="0" smtClean="0">
                            <a:latin typeface="Cambria Math" panose="02040503050406030204" pitchFamily="18" charset="0"/>
                          </a:rPr>
                          <m:t>𝑥</m:t>
                        </m:r>
                        <m:r>
                          <a:rPr lang="zh-CN" altLang="en-US"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𝑥</m:t>
                            </m:r>
                          </m:e>
                          <m:sub>
                            <m:r>
                              <a:rPr lang="en-US" altLang="zh-CN" i="1" dirty="0">
                                <a:latin typeface="Cambria Math" panose="02040503050406030204" pitchFamily="18" charset="0"/>
                              </a:rPr>
                              <m:t>0</m:t>
                            </m:r>
                          </m:sub>
                          <m:sup>
                            <m:r>
                              <a:rPr lang="en-US" altLang="zh-CN" i="1" dirty="0">
                                <a:latin typeface="Cambria Math" panose="02040503050406030204" pitchFamily="18" charset="0"/>
                              </a:rPr>
                              <m:t>+</m:t>
                            </m:r>
                          </m:sup>
                        </m:sSubSup>
                      </m:lim>
                    </m:limLow>
                    <m:r>
                      <a:rPr lang="zh-CN" altLang="en-US" i="1" dirty="0" smtClean="0">
                        <a:latin typeface="Cambria Math" panose="02040503050406030204" pitchFamily="18" charset="0"/>
                      </a:rPr>
                      <m:t>𝑑</m:t>
                    </m:r>
                    <m:r>
                      <a:rPr lang="en-US" altLang="zh-CN" i="1" dirty="0">
                        <a:latin typeface="Cambria Math" panose="02040503050406030204" pitchFamily="18" charset="0"/>
                      </a:rPr>
                      <m:t>′(</m:t>
                    </m:r>
                    <m:r>
                      <a:rPr lang="zh-CN" altLang="en-US" i="1" dirty="0">
                        <a:latin typeface="Cambria Math" panose="02040503050406030204" pitchFamily="18" charset="0"/>
                      </a:rPr>
                      <m:t>𝑥</m:t>
                    </m:r>
                    <m:r>
                      <a:rPr lang="en-US" altLang="zh-CN" i="1" dirty="0">
                        <a:latin typeface="Cambria Math" panose="02040503050406030204" pitchFamily="18" charset="0"/>
                      </a:rPr>
                      <m:t>)</m:t>
                    </m:r>
                    <m:r>
                      <a:rPr lang="zh-CN" altLang="en-US"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𝜅</m:t>
                        </m:r>
                      </m:e>
                      <m:sub>
                        <m:r>
                          <a:rPr lang="en-US" altLang="zh-CN" i="1" dirty="0" smtClean="0">
                            <a:latin typeface="Cambria Math" panose="02040503050406030204" pitchFamily="18" charset="0"/>
                          </a:rPr>
                          <m:t>1</m:t>
                        </m:r>
                      </m:sub>
                      <m:sup>
                        <m:r>
                          <a:rPr lang="zh-CN" altLang="en-US" i="1" dirty="0" smtClean="0">
                            <a:latin typeface="Cambria Math" panose="02040503050406030204" pitchFamily="18" charset="0"/>
                          </a:rPr>
                          <m:t>−</m:t>
                        </m:r>
                      </m:sup>
                    </m:sSubSup>
                    <m:r>
                      <a:rPr lang="en-US" altLang="zh-CN" i="1" dirty="0" smtClean="0">
                        <a:latin typeface="Cambria Math" panose="02040503050406030204" pitchFamily="18" charset="0"/>
                      </a:rPr>
                      <m:t> </m:t>
                    </m:r>
                    <m:r>
                      <a:rPr lang="en-US" altLang="zh-CN" i="1" dirty="0">
                        <a:latin typeface="Cambria Math" panose="02040503050406030204" pitchFamily="18" charset="0"/>
                      </a:rPr>
                      <m:t>=</m:t>
                    </m:r>
                    <m:limLow>
                      <m:limLowPr>
                        <m:ctrlPr>
                          <a:rPr lang="en-US" altLang="zh-CN" i="0" dirty="0" err="1" smtClean="0">
                            <a:latin typeface="Cambria Math" panose="02040503050406030204" pitchFamily="18" charset="0"/>
                          </a:rPr>
                        </m:ctrlPr>
                      </m:limLowPr>
                      <m:e>
                        <m:r>
                          <m:rPr>
                            <m:sty m:val="p"/>
                          </m:rPr>
                          <a:rPr lang="en-US" altLang="zh-CN" i="0" dirty="0" err="1" smtClean="0">
                            <a:latin typeface="Cambria Math" panose="02040503050406030204" pitchFamily="18" charset="0"/>
                          </a:rPr>
                          <m:t>lim</m:t>
                        </m:r>
                      </m:e>
                      <m:lim>
                        <m:r>
                          <a:rPr lang="zh-CN" altLang="en-US" i="1" dirty="0" smtClean="0">
                            <a:latin typeface="Cambria Math" panose="02040503050406030204" pitchFamily="18" charset="0"/>
                          </a:rPr>
                          <m:t>𝑥</m:t>
                        </m:r>
                        <m:r>
                          <a:rPr lang="zh-CN" altLang="en-US"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𝑥</m:t>
                            </m:r>
                          </m:e>
                          <m:sub>
                            <m:r>
                              <a:rPr lang="en-US" altLang="zh-CN" i="1" dirty="0">
                                <a:latin typeface="Cambria Math" panose="02040503050406030204" pitchFamily="18" charset="0"/>
                              </a:rPr>
                              <m:t>0</m:t>
                            </m:r>
                          </m:sub>
                          <m:sup>
                            <m:r>
                              <a:rPr lang="zh-CN" altLang="en-US" i="1" dirty="0">
                                <a:latin typeface="Cambria Math" panose="02040503050406030204" pitchFamily="18" charset="0"/>
                              </a:rPr>
                              <m:t>−</m:t>
                            </m:r>
                          </m:sup>
                        </m:sSubSup>
                      </m:lim>
                    </m:limLow>
                    <m:r>
                      <a:rPr lang="zh-CN" altLang="en-US" i="1" dirty="0" smtClean="0">
                        <a:latin typeface="Cambria Math" panose="02040503050406030204" pitchFamily="18" charset="0"/>
                      </a:rPr>
                      <m:t>𝑑</m:t>
                    </m:r>
                    <m:r>
                      <a:rPr lang="en-US" altLang="zh-CN" i="1" dirty="0">
                        <a:latin typeface="Cambria Math" panose="02040503050406030204" pitchFamily="18" charset="0"/>
                      </a:rPr>
                      <m:t>′(</m:t>
                    </m:r>
                    <m:r>
                      <a:rPr lang="zh-CN" altLang="en-US" i="1" dirty="0">
                        <a:latin typeface="Cambria Math" panose="02040503050406030204" pitchFamily="18" charset="0"/>
                      </a:rPr>
                      <m:t>𝑥</m:t>
                    </m:r>
                    <m:r>
                      <a:rPr lang="en-US" altLang="zh-CN" i="1" dirty="0">
                        <a:latin typeface="Cambria Math" panose="02040503050406030204" pitchFamily="18" charset="0"/>
                      </a:rPr>
                      <m:t>)</m:t>
                    </m:r>
                  </m:oMath>
                </a14:m>
                <a:r>
                  <a:rPr lang="zh-CN" altLang="en-US" dirty="0"/>
                  <a:t>，则精确</a:t>
                </a:r>
                <a:r>
                  <a:rPr lang="en-US" altLang="zh-CN" dirty="0"/>
                  <a:t>RKD </a:t>
                </a:r>
                <a:r>
                  <a:rPr lang="zh-CN" altLang="en-US" dirty="0"/>
                  <a:t>估计量为：</a:t>
                </a:r>
                <a:endParaRPr lang="en-US" altLang="zh-CN" dirty="0"/>
              </a:p>
              <a:p>
                <a:pPr marL="0" indent="0">
                  <a:buNone/>
                </a:pPr>
                <a:endParaRPr lang="zh-CN" altLang="en-US" i="1" dirty="0">
                  <a:latin typeface="Cambria Math" panose="02040503050406030204" pitchFamily="18" charset="0"/>
                </a:endParaRPr>
              </a:p>
              <a:p>
                <a:pPr marL="0" indent="0" algn="ctr">
                  <a:buNone/>
                </a:pPr>
                <a14:m>
                  <m:oMath xmlns:m="http://schemas.openxmlformats.org/officeDocument/2006/math">
                    <m:eqArr>
                      <m:eqArrPr>
                        <m:ctrlPr>
                          <a:rPr lang="zh-CN" altLang="en-US" i="1" dirty="0">
                            <a:latin typeface="Cambria Math" panose="02040503050406030204" pitchFamily="18" charset="0"/>
                          </a:rPr>
                        </m:ctrlPr>
                      </m:eqArrPr>
                      <m:e>
                        <m:sSub>
                          <m:sSubPr>
                            <m:ctrlPr>
                              <a:rPr lang="zh-CN" altLang="en-US" i="1" dirty="0">
                                <a:latin typeface="Cambria Math" panose="02040503050406030204" pitchFamily="18" charset="0"/>
                              </a:rPr>
                            </m:ctrlPr>
                          </m:sSubPr>
                          <m:e>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𝜏</m:t>
                                </m:r>
                              </m:e>
                            </m:acc>
                          </m:e>
                          <m:sub>
                            <m:r>
                              <a:rPr lang="zh-CN" altLang="en-US" i="1" dirty="0">
                                <a:latin typeface="Cambria Math" panose="02040503050406030204" pitchFamily="18" charset="0"/>
                              </a:rPr>
                              <m:t>𝑆𝑅𝐾𝐷</m:t>
                            </m:r>
                          </m:sub>
                        </m:sSub>
                        <m:r>
                          <a:rPr lang="zh-CN" altLang="en-US" i="0" dirty="0">
                            <a:latin typeface="Cambria Math" panose="02040503050406030204" pitchFamily="18" charset="0"/>
                          </a:rPr>
                          <m:t>=</m:t>
                        </m:r>
                        <m:f>
                          <m:fPr>
                            <m:ctrlPr>
                              <a:rPr lang="zh-CN" altLang="en-US" i="1" dirty="0">
                                <a:latin typeface="Cambria Math" panose="02040503050406030204" pitchFamily="18" charset="0"/>
                              </a:rPr>
                            </m:ctrlPr>
                          </m:fPr>
                          <m:num>
                            <m:sSubSup>
                              <m:sSubSupPr>
                                <m:ctrlPr>
                                  <a:rPr lang="zh-CN" altLang="en-US" i="1" dirty="0">
                                    <a:latin typeface="Cambria Math" panose="02040503050406030204" pitchFamily="18" charset="0"/>
                                  </a:rPr>
                                </m:ctrlPr>
                              </m:sSubSupPr>
                              <m:e>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𝛽</m:t>
                                    </m:r>
                                  </m:e>
                                </m:acc>
                              </m:e>
                              <m:sub>
                                <m:r>
                                  <a:rPr lang="zh-CN" altLang="en-US" i="0" dirty="0">
                                    <a:latin typeface="Cambria Math" panose="02040503050406030204" pitchFamily="18" charset="0"/>
                                  </a:rPr>
                                  <m:t>1</m:t>
                                </m:r>
                              </m:sub>
                              <m:sup>
                                <m:r>
                                  <a:rPr lang="zh-CN" altLang="en-US" i="0" dirty="0">
                                    <a:latin typeface="Cambria Math" panose="02040503050406030204" pitchFamily="18" charset="0"/>
                                  </a:rPr>
                                  <m:t>+</m:t>
                                </m:r>
                              </m:sup>
                            </m:sSubSup>
                            <m:r>
                              <a:rPr lang="zh-CN" altLang="en-US" i="0" dirty="0">
                                <a:latin typeface="Cambria Math" panose="02040503050406030204" pitchFamily="18" charset="0"/>
                              </a:rPr>
                              <m:t>−</m:t>
                            </m:r>
                            <m:sSubSup>
                              <m:sSubSupPr>
                                <m:ctrlPr>
                                  <a:rPr lang="zh-CN" altLang="en-US" i="1" dirty="0">
                                    <a:latin typeface="Cambria Math" panose="02040503050406030204" pitchFamily="18" charset="0"/>
                                  </a:rPr>
                                </m:ctrlPr>
                              </m:sSubSupPr>
                              <m:e>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𝛽</m:t>
                                    </m:r>
                                  </m:e>
                                </m:acc>
                              </m:e>
                              <m:sub>
                                <m:r>
                                  <a:rPr lang="zh-CN" altLang="en-US" i="0" dirty="0">
                                    <a:latin typeface="Cambria Math" panose="02040503050406030204" pitchFamily="18" charset="0"/>
                                  </a:rPr>
                                  <m:t>1</m:t>
                                </m:r>
                              </m:sub>
                              <m:sup>
                                <m:r>
                                  <a:rPr lang="zh-CN" altLang="en-US" i="0" dirty="0">
                                    <a:latin typeface="Cambria Math" panose="02040503050406030204" pitchFamily="18" charset="0"/>
                                  </a:rPr>
                                  <m:t>−</m:t>
                                </m:r>
                              </m:sup>
                            </m:sSubSup>
                          </m:num>
                          <m:den>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𝜅</m:t>
                                </m:r>
                              </m:e>
                              <m:sub>
                                <m:r>
                                  <a:rPr lang="zh-CN" altLang="en-US" i="0" dirty="0">
                                    <a:latin typeface="Cambria Math" panose="02040503050406030204" pitchFamily="18" charset="0"/>
                                  </a:rPr>
                                  <m:t>1</m:t>
                                </m:r>
                              </m:sub>
                              <m:sup>
                                <m:r>
                                  <a:rPr lang="zh-CN" altLang="en-US" i="0" dirty="0">
                                    <a:latin typeface="Cambria Math" panose="02040503050406030204" pitchFamily="18" charset="0"/>
                                  </a:rPr>
                                  <m:t>+</m:t>
                                </m:r>
                              </m:sup>
                            </m:sSubSup>
                            <m:r>
                              <a:rPr lang="zh-CN" altLang="en-US" i="0"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𝜅</m:t>
                                </m:r>
                              </m:e>
                              <m:sub>
                                <m:r>
                                  <a:rPr lang="zh-CN" altLang="en-US" i="0" dirty="0">
                                    <a:latin typeface="Cambria Math" panose="02040503050406030204" pitchFamily="18" charset="0"/>
                                  </a:rPr>
                                  <m:t>1</m:t>
                                </m:r>
                              </m:sub>
                              <m:sup>
                                <m:r>
                                  <a:rPr lang="zh-CN" altLang="en-US" i="0" dirty="0">
                                    <a:latin typeface="Cambria Math" panose="02040503050406030204" pitchFamily="18" charset="0"/>
                                  </a:rPr>
                                  <m:t>−</m:t>
                                </m:r>
                              </m:sup>
                            </m:sSubSup>
                          </m:den>
                        </m:f>
                        <m:r>
                          <a:rPr lang="zh-CN" altLang="en-US" i="0" dirty="0">
                            <a:latin typeface="Cambria Math" panose="02040503050406030204" pitchFamily="18" charset="0"/>
                          </a:rPr>
                          <m:t>.</m:t>
                        </m:r>
                      </m:e>
                    </m:eqArr>
                  </m:oMath>
                </a14:m>
                <a:r>
                  <a:rPr lang="zh-CN" altLang="en-US" dirty="0"/>
                  <a:t>                                                                            </a:t>
                </a:r>
                <a:r>
                  <a:rPr lang="en-US" altLang="zh-CN" dirty="0"/>
                  <a:t>(32)</a:t>
                </a:r>
                <a:endParaRPr lang="zh-CN" altLang="en-US" dirty="0"/>
              </a:p>
            </p:txBody>
          </p:sp>
        </mc:Choice>
        <mc:Fallback>
          <p:sp>
            <p:nvSpPr>
              <p:cNvPr id="3" name="内容占位符 2">
                <a:extLst>
                  <a:ext uri="{FF2B5EF4-FFF2-40B4-BE49-F238E27FC236}">
                    <a16:creationId xmlns:a16="http://schemas.microsoft.com/office/drawing/2014/main" id="{33E56F1D-87F0-0EDD-2594-133818D35654}"/>
                  </a:ext>
                </a:extLst>
              </p:cNvPr>
              <p:cNvSpPr>
                <a:spLocks noGrp="1" noRot="1" noChangeAspect="1" noMove="1" noResize="1" noEditPoints="1" noAdjustHandles="1" noChangeArrowheads="1" noChangeShapeType="1" noTextEdit="1"/>
              </p:cNvSpPr>
              <p:nvPr>
                <p:ph idx="1"/>
              </p:nvPr>
            </p:nvSpPr>
            <p:spPr>
              <a:blipFill>
                <a:blip r:embed="rId2"/>
                <a:stretch>
                  <a:fillRect l="-696" t="-21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1E648FF-2EA7-048F-410F-907CD3F5E01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DE60B6D-DA05-2D43-1786-523EAB4EE6AB}"/>
              </a:ext>
            </a:extLst>
          </p:cNvPr>
          <p:cNvSpPr>
            <a:spLocks noGrp="1"/>
          </p:cNvSpPr>
          <p:nvPr>
            <p:ph type="sldNum" sz="quarter" idx="12"/>
          </p:nvPr>
        </p:nvSpPr>
        <p:spPr/>
        <p:txBody>
          <a:bodyPr/>
          <a:lstStyle/>
          <a:p>
            <a:fld id="{D41FC515-8169-4A29-AA56-DBE520D5741B}" type="slidenum">
              <a:rPr lang="zh-CN" altLang="en-US" smtClean="0"/>
              <a:t>48</a:t>
            </a:fld>
            <a:endParaRPr lang="zh-CN" altLang="en-US"/>
          </a:p>
        </p:txBody>
      </p:sp>
    </p:spTree>
    <p:extLst>
      <p:ext uri="{BB962C8B-B14F-4D97-AF65-F5344CB8AC3E}">
        <p14:creationId xmlns:p14="http://schemas.microsoft.com/office/powerpoint/2010/main" val="14330582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AF7863-70BB-9514-586B-E0CA543982AC}"/>
              </a:ext>
            </a:extLst>
          </p:cNvPr>
          <p:cNvSpPr>
            <a:spLocks noGrp="1"/>
          </p:cNvSpPr>
          <p:nvPr>
            <p:ph type="title"/>
          </p:nvPr>
        </p:nvSpPr>
        <p:spPr/>
        <p:txBody>
          <a:bodyPr/>
          <a:lstStyle/>
          <a:p>
            <a:r>
              <a:rPr lang="zh-CN" altLang="en-US" dirty="0"/>
              <a:t>弯折回归设计</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33F693B-A7FB-85CB-092F-DD2FE26FE852}"/>
                  </a:ext>
                </a:extLst>
              </p:cNvPr>
              <p:cNvSpPr>
                <a:spLocks noGrp="1"/>
              </p:cNvSpPr>
              <p:nvPr>
                <p:ph idx="1"/>
              </p:nvPr>
            </p:nvSpPr>
            <p:spPr/>
            <p:txBody>
              <a:bodyPr>
                <a:normAutofit fontScale="62500" lnSpcReduction="20000"/>
              </a:bodyPr>
              <a:lstStyle/>
              <a:p>
                <a:r>
                  <a:rPr lang="en-US" altLang="zh-CN" dirty="0"/>
                  <a:t>Fuzzy RKD:</a:t>
                </a:r>
              </a:p>
              <a:p>
                <a:pPr marL="0" indent="0">
                  <a:buNone/>
                </a:pPr>
                <a14:m>
                  <m:oMathPara xmlns:m="http://schemas.openxmlformats.org/officeDocument/2006/math">
                    <m:o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r>
                        <a:rPr lang="zh-CN" altLang="en-US" i="1" smtClean="0">
                          <a:latin typeface="Cambria Math" panose="02040503050406030204" pitchFamily="18" charset="0"/>
                        </a:rPr>
                        <m:t>𝑑</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𝑖</m:t>
                              </m:r>
                            </m:sub>
                          </m:sSub>
                        </m:e>
                      </m:d>
                    </m:oMath>
                  </m:oMathPara>
                </a14:m>
                <a:endParaRPr lang="en-US" altLang="zh-CN" dirty="0"/>
              </a:p>
              <a:p>
                <a:r>
                  <a:rPr lang="zh-CN" altLang="en-US" dirty="0"/>
                  <a:t>估计分配规则斜率变化：</a:t>
                </a:r>
                <a:endParaRPr lang="en-US" altLang="zh-CN" dirty="0"/>
              </a:p>
              <a:p>
                <a:pPr marL="0" indent="0">
                  <a:buNone/>
                </a:pPr>
                <a14:m>
                  <m:oMathPara xmlns:m="http://schemas.openxmlformats.org/officeDocument/2006/math">
                    <m:oMath>
                      <m:eqArr>
                        <m:eqArrPr>
                          <m:ctrlPr>
                            <a:rPr lang="zh-CN" altLang="en-US" i="1" smtClean="0">
                              <a:latin typeface="Cambria Math" panose="02040503050406030204" pitchFamily="18" charset="0"/>
                            </a:rPr>
                          </m:ctrlPr>
                        </m:eqArrPr>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𝜅</m:t>
                                          </m:r>
                                        </m:e>
                                        <m:sub>
                                          <m:r>
                                            <a:rPr lang="zh-CN" altLang="en-US" i="1" smtClean="0">
                                              <a:latin typeface="Cambria Math" panose="02040503050406030204" pitchFamily="18" charset="0"/>
                                            </a:rPr>
                                            <m:t>𝑙𝑗</m:t>
                                          </m:r>
                                        </m:sub>
                                      </m:sSub>
                                    </m:e>
                                  </m:d>
                                </m:lim>
                              </m:limLow>
                            </m:fName>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𝑗</m:t>
                                              </m:r>
                                              <m:r>
                                                <a:rPr lang="zh-CN" altLang="en-US" i="1" smtClean="0">
                                                  <a:latin typeface="Cambria Math" panose="02040503050406030204" pitchFamily="18" charset="0"/>
                                                </a:rPr>
                                                <m:t>=0</m:t>
                                              </m:r>
                                            </m:sub>
                                            <m:sup>
                                              <m:r>
                                                <a:rPr lang="zh-CN" altLang="en-US" i="1" smtClean="0">
                                                  <a:latin typeface="Cambria Math" panose="02040503050406030204" pitchFamily="18" charset="0"/>
                                                </a:rPr>
                                                <m:t>𝑝</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𝜅</m:t>
                                                  </m:r>
                                                </m:e>
                                                <m:sub>
                                                  <m:r>
                                                    <a:rPr lang="zh-CN" altLang="en-US" i="1" smtClean="0">
                                                      <a:latin typeface="Cambria Math" panose="02040503050406030204" pitchFamily="18" charset="0"/>
                                                    </a:rPr>
                                                    <m:t>𝑙𝑗</m:t>
                                                  </m:r>
                                                </m:sub>
                                              </m:sSub>
                                            </m:e>
                                          </m:nary>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e>
                                            <m:sup>
                                              <m:r>
                                                <a:rPr lang="zh-CN" altLang="en-US" i="1" smtClean="0">
                                                  <a:latin typeface="Cambria Math" panose="02040503050406030204" pitchFamily="18" charset="0"/>
                                                </a:rPr>
                                                <m:t>𝑗</m:t>
                                              </m:r>
                                            </m:sup>
                                          </m:sSup>
                                        </m:e>
                                      </m:d>
                                    </m:e>
                                    <m:sup>
                                      <m:r>
                                        <a:rPr lang="zh-CN" altLang="en-US" i="1" smtClean="0">
                                          <a:latin typeface="Cambria Math" panose="02040503050406030204" pitchFamily="18" charset="0"/>
                                        </a:rPr>
                                        <m:t>2</m:t>
                                      </m:r>
                                    </m:sup>
                                  </m:sSup>
                                </m:e>
                              </m:nary>
                            </m:e>
                          </m:func>
                          <m:r>
                            <a:rPr lang="zh-CN" altLang="en-US" i="1" smtClean="0">
                              <a:latin typeface="Cambria Math" panose="02040503050406030204" pitchFamily="18" charset="0"/>
                            </a:rPr>
                            <m:t>⋅</m:t>
                          </m:r>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num>
                                <m:den>
                                  <m:r>
                                    <a:rPr lang="zh-CN" altLang="en-US" i="1" smtClean="0">
                                      <a:latin typeface="Cambria Math" panose="02040503050406030204" pitchFamily="18" charset="0"/>
                                    </a:rPr>
                                    <m:t>ℎ</m:t>
                                  </m:r>
                                </m:den>
                              </m:f>
                            </m:e>
                          </m:d>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&lt;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r>
                            <a:rPr lang="en-US" altLang="zh-CN" b="0" i="1" smtClean="0">
                              <a:latin typeface="Cambria Math" panose="02040503050406030204" pitchFamily="18" charset="0"/>
                            </a:rPr>
                            <m:t>(33)</m:t>
                          </m:r>
                        </m:e>
                        <m:e>
                          <m:func>
                            <m:funcPr>
                              <m:ctrlPr>
                                <a:rPr lang="zh-CN" altLang="en-US" i="1" smtClean="0">
                                  <a:latin typeface="Cambria Math" panose="02040503050406030204" pitchFamily="18" charset="0"/>
                                </a:rPr>
                              </m:ctrlPr>
                            </m:funcPr>
                            <m:fName>
                              <m:limLow>
                                <m:limLowPr>
                                  <m:ctrlPr>
                                    <a:rPr lang="zh-CN" altLang="en-US" i="1" smtClean="0">
                                      <a:latin typeface="Cambria Math" panose="02040503050406030204" pitchFamily="18" charset="0"/>
                                    </a:rPr>
                                  </m:ctrlPr>
                                </m:limLowPr>
                                <m:e>
                                  <m:r>
                                    <m:rPr>
                                      <m:sty m:val="p"/>
                                    </m:rPr>
                                    <a:rPr lang="zh-CN" altLang="en-US" i="1" smtClean="0">
                                      <a:latin typeface="Cambria Math" panose="02040503050406030204" pitchFamily="18" charset="0"/>
                                    </a:rPr>
                                    <m:t>min</m:t>
                                  </m:r>
                                </m:e>
                                <m:lim>
                                  <m:d>
                                    <m:dPr>
                                      <m:begChr m:val="{"/>
                                      <m:endChr m:val="}"/>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𝜅</m:t>
                                          </m:r>
                                        </m:e>
                                        <m:sub>
                                          <m:r>
                                            <a:rPr lang="zh-CN" altLang="en-US" i="1" smtClean="0">
                                              <a:latin typeface="Cambria Math" panose="02040503050406030204" pitchFamily="18" charset="0"/>
                                            </a:rPr>
                                            <m:t>𝑟𝑗</m:t>
                                          </m:r>
                                        </m:sub>
                                      </m:sSub>
                                    </m:e>
                                  </m:d>
                                </m:lim>
                              </m:limLow>
                            </m:fName>
                            <m:e>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𝑖</m:t>
                                  </m:r>
                                  <m:r>
                                    <a:rPr lang="zh-CN" altLang="en-US" i="1" smtClean="0">
                                      <a:latin typeface="Cambria Math" panose="02040503050406030204" pitchFamily="18" charset="0"/>
                                    </a:rPr>
                                    <m:t>=1</m:t>
                                  </m:r>
                                </m:sub>
                                <m:sup>
                                  <m:r>
                                    <a:rPr lang="zh-CN" altLang="en-US" i="1" smtClean="0">
                                      <a:latin typeface="Cambria Math" panose="02040503050406030204" pitchFamily="18" charset="0"/>
                                    </a:rPr>
                                    <m:t>𝑁</m:t>
                                  </m:r>
                                </m:sup>
                                <m:e>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𝐷</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nary>
                                            <m:naryPr>
                                              <m:chr m:val="∑"/>
                                              <m:limLoc m:val="undOvr"/>
                                              <m:ctrlPr>
                                                <a:rPr lang="zh-CN" altLang="en-US" i="1" smtClean="0">
                                                  <a:latin typeface="Cambria Math" panose="02040503050406030204" pitchFamily="18" charset="0"/>
                                                </a:rPr>
                                              </m:ctrlPr>
                                            </m:naryPr>
                                            <m:sub>
                                              <m:r>
                                                <a:rPr lang="zh-CN" altLang="en-US" i="1" smtClean="0">
                                                  <a:latin typeface="Cambria Math" panose="02040503050406030204" pitchFamily="18" charset="0"/>
                                                </a:rPr>
                                                <m:t>𝑗</m:t>
                                              </m:r>
                                              <m:r>
                                                <a:rPr lang="zh-CN" altLang="en-US" i="1" smtClean="0">
                                                  <a:latin typeface="Cambria Math" panose="02040503050406030204" pitchFamily="18" charset="0"/>
                                                </a:rPr>
                                                <m:t>=0</m:t>
                                              </m:r>
                                            </m:sub>
                                            <m:sup>
                                              <m:r>
                                                <a:rPr lang="zh-CN" altLang="en-US" i="1" smtClean="0">
                                                  <a:latin typeface="Cambria Math" panose="02040503050406030204" pitchFamily="18" charset="0"/>
                                                </a:rPr>
                                                <m:t>𝑝</m:t>
                                              </m:r>
                                            </m:sup>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𝜅</m:t>
                                                  </m:r>
                                                </m:e>
                                                <m:sub>
                                                  <m:r>
                                                    <a:rPr lang="zh-CN" altLang="en-US" i="1" smtClean="0">
                                                      <a:latin typeface="Cambria Math" panose="02040503050406030204" pitchFamily="18" charset="0"/>
                                                    </a:rPr>
                                                    <m:t>𝑟𝑗</m:t>
                                                  </m:r>
                                                </m:sub>
                                              </m:sSub>
                                            </m:e>
                                          </m:nary>
                                          <m:sSup>
                                            <m:sSupPr>
                                              <m:ctrlPr>
                                                <a:rPr lang="zh-CN" altLang="en-US" i="1" smtClean="0">
                                                  <a:latin typeface="Cambria Math" panose="02040503050406030204" pitchFamily="18" charset="0"/>
                                                </a:rPr>
                                              </m:ctrlPr>
                                            </m:sSupPr>
                                            <m:e>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e>
                                            <m:sup>
                                              <m:r>
                                                <a:rPr lang="zh-CN" altLang="en-US" i="1" smtClean="0">
                                                  <a:latin typeface="Cambria Math" panose="02040503050406030204" pitchFamily="18" charset="0"/>
                                                </a:rPr>
                                                <m:t>𝑗</m:t>
                                              </m:r>
                                            </m:sup>
                                          </m:sSup>
                                        </m:e>
                                      </m:d>
                                    </m:e>
                                    <m:sup>
                                      <m:r>
                                        <a:rPr lang="zh-CN" altLang="en-US" i="1" smtClean="0">
                                          <a:latin typeface="Cambria Math" panose="02040503050406030204" pitchFamily="18" charset="0"/>
                                        </a:rPr>
                                        <m:t>2</m:t>
                                      </m:r>
                                    </m:sup>
                                  </m:sSup>
                                </m:e>
                              </m:nary>
                            </m:e>
                          </m:func>
                          <m:r>
                            <a:rPr lang="zh-CN" altLang="en-US" i="1" smtClean="0">
                              <a:latin typeface="Cambria Math" panose="02040503050406030204" pitchFamily="18" charset="0"/>
                            </a:rPr>
                            <m:t>⋅</m:t>
                          </m:r>
                          <m:r>
                            <a:rPr lang="zh-CN" altLang="en-US" i="1" smtClean="0">
                              <a:latin typeface="Cambria Math" panose="02040503050406030204" pitchFamily="18" charset="0"/>
                            </a:rPr>
                            <m:t>𝐾</m:t>
                          </m:r>
                          <m:d>
                            <m:dPr>
                              <m:ctrlPr>
                                <a:rPr lang="zh-CN" altLang="en-US" i="1" smtClean="0">
                                  <a:latin typeface="Cambria Math" panose="02040503050406030204" pitchFamily="18" charset="0"/>
                                </a:rPr>
                              </m:ctrlPr>
                            </m:dPr>
                            <m:e>
                              <m:f>
                                <m:fPr>
                                  <m:ctrlPr>
                                    <a:rPr lang="zh-CN" altLang="en-US" i="1" smtClean="0">
                                      <a:latin typeface="Cambria Math" panose="02040503050406030204" pitchFamily="18" charset="0"/>
                                    </a:rPr>
                                  </m:ctrlPr>
                                </m:fPr>
                                <m:num>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num>
                                <m:den>
                                  <m:r>
                                    <a:rPr lang="zh-CN" altLang="en-US" i="1" smtClean="0">
                                      <a:latin typeface="Cambria Math" panose="02040503050406030204" pitchFamily="18" charset="0"/>
                                    </a:rPr>
                                    <m:t>ℎ</m:t>
                                  </m:r>
                                </m:den>
                              </m:f>
                            </m:e>
                          </m:d>
                          <m:r>
                            <a:rPr lang="zh-CN" altLang="en-US" i="1" smtClean="0">
                              <a:latin typeface="Cambria Math" panose="02040503050406030204" pitchFamily="18" charset="0"/>
                            </a:rPr>
                            <m:t>⋅1</m:t>
                          </m:r>
                          <m:d>
                            <m:dPr>
                              <m:ctrlPr>
                                <a:rPr lang="zh-CN" altLang="en-US" i="1" smtClean="0">
                                  <a:latin typeface="Cambria Math" panose="02040503050406030204" pitchFamily="18" charset="0"/>
                                </a:rPr>
                              </m:ctrlPr>
                            </m:dPr>
                            <m:e>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𝑋</m:t>
                                  </m:r>
                                </m:e>
                                <m:sub>
                                  <m:r>
                                    <a:rPr lang="zh-CN" altLang="en-US" i="1" smtClean="0">
                                      <a:latin typeface="Cambria Math" panose="02040503050406030204" pitchFamily="18" charset="0"/>
                                    </a:rPr>
                                    <m:t>𝑖</m:t>
                                  </m:r>
                                </m:sub>
                              </m:sSub>
                              <m:r>
                                <a:rPr lang="zh-CN" altLang="en-US" i="1" smtClean="0">
                                  <a:latin typeface="Cambria Math" panose="02040503050406030204" pitchFamily="18" charset="0"/>
                                </a:rPr>
                                <m:t>≥</m:t>
                              </m:r>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0</m:t>
                                  </m:r>
                                </m:sub>
                              </m:sSub>
                            </m:e>
                          </m:d>
                          <m:r>
                            <a:rPr lang="zh-CN" altLang="en-US" i="1" smtClean="0">
                              <a:latin typeface="Cambria Math" panose="02040503050406030204" pitchFamily="18" charset="0"/>
                            </a:rPr>
                            <m:t>,</m:t>
                          </m:r>
                          <m:r>
                            <a:rPr lang="en-US" altLang="zh-CN" b="0" i="1" smtClean="0">
                              <a:latin typeface="Cambria Math" panose="02040503050406030204" pitchFamily="18" charset="0"/>
                            </a:rPr>
                            <m:t>(34)</m:t>
                          </m:r>
                        </m:e>
                      </m:eqArr>
                    </m:oMath>
                  </m:oMathPara>
                </a14:m>
                <a:endParaRPr lang="en-US" altLang="zh-CN" dirty="0"/>
              </a:p>
              <a:p>
                <a:pPr marL="0" indent="0">
                  <a:buNone/>
                </a:pPr>
                <a:r>
                  <a:rPr lang="zh-CN" altLang="en-US" dirty="0"/>
                  <a:t>得到的分配函数斜率变化的估计量为 </a:t>
                </a:r>
                <a14:m>
                  <m:oMath xmlns:m="http://schemas.openxmlformats.org/officeDocument/2006/math">
                    <m:acc>
                      <m:accPr>
                        <m:chr m:val="̂"/>
                        <m:ctrlPr>
                          <a:rPr lang="en-US" altLang="zh-CN" b="0" i="1" dirty="0" smtClean="0">
                            <a:latin typeface="Cambria Math" panose="02040503050406030204" pitchFamily="18" charset="0"/>
                          </a:rPr>
                        </m:ctrlPr>
                      </m:accPr>
                      <m:e>
                        <m:sSup>
                          <m:sSupPr>
                            <m:ctrlPr>
                              <a:rPr lang="zh-CN" altLang="en-US" i="1" dirty="0" smtClean="0">
                                <a:latin typeface="Cambria Math" panose="02040503050406030204" pitchFamily="18" charset="0"/>
                              </a:rPr>
                            </m:ctrlPr>
                          </m:sSupPr>
                          <m:e>
                            <m:r>
                              <a:rPr lang="zh-CN" altLang="en-US" i="1" dirty="0" smtClean="0">
                                <a:latin typeface="Cambria Math" panose="02040503050406030204" pitchFamily="18" charset="0"/>
                              </a:rPr>
                              <m:t>𝜅</m:t>
                            </m:r>
                          </m:e>
                          <m:sup>
                            <m:r>
                              <a:rPr lang="en-US" altLang="zh-CN" i="1" dirty="0">
                                <a:latin typeface="Cambria Math" panose="02040503050406030204" pitchFamily="18" charset="0"/>
                              </a:rPr>
                              <m:t>+</m:t>
                            </m:r>
                          </m:sup>
                        </m:sSup>
                      </m:e>
                    </m:acc>
                    <m:r>
                      <a:rPr lang="zh-CN" altLang="en-US" i="1" dirty="0">
                        <a:latin typeface="Cambria Math" panose="02040503050406030204" pitchFamily="18" charset="0"/>
                      </a:rPr>
                      <m:t> − </m:t>
                    </m:r>
                    <m:acc>
                      <m:accPr>
                        <m:chr m:val="̂"/>
                        <m:ctrlPr>
                          <a:rPr lang="en-US" altLang="zh-CN" b="0" i="1" dirty="0" smtClean="0">
                            <a:latin typeface="Cambria Math" panose="02040503050406030204" pitchFamily="18" charset="0"/>
                          </a:rPr>
                        </m:ctrlPr>
                      </m:accPr>
                      <m:e>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𝜅</m:t>
                            </m:r>
                          </m:e>
                          <m:sup>
                            <m:r>
                              <a:rPr lang="zh-CN" altLang="en-US" i="1" dirty="0">
                                <a:latin typeface="Cambria Math" panose="02040503050406030204" pitchFamily="18" charset="0"/>
                              </a:rPr>
                              <m:t>−</m:t>
                            </m:r>
                          </m:sup>
                        </m:sSup>
                      </m:e>
                    </m:acc>
                    <m:r>
                      <a:rPr lang="zh-CN" altLang="en-US" i="1" dirty="0">
                        <a:latin typeface="Cambria Math" panose="02040503050406030204" pitchFamily="18" charset="0"/>
                      </a:rPr>
                      <m:t> </m:t>
                    </m:r>
                  </m:oMath>
                </a14:m>
                <a:r>
                  <a:rPr lang="zh-CN" altLang="en-US" dirty="0"/>
                  <a:t>，则模糊 </a:t>
                </a:r>
                <a:r>
                  <a:rPr lang="en-US" altLang="zh-CN" dirty="0"/>
                  <a:t>RKD </a:t>
                </a:r>
                <a:r>
                  <a:rPr lang="zh-CN" altLang="en-US" dirty="0"/>
                  <a:t>估计量为：</a:t>
                </a:r>
                <a:endParaRPr lang="en-US" altLang="zh-CN" dirty="0"/>
              </a:p>
              <a:p>
                <a:pPr marL="0" indent="0" algn="ctr">
                  <a:buNone/>
                </a:pPr>
                <a14:m>
                  <m:oMath xmlns:m="http://schemas.openxmlformats.org/officeDocument/2006/math">
                    <m:eqArr>
                      <m:eqArrPr>
                        <m:ctrlPr>
                          <a:rPr lang="zh-CN" altLang="en-US" i="1" smtClean="0">
                            <a:latin typeface="Cambria Math" panose="02040503050406030204" pitchFamily="18" charset="0"/>
                          </a:rPr>
                        </m:ctrlPr>
                      </m:eqArrPr>
                      <m:e>
                        <m:sSub>
                          <m:sSubPr>
                            <m:ctrlPr>
                              <a:rPr lang="zh-CN" altLang="en-US" i="1" smtClean="0">
                                <a:latin typeface="Cambria Math" panose="02040503050406030204" pitchFamily="18" charset="0"/>
                              </a:rPr>
                            </m:ctrlPr>
                          </m:sSub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𝜏</m:t>
                                </m:r>
                              </m:e>
                            </m:acc>
                          </m:e>
                          <m:sub>
                            <m:r>
                              <a:rPr lang="zh-CN" altLang="en-US" i="1" smtClean="0">
                                <a:latin typeface="Cambria Math" panose="02040503050406030204" pitchFamily="18" charset="0"/>
                              </a:rPr>
                              <m:t>𝐹𝑅𝐾𝐷</m:t>
                            </m:r>
                          </m:sub>
                        </m:sSub>
                        <m:r>
                          <a:rPr lang="zh-CN" altLang="en-US" i="1" smtClean="0">
                            <a:latin typeface="Cambria Math" panose="02040503050406030204" pitchFamily="18" charset="0"/>
                          </a:rPr>
                          <m:t>=</m:t>
                        </m:r>
                        <m:f>
                          <m:fPr>
                            <m:ctrlPr>
                              <a:rPr lang="zh-CN" altLang="en-US" i="1" smtClean="0">
                                <a:latin typeface="Cambria Math" panose="02040503050406030204" pitchFamily="18" charset="0"/>
                              </a:rPr>
                            </m:ctrlPr>
                          </m:fPr>
                          <m:num>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𝛽</m:t>
                                    </m:r>
                                  </m:e>
                                </m:acc>
                              </m:e>
                              <m:sub>
                                <m:r>
                                  <a:rPr lang="zh-CN" altLang="en-US" i="1" smtClean="0">
                                    <a:latin typeface="Cambria Math" panose="02040503050406030204" pitchFamily="18" charset="0"/>
                                  </a:rPr>
                                  <m:t>1</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𝛽</m:t>
                                    </m:r>
                                  </m:e>
                                </m:acc>
                              </m:e>
                              <m:sub>
                                <m:r>
                                  <a:rPr lang="zh-CN" altLang="en-US" i="1" smtClean="0">
                                    <a:latin typeface="Cambria Math" panose="02040503050406030204" pitchFamily="18" charset="0"/>
                                  </a:rPr>
                                  <m:t>1</m:t>
                                </m:r>
                              </m:sub>
                              <m:sup>
                                <m:r>
                                  <a:rPr lang="zh-CN" altLang="en-US" i="1" smtClean="0">
                                    <a:latin typeface="Cambria Math" panose="02040503050406030204" pitchFamily="18" charset="0"/>
                                  </a:rPr>
                                  <m:t>−</m:t>
                                </m:r>
                              </m:sup>
                            </m:sSubSup>
                          </m:num>
                          <m:den>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𝜅</m:t>
                                    </m:r>
                                  </m:e>
                                </m:acc>
                              </m:e>
                              <m:sub>
                                <m:r>
                                  <a:rPr lang="zh-CN" altLang="en-US" i="1" smtClean="0">
                                    <a:latin typeface="Cambria Math" panose="02040503050406030204" pitchFamily="18" charset="0"/>
                                  </a:rPr>
                                  <m:t>1</m:t>
                                </m:r>
                              </m:sub>
                              <m:sup>
                                <m:r>
                                  <a:rPr lang="zh-CN" altLang="en-US" i="1" smtClean="0">
                                    <a:latin typeface="Cambria Math" panose="02040503050406030204" pitchFamily="18" charset="0"/>
                                  </a:rPr>
                                  <m:t>+</m:t>
                                </m:r>
                              </m:sup>
                            </m:sSubSup>
                            <m:r>
                              <a:rPr lang="zh-CN" altLang="en-US" i="1" smtClean="0">
                                <a:latin typeface="Cambria Math" panose="02040503050406030204" pitchFamily="18" charset="0"/>
                              </a:rPr>
                              <m:t>−</m:t>
                            </m:r>
                            <m:sSubSup>
                              <m:sSubSupPr>
                                <m:ctrlPr>
                                  <a:rPr lang="zh-CN" altLang="en-US" i="1" smtClean="0">
                                    <a:latin typeface="Cambria Math" panose="02040503050406030204" pitchFamily="18" charset="0"/>
                                  </a:rPr>
                                </m:ctrlPr>
                              </m:sSubSupPr>
                              <m:e>
                                <m:acc>
                                  <m:accPr>
                                    <m:chr m:val="̂"/>
                                    <m:ctrlPr>
                                      <a:rPr lang="zh-CN" altLang="en-US" i="1" smtClean="0">
                                        <a:latin typeface="Cambria Math" panose="02040503050406030204" pitchFamily="18" charset="0"/>
                                      </a:rPr>
                                    </m:ctrlPr>
                                  </m:accPr>
                                  <m:e>
                                    <m:r>
                                      <a:rPr lang="zh-CN" altLang="en-US" i="1" smtClean="0">
                                        <a:latin typeface="Cambria Math" panose="02040503050406030204" pitchFamily="18" charset="0"/>
                                      </a:rPr>
                                      <m:t>𝜅</m:t>
                                    </m:r>
                                  </m:e>
                                </m:acc>
                              </m:e>
                              <m:sub>
                                <m:r>
                                  <a:rPr lang="zh-CN" altLang="en-US" i="1" smtClean="0">
                                    <a:latin typeface="Cambria Math" panose="02040503050406030204" pitchFamily="18" charset="0"/>
                                  </a:rPr>
                                  <m:t>1</m:t>
                                </m:r>
                              </m:sub>
                              <m:sup>
                                <m:r>
                                  <a:rPr lang="zh-CN" altLang="en-US" i="1" smtClean="0">
                                    <a:latin typeface="Cambria Math" panose="02040503050406030204" pitchFamily="18" charset="0"/>
                                  </a:rPr>
                                  <m:t>−</m:t>
                                </m:r>
                              </m:sup>
                            </m:sSubSup>
                          </m:den>
                        </m:f>
                        <m:r>
                          <a:rPr lang="zh-CN" altLang="en-US" i="1" smtClean="0">
                            <a:latin typeface="Cambria Math" panose="02040503050406030204" pitchFamily="18" charset="0"/>
                          </a:rPr>
                          <m:t>.</m:t>
                        </m:r>
                      </m:e>
                    </m:eqArr>
                    <m:r>
                      <a:rPr lang="en-US" altLang="zh-CN" b="0" i="1" smtClean="0">
                        <a:latin typeface="Cambria Math" panose="02040503050406030204" pitchFamily="18" charset="0"/>
                      </a:rPr>
                      <m:t> </m:t>
                    </m:r>
                  </m:oMath>
                </a14:m>
                <a:r>
                  <a:rPr lang="zh-CN" altLang="en-US" dirty="0"/>
                  <a:t>                                                                              </a:t>
                </a:r>
                <a:r>
                  <a:rPr lang="en-US" altLang="zh-CN" dirty="0"/>
                  <a:t>(35)</a:t>
                </a:r>
                <a:endParaRPr lang="zh-CN" altLang="en-US" dirty="0"/>
              </a:p>
            </p:txBody>
          </p:sp>
        </mc:Choice>
        <mc:Fallback>
          <p:sp>
            <p:nvSpPr>
              <p:cNvPr id="3" name="内容占位符 2">
                <a:extLst>
                  <a:ext uri="{FF2B5EF4-FFF2-40B4-BE49-F238E27FC236}">
                    <a16:creationId xmlns:a16="http://schemas.microsoft.com/office/drawing/2014/main" id="{633F693B-A7FB-85CB-092F-DD2FE26FE852}"/>
                  </a:ext>
                </a:extLst>
              </p:cNvPr>
              <p:cNvSpPr>
                <a:spLocks noGrp="1" noRot="1" noChangeAspect="1" noMove="1" noResize="1" noEditPoints="1" noAdjustHandles="1" noChangeArrowheads="1" noChangeShapeType="1" noTextEdit="1"/>
              </p:cNvSpPr>
              <p:nvPr>
                <p:ph idx="1"/>
              </p:nvPr>
            </p:nvSpPr>
            <p:spPr>
              <a:blipFill>
                <a:blip r:embed="rId2"/>
                <a:stretch>
                  <a:fillRect l="-618" t="-19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FF196E47-5F3A-267D-9604-BFB4A75B7F0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1481A49-282C-A1D0-CA14-72747F7B8969}"/>
              </a:ext>
            </a:extLst>
          </p:cNvPr>
          <p:cNvSpPr>
            <a:spLocks noGrp="1"/>
          </p:cNvSpPr>
          <p:nvPr>
            <p:ph type="sldNum" sz="quarter" idx="12"/>
          </p:nvPr>
        </p:nvSpPr>
        <p:spPr/>
        <p:txBody>
          <a:bodyPr/>
          <a:lstStyle/>
          <a:p>
            <a:fld id="{D41FC515-8169-4A29-AA56-DBE520D5741B}" type="slidenum">
              <a:rPr lang="zh-CN" altLang="en-US" smtClean="0"/>
              <a:t>49</a:t>
            </a:fld>
            <a:endParaRPr lang="zh-CN" altLang="en-US"/>
          </a:p>
        </p:txBody>
      </p:sp>
    </p:spTree>
    <p:extLst>
      <p:ext uri="{BB962C8B-B14F-4D97-AF65-F5344CB8AC3E}">
        <p14:creationId xmlns:p14="http://schemas.microsoft.com/office/powerpoint/2010/main" val="7735456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825C9-21B4-81D2-3EF7-E08CB0132FB2}"/>
              </a:ext>
            </a:extLst>
          </p:cNvPr>
          <p:cNvSpPr>
            <a:spLocks noGrp="1"/>
          </p:cNvSpPr>
          <p:nvPr>
            <p:ph type="title"/>
          </p:nvPr>
        </p:nvSpPr>
        <p:spPr/>
        <p:txBody>
          <a:bodyPr/>
          <a:lstStyle/>
          <a:p>
            <a:r>
              <a:rPr lang="zh-CN" altLang="en-US" dirty="0"/>
              <a:t>弯折回归设计</a:t>
            </a:r>
          </a:p>
        </p:txBody>
      </p:sp>
      <p:sp>
        <p:nvSpPr>
          <p:cNvPr id="3" name="内容占位符 2">
            <a:extLst>
              <a:ext uri="{FF2B5EF4-FFF2-40B4-BE49-F238E27FC236}">
                <a16:creationId xmlns:a16="http://schemas.microsoft.com/office/drawing/2014/main" id="{AA080C2F-6E41-A1E1-46E1-56B034947280}"/>
              </a:ext>
            </a:extLst>
          </p:cNvPr>
          <p:cNvSpPr>
            <a:spLocks noGrp="1"/>
          </p:cNvSpPr>
          <p:nvPr>
            <p:ph idx="1"/>
          </p:nvPr>
        </p:nvSpPr>
        <p:spPr/>
        <p:txBody>
          <a:bodyPr/>
          <a:lstStyle/>
          <a:p>
            <a:r>
              <a:rPr lang="en-US" altLang="zh-CN" dirty="0"/>
              <a:t>Card et al. (2015) </a:t>
            </a:r>
            <a:r>
              <a:rPr lang="zh-CN" altLang="en-US" dirty="0"/>
              <a:t>失业保险对失业持续期的影响</a:t>
            </a:r>
            <a:endParaRPr lang="en-US" altLang="zh-CN" dirty="0"/>
          </a:p>
          <a:p>
            <a:r>
              <a:rPr lang="zh-CN" altLang="en-US" dirty="0"/>
              <a:t>美国密苏里州失业保险根据个人失业前</a:t>
            </a:r>
            <a:r>
              <a:rPr lang="en-US" altLang="zh-CN" dirty="0"/>
              <a:t>4 </a:t>
            </a:r>
            <a:r>
              <a:rPr lang="zh-CN" altLang="en-US" dirty="0"/>
              <a:t>个季度中最高收入的</a:t>
            </a:r>
            <a:r>
              <a:rPr lang="en-US" altLang="zh-CN" dirty="0"/>
              <a:t>4% </a:t>
            </a:r>
            <a:r>
              <a:rPr lang="zh-CN" altLang="en-US" dirty="0"/>
              <a:t>支付周保险金，</a:t>
            </a:r>
            <a:r>
              <a:rPr lang="en-US" altLang="zh-CN" dirty="0"/>
              <a:t>2007 </a:t>
            </a:r>
            <a:r>
              <a:rPr lang="zh-CN" altLang="en-US" dirty="0"/>
              <a:t>年前周收入最高为</a:t>
            </a:r>
            <a:r>
              <a:rPr lang="en-US" altLang="zh-CN" dirty="0"/>
              <a:t>$250</a:t>
            </a:r>
            <a:r>
              <a:rPr lang="zh-CN" altLang="en-US" dirty="0"/>
              <a:t>，</a:t>
            </a:r>
            <a:r>
              <a:rPr lang="en-US" altLang="zh-CN" dirty="0"/>
              <a:t>2008 </a:t>
            </a:r>
            <a:r>
              <a:rPr lang="zh-CN" altLang="en-US" dirty="0"/>
              <a:t>年后为</a:t>
            </a:r>
            <a:r>
              <a:rPr lang="en-US" altLang="zh-CN" dirty="0"/>
              <a:t>$320. </a:t>
            </a:r>
            <a:r>
              <a:rPr lang="zh-CN" altLang="en-US" dirty="0"/>
              <a:t>对应于季度最高收入分别为</a:t>
            </a:r>
            <a:r>
              <a:rPr lang="en-US" altLang="zh-CN" dirty="0"/>
              <a:t>$6250</a:t>
            </a:r>
            <a:r>
              <a:rPr lang="zh-CN" altLang="en-US" dirty="0"/>
              <a:t>，</a:t>
            </a:r>
            <a:r>
              <a:rPr lang="en-US" altLang="zh-CN" dirty="0"/>
              <a:t>$8000</a:t>
            </a:r>
            <a:r>
              <a:rPr lang="zh-CN" altLang="en-US" dirty="0"/>
              <a:t>。</a:t>
            </a:r>
          </a:p>
        </p:txBody>
      </p:sp>
      <p:sp>
        <p:nvSpPr>
          <p:cNvPr id="4" name="页脚占位符 3">
            <a:extLst>
              <a:ext uri="{FF2B5EF4-FFF2-40B4-BE49-F238E27FC236}">
                <a16:creationId xmlns:a16="http://schemas.microsoft.com/office/drawing/2014/main" id="{A581D8F5-98EB-3D44-1B6C-EEA3718EE93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BD9FCA3-BB4E-AF47-4EE3-6B0FD8A5F7AA}"/>
              </a:ext>
            </a:extLst>
          </p:cNvPr>
          <p:cNvSpPr>
            <a:spLocks noGrp="1"/>
          </p:cNvSpPr>
          <p:nvPr>
            <p:ph type="sldNum" sz="quarter" idx="12"/>
          </p:nvPr>
        </p:nvSpPr>
        <p:spPr/>
        <p:txBody>
          <a:bodyPr/>
          <a:lstStyle/>
          <a:p>
            <a:fld id="{D41FC515-8169-4A29-AA56-DBE520D5741B}" type="slidenum">
              <a:rPr lang="zh-CN" altLang="en-US" smtClean="0"/>
              <a:t>50</a:t>
            </a:fld>
            <a:endParaRPr lang="zh-CN" altLang="en-US"/>
          </a:p>
        </p:txBody>
      </p:sp>
    </p:spTree>
    <p:extLst>
      <p:ext uri="{BB962C8B-B14F-4D97-AF65-F5344CB8AC3E}">
        <p14:creationId xmlns:p14="http://schemas.microsoft.com/office/powerpoint/2010/main" val="99434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AC523F-0681-3C3F-BFF0-0DD2DDFB49A7}"/>
              </a:ext>
            </a:extLst>
          </p:cNvPr>
          <p:cNvSpPr>
            <a:spLocks noGrp="1"/>
          </p:cNvSpPr>
          <p:nvPr>
            <p:ph type="title"/>
          </p:nvPr>
        </p:nvSpPr>
        <p:spPr/>
        <p:txBody>
          <a:bodyPr/>
          <a:lstStyle/>
          <a:p>
            <a:r>
              <a:rPr lang="zh-CN" altLang="en-US" dirty="0"/>
              <a:t>弯折回归设计</a:t>
            </a:r>
          </a:p>
        </p:txBody>
      </p:sp>
      <p:sp>
        <p:nvSpPr>
          <p:cNvPr id="3" name="内容占位符 2">
            <a:extLst>
              <a:ext uri="{FF2B5EF4-FFF2-40B4-BE49-F238E27FC236}">
                <a16:creationId xmlns:a16="http://schemas.microsoft.com/office/drawing/2014/main" id="{1B7136DE-70E7-475E-CDB1-2A13B66AA7E0}"/>
              </a:ext>
            </a:extLst>
          </p:cNvPr>
          <p:cNvSpPr>
            <a:spLocks noGrp="1"/>
          </p:cNvSpPr>
          <p:nvPr>
            <p:ph idx="1"/>
          </p:nvPr>
        </p:nvSpPr>
        <p:spPr/>
        <p:txBody>
          <a:bodyPr>
            <a:normAutofit/>
          </a:bodyPr>
          <a:lstStyle/>
          <a:p>
            <a:r>
              <a:rPr lang="en-US" altLang="zh-CN" sz="2400" dirty="0"/>
              <a:t>Card et al. (2015) </a:t>
            </a:r>
            <a:r>
              <a:rPr lang="zh-CN" altLang="en-US" sz="2400" dirty="0"/>
              <a:t>失业保险对失业持续期的影响</a:t>
            </a:r>
          </a:p>
        </p:txBody>
      </p:sp>
      <p:sp>
        <p:nvSpPr>
          <p:cNvPr id="4" name="页脚占位符 3">
            <a:extLst>
              <a:ext uri="{FF2B5EF4-FFF2-40B4-BE49-F238E27FC236}">
                <a16:creationId xmlns:a16="http://schemas.microsoft.com/office/drawing/2014/main" id="{2ED50BB4-9449-84B8-4E75-A69F5091BCF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051418C-C835-9742-9F18-6DF6580247CB}"/>
              </a:ext>
            </a:extLst>
          </p:cNvPr>
          <p:cNvSpPr>
            <a:spLocks noGrp="1"/>
          </p:cNvSpPr>
          <p:nvPr>
            <p:ph type="sldNum" sz="quarter" idx="12"/>
          </p:nvPr>
        </p:nvSpPr>
        <p:spPr/>
        <p:txBody>
          <a:bodyPr/>
          <a:lstStyle/>
          <a:p>
            <a:fld id="{D41FC515-8169-4A29-AA56-DBE520D5741B}" type="slidenum">
              <a:rPr lang="zh-CN" altLang="en-US" smtClean="0"/>
              <a:t>51</a:t>
            </a:fld>
            <a:endParaRPr lang="zh-CN" altLang="en-US"/>
          </a:p>
        </p:txBody>
      </p:sp>
      <p:pic>
        <p:nvPicPr>
          <p:cNvPr id="7" name="图片 6">
            <a:extLst>
              <a:ext uri="{FF2B5EF4-FFF2-40B4-BE49-F238E27FC236}">
                <a16:creationId xmlns:a16="http://schemas.microsoft.com/office/drawing/2014/main" id="{A267748F-2A2F-2499-26DC-DBBE41D3BFB9}"/>
              </a:ext>
            </a:extLst>
          </p:cNvPr>
          <p:cNvPicPr>
            <a:picLocks noChangeAspect="1"/>
          </p:cNvPicPr>
          <p:nvPr/>
        </p:nvPicPr>
        <p:blipFill>
          <a:blip r:embed="rId2"/>
          <a:stretch>
            <a:fillRect/>
          </a:stretch>
        </p:blipFill>
        <p:spPr>
          <a:xfrm>
            <a:off x="579549" y="2408010"/>
            <a:ext cx="7984901" cy="3606085"/>
          </a:xfrm>
          <a:prstGeom prst="rect">
            <a:avLst/>
          </a:prstGeom>
        </p:spPr>
      </p:pic>
    </p:spTree>
    <p:extLst>
      <p:ext uri="{BB962C8B-B14F-4D97-AF65-F5344CB8AC3E}">
        <p14:creationId xmlns:p14="http://schemas.microsoft.com/office/powerpoint/2010/main" val="9999446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4A307D-3A3A-78E8-8525-047F785F9247}"/>
              </a:ext>
            </a:extLst>
          </p:cNvPr>
          <p:cNvSpPr>
            <a:spLocks noGrp="1"/>
          </p:cNvSpPr>
          <p:nvPr>
            <p:ph type="title"/>
          </p:nvPr>
        </p:nvSpPr>
        <p:spPr/>
        <p:txBody>
          <a:bodyPr/>
          <a:lstStyle/>
          <a:p>
            <a:r>
              <a:rPr lang="zh-CN" altLang="en-US" dirty="0"/>
              <a:t>弯折回归设计</a:t>
            </a:r>
          </a:p>
        </p:txBody>
      </p:sp>
      <p:sp>
        <p:nvSpPr>
          <p:cNvPr id="3" name="内容占位符 2">
            <a:extLst>
              <a:ext uri="{FF2B5EF4-FFF2-40B4-BE49-F238E27FC236}">
                <a16:creationId xmlns:a16="http://schemas.microsoft.com/office/drawing/2014/main" id="{EFB4A13A-2300-EB40-32EA-1F5A6EB691AB}"/>
              </a:ext>
            </a:extLst>
          </p:cNvPr>
          <p:cNvSpPr>
            <a:spLocks noGrp="1"/>
          </p:cNvSpPr>
          <p:nvPr>
            <p:ph idx="1"/>
          </p:nvPr>
        </p:nvSpPr>
        <p:spPr/>
        <p:txBody>
          <a:bodyPr>
            <a:normAutofit/>
          </a:bodyPr>
          <a:lstStyle/>
          <a:p>
            <a:r>
              <a:rPr lang="en-US" altLang="zh-CN" sz="2400" dirty="0"/>
              <a:t>Card et al. (2015) </a:t>
            </a:r>
            <a:r>
              <a:rPr lang="zh-CN" altLang="en-US" sz="2400" dirty="0"/>
              <a:t>失业保险对失业持续期的影响</a:t>
            </a:r>
          </a:p>
          <a:p>
            <a:endParaRPr lang="zh-CN" altLang="en-US" sz="2400" dirty="0"/>
          </a:p>
          <a:p>
            <a:endParaRPr lang="zh-CN" altLang="en-US" sz="2400" dirty="0"/>
          </a:p>
        </p:txBody>
      </p:sp>
      <p:sp>
        <p:nvSpPr>
          <p:cNvPr id="4" name="页脚占位符 3">
            <a:extLst>
              <a:ext uri="{FF2B5EF4-FFF2-40B4-BE49-F238E27FC236}">
                <a16:creationId xmlns:a16="http://schemas.microsoft.com/office/drawing/2014/main" id="{8EB83F89-15B6-9337-B2D3-242C7CD3F98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AED84C0-DAFB-EABD-5564-B75E462245B1}"/>
              </a:ext>
            </a:extLst>
          </p:cNvPr>
          <p:cNvSpPr>
            <a:spLocks noGrp="1"/>
          </p:cNvSpPr>
          <p:nvPr>
            <p:ph type="sldNum" sz="quarter" idx="12"/>
          </p:nvPr>
        </p:nvSpPr>
        <p:spPr/>
        <p:txBody>
          <a:bodyPr/>
          <a:lstStyle/>
          <a:p>
            <a:fld id="{D41FC515-8169-4A29-AA56-DBE520D5741B}" type="slidenum">
              <a:rPr lang="zh-CN" altLang="en-US" smtClean="0"/>
              <a:t>52</a:t>
            </a:fld>
            <a:endParaRPr lang="zh-CN" altLang="en-US"/>
          </a:p>
        </p:txBody>
      </p:sp>
      <p:pic>
        <p:nvPicPr>
          <p:cNvPr id="9" name="图片 8">
            <a:extLst>
              <a:ext uri="{FF2B5EF4-FFF2-40B4-BE49-F238E27FC236}">
                <a16:creationId xmlns:a16="http://schemas.microsoft.com/office/drawing/2014/main" id="{77964573-7FE2-7325-C230-DE2F0E98F368}"/>
              </a:ext>
            </a:extLst>
          </p:cNvPr>
          <p:cNvPicPr>
            <a:picLocks noChangeAspect="1"/>
          </p:cNvPicPr>
          <p:nvPr/>
        </p:nvPicPr>
        <p:blipFill>
          <a:blip r:embed="rId2"/>
          <a:stretch>
            <a:fillRect/>
          </a:stretch>
        </p:blipFill>
        <p:spPr>
          <a:xfrm>
            <a:off x="628650" y="2432243"/>
            <a:ext cx="7881870" cy="3509493"/>
          </a:xfrm>
          <a:prstGeom prst="rect">
            <a:avLst/>
          </a:prstGeom>
        </p:spPr>
      </p:pic>
    </p:spTree>
    <p:extLst>
      <p:ext uri="{BB962C8B-B14F-4D97-AF65-F5344CB8AC3E}">
        <p14:creationId xmlns:p14="http://schemas.microsoft.com/office/powerpoint/2010/main" val="38373633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B5118-D606-6F34-A859-91A22097E225}"/>
              </a:ext>
            </a:extLst>
          </p:cNvPr>
          <p:cNvSpPr>
            <a:spLocks noGrp="1"/>
          </p:cNvSpPr>
          <p:nvPr>
            <p:ph type="title"/>
          </p:nvPr>
        </p:nvSpPr>
        <p:spPr/>
        <p:txBody>
          <a:bodyPr/>
          <a:lstStyle/>
          <a:p>
            <a:r>
              <a:rPr lang="zh-CN" altLang="en-US" dirty="0"/>
              <a:t>弯折回归设计</a:t>
            </a:r>
          </a:p>
        </p:txBody>
      </p:sp>
      <p:sp>
        <p:nvSpPr>
          <p:cNvPr id="3" name="内容占位符 2">
            <a:extLst>
              <a:ext uri="{FF2B5EF4-FFF2-40B4-BE49-F238E27FC236}">
                <a16:creationId xmlns:a16="http://schemas.microsoft.com/office/drawing/2014/main" id="{95EBFD65-0BB8-F8CE-50A0-702A71FC0832}"/>
              </a:ext>
            </a:extLst>
          </p:cNvPr>
          <p:cNvSpPr>
            <a:spLocks noGrp="1"/>
          </p:cNvSpPr>
          <p:nvPr>
            <p:ph idx="1"/>
          </p:nvPr>
        </p:nvSpPr>
        <p:spPr/>
        <p:txBody>
          <a:bodyPr>
            <a:normAutofit/>
          </a:bodyPr>
          <a:lstStyle/>
          <a:p>
            <a:r>
              <a:rPr lang="en-US" altLang="zh-CN" sz="2400" dirty="0"/>
              <a:t>Card et al. (2015) </a:t>
            </a:r>
            <a:r>
              <a:rPr lang="zh-CN" altLang="en-US" sz="2400" dirty="0"/>
              <a:t>失业保险对失业持续期的影响</a:t>
            </a:r>
          </a:p>
          <a:p>
            <a:endParaRPr lang="zh-CN" altLang="en-US" sz="2400" dirty="0"/>
          </a:p>
          <a:p>
            <a:endParaRPr lang="zh-CN" altLang="en-US" sz="2400" dirty="0"/>
          </a:p>
        </p:txBody>
      </p:sp>
      <p:sp>
        <p:nvSpPr>
          <p:cNvPr id="4" name="页脚占位符 3">
            <a:extLst>
              <a:ext uri="{FF2B5EF4-FFF2-40B4-BE49-F238E27FC236}">
                <a16:creationId xmlns:a16="http://schemas.microsoft.com/office/drawing/2014/main" id="{A8563FA9-C039-A91A-B6E6-AD6862B78DB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02EC131-3A2A-4E38-5A46-7B675AFB56EC}"/>
              </a:ext>
            </a:extLst>
          </p:cNvPr>
          <p:cNvSpPr>
            <a:spLocks noGrp="1"/>
          </p:cNvSpPr>
          <p:nvPr>
            <p:ph type="sldNum" sz="quarter" idx="12"/>
          </p:nvPr>
        </p:nvSpPr>
        <p:spPr/>
        <p:txBody>
          <a:bodyPr/>
          <a:lstStyle/>
          <a:p>
            <a:fld id="{D41FC515-8169-4A29-AA56-DBE520D5741B}" type="slidenum">
              <a:rPr lang="zh-CN" altLang="en-US" smtClean="0"/>
              <a:t>53</a:t>
            </a:fld>
            <a:endParaRPr lang="zh-CN" altLang="en-US"/>
          </a:p>
        </p:txBody>
      </p:sp>
      <p:pic>
        <p:nvPicPr>
          <p:cNvPr id="7" name="图片 6">
            <a:extLst>
              <a:ext uri="{FF2B5EF4-FFF2-40B4-BE49-F238E27FC236}">
                <a16:creationId xmlns:a16="http://schemas.microsoft.com/office/drawing/2014/main" id="{B16838EE-397A-2ED2-7E9B-5F14E04BB6F9}"/>
              </a:ext>
            </a:extLst>
          </p:cNvPr>
          <p:cNvPicPr>
            <a:picLocks noChangeAspect="1"/>
          </p:cNvPicPr>
          <p:nvPr/>
        </p:nvPicPr>
        <p:blipFill>
          <a:blip r:embed="rId2"/>
          <a:stretch>
            <a:fillRect/>
          </a:stretch>
        </p:blipFill>
        <p:spPr>
          <a:xfrm>
            <a:off x="628650" y="2414449"/>
            <a:ext cx="7933386" cy="3593206"/>
          </a:xfrm>
          <a:prstGeom prst="rect">
            <a:avLst/>
          </a:prstGeom>
        </p:spPr>
      </p:pic>
    </p:spTree>
    <p:extLst>
      <p:ext uri="{BB962C8B-B14F-4D97-AF65-F5344CB8AC3E}">
        <p14:creationId xmlns:p14="http://schemas.microsoft.com/office/powerpoint/2010/main" val="1899123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950A0B-DDAF-8A06-E505-1E850949DB74}"/>
              </a:ext>
            </a:extLst>
          </p:cNvPr>
          <p:cNvSpPr>
            <a:spLocks noGrp="1"/>
          </p:cNvSpPr>
          <p:nvPr>
            <p:ph type="title"/>
          </p:nvPr>
        </p:nvSpPr>
        <p:spPr/>
        <p:txBody>
          <a:bodyPr/>
          <a:lstStyle/>
          <a:p>
            <a:r>
              <a:rPr lang="zh-CN" altLang="en-US" dirty="0"/>
              <a:t>总结</a:t>
            </a:r>
          </a:p>
        </p:txBody>
      </p:sp>
      <p:sp>
        <p:nvSpPr>
          <p:cNvPr id="3" name="内容占位符 2">
            <a:extLst>
              <a:ext uri="{FF2B5EF4-FFF2-40B4-BE49-F238E27FC236}">
                <a16:creationId xmlns:a16="http://schemas.microsoft.com/office/drawing/2014/main" id="{71912D4C-0323-B44D-300F-8D6968E4EF93}"/>
              </a:ext>
            </a:extLst>
          </p:cNvPr>
          <p:cNvSpPr>
            <a:spLocks noGrp="1"/>
          </p:cNvSpPr>
          <p:nvPr>
            <p:ph idx="1"/>
          </p:nvPr>
        </p:nvSpPr>
        <p:spPr/>
        <p:txBody>
          <a:bodyPr/>
          <a:lstStyle/>
          <a:p>
            <a:r>
              <a:rPr lang="zh-CN" altLang="en-US" dirty="0"/>
              <a:t>断点回归设计是最接近于随机化实验的一种设计，具有很强的内部有效性，存在外推困难</a:t>
            </a:r>
            <a:endParaRPr lang="en-US" altLang="zh-CN" dirty="0"/>
          </a:p>
          <a:p>
            <a:r>
              <a:rPr lang="zh-CN" altLang="en-US" dirty="0"/>
              <a:t>弯折回归设计可以看作导数上的断点回归设计</a:t>
            </a:r>
          </a:p>
        </p:txBody>
      </p:sp>
      <p:sp>
        <p:nvSpPr>
          <p:cNvPr id="4" name="页脚占位符 3">
            <a:extLst>
              <a:ext uri="{FF2B5EF4-FFF2-40B4-BE49-F238E27FC236}">
                <a16:creationId xmlns:a16="http://schemas.microsoft.com/office/drawing/2014/main" id="{ADB83D3F-8472-9A43-0EC0-1812A3BE359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5BC3387-4B22-5403-B492-81409BE955AD}"/>
              </a:ext>
            </a:extLst>
          </p:cNvPr>
          <p:cNvSpPr>
            <a:spLocks noGrp="1"/>
          </p:cNvSpPr>
          <p:nvPr>
            <p:ph type="sldNum" sz="quarter" idx="12"/>
          </p:nvPr>
        </p:nvSpPr>
        <p:spPr/>
        <p:txBody>
          <a:bodyPr/>
          <a:lstStyle/>
          <a:p>
            <a:fld id="{D41FC515-8169-4A29-AA56-DBE520D5741B}" type="slidenum">
              <a:rPr lang="zh-CN" altLang="en-US" smtClean="0"/>
              <a:t>54</a:t>
            </a:fld>
            <a:endParaRPr lang="zh-CN" altLang="en-US"/>
          </a:p>
        </p:txBody>
      </p:sp>
    </p:spTree>
    <p:extLst>
      <p:ext uri="{BB962C8B-B14F-4D97-AF65-F5344CB8AC3E}">
        <p14:creationId xmlns:p14="http://schemas.microsoft.com/office/powerpoint/2010/main" val="24917252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330FB2-7F41-09FD-8142-F3F9FC89B862}"/>
              </a:ext>
            </a:extLst>
          </p:cNvPr>
          <p:cNvSpPr>
            <a:spLocks noGrp="1"/>
          </p:cNvSpPr>
          <p:nvPr>
            <p:ph type="title"/>
          </p:nvPr>
        </p:nvSpPr>
        <p:spPr/>
        <p:txBody>
          <a:bodyPr/>
          <a:lstStyle/>
          <a:p>
            <a:r>
              <a:rPr lang="zh-CN" altLang="en-US" dirty="0"/>
              <a:t>参考文献</a:t>
            </a:r>
          </a:p>
        </p:txBody>
      </p:sp>
      <p:sp>
        <p:nvSpPr>
          <p:cNvPr id="3" name="内容占位符 2">
            <a:extLst>
              <a:ext uri="{FF2B5EF4-FFF2-40B4-BE49-F238E27FC236}">
                <a16:creationId xmlns:a16="http://schemas.microsoft.com/office/drawing/2014/main" id="{98E68A02-AC50-7E5E-CC2C-C5DDC12C7F9D}"/>
              </a:ext>
            </a:extLst>
          </p:cNvPr>
          <p:cNvSpPr>
            <a:spLocks noGrp="1"/>
          </p:cNvSpPr>
          <p:nvPr>
            <p:ph idx="1"/>
          </p:nvPr>
        </p:nvSpPr>
        <p:spPr/>
        <p:txBody>
          <a:bodyPr>
            <a:normAutofit fontScale="55000" lnSpcReduction="20000"/>
          </a:bodyPr>
          <a:lstStyle/>
          <a:p>
            <a:r>
              <a:rPr lang="en-US" altLang="zh-CN" b="1" dirty="0"/>
              <a:t>Black, Sandra E</a:t>
            </a:r>
            <a:r>
              <a:rPr lang="en-US" altLang="zh-CN" dirty="0"/>
              <a:t>, “Do better schools matter? Parental valuation of elementary education,” </a:t>
            </a:r>
            <a:r>
              <a:rPr lang="en-US" altLang="zh-CN" i="1" dirty="0"/>
              <a:t>The quarterly journal of economics</a:t>
            </a:r>
            <a:r>
              <a:rPr lang="en-US" altLang="zh-CN" dirty="0"/>
              <a:t>, 1999, </a:t>
            </a:r>
            <a:r>
              <a:rPr lang="en-US" altLang="zh-CN" i="1" dirty="0"/>
              <a:t>114 </a:t>
            </a:r>
            <a:r>
              <a:rPr lang="en-US" altLang="zh-CN" dirty="0"/>
              <a:t>(2), 577–599.</a:t>
            </a:r>
          </a:p>
          <a:p>
            <a:r>
              <a:rPr lang="en-US" altLang="zh-CN" b="1" dirty="0"/>
              <a:t>Card, David, David S. Lee, Zhuan Pei, and Andrea Weber</a:t>
            </a:r>
            <a:r>
              <a:rPr lang="en-US" altLang="zh-CN" dirty="0"/>
              <a:t>, “Inference on causal effects in a generalized regression kink design,” </a:t>
            </a:r>
            <a:r>
              <a:rPr lang="en-US" altLang="zh-CN" i="1" dirty="0" err="1"/>
              <a:t>Econometrica</a:t>
            </a:r>
            <a:r>
              <a:rPr lang="en-US" altLang="zh-CN" dirty="0"/>
              <a:t>, 2015, </a:t>
            </a:r>
            <a:r>
              <a:rPr lang="en-US" altLang="zh-CN" i="1" dirty="0"/>
              <a:t>83 </a:t>
            </a:r>
            <a:r>
              <a:rPr lang="en-US" altLang="zh-CN" dirty="0"/>
              <a:t>(6), 2453–2483.</a:t>
            </a:r>
          </a:p>
          <a:p>
            <a:r>
              <a:rPr lang="en-US" altLang="zh-CN" b="1" dirty="0"/>
              <a:t>—, —, —, and </a:t>
            </a:r>
            <a:r>
              <a:rPr lang="en-US" altLang="zh-CN" dirty="0"/>
              <a:t>, “Regression Kink Design: Theory and Practice,” Working Paper 22781, National Bureau of Economic Research 2016.</a:t>
            </a:r>
          </a:p>
          <a:p>
            <a:r>
              <a:rPr lang="en-US" altLang="zh-CN" b="1" dirty="0"/>
              <a:t>Cattaneo, Matias D, Nicolás Idrobo, and Rocío </a:t>
            </a:r>
            <a:r>
              <a:rPr lang="en-US" altLang="zh-CN" b="1" dirty="0" err="1"/>
              <a:t>Titiunik</a:t>
            </a:r>
            <a:r>
              <a:rPr lang="en-US" altLang="zh-CN" dirty="0"/>
              <a:t>, </a:t>
            </a:r>
            <a:r>
              <a:rPr lang="en-US" altLang="zh-CN" i="1" dirty="0"/>
              <a:t>A practical  introduction to regression discontinuity designs: Foundations</a:t>
            </a:r>
            <a:r>
              <a:rPr lang="en-US" altLang="zh-CN" dirty="0"/>
              <a:t>, Cambridge University Press, 2019.</a:t>
            </a:r>
          </a:p>
          <a:p>
            <a:r>
              <a:rPr lang="en-US" altLang="zh-CN" b="1" dirty="0"/>
              <a:t>—, —, and </a:t>
            </a:r>
            <a:r>
              <a:rPr lang="en-US" altLang="zh-CN" dirty="0"/>
              <a:t>, “A practical introduction to regression discontinuity designs: Extensions,” </a:t>
            </a:r>
            <a:r>
              <a:rPr lang="en-US" altLang="zh-CN" i="1" dirty="0" err="1"/>
              <a:t>arXiv</a:t>
            </a:r>
            <a:r>
              <a:rPr lang="en-US" altLang="zh-CN" i="1" dirty="0"/>
              <a:t> preprint arXiv:2301.08958</a:t>
            </a:r>
            <a:r>
              <a:rPr lang="en-US" altLang="zh-CN" dirty="0"/>
              <a:t>, 2023.</a:t>
            </a:r>
          </a:p>
          <a:p>
            <a:r>
              <a:rPr lang="en-US" altLang="zh-CN" b="1" dirty="0"/>
              <a:t>Chan, Jimmy, Xian Fang, Zhi Wang, </a:t>
            </a:r>
            <a:r>
              <a:rPr lang="en-US" altLang="zh-CN" b="1" dirty="0" err="1"/>
              <a:t>Xianhua</a:t>
            </a:r>
            <a:r>
              <a:rPr lang="en-US" altLang="zh-CN" b="1" dirty="0"/>
              <a:t> Zai, and Qinghua Zhang</a:t>
            </a:r>
            <a:r>
              <a:rPr lang="en-US" altLang="zh-CN" dirty="0"/>
              <a:t>, “Valuing primary schools in urban China,” </a:t>
            </a:r>
            <a:r>
              <a:rPr lang="en-US" altLang="zh-CN" i="1" dirty="0"/>
              <a:t>Journal of Urban Economics</a:t>
            </a:r>
            <a:r>
              <a:rPr lang="en-US" altLang="zh-CN" dirty="0"/>
              <a:t>, 2020, </a:t>
            </a:r>
            <a:r>
              <a:rPr lang="en-US" altLang="zh-CN" i="1" dirty="0"/>
              <a:t>115</a:t>
            </a:r>
            <a:r>
              <a:rPr lang="en-US" altLang="zh-CN" dirty="0"/>
              <a:t>, 03183.</a:t>
            </a:r>
          </a:p>
          <a:p>
            <a:r>
              <a:rPr lang="en-US" altLang="zh-CN" b="1" dirty="0"/>
              <a:t>Chen, Yu, </a:t>
            </a:r>
            <a:r>
              <a:rPr lang="en-US" altLang="zh-CN" b="1" dirty="0" err="1"/>
              <a:t>Shaobin</a:t>
            </a:r>
            <a:r>
              <a:rPr lang="en-US" altLang="zh-CN" b="1" dirty="0"/>
              <a:t> Shi, and </a:t>
            </a:r>
            <a:r>
              <a:rPr lang="en-US" altLang="zh-CN" b="1" dirty="0" err="1"/>
              <a:t>Yugang</a:t>
            </a:r>
            <a:r>
              <a:rPr lang="en-US" altLang="zh-CN" b="1" dirty="0"/>
              <a:t> Tang</a:t>
            </a:r>
            <a:r>
              <a:rPr lang="en-US" altLang="zh-CN" dirty="0"/>
              <a:t>, “Valuing the urban hukou in China: Evidence from a regression discontinuity design for housing prices,” </a:t>
            </a:r>
            <a:r>
              <a:rPr lang="en-US" altLang="zh-CN" i="1" dirty="0"/>
              <a:t>Journal of Development Economics</a:t>
            </a:r>
            <a:r>
              <a:rPr lang="en-US" altLang="zh-CN" dirty="0"/>
              <a:t>, 2019, </a:t>
            </a:r>
            <a:r>
              <a:rPr lang="en-US" altLang="zh-CN" i="1" dirty="0"/>
              <a:t>141</a:t>
            </a:r>
            <a:r>
              <a:rPr lang="en-US" altLang="zh-CN" dirty="0"/>
              <a:t>, 102381.</a:t>
            </a:r>
          </a:p>
          <a:p>
            <a:r>
              <a:rPr lang="en-US" altLang="zh-CN" b="1" dirty="0"/>
              <a:t>Chen, Yuyu, Avraham Ebenstein, Michael Greenstone, and Hongbin Li</a:t>
            </a:r>
            <a:r>
              <a:rPr lang="en-US" altLang="zh-CN" dirty="0"/>
              <a:t>, “Evidence on the impact of sustained exposure to air pollution on life expectancy from China’s Huai River policy,” </a:t>
            </a:r>
            <a:r>
              <a:rPr lang="en-US" altLang="zh-CN" i="1" dirty="0"/>
              <a:t>Proceedings of the National Academy of </a:t>
            </a:r>
            <a:r>
              <a:rPr lang="fr-FR" altLang="zh-CN" i="1" dirty="0"/>
              <a:t>Sciences</a:t>
            </a:r>
            <a:r>
              <a:rPr lang="fr-FR" altLang="zh-CN" dirty="0"/>
              <a:t>, 2013, </a:t>
            </a:r>
            <a:r>
              <a:rPr lang="fr-FR" altLang="zh-CN" i="1" dirty="0"/>
              <a:t>110 </a:t>
            </a:r>
            <a:r>
              <a:rPr lang="fr-FR" altLang="zh-CN" dirty="0"/>
              <a:t>(32), 12936–12941.</a:t>
            </a:r>
            <a:endParaRPr lang="zh-CN" altLang="en-US" dirty="0"/>
          </a:p>
        </p:txBody>
      </p:sp>
      <p:sp>
        <p:nvSpPr>
          <p:cNvPr id="4" name="页脚占位符 3">
            <a:extLst>
              <a:ext uri="{FF2B5EF4-FFF2-40B4-BE49-F238E27FC236}">
                <a16:creationId xmlns:a16="http://schemas.microsoft.com/office/drawing/2014/main" id="{D8E06906-D169-4F66-DBD9-341010EBA51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78D458C-DB6F-DF3B-6EE7-007666FFA016}"/>
              </a:ext>
            </a:extLst>
          </p:cNvPr>
          <p:cNvSpPr>
            <a:spLocks noGrp="1"/>
          </p:cNvSpPr>
          <p:nvPr>
            <p:ph type="sldNum" sz="quarter" idx="12"/>
          </p:nvPr>
        </p:nvSpPr>
        <p:spPr/>
        <p:txBody>
          <a:bodyPr/>
          <a:lstStyle/>
          <a:p>
            <a:fld id="{D41FC515-8169-4A29-AA56-DBE520D5741B}" type="slidenum">
              <a:rPr lang="zh-CN" altLang="en-US" smtClean="0"/>
              <a:t>55</a:t>
            </a:fld>
            <a:endParaRPr lang="zh-CN" altLang="en-US"/>
          </a:p>
        </p:txBody>
      </p:sp>
    </p:spTree>
    <p:extLst>
      <p:ext uri="{BB962C8B-B14F-4D97-AF65-F5344CB8AC3E}">
        <p14:creationId xmlns:p14="http://schemas.microsoft.com/office/powerpoint/2010/main" val="25951506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B24D521-49B5-9237-64C2-3FA3F5F3AAB8}"/>
              </a:ext>
            </a:extLst>
          </p:cNvPr>
          <p:cNvSpPr>
            <a:spLocks noGrp="1"/>
          </p:cNvSpPr>
          <p:nvPr>
            <p:ph idx="1"/>
          </p:nvPr>
        </p:nvSpPr>
        <p:spPr/>
        <p:txBody>
          <a:bodyPr>
            <a:normAutofit fontScale="55000" lnSpcReduction="20000"/>
          </a:bodyPr>
          <a:lstStyle/>
          <a:p>
            <a:r>
              <a:rPr lang="en-US" altLang="zh-CN" b="1" dirty="0"/>
              <a:t>Gelman, Andrew and Guido </a:t>
            </a:r>
            <a:r>
              <a:rPr lang="en-US" altLang="zh-CN" b="1" dirty="0" err="1"/>
              <a:t>Imbens</a:t>
            </a:r>
            <a:r>
              <a:rPr lang="en-US" altLang="zh-CN" dirty="0"/>
              <a:t>, “Why high-order polynomials should not be used in regression discontinuity designs,” </a:t>
            </a:r>
            <a:r>
              <a:rPr lang="en-US" altLang="zh-CN" i="1" dirty="0"/>
              <a:t>Journal of Business &amp; Economic Statistics</a:t>
            </a:r>
            <a:r>
              <a:rPr lang="en-US" altLang="zh-CN" dirty="0"/>
              <a:t>, 2019, </a:t>
            </a:r>
            <a:r>
              <a:rPr lang="en-US" altLang="zh-CN" i="1" dirty="0"/>
              <a:t>37 </a:t>
            </a:r>
            <a:r>
              <a:rPr lang="en-US" altLang="zh-CN" dirty="0"/>
              <a:t>(3), 447–456.</a:t>
            </a:r>
          </a:p>
          <a:p>
            <a:r>
              <a:rPr lang="en-US" altLang="zh-CN" b="1" dirty="0"/>
              <a:t>Hahn, </a:t>
            </a:r>
            <a:r>
              <a:rPr lang="en-US" altLang="zh-CN" b="1" dirty="0" err="1"/>
              <a:t>Jinyong</a:t>
            </a:r>
            <a:r>
              <a:rPr lang="en-US" altLang="zh-CN" b="1" dirty="0"/>
              <a:t>, Petra Todd, and Wilbert van der </a:t>
            </a:r>
            <a:r>
              <a:rPr lang="en-US" altLang="zh-CN" b="1" dirty="0" err="1"/>
              <a:t>Kllaauw</a:t>
            </a:r>
            <a:r>
              <a:rPr lang="en-US" altLang="zh-CN" dirty="0"/>
              <a:t>, “Identification and estimation of treatment effects with a regression discontinuity design,” </a:t>
            </a:r>
            <a:r>
              <a:rPr lang="it-IT" altLang="zh-CN" i="1" dirty="0"/>
              <a:t>Econometrica</a:t>
            </a:r>
            <a:r>
              <a:rPr lang="it-IT" altLang="zh-CN" dirty="0"/>
              <a:t>, 2001, </a:t>
            </a:r>
            <a:r>
              <a:rPr lang="it-IT" altLang="zh-CN" i="1" dirty="0"/>
              <a:t>69 </a:t>
            </a:r>
            <a:r>
              <a:rPr lang="it-IT" altLang="zh-CN" dirty="0"/>
              <a:t>(1), 201–209.</a:t>
            </a:r>
          </a:p>
          <a:p>
            <a:r>
              <a:rPr lang="en-US" altLang="zh-CN" b="1" dirty="0"/>
              <a:t>He, </a:t>
            </a:r>
            <a:r>
              <a:rPr lang="en-US" altLang="zh-CN" b="1" dirty="0" err="1"/>
              <a:t>Guojun</a:t>
            </a:r>
            <a:r>
              <a:rPr lang="en-US" altLang="zh-CN" b="1" dirty="0"/>
              <a:t>, </a:t>
            </a:r>
            <a:r>
              <a:rPr lang="en-US" altLang="zh-CN" b="1" dirty="0" err="1"/>
              <a:t>Shaoda</a:t>
            </a:r>
            <a:r>
              <a:rPr lang="en-US" altLang="zh-CN" b="1" dirty="0"/>
              <a:t> Wang, and Bing Zhang</a:t>
            </a:r>
            <a:r>
              <a:rPr lang="en-US" altLang="zh-CN" dirty="0"/>
              <a:t>, “Watering down environmental regulation in China,” </a:t>
            </a:r>
            <a:r>
              <a:rPr lang="en-US" altLang="zh-CN" i="1" dirty="0"/>
              <a:t>The Quarterly Journal of Economics</a:t>
            </a:r>
            <a:r>
              <a:rPr lang="en-US" altLang="zh-CN" dirty="0"/>
              <a:t>, 2020, </a:t>
            </a:r>
            <a:r>
              <a:rPr lang="en-US" altLang="zh-CN" i="1" dirty="0"/>
              <a:t>135 </a:t>
            </a:r>
            <a:r>
              <a:rPr lang="en-US" altLang="zh-CN" dirty="0"/>
              <a:t>(4), 2135–2185.</a:t>
            </a:r>
          </a:p>
          <a:p>
            <a:r>
              <a:rPr lang="en-US" altLang="zh-CN" b="1" dirty="0" err="1"/>
              <a:t>Imbens</a:t>
            </a:r>
            <a:r>
              <a:rPr lang="en-US" altLang="zh-CN" b="1" dirty="0"/>
              <a:t>, Guido W. and Thomas Lemieux</a:t>
            </a:r>
            <a:r>
              <a:rPr lang="en-US" altLang="zh-CN" dirty="0"/>
              <a:t>, “Regression discontinuity designs: A guide to practice,” </a:t>
            </a:r>
            <a:r>
              <a:rPr lang="en-US" altLang="zh-CN" i="1" dirty="0"/>
              <a:t>Journal of Econometrics</a:t>
            </a:r>
            <a:r>
              <a:rPr lang="en-US" altLang="zh-CN" dirty="0"/>
              <a:t>, 2008, </a:t>
            </a:r>
            <a:r>
              <a:rPr lang="en-US" altLang="zh-CN" i="1" dirty="0"/>
              <a:t>142 </a:t>
            </a:r>
            <a:r>
              <a:rPr lang="en-US" altLang="zh-CN" dirty="0"/>
              <a:t>(2), 615–635.</a:t>
            </a:r>
          </a:p>
          <a:p>
            <a:r>
              <a:rPr lang="en-US" altLang="zh-CN" b="1" dirty="0"/>
              <a:t>Lee, David S. and Thomas Lemieux</a:t>
            </a:r>
            <a:r>
              <a:rPr lang="en-US" altLang="zh-CN" dirty="0"/>
              <a:t>, “Regression </a:t>
            </a:r>
            <a:r>
              <a:rPr lang="en-US" altLang="zh-CN" dirty="0" err="1"/>
              <a:t>Discountinuity</a:t>
            </a:r>
            <a:r>
              <a:rPr lang="en-US" altLang="zh-CN" dirty="0"/>
              <a:t> Designs in </a:t>
            </a:r>
            <a:r>
              <a:rPr lang="en-US" altLang="zh-CN" dirty="0" err="1"/>
              <a:t>Eonomics</a:t>
            </a:r>
            <a:r>
              <a:rPr lang="en-US" altLang="zh-CN" dirty="0"/>
              <a:t>,” </a:t>
            </a:r>
            <a:r>
              <a:rPr lang="en-US" altLang="zh-CN" i="1" dirty="0"/>
              <a:t>Journal of Economic Literature</a:t>
            </a:r>
            <a:r>
              <a:rPr lang="en-US" altLang="zh-CN" dirty="0"/>
              <a:t>, 2010, </a:t>
            </a:r>
            <a:r>
              <a:rPr lang="en-US" altLang="zh-CN" i="1" dirty="0"/>
              <a:t>48 </a:t>
            </a:r>
            <a:r>
              <a:rPr lang="en-US" altLang="zh-CN" dirty="0"/>
              <a:t>(2), 281–355.</a:t>
            </a:r>
          </a:p>
          <a:p>
            <a:r>
              <a:rPr lang="en-US" altLang="zh-CN" b="1" dirty="0"/>
              <a:t>Skovron, Christopher and Rocio </a:t>
            </a:r>
            <a:r>
              <a:rPr lang="en-US" altLang="zh-CN" b="1" dirty="0" err="1"/>
              <a:t>Titiunik</a:t>
            </a:r>
            <a:r>
              <a:rPr lang="en-US" altLang="zh-CN" dirty="0"/>
              <a:t>, “A practice guide to regression discontinuity designs in political science,” Working paper, University of Michigan 2015.</a:t>
            </a:r>
          </a:p>
          <a:p>
            <a:r>
              <a:rPr lang="en-US" altLang="zh-CN" b="1" dirty="0"/>
              <a:t>Thistlethwaite, Donald L. and Donald T. </a:t>
            </a:r>
            <a:r>
              <a:rPr lang="en-US" altLang="zh-CN" b="1" dirty="0" err="1"/>
              <a:t>Compbell</a:t>
            </a:r>
            <a:r>
              <a:rPr lang="en-US" altLang="zh-CN" dirty="0"/>
              <a:t>, “Regression-Discontinuity Analysis: An Alternative to the Ex Post Facto Experiment,” </a:t>
            </a:r>
            <a:r>
              <a:rPr lang="en-US" altLang="zh-CN" i="1" dirty="0"/>
              <a:t>Journal of Educational Psychology</a:t>
            </a:r>
            <a:r>
              <a:rPr lang="en-US" altLang="zh-CN" dirty="0"/>
              <a:t>, 1960, </a:t>
            </a:r>
            <a:r>
              <a:rPr lang="en-US" altLang="zh-CN" i="1" dirty="0"/>
              <a:t>51 </a:t>
            </a:r>
            <a:r>
              <a:rPr lang="en-US" altLang="zh-CN" dirty="0"/>
              <a:t>(6), 309–317.</a:t>
            </a:r>
            <a:endParaRPr lang="zh-CN" altLang="en-US" dirty="0"/>
          </a:p>
        </p:txBody>
      </p:sp>
      <p:sp>
        <p:nvSpPr>
          <p:cNvPr id="4" name="页脚占位符 3">
            <a:extLst>
              <a:ext uri="{FF2B5EF4-FFF2-40B4-BE49-F238E27FC236}">
                <a16:creationId xmlns:a16="http://schemas.microsoft.com/office/drawing/2014/main" id="{9DEC2C2C-B19F-31DE-07B4-CAD127A39EA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E33E6F7-5CD6-DC9B-942B-AEE8BF63FC9A}"/>
              </a:ext>
            </a:extLst>
          </p:cNvPr>
          <p:cNvSpPr>
            <a:spLocks noGrp="1"/>
          </p:cNvSpPr>
          <p:nvPr>
            <p:ph type="sldNum" sz="quarter" idx="12"/>
          </p:nvPr>
        </p:nvSpPr>
        <p:spPr/>
        <p:txBody>
          <a:bodyPr/>
          <a:lstStyle/>
          <a:p>
            <a:fld id="{D41FC515-8169-4A29-AA56-DBE520D5741B}" type="slidenum">
              <a:rPr lang="zh-CN" altLang="en-US" smtClean="0"/>
              <a:t>56</a:t>
            </a:fld>
            <a:endParaRPr lang="zh-CN" altLang="en-US"/>
          </a:p>
        </p:txBody>
      </p:sp>
      <p:sp>
        <p:nvSpPr>
          <p:cNvPr id="6" name="标题 1">
            <a:extLst>
              <a:ext uri="{FF2B5EF4-FFF2-40B4-BE49-F238E27FC236}">
                <a16:creationId xmlns:a16="http://schemas.microsoft.com/office/drawing/2014/main" id="{3164CE00-2364-4BF9-49B9-2099968A40EA}"/>
              </a:ext>
            </a:extLst>
          </p:cNvPr>
          <p:cNvSpPr>
            <a:spLocks noGrp="1"/>
          </p:cNvSpPr>
          <p:nvPr>
            <p:ph type="title"/>
          </p:nvPr>
        </p:nvSpPr>
        <p:spPr>
          <a:xfrm>
            <a:off x="628650" y="365126"/>
            <a:ext cx="7886700" cy="1325563"/>
          </a:xfrm>
        </p:spPr>
        <p:txBody>
          <a:bodyPr/>
          <a:lstStyle/>
          <a:p>
            <a:r>
              <a:rPr lang="zh-CN" altLang="en-US" dirty="0"/>
              <a:t>参考文献</a:t>
            </a:r>
          </a:p>
        </p:txBody>
      </p:sp>
    </p:spTree>
    <p:extLst>
      <p:ext uri="{BB962C8B-B14F-4D97-AF65-F5344CB8AC3E}">
        <p14:creationId xmlns:p14="http://schemas.microsoft.com/office/powerpoint/2010/main" val="421794940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Times New Roman"/>
        <a:ea typeface="思源宋体 Heavy"/>
        <a:cs typeface=""/>
      </a:majorFont>
      <a:minorFont>
        <a:latin typeface="Times New Roman"/>
        <a:ea typeface="思源宋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1316</TotalTime>
  <Words>5193</Words>
  <Application>Microsoft Office PowerPoint</Application>
  <PresentationFormat>全屏显示(4:3)</PresentationFormat>
  <Paragraphs>388</Paragraphs>
  <Slides>56</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56</vt:i4>
      </vt:variant>
    </vt:vector>
  </HeadingPairs>
  <TitlesOfParts>
    <vt:vector size="61" baseType="lpstr">
      <vt:lpstr>等线</vt:lpstr>
      <vt:lpstr>Arial</vt:lpstr>
      <vt:lpstr>Cambria Math</vt:lpstr>
      <vt:lpstr>Times New Roman</vt:lpstr>
      <vt:lpstr>Office 主题​​</vt:lpstr>
      <vt:lpstr>断点回归设计</vt:lpstr>
      <vt:lpstr>目录</vt:lpstr>
      <vt:lpstr>断点回归设计</vt:lpstr>
      <vt:lpstr>断点回归设计</vt:lpstr>
      <vt:lpstr>断点回归设计</vt:lpstr>
      <vt:lpstr>断点回归设计 精确断点回归设计</vt:lpstr>
      <vt:lpstr>断点回归设计 精确断点回归设计</vt:lpstr>
      <vt:lpstr>断点回归设计 精确断点回归设计</vt:lpstr>
      <vt:lpstr>断点回归设计 精确断点回归设计</vt:lpstr>
      <vt:lpstr>断点回归设计</vt:lpstr>
      <vt:lpstr>断点回归设计 模糊断点回归设计</vt:lpstr>
      <vt:lpstr>断点回归设计</vt:lpstr>
      <vt:lpstr>断点回归设计</vt:lpstr>
      <vt:lpstr>断点回归设计的图形分析 1. 结果变量与参考变量关系图</vt:lpstr>
      <vt:lpstr>断点回归设计的图形分析 1. 结果变量与参考变量关系图</vt:lpstr>
      <vt:lpstr>断点回归设计 2. 可观测变量与参考变量关系图</vt:lpstr>
      <vt:lpstr>断点回归设计 3. 参考变量分布图</vt:lpstr>
      <vt:lpstr>断点回归设计的估计</vt:lpstr>
      <vt:lpstr>断点回归设计的估计</vt:lpstr>
      <vt:lpstr>断点回归设计的估计</vt:lpstr>
      <vt:lpstr>断点回归设计的估计</vt:lpstr>
      <vt:lpstr>断点回归设计的估计</vt:lpstr>
      <vt:lpstr>断点回归设计的估计</vt:lpstr>
      <vt:lpstr>断点回归设计的估计</vt:lpstr>
      <vt:lpstr>断点回归设计的估计</vt:lpstr>
      <vt:lpstr>断点回归设计的估计</vt:lpstr>
      <vt:lpstr>断点回归设计的估计</vt:lpstr>
      <vt:lpstr>断点回归设计的估计</vt:lpstr>
      <vt:lpstr>断点回归设计的估计</vt:lpstr>
      <vt:lpstr>断点回归设计的估计 软件</vt:lpstr>
      <vt:lpstr>断点回归设计的估计 统计推断</vt:lpstr>
      <vt:lpstr>断点回归设计的估计 统计推断</vt:lpstr>
      <vt:lpstr>断点回归设计的估计</vt:lpstr>
      <vt:lpstr>断点双重差分法</vt:lpstr>
      <vt:lpstr>断点双重差分法</vt:lpstr>
      <vt:lpstr>断点双重差分法</vt:lpstr>
      <vt:lpstr>断点回归设计 He et al. (2020)：水污染管制的效果</vt:lpstr>
      <vt:lpstr>断点回归设计 He et al. (2020)：水污染管制的效果</vt:lpstr>
      <vt:lpstr>断点回归设计 He et al. (2020)：水污染管制的效果</vt:lpstr>
      <vt:lpstr>断点回归设计 He et al. (2020)：水污染管制的效果</vt:lpstr>
      <vt:lpstr>断点回归设计 He et al. (2020)：水污染管制的效果</vt:lpstr>
      <vt:lpstr>断点回归设计 He et al. (2020)：水污染管制的效果</vt:lpstr>
      <vt:lpstr>断点回归设计 He et al. (2020)：水污染管制的效果</vt:lpstr>
      <vt:lpstr>断点回归设计 He et al. (2020)：水污染管制的效果</vt:lpstr>
      <vt:lpstr>断点回归设计 He et al. (2020)：水污染管制的效果</vt:lpstr>
      <vt:lpstr>弯折回归设计</vt:lpstr>
      <vt:lpstr>弯折回归设计</vt:lpstr>
      <vt:lpstr>弯折回归设计</vt:lpstr>
      <vt:lpstr>弯折回归设计</vt:lpstr>
      <vt:lpstr>弯折回归设计</vt:lpstr>
      <vt:lpstr>弯折回归设计</vt:lpstr>
      <vt:lpstr>弯折回归设计</vt:lpstr>
      <vt:lpstr>弯折回归设计</vt:lpstr>
      <vt:lpstr>总结</vt:lpstr>
      <vt:lpstr>参考文献</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Xiliang ZHAO</dc:creator>
  <cp:lastModifiedBy>Xiliang ZHAO</cp:lastModifiedBy>
  <cp:revision>25</cp:revision>
  <dcterms:created xsi:type="dcterms:W3CDTF">2026-08-07T12:10:34Z</dcterms:created>
  <dcterms:modified xsi:type="dcterms:W3CDTF">2026-08-25T01:47:33Z</dcterms:modified>
</cp:coreProperties>
</file>